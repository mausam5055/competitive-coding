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5">
          <p15:clr>
            <a:srgbClr val="FF0000"/>
          </p15:clr>
        </p15:guide>
        <p15:guide id="2" orient="horz" pos="907">
          <p15:clr>
            <a:srgbClr val="FF0000"/>
          </p15:clr>
        </p15:guide>
        <p15:guide id="3" orient="horz" pos="737">
          <p15:clr>
            <a:srgbClr val="00FF00"/>
          </p15:clr>
        </p15:guide>
        <p15:guide id="4" orient="horz" pos="397">
          <p15:clr>
            <a:srgbClr val="00FF00"/>
          </p15:clr>
        </p15:guide>
        <p15:guide id="5" pos="454">
          <p15:clr>
            <a:srgbClr val="FF00FF"/>
          </p15:clr>
        </p15:guide>
        <p15:guide id="6" pos="5272">
          <p15:clr>
            <a:srgbClr val="FF00FF"/>
          </p15:clr>
        </p15:guide>
      </p15:sldGuideLst>
    </p:ext>
    <p:ext uri="GoogleSlidesCustomDataVersion2">
      <go:slidesCustomData xmlns:go="http://customooxmlschemas.google.com/" r:id="rId47" roundtripDataSignature="AMtx7mgF2xnMEwenyhY5OWIA1ohH99s/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5" orient="horz"/>
        <p:guide pos="907" orient="horz"/>
        <p:guide pos="737" orient="horz"/>
        <p:guide pos="397" orient="horz"/>
        <p:guide pos="454"/>
        <p:guide pos="52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bold.fntdata"/><Relationship Id="rId21" Type="http://schemas.openxmlformats.org/officeDocument/2006/relationships/slide" Target="slides/slide16.xml"/><Relationship Id="rId43" Type="http://schemas.openxmlformats.org/officeDocument/2006/relationships/font" Target="fonts/Roboto-regular.fntdata"/><Relationship Id="rId24" Type="http://schemas.openxmlformats.org/officeDocument/2006/relationships/slide" Target="slides/slide19.xml"/><Relationship Id="rId46" Type="http://schemas.openxmlformats.org/officeDocument/2006/relationships/font" Target="fonts/Roboto-boldItalic.fntdata"/><Relationship Id="rId23" Type="http://schemas.openxmlformats.org/officeDocument/2006/relationships/slide" Target="slides/slide18.xml"/><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aa435e7b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aa435e7b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ef10be39d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1ef10be39d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ef10be39d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1ef10be39d_1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ef10be39d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31ef10be39d_1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1b3f087a09_1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1b3f087a09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3f087a09_1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1b3f087a09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b3f087a09_1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1b3f087a09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b3f087a09_1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1b3f087a09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b3f087a09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1b3f087a09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b3f087a09_1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1b3f087a09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b3f087a09_1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1b3f087a09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b3f8ab1be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31b3f8ab1b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b3f8ab1b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31b3f8ab1b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5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5" name="Google Shape;45;p5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5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5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5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4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a4academics.com/careers-guidance-jobs/68-placement-preparation/quantitative-aptitude/550-tips-and-tricks-to-solve-quantitative-aptitude-test-questions-on-cyclicity-of-number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hyperlink" Target="https://learn.codemithra.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jpg"/><Relationship Id="rId4" Type="http://schemas.openxmlformats.org/officeDocument/2006/relationships/image" Target="../media/image23.png"/><Relationship Id="rId5" Type="http://schemas.openxmlformats.org/officeDocument/2006/relationships/image" Target="../media/image17.png"/><Relationship Id="rId6"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2"/>
          <p:cNvSpPr txBox="1"/>
          <p:nvPr/>
        </p:nvSpPr>
        <p:spPr>
          <a:xfrm>
            <a:off x="425864" y="2035735"/>
            <a:ext cx="46908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rPr b="1" i="0" lang="en-IN" sz="2700" u="none" cap="none" strike="noStrike">
                <a:solidFill>
                  <a:schemeClr val="lt1"/>
                </a:solidFill>
                <a:latin typeface="Arial"/>
                <a:ea typeface="Arial"/>
                <a:cs typeface="Arial"/>
                <a:sym typeface="Arial"/>
              </a:rPr>
              <a:t>     POWER CYCLE</a:t>
            </a:r>
            <a:endParaRPr b="1" i="0" sz="27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aa435e7b8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chemeClr val="dk1"/>
                </a:solidFill>
                <a:highlight>
                  <a:srgbClr val="FFFFFF"/>
                </a:highlight>
                <a:latin typeface="Roboto"/>
                <a:ea typeface="Roboto"/>
                <a:cs typeface="Roboto"/>
                <a:sym typeface="Roboto"/>
              </a:rPr>
              <a:t>QR CODE</a:t>
            </a:r>
            <a:r>
              <a:rPr b="1" lang="en-IN"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aa435e7b8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IN" sz="1800" u="none" cap="none" strike="noStrike">
                <a:solidFill>
                  <a:srgbClr val="000000"/>
                </a:solidFill>
                <a:latin typeface="Roboto"/>
                <a:ea typeface="Roboto"/>
                <a:cs typeface="Roboto"/>
                <a:sym typeface="Roboto"/>
              </a:rPr>
              <a:t>                                    Test time on : SI &amp; CI</a:t>
            </a:r>
            <a:endParaRPr b="1" i="0" sz="1800" u="none" cap="none" strike="noStrike">
              <a:solidFill>
                <a:srgbClr val="000000"/>
              </a:solidFill>
              <a:latin typeface="Roboto"/>
              <a:ea typeface="Roboto"/>
              <a:cs typeface="Roboto"/>
              <a:sym typeface="Roboto"/>
            </a:endParaRPr>
          </a:p>
        </p:txBody>
      </p:sp>
      <p:sp>
        <p:nvSpPr>
          <p:cNvPr id="72" name="Google Shape;72;g32aa435e7b8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3" name="Google Shape;73;g32aa435e7b8_0_0"/>
          <p:cNvPicPr preferRelativeResize="0"/>
          <p:nvPr/>
        </p:nvPicPr>
        <p:blipFill rotWithShape="1">
          <a:blip r:embed="rId3">
            <a:alphaModFix/>
          </a:blip>
          <a:srcRect b="0" l="0" r="0" t="0"/>
          <a:stretch/>
        </p:blipFill>
        <p:spPr>
          <a:xfrm>
            <a:off x="3179925" y="2014559"/>
            <a:ext cx="1954050" cy="1937475"/>
          </a:xfrm>
          <a:prstGeom prst="rect">
            <a:avLst/>
          </a:prstGeom>
          <a:noFill/>
          <a:ln>
            <a:noFill/>
          </a:ln>
        </p:spPr>
      </p:pic>
      <p:pic>
        <p:nvPicPr>
          <p:cNvPr id="74" name="Google Shape;74;g32aa435e7b8_0_0"/>
          <p:cNvPicPr preferRelativeResize="0"/>
          <p:nvPr/>
        </p:nvPicPr>
        <p:blipFill rotWithShape="1">
          <a:blip r:embed="rId4">
            <a:alphaModFix/>
          </a:blip>
          <a:srcRect b="0" l="0" r="0" t="0"/>
          <a:stretch/>
        </p:blipFill>
        <p:spPr>
          <a:xfrm>
            <a:off x="5222650" y="2014550"/>
            <a:ext cx="1787853" cy="1760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1ef10be39d_1_52"/>
          <p:cNvSpPr txBox="1"/>
          <p:nvPr>
            <p:ph idx="1" type="body"/>
          </p:nvPr>
        </p:nvSpPr>
        <p:spPr>
          <a:xfrm>
            <a:off x="215250" y="557750"/>
            <a:ext cx="8520600" cy="4380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b="1" lang="en-IN" sz="2000">
                <a:solidFill>
                  <a:schemeClr val="dk1"/>
                </a:solidFill>
                <a:highlight>
                  <a:schemeClr val="lt1"/>
                </a:highlight>
              </a:rPr>
              <a:t>CYCLICITY</a:t>
            </a:r>
            <a:endParaRPr b="1" sz="2000">
              <a:solidFill>
                <a:schemeClr val="dk1"/>
              </a:solidFill>
              <a:highlight>
                <a:schemeClr val="lt1"/>
              </a:highlight>
            </a:endParaRPr>
          </a:p>
        </p:txBody>
      </p:sp>
      <p:pic>
        <p:nvPicPr>
          <p:cNvPr id="80" name="Google Shape;80;g31ef10be39d_1_52"/>
          <p:cNvPicPr preferRelativeResize="0"/>
          <p:nvPr/>
        </p:nvPicPr>
        <p:blipFill rotWithShape="1">
          <a:blip r:embed="rId3">
            <a:alphaModFix/>
          </a:blip>
          <a:srcRect b="28670" l="39567" r="25627" t="34750"/>
          <a:stretch/>
        </p:blipFill>
        <p:spPr>
          <a:xfrm>
            <a:off x="1214450" y="1005625"/>
            <a:ext cx="7154848" cy="34360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1ef10be39d_1_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IN" sz="2000">
                <a:highlight>
                  <a:schemeClr val="lt1"/>
                </a:highlight>
              </a:rPr>
              <a:t>CYCLICITY</a:t>
            </a:r>
            <a:endParaRPr/>
          </a:p>
        </p:txBody>
      </p:sp>
      <p:sp>
        <p:nvSpPr>
          <p:cNvPr id="86" name="Google Shape;86;g31ef10be39d_1_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p:txBody>
      </p:sp>
      <p:pic>
        <p:nvPicPr>
          <p:cNvPr id="87" name="Google Shape;87;g31ef10be39d_1_69"/>
          <p:cNvPicPr preferRelativeResize="0"/>
          <p:nvPr/>
        </p:nvPicPr>
        <p:blipFill rotWithShape="1">
          <a:blip r:embed="rId3">
            <a:alphaModFix/>
          </a:blip>
          <a:srcRect b="31186" l="42920" r="25828" t="37096"/>
          <a:stretch/>
        </p:blipFill>
        <p:spPr>
          <a:xfrm>
            <a:off x="1228550" y="1278750"/>
            <a:ext cx="6877376" cy="3212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1ef10be39d_1_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IN" sz="2000">
                <a:highlight>
                  <a:schemeClr val="lt1"/>
                </a:highlight>
              </a:rPr>
              <a:t>CYCLICITY</a:t>
            </a:r>
            <a:endParaRPr/>
          </a:p>
        </p:txBody>
      </p:sp>
      <p:sp>
        <p:nvSpPr>
          <p:cNvPr id="93" name="Google Shape;93;g31ef10be39d_1_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a:p>
        </p:txBody>
      </p:sp>
      <p:pic>
        <p:nvPicPr>
          <p:cNvPr id="94" name="Google Shape;94;g31ef10be39d_1_75"/>
          <p:cNvPicPr preferRelativeResize="0"/>
          <p:nvPr/>
        </p:nvPicPr>
        <p:blipFill rotWithShape="1">
          <a:blip r:embed="rId3">
            <a:alphaModFix/>
          </a:blip>
          <a:srcRect b="28987" l="40273" r="26005" t="37725"/>
          <a:stretch/>
        </p:blipFill>
        <p:spPr>
          <a:xfrm>
            <a:off x="1212400" y="1241725"/>
            <a:ext cx="6506074" cy="3766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1b3f087a09_1_43"/>
          <p:cNvSpPr txBox="1"/>
          <p:nvPr>
            <p:ph idx="1" type="body"/>
          </p:nvPr>
        </p:nvSpPr>
        <p:spPr>
          <a:xfrm>
            <a:off x="1888075" y="2193000"/>
            <a:ext cx="5604300" cy="757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100" name="Google Shape;100;g31b3f087a09_1_43"/>
          <p:cNvSpPr txBox="1"/>
          <p:nvPr/>
        </p:nvSpPr>
        <p:spPr>
          <a:xfrm>
            <a:off x="1287375" y="983825"/>
            <a:ext cx="6108000" cy="360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3500" u="none" cap="none" strike="noStrike">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t/>
            </a:r>
            <a:endParaRPr b="1" i="0" sz="3500" u="none" cap="none" strike="noStrike">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rPr b="1" i="0" lang="en-IN" sz="3500" u="none" cap="none" strike="noStrike">
                <a:solidFill>
                  <a:srgbClr val="8182EF"/>
                </a:solidFill>
                <a:latin typeface="Roboto"/>
                <a:ea typeface="Roboto"/>
                <a:cs typeface="Roboto"/>
                <a:sym typeface="Roboto"/>
              </a:rPr>
              <a:t>NUMBER PROPERTIES</a:t>
            </a:r>
            <a:endParaRPr b="1" i="0" sz="3500" u="none" cap="none" strike="noStrike">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rPr b="1" i="0" lang="en-IN" sz="3500" u="none" cap="none" strike="noStrike">
                <a:solidFill>
                  <a:srgbClr val="8182EF"/>
                </a:solidFill>
                <a:latin typeface="Roboto"/>
                <a:ea typeface="Roboto"/>
                <a:cs typeface="Roboto"/>
                <a:sym typeface="Roboto"/>
              </a:rPr>
              <a:t>POWER CYCLE</a:t>
            </a:r>
            <a:endParaRPr b="1" i="0" sz="35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 calcmode="lin" valueType="num">
                                      <p:cBhvr additive="base">
                                        <p:cTn dur="500"/>
                                        <p:tgtEl>
                                          <p:spTgt spid="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6828333" y="4120750"/>
            <a:ext cx="2511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a:t>
            </a:r>
            <a:endParaRPr b="1" i="0" sz="1800" u="none" cap="none" strike="noStrike">
              <a:solidFill>
                <a:srgbClr val="000000"/>
              </a:solidFill>
              <a:latin typeface="Roboto"/>
              <a:ea typeface="Roboto"/>
              <a:cs typeface="Roboto"/>
              <a:sym typeface="Roboto"/>
            </a:endParaRPr>
          </a:p>
        </p:txBody>
      </p:sp>
      <p:sp>
        <p:nvSpPr>
          <p:cNvPr id="106" name="Google Shape;106;p16"/>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107" name="Google Shape;107;p16"/>
          <p:cNvSpPr txBox="1"/>
          <p:nvPr>
            <p:ph idx="1" type="body"/>
          </p:nvPr>
        </p:nvSpPr>
        <p:spPr>
          <a:xfrm>
            <a:off x="722375" y="12462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Find the units digit of 7</a:t>
            </a:r>
            <a:r>
              <a:rPr baseline="30000" lang="en-IN" sz="3000">
                <a:solidFill>
                  <a:schemeClr val="dk1"/>
                </a:solidFill>
                <a:latin typeface="Arial"/>
                <a:ea typeface="Arial"/>
                <a:cs typeface="Arial"/>
                <a:sym typeface="Arial"/>
              </a:rPr>
              <a:t>157</a:t>
            </a:r>
            <a:r>
              <a:rPr lang="en-IN">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A.1</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B.3</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C.4</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D.7</a:t>
            </a:r>
            <a:endParaRPr>
              <a:solidFill>
                <a:schemeClr val="dk1"/>
              </a:solidFill>
              <a:latin typeface="Arial"/>
              <a:ea typeface="Arial"/>
              <a:cs typeface="Arial"/>
              <a:sym typeface="Arial"/>
            </a:endParaRPr>
          </a:p>
          <a:p>
            <a:pPr indent="0" lvl="0" marL="0" rtl="0" algn="l">
              <a:lnSpc>
                <a:spcPct val="137500"/>
              </a:lnSpc>
              <a:spcBef>
                <a:spcPts val="1500"/>
              </a:spcBef>
              <a:spcAft>
                <a:spcPts val="0"/>
              </a:spcAft>
              <a:buClr>
                <a:schemeClr val="dk1"/>
              </a:buClr>
              <a:buSzPts val="1100"/>
              <a:buFont typeface="Arial"/>
              <a:buNone/>
            </a:pPr>
            <a:r>
              <a:t/>
            </a:r>
            <a:endParaRPr sz="1950">
              <a:solidFill>
                <a:schemeClr val="dk1"/>
              </a:solidFill>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 calcmode="lin" valueType="num">
                                      <p:cBhvr additive="base">
                                        <p:cTn dur="500"/>
                                        <p:tgtEl>
                                          <p:spTgt spid="1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 name="Shape 111"/>
        <p:cNvGrpSpPr/>
        <p:nvPr/>
      </p:nvGrpSpPr>
      <p:grpSpPr>
        <a:xfrm>
          <a:off x="0" y="0"/>
          <a:ext cx="0" cy="0"/>
          <a:chOff x="0" y="0"/>
          <a:chExt cx="0" cy="0"/>
        </a:xfrm>
      </p:grpSpPr>
      <p:sp>
        <p:nvSpPr>
          <p:cNvPr id="112" name="Google Shape;112;p17"/>
          <p:cNvSpPr txBox="1"/>
          <p:nvPr>
            <p:ph idx="1" type="body"/>
          </p:nvPr>
        </p:nvSpPr>
        <p:spPr>
          <a:xfrm>
            <a:off x="720000" y="14400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37500"/>
              </a:lnSpc>
              <a:spcBef>
                <a:spcPts val="1100"/>
              </a:spcBef>
              <a:spcAft>
                <a:spcPts val="0"/>
              </a:spcAft>
              <a:buClr>
                <a:schemeClr val="dk1"/>
              </a:buClr>
              <a:buSzPts val="1100"/>
              <a:buFont typeface="Arial"/>
              <a:buNone/>
            </a:pPr>
            <a:r>
              <a:t/>
            </a:r>
            <a:endParaRPr b="1" sz="1400">
              <a:solidFill>
                <a:schemeClr val="dk1"/>
              </a:solidFill>
              <a:highlight>
                <a:schemeClr val="lt1"/>
              </a:highlight>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Since the exponent 157 is not divisible by 4, from the </a:t>
            </a:r>
            <a:r>
              <a:rPr lang="en-IN" u="sng">
                <a:solidFill>
                  <a:schemeClr val="hlink"/>
                </a:solidFill>
                <a:hlinkClick r:id="rId3"/>
              </a:rPr>
              <a:t>case 2 of general rule of cyclicity of numbers</a:t>
            </a:r>
            <a:r>
              <a:rPr lang="en-IN">
                <a:solidFill>
                  <a:schemeClr val="dk1"/>
                </a:solidFill>
              </a:rPr>
              <a:t>, we need to find the remainder when 157 is divided by 4</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Remainder of (157/4) is 1.</a:t>
            </a:r>
            <a:endParaRPr>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IN">
                <a:solidFill>
                  <a:schemeClr val="dk1"/>
                </a:solidFill>
              </a:rPr>
              <a:t>From general rule of cyclicity, units digit of (7</a:t>
            </a:r>
            <a:r>
              <a:rPr baseline="30000" lang="en-IN">
                <a:solidFill>
                  <a:schemeClr val="dk1"/>
                </a:solidFill>
              </a:rPr>
              <a:t>157</a:t>
            </a:r>
            <a:r>
              <a:rPr lang="en-IN">
                <a:solidFill>
                  <a:schemeClr val="dk1"/>
                </a:solidFill>
              </a:rPr>
              <a:t>) = units digit of (7</a:t>
            </a:r>
            <a:r>
              <a:rPr baseline="30000" lang="en-IN">
                <a:solidFill>
                  <a:schemeClr val="dk1"/>
                </a:solidFill>
              </a:rPr>
              <a:t>1</a:t>
            </a:r>
            <a:r>
              <a:rPr lang="en-IN">
                <a:solidFill>
                  <a:schemeClr val="dk1"/>
                </a:solidFill>
              </a:rPr>
              <a:t>) = </a:t>
            </a:r>
            <a:r>
              <a:rPr b="1" lang="en-IN">
                <a:solidFill>
                  <a:schemeClr val="dk1"/>
                </a:solidFill>
              </a:rPr>
              <a:t>7</a:t>
            </a:r>
            <a:endParaRPr>
              <a:solidFill>
                <a:schemeClr val="dk1"/>
              </a:solidFill>
              <a:highlight>
                <a:schemeClr val="lt1"/>
              </a:highlight>
            </a:endParaRPr>
          </a:p>
          <a:p>
            <a:pPr indent="0" lvl="0" marL="0" rtl="0" algn="l">
              <a:lnSpc>
                <a:spcPct val="150000"/>
              </a:lnSpc>
              <a:spcBef>
                <a:spcPts val="0"/>
              </a:spcBef>
              <a:spcAft>
                <a:spcPts val="0"/>
              </a:spcAft>
              <a:buClr>
                <a:schemeClr val="dk1"/>
              </a:buClr>
              <a:buSzPts val="1800"/>
              <a:buFont typeface="Noto Sans Symbols"/>
              <a:buNone/>
            </a:pPr>
            <a:r>
              <a:t/>
            </a:r>
            <a:endParaRPr sz="2000">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2000"/>
              <a:buFont typeface="Arial"/>
              <a:buNone/>
            </a:pPr>
            <a:br>
              <a:rPr lang="en-IN"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457200" rtl="0" algn="just">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113" name="Google Shape;113;p1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idx="1" type="body"/>
          </p:nvPr>
        </p:nvSpPr>
        <p:spPr>
          <a:xfrm>
            <a:off x="720000" y="12876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in the product (3</a:t>
            </a:r>
            <a:r>
              <a:rPr baseline="30000" lang="en-IN">
                <a:solidFill>
                  <a:schemeClr val="dk1"/>
                </a:solidFill>
              </a:rPr>
              <a:t>65</a:t>
            </a:r>
            <a:r>
              <a:rPr lang="en-IN">
                <a:solidFill>
                  <a:schemeClr val="dk1"/>
                </a:solidFill>
              </a:rPr>
              <a:t> * 6</a:t>
            </a:r>
            <a:r>
              <a:rPr baseline="30000" lang="en-IN">
                <a:solidFill>
                  <a:schemeClr val="dk1"/>
                </a:solidFill>
              </a:rPr>
              <a:t>59</a:t>
            </a:r>
            <a:r>
              <a:rPr lang="en-IN">
                <a:solidFill>
                  <a:schemeClr val="dk1"/>
                </a:solidFill>
              </a:rPr>
              <a:t> * 7</a:t>
            </a:r>
            <a:r>
              <a:rPr baseline="30000" lang="en-IN">
                <a:solidFill>
                  <a:schemeClr val="dk1"/>
                </a:solidFill>
              </a:rPr>
              <a:t>710</a:t>
            </a:r>
            <a:r>
              <a:rPr lang="en-IN">
                <a:solidFill>
                  <a:schemeClr val="dk1"/>
                </a:solidFill>
              </a:rPr>
              <a:t>)?</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A.1</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D.6</a:t>
            </a:r>
            <a:endParaRPr>
              <a:solidFill>
                <a:schemeClr val="dk1"/>
              </a:solidFill>
            </a:endParaRPr>
          </a:p>
          <a:p>
            <a:pPr indent="0" lvl="0" marL="0" rtl="0" algn="l">
              <a:lnSpc>
                <a:spcPct val="150000"/>
              </a:lnSpc>
              <a:spcBef>
                <a:spcPts val="0"/>
              </a:spcBef>
              <a:spcAft>
                <a:spcPts val="0"/>
              </a:spcAft>
              <a:buClr>
                <a:schemeClr val="dk1"/>
              </a:buClr>
              <a:buSzPts val="1800"/>
              <a:buNone/>
            </a:pPr>
            <a:r>
              <a:rPr lang="en-IN">
                <a:solidFill>
                  <a:schemeClr val="dk1"/>
                </a:solidFill>
              </a:rPr>
              <a:t>                                                                                                                </a:t>
            </a:r>
            <a:endParaRPr>
              <a:solidFill>
                <a:schemeClr val="dk1"/>
              </a:solidFill>
            </a:endParaRPr>
          </a:p>
          <a:p>
            <a:pPr indent="0" lvl="1" marL="0" rtl="0" algn="l">
              <a:lnSpc>
                <a:spcPct val="150000"/>
              </a:lnSpc>
              <a:spcBef>
                <a:spcPts val="0"/>
              </a:spcBef>
              <a:spcAft>
                <a:spcPts val="0"/>
              </a:spcAft>
              <a:buClr>
                <a:schemeClr val="dk1"/>
              </a:buClr>
              <a:buSzPts val="1800"/>
              <a:buFont typeface="Arial"/>
              <a:buNone/>
            </a:pPr>
            <a:r>
              <a:rPr lang="en-IN" sz="1800">
                <a:solidFill>
                  <a:schemeClr val="dk1"/>
                </a:solidFill>
                <a:latin typeface="Roboto"/>
                <a:ea typeface="Roboto"/>
                <a:cs typeface="Roboto"/>
                <a:sym typeface="Roboto"/>
              </a:rPr>
              <a:t>                                                                                                                  </a:t>
            </a:r>
            <a:endParaRPr b="1" i="1" sz="1800">
              <a:solidFill>
                <a:schemeClr val="dk1"/>
              </a:solidFill>
              <a:latin typeface="Roboto"/>
              <a:ea typeface="Roboto"/>
              <a:cs typeface="Roboto"/>
              <a:sym typeface="Roboto"/>
            </a:endParaRPr>
          </a:p>
          <a:p>
            <a:pPr indent="0" lvl="0" marL="114300" rtl="0" algn="l">
              <a:lnSpc>
                <a:spcPct val="150000"/>
              </a:lnSpc>
              <a:spcBef>
                <a:spcPts val="0"/>
              </a:spcBef>
              <a:spcAft>
                <a:spcPts val="0"/>
              </a:spcAft>
              <a:buClr>
                <a:schemeClr val="dk2"/>
              </a:buClr>
              <a:buSzPts val="1800"/>
              <a:buNone/>
            </a:pPr>
            <a:r>
              <a:t/>
            </a:r>
            <a:endParaRPr>
              <a:solidFill>
                <a:schemeClr val="dk1"/>
              </a:solidFill>
            </a:endParaRPr>
          </a:p>
        </p:txBody>
      </p:sp>
      <p:sp>
        <p:nvSpPr>
          <p:cNvPr id="119" name="Google Shape;119;p1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pic>
        <p:nvPicPr>
          <p:cNvPr id="120" name="Google Shape;120;p18"/>
          <p:cNvPicPr preferRelativeResize="0"/>
          <p:nvPr/>
        </p:nvPicPr>
        <p:blipFill rotWithShape="1">
          <a:blip r:embed="rId3">
            <a:alphaModFix/>
          </a:blip>
          <a:srcRect b="0" l="0" r="0" t="0"/>
          <a:stretch/>
        </p:blipFill>
        <p:spPr>
          <a:xfrm>
            <a:off x="6478675" y="4049725"/>
            <a:ext cx="1905242"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 calcmode="lin" valueType="num">
                                      <p:cBhvr additive="base">
                                        <p:cTn dur="500"/>
                                        <p:tgtEl>
                                          <p:spTgt spid="1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 calcmode="lin" valueType="num">
                                      <p:cBhvr additive="base">
                                        <p:cTn dur="500"/>
                                        <p:tgtEl>
                                          <p:spTgt spid="1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 calcmode="lin" valueType="num">
                                      <p:cBhvr additive="base">
                                        <p:cTn dur="500"/>
                                        <p:tgtEl>
                                          <p:spTgt spid="1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 calcmode="lin" valueType="num">
                                      <p:cBhvr additive="base">
                                        <p:cTn dur="500"/>
                                        <p:tgtEl>
                                          <p:spTgt spid="11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 calcmode="lin" valueType="num">
                                      <p:cBhvr additive="base">
                                        <p:cTn dur="500"/>
                                        <p:tgtEl>
                                          <p:spTgt spid="11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anim calcmode="lin" valueType="num">
                                      <p:cBhvr additive="base">
                                        <p:cTn dur="500"/>
                                        <p:tgtEl>
                                          <p:spTgt spid="11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anim calcmode="lin" valueType="num">
                                      <p:cBhvr additive="base">
                                        <p:cTn dur="500"/>
                                        <p:tgtEl>
                                          <p:spTgt spid="11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 name="Shape 124"/>
        <p:cNvGrpSpPr/>
        <p:nvPr/>
      </p:nvGrpSpPr>
      <p:grpSpPr>
        <a:xfrm>
          <a:off x="0" y="0"/>
          <a:ext cx="0" cy="0"/>
          <a:chOff x="0" y="0"/>
          <a:chExt cx="0" cy="0"/>
        </a:xfrm>
      </p:grpSpPr>
      <p:sp>
        <p:nvSpPr>
          <p:cNvPr id="125" name="Google Shape;125;p19"/>
          <p:cNvSpPr txBox="1"/>
          <p:nvPr>
            <p:ph idx="1" type="body"/>
          </p:nvPr>
        </p:nvSpPr>
        <p:spPr>
          <a:xfrm>
            <a:off x="494975" y="1122851"/>
            <a:ext cx="7998000" cy="3558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know that units digit of (3</a:t>
            </a:r>
            <a:r>
              <a:rPr baseline="30000" lang="en-IN" sz="1600">
                <a:solidFill>
                  <a:schemeClr val="dk1"/>
                </a:solidFill>
              </a:rPr>
              <a:t>65</a:t>
            </a:r>
            <a:r>
              <a:rPr lang="en-IN" sz="1600">
                <a:solidFill>
                  <a:schemeClr val="dk1"/>
                </a:solidFill>
              </a:rPr>
              <a:t> * 6</a:t>
            </a:r>
            <a:r>
              <a:rPr baseline="30000" lang="en-IN" sz="1600">
                <a:solidFill>
                  <a:schemeClr val="dk1"/>
                </a:solidFill>
              </a:rPr>
              <a:t>59</a:t>
            </a:r>
            <a:r>
              <a:rPr lang="en-IN" sz="1600">
                <a:solidFill>
                  <a:schemeClr val="dk1"/>
                </a:solidFill>
              </a:rPr>
              <a:t> * 7</a:t>
            </a:r>
            <a:r>
              <a:rPr baseline="30000" lang="en-IN" sz="1600">
                <a:solidFill>
                  <a:schemeClr val="dk1"/>
                </a:solidFill>
              </a:rPr>
              <a:t>71</a:t>
            </a:r>
            <a:r>
              <a:rPr lang="en-IN" sz="1600">
                <a:solidFill>
                  <a:schemeClr val="dk1"/>
                </a:solidFill>
              </a:rPr>
              <a:t>) = Units digit of (Units digit of (3</a:t>
            </a:r>
            <a:r>
              <a:rPr baseline="30000" lang="en-IN" sz="1600">
                <a:solidFill>
                  <a:schemeClr val="dk1"/>
                </a:solidFill>
              </a:rPr>
              <a:t>65</a:t>
            </a:r>
            <a:r>
              <a:rPr lang="en-IN" sz="1600">
                <a:solidFill>
                  <a:schemeClr val="dk1"/>
                </a:solidFill>
              </a:rPr>
              <a:t>)  * Units digit of (6</a:t>
            </a:r>
            <a:r>
              <a:rPr baseline="30000" lang="en-IN" sz="1600">
                <a:solidFill>
                  <a:schemeClr val="dk1"/>
                </a:solidFill>
              </a:rPr>
              <a:t>59</a:t>
            </a:r>
            <a:r>
              <a:rPr lang="en-IN" sz="1600">
                <a:solidFill>
                  <a:schemeClr val="dk1"/>
                </a:solidFill>
              </a:rPr>
              <a:t>)  * Units digit of (7</a:t>
            </a:r>
            <a:r>
              <a:rPr baseline="30000" lang="en-IN" sz="1600">
                <a:solidFill>
                  <a:schemeClr val="dk1"/>
                </a:solidFill>
              </a:rPr>
              <a:t>71</a:t>
            </a:r>
            <a:r>
              <a:rPr lang="en-IN" sz="1600">
                <a:solidFill>
                  <a:schemeClr val="dk1"/>
                </a:solidFill>
              </a:rPr>
              <a:t>) )</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3</a:t>
            </a:r>
            <a:r>
              <a:rPr b="1" baseline="30000" lang="en-IN" sz="1600" u="sng">
                <a:solidFill>
                  <a:schemeClr val="dk1"/>
                </a:solidFill>
              </a:rPr>
              <a:t>65</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From the general rule of cyclicity of numbers we know that, if exponent of </a:t>
            </a:r>
            <a:r>
              <a:rPr b="1" lang="en-IN" sz="1600">
                <a:solidFill>
                  <a:schemeClr val="dk1"/>
                </a:solidFill>
              </a:rPr>
              <a:t>a</a:t>
            </a:r>
            <a:r>
              <a:rPr b="1" baseline="30000" lang="en-IN" sz="1600">
                <a:solidFill>
                  <a:schemeClr val="dk1"/>
                </a:solidFill>
              </a:rPr>
              <a:t>b</a:t>
            </a:r>
            <a:r>
              <a:rPr lang="en-IN" sz="1600">
                <a:solidFill>
                  <a:schemeClr val="dk1"/>
                </a:solidFill>
              </a:rPr>
              <a:t> is not divisible by 4 then </a:t>
            </a:r>
            <a:r>
              <a:rPr b="1" lang="en-IN" sz="1600">
                <a:solidFill>
                  <a:schemeClr val="dk1"/>
                </a:solidFill>
              </a:rPr>
              <a:t>cyclicity of a</a:t>
            </a:r>
            <a:r>
              <a:rPr b="1" baseline="30000" lang="en-IN" sz="1600">
                <a:solidFill>
                  <a:schemeClr val="dk1"/>
                </a:solidFill>
              </a:rPr>
              <a:t>b</a:t>
            </a:r>
            <a:r>
              <a:rPr b="1" lang="en-IN" sz="1600">
                <a:solidFill>
                  <a:schemeClr val="dk1"/>
                </a:solidFill>
              </a:rPr>
              <a:t> = cyclicity of a</a:t>
            </a:r>
            <a:r>
              <a:rPr b="1" baseline="30000" lang="en-IN" sz="1600">
                <a:solidFill>
                  <a:schemeClr val="dk1"/>
                </a:solidFill>
              </a:rPr>
              <a:t>r</a:t>
            </a:r>
            <a:r>
              <a:rPr lang="en-IN" sz="1600">
                <a:solidFill>
                  <a:schemeClr val="dk1"/>
                </a:solidFill>
              </a:rPr>
              <a:t> where </a:t>
            </a:r>
            <a:r>
              <a:rPr b="1" lang="en-IN" sz="1600">
                <a:solidFill>
                  <a:schemeClr val="dk1"/>
                </a:solidFill>
              </a:rPr>
              <a:t>r</a:t>
            </a:r>
            <a:r>
              <a:rPr lang="en-IN" sz="1600">
                <a:solidFill>
                  <a:schemeClr val="dk1"/>
                </a:solidFill>
              </a:rPr>
              <a:t> is the remainder of </a:t>
            </a:r>
            <a:r>
              <a:rPr b="1" lang="en-IN" sz="1600">
                <a:solidFill>
                  <a:schemeClr val="dk1"/>
                </a:solidFill>
              </a:rPr>
              <a:t>b/4</a:t>
            </a:r>
            <a:endParaRPr b="1"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(65/4) = 1</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65</a:t>
            </a:r>
            <a:r>
              <a:rPr lang="en-IN" sz="1600">
                <a:solidFill>
                  <a:schemeClr val="dk1"/>
                </a:solidFill>
              </a:rPr>
              <a:t>) = units digit of (3</a:t>
            </a:r>
            <a:r>
              <a:rPr baseline="30000" lang="en-IN" sz="1600">
                <a:solidFill>
                  <a:schemeClr val="dk1"/>
                </a:solidFill>
              </a:rPr>
              <a:t>1</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6</a:t>
            </a:r>
            <a:r>
              <a:rPr b="1" baseline="30000" lang="en-IN" sz="1600" u="sng">
                <a:solidFill>
                  <a:schemeClr val="dk1"/>
                </a:solidFill>
              </a:rPr>
              <a:t>59</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Same as above, remainder of (59/4) = 3 Units digit of(6</a:t>
            </a:r>
            <a:r>
              <a:rPr baseline="30000" lang="en-IN" sz="1600">
                <a:solidFill>
                  <a:schemeClr val="dk1"/>
                </a:solidFill>
              </a:rPr>
              <a:t>59</a:t>
            </a:r>
            <a:r>
              <a:rPr lang="en-IN" sz="1600">
                <a:solidFill>
                  <a:schemeClr val="dk1"/>
                </a:solidFill>
              </a:rPr>
              <a:t>) = units digit of (6</a:t>
            </a:r>
            <a:r>
              <a:rPr baseline="30000" lang="en-IN" sz="1600">
                <a:solidFill>
                  <a:schemeClr val="dk1"/>
                </a:solidFill>
              </a:rPr>
              <a:t>3</a:t>
            </a:r>
            <a:r>
              <a:rPr lang="en-IN" sz="1600">
                <a:solidFill>
                  <a:schemeClr val="dk1"/>
                </a:solidFill>
              </a:rPr>
              <a:t>) = 6</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7</a:t>
            </a:r>
            <a:r>
              <a:rPr b="1" baseline="30000" lang="en-IN" sz="1600" u="sng">
                <a:solidFill>
                  <a:schemeClr val="dk1"/>
                </a:solidFill>
              </a:rPr>
              <a:t>71</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71/4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7</a:t>
            </a:r>
            <a:r>
              <a:rPr baseline="30000" lang="en-IN" sz="1600">
                <a:solidFill>
                  <a:schemeClr val="dk1"/>
                </a:solidFill>
              </a:rPr>
              <a:t>71</a:t>
            </a:r>
            <a:r>
              <a:rPr lang="en-IN" sz="1600">
                <a:solidFill>
                  <a:schemeClr val="dk1"/>
                </a:solidFill>
              </a:rPr>
              <a:t> = units digit of 7</a:t>
            </a:r>
            <a:r>
              <a:rPr baseline="30000" lang="en-IN" sz="1600">
                <a:solidFill>
                  <a:schemeClr val="dk1"/>
                </a:solidFill>
              </a:rPr>
              <a:t>3</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lang="en-IN" sz="1600">
                <a:solidFill>
                  <a:schemeClr val="dk1"/>
                </a:solidFill>
              </a:rPr>
              <a:t>Units digit of 3</a:t>
            </a:r>
            <a:r>
              <a:rPr baseline="30000" lang="en-IN" sz="1600">
                <a:solidFill>
                  <a:schemeClr val="dk1"/>
                </a:solidFill>
              </a:rPr>
              <a:t>65</a:t>
            </a:r>
            <a:r>
              <a:rPr lang="en-IN" sz="1600">
                <a:solidFill>
                  <a:schemeClr val="dk1"/>
                </a:solidFill>
              </a:rPr>
              <a:t> * 6</a:t>
            </a:r>
            <a:r>
              <a:rPr baseline="30000" lang="en-IN" sz="1600">
                <a:solidFill>
                  <a:schemeClr val="dk1"/>
                </a:solidFill>
              </a:rPr>
              <a:t>59</a:t>
            </a:r>
            <a:r>
              <a:rPr lang="en-IN" sz="1600">
                <a:solidFill>
                  <a:schemeClr val="dk1"/>
                </a:solidFill>
              </a:rPr>
              <a:t> * 7</a:t>
            </a:r>
            <a:r>
              <a:rPr baseline="30000" lang="en-IN" sz="1600">
                <a:solidFill>
                  <a:schemeClr val="dk1"/>
                </a:solidFill>
              </a:rPr>
              <a:t>71</a:t>
            </a:r>
            <a:r>
              <a:rPr lang="en-IN" sz="1600">
                <a:solidFill>
                  <a:schemeClr val="dk1"/>
                </a:solidFill>
              </a:rPr>
              <a:t> = Units digit of ( 3 * 6 * 3) = </a:t>
            </a:r>
            <a:r>
              <a:rPr b="1" lang="en-IN" sz="1600">
                <a:solidFill>
                  <a:schemeClr val="dk1"/>
                </a:solidFill>
              </a:rPr>
              <a:t>4</a:t>
            </a:r>
            <a:endParaRPr b="1" sz="1600">
              <a:solidFill>
                <a:schemeClr val="dk1"/>
              </a:solidFill>
            </a:endParaRPr>
          </a:p>
          <a:p>
            <a:pPr indent="0" lvl="0" marL="0" rtl="0" algn="l">
              <a:lnSpc>
                <a:spcPct val="100000"/>
              </a:lnSpc>
              <a:spcBef>
                <a:spcPts val="0"/>
              </a:spcBef>
              <a:spcAft>
                <a:spcPts val="0"/>
              </a:spcAft>
              <a:buClr>
                <a:schemeClr val="dk1"/>
              </a:buClr>
              <a:buSzPts val="1600"/>
              <a:buFont typeface="Arial"/>
              <a:buNone/>
            </a:pPr>
            <a:br>
              <a:rPr lang="en-IN"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5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sz="900">
              <a:solidFill>
                <a:schemeClr val="dk1"/>
              </a:solidFill>
            </a:endParaRPr>
          </a:p>
          <a:p>
            <a:pPr indent="0" lvl="0" marL="457200" rtl="0" algn="l">
              <a:lnSpc>
                <a:spcPct val="115000"/>
              </a:lnSpc>
              <a:spcBef>
                <a:spcPts val="0"/>
              </a:spcBef>
              <a:spcAft>
                <a:spcPts val="0"/>
              </a:spcAft>
              <a:buSzPts val="1800"/>
              <a:buNone/>
            </a:pPr>
            <a:r>
              <a:t/>
            </a:r>
            <a:endParaRPr sz="1300">
              <a:solidFill>
                <a:schemeClr val="dk1"/>
              </a:solidFill>
            </a:endParaRPr>
          </a:p>
        </p:txBody>
      </p:sp>
      <p:sp>
        <p:nvSpPr>
          <p:cNvPr id="126" name="Google Shape;126;p1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 calcmode="lin" valueType="num">
                                      <p:cBhvr additive="base">
                                        <p:cTn dur="500"/>
                                        <p:tgtEl>
                                          <p:spTgt spid="1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 calcmode="lin" valueType="num">
                                      <p:cBhvr additive="base">
                                        <p:cTn dur="500"/>
                                        <p:tgtEl>
                                          <p:spTgt spid="1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 calcmode="lin" valueType="num">
                                      <p:cBhvr additive="base">
                                        <p:cTn dur="500"/>
                                        <p:tgtEl>
                                          <p:spTgt spid="1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 calcmode="lin" valueType="num">
                                      <p:cBhvr additive="base">
                                        <p:cTn dur="500"/>
                                        <p:tgtEl>
                                          <p:spTgt spid="1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 calcmode="lin" valueType="num">
                                      <p:cBhvr additive="base">
                                        <p:cTn dur="500"/>
                                        <p:tgtEl>
                                          <p:spTgt spid="1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anim calcmode="lin" valueType="num">
                                      <p:cBhvr additive="base">
                                        <p:cTn dur="500"/>
                                        <p:tgtEl>
                                          <p:spTgt spid="1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anim calcmode="lin" valueType="num">
                                      <p:cBhvr additive="base">
                                        <p:cTn dur="500"/>
                                        <p:tgtEl>
                                          <p:spTgt spid="12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anim calcmode="lin" valueType="num">
                                      <p:cBhvr additive="base">
                                        <p:cTn dur="500"/>
                                        <p:tgtEl>
                                          <p:spTgt spid="12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anim calcmode="lin" valueType="num">
                                      <p:cBhvr additive="base">
                                        <p:cTn dur="500"/>
                                        <p:tgtEl>
                                          <p:spTgt spid="12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9" st="9"/>
                                            </p:txEl>
                                          </p:spTgt>
                                        </p:tgtEl>
                                        <p:attrNameLst>
                                          <p:attrName>style.visibility</p:attrName>
                                        </p:attrNameLst>
                                      </p:cBhvr>
                                      <p:to>
                                        <p:strVal val="visible"/>
                                      </p:to>
                                    </p:set>
                                    <p:anim calcmode="lin" valueType="num">
                                      <p:cBhvr additive="base">
                                        <p:cTn dur="500"/>
                                        <p:tgtEl>
                                          <p:spTgt spid="12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0" st="10"/>
                                            </p:txEl>
                                          </p:spTgt>
                                        </p:tgtEl>
                                        <p:attrNameLst>
                                          <p:attrName>style.visibility</p:attrName>
                                        </p:attrNameLst>
                                      </p:cBhvr>
                                      <p:to>
                                        <p:strVal val="visible"/>
                                      </p:to>
                                    </p:set>
                                    <p:anim calcmode="lin" valueType="num">
                                      <p:cBhvr additive="base">
                                        <p:cTn dur="500"/>
                                        <p:tgtEl>
                                          <p:spTgt spid="12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1" st="11"/>
                                            </p:txEl>
                                          </p:spTgt>
                                        </p:tgtEl>
                                        <p:attrNameLst>
                                          <p:attrName>style.visibility</p:attrName>
                                        </p:attrNameLst>
                                      </p:cBhvr>
                                      <p:to>
                                        <p:strVal val="visible"/>
                                      </p:to>
                                    </p:set>
                                    <p:anim calcmode="lin" valueType="num">
                                      <p:cBhvr additive="base">
                                        <p:cTn dur="500"/>
                                        <p:tgtEl>
                                          <p:spTgt spid="125">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2" st="12"/>
                                            </p:txEl>
                                          </p:spTgt>
                                        </p:tgtEl>
                                        <p:attrNameLst>
                                          <p:attrName>style.visibility</p:attrName>
                                        </p:attrNameLst>
                                      </p:cBhvr>
                                      <p:to>
                                        <p:strVal val="visible"/>
                                      </p:to>
                                    </p:set>
                                    <p:anim calcmode="lin" valueType="num">
                                      <p:cBhvr additive="base">
                                        <p:cTn dur="500"/>
                                        <p:tgtEl>
                                          <p:spTgt spid="125">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3" st="13"/>
                                            </p:txEl>
                                          </p:spTgt>
                                        </p:tgtEl>
                                        <p:attrNameLst>
                                          <p:attrName>style.visibility</p:attrName>
                                        </p:attrNameLst>
                                      </p:cBhvr>
                                      <p:to>
                                        <p:strVal val="visible"/>
                                      </p:to>
                                    </p:set>
                                    <p:anim calcmode="lin" valueType="num">
                                      <p:cBhvr additive="base">
                                        <p:cTn dur="500"/>
                                        <p:tgtEl>
                                          <p:spTgt spid="125">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4" st="14"/>
                                            </p:txEl>
                                          </p:spTgt>
                                        </p:tgtEl>
                                        <p:attrNameLst>
                                          <p:attrName>style.visibility</p:attrName>
                                        </p:attrNameLst>
                                      </p:cBhvr>
                                      <p:to>
                                        <p:strVal val="visible"/>
                                      </p:to>
                                    </p:set>
                                    <p:anim calcmode="lin" valueType="num">
                                      <p:cBhvr additive="base">
                                        <p:cTn dur="500"/>
                                        <p:tgtEl>
                                          <p:spTgt spid="125">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5" st="15"/>
                                            </p:txEl>
                                          </p:spTgt>
                                        </p:tgtEl>
                                        <p:attrNameLst>
                                          <p:attrName>style.visibility</p:attrName>
                                        </p:attrNameLst>
                                      </p:cBhvr>
                                      <p:to>
                                        <p:strVal val="visible"/>
                                      </p:to>
                                    </p:set>
                                    <p:anim calcmode="lin" valueType="num">
                                      <p:cBhvr additive="base">
                                        <p:cTn dur="500"/>
                                        <p:tgtEl>
                                          <p:spTgt spid="125">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6" st="16"/>
                                            </p:txEl>
                                          </p:spTgt>
                                        </p:tgtEl>
                                        <p:attrNameLst>
                                          <p:attrName>style.visibility</p:attrName>
                                        </p:attrNameLst>
                                      </p:cBhvr>
                                      <p:to>
                                        <p:strVal val="visible"/>
                                      </p:to>
                                    </p:set>
                                    <p:anim calcmode="lin" valueType="num">
                                      <p:cBhvr additive="base">
                                        <p:cTn dur="500"/>
                                        <p:tgtEl>
                                          <p:spTgt spid="125">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7" st="17"/>
                                            </p:txEl>
                                          </p:spTgt>
                                        </p:tgtEl>
                                        <p:attrNameLst>
                                          <p:attrName>style.visibility</p:attrName>
                                        </p:attrNameLst>
                                      </p:cBhvr>
                                      <p:to>
                                        <p:strVal val="visible"/>
                                      </p:to>
                                    </p:set>
                                    <p:anim calcmode="lin" valueType="num">
                                      <p:cBhvr additive="base">
                                        <p:cTn dur="500"/>
                                        <p:tgtEl>
                                          <p:spTgt spid="125">
                                            <p:txEl>
                                              <p:pRg end="17" st="1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in(7</a:t>
            </a:r>
            <a:r>
              <a:rPr baseline="30000" lang="en-IN">
                <a:solidFill>
                  <a:schemeClr val="dk1"/>
                </a:solidFill>
              </a:rPr>
              <a:t>95</a:t>
            </a:r>
            <a:r>
              <a:rPr lang="en-IN">
                <a:solidFill>
                  <a:schemeClr val="dk1"/>
                </a:solidFill>
              </a:rPr>
              <a:t> - 3</a:t>
            </a:r>
            <a:r>
              <a:rPr baseline="30000" lang="en-IN">
                <a:solidFill>
                  <a:schemeClr val="dk1"/>
                </a:solidFill>
              </a:rPr>
              <a:t>58</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C.6</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D.7</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endParaRPr>
          </a:p>
        </p:txBody>
      </p:sp>
      <p:sp>
        <p:nvSpPr>
          <p:cNvPr id="132" name="Google Shape;132;p2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pic>
        <p:nvPicPr>
          <p:cNvPr id="133" name="Google Shape;133;p20"/>
          <p:cNvPicPr preferRelativeResize="0"/>
          <p:nvPr/>
        </p:nvPicPr>
        <p:blipFill rotWithShape="1">
          <a:blip r:embed="rId3">
            <a:alphaModFix/>
          </a:blip>
          <a:srcRect b="0" l="0" r="0" t="0"/>
          <a:stretch/>
        </p:blipFill>
        <p:spPr>
          <a:xfrm>
            <a:off x="6692275" y="420290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 calcmode="lin" valueType="num">
                                      <p:cBhvr additive="base">
                                        <p:cTn dur="500"/>
                                        <p:tgtEl>
                                          <p:spTgt spid="1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 calcmode="lin" valueType="num">
                                      <p:cBhvr additive="base">
                                        <p:cTn dur="500"/>
                                        <p:tgtEl>
                                          <p:spTgt spid="1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 calcmode="lin" valueType="num">
                                      <p:cBhvr additive="base">
                                        <p:cTn dur="500"/>
                                        <p:tgtEl>
                                          <p:spTgt spid="1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 calcmode="lin" valueType="num">
                                      <p:cBhvr additive="base">
                                        <p:cTn dur="500"/>
                                        <p:tgtEl>
                                          <p:spTgt spid="1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 calcmode="lin" valueType="num">
                                      <p:cBhvr additive="base">
                                        <p:cTn dur="500"/>
                                        <p:tgtEl>
                                          <p:spTgt spid="1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anim calcmode="lin" valueType="num">
                                      <p:cBhvr additive="base">
                                        <p:cTn dur="500"/>
                                        <p:tgtEl>
                                          <p:spTgt spid="13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 name="Shape 137"/>
        <p:cNvGrpSpPr/>
        <p:nvPr/>
      </p:nvGrpSpPr>
      <p:grpSpPr>
        <a:xfrm>
          <a:off x="0" y="0"/>
          <a:ext cx="0" cy="0"/>
          <a:chOff x="0" y="0"/>
          <a:chExt cx="0" cy="0"/>
        </a:xfrm>
      </p:grpSpPr>
      <p:sp>
        <p:nvSpPr>
          <p:cNvPr id="138" name="Google Shape;138;p21"/>
          <p:cNvSpPr txBox="1"/>
          <p:nvPr>
            <p:ph idx="1" type="body"/>
          </p:nvPr>
        </p:nvSpPr>
        <p:spPr>
          <a:xfrm>
            <a:off x="720725" y="1170000"/>
            <a:ext cx="8017800" cy="32406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need to find the units digit of 7</a:t>
            </a:r>
            <a:r>
              <a:rPr baseline="30000" lang="en-IN" sz="2700">
                <a:solidFill>
                  <a:schemeClr val="dk1"/>
                </a:solidFill>
              </a:rPr>
              <a:t>95 </a:t>
            </a:r>
            <a:r>
              <a:rPr lang="en-IN" sz="1600">
                <a:solidFill>
                  <a:schemeClr val="dk1"/>
                </a:solidFill>
              </a:rPr>
              <a:t>and 3</a:t>
            </a:r>
            <a:r>
              <a:rPr baseline="30000" lang="en-IN" sz="2700">
                <a:solidFill>
                  <a:schemeClr val="dk1"/>
                </a:solidFill>
              </a:rPr>
              <a:t>58</a:t>
            </a:r>
            <a:r>
              <a:rPr lang="en-IN" sz="1600">
                <a:solidFill>
                  <a:schemeClr val="dk1"/>
                </a:solidFill>
              </a:rPr>
              <a:t> separately. Let’s use the general rule of cyclicity to find these.</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t>●</a:t>
            </a:r>
            <a:r>
              <a:rPr b="1" lang="en-IN" sz="1600" u="sng">
                <a:solidFill>
                  <a:schemeClr val="dk1"/>
                </a:solidFill>
              </a:rPr>
              <a:t>Units digit of 7</a:t>
            </a:r>
            <a:r>
              <a:rPr b="1" baseline="30000" lang="en-IN" sz="2700" u="sng">
                <a:solidFill>
                  <a:schemeClr val="dk1"/>
                </a:solidFill>
              </a:rPr>
              <a:t>95</a:t>
            </a:r>
            <a:endParaRPr b="1" baseline="30000" sz="27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95/4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7</a:t>
            </a:r>
            <a:r>
              <a:rPr baseline="30000" lang="en-IN" sz="2700">
                <a:solidFill>
                  <a:schemeClr val="dk1"/>
                </a:solidFill>
              </a:rPr>
              <a:t>95</a:t>
            </a:r>
            <a:r>
              <a:rPr lang="en-IN" sz="1600">
                <a:solidFill>
                  <a:schemeClr val="dk1"/>
                </a:solidFill>
              </a:rPr>
              <a:t> = Units digit of (7</a:t>
            </a:r>
            <a:r>
              <a:rPr baseline="30000" lang="en-IN" sz="2700">
                <a:solidFill>
                  <a:schemeClr val="dk1"/>
                </a:solidFill>
              </a:rPr>
              <a:t>3</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t>●</a:t>
            </a:r>
            <a:r>
              <a:rPr b="1" lang="en-IN" sz="1600" u="sng">
                <a:solidFill>
                  <a:schemeClr val="dk1"/>
                </a:solidFill>
              </a:rPr>
              <a:t>Units digit of 3</a:t>
            </a:r>
            <a:r>
              <a:rPr b="1" baseline="30000" lang="en-IN" sz="2700" u="sng">
                <a:solidFill>
                  <a:schemeClr val="dk1"/>
                </a:solidFill>
              </a:rPr>
              <a:t>58</a:t>
            </a:r>
            <a:endParaRPr b="1" baseline="30000" sz="27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58/4 = 2</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2700">
                <a:solidFill>
                  <a:schemeClr val="dk1"/>
                </a:solidFill>
              </a:rPr>
              <a:t>58</a:t>
            </a:r>
            <a:r>
              <a:rPr lang="en-IN" sz="1600">
                <a:solidFill>
                  <a:schemeClr val="dk1"/>
                </a:solidFill>
              </a:rPr>
              <a:t> = Units digit of (3</a:t>
            </a:r>
            <a:r>
              <a:rPr baseline="30000" lang="en-IN" sz="2700">
                <a:solidFill>
                  <a:schemeClr val="dk1"/>
                </a:solidFill>
              </a:rPr>
              <a:t>2</a:t>
            </a:r>
            <a:r>
              <a:rPr lang="en-IN" sz="1600">
                <a:solidFill>
                  <a:schemeClr val="dk1"/>
                </a:solidFill>
              </a:rPr>
              <a:t>) = 9</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 digit in (7</a:t>
            </a:r>
            <a:r>
              <a:rPr baseline="30000" lang="en-IN" sz="2700">
                <a:solidFill>
                  <a:schemeClr val="dk1"/>
                </a:solidFill>
              </a:rPr>
              <a:t>95</a:t>
            </a:r>
            <a:r>
              <a:rPr lang="en-IN" sz="1600">
                <a:solidFill>
                  <a:schemeClr val="dk1"/>
                </a:solidFill>
              </a:rPr>
              <a:t> - 3</a:t>
            </a:r>
            <a:r>
              <a:rPr baseline="30000" lang="en-IN" sz="2700">
                <a:solidFill>
                  <a:schemeClr val="dk1"/>
                </a:solidFill>
              </a:rPr>
              <a:t>58</a:t>
            </a:r>
            <a:r>
              <a:rPr lang="en-IN" sz="1600">
                <a:solidFill>
                  <a:schemeClr val="dk1"/>
                </a:solidFill>
              </a:rPr>
              <a:t>) = Unit digit in (7</a:t>
            </a:r>
            <a:r>
              <a:rPr baseline="30000" lang="en-IN" sz="2700">
                <a:solidFill>
                  <a:schemeClr val="dk1"/>
                </a:solidFill>
              </a:rPr>
              <a:t>95</a:t>
            </a:r>
            <a:r>
              <a:rPr lang="en-IN" sz="1600">
                <a:solidFill>
                  <a:schemeClr val="dk1"/>
                </a:solidFill>
              </a:rPr>
              <a:t>) - Unit digit in (3</a:t>
            </a:r>
            <a:r>
              <a:rPr baseline="30000" lang="en-IN" sz="2700">
                <a:solidFill>
                  <a:schemeClr val="dk1"/>
                </a:solidFill>
              </a:rPr>
              <a:t>58</a:t>
            </a:r>
            <a:r>
              <a:rPr lang="en-IN" sz="1600">
                <a:solidFill>
                  <a:schemeClr val="dk1"/>
                </a:solidFill>
              </a:rPr>
              <a:t>) = 13 – 9 = </a:t>
            </a:r>
            <a:r>
              <a:rPr b="1" lang="en-IN" sz="1600">
                <a:solidFill>
                  <a:schemeClr val="dk1"/>
                </a:solidFill>
              </a:rPr>
              <a:t>4</a:t>
            </a:r>
            <a:endParaRPr b="1" sz="1600">
              <a:solidFill>
                <a:schemeClr val="dk1"/>
              </a:solidFill>
            </a:endParaRPr>
          </a:p>
          <a:p>
            <a:pPr indent="0" lvl="0" marL="114300" rtl="0" algn="l">
              <a:lnSpc>
                <a:spcPct val="115000"/>
              </a:lnSpc>
              <a:spcBef>
                <a:spcPts val="0"/>
              </a:spcBef>
              <a:spcAft>
                <a:spcPts val="0"/>
              </a:spcAft>
              <a:buSzPts val="1800"/>
              <a:buNone/>
            </a:pPr>
            <a:r>
              <a:t/>
            </a:r>
            <a:endParaRPr sz="1400">
              <a:solidFill>
                <a:schemeClr val="dk1"/>
              </a:solidFill>
            </a:endParaRPr>
          </a:p>
        </p:txBody>
      </p:sp>
      <p:sp>
        <p:nvSpPr>
          <p:cNvPr id="139" name="Google Shape;139;p2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of (6374)</a:t>
            </a:r>
            <a:r>
              <a:rPr baseline="30000" lang="en-IN">
                <a:solidFill>
                  <a:schemeClr val="dk1"/>
                </a:solidFill>
              </a:rPr>
              <a:t>1793</a:t>
            </a:r>
            <a:r>
              <a:rPr lang="en-IN">
                <a:solidFill>
                  <a:schemeClr val="dk1"/>
                </a:solidFill>
              </a:rPr>
              <a:t> x (625)</a:t>
            </a:r>
            <a:r>
              <a:rPr baseline="30000" lang="en-IN">
                <a:solidFill>
                  <a:schemeClr val="dk1"/>
                </a:solidFill>
              </a:rPr>
              <a:t>317</a:t>
            </a:r>
            <a:r>
              <a:rPr lang="en-IN">
                <a:solidFill>
                  <a:schemeClr val="dk1"/>
                </a:solidFill>
              </a:rPr>
              <a:t> x (341)</a:t>
            </a:r>
            <a:r>
              <a:rPr baseline="30000" lang="en-IN">
                <a:solidFill>
                  <a:schemeClr val="dk1"/>
                </a:solidFill>
              </a:rPr>
              <a:t>491 	</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C.3</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D.5</a:t>
            </a:r>
            <a:endParaRPr>
              <a:solidFill>
                <a:schemeClr val="dk1"/>
              </a:solidFill>
            </a:endParaRPr>
          </a:p>
          <a:p>
            <a:pPr indent="0" lvl="0" marL="0" rtl="0" algn="l">
              <a:lnSpc>
                <a:spcPct val="137500"/>
              </a:lnSpc>
              <a:spcBef>
                <a:spcPts val="1100"/>
              </a:spcBef>
              <a:spcAft>
                <a:spcPts val="0"/>
              </a:spcAft>
              <a:buClr>
                <a:schemeClr val="dk1"/>
              </a:buClr>
              <a:buSzPts val="1100"/>
              <a:buFont typeface="Arial"/>
              <a:buNone/>
            </a:pPr>
            <a:r>
              <a:t/>
            </a:r>
            <a:endParaRPr sz="1600">
              <a:solidFill>
                <a:schemeClr val="dk1"/>
              </a:solidFill>
              <a:highlight>
                <a:schemeClr val="lt1"/>
              </a:highlight>
              <a:latin typeface="Arial"/>
              <a:ea typeface="Arial"/>
              <a:cs typeface="Arial"/>
              <a:sym typeface="Arial"/>
            </a:endParaRPr>
          </a:p>
        </p:txBody>
      </p:sp>
      <p:sp>
        <p:nvSpPr>
          <p:cNvPr id="145" name="Google Shape;145;p2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pic>
        <p:nvPicPr>
          <p:cNvPr id="146" name="Google Shape;146;p22"/>
          <p:cNvPicPr preferRelativeResize="0"/>
          <p:nvPr/>
        </p:nvPicPr>
        <p:blipFill rotWithShape="1">
          <a:blip r:embed="rId3">
            <a:alphaModFix/>
          </a:blip>
          <a:srcRect b="0" l="0" r="0" t="0"/>
          <a:stretch/>
        </p:blipFill>
        <p:spPr>
          <a:xfrm>
            <a:off x="6906400" y="425870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 calcmode="lin" valueType="num">
                                      <p:cBhvr additive="base">
                                        <p:cTn dur="500"/>
                                        <p:tgtEl>
                                          <p:spTgt spid="1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 calcmode="lin" valueType="num">
                                      <p:cBhvr additive="base">
                                        <p:cTn dur="500"/>
                                        <p:tgtEl>
                                          <p:spTgt spid="1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 calcmode="lin" valueType="num">
                                      <p:cBhvr additive="base">
                                        <p:cTn dur="500"/>
                                        <p:tgtEl>
                                          <p:spTgt spid="14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 calcmode="lin" valueType="num">
                                      <p:cBhvr additive="base">
                                        <p:cTn dur="500"/>
                                        <p:tgtEl>
                                          <p:spTgt spid="14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 calcmode="lin" valueType="num">
                                      <p:cBhvr additive="base">
                                        <p:cTn dur="500"/>
                                        <p:tgtEl>
                                          <p:spTgt spid="14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anim calcmode="lin" valueType="num">
                                      <p:cBhvr additive="base">
                                        <p:cTn dur="500"/>
                                        <p:tgtEl>
                                          <p:spTgt spid="14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23"/>
          <p:cNvSpPr txBox="1"/>
          <p:nvPr>
            <p:ph idx="1" type="body"/>
          </p:nvPr>
        </p:nvSpPr>
        <p:spPr>
          <a:xfrm>
            <a:off x="720725" y="1170000"/>
            <a:ext cx="7998000" cy="3312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latin typeface="Arial"/>
                <a:ea typeface="Arial"/>
                <a:cs typeface="Arial"/>
                <a:sym typeface="Arial"/>
              </a:rPr>
              <a:t>We need to find the unit place digit of each term separately.</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(6374</a:t>
            </a:r>
            <a:r>
              <a:rPr b="1" baseline="30000" lang="en-IN" sz="1600" u="sng">
                <a:solidFill>
                  <a:schemeClr val="dk1"/>
                </a:solidFill>
                <a:latin typeface="Arial"/>
                <a:ea typeface="Arial"/>
                <a:cs typeface="Arial"/>
                <a:sym typeface="Arial"/>
              </a:rPr>
              <a:t>1793</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We know that units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 units digit of 4</a:t>
            </a:r>
            <a:r>
              <a:rPr baseline="30000" lang="en-IN" sz="1600">
                <a:solidFill>
                  <a:schemeClr val="dk1"/>
                </a:solidFill>
                <a:latin typeface="Arial"/>
                <a:ea typeface="Arial"/>
                <a:cs typeface="Arial"/>
                <a:sym typeface="Arial"/>
              </a:rPr>
              <a:t>1793</a:t>
            </a:r>
            <a:endParaRPr baseline="30000"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Since 1793 is odd, we know that reminder of 1793/4 will be an odd number</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Since cyclicity of 4 is 2, and the units digit at odd positions are 4.</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Hence units place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 4</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(625</a:t>
            </a:r>
            <a:r>
              <a:rPr b="1" baseline="30000" lang="en-IN" sz="1600" u="sng">
                <a:solidFill>
                  <a:schemeClr val="dk1"/>
                </a:solidFill>
                <a:latin typeface="Arial"/>
                <a:ea typeface="Arial"/>
                <a:cs typeface="Arial"/>
                <a:sym typeface="Arial"/>
              </a:rPr>
              <a:t>317</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From the table of cyclicity of numbers we know that 5 has cyclicity 1 and value is 5</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(341</a:t>
            </a:r>
            <a:r>
              <a:rPr b="1" baseline="30000" lang="en-IN" sz="1600" u="sng">
                <a:solidFill>
                  <a:schemeClr val="dk1"/>
                </a:solidFill>
                <a:latin typeface="Arial"/>
                <a:ea typeface="Arial"/>
                <a:cs typeface="Arial"/>
                <a:sym typeface="Arial"/>
              </a:rPr>
              <a:t>491</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From the table of cyclicity of numbers we know that 1 has cyclicity 1 and value is 1</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lang="en-IN" sz="1600">
                <a:solidFill>
                  <a:schemeClr val="dk1"/>
                </a:solidFill>
                <a:latin typeface="Arial"/>
                <a:ea typeface="Arial"/>
                <a:cs typeface="Arial"/>
                <a:sym typeface="Arial"/>
              </a:rPr>
              <a:t>Hence units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x (625)</a:t>
            </a:r>
            <a:r>
              <a:rPr baseline="30000" lang="en-IN" sz="1600">
                <a:solidFill>
                  <a:schemeClr val="dk1"/>
                </a:solidFill>
                <a:latin typeface="Arial"/>
                <a:ea typeface="Arial"/>
                <a:cs typeface="Arial"/>
                <a:sym typeface="Arial"/>
              </a:rPr>
              <a:t>317</a:t>
            </a:r>
            <a:r>
              <a:rPr lang="en-IN" sz="1600">
                <a:solidFill>
                  <a:schemeClr val="dk1"/>
                </a:solidFill>
                <a:latin typeface="Arial"/>
                <a:ea typeface="Arial"/>
                <a:cs typeface="Arial"/>
                <a:sym typeface="Arial"/>
              </a:rPr>
              <a:t> x (341)</a:t>
            </a:r>
            <a:r>
              <a:rPr baseline="30000" lang="en-IN" sz="1600">
                <a:solidFill>
                  <a:schemeClr val="dk1"/>
                </a:solidFill>
                <a:latin typeface="Arial"/>
                <a:ea typeface="Arial"/>
                <a:cs typeface="Arial"/>
                <a:sym typeface="Arial"/>
              </a:rPr>
              <a:t>491</a:t>
            </a:r>
            <a:r>
              <a:rPr lang="en-IN" sz="1600">
                <a:solidFill>
                  <a:schemeClr val="dk1"/>
                </a:solidFill>
                <a:latin typeface="Arial"/>
                <a:ea typeface="Arial"/>
                <a:cs typeface="Arial"/>
                <a:sym typeface="Arial"/>
              </a:rPr>
              <a:t> = Units digit of (4 * 5 * 1) = 0</a:t>
            </a:r>
            <a:endParaRPr sz="1600">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800"/>
              <a:buFont typeface="Arial"/>
              <a:buNone/>
            </a:pPr>
            <a:r>
              <a:t/>
            </a:r>
            <a:endParaRPr sz="1600">
              <a:solidFill>
                <a:schemeClr val="dk1"/>
              </a:solidFill>
              <a:highlight>
                <a:schemeClr val="lt1"/>
              </a:highlight>
              <a:latin typeface="Arial"/>
              <a:ea typeface="Arial"/>
              <a:cs typeface="Arial"/>
              <a:sym typeface="Arial"/>
            </a:endParaRPr>
          </a:p>
        </p:txBody>
      </p:sp>
      <p:sp>
        <p:nvSpPr>
          <p:cNvPr id="152" name="Google Shape;152;p2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5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5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5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5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5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5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500"/>
                                        <p:tgtEl>
                                          <p:spTgt spid="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Effect filter="fade" transition="in">
                                      <p:cBhvr>
                                        <p:cTn dur="500"/>
                                        <p:tgtEl>
                                          <p:spTgt spid="1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animEffect filter="fade" transition="in">
                                      <p:cBhvr>
                                        <p:cTn dur="500"/>
                                        <p:tgtEl>
                                          <p:spTgt spid="1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9" st="9"/>
                                            </p:txEl>
                                          </p:spTgt>
                                        </p:tgtEl>
                                        <p:attrNameLst>
                                          <p:attrName>style.visibility</p:attrName>
                                        </p:attrNameLst>
                                      </p:cBhvr>
                                      <p:to>
                                        <p:strVal val="visible"/>
                                      </p:to>
                                    </p:set>
                                    <p:animEffect filter="fade" transition="in">
                                      <p:cBhvr>
                                        <p:cTn dur="500"/>
                                        <p:tgtEl>
                                          <p:spTgt spid="1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0" st="10"/>
                                            </p:txEl>
                                          </p:spTgt>
                                        </p:tgtEl>
                                        <p:attrNameLst>
                                          <p:attrName>style.visibility</p:attrName>
                                        </p:attrNameLst>
                                      </p:cBhvr>
                                      <p:to>
                                        <p:strVal val="visible"/>
                                      </p:to>
                                    </p:set>
                                    <p:animEffect filter="fade" transition="in">
                                      <p:cBhvr>
                                        <p:cTn dur="500"/>
                                        <p:tgtEl>
                                          <p:spTgt spid="1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1" st="11"/>
                                            </p:txEl>
                                          </p:spTgt>
                                        </p:tgtEl>
                                        <p:attrNameLst>
                                          <p:attrName>style.visibility</p:attrName>
                                        </p:attrNameLst>
                                      </p:cBhvr>
                                      <p:to>
                                        <p:strVal val="visible"/>
                                      </p:to>
                                    </p:set>
                                    <p:animEffect filter="fade" transition="in">
                                      <p:cBhvr>
                                        <p:cTn dur="500"/>
                                        <p:tgtEl>
                                          <p:spTgt spid="151">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Find the units digit of 33</a:t>
            </a:r>
            <a:r>
              <a:rPr baseline="30000" lang="en-IN">
                <a:solidFill>
                  <a:schemeClr val="dk1"/>
                </a:solidFill>
              </a:rPr>
              <a:t>43</a:t>
            </a:r>
            <a:r>
              <a:rPr lang="en-IN">
                <a:solidFill>
                  <a:schemeClr val="dk1"/>
                </a:solidFill>
              </a:rPr>
              <a:t> + 43</a:t>
            </a:r>
            <a:r>
              <a:rPr baseline="30000" lang="en-IN">
                <a:solidFill>
                  <a:schemeClr val="dk1"/>
                </a:solidFill>
              </a:rPr>
              <a:t>33    </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B.3</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C.7</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D.9</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158" name="Google Shape;158;p24"/>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pic>
        <p:nvPicPr>
          <p:cNvPr id="159" name="Google Shape;159;p24"/>
          <p:cNvPicPr preferRelativeResize="0"/>
          <p:nvPr/>
        </p:nvPicPr>
        <p:blipFill rotWithShape="1">
          <a:blip r:embed="rId3">
            <a:alphaModFix/>
          </a:blip>
          <a:srcRect b="-10" l="-4217" r="-20564" t="0"/>
          <a:stretch/>
        </p:blipFill>
        <p:spPr>
          <a:xfrm>
            <a:off x="6033225" y="4127275"/>
            <a:ext cx="2778375"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 calcmode="lin" valueType="num">
                                      <p:cBhvr additive="base">
                                        <p:cTn dur="500"/>
                                        <p:tgtEl>
                                          <p:spTgt spid="15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 calcmode="lin" valueType="num">
                                      <p:cBhvr additive="base">
                                        <p:cTn dur="500"/>
                                        <p:tgtEl>
                                          <p:spTgt spid="15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 calcmode="lin" valueType="num">
                                      <p:cBhvr additive="base">
                                        <p:cTn dur="500"/>
                                        <p:tgtEl>
                                          <p:spTgt spid="15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 calcmode="lin" valueType="num">
                                      <p:cBhvr additive="base">
                                        <p:cTn dur="500"/>
                                        <p:tgtEl>
                                          <p:spTgt spid="15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 calcmode="lin" valueType="num">
                                      <p:cBhvr additive="base">
                                        <p:cTn dur="500"/>
                                        <p:tgtEl>
                                          <p:spTgt spid="15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 calcmode="lin" valueType="num">
                                      <p:cBhvr additive="base">
                                        <p:cTn dur="500"/>
                                        <p:tgtEl>
                                          <p:spTgt spid="15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p25"/>
          <p:cNvSpPr txBox="1"/>
          <p:nvPr>
            <p:ph idx="1" type="body"/>
          </p:nvPr>
        </p:nvSpPr>
        <p:spPr>
          <a:xfrm>
            <a:off x="720725" y="1187848"/>
            <a:ext cx="7998000" cy="27678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know that units digit of (33</a:t>
            </a:r>
            <a:r>
              <a:rPr baseline="30000" lang="en-IN" sz="1600">
                <a:solidFill>
                  <a:schemeClr val="dk1"/>
                </a:solidFill>
              </a:rPr>
              <a:t>43</a:t>
            </a:r>
            <a:r>
              <a:rPr lang="en-IN" sz="1600">
                <a:solidFill>
                  <a:schemeClr val="dk1"/>
                </a:solidFill>
              </a:rPr>
              <a:t> + 43</a:t>
            </a:r>
            <a:r>
              <a:rPr baseline="30000" lang="en-IN" sz="1600">
                <a:solidFill>
                  <a:schemeClr val="dk1"/>
                </a:solidFill>
              </a:rPr>
              <a:t>33</a:t>
            </a:r>
            <a:r>
              <a:rPr lang="en-IN" sz="1600">
                <a:solidFill>
                  <a:schemeClr val="dk1"/>
                </a:solidFill>
              </a:rPr>
              <a:t> ) = units digit of (units digit of 33</a:t>
            </a:r>
            <a:r>
              <a:rPr baseline="30000" lang="en-IN" sz="1600">
                <a:solidFill>
                  <a:schemeClr val="dk1"/>
                </a:solidFill>
              </a:rPr>
              <a:t>43</a:t>
            </a:r>
            <a:r>
              <a:rPr lang="en-IN" sz="1600">
                <a:solidFill>
                  <a:schemeClr val="dk1"/>
                </a:solidFill>
              </a:rPr>
              <a:t> + units digit of 43</a:t>
            </a:r>
            <a:r>
              <a:rPr baseline="30000" lang="en-IN" sz="1600">
                <a:solidFill>
                  <a:schemeClr val="dk1"/>
                </a:solidFill>
              </a:rPr>
              <a:t>33</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Now let's find units digit of each term separately.</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33</a:t>
            </a:r>
            <a:r>
              <a:rPr b="1" baseline="30000" lang="en-IN" sz="1600" u="sng">
                <a:solidFill>
                  <a:schemeClr val="dk1"/>
                </a:solidFill>
              </a:rPr>
              <a:t>43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Since exponent 43 is not divisible by 4, from the general rule of cyclicity of numbers, we know that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43</a:t>
            </a:r>
            <a:r>
              <a:rPr lang="en-IN" sz="1600">
                <a:solidFill>
                  <a:schemeClr val="dk1"/>
                </a:solidFill>
              </a:rPr>
              <a:t> = Units digit of 3</a:t>
            </a:r>
            <a:r>
              <a:rPr baseline="30000" lang="en-IN" sz="1600">
                <a:solidFill>
                  <a:schemeClr val="dk1"/>
                </a:solidFill>
              </a:rPr>
              <a:t>3</a:t>
            </a:r>
            <a:r>
              <a:rPr lang="en-IN" sz="1600">
                <a:solidFill>
                  <a:schemeClr val="dk1"/>
                </a:solidFill>
              </a:rPr>
              <a:t>   	[3</a:t>
            </a:r>
            <a:r>
              <a:rPr baseline="30000" lang="en-IN" sz="1600">
                <a:solidFill>
                  <a:schemeClr val="dk1"/>
                </a:solidFill>
              </a:rPr>
              <a:t>reminder of 43/4</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 7</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43</a:t>
            </a:r>
            <a:r>
              <a:rPr b="1" baseline="30000" lang="en-IN" sz="1600" u="sng">
                <a:solidFill>
                  <a:schemeClr val="dk1"/>
                </a:solidFill>
              </a:rPr>
              <a:t>33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Similar to above scenario</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33</a:t>
            </a:r>
            <a:r>
              <a:rPr lang="en-IN" sz="1600">
                <a:solidFill>
                  <a:schemeClr val="dk1"/>
                </a:solidFill>
              </a:rPr>
              <a:t> = Units digit of 3</a:t>
            </a:r>
            <a:r>
              <a:rPr baseline="30000" lang="en-IN" sz="1600">
                <a:solidFill>
                  <a:schemeClr val="dk1"/>
                </a:solidFill>
              </a:rPr>
              <a:t>1</a:t>
            </a:r>
            <a:r>
              <a:rPr lang="en-IN" sz="1600">
                <a:solidFill>
                  <a:schemeClr val="dk1"/>
                </a:solidFill>
              </a:rPr>
              <a:t> 	 [3</a:t>
            </a:r>
            <a:r>
              <a:rPr baseline="30000" lang="en-IN" sz="1600">
                <a:solidFill>
                  <a:schemeClr val="dk1"/>
                </a:solidFill>
              </a:rPr>
              <a:t>(reminder of 33/4)</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 3</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rPr lang="en-IN" sz="1600">
                <a:solidFill>
                  <a:schemeClr val="dk1"/>
                </a:solidFill>
              </a:rPr>
              <a:t>Hence units digit of 33</a:t>
            </a:r>
            <a:r>
              <a:rPr baseline="30000" lang="en-IN" sz="1600">
                <a:solidFill>
                  <a:schemeClr val="dk1"/>
                </a:solidFill>
              </a:rPr>
              <a:t>43</a:t>
            </a:r>
            <a:r>
              <a:rPr lang="en-IN" sz="1600">
                <a:solidFill>
                  <a:schemeClr val="dk1"/>
                </a:solidFill>
              </a:rPr>
              <a:t> + 43</a:t>
            </a:r>
            <a:r>
              <a:rPr baseline="30000" lang="en-IN" sz="1600">
                <a:solidFill>
                  <a:schemeClr val="dk1"/>
                </a:solidFill>
              </a:rPr>
              <a:t>33</a:t>
            </a:r>
            <a:r>
              <a:rPr lang="en-IN" sz="1600">
                <a:solidFill>
                  <a:schemeClr val="dk1"/>
                </a:solidFill>
              </a:rPr>
              <a:t> = Units digit of (7 + 3) = 0</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p:txBody>
      </p:sp>
      <p:sp>
        <p:nvSpPr>
          <p:cNvPr id="165" name="Google Shape;165;p2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 calcmode="lin" valueType="num">
                                      <p:cBhvr additive="base">
                                        <p:cTn dur="500"/>
                                        <p:tgtEl>
                                          <p:spTgt spid="1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 calcmode="lin" valueType="num">
                                      <p:cBhvr additive="base">
                                        <p:cTn dur="500"/>
                                        <p:tgtEl>
                                          <p:spTgt spid="1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 calcmode="lin" valueType="num">
                                      <p:cBhvr additive="base">
                                        <p:cTn dur="500"/>
                                        <p:tgtEl>
                                          <p:spTgt spid="1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 calcmode="lin" valueType="num">
                                      <p:cBhvr additive="base">
                                        <p:cTn dur="500"/>
                                        <p:tgtEl>
                                          <p:spTgt spid="1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 calcmode="lin" valueType="num">
                                      <p:cBhvr additive="base">
                                        <p:cTn dur="500"/>
                                        <p:tgtEl>
                                          <p:spTgt spid="16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 calcmode="lin" valueType="num">
                                      <p:cBhvr additive="base">
                                        <p:cTn dur="500"/>
                                        <p:tgtEl>
                                          <p:spTgt spid="16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 calcmode="lin" valueType="num">
                                      <p:cBhvr additive="base">
                                        <p:cTn dur="500"/>
                                        <p:tgtEl>
                                          <p:spTgt spid="16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anim calcmode="lin" valueType="num">
                                      <p:cBhvr additive="base">
                                        <p:cTn dur="500"/>
                                        <p:tgtEl>
                                          <p:spTgt spid="16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anim calcmode="lin" valueType="num">
                                      <p:cBhvr additive="base">
                                        <p:cTn dur="500"/>
                                        <p:tgtEl>
                                          <p:spTgt spid="16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9" st="9"/>
                                            </p:txEl>
                                          </p:spTgt>
                                        </p:tgtEl>
                                        <p:attrNameLst>
                                          <p:attrName>style.visibility</p:attrName>
                                        </p:attrNameLst>
                                      </p:cBhvr>
                                      <p:to>
                                        <p:strVal val="visible"/>
                                      </p:to>
                                    </p:set>
                                    <p:anim calcmode="lin" valueType="num">
                                      <p:cBhvr additive="base">
                                        <p:cTn dur="500"/>
                                        <p:tgtEl>
                                          <p:spTgt spid="16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0" st="10"/>
                                            </p:txEl>
                                          </p:spTgt>
                                        </p:tgtEl>
                                        <p:attrNameLst>
                                          <p:attrName>style.visibility</p:attrName>
                                        </p:attrNameLst>
                                      </p:cBhvr>
                                      <p:to>
                                        <p:strVal val="visible"/>
                                      </p:to>
                                    </p:set>
                                    <p:anim calcmode="lin" valueType="num">
                                      <p:cBhvr additive="base">
                                        <p:cTn dur="500"/>
                                        <p:tgtEl>
                                          <p:spTgt spid="16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1" st="11"/>
                                            </p:txEl>
                                          </p:spTgt>
                                        </p:tgtEl>
                                        <p:attrNameLst>
                                          <p:attrName>style.visibility</p:attrName>
                                        </p:attrNameLst>
                                      </p:cBhvr>
                                      <p:to>
                                        <p:strVal val="visible"/>
                                      </p:to>
                                    </p:set>
                                    <p:anim calcmode="lin" valueType="num">
                                      <p:cBhvr additive="base">
                                        <p:cTn dur="500"/>
                                        <p:tgtEl>
                                          <p:spTgt spid="164">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2" st="12"/>
                                            </p:txEl>
                                          </p:spTgt>
                                        </p:tgtEl>
                                        <p:attrNameLst>
                                          <p:attrName>style.visibility</p:attrName>
                                        </p:attrNameLst>
                                      </p:cBhvr>
                                      <p:to>
                                        <p:strVal val="visible"/>
                                      </p:to>
                                    </p:set>
                                    <p:anim calcmode="lin" valueType="num">
                                      <p:cBhvr additive="base">
                                        <p:cTn dur="500"/>
                                        <p:tgtEl>
                                          <p:spTgt spid="164">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 type="body"/>
          </p:nvPr>
        </p:nvSpPr>
        <p:spPr>
          <a:xfrm>
            <a:off x="720725" y="117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What is the digit expected at units place of following mathematical operation:</a:t>
            </a:r>
            <a:endParaRPr>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( 6</a:t>
            </a:r>
            <a:r>
              <a:rPr baseline="30000" lang="en-IN" sz="3000">
                <a:solidFill>
                  <a:schemeClr val="dk1"/>
                </a:solidFill>
                <a:latin typeface="Arial"/>
                <a:ea typeface="Arial"/>
                <a:cs typeface="Arial"/>
                <a:sym typeface="Arial"/>
              </a:rPr>
              <a:t>15</a:t>
            </a:r>
            <a:r>
              <a:rPr lang="en-IN">
                <a:solidFill>
                  <a:schemeClr val="dk1"/>
                </a:solidFill>
                <a:latin typeface="Arial"/>
                <a:ea typeface="Arial"/>
                <a:cs typeface="Arial"/>
                <a:sym typeface="Arial"/>
              </a:rPr>
              <a:t> - 7</a:t>
            </a:r>
            <a:r>
              <a:rPr baseline="30000" lang="en-IN" sz="3000">
                <a:solidFill>
                  <a:schemeClr val="dk1"/>
                </a:solidFill>
                <a:latin typeface="Arial"/>
                <a:ea typeface="Arial"/>
                <a:cs typeface="Arial"/>
                <a:sym typeface="Arial"/>
              </a:rPr>
              <a:t>4</a:t>
            </a:r>
            <a:r>
              <a:rPr lang="en-IN">
                <a:solidFill>
                  <a:schemeClr val="dk1"/>
                </a:solidFill>
                <a:latin typeface="Arial"/>
                <a:ea typeface="Arial"/>
                <a:cs typeface="Arial"/>
                <a:sym typeface="Arial"/>
              </a:rPr>
              <a:t> - 9</a:t>
            </a:r>
            <a:r>
              <a:rPr baseline="30000" lang="en-IN" sz="3000">
                <a:solidFill>
                  <a:schemeClr val="dk1"/>
                </a:solidFill>
                <a:latin typeface="Arial"/>
                <a:ea typeface="Arial"/>
                <a:cs typeface="Arial"/>
                <a:sym typeface="Arial"/>
              </a:rPr>
              <a:t>13</a:t>
            </a:r>
            <a:r>
              <a:rPr lang="en-IN">
                <a:solidFill>
                  <a:schemeClr val="dk1"/>
                </a:solidFill>
                <a:latin typeface="Arial"/>
                <a:ea typeface="Arial"/>
                <a:cs typeface="Arial"/>
                <a:sym typeface="Arial"/>
              </a:rPr>
              <a:t> )?</a:t>
            </a:r>
            <a:endParaRPr>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A.</a:t>
            </a:r>
            <a:r>
              <a:rPr lang="en-IN">
                <a:solidFill>
                  <a:schemeClr val="dk1"/>
                </a:solidFill>
              </a:rPr>
              <a:t>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B.</a:t>
            </a:r>
            <a:r>
              <a:rPr lang="en-IN">
                <a:solidFill>
                  <a:schemeClr val="dk1"/>
                </a:solidFill>
              </a:rPr>
              <a:t>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C.</a:t>
            </a:r>
            <a:r>
              <a:rPr lang="en-IN">
                <a:solidFill>
                  <a:schemeClr val="dk1"/>
                </a:solidFill>
              </a:rPr>
              <a:t>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D.</a:t>
            </a:r>
            <a:r>
              <a:rPr lang="en-IN">
                <a:solidFill>
                  <a:schemeClr val="dk1"/>
                </a:solidFill>
              </a:rPr>
              <a:t>6</a:t>
            </a:r>
            <a:endParaRPr>
              <a:solidFill>
                <a:schemeClr val="dk1"/>
              </a:solidFill>
            </a:endParaRPr>
          </a:p>
          <a:p>
            <a:pPr indent="0" lvl="0" marL="0" rtl="0" algn="l">
              <a:lnSpc>
                <a:spcPct val="150000"/>
              </a:lnSpc>
              <a:spcBef>
                <a:spcPts val="0"/>
              </a:spcBef>
              <a:spcAft>
                <a:spcPts val="0"/>
              </a:spcAft>
              <a:buSzPts val="1800"/>
              <a:buNone/>
            </a:pPr>
            <a:r>
              <a:t/>
            </a:r>
            <a:endParaRPr sz="1600">
              <a:solidFill>
                <a:schemeClr val="dk1"/>
              </a:solidFill>
            </a:endParaRPr>
          </a:p>
        </p:txBody>
      </p:sp>
      <p:sp>
        <p:nvSpPr>
          <p:cNvPr id="171" name="Google Shape;171;p26"/>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pic>
        <p:nvPicPr>
          <p:cNvPr id="172" name="Google Shape;172;p26"/>
          <p:cNvPicPr preferRelativeResize="0"/>
          <p:nvPr/>
        </p:nvPicPr>
        <p:blipFill rotWithShape="1">
          <a:blip r:embed="rId3">
            <a:alphaModFix/>
          </a:blip>
          <a:srcRect b="0" l="0" r="8365" t="0"/>
          <a:stretch/>
        </p:blipFill>
        <p:spPr>
          <a:xfrm>
            <a:off x="6414400" y="4325850"/>
            <a:ext cx="2033025"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 calcmode="lin" valueType="num">
                                      <p:cBhvr additive="base">
                                        <p:cTn dur="500"/>
                                        <p:tgtEl>
                                          <p:spTgt spid="1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 calcmode="lin" valueType="num">
                                      <p:cBhvr additive="base">
                                        <p:cTn dur="500"/>
                                        <p:tgtEl>
                                          <p:spTgt spid="1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 calcmode="lin" valueType="num">
                                      <p:cBhvr additive="base">
                                        <p:cTn dur="500"/>
                                        <p:tgtEl>
                                          <p:spTgt spid="1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 calcmode="lin" valueType="num">
                                      <p:cBhvr additive="base">
                                        <p:cTn dur="500"/>
                                        <p:tgtEl>
                                          <p:spTgt spid="1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 calcmode="lin" valueType="num">
                                      <p:cBhvr additive="base">
                                        <p:cTn dur="500"/>
                                        <p:tgtEl>
                                          <p:spTgt spid="1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 calcmode="lin" valueType="num">
                                      <p:cBhvr additive="base">
                                        <p:cTn dur="500"/>
                                        <p:tgtEl>
                                          <p:spTgt spid="1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anim calcmode="lin" valueType="num">
                                      <p:cBhvr additive="base">
                                        <p:cTn dur="500"/>
                                        <p:tgtEl>
                                          <p:spTgt spid="17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27"/>
          <p:cNvSpPr txBox="1"/>
          <p:nvPr>
            <p:ph idx="1" type="body"/>
          </p:nvPr>
        </p:nvSpPr>
        <p:spPr>
          <a:xfrm>
            <a:off x="720725" y="1122850"/>
            <a:ext cx="7880100" cy="25749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b="1" lang="en-IN" sz="1600" u="sng">
                <a:solidFill>
                  <a:schemeClr val="dk1"/>
                </a:solidFill>
              </a:rPr>
              <a:t>Last digit of 6</a:t>
            </a:r>
            <a:r>
              <a:rPr b="1" baseline="30000" lang="en-IN" sz="1600" u="sng">
                <a:solidFill>
                  <a:schemeClr val="dk1"/>
                </a:solidFill>
              </a:rPr>
              <a:t>15</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6 has cyclicity 1, hence last digit of 6</a:t>
            </a:r>
            <a:r>
              <a:rPr baseline="30000" lang="en-IN" sz="1600">
                <a:solidFill>
                  <a:schemeClr val="dk1"/>
                </a:solidFill>
              </a:rPr>
              <a:t>15</a:t>
            </a:r>
            <a:r>
              <a:rPr lang="en-IN" sz="1600">
                <a:solidFill>
                  <a:schemeClr val="dk1"/>
                </a:solidFill>
              </a:rPr>
              <a:t> = 6</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Last digit of 7</a:t>
            </a:r>
            <a:r>
              <a:rPr b="1" baseline="30000" lang="en-IN" sz="1600" u="sng">
                <a:solidFill>
                  <a:schemeClr val="dk1"/>
                </a:solidFill>
              </a:rPr>
              <a:t>4</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Since the exponent is divisible by 4, from the table of cyclicity of numbers, we get last digit of 7</a:t>
            </a:r>
            <a:r>
              <a:rPr baseline="30000" lang="en-IN" sz="1600">
                <a:solidFill>
                  <a:schemeClr val="dk1"/>
                </a:solidFill>
              </a:rPr>
              <a:t>4</a:t>
            </a:r>
            <a:r>
              <a:rPr lang="en-IN" sz="1600">
                <a:solidFill>
                  <a:schemeClr val="dk1"/>
                </a:solidFill>
              </a:rPr>
              <a:t> = 1</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Last digit of 9</a:t>
            </a:r>
            <a:r>
              <a:rPr b="1" baseline="30000" lang="en-IN" sz="1600" u="sng">
                <a:solidFill>
                  <a:schemeClr val="dk1"/>
                </a:solidFill>
              </a:rPr>
              <a:t>13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As we know, 13 is odd number and so the the remainder of 13/4 is also odd.</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From the table of cyclicty of numbers, we know 9 has a cyclicity of 2 athe the element at odd positions of cyclicity is 9.</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Hence unit's last digit of 9</a:t>
            </a:r>
            <a:r>
              <a:rPr baseline="30000" lang="en-IN" sz="1600">
                <a:solidFill>
                  <a:schemeClr val="dk1"/>
                </a:solidFill>
              </a:rPr>
              <a:t>13</a:t>
            </a:r>
            <a:r>
              <a:rPr lang="en-IN" sz="1600">
                <a:solidFill>
                  <a:schemeClr val="dk1"/>
                </a:solidFill>
              </a:rPr>
              <a:t> = 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IN" sz="1600">
                <a:solidFill>
                  <a:schemeClr val="dk1"/>
                </a:solidFill>
              </a:rPr>
              <a:t>Hence, last digit of 6</a:t>
            </a:r>
            <a:r>
              <a:rPr baseline="30000" lang="en-IN" sz="1600">
                <a:solidFill>
                  <a:schemeClr val="dk1"/>
                </a:solidFill>
              </a:rPr>
              <a:t>15</a:t>
            </a:r>
            <a:r>
              <a:rPr lang="en-IN" sz="1600">
                <a:solidFill>
                  <a:schemeClr val="dk1"/>
                </a:solidFill>
              </a:rPr>
              <a:t> - 7</a:t>
            </a:r>
            <a:r>
              <a:rPr baseline="30000" lang="en-IN" sz="1600">
                <a:solidFill>
                  <a:schemeClr val="dk1"/>
                </a:solidFill>
              </a:rPr>
              <a:t>4</a:t>
            </a:r>
            <a:r>
              <a:rPr lang="en-IN" sz="1600">
                <a:solidFill>
                  <a:schemeClr val="dk1"/>
                </a:solidFill>
              </a:rPr>
              <a:t> - 9</a:t>
            </a:r>
            <a:r>
              <a:rPr baseline="30000" lang="en-IN" sz="1600">
                <a:solidFill>
                  <a:schemeClr val="dk1"/>
                </a:solidFill>
              </a:rPr>
              <a:t>13</a:t>
            </a:r>
            <a:r>
              <a:rPr lang="en-IN" sz="1600">
                <a:solidFill>
                  <a:schemeClr val="dk1"/>
                </a:solidFill>
              </a:rPr>
              <a:t> = Last digit of ( last digit of ( 6</a:t>
            </a:r>
            <a:r>
              <a:rPr baseline="30000" lang="en-IN" sz="1600">
                <a:solidFill>
                  <a:schemeClr val="dk1"/>
                </a:solidFill>
              </a:rPr>
              <a:t>15</a:t>
            </a:r>
            <a:r>
              <a:rPr lang="en-IN" sz="1600">
                <a:solidFill>
                  <a:schemeClr val="dk1"/>
                </a:solidFill>
              </a:rPr>
              <a:t>) - last digit of ( 7</a:t>
            </a:r>
            <a:r>
              <a:rPr baseline="30000" lang="en-IN" sz="1600">
                <a:solidFill>
                  <a:schemeClr val="dk1"/>
                </a:solidFill>
              </a:rPr>
              <a:t>4</a:t>
            </a:r>
            <a:r>
              <a:rPr lang="en-IN" sz="1600">
                <a:solidFill>
                  <a:schemeClr val="dk1"/>
                </a:solidFill>
              </a:rPr>
              <a:t> ) - last digit of ( 9</a:t>
            </a:r>
            <a:r>
              <a:rPr baseline="30000" lang="en-IN" sz="1600">
                <a:solidFill>
                  <a:schemeClr val="dk1"/>
                </a:solidFill>
              </a:rPr>
              <a:t>13</a:t>
            </a:r>
            <a:r>
              <a:rPr lang="en-IN" sz="1600">
                <a:solidFill>
                  <a:schemeClr val="dk1"/>
                </a:solidFill>
              </a:rPr>
              <a:t> ))</a:t>
            </a:r>
            <a:endParaRPr sz="1600">
              <a:solidFill>
                <a:schemeClr val="dk1"/>
              </a:solidFill>
            </a:endParaRPr>
          </a:p>
          <a:p>
            <a:pPr indent="0" lvl="0" marL="0" rtl="0" algn="l">
              <a:lnSpc>
                <a:spcPct val="115000"/>
              </a:lnSpc>
              <a:spcBef>
                <a:spcPts val="0"/>
              </a:spcBef>
              <a:spcAft>
                <a:spcPts val="0"/>
              </a:spcAft>
              <a:buSzPts val="1800"/>
              <a:buNone/>
            </a:pPr>
            <a:r>
              <a:rPr lang="en-IN" sz="1600">
                <a:solidFill>
                  <a:schemeClr val="dk1"/>
                </a:solidFill>
              </a:rPr>
              <a:t>= Last digit of (16 - 1 - 9) = </a:t>
            </a:r>
            <a:r>
              <a:rPr b="1" lang="en-IN" sz="1600">
                <a:solidFill>
                  <a:schemeClr val="dk1"/>
                </a:solidFill>
              </a:rPr>
              <a:t>6</a:t>
            </a:r>
            <a:endParaRPr sz="1600">
              <a:solidFill>
                <a:schemeClr val="dk1"/>
              </a:solidFill>
            </a:endParaRPr>
          </a:p>
        </p:txBody>
      </p:sp>
      <p:sp>
        <p:nvSpPr>
          <p:cNvPr id="178" name="Google Shape;178;p2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 calcmode="lin" valueType="num">
                                      <p:cBhvr additive="base">
                                        <p:cTn dur="500"/>
                                        <p:tgtEl>
                                          <p:spTgt spid="1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anim calcmode="lin" valueType="num">
                                      <p:cBhvr additive="base">
                                        <p:cTn dur="500"/>
                                        <p:tgtEl>
                                          <p:spTgt spid="1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anim calcmode="lin" valueType="num">
                                      <p:cBhvr additive="base">
                                        <p:cTn dur="500"/>
                                        <p:tgtEl>
                                          <p:spTgt spid="1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anim calcmode="lin" valueType="num">
                                      <p:cBhvr additive="base">
                                        <p:cTn dur="500"/>
                                        <p:tgtEl>
                                          <p:spTgt spid="1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anim calcmode="lin" valueType="num">
                                      <p:cBhvr additive="base">
                                        <p:cTn dur="500"/>
                                        <p:tgtEl>
                                          <p:spTgt spid="1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anim calcmode="lin" valueType="num">
                                      <p:cBhvr additive="base">
                                        <p:cTn dur="500"/>
                                        <p:tgtEl>
                                          <p:spTgt spid="17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anim calcmode="lin" valueType="num">
                                      <p:cBhvr additive="base">
                                        <p:cTn dur="500"/>
                                        <p:tgtEl>
                                          <p:spTgt spid="17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7" st="7"/>
                                            </p:txEl>
                                          </p:spTgt>
                                        </p:tgtEl>
                                        <p:attrNameLst>
                                          <p:attrName>style.visibility</p:attrName>
                                        </p:attrNameLst>
                                      </p:cBhvr>
                                      <p:to>
                                        <p:strVal val="visible"/>
                                      </p:to>
                                    </p:set>
                                    <p:anim calcmode="lin" valueType="num">
                                      <p:cBhvr additive="base">
                                        <p:cTn dur="500"/>
                                        <p:tgtEl>
                                          <p:spTgt spid="17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8" st="8"/>
                                            </p:txEl>
                                          </p:spTgt>
                                        </p:tgtEl>
                                        <p:attrNameLst>
                                          <p:attrName>style.visibility</p:attrName>
                                        </p:attrNameLst>
                                      </p:cBhvr>
                                      <p:to>
                                        <p:strVal val="visible"/>
                                      </p:to>
                                    </p:set>
                                    <p:anim calcmode="lin" valueType="num">
                                      <p:cBhvr additive="base">
                                        <p:cTn dur="500"/>
                                        <p:tgtEl>
                                          <p:spTgt spid="17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9" st="9"/>
                                            </p:txEl>
                                          </p:spTgt>
                                        </p:tgtEl>
                                        <p:attrNameLst>
                                          <p:attrName>style.visibility</p:attrName>
                                        </p:attrNameLst>
                                      </p:cBhvr>
                                      <p:to>
                                        <p:strVal val="visible"/>
                                      </p:to>
                                    </p:set>
                                    <p:anim calcmode="lin" valueType="num">
                                      <p:cBhvr additive="base">
                                        <p:cTn dur="500"/>
                                        <p:tgtEl>
                                          <p:spTgt spid="17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b3f087a09_1_59"/>
          <p:cNvSpPr txBox="1"/>
          <p:nvPr>
            <p:ph idx="1" type="body"/>
          </p:nvPr>
        </p:nvSpPr>
        <p:spPr>
          <a:xfrm>
            <a:off x="720725" y="117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184" name="Google Shape;184;g31b3f087a09_1_5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pic>
        <p:nvPicPr>
          <p:cNvPr id="185" name="Google Shape;185;g31b3f087a09_1_59"/>
          <p:cNvPicPr preferRelativeResize="0"/>
          <p:nvPr/>
        </p:nvPicPr>
        <p:blipFill rotWithShape="1">
          <a:blip r:embed="rId3">
            <a:alphaModFix/>
          </a:blip>
          <a:srcRect b="0" l="0" r="0" t="0"/>
          <a:stretch/>
        </p:blipFill>
        <p:spPr>
          <a:xfrm>
            <a:off x="581975" y="960848"/>
            <a:ext cx="9144001" cy="4451255"/>
          </a:xfrm>
          <a:prstGeom prst="rect">
            <a:avLst/>
          </a:prstGeom>
          <a:noFill/>
          <a:ln>
            <a:noFill/>
          </a:ln>
        </p:spPr>
      </p:pic>
      <p:pic>
        <p:nvPicPr>
          <p:cNvPr id="186" name="Google Shape;186;g31b3f087a09_1_59"/>
          <p:cNvPicPr preferRelativeResize="0"/>
          <p:nvPr/>
        </p:nvPicPr>
        <p:blipFill rotWithShape="1">
          <a:blip r:embed="rId4">
            <a:alphaModFix/>
          </a:blip>
          <a:srcRect b="0" l="0" r="0" t="0"/>
          <a:stretch/>
        </p:blipFill>
        <p:spPr>
          <a:xfrm>
            <a:off x="6518775" y="4210450"/>
            <a:ext cx="2293550" cy="59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500"/>
                                        <p:tgtEl>
                                          <p:spTgt spid="1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32"/>
          <p:cNvSpPr txBox="1"/>
          <p:nvPr>
            <p:ph idx="1" type="body"/>
          </p:nvPr>
        </p:nvSpPr>
        <p:spPr>
          <a:xfrm>
            <a:off x="720000" y="1440000"/>
            <a:ext cx="7650000" cy="3668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S</a:t>
            </a:r>
            <a:r>
              <a:rPr lang="en-IN">
                <a:solidFill>
                  <a:schemeClr val="dk1"/>
                </a:solidFill>
              </a:rPr>
              <a:t>ince 5 has cyclicity 1 and the value is 5, we don't need to any calculations to find it's answer. Unit's digit of 225</a:t>
            </a:r>
            <a:r>
              <a:rPr baseline="30000" lang="en-IN">
                <a:solidFill>
                  <a:schemeClr val="dk1"/>
                </a:solidFill>
              </a:rPr>
              <a:t>66^33</a:t>
            </a:r>
            <a:r>
              <a:rPr lang="en-IN">
                <a:solidFill>
                  <a:schemeClr val="dk1"/>
                </a:solidFill>
              </a:rPr>
              <a:t> is </a:t>
            </a:r>
            <a:r>
              <a:rPr b="1" lang="en-IN">
                <a:solidFill>
                  <a:schemeClr val="dk1"/>
                </a:solidFill>
              </a:rPr>
              <a:t>5</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lnSpc>
                <a:spcPct val="115000"/>
              </a:lnSpc>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lnSpc>
                <a:spcPct val="115000"/>
              </a:lnSpc>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lnSpc>
                <a:spcPct val="115000"/>
              </a:lnSpc>
              <a:spcBef>
                <a:spcPts val="0"/>
              </a:spcBef>
              <a:spcAft>
                <a:spcPts val="0"/>
              </a:spcAft>
              <a:buClr>
                <a:schemeClr val="dk1"/>
              </a:buClr>
              <a:buSzPts val="1800"/>
              <a:buFont typeface="Arial"/>
              <a:buNone/>
            </a:pPr>
            <a:r>
              <a:t/>
            </a:r>
            <a:endParaRPr sz="1600">
              <a:solidFill>
                <a:schemeClr val="dk1"/>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192" name="Google Shape;192;p3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 calcmode="lin" valueType="num">
                                      <p:cBhvr additive="base">
                                        <p:cTn dur="500"/>
                                        <p:tgtEl>
                                          <p:spTgt spid="1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 calcmode="lin" valueType="num">
                                      <p:cBhvr additive="base">
                                        <p:cTn dur="500"/>
                                        <p:tgtEl>
                                          <p:spTgt spid="1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 calcmode="lin" valueType="num">
                                      <p:cBhvr additive="base">
                                        <p:cTn dur="500"/>
                                        <p:tgtEl>
                                          <p:spTgt spid="1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 calcmode="lin" valueType="num">
                                      <p:cBhvr additive="base">
                                        <p:cTn dur="500"/>
                                        <p:tgtEl>
                                          <p:spTgt spid="19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 calcmode="lin" valueType="num">
                                      <p:cBhvr additive="base">
                                        <p:cTn dur="500"/>
                                        <p:tgtEl>
                                          <p:spTgt spid="19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 calcmode="lin" valueType="num">
                                      <p:cBhvr additive="base">
                                        <p:cTn dur="500"/>
                                        <p:tgtEl>
                                          <p:spTgt spid="19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anim calcmode="lin" valueType="num">
                                      <p:cBhvr additive="base">
                                        <p:cTn dur="500"/>
                                        <p:tgtEl>
                                          <p:spTgt spid="19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b3f087a09_1_65"/>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198" name="Google Shape;198;g31b3f087a09_1_6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pic>
        <p:nvPicPr>
          <p:cNvPr id="199" name="Google Shape;199;g31b3f087a09_1_65"/>
          <p:cNvPicPr preferRelativeResize="0"/>
          <p:nvPr/>
        </p:nvPicPr>
        <p:blipFill rotWithShape="1">
          <a:blip r:embed="rId3">
            <a:alphaModFix/>
          </a:blip>
          <a:srcRect b="0" l="0" r="0" t="0"/>
          <a:stretch/>
        </p:blipFill>
        <p:spPr>
          <a:xfrm>
            <a:off x="590850" y="1041622"/>
            <a:ext cx="9144002" cy="4500258"/>
          </a:xfrm>
          <a:prstGeom prst="rect">
            <a:avLst/>
          </a:prstGeom>
          <a:noFill/>
          <a:ln>
            <a:noFill/>
          </a:ln>
        </p:spPr>
      </p:pic>
      <p:pic>
        <p:nvPicPr>
          <p:cNvPr id="200" name="Google Shape;200;g31b3f087a09_1_65"/>
          <p:cNvPicPr preferRelativeResize="0"/>
          <p:nvPr/>
        </p:nvPicPr>
        <p:blipFill rotWithShape="1">
          <a:blip r:embed="rId4">
            <a:alphaModFix/>
          </a:blip>
          <a:srcRect b="0" l="0" r="0" t="0"/>
          <a:stretch/>
        </p:blipFill>
        <p:spPr>
          <a:xfrm>
            <a:off x="6645925" y="4210450"/>
            <a:ext cx="2165675" cy="559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 calcmode="lin" valueType="num">
                                      <p:cBhvr additive="base">
                                        <p:cTn dur="500"/>
                                        <p:tgtEl>
                                          <p:spTgt spid="19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p37"/>
          <p:cNvSpPr txBox="1"/>
          <p:nvPr>
            <p:ph idx="1" type="body"/>
          </p:nvPr>
        </p:nvSpPr>
        <p:spPr>
          <a:xfrm>
            <a:off x="720000" y="1440000"/>
            <a:ext cx="7650000" cy="300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a:solidFill>
                  <a:schemeClr val="dk1"/>
                </a:solidFill>
              </a:rPr>
              <a:t>It's similar to the previous problem. Since 4 has cyclicity 2, we only need to find if the exponent 22</a:t>
            </a:r>
            <a:r>
              <a:rPr baseline="30000" lang="en-IN">
                <a:solidFill>
                  <a:schemeClr val="dk1"/>
                </a:solidFill>
              </a:rPr>
              <a:t>45</a:t>
            </a:r>
            <a:r>
              <a:rPr lang="en-IN">
                <a:solidFill>
                  <a:schemeClr val="dk1"/>
                </a:solidFill>
              </a:rPr>
              <a:t> is even or odd. We know when an even is raised to any power result will be an even number. So the unit digit number will be the one occurring at the even positions of cyclicity of 4 which is</a:t>
            </a:r>
            <a:r>
              <a:rPr b="1" lang="en-IN">
                <a:solidFill>
                  <a:schemeClr val="dk1"/>
                </a:solidFill>
              </a:rPr>
              <a:t> 6</a:t>
            </a:r>
            <a:endParaRPr>
              <a:solidFill>
                <a:schemeClr val="dk1"/>
              </a:solidFill>
            </a:endParaRPr>
          </a:p>
        </p:txBody>
      </p:sp>
      <p:sp>
        <p:nvSpPr>
          <p:cNvPr id="206" name="Google Shape;206;p3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t/>
            </a:r>
            <a:endParaRPr sz="1600">
              <a:solidFill>
                <a:schemeClr val="dk1"/>
              </a:solidFill>
            </a:endParaRPr>
          </a:p>
        </p:txBody>
      </p:sp>
      <p:sp>
        <p:nvSpPr>
          <p:cNvPr id="212" name="Google Shape;212;p3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pic>
        <p:nvPicPr>
          <p:cNvPr id="213" name="Google Shape;213;p38"/>
          <p:cNvPicPr preferRelativeResize="0"/>
          <p:nvPr/>
        </p:nvPicPr>
        <p:blipFill rotWithShape="1">
          <a:blip r:embed="rId3">
            <a:alphaModFix/>
          </a:blip>
          <a:srcRect b="0" l="0" r="0" t="0"/>
          <a:stretch/>
        </p:blipFill>
        <p:spPr>
          <a:xfrm>
            <a:off x="595425" y="1115073"/>
            <a:ext cx="9144001" cy="4353354"/>
          </a:xfrm>
          <a:prstGeom prst="rect">
            <a:avLst/>
          </a:prstGeom>
          <a:noFill/>
          <a:ln>
            <a:noFill/>
          </a:ln>
        </p:spPr>
      </p:pic>
      <p:pic>
        <p:nvPicPr>
          <p:cNvPr id="214" name="Google Shape;214;p38"/>
          <p:cNvPicPr preferRelativeResize="0"/>
          <p:nvPr/>
        </p:nvPicPr>
        <p:blipFill rotWithShape="1">
          <a:blip r:embed="rId4">
            <a:alphaModFix/>
          </a:blip>
          <a:srcRect b="0" l="0" r="0" t="0"/>
          <a:stretch/>
        </p:blipFill>
        <p:spPr>
          <a:xfrm>
            <a:off x="6906400" y="423505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 calcmode="lin" valueType="num">
                                      <p:cBhvr additive="base">
                                        <p:cTn dur="500"/>
                                        <p:tgtEl>
                                          <p:spTgt spid="2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 name="Shape 218"/>
        <p:cNvGrpSpPr/>
        <p:nvPr/>
      </p:nvGrpSpPr>
      <p:grpSpPr>
        <a:xfrm>
          <a:off x="0" y="0"/>
          <a:ext cx="0" cy="0"/>
          <a:chOff x="0" y="0"/>
          <a:chExt cx="0" cy="0"/>
        </a:xfrm>
      </p:grpSpPr>
      <p:sp>
        <p:nvSpPr>
          <p:cNvPr id="219" name="Google Shape;219;p39"/>
          <p:cNvSpPr txBox="1"/>
          <p:nvPr>
            <p:ph idx="1" type="body"/>
          </p:nvPr>
        </p:nvSpPr>
        <p:spPr>
          <a:xfrm>
            <a:off x="720000" y="1440000"/>
            <a:ext cx="8112300" cy="31290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Clr>
                <a:schemeClr val="dk1"/>
              </a:buClr>
              <a:buSzPts val="1100"/>
              <a:buFont typeface="Arial"/>
              <a:buNone/>
            </a:pPr>
            <a:r>
              <a:rPr lang="en-IN" sz="1600">
                <a:solidFill>
                  <a:schemeClr val="dk1"/>
                </a:solidFill>
              </a:rPr>
              <a:t>We know that cyclicity if 9 is 2 and the values are 9 and 1. In this problem as explained the tutorial, we only need to find if the exponent 53</a:t>
            </a:r>
            <a:r>
              <a:rPr baseline="30000" lang="en-IN" sz="1600">
                <a:solidFill>
                  <a:schemeClr val="dk1"/>
                </a:solidFill>
              </a:rPr>
              <a:t>5</a:t>
            </a:r>
            <a:r>
              <a:rPr lang="en-IN" sz="1600">
                <a:solidFill>
                  <a:schemeClr val="dk1"/>
                </a:solidFill>
              </a:rPr>
              <a:t> is even or odd because the last digit is same for even and odd positions of the cyclicity. We know that an odd number raised to any power be an odd number. Hence the units digit number will be the cyclicity that occurs at odd positions, which is </a:t>
            </a:r>
            <a:r>
              <a:rPr b="1" lang="en-IN" sz="1600">
                <a:solidFill>
                  <a:schemeClr val="dk1"/>
                </a:solidFill>
              </a:rPr>
              <a:t>9</a:t>
            </a:r>
            <a:endParaRPr b="1"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220" name="Google Shape;220;p3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None/>
            </a:pPr>
            <a:r>
              <a:t/>
            </a:r>
            <a:endParaRPr>
              <a:solidFill>
                <a:schemeClr val="dk1"/>
              </a:solidFill>
              <a:latin typeface="Arial"/>
              <a:ea typeface="Arial"/>
              <a:cs typeface="Arial"/>
              <a:sym typeface="Arial"/>
            </a:endParaRPr>
          </a:p>
        </p:txBody>
      </p:sp>
      <p:sp>
        <p:nvSpPr>
          <p:cNvPr id="226" name="Google Shape;226;p4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pic>
        <p:nvPicPr>
          <p:cNvPr id="227" name="Google Shape;227;p40"/>
          <p:cNvPicPr preferRelativeResize="0"/>
          <p:nvPr/>
        </p:nvPicPr>
        <p:blipFill rotWithShape="1">
          <a:blip r:embed="rId3">
            <a:alphaModFix/>
          </a:blip>
          <a:srcRect b="0" l="0" r="0" t="0"/>
          <a:stretch/>
        </p:blipFill>
        <p:spPr>
          <a:xfrm>
            <a:off x="644575" y="1031498"/>
            <a:ext cx="9144001" cy="4353354"/>
          </a:xfrm>
          <a:prstGeom prst="rect">
            <a:avLst/>
          </a:prstGeom>
          <a:noFill/>
          <a:ln>
            <a:noFill/>
          </a:ln>
        </p:spPr>
      </p:pic>
      <p:pic>
        <p:nvPicPr>
          <p:cNvPr id="228" name="Google Shape;228;p40"/>
          <p:cNvPicPr preferRelativeResize="0"/>
          <p:nvPr/>
        </p:nvPicPr>
        <p:blipFill rotWithShape="1">
          <a:blip r:embed="rId4">
            <a:alphaModFix/>
          </a:blip>
          <a:srcRect b="0" l="0" r="0" t="0"/>
          <a:stretch/>
        </p:blipFill>
        <p:spPr>
          <a:xfrm>
            <a:off x="6832300" y="425112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 calcmode="lin" valueType="num">
                                      <p:cBhvr additive="base">
                                        <p:cTn dur="500"/>
                                        <p:tgtEl>
                                          <p:spTgt spid="2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41"/>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sz="1600">
                <a:solidFill>
                  <a:schemeClr val="dk1"/>
                </a:solidFill>
              </a:rPr>
              <a:t>As we know the last digit depends upon the unit digit of the multiplier numbers so the unit digit of 13</a:t>
            </a:r>
            <a:r>
              <a:rPr baseline="30000" lang="en-IN" sz="1600">
                <a:solidFill>
                  <a:schemeClr val="dk1"/>
                </a:solidFill>
              </a:rPr>
              <a:t>41</a:t>
            </a:r>
            <a:endParaRPr baseline="30000" sz="1600">
              <a:solidFill>
                <a:schemeClr val="dk1"/>
              </a:solidFill>
            </a:endParaRPr>
          </a:p>
          <a:p>
            <a:pPr indent="0" lvl="0" marL="114300" rtl="0" algn="l">
              <a:lnSpc>
                <a:spcPct val="150000"/>
              </a:lnSpc>
              <a:spcBef>
                <a:spcPts val="0"/>
              </a:spcBef>
              <a:spcAft>
                <a:spcPts val="0"/>
              </a:spcAft>
              <a:buClr>
                <a:schemeClr val="dk1"/>
              </a:buClr>
              <a:buSzPts val="1100"/>
              <a:buFont typeface="Arial"/>
              <a:buNone/>
            </a:pPr>
            <a:r>
              <a:rPr lang="en-IN" sz="1600">
                <a:solidFill>
                  <a:schemeClr val="dk1"/>
                </a:solidFill>
              </a:rPr>
              <a:t>is same as the last digit of 3</a:t>
            </a:r>
            <a:r>
              <a:rPr baseline="30000" lang="en-IN" sz="1600">
                <a:solidFill>
                  <a:schemeClr val="dk1"/>
                </a:solidFill>
              </a:rPr>
              <a:t>41</a:t>
            </a:r>
            <a:r>
              <a:rPr lang="en-IN" sz="1600">
                <a:solidFill>
                  <a:schemeClr val="dk1"/>
                </a:solidFill>
              </a:rPr>
              <a:t> and we know that the cyclicity of 3 is 4</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rPr lang="en-IN" sz="1600">
                <a:solidFill>
                  <a:schemeClr val="dk1"/>
                </a:solidFill>
              </a:rPr>
              <a:t>On dividing the number 41 with 4 and we will   get the remainder as 1 and the last digit will be 3</a:t>
            </a:r>
            <a:r>
              <a:rPr baseline="30000" lang="en-IN" sz="1600">
                <a:solidFill>
                  <a:schemeClr val="dk1"/>
                </a:solidFill>
              </a:rPr>
              <a:t>1</a:t>
            </a:r>
            <a:r>
              <a:rPr lang="en-IN" sz="1600">
                <a:solidFill>
                  <a:schemeClr val="dk1"/>
                </a:solidFill>
              </a:rPr>
              <a:t> = 3</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34" name="Google Shape;234;p4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pic>
        <p:nvPicPr>
          <p:cNvPr id="240" name="Google Shape;240;p42"/>
          <p:cNvPicPr preferRelativeResize="0"/>
          <p:nvPr/>
        </p:nvPicPr>
        <p:blipFill rotWithShape="1">
          <a:blip r:embed="rId3">
            <a:alphaModFix/>
          </a:blip>
          <a:srcRect b="0" l="0" r="0" t="0"/>
          <a:stretch/>
        </p:blipFill>
        <p:spPr>
          <a:xfrm>
            <a:off x="582350" y="1169995"/>
            <a:ext cx="9144001" cy="4744960"/>
          </a:xfrm>
          <a:prstGeom prst="rect">
            <a:avLst/>
          </a:prstGeom>
          <a:noFill/>
          <a:ln>
            <a:noFill/>
          </a:ln>
        </p:spPr>
      </p:pic>
      <p:pic>
        <p:nvPicPr>
          <p:cNvPr id="241" name="Google Shape;241;p42"/>
          <p:cNvPicPr preferRelativeResize="0"/>
          <p:nvPr/>
        </p:nvPicPr>
        <p:blipFill rotWithShape="1">
          <a:blip r:embed="rId4">
            <a:alphaModFix/>
          </a:blip>
          <a:srcRect b="0" l="0" r="0" t="0"/>
          <a:stretch/>
        </p:blipFill>
        <p:spPr>
          <a:xfrm>
            <a:off x="6906400" y="4210450"/>
            <a:ext cx="1905203" cy="492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sp>
        <p:nvSpPr>
          <p:cNvPr id="246" name="Google Shape;246;p43"/>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As we know the last digit depends upon the unit digit of the multiplier numbers so the unit digit of 13</a:t>
            </a:r>
            <a:r>
              <a:rPr baseline="30000" lang="en-IN">
                <a:solidFill>
                  <a:schemeClr val="dk1"/>
                </a:solidFill>
              </a:rPr>
              <a:t>41</a:t>
            </a:r>
            <a:br>
              <a:rPr baseline="30000" lang="en-IN">
                <a:solidFill>
                  <a:schemeClr val="dk1"/>
                </a:solidFill>
              </a:rPr>
            </a:br>
            <a:r>
              <a:rPr lang="en-IN">
                <a:solidFill>
                  <a:schemeClr val="dk1"/>
                </a:solidFill>
              </a:rPr>
              <a:t> is same as the last digit of 3</a:t>
            </a:r>
            <a:r>
              <a:rPr baseline="30000" lang="en-IN">
                <a:solidFill>
                  <a:schemeClr val="dk1"/>
                </a:solidFill>
              </a:rPr>
              <a:t>41</a:t>
            </a:r>
            <a:r>
              <a:rPr lang="en-IN">
                <a:solidFill>
                  <a:schemeClr val="dk1"/>
                </a:solidFill>
              </a:rPr>
              <a:t> and we know that the cyclicity of 3 is 4</a:t>
            </a:r>
            <a:br>
              <a:rPr lang="en-IN">
                <a:solidFill>
                  <a:schemeClr val="dk1"/>
                </a:solidFill>
              </a:rPr>
            </a:br>
            <a:r>
              <a:rPr lang="en-IN">
                <a:solidFill>
                  <a:schemeClr val="dk1"/>
                </a:solidFill>
              </a:rPr>
              <a:t> On dividing the number 41 with 4 and we will   get the remainder as 1 and the last digit will be 3</a:t>
            </a:r>
            <a:r>
              <a:rPr baseline="30000" lang="en-IN">
                <a:solidFill>
                  <a:schemeClr val="dk1"/>
                </a:solidFill>
              </a:rPr>
              <a:t>1</a:t>
            </a:r>
            <a:r>
              <a:rPr lang="en-IN">
                <a:solidFill>
                  <a:schemeClr val="dk1"/>
                </a:solidFill>
              </a:rPr>
              <a:t> =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47" name="Google Shape;247;p4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1b3f087a09_1_71"/>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will be the unit digit of 45</a:t>
            </a:r>
            <a:r>
              <a:rPr baseline="30000" lang="en-IN">
                <a:solidFill>
                  <a:schemeClr val="dk1"/>
                </a:solidFill>
              </a:rPr>
              <a:t>45</a:t>
            </a:r>
            <a:r>
              <a:rPr lang="en-IN">
                <a:solidFill>
                  <a:schemeClr val="dk1"/>
                </a:solidFill>
              </a:rPr>
              <a:t> ?</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A.5</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C.1</a:t>
            </a:r>
            <a:endParaRPr>
              <a:solidFill>
                <a:schemeClr val="dk1"/>
              </a:solidFill>
            </a:endParaRPr>
          </a:p>
          <a:p>
            <a:pPr indent="0" lvl="0" marL="0" rtl="0" algn="l">
              <a:lnSpc>
                <a:spcPct val="150000"/>
              </a:lnSpc>
              <a:spcBef>
                <a:spcPts val="0"/>
              </a:spcBef>
              <a:spcAft>
                <a:spcPts val="0"/>
              </a:spcAft>
              <a:buSzPts val="1800"/>
              <a:buNone/>
            </a:pPr>
            <a:r>
              <a:rPr lang="en-IN">
                <a:solidFill>
                  <a:schemeClr val="dk1"/>
                </a:solidFill>
              </a:rPr>
              <a:t>D. 9</a:t>
            </a:r>
            <a:endParaRPr>
              <a:solidFill>
                <a:schemeClr val="dk1"/>
              </a:solidFill>
            </a:endParaRPr>
          </a:p>
        </p:txBody>
      </p:sp>
      <p:sp>
        <p:nvSpPr>
          <p:cNvPr id="253" name="Google Shape;253;g31b3f087a09_1_7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pic>
        <p:nvPicPr>
          <p:cNvPr id="254" name="Google Shape;254;g31b3f087a09_1_71"/>
          <p:cNvPicPr preferRelativeResize="0"/>
          <p:nvPr/>
        </p:nvPicPr>
        <p:blipFill rotWithShape="1">
          <a:blip r:embed="rId3">
            <a:alphaModFix/>
          </a:blip>
          <a:srcRect b="0" l="0" r="0" t="0"/>
          <a:stretch/>
        </p:blipFill>
        <p:spPr>
          <a:xfrm>
            <a:off x="6906400" y="412727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 calcmode="lin" valueType="num">
                                      <p:cBhvr additive="base">
                                        <p:cTn dur="500"/>
                                        <p:tgtEl>
                                          <p:spTgt spid="2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 calcmode="lin" valueType="num">
                                      <p:cBhvr additive="base">
                                        <p:cTn dur="500"/>
                                        <p:tgtEl>
                                          <p:spTgt spid="2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 calcmode="lin" valueType="num">
                                      <p:cBhvr additive="base">
                                        <p:cTn dur="500"/>
                                        <p:tgtEl>
                                          <p:spTgt spid="2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anim calcmode="lin" valueType="num">
                                      <p:cBhvr additive="base">
                                        <p:cTn dur="500"/>
                                        <p:tgtEl>
                                          <p:spTgt spid="2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anim calcmode="lin" valueType="num">
                                      <p:cBhvr additive="base">
                                        <p:cTn dur="500"/>
                                        <p:tgtEl>
                                          <p:spTgt spid="2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 name="Shape 258"/>
        <p:cNvGrpSpPr/>
        <p:nvPr/>
      </p:nvGrpSpPr>
      <p:grpSpPr>
        <a:xfrm>
          <a:off x="0" y="0"/>
          <a:ext cx="0" cy="0"/>
          <a:chOff x="0" y="0"/>
          <a:chExt cx="0" cy="0"/>
        </a:xfrm>
      </p:grpSpPr>
      <p:sp>
        <p:nvSpPr>
          <p:cNvPr id="259" name="Google Shape;259;g31b3f087a09_1_77"/>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Here the last digit is depend upon the 5</a:t>
            </a:r>
            <a:br>
              <a:rPr lang="en-IN">
                <a:solidFill>
                  <a:schemeClr val="dk1"/>
                </a:solidFill>
              </a:rPr>
            </a:br>
            <a:r>
              <a:rPr lang="en-IN">
                <a:solidFill>
                  <a:schemeClr val="dk1"/>
                </a:solidFill>
              </a:rPr>
              <a:t> The cyclicity of 5 is 1 so there is no need to divide the power with 1</a:t>
            </a:r>
            <a:br>
              <a:rPr lang="en-IN">
                <a:solidFill>
                  <a:schemeClr val="dk1"/>
                </a:solidFill>
              </a:rPr>
            </a:br>
            <a:r>
              <a:rPr lang="en-IN">
                <a:solidFill>
                  <a:schemeClr val="dk1"/>
                </a:solidFill>
              </a:rPr>
              <a:t> because whatever is the power of 5 the last digit will remains 5 so the last</a:t>
            </a:r>
            <a:br>
              <a:rPr lang="en-IN">
                <a:solidFill>
                  <a:schemeClr val="dk1"/>
                </a:solidFill>
              </a:rPr>
            </a:br>
            <a:r>
              <a:rPr lang="en-IN">
                <a:solidFill>
                  <a:schemeClr val="dk1"/>
                </a:solidFill>
              </a:rPr>
              <a:t> digit of 45</a:t>
            </a:r>
            <a:r>
              <a:rPr baseline="30000" lang="en-IN">
                <a:solidFill>
                  <a:schemeClr val="dk1"/>
                </a:solidFill>
              </a:rPr>
              <a:t>45</a:t>
            </a:r>
            <a:r>
              <a:rPr lang="en-IN">
                <a:solidFill>
                  <a:schemeClr val="dk1"/>
                </a:solidFill>
              </a:rPr>
              <a:t> will be 5 .</a:t>
            </a:r>
            <a:br>
              <a:rPr lang="en-IN">
                <a:solidFill>
                  <a:schemeClr val="dk1"/>
                </a:solidFill>
              </a:rPr>
            </a:br>
            <a:r>
              <a:rPr lang="en-IN">
                <a:solidFill>
                  <a:schemeClr val="dk1"/>
                </a:solidFill>
              </a:rPr>
              <a:t> 5</a:t>
            </a:r>
            <a:r>
              <a:rPr baseline="30000" lang="en-IN">
                <a:solidFill>
                  <a:schemeClr val="dk1"/>
                </a:solidFill>
              </a:rPr>
              <a:t>1</a:t>
            </a:r>
            <a:r>
              <a:rPr lang="en-IN">
                <a:solidFill>
                  <a:schemeClr val="dk1"/>
                </a:solidFill>
              </a:rPr>
              <a:t> = 5</a:t>
            </a:r>
            <a:br>
              <a:rPr lang="en-IN">
                <a:solidFill>
                  <a:schemeClr val="dk1"/>
                </a:solidFill>
              </a:rPr>
            </a:br>
            <a:r>
              <a:rPr lang="en-IN">
                <a:solidFill>
                  <a:schemeClr val="dk1"/>
                </a:solidFill>
              </a:rPr>
              <a:t> 5</a:t>
            </a:r>
            <a:r>
              <a:rPr baseline="30000" lang="en-IN">
                <a:solidFill>
                  <a:schemeClr val="dk1"/>
                </a:solidFill>
              </a:rPr>
              <a:t>2</a:t>
            </a:r>
            <a:r>
              <a:rPr lang="en-IN">
                <a:solidFill>
                  <a:schemeClr val="dk1"/>
                </a:solidFill>
              </a:rPr>
              <a:t> = 25</a:t>
            </a:r>
            <a:br>
              <a:rPr lang="en-IN">
                <a:solidFill>
                  <a:schemeClr val="dk1"/>
                </a:solidFill>
              </a:rPr>
            </a:br>
            <a:r>
              <a:rPr lang="en-IN">
                <a:solidFill>
                  <a:schemeClr val="dk1"/>
                </a:solidFill>
              </a:rPr>
              <a:t> 5</a:t>
            </a:r>
            <a:endParaRPr>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highlight>
                <a:schemeClr val="lt1"/>
              </a:highlight>
              <a:latin typeface="Arial"/>
              <a:ea typeface="Arial"/>
              <a:cs typeface="Arial"/>
              <a:sym typeface="Arial"/>
            </a:endParaRPr>
          </a:p>
        </p:txBody>
      </p:sp>
      <p:sp>
        <p:nvSpPr>
          <p:cNvPr id="260" name="Google Shape;260;g31b3f087a09_1_7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1b3f087a09_1_82"/>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IN">
                <a:solidFill>
                  <a:schemeClr val="dk1"/>
                </a:solidFill>
              </a:rPr>
              <a:t>What will be the last digit of 3</a:t>
            </a:r>
            <a:r>
              <a:rPr baseline="30000" lang="en-IN">
                <a:solidFill>
                  <a:schemeClr val="dk1"/>
                </a:solidFill>
              </a:rPr>
              <a:t>4 </a:t>
            </a:r>
            <a:r>
              <a:rPr lang="en-IN">
                <a:solidFill>
                  <a:schemeClr val="dk1"/>
                </a:solidFill>
              </a:rPr>
              <a:t>x 4</a:t>
            </a:r>
            <a:r>
              <a:rPr baseline="30000" lang="en-IN">
                <a:solidFill>
                  <a:schemeClr val="dk1"/>
                </a:solidFill>
              </a:rPr>
              <a:t>5</a:t>
            </a:r>
            <a:r>
              <a:rPr lang="en-IN">
                <a:solidFill>
                  <a:schemeClr val="dk1"/>
                </a:solidFill>
              </a:rPr>
              <a:t> x 5</a:t>
            </a:r>
            <a:r>
              <a:rPr baseline="30000" lang="en-IN">
                <a:solidFill>
                  <a:schemeClr val="dk1"/>
                </a:solidFill>
              </a:rPr>
              <a:t>6</a:t>
            </a:r>
            <a:r>
              <a:rPr lang="en-IN">
                <a:solidFill>
                  <a:schemeClr val="dk1"/>
                </a:solidFill>
              </a:rPr>
              <a:t>	?</a:t>
            </a:r>
            <a:r>
              <a:rPr baseline="30000" lang="en-IN">
                <a:solidFill>
                  <a:schemeClr val="dk1"/>
                </a:solidFill>
              </a:rPr>
              <a:t>  </a:t>
            </a:r>
            <a:endParaRPr baseline="30000">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B.9</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C.3</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D.7</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endParaRPr>
          </a:p>
        </p:txBody>
      </p:sp>
      <p:sp>
        <p:nvSpPr>
          <p:cNvPr id="266" name="Google Shape;266;g31b3f087a09_1_8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pic>
        <p:nvPicPr>
          <p:cNvPr id="267" name="Google Shape;267;g31b3f087a09_1_82"/>
          <p:cNvPicPr preferRelativeResize="0"/>
          <p:nvPr/>
        </p:nvPicPr>
        <p:blipFill rotWithShape="1">
          <a:blip r:embed="rId3">
            <a:alphaModFix/>
          </a:blip>
          <a:srcRect b="0" l="0" r="0" t="0"/>
          <a:stretch/>
        </p:blipFill>
        <p:spPr>
          <a:xfrm>
            <a:off x="6906400" y="429937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 calcmode="lin" valueType="num">
                                      <p:cBhvr additive="base">
                                        <p:cTn dur="500"/>
                                        <p:tgtEl>
                                          <p:spTgt spid="2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 calcmode="lin" valueType="num">
                                      <p:cBhvr additive="base">
                                        <p:cTn dur="500"/>
                                        <p:tgtEl>
                                          <p:spTgt spid="2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 calcmode="lin" valueType="num">
                                      <p:cBhvr additive="base">
                                        <p:cTn dur="500"/>
                                        <p:tgtEl>
                                          <p:spTgt spid="2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 calcmode="lin" valueType="num">
                                      <p:cBhvr additive="base">
                                        <p:cTn dur="500"/>
                                        <p:tgtEl>
                                          <p:spTgt spid="2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 calcmode="lin" valueType="num">
                                      <p:cBhvr additive="base">
                                        <p:cTn dur="500"/>
                                        <p:tgtEl>
                                          <p:spTgt spid="26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5" st="5"/>
                                            </p:txEl>
                                          </p:spTgt>
                                        </p:tgtEl>
                                        <p:attrNameLst>
                                          <p:attrName>style.visibility</p:attrName>
                                        </p:attrNameLst>
                                      </p:cBhvr>
                                      <p:to>
                                        <p:strVal val="visible"/>
                                      </p:to>
                                    </p:set>
                                    <p:anim calcmode="lin" valueType="num">
                                      <p:cBhvr additive="base">
                                        <p:cTn dur="500"/>
                                        <p:tgtEl>
                                          <p:spTgt spid="26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1" name="Shape 271"/>
        <p:cNvGrpSpPr/>
        <p:nvPr/>
      </p:nvGrpSpPr>
      <p:grpSpPr>
        <a:xfrm>
          <a:off x="0" y="0"/>
          <a:ext cx="0" cy="0"/>
          <a:chOff x="0" y="0"/>
          <a:chExt cx="0" cy="0"/>
        </a:xfrm>
      </p:grpSpPr>
      <p:sp>
        <p:nvSpPr>
          <p:cNvPr id="272" name="Google Shape;272;g31b3f087a09_1_88"/>
          <p:cNvSpPr txBox="1"/>
          <p:nvPr>
            <p:ph idx="1" type="body"/>
          </p:nvPr>
        </p:nvSpPr>
        <p:spPr>
          <a:xfrm>
            <a:off x="639624" y="10670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Last digit of 3</a:t>
            </a:r>
            <a:r>
              <a:rPr baseline="30000" lang="en-IN">
                <a:solidFill>
                  <a:schemeClr val="dk1"/>
                </a:solidFill>
              </a:rPr>
              <a:t>4 </a:t>
            </a:r>
            <a:r>
              <a:rPr lang="en-IN">
                <a:solidFill>
                  <a:schemeClr val="dk1"/>
                </a:solidFill>
              </a:rPr>
              <a:t>= 1</a:t>
            </a:r>
            <a:br>
              <a:rPr lang="en-IN">
                <a:solidFill>
                  <a:schemeClr val="dk1"/>
                </a:solidFill>
              </a:rPr>
            </a:br>
            <a:r>
              <a:rPr lang="en-IN">
                <a:solidFill>
                  <a:schemeClr val="dk1"/>
                </a:solidFill>
              </a:rPr>
              <a:t> Last digit of 4</a:t>
            </a:r>
            <a:r>
              <a:rPr baseline="30000" lang="en-IN">
                <a:solidFill>
                  <a:schemeClr val="dk1"/>
                </a:solidFill>
              </a:rPr>
              <a:t>5</a:t>
            </a:r>
            <a:r>
              <a:rPr lang="en-IN">
                <a:solidFill>
                  <a:schemeClr val="dk1"/>
                </a:solidFill>
              </a:rPr>
              <a:t> = 4</a:t>
            </a:r>
            <a:br>
              <a:rPr lang="en-IN">
                <a:solidFill>
                  <a:schemeClr val="dk1"/>
                </a:solidFill>
              </a:rPr>
            </a:br>
            <a:r>
              <a:rPr lang="en-IN">
                <a:solidFill>
                  <a:schemeClr val="dk1"/>
                </a:solidFill>
              </a:rPr>
              <a:t> Last digit of 5</a:t>
            </a:r>
            <a:r>
              <a:rPr baseline="30000" lang="en-IN">
                <a:solidFill>
                  <a:schemeClr val="dk1"/>
                </a:solidFill>
              </a:rPr>
              <a:t>6 </a:t>
            </a:r>
            <a:r>
              <a:rPr lang="en-IN">
                <a:solidFill>
                  <a:schemeClr val="dk1"/>
                </a:solidFill>
              </a:rPr>
              <a:t>= 5</a:t>
            </a:r>
            <a:br>
              <a:rPr lang="en-IN">
                <a:solidFill>
                  <a:schemeClr val="dk1"/>
                </a:solidFill>
              </a:rPr>
            </a:br>
            <a:r>
              <a:rPr lang="en-IN">
                <a:solidFill>
                  <a:schemeClr val="dk1"/>
                </a:solidFill>
              </a:rPr>
              <a:t> So as we discussed earlier that the last digit depends upon the last digits</a:t>
            </a:r>
            <a:br>
              <a:rPr lang="en-IN">
                <a:solidFill>
                  <a:schemeClr val="dk1"/>
                </a:solidFill>
              </a:rPr>
            </a:br>
            <a:r>
              <a:rPr lang="en-IN">
                <a:solidFill>
                  <a:schemeClr val="dk1"/>
                </a:solidFill>
              </a:rPr>
              <a:t> So 1 x 4 x 5 = 20 so the last digit is 0; also whenever 5 is multiplied by even</a:t>
            </a:r>
            <a:br>
              <a:rPr lang="en-IN">
                <a:solidFill>
                  <a:schemeClr val="dk1"/>
                </a:solidFill>
              </a:rPr>
            </a:br>
            <a:r>
              <a:rPr lang="en-IN">
                <a:solidFill>
                  <a:schemeClr val="dk1"/>
                </a:solidFill>
              </a:rPr>
              <a:t> number then last digit will be 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73" name="Google Shape;273;g31b3f087a09_1_8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1b3f8ab1be_0_5"/>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Identify the last digit of (79</a:t>
            </a:r>
            <a:r>
              <a:rPr baseline="30000" lang="en-IN">
                <a:solidFill>
                  <a:schemeClr val="dk1"/>
                </a:solidFill>
              </a:rPr>
              <a:t>4 </a:t>
            </a:r>
            <a:r>
              <a:rPr lang="en-IN">
                <a:solidFill>
                  <a:schemeClr val="dk1"/>
                </a:solidFill>
              </a:rPr>
              <a:t>+ 87</a:t>
            </a:r>
            <a:r>
              <a:rPr baseline="30000" lang="en-IN">
                <a:solidFill>
                  <a:schemeClr val="dk1"/>
                </a:solidFill>
              </a:rPr>
              <a:t>5</a:t>
            </a:r>
            <a:r>
              <a:rPr lang="en-IN">
                <a:solidFill>
                  <a:schemeClr val="dk1"/>
                </a:solidFill>
              </a:rPr>
              <a:t>)?</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A.8</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C.7</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D.4</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79" name="Google Shape;279;g31b3f8ab1be_0_5"/>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a:t>
            </a:r>
            <a:endParaRPr b="1" i="0" sz="1800" u="none" cap="none" strike="noStrike">
              <a:solidFill>
                <a:srgbClr val="000000"/>
              </a:solidFill>
              <a:latin typeface="Roboto"/>
              <a:ea typeface="Roboto"/>
              <a:cs typeface="Roboto"/>
              <a:sym typeface="Roboto"/>
            </a:endParaRPr>
          </a:p>
        </p:txBody>
      </p:sp>
      <p:sp>
        <p:nvSpPr>
          <p:cNvPr id="280" name="Google Shape;280;g31b3f8ab1be_0_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 calcmode="lin" valueType="num">
                                      <p:cBhvr additive="base">
                                        <p:cTn dur="500"/>
                                        <p:tgtEl>
                                          <p:spTgt spid="2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anim calcmode="lin" valueType="num">
                                      <p:cBhvr additive="base">
                                        <p:cTn dur="500"/>
                                        <p:tgtEl>
                                          <p:spTgt spid="2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anim calcmode="lin" valueType="num">
                                      <p:cBhvr additive="base">
                                        <p:cTn dur="500"/>
                                        <p:tgtEl>
                                          <p:spTgt spid="2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anim calcmode="lin" valueType="num">
                                      <p:cBhvr additive="base">
                                        <p:cTn dur="500"/>
                                        <p:tgtEl>
                                          <p:spTgt spid="27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anim calcmode="lin" valueType="num">
                                      <p:cBhvr additive="base">
                                        <p:cTn dur="500"/>
                                        <p:tgtEl>
                                          <p:spTgt spid="27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anim calcmode="lin" valueType="num">
                                      <p:cBhvr additive="base">
                                        <p:cTn dur="500"/>
                                        <p:tgtEl>
                                          <p:spTgt spid="27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 calcmode="lin" valueType="num">
                                      <p:cBhvr additive="base">
                                        <p:cTn dur="500"/>
                                        <p:tgtEl>
                                          <p:spTgt spid="2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4" name="Shape 284"/>
        <p:cNvGrpSpPr/>
        <p:nvPr/>
      </p:nvGrpSpPr>
      <p:grpSpPr>
        <a:xfrm>
          <a:off x="0" y="0"/>
          <a:ext cx="0" cy="0"/>
          <a:chOff x="0" y="0"/>
          <a:chExt cx="0" cy="0"/>
        </a:xfrm>
      </p:grpSpPr>
      <p:sp>
        <p:nvSpPr>
          <p:cNvPr id="285" name="Google Shape;285;g31b3f8ab1be_0_0"/>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a:solidFill>
                  <a:schemeClr val="dk1"/>
                </a:solidFill>
              </a:rPr>
              <a:t>Last digit of 79</a:t>
            </a:r>
            <a:r>
              <a:rPr baseline="30000" lang="en-IN">
                <a:solidFill>
                  <a:schemeClr val="dk1"/>
                </a:solidFill>
              </a:rPr>
              <a:t>4</a:t>
            </a:r>
            <a:r>
              <a:rPr lang="en-IN">
                <a:solidFill>
                  <a:schemeClr val="dk1"/>
                </a:solidFill>
              </a:rPr>
              <a:t> is depends upon the the 9</a:t>
            </a:r>
            <a:r>
              <a:rPr baseline="30000" lang="en-IN">
                <a:solidFill>
                  <a:schemeClr val="dk1"/>
                </a:solidFill>
              </a:rPr>
              <a:t>4</a:t>
            </a:r>
            <a:r>
              <a:rPr lang="en-IN">
                <a:solidFill>
                  <a:schemeClr val="dk1"/>
                </a:solidFill>
              </a:rPr>
              <a:t> i.e 1</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Last digit of 87</a:t>
            </a:r>
            <a:r>
              <a:rPr baseline="30000" lang="en-IN">
                <a:solidFill>
                  <a:schemeClr val="dk1"/>
                </a:solidFill>
              </a:rPr>
              <a:t>5</a:t>
            </a:r>
            <a:r>
              <a:rPr lang="en-IN">
                <a:solidFill>
                  <a:schemeClr val="dk1"/>
                </a:solidFill>
              </a:rPr>
              <a:t> is depends upon the the 7</a:t>
            </a:r>
            <a:r>
              <a:rPr baseline="30000" lang="en-IN">
                <a:solidFill>
                  <a:schemeClr val="dk1"/>
                </a:solidFill>
              </a:rPr>
              <a:t>5</a:t>
            </a:r>
            <a:r>
              <a:rPr lang="en-IN">
                <a:solidFill>
                  <a:schemeClr val="dk1"/>
                </a:solidFill>
              </a:rPr>
              <a:t>i.e 7</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So the last digit of the whole expression will be 1 +7 = 8</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So the last digit will be 8</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None/>
            </a:pPr>
            <a:r>
              <a:t/>
            </a:r>
            <a:endParaRPr>
              <a:solidFill>
                <a:schemeClr val="dk1"/>
              </a:solidFil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86" name="Google Shape;286;g31b3f8ab1be_0_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2" name="Google Shape;292;p4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3" name="Google Shape;293;p4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99" name="Google Shape;299;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00" name="Google Shape;300;p4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1" name="Google Shape;301;p4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2" name="Google Shape;302;p4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3" name="Google Shape;303;p4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4" name="Google Shape;304;p4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5" name="Google Shape;305;p4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6" name="Google Shape;306;p4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07" name="Google Shape;307;p4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08" name="Google Shape;308;p4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09" name="Google Shape;309;p4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