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5">
          <p15:clr>
            <a:srgbClr val="FF0000"/>
          </p15:clr>
        </p15:guide>
        <p15:guide id="2" orient="horz" pos="907">
          <p15:clr>
            <a:srgbClr val="FF0000"/>
          </p15:clr>
        </p15:guide>
        <p15:guide id="3" orient="horz" pos="737">
          <p15:clr>
            <a:srgbClr val="00FF00"/>
          </p15:clr>
        </p15:guide>
        <p15:guide id="4" orient="horz" pos="397">
          <p15:clr>
            <a:srgbClr val="00FF00"/>
          </p15:clr>
        </p15:guide>
        <p15:guide id="5" pos="454">
          <p15:clr>
            <a:srgbClr val="FF00FF"/>
          </p15:clr>
        </p15:guide>
        <p15:guide id="6" pos="5272">
          <p15:clr>
            <a:srgbClr val="FF00FF"/>
          </p15:clr>
        </p15:guide>
      </p15:sldGuideLst>
    </p:ext>
    <p:ext uri="GoogleSlidesCustomDataVersion2">
      <go:slidesCustomData xmlns:go="http://customooxmlschemas.google.com/" r:id="rId49" roundtripDataSignature="AMtx7miGYjPHAa1SQ/WeefRTW42Mopzt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5" orient="horz"/>
        <p:guide pos="907" orient="horz"/>
        <p:guide pos="737" orient="horz"/>
        <p:guide pos="397" orient="horz"/>
        <p:guide pos="454"/>
        <p:guide pos="52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215a255e1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215a255e1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215a255e14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215a255e1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15a255e14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215a255e14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15a255e14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215a255e14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15a2972c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215a2972c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15a2972c9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215a2972c9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215a255e14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215a255e1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15a255e14_0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215a255e14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215a255e14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215a255e14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15a255e14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215a255e14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215a255e14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215a255e14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15a255e14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215a255e14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15a255e14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215a255e14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15a255e14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215a255e14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15a255e14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215a255e14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15a255e14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215a255e14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215a255e14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215a255e14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15a255e14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215a255e14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15a255e14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215a255e14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15a255e14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215a255e14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15a255e14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215a255e14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15a255e14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215a255e14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215a255e14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215a255e14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15a255e14_0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215a255e14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15a255e14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215a255e14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15a255e14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215a255e14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215a255e14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215a255e14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15a255e14_0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215a255e14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215a255e14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215a255e14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215a255e14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215a255e14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215a255e14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215a255e14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215a255e14_0_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215a255e14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215a255e14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215a255e14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15a255e14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215a255e14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5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5" name="Google Shape;45;p5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5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5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5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4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8.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2"/>
          <p:cNvSpPr txBox="1"/>
          <p:nvPr/>
        </p:nvSpPr>
        <p:spPr>
          <a:xfrm>
            <a:off x="425864" y="2035735"/>
            <a:ext cx="46908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rPr b="1" i="0" lang="en-IN" sz="3500" u="none" cap="none" strike="noStrike">
                <a:solidFill>
                  <a:schemeClr val="lt1"/>
                </a:solidFill>
                <a:latin typeface="Roboto"/>
                <a:ea typeface="Roboto"/>
                <a:cs typeface="Roboto"/>
                <a:sym typeface="Roboto"/>
              </a:rPr>
              <a:t>Prepositional phrases</a:t>
            </a:r>
            <a:endParaRPr b="1" i="0" sz="35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2155243" y="1480711"/>
            <a:ext cx="4833600" cy="8106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	 </a:t>
            </a:r>
            <a:r>
              <a:rPr b="1" i="0" lang="en-IN" sz="2400" u="none" cap="none" strike="noStrike">
                <a:solidFill>
                  <a:srgbClr val="000000"/>
                </a:solidFill>
                <a:latin typeface="Arial"/>
                <a:ea typeface="Arial"/>
                <a:cs typeface="Arial"/>
                <a:sym typeface="Arial"/>
              </a:rPr>
              <a:t>Increase And Decrease </a:t>
            </a:r>
            <a:endParaRPr b="1" i="0" sz="16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0"/>
              </a:spcAft>
              <a:buClr>
                <a:srgbClr val="000000"/>
              </a:buClr>
              <a:buSzPts val="1600"/>
              <a:buFont typeface="Arial"/>
              <a:buNone/>
            </a:pPr>
            <a:r>
              <a:rPr b="1" i="0" lang="en-IN" sz="1600" u="none" cap="none" strike="noStrike">
                <a:solidFill>
                  <a:srgbClr val="000000"/>
                </a:solidFill>
                <a:latin typeface="Arial"/>
                <a:ea typeface="Arial"/>
                <a:cs typeface="Arial"/>
                <a:sym typeface="Arial"/>
              </a:rPr>
              <a:t>                          </a:t>
            </a:r>
            <a:endParaRPr/>
          </a:p>
        </p:txBody>
      </p:sp>
      <p:pic>
        <p:nvPicPr>
          <p:cNvPr id="71" name="Google Shape;71;p16"/>
          <p:cNvPicPr preferRelativeResize="0"/>
          <p:nvPr/>
        </p:nvPicPr>
        <p:blipFill rotWithShape="1">
          <a:blip r:embed="rId3">
            <a:alphaModFix/>
          </a:blip>
          <a:srcRect b="17819" l="6452" r="2927" t="10444"/>
          <a:stretch/>
        </p:blipFill>
        <p:spPr>
          <a:xfrm>
            <a:off x="2307646" y="2073206"/>
            <a:ext cx="4254175" cy="16145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215a255e14_0_0"/>
          <p:cNvSpPr txBox="1"/>
          <p:nvPr>
            <p:ph idx="1" type="body"/>
          </p:nvPr>
        </p:nvSpPr>
        <p:spPr>
          <a:xfrm>
            <a:off x="186588" y="9065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If the price of a commodity increases by R%, then the reduction in consumption so as not to increase the expenditure is:</a:t>
            </a:r>
            <a:endParaRPr sz="1600">
              <a:solidFill>
                <a:schemeClr val="dk1"/>
              </a:solidFill>
              <a:highlight>
                <a:schemeClr val="lt1"/>
              </a:highlight>
            </a:endParaRPr>
          </a:p>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                                          {R/(100+R)*100}%</a:t>
            </a:r>
            <a:endParaRPr sz="1600">
              <a:solidFill>
                <a:schemeClr val="dk1"/>
              </a:solidFill>
              <a:highlight>
                <a:schemeClr val="lt1"/>
              </a:highlight>
            </a:endParaRPr>
          </a:p>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If the price of a commodity decreases by R%, then the increase in consumption so as not to decrease the expenditure is:</a:t>
            </a:r>
            <a:endParaRPr sz="1600">
              <a:solidFill>
                <a:schemeClr val="dk1"/>
              </a:solidFill>
              <a:highlight>
                <a:schemeClr val="lt1"/>
              </a:highlight>
            </a:endParaRPr>
          </a:p>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                                          {R/(100-R)*100}%</a:t>
            </a:r>
            <a:endParaRPr sz="1600">
              <a:solidFill>
                <a:schemeClr val="dk1"/>
              </a:solidFill>
              <a:highlight>
                <a:schemeClr val="lt1"/>
              </a:highlight>
            </a:endParaRPr>
          </a:p>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Value of machine after n years = p (1-R/100) power n. </a:t>
            </a:r>
            <a:endParaRPr sz="1600">
              <a:solidFill>
                <a:schemeClr val="dk1"/>
              </a:solidFill>
              <a:highlight>
                <a:schemeClr val="lt1"/>
              </a:highlight>
            </a:endParaRPr>
          </a:p>
          <a:p>
            <a:pPr indent="0" lvl="0" marL="0" rtl="0" algn="l">
              <a:spcBef>
                <a:spcPts val="1100"/>
              </a:spcBef>
              <a:spcAft>
                <a:spcPts val="0"/>
              </a:spcAft>
              <a:buClr>
                <a:schemeClr val="dk1"/>
              </a:buClr>
              <a:buSzPts val="1400"/>
              <a:buFont typeface="Arial"/>
              <a:buNone/>
            </a:pPr>
            <a:r>
              <a:rPr lang="en-IN" sz="1600">
                <a:solidFill>
                  <a:schemeClr val="dk1"/>
                </a:solidFill>
                <a:highlight>
                  <a:schemeClr val="lt1"/>
                </a:highlight>
              </a:rPr>
              <a:t>If A is R% more than B, then b is less than A by 100*R/ (100+R) %. </a:t>
            </a:r>
            <a:endParaRPr sz="1600">
              <a:solidFill>
                <a:schemeClr val="dk1"/>
              </a:solidFill>
              <a:highlight>
                <a:schemeClr val="lt1"/>
              </a:highlight>
            </a:endParaRPr>
          </a:p>
          <a:p>
            <a:pPr indent="0" lvl="0" marL="0" rtl="0" algn="l">
              <a:lnSpc>
                <a:spcPct val="150000"/>
              </a:lnSpc>
              <a:spcBef>
                <a:spcPts val="0"/>
              </a:spcBef>
              <a:spcAft>
                <a:spcPts val="0"/>
              </a:spcAft>
              <a:buSzPts val="1800"/>
              <a:buNone/>
            </a:pPr>
            <a:r>
              <a:rPr lang="en-IN" sz="1600">
                <a:solidFill>
                  <a:schemeClr val="dk1"/>
                </a:solidFill>
                <a:highlight>
                  <a:schemeClr val="lt1"/>
                </a:highlight>
              </a:rPr>
              <a:t>If A is R% less than B, then b is more than A by 100*R/ (100-R) %. </a:t>
            </a:r>
            <a:br>
              <a:rPr lang="en-IN" sz="1600">
                <a:solidFill>
                  <a:schemeClr val="dk1"/>
                </a:solidFill>
              </a:rPr>
            </a:br>
            <a:endParaRPr sz="1600">
              <a:solidFill>
                <a:schemeClr val="dk1"/>
              </a:solidFill>
            </a:endParaRPr>
          </a:p>
        </p:txBody>
      </p:sp>
      <p:sp>
        <p:nvSpPr>
          <p:cNvPr id="77" name="Google Shape;77;g3215a255e14_0_0"/>
          <p:cNvSpPr txBox="1"/>
          <p:nvPr/>
        </p:nvSpPr>
        <p:spPr>
          <a:xfrm>
            <a:off x="188975" y="4016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CONCEPT:</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 calcmode="lin" valueType="num">
                                      <p:cBhvr additive="base">
                                        <p:cTn dur="500"/>
                                        <p:tgtEl>
                                          <p:spTgt spid="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 calcmode="lin" valueType="num">
                                      <p:cBhvr additive="base">
                                        <p:cTn dur="500"/>
                                        <p:tgtEl>
                                          <p:spTgt spid="7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 calcmode="lin" valueType="num">
                                      <p:cBhvr additive="base">
                                        <p:cTn dur="500"/>
                                        <p:tgtEl>
                                          <p:spTgt spid="7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anim calcmode="lin" valueType="num">
                                      <p:cBhvr additive="base">
                                        <p:cTn dur="500"/>
                                        <p:tgtEl>
                                          <p:spTgt spid="7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anim calcmode="lin" valueType="num">
                                      <p:cBhvr additive="base">
                                        <p:cTn dur="500"/>
                                        <p:tgtEl>
                                          <p:spTgt spid="7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anim calcmode="lin" valueType="num">
                                      <p:cBhvr additive="base">
                                        <p:cTn dur="500"/>
                                        <p:tgtEl>
                                          <p:spTgt spid="7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
                                            <p:txEl>
                                              <p:pRg end="6" st="6"/>
                                            </p:txEl>
                                          </p:spTgt>
                                        </p:tgtEl>
                                        <p:attrNameLst>
                                          <p:attrName>style.visibility</p:attrName>
                                        </p:attrNameLst>
                                      </p:cBhvr>
                                      <p:to>
                                        <p:strVal val="visible"/>
                                      </p:to>
                                    </p:set>
                                    <p:anim calcmode="lin" valueType="num">
                                      <p:cBhvr additive="base">
                                        <p:cTn dur="500"/>
                                        <p:tgtEl>
                                          <p:spTgt spid="7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215a255e14_0_7"/>
          <p:cNvSpPr txBox="1"/>
          <p:nvPr>
            <p:ph idx="1" type="body"/>
          </p:nvPr>
        </p:nvSpPr>
        <p:spPr>
          <a:xfrm>
            <a:off x="186588" y="9065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400"/>
              <a:buFont typeface="Arial"/>
              <a:buNone/>
            </a:pPr>
            <a:r>
              <a:rPr b="1" lang="en-IN" sz="1600">
                <a:solidFill>
                  <a:schemeClr val="dk1"/>
                </a:solidFill>
                <a:highlight>
                  <a:schemeClr val="lt1"/>
                </a:highlight>
              </a:rPr>
              <a:t>Increase or Decrease of a quantity</a:t>
            </a:r>
            <a:endParaRPr b="1"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rPr lang="en-IN" sz="1600">
                <a:solidFill>
                  <a:schemeClr val="dk1"/>
                </a:solidFill>
                <a:highlight>
                  <a:schemeClr val="lt1"/>
                </a:highlight>
              </a:rPr>
              <a:t> % increase/ decrease = (Quantity increase or decrease / original quantity) * 100 </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 </a:t>
            </a:r>
            <a:endParaRPr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rPr lang="en-IN" sz="1600">
                <a:solidFill>
                  <a:schemeClr val="dk1"/>
                </a:solidFill>
                <a:highlight>
                  <a:schemeClr val="lt1"/>
                </a:highlight>
              </a:rPr>
              <a:t>Example: </a:t>
            </a:r>
            <a:endParaRPr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rPr lang="en-IN" sz="1600">
                <a:solidFill>
                  <a:schemeClr val="dk1"/>
                </a:solidFill>
                <a:highlight>
                  <a:schemeClr val="lt1"/>
                </a:highlight>
              </a:rPr>
              <a:t>The salary of a man goes up from Rs. 100 to Rs. 125. What is the percentage increase in the salary? </a:t>
            </a:r>
            <a:endParaRPr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50000"/>
              </a:lnSpc>
              <a:spcBef>
                <a:spcPts val="0"/>
              </a:spcBef>
              <a:spcAft>
                <a:spcPts val="0"/>
              </a:spcAft>
              <a:buClr>
                <a:schemeClr val="dk1"/>
              </a:buClr>
              <a:buSzPts val="1400"/>
              <a:buFont typeface="Arial"/>
              <a:buNone/>
            </a:pPr>
            <a:r>
              <a:rPr lang="en-IN" sz="1600">
                <a:solidFill>
                  <a:schemeClr val="dk1"/>
                </a:solidFill>
                <a:highlight>
                  <a:schemeClr val="lt1"/>
                </a:highlight>
              </a:rPr>
              <a:t>Solution: Increase = 125-100 = Rs. 25   Therefore, % increase = 25/100 * 100% = 25% </a:t>
            </a:r>
            <a:endParaRPr sz="1600">
              <a:solidFill>
                <a:schemeClr val="dk1"/>
              </a:solidFill>
              <a:highlight>
                <a:schemeClr val="lt1"/>
              </a:highlight>
            </a:endParaRPr>
          </a:p>
          <a:p>
            <a:pPr indent="0" lvl="0" marL="0" rtl="0" algn="l">
              <a:lnSpc>
                <a:spcPct val="150000"/>
              </a:lnSpc>
              <a:spcBef>
                <a:spcPts val="0"/>
              </a:spcBef>
              <a:spcAft>
                <a:spcPts val="0"/>
              </a:spcAft>
              <a:buSzPts val="1800"/>
              <a:buNone/>
            </a:pPr>
            <a:r>
              <a:t/>
            </a:r>
            <a:endParaRPr sz="1600">
              <a:solidFill>
                <a:schemeClr val="dk1"/>
              </a:solidFill>
              <a:highlight>
                <a:schemeClr val="lt1"/>
              </a:highlight>
            </a:endParaRPr>
          </a:p>
        </p:txBody>
      </p:sp>
      <p:sp>
        <p:nvSpPr>
          <p:cNvPr id="83" name="Google Shape;83;g3215a255e14_0_7"/>
          <p:cNvSpPr txBox="1"/>
          <p:nvPr/>
        </p:nvSpPr>
        <p:spPr>
          <a:xfrm>
            <a:off x="188975" y="4016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CONCEPT:</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 calcmode="lin" valueType="num">
                                      <p:cBhvr additive="base">
                                        <p:cTn dur="500"/>
                                        <p:tgtEl>
                                          <p:spTgt spid="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 calcmode="lin" valueType="num">
                                      <p:cBhvr additive="base">
                                        <p:cTn dur="500"/>
                                        <p:tgtEl>
                                          <p:spTgt spid="8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 calcmode="lin" valueType="num">
                                      <p:cBhvr additive="base">
                                        <p:cTn dur="500"/>
                                        <p:tgtEl>
                                          <p:spTgt spid="8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 calcmode="lin" valueType="num">
                                      <p:cBhvr additive="base">
                                        <p:cTn dur="500"/>
                                        <p:tgtEl>
                                          <p:spTgt spid="8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anim calcmode="lin" valueType="num">
                                      <p:cBhvr additive="base">
                                        <p:cTn dur="500"/>
                                        <p:tgtEl>
                                          <p:spTgt spid="8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anim calcmode="lin" valueType="num">
                                      <p:cBhvr additive="base">
                                        <p:cTn dur="500"/>
                                        <p:tgtEl>
                                          <p:spTgt spid="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anim calcmode="lin" valueType="num">
                                      <p:cBhvr additive="base">
                                        <p:cTn dur="500"/>
                                        <p:tgtEl>
                                          <p:spTgt spid="8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anim calcmode="lin" valueType="num">
                                      <p:cBhvr additive="base">
                                        <p:cTn dur="500"/>
                                        <p:tgtEl>
                                          <p:spTgt spid="8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
                                            <p:txEl>
                                              <p:pRg end="8" st="8"/>
                                            </p:txEl>
                                          </p:spTgt>
                                        </p:tgtEl>
                                        <p:attrNameLst>
                                          <p:attrName>style.visibility</p:attrName>
                                        </p:attrNameLst>
                                      </p:cBhvr>
                                      <p:to>
                                        <p:strVal val="visible"/>
                                      </p:to>
                                    </p:set>
                                    <p:anim calcmode="lin" valueType="num">
                                      <p:cBhvr additive="base">
                                        <p:cTn dur="500"/>
                                        <p:tgtEl>
                                          <p:spTgt spid="8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215a255e14_0_12"/>
          <p:cNvSpPr txBox="1"/>
          <p:nvPr>
            <p:ph idx="1" type="body"/>
          </p:nvPr>
        </p:nvSpPr>
        <p:spPr>
          <a:xfrm>
            <a:off x="186588" y="9065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IN" sz="1600">
                <a:solidFill>
                  <a:schemeClr val="dk1"/>
                </a:solidFill>
                <a:highlight>
                  <a:schemeClr val="lt1"/>
                </a:highlight>
              </a:rPr>
              <a:t>Increase and Decrease by the same Percentage</a:t>
            </a:r>
            <a:endParaRPr sz="1600">
              <a:solidFill>
                <a:schemeClr val="dk1"/>
              </a:solidFill>
            </a:endParaRPr>
          </a:p>
          <a:p>
            <a:pPr indent="0" lvl="0" marL="0" rtl="0" algn="l">
              <a:spcBef>
                <a:spcPts val="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b="1" lang="en-IN" sz="1600">
                <a:solidFill>
                  <a:schemeClr val="dk1"/>
                </a:solidFill>
                <a:highlight>
                  <a:schemeClr val="lt1"/>
                </a:highlight>
              </a:rPr>
              <a:t>Example: </a:t>
            </a:r>
            <a:endParaRPr sz="1600">
              <a:solidFill>
                <a:schemeClr val="dk1"/>
              </a:solidFill>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A Shopkeeper marks up his goods by 20% but then to encourage sales, reduces the price by 20%. By doing so, he makes a profit and loss of:</a:t>
            </a:r>
            <a:endParaRPr sz="1600">
              <a:solidFill>
                <a:schemeClr val="dk1"/>
              </a:solidFill>
            </a:endParaRPr>
          </a:p>
          <a:p>
            <a:pPr indent="0" lvl="0" marL="0" rtl="0" algn="l">
              <a:spcBef>
                <a:spcPts val="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b="1" lang="en-IN" sz="1600">
                <a:solidFill>
                  <a:schemeClr val="dk1"/>
                </a:solidFill>
                <a:highlight>
                  <a:schemeClr val="lt1"/>
                </a:highlight>
              </a:rPr>
              <a:t>Solution: </a:t>
            </a:r>
            <a:endParaRPr b="1"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Start with 100, after the first increase his price goes up to 120. Reducing 20% of 120, he will have to reduce Rs. 24 and new price is 120 – 24 = 96. So after increasing the price by 20% and reducing it by same percentage, he will make a 4% loss. </a:t>
            </a:r>
            <a:endParaRPr b="1" sz="1600">
              <a:solidFill>
                <a:schemeClr val="dk1"/>
              </a:solidFill>
              <a:highlight>
                <a:schemeClr val="lt1"/>
              </a:highlight>
            </a:endParaRPr>
          </a:p>
          <a:p>
            <a:pPr indent="0" lvl="0" marL="0" rtl="0" algn="l">
              <a:lnSpc>
                <a:spcPct val="150000"/>
              </a:lnSpc>
              <a:spcBef>
                <a:spcPts val="0"/>
              </a:spcBef>
              <a:spcAft>
                <a:spcPts val="0"/>
              </a:spcAft>
              <a:buSzPts val="1800"/>
              <a:buNone/>
            </a:pPr>
            <a:r>
              <a:t/>
            </a:r>
            <a:endParaRPr sz="1600">
              <a:solidFill>
                <a:schemeClr val="dk1"/>
              </a:solidFill>
              <a:highlight>
                <a:schemeClr val="lt1"/>
              </a:highlight>
            </a:endParaRPr>
          </a:p>
        </p:txBody>
      </p:sp>
      <p:sp>
        <p:nvSpPr>
          <p:cNvPr id="89" name="Google Shape;89;g3215a255e14_0_12"/>
          <p:cNvSpPr txBox="1"/>
          <p:nvPr/>
        </p:nvSpPr>
        <p:spPr>
          <a:xfrm>
            <a:off x="188975" y="4016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CONCEPT:</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anim calcmode="lin" valueType="num">
                                      <p:cBhvr additive="base">
                                        <p:cTn dur="500"/>
                                        <p:tgtEl>
                                          <p:spTgt spid="8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anim calcmode="lin" valueType="num">
                                      <p:cBhvr additive="base">
                                        <p:cTn dur="500"/>
                                        <p:tgtEl>
                                          <p:spTgt spid="8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anim calcmode="lin" valueType="num">
                                      <p:cBhvr additive="base">
                                        <p:cTn dur="500"/>
                                        <p:tgtEl>
                                          <p:spTgt spid="8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anim calcmode="lin" valueType="num">
                                      <p:cBhvr additive="base">
                                        <p:cTn dur="500"/>
                                        <p:tgtEl>
                                          <p:spTgt spid="8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anim calcmode="lin" valueType="num">
                                      <p:cBhvr additive="base">
                                        <p:cTn dur="500"/>
                                        <p:tgtEl>
                                          <p:spTgt spid="8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anim calcmode="lin" valueType="num">
                                      <p:cBhvr additive="base">
                                        <p:cTn dur="500"/>
                                        <p:tgtEl>
                                          <p:spTgt spid="8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anim calcmode="lin" valueType="num">
                                      <p:cBhvr additive="base">
                                        <p:cTn dur="500"/>
                                        <p:tgtEl>
                                          <p:spTgt spid="8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anim calcmode="lin" valueType="num">
                                      <p:cBhvr additive="base">
                                        <p:cTn dur="500"/>
                                        <p:tgtEl>
                                          <p:spTgt spid="8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215a255e14_0_17"/>
          <p:cNvSpPr txBox="1"/>
          <p:nvPr>
            <p:ph idx="1" type="body"/>
          </p:nvPr>
        </p:nvSpPr>
        <p:spPr>
          <a:xfrm>
            <a:off x="186588" y="9065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If successive discounts are made, then each successive discount must be calculated on the discounted price. Do not make the mistake of adding the discounts .</a:t>
            </a:r>
            <a:endParaRPr sz="1400">
              <a:solidFill>
                <a:schemeClr val="dk1"/>
              </a:solidFill>
              <a:highlight>
                <a:schemeClr val="lt1"/>
              </a:highlight>
              <a:latin typeface="Arial"/>
              <a:ea typeface="Arial"/>
              <a:cs typeface="Arial"/>
              <a:sym typeface="Arial"/>
            </a:endParaRPr>
          </a:p>
          <a:p>
            <a:pPr indent="0" lvl="0" marL="0" rtl="0" algn="l">
              <a:spcBef>
                <a:spcPts val="0"/>
              </a:spcBef>
              <a:spcAft>
                <a:spcPts val="0"/>
              </a:spcAft>
              <a:buClr>
                <a:schemeClr val="dk1"/>
              </a:buClr>
              <a:buSzPts val="1400"/>
              <a:buFont typeface="Arial"/>
              <a:buNone/>
            </a:pPr>
            <a:r>
              <a:t/>
            </a:r>
            <a:endParaRPr sz="1400">
              <a:solidFill>
                <a:schemeClr val="dk1"/>
              </a:solidFill>
              <a:highlight>
                <a:schemeClr val="lt1"/>
              </a:highlight>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Example: A retail chain gives a discount of 50% and then to increase sales offers another 40% off. By doing this, it has effectively reduced prices by: </a:t>
            </a:r>
            <a:endParaRPr sz="1400">
              <a:solidFill>
                <a:schemeClr val="dk1"/>
              </a:solidFill>
              <a:highlight>
                <a:schemeClr val="lt1"/>
              </a:highlight>
              <a:latin typeface="Arial"/>
              <a:ea typeface="Arial"/>
              <a:cs typeface="Arial"/>
              <a:sym typeface="Arial"/>
            </a:endParaRPr>
          </a:p>
          <a:p>
            <a:pPr indent="0" lvl="0" marL="0" rtl="0" algn="l">
              <a:spcBef>
                <a:spcPts val="0"/>
              </a:spcBef>
              <a:spcAft>
                <a:spcPts val="0"/>
              </a:spcAft>
              <a:buClr>
                <a:schemeClr val="dk1"/>
              </a:buClr>
              <a:buSzPts val="1400"/>
              <a:buFont typeface="Arial"/>
              <a:buNone/>
            </a:pPr>
            <a:r>
              <a:t/>
            </a:r>
            <a:endParaRPr sz="1400">
              <a:solidFill>
                <a:schemeClr val="dk1"/>
              </a:solidFill>
              <a:highlight>
                <a:schemeClr val="lt1"/>
              </a:highlight>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b="1" lang="en-IN" sz="1400">
                <a:solidFill>
                  <a:schemeClr val="dk1"/>
                </a:solidFill>
                <a:highlight>
                  <a:schemeClr val="lt1"/>
                </a:highlight>
                <a:latin typeface="Arial"/>
                <a:ea typeface="Arial"/>
                <a:cs typeface="Arial"/>
                <a:sym typeface="Arial"/>
              </a:rPr>
              <a:t>Solution: </a:t>
            </a:r>
            <a:r>
              <a:rPr lang="en-IN" sz="1400">
                <a:solidFill>
                  <a:schemeClr val="dk1"/>
                </a:solidFill>
                <a:highlight>
                  <a:schemeClr val="lt1"/>
                </a:highlight>
                <a:latin typeface="Arial"/>
                <a:ea typeface="Arial"/>
                <a:cs typeface="Arial"/>
                <a:sym typeface="Arial"/>
              </a:rPr>
              <a:t>Start with 100, we arrive at 50 after first discount. Then another 40% discount is given,</a:t>
            </a:r>
            <a:endParaRPr sz="1400">
              <a:solidFill>
                <a:schemeClr val="dk1"/>
              </a:solidFill>
              <a:highlight>
                <a:schemeClr val="lt1"/>
              </a:highlight>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we discount 50 by 40% and that gives us 20. So the effective price is 20 – 20 = 30, so the shopkeeper has effectively reduced prices by 70%. </a:t>
            </a:r>
            <a:endParaRPr b="1" sz="1600">
              <a:solidFill>
                <a:schemeClr val="dk1"/>
              </a:solidFill>
              <a:highlight>
                <a:schemeClr val="lt1"/>
              </a:highlight>
            </a:endParaRPr>
          </a:p>
          <a:p>
            <a:pPr indent="0" lvl="0" marL="0" rtl="0" algn="l">
              <a:lnSpc>
                <a:spcPct val="150000"/>
              </a:lnSpc>
              <a:spcBef>
                <a:spcPts val="0"/>
              </a:spcBef>
              <a:spcAft>
                <a:spcPts val="0"/>
              </a:spcAft>
              <a:buSzPts val="1800"/>
              <a:buNone/>
            </a:pPr>
            <a:r>
              <a:t/>
            </a:r>
            <a:endParaRPr sz="1600">
              <a:solidFill>
                <a:schemeClr val="dk1"/>
              </a:solidFill>
              <a:highlight>
                <a:schemeClr val="lt1"/>
              </a:highlight>
            </a:endParaRPr>
          </a:p>
        </p:txBody>
      </p:sp>
      <p:sp>
        <p:nvSpPr>
          <p:cNvPr id="95" name="Google Shape;95;g3215a255e14_0_17"/>
          <p:cNvSpPr txBox="1"/>
          <p:nvPr/>
        </p:nvSpPr>
        <p:spPr>
          <a:xfrm>
            <a:off x="188975" y="4016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Successive Discount</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 calcmode="lin" valueType="num">
                                      <p:cBhvr additive="base">
                                        <p:cTn dur="500"/>
                                        <p:tgtEl>
                                          <p:spTgt spid="9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 calcmode="lin" valueType="num">
                                      <p:cBhvr additive="base">
                                        <p:cTn dur="500"/>
                                        <p:tgtEl>
                                          <p:spTgt spid="9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 calcmode="lin" valueType="num">
                                      <p:cBhvr additive="base">
                                        <p:cTn dur="500"/>
                                        <p:tgtEl>
                                          <p:spTgt spid="9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 calcmode="lin" valueType="num">
                                      <p:cBhvr additive="base">
                                        <p:cTn dur="500"/>
                                        <p:tgtEl>
                                          <p:spTgt spid="9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 calcmode="lin" valueType="num">
                                      <p:cBhvr additive="base">
                                        <p:cTn dur="500"/>
                                        <p:tgtEl>
                                          <p:spTgt spid="9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 calcmode="lin" valueType="num">
                                      <p:cBhvr additive="base">
                                        <p:cTn dur="500"/>
                                        <p:tgtEl>
                                          <p:spTgt spid="9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 calcmode="lin" valueType="num">
                                      <p:cBhvr additive="base">
                                        <p:cTn dur="500"/>
                                        <p:tgtEl>
                                          <p:spTgt spid="9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215a2972c9_0_0"/>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IN" sz="1600">
                <a:solidFill>
                  <a:schemeClr val="dk1"/>
                </a:solidFill>
                <a:highlight>
                  <a:schemeClr val="lt1"/>
                </a:highlight>
              </a:rPr>
              <a:t>A county cricket team has won 10 matches and lost 4. If the matches played represent 70% of the total matches in the tournament, then how many more matches should the team win so as to have a record of exactly 75% wins? </a:t>
            </a:r>
            <a:endParaRPr sz="1600">
              <a:solidFill>
                <a:schemeClr val="dk1"/>
              </a:solidFill>
              <a:highlight>
                <a:schemeClr val="lt1"/>
              </a:highlight>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a:p>
            <a:pPr indent="-330200" lvl="0" marL="457200" rtl="0" algn="l">
              <a:lnSpc>
                <a:spcPct val="100000"/>
              </a:lnSpc>
              <a:spcBef>
                <a:spcPts val="800"/>
              </a:spcBef>
              <a:spcAft>
                <a:spcPts val="0"/>
              </a:spcAft>
              <a:buClr>
                <a:schemeClr val="dk1"/>
              </a:buClr>
              <a:buSzPts val="1600"/>
              <a:buFont typeface="Roboto"/>
              <a:buAutoNum type="alphaUcPeriod"/>
            </a:pPr>
            <a:r>
              <a:rPr lang="en-IN" sz="1600">
                <a:solidFill>
                  <a:schemeClr val="dk1"/>
                </a:solidFill>
                <a:highlight>
                  <a:schemeClr val="lt1"/>
                </a:highlight>
              </a:rPr>
              <a:t>A. 5  </a:t>
            </a:r>
            <a:endParaRPr sz="1600">
              <a:solidFill>
                <a:schemeClr val="dk1"/>
              </a:solidFill>
              <a:highlight>
                <a:schemeClr val="lt1"/>
              </a:highlight>
            </a:endParaRPr>
          </a:p>
          <a:p>
            <a:pPr indent="-330200" lvl="0" marL="457200" rtl="0" algn="l">
              <a:lnSpc>
                <a:spcPct val="100000"/>
              </a:lnSpc>
              <a:spcBef>
                <a:spcPts val="800"/>
              </a:spcBef>
              <a:spcAft>
                <a:spcPts val="0"/>
              </a:spcAft>
              <a:buClr>
                <a:schemeClr val="dk1"/>
              </a:buClr>
              <a:buSzPts val="1600"/>
              <a:buFont typeface="Roboto"/>
              <a:buAutoNum type="alphaUcPeriod"/>
            </a:pPr>
            <a:r>
              <a:rPr lang="en-IN" sz="1600">
                <a:solidFill>
                  <a:schemeClr val="dk1"/>
                </a:solidFill>
                <a:highlight>
                  <a:schemeClr val="lt1"/>
                </a:highlight>
              </a:rPr>
              <a:t>B. 6  </a:t>
            </a:r>
            <a:endParaRPr sz="1600">
              <a:solidFill>
                <a:schemeClr val="dk1"/>
              </a:solidFill>
              <a:highlight>
                <a:schemeClr val="lt1"/>
              </a:highlight>
            </a:endParaRPr>
          </a:p>
          <a:p>
            <a:pPr indent="-330200" lvl="0" marL="457200" rtl="0" algn="l">
              <a:lnSpc>
                <a:spcPct val="100000"/>
              </a:lnSpc>
              <a:spcBef>
                <a:spcPts val="800"/>
              </a:spcBef>
              <a:spcAft>
                <a:spcPts val="0"/>
              </a:spcAft>
              <a:buClr>
                <a:schemeClr val="dk1"/>
              </a:buClr>
              <a:buSzPts val="1600"/>
              <a:buFont typeface="Roboto"/>
              <a:buAutoNum type="alphaUcPeriod"/>
            </a:pPr>
            <a:r>
              <a:rPr lang="en-IN" sz="1600">
                <a:solidFill>
                  <a:schemeClr val="dk1"/>
                </a:solidFill>
                <a:highlight>
                  <a:schemeClr val="lt1"/>
                </a:highlight>
              </a:rPr>
              <a:t>C. 4  </a:t>
            </a:r>
            <a:endParaRPr sz="1600">
              <a:solidFill>
                <a:schemeClr val="dk1"/>
              </a:solidFill>
              <a:highlight>
                <a:schemeClr val="lt1"/>
              </a:highlight>
            </a:endParaRPr>
          </a:p>
          <a:p>
            <a:pPr indent="-330200" lvl="0" marL="457200" rtl="0" algn="l">
              <a:lnSpc>
                <a:spcPct val="100000"/>
              </a:lnSpc>
              <a:spcBef>
                <a:spcPts val="800"/>
              </a:spcBef>
              <a:spcAft>
                <a:spcPts val="0"/>
              </a:spcAft>
              <a:buClr>
                <a:schemeClr val="dk1"/>
              </a:buClr>
              <a:buSzPts val="1600"/>
              <a:buFont typeface="Roboto"/>
              <a:buAutoNum type="alphaUcPeriod"/>
            </a:pPr>
            <a:r>
              <a:rPr lang="en-IN" sz="1600">
                <a:solidFill>
                  <a:schemeClr val="dk1"/>
                </a:solidFill>
                <a:highlight>
                  <a:schemeClr val="lt1"/>
                </a:highlight>
              </a:rPr>
              <a:t>D. 3 </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01" name="Google Shape;101;g3215a2972c9_0_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1</a:t>
            </a:r>
            <a:endParaRPr b="1" i="0" sz="2000" u="none" cap="none" strike="noStrike">
              <a:solidFill>
                <a:srgbClr val="8182EF"/>
              </a:solidFill>
              <a:latin typeface="Roboto"/>
              <a:ea typeface="Roboto"/>
              <a:cs typeface="Roboto"/>
              <a:sym typeface="Roboto"/>
            </a:endParaRPr>
          </a:p>
        </p:txBody>
      </p:sp>
      <p:sp>
        <p:nvSpPr>
          <p:cNvPr id="102" name="Google Shape;102;g3215a2972c9_0_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 calcmode="lin" valueType="num">
                                      <p:cBhvr additive="base">
                                        <p:cTn dur="500"/>
                                        <p:tgtEl>
                                          <p:spTgt spid="1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 calcmode="lin" valueType="num">
                                      <p:cBhvr additive="base">
                                        <p:cTn dur="500"/>
                                        <p:tgtEl>
                                          <p:spTgt spid="1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 calcmode="lin" valueType="num">
                                      <p:cBhvr additive="base">
                                        <p:cTn dur="500"/>
                                        <p:tgtEl>
                                          <p:spTgt spid="1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 calcmode="lin" valueType="num">
                                      <p:cBhvr additive="base">
                                        <p:cTn dur="500"/>
                                        <p:tgtEl>
                                          <p:spTgt spid="1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anim calcmode="lin" valueType="num">
                                      <p:cBhvr additive="base">
                                        <p:cTn dur="500"/>
                                        <p:tgtEl>
                                          <p:spTgt spid="1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anim calcmode="lin" valueType="num">
                                      <p:cBhvr additive="base">
                                        <p:cTn dur="500"/>
                                        <p:tgtEl>
                                          <p:spTgt spid="1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anim calcmode="lin" valueType="num">
                                      <p:cBhvr additive="base">
                                        <p:cTn dur="500"/>
                                        <p:tgtEl>
                                          <p:spTgt spid="10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 name="Shape 106"/>
        <p:cNvGrpSpPr/>
        <p:nvPr/>
      </p:nvGrpSpPr>
      <p:grpSpPr>
        <a:xfrm>
          <a:off x="0" y="0"/>
          <a:ext cx="0" cy="0"/>
          <a:chOff x="0" y="0"/>
          <a:chExt cx="0" cy="0"/>
        </a:xfrm>
      </p:grpSpPr>
      <p:sp>
        <p:nvSpPr>
          <p:cNvPr id="107" name="Google Shape;107;g3215a2972c9_0_70"/>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10 wins + 4 losses = 14 matches played.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The 14 matches played represent 70% of the total matches in the tournament.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70%       14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100%      ?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Through cross multiplication, we have: The total matches in the tournament are 20.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For the team to have exactly 75% wins, it has to win 75% of (20) = 15 matches.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Since it has already won 10 matches, it still has to win 5 more matches. </a:t>
            </a:r>
            <a:endParaRPr/>
          </a:p>
        </p:txBody>
      </p:sp>
      <p:sp>
        <p:nvSpPr>
          <p:cNvPr id="108" name="Google Shape;108;g3215a2972c9_0_7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215a255e14_0_24"/>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A 90 liters solution has 10% salt. How many liters of water must be evaporated to leave the solution with 20% salt? (Note: Salt cannot be evaporated) </a:t>
            </a:r>
            <a:endParaRPr sz="1600">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A. 50  </a:t>
            </a:r>
            <a:endParaRPr sz="16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B. 45  </a:t>
            </a:r>
            <a:endParaRPr sz="16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C. 30     </a:t>
            </a:r>
            <a:endParaRPr sz="16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D. 36 </a:t>
            </a:r>
            <a:endParaRPr sz="1600">
              <a:solidFill>
                <a:schemeClr val="dk1"/>
              </a:solidFill>
              <a:highlight>
                <a:schemeClr val="lt1"/>
              </a:highlight>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14" name="Google Shape;114;g3215a255e14_0_24"/>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2</a:t>
            </a:r>
            <a:endParaRPr b="1" i="0" sz="2000" u="none" cap="none" strike="noStrike">
              <a:solidFill>
                <a:srgbClr val="8182EF"/>
              </a:solidFill>
              <a:latin typeface="Roboto"/>
              <a:ea typeface="Roboto"/>
              <a:cs typeface="Roboto"/>
              <a:sym typeface="Roboto"/>
            </a:endParaRPr>
          </a:p>
        </p:txBody>
      </p:sp>
      <p:sp>
        <p:nvSpPr>
          <p:cNvPr id="115" name="Google Shape;115;g3215a255e14_0_2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b</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anim calcmode="lin" valueType="num">
                                      <p:cBhvr additive="base">
                                        <p:cTn dur="500"/>
                                        <p:tgtEl>
                                          <p:spTgt spid="11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anim calcmode="lin" valueType="num">
                                      <p:cBhvr additive="base">
                                        <p:cTn dur="500"/>
                                        <p:tgtEl>
                                          <p:spTgt spid="11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anim calcmode="lin" valueType="num">
                                      <p:cBhvr additive="base">
                                        <p:cTn dur="500"/>
                                        <p:tgtEl>
                                          <p:spTgt spid="11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anim calcmode="lin" valueType="num">
                                      <p:cBhvr additive="base">
                                        <p:cTn dur="500"/>
                                        <p:tgtEl>
                                          <p:spTgt spid="11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anim calcmode="lin" valueType="num">
                                      <p:cBhvr additive="base">
                                        <p:cTn dur="500"/>
                                        <p:tgtEl>
                                          <p:spTgt spid="11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anim calcmode="lin" valueType="num">
                                      <p:cBhvr additive="base">
                                        <p:cTn dur="500"/>
                                        <p:tgtEl>
                                          <p:spTgt spid="11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anim calcmode="lin" valueType="num">
                                      <p:cBhvr additive="base">
                                        <p:cTn dur="500"/>
                                        <p:tgtEl>
                                          <p:spTgt spid="11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anim calcmode="lin" valueType="num">
                                      <p:cBhvr additive="base">
                                        <p:cTn dur="500"/>
                                        <p:tgtEl>
                                          <p:spTgt spid="11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sp>
        <p:nvSpPr>
          <p:cNvPr id="120" name="Google Shape;120;g3215a255e14_0_10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It is given that when a salt solution is said to evaporate, only the water content in it         evaporates but not the salt.</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Amount of salt in the solution = 10% (90) = 9 kg. after ‘x’ kg of water is evaporated,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the amount of solution left behind = (90 – x) kg.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The amount of salt remains unchanged.</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The latest percentage of salt in the solution =(9/90-x)*100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20 (given)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900 = (90 - x) 20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20x = 1800 – 900 = 900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x = 45.</a:t>
            </a:r>
            <a:endParaRPr sz="1400">
              <a:solidFill>
                <a:schemeClr val="dk1"/>
              </a:solidFill>
              <a:highlight>
                <a:schemeClr val="lt1"/>
              </a:highlight>
              <a:latin typeface="Arial"/>
              <a:ea typeface="Arial"/>
              <a:cs typeface="Arial"/>
              <a:sym typeface="Arial"/>
            </a:endParaRPr>
          </a:p>
        </p:txBody>
      </p:sp>
      <p:sp>
        <p:nvSpPr>
          <p:cNvPr id="121" name="Google Shape;121;g3215a255e14_0_10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215a255e14_0_30"/>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In 2008, the price of a mobile phone increases by 20% with respect to that in 2007. By what percentage is its price in 2007 less than that in 2008? </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A. 15% </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B. 16.67%    </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C. 13.33% </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D. 20%</a:t>
            </a:r>
            <a:endParaRPr sz="1600">
              <a:solidFill>
                <a:schemeClr val="dk1"/>
              </a:solidFill>
              <a:highlight>
                <a:schemeClr val="lt1"/>
              </a:highlight>
            </a:endParaRPr>
          </a:p>
          <a:p>
            <a:pPr indent="0" lvl="0" marL="457200" rtl="0" algn="l">
              <a:lnSpc>
                <a:spcPct val="150000"/>
              </a:lnSpc>
              <a:spcBef>
                <a:spcPts val="0"/>
              </a:spcBef>
              <a:spcAft>
                <a:spcPts val="0"/>
              </a:spcAft>
              <a:buSzPts val="1800"/>
              <a:buNone/>
            </a:pPr>
            <a:br>
              <a:rPr lang="en-IN" sz="1600">
                <a:solidFill>
                  <a:schemeClr val="dk1"/>
                </a:solidFill>
              </a:rPr>
            </a:br>
            <a:endParaRPr sz="1600">
              <a:solidFill>
                <a:schemeClr val="dk1"/>
              </a:solidFill>
            </a:endParaRPr>
          </a:p>
        </p:txBody>
      </p:sp>
      <p:sp>
        <p:nvSpPr>
          <p:cNvPr id="127" name="Google Shape;127;g3215a255e14_0_3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
        <p:nvSpPr>
          <p:cNvPr id="128" name="Google Shape;128;g3215a255e14_0_3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b</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 calcmode="lin" valueType="num">
                                      <p:cBhvr additive="base">
                                        <p:cTn dur="500"/>
                                        <p:tgtEl>
                                          <p:spTgt spid="1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 calcmode="lin" valueType="num">
                                      <p:cBhvr additive="base">
                                        <p:cTn dur="500"/>
                                        <p:tgtEl>
                                          <p:spTgt spid="1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 calcmode="lin" valueType="num">
                                      <p:cBhvr additive="base">
                                        <p:cTn dur="500"/>
                                        <p:tgtEl>
                                          <p:spTgt spid="1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anim calcmode="lin" valueType="num">
                                      <p:cBhvr additive="base">
                                        <p:cTn dur="500"/>
                                        <p:tgtEl>
                                          <p:spTgt spid="1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anim calcmode="lin" valueType="num">
                                      <p:cBhvr additive="base">
                                        <p:cTn dur="500"/>
                                        <p:tgtEl>
                                          <p:spTgt spid="12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anim calcmode="lin" valueType="num">
                                      <p:cBhvr additive="base">
                                        <p:cTn dur="500"/>
                                        <p:tgtEl>
                                          <p:spTgt spid="12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anim calcmode="lin" valueType="num">
                                      <p:cBhvr additive="base">
                                        <p:cTn dur="500"/>
                                        <p:tgtEl>
                                          <p:spTgt spid="12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 name="Shape 132"/>
        <p:cNvGrpSpPr/>
        <p:nvPr/>
      </p:nvGrpSpPr>
      <p:grpSpPr>
        <a:xfrm>
          <a:off x="0" y="0"/>
          <a:ext cx="0" cy="0"/>
          <a:chOff x="0" y="0"/>
          <a:chExt cx="0" cy="0"/>
        </a:xfrm>
      </p:grpSpPr>
      <p:sp>
        <p:nvSpPr>
          <p:cNvPr id="133" name="Google Shape;133;g3215a255e14_0_10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Let us assume that price of mobile in 2007 be Rs. 100.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price of mobile in 2008 = 20% more = 120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To make price in 2008 as 100, we need to multiply by 100/120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corresponding price in 2007 will be  100/120 * 100 = 83.33</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Hence price is less by 16.67 % </a:t>
            </a:r>
            <a:endParaRPr sz="1400">
              <a:solidFill>
                <a:schemeClr val="dk1"/>
              </a:solidFill>
              <a:highlight>
                <a:schemeClr val="lt1"/>
              </a:highlight>
              <a:latin typeface="Arial"/>
              <a:ea typeface="Arial"/>
              <a:cs typeface="Arial"/>
              <a:sym typeface="Arial"/>
            </a:endParaRPr>
          </a:p>
        </p:txBody>
      </p:sp>
      <p:sp>
        <p:nvSpPr>
          <p:cNvPr id="134" name="Google Shape;134;g3215a255e14_0_10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215a255e14_0_36"/>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A book-seller sold 30% of his books and left with 420 books. How many books did he have initially in his stock?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1400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1000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800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600</a:t>
            </a:r>
            <a:endParaRPr sz="1600">
              <a:solidFill>
                <a:schemeClr val="dk1"/>
              </a:solidFill>
              <a:highlight>
                <a:schemeClr val="lt1"/>
              </a:highlight>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40" name="Google Shape;140;g3215a255e14_0_36"/>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
        <p:nvSpPr>
          <p:cNvPr id="141" name="Google Shape;141;g3215a255e14_0_3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D</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 calcmode="lin" valueType="num">
                                      <p:cBhvr additive="base">
                                        <p:cTn dur="500"/>
                                        <p:tgtEl>
                                          <p:spTgt spid="1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 calcmode="lin" valueType="num">
                                      <p:cBhvr additive="base">
                                        <p:cTn dur="500"/>
                                        <p:tgtEl>
                                          <p:spTgt spid="1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 calcmode="lin" valueType="num">
                                      <p:cBhvr additive="base">
                                        <p:cTn dur="500"/>
                                        <p:tgtEl>
                                          <p:spTgt spid="1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 calcmode="lin" valueType="num">
                                      <p:cBhvr additive="base">
                                        <p:cTn dur="500"/>
                                        <p:tgtEl>
                                          <p:spTgt spid="1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 calcmode="lin" valueType="num">
                                      <p:cBhvr additive="base">
                                        <p:cTn dur="500"/>
                                        <p:tgtEl>
                                          <p:spTgt spid="1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anim calcmode="lin" valueType="num">
                                      <p:cBhvr additive="base">
                                        <p:cTn dur="500"/>
                                        <p:tgtEl>
                                          <p:spTgt spid="1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anim calcmode="lin" valueType="num">
                                      <p:cBhvr additive="base">
                                        <p:cTn dur="500"/>
                                        <p:tgtEl>
                                          <p:spTgt spid="13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anim calcmode="lin" valueType="num">
                                      <p:cBhvr additive="base">
                                        <p:cTn dur="500"/>
                                        <p:tgtEl>
                                          <p:spTgt spid="13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g3215a255e14_0_11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The initial number of books with the book  seller is 100%.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If 30% of the books are sold he is left with 70%.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Given that 70% of the total books = 420 i.e., (70/100)*(total books) = 420.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total number of books= 420*100/70=600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Alternately, 70%        420 books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100%       ? books</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Through cross multiplication, we have: The total number of books = (100/700)*420=600</a:t>
            </a:r>
            <a:endParaRPr sz="1400">
              <a:solidFill>
                <a:schemeClr val="dk1"/>
              </a:solidFill>
              <a:highlight>
                <a:schemeClr val="lt1"/>
              </a:highlight>
              <a:latin typeface="Arial"/>
              <a:ea typeface="Arial"/>
              <a:cs typeface="Arial"/>
              <a:sym typeface="Arial"/>
            </a:endParaRPr>
          </a:p>
        </p:txBody>
      </p:sp>
      <p:sp>
        <p:nvSpPr>
          <p:cNvPr id="147" name="Google Shape;147;g3215a255e14_0_11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15a255e14_0_42"/>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Due to inflation the total cost of monthly household items has gone up by 25%, but the salary of Gupta had increased by only 20%. Initially, Gupta is used to spend 40% of his salary on household items. What percentage of the present salary would Gupta spend to buy the same quantities of household items?</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40%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41.33%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41.67%  </a:t>
            </a:r>
            <a:endParaRPr sz="1600">
              <a:solidFill>
                <a:schemeClr val="dk1"/>
              </a:solidFill>
              <a:highlight>
                <a:schemeClr val="lt1"/>
              </a:highlight>
            </a:endParaRPr>
          </a:p>
          <a:p>
            <a:pPr indent="0" lvl="0" marL="0" rtl="0" algn="l">
              <a:lnSpc>
                <a:spcPct val="150000"/>
              </a:lnSpc>
              <a:spcBef>
                <a:spcPts val="0"/>
              </a:spcBef>
              <a:spcAft>
                <a:spcPts val="0"/>
              </a:spcAft>
              <a:buSzPts val="1800"/>
              <a:buNone/>
            </a:pPr>
            <a:r>
              <a:rPr lang="en-IN" sz="1600">
                <a:solidFill>
                  <a:schemeClr val="dk1"/>
                </a:solidFill>
                <a:highlight>
                  <a:schemeClr val="lt1"/>
                </a:highlight>
              </a:rPr>
              <a:t>D. 42% </a:t>
            </a:r>
            <a:br>
              <a:rPr lang="en-IN" sz="1600">
                <a:solidFill>
                  <a:schemeClr val="dk1"/>
                </a:solidFill>
              </a:rPr>
            </a:br>
            <a:endParaRPr sz="1600">
              <a:solidFill>
                <a:schemeClr val="dk1"/>
              </a:solidFill>
            </a:endParaRPr>
          </a:p>
        </p:txBody>
      </p:sp>
      <p:sp>
        <p:nvSpPr>
          <p:cNvPr id="153" name="Google Shape;153;g3215a255e14_0_4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
        <p:nvSpPr>
          <p:cNvPr id="154" name="Google Shape;154;g3215a255e14_0_4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c</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 calcmode="lin" valueType="num">
                                      <p:cBhvr additive="base">
                                        <p:cTn dur="500"/>
                                        <p:tgtEl>
                                          <p:spTgt spid="1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 calcmode="lin" valueType="num">
                                      <p:cBhvr additive="base">
                                        <p:cTn dur="500"/>
                                        <p:tgtEl>
                                          <p:spTgt spid="1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 calcmode="lin" valueType="num">
                                      <p:cBhvr additive="base">
                                        <p:cTn dur="500"/>
                                        <p:tgtEl>
                                          <p:spTgt spid="1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 calcmode="lin" valueType="num">
                                      <p:cBhvr additive="base">
                                        <p:cTn dur="500"/>
                                        <p:tgtEl>
                                          <p:spTgt spid="1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 calcmode="lin" valueType="num">
                                      <p:cBhvr additive="base">
                                        <p:cTn dur="500"/>
                                        <p:tgtEl>
                                          <p:spTgt spid="1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anim calcmode="lin" valueType="num">
                                      <p:cBhvr additive="base">
                                        <p:cTn dur="500"/>
                                        <p:tgtEl>
                                          <p:spTgt spid="15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 name="Shape 158"/>
        <p:cNvGrpSpPr/>
        <p:nvPr/>
      </p:nvGrpSpPr>
      <p:grpSpPr>
        <a:xfrm>
          <a:off x="0" y="0"/>
          <a:ext cx="0" cy="0"/>
          <a:chOff x="0" y="0"/>
          <a:chExt cx="0" cy="0"/>
        </a:xfrm>
      </p:grpSpPr>
      <p:sp>
        <p:nvSpPr>
          <p:cNvPr id="159" name="Google Shape;159;g3215a255e14_0_11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Assume that the salary of Mr Gupta is Rs 100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Expenditure on house  hold items = 40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New Inflated expenditure = 1.25(40) = 50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New Salary = 120 % of Salary into this expenditure =  50/120 = 41.67% </a:t>
            </a:r>
            <a:endParaRPr sz="1400">
              <a:solidFill>
                <a:schemeClr val="dk1"/>
              </a:solidFill>
              <a:highlight>
                <a:schemeClr val="lt1"/>
              </a:highlight>
              <a:latin typeface="Arial"/>
              <a:ea typeface="Arial"/>
              <a:cs typeface="Arial"/>
              <a:sym typeface="Arial"/>
            </a:endParaRPr>
          </a:p>
        </p:txBody>
      </p:sp>
      <p:sp>
        <p:nvSpPr>
          <p:cNvPr id="160" name="Google Shape;160;g3215a255e14_0_11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215a255e14_0_48"/>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Two numbers A and B are such that the sum of 5% of A and 4% of B is two-third of the sum of 6% of A and 8% of B. Find the ratio of A : B.</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800"/>
              </a:spcBef>
              <a:spcAft>
                <a:spcPts val="0"/>
              </a:spcAft>
              <a:buClr>
                <a:schemeClr val="dk1"/>
              </a:buClr>
              <a:buSzPts val="1400"/>
              <a:buFont typeface="Arial"/>
              <a:buNone/>
            </a:pPr>
            <a:r>
              <a:rPr lang="en-IN" sz="1600">
                <a:solidFill>
                  <a:schemeClr val="dk1"/>
                </a:solidFill>
                <a:highlight>
                  <a:schemeClr val="lt1"/>
                </a:highlight>
              </a:rPr>
              <a:t>A.2 : 3</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B.1 : 1</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C.3 : 4</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D.4 : 3</a:t>
            </a:r>
            <a:endParaRPr sz="1600">
              <a:solidFill>
                <a:schemeClr val="dk1"/>
              </a:solidFill>
              <a:highlight>
                <a:schemeClr val="lt1"/>
              </a:highlight>
            </a:endParaRPr>
          </a:p>
          <a:p>
            <a:pPr indent="0" lvl="0" marL="457200" rtl="0" algn="l">
              <a:lnSpc>
                <a:spcPct val="150000"/>
              </a:lnSpc>
              <a:spcBef>
                <a:spcPts val="0"/>
              </a:spcBef>
              <a:spcAft>
                <a:spcPts val="0"/>
              </a:spcAft>
              <a:buSzPts val="1800"/>
              <a:buNone/>
            </a:pPr>
            <a:br>
              <a:rPr lang="en-IN" sz="1600">
                <a:solidFill>
                  <a:schemeClr val="dk1"/>
                </a:solidFill>
              </a:rPr>
            </a:br>
            <a:endParaRPr sz="1600">
              <a:solidFill>
                <a:schemeClr val="dk1"/>
              </a:solidFill>
            </a:endParaRPr>
          </a:p>
        </p:txBody>
      </p:sp>
      <p:sp>
        <p:nvSpPr>
          <p:cNvPr id="166" name="Google Shape;166;g3215a255e14_0_48"/>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6</a:t>
            </a:r>
            <a:endParaRPr b="1" i="0" sz="2000" u="none" cap="none" strike="noStrike">
              <a:solidFill>
                <a:srgbClr val="8182EF"/>
              </a:solidFill>
              <a:latin typeface="Roboto"/>
              <a:ea typeface="Roboto"/>
              <a:cs typeface="Roboto"/>
              <a:sym typeface="Roboto"/>
            </a:endParaRPr>
          </a:p>
        </p:txBody>
      </p:sp>
      <p:sp>
        <p:nvSpPr>
          <p:cNvPr id="167" name="Google Shape;167;g3215a255e14_0_4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D</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 calcmode="lin" valueType="num">
                                      <p:cBhvr additive="base">
                                        <p:cTn dur="500"/>
                                        <p:tgtEl>
                                          <p:spTgt spid="1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 calcmode="lin" valueType="num">
                                      <p:cBhvr additive="base">
                                        <p:cTn dur="500"/>
                                        <p:tgtEl>
                                          <p:spTgt spid="1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 calcmode="lin" valueType="num">
                                      <p:cBhvr additive="base">
                                        <p:cTn dur="500"/>
                                        <p:tgtEl>
                                          <p:spTgt spid="1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 calcmode="lin" valueType="num">
                                      <p:cBhvr additive="base">
                                        <p:cTn dur="500"/>
                                        <p:tgtEl>
                                          <p:spTgt spid="1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 calcmode="lin" valueType="num">
                                      <p:cBhvr additive="base">
                                        <p:cTn dur="500"/>
                                        <p:tgtEl>
                                          <p:spTgt spid="16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 calcmode="lin" valueType="num">
                                      <p:cBhvr additive="base">
                                        <p:cTn dur="500"/>
                                        <p:tgtEl>
                                          <p:spTgt spid="16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anim calcmode="lin" valueType="num">
                                      <p:cBhvr additive="base">
                                        <p:cTn dur="500"/>
                                        <p:tgtEl>
                                          <p:spTgt spid="16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g3215a255e14_0_12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5% of A + 4% of B = 2/3(6% of A + 8% of B)</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(5/100)A + (4/100)B = 2/3(6/100A + 8/100B)</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1/20A + 1/25B = 1/25A + 4/75B</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(1/20-1/25)A = (4/75 - 1/25)B</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1/100A = 1/75B</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A/B = 100/75 = 4/3</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Ration = 4:3</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None/>
            </a:pPr>
            <a:r>
              <a:t/>
            </a:r>
            <a:endParaRPr sz="1400">
              <a:solidFill>
                <a:schemeClr val="dk1"/>
              </a:solidFill>
              <a:highlight>
                <a:schemeClr val="lt1"/>
              </a:highlight>
              <a:latin typeface="Arial"/>
              <a:ea typeface="Arial"/>
              <a:cs typeface="Arial"/>
              <a:sym typeface="Arial"/>
            </a:endParaRPr>
          </a:p>
        </p:txBody>
      </p:sp>
      <p:sp>
        <p:nvSpPr>
          <p:cNvPr id="173" name="Google Shape;173;g3215a255e14_0_12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215a255e14_0_54"/>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In an election between two candidates, one got 55% of the total valid votes, 20% of the votes were invalid. If the total number of votes was 7500, the number of valid votes that the other candidate got, was:</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800"/>
              </a:spcBef>
              <a:spcAft>
                <a:spcPts val="0"/>
              </a:spcAft>
              <a:buClr>
                <a:schemeClr val="dk1"/>
              </a:buClr>
              <a:buSzPts val="1400"/>
              <a:buFont typeface="Arial"/>
              <a:buNone/>
            </a:pPr>
            <a:r>
              <a:rPr lang="en-IN" sz="1600">
                <a:solidFill>
                  <a:schemeClr val="dk1"/>
                </a:solidFill>
                <a:highlight>
                  <a:schemeClr val="lt1"/>
                </a:highlight>
              </a:rPr>
              <a:t>A.2700</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B.2900</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C.3000</a:t>
            </a:r>
            <a:endParaRPr sz="1600">
              <a:solidFill>
                <a:schemeClr val="dk1"/>
              </a:solidFill>
              <a:highlight>
                <a:schemeClr val="lt1"/>
              </a:highlight>
            </a:endParaRPr>
          </a:p>
          <a:p>
            <a:pPr indent="0" lvl="0" marL="0" rtl="0" algn="l">
              <a:lnSpc>
                <a:spcPct val="150000"/>
              </a:lnSpc>
              <a:spcBef>
                <a:spcPts val="0"/>
              </a:spcBef>
              <a:spcAft>
                <a:spcPts val="0"/>
              </a:spcAft>
              <a:buSzPts val="1800"/>
              <a:buNone/>
            </a:pPr>
            <a:r>
              <a:rPr lang="en-IN" sz="1600">
                <a:solidFill>
                  <a:schemeClr val="dk1"/>
                </a:solidFill>
                <a:highlight>
                  <a:schemeClr val="lt1"/>
                </a:highlight>
              </a:rPr>
              <a:t>D.3100</a:t>
            </a:r>
            <a:br>
              <a:rPr lang="en-IN" sz="1600">
                <a:solidFill>
                  <a:schemeClr val="dk1"/>
                </a:solidFill>
              </a:rPr>
            </a:br>
            <a:endParaRPr sz="1600">
              <a:solidFill>
                <a:schemeClr val="dk1"/>
              </a:solidFill>
            </a:endParaRPr>
          </a:p>
        </p:txBody>
      </p:sp>
      <p:sp>
        <p:nvSpPr>
          <p:cNvPr id="179" name="Google Shape;179;g3215a255e14_0_54"/>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7</a:t>
            </a:r>
            <a:endParaRPr b="1" i="0" sz="2000" u="none" cap="none" strike="noStrike">
              <a:solidFill>
                <a:srgbClr val="8182EF"/>
              </a:solidFill>
              <a:latin typeface="Roboto"/>
              <a:ea typeface="Roboto"/>
              <a:cs typeface="Roboto"/>
              <a:sym typeface="Roboto"/>
            </a:endParaRPr>
          </a:p>
        </p:txBody>
      </p:sp>
      <p:sp>
        <p:nvSpPr>
          <p:cNvPr id="180" name="Google Shape;180;g3215a255e14_0_5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 calcmode="lin" valueType="num">
                                      <p:cBhvr additive="base">
                                        <p:cTn dur="500"/>
                                        <p:tgtEl>
                                          <p:spTgt spid="1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 calcmode="lin" valueType="num">
                                      <p:cBhvr additive="base">
                                        <p:cTn dur="500"/>
                                        <p:tgtEl>
                                          <p:spTgt spid="1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anim calcmode="lin" valueType="num">
                                      <p:cBhvr additive="base">
                                        <p:cTn dur="500"/>
                                        <p:tgtEl>
                                          <p:spTgt spid="1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anim calcmode="lin" valueType="num">
                                      <p:cBhvr additive="base">
                                        <p:cTn dur="500"/>
                                        <p:tgtEl>
                                          <p:spTgt spid="17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anim calcmode="lin" valueType="num">
                                      <p:cBhvr additive="base">
                                        <p:cTn dur="500"/>
                                        <p:tgtEl>
                                          <p:spTgt spid="17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anim calcmode="lin" valueType="num">
                                      <p:cBhvr additive="base">
                                        <p:cTn dur="500"/>
                                        <p:tgtEl>
                                          <p:spTgt spid="17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g3215a255e14_0_12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Number of valid votes = 80% of 7500 = 6000.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Number of valid votes = 80% of 7500 = 6000.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(4/100)*6000 = 2700</a:t>
            </a:r>
            <a:endParaRPr sz="1400">
              <a:solidFill>
                <a:schemeClr val="dk1"/>
              </a:solidFill>
              <a:highlight>
                <a:schemeClr val="lt1"/>
              </a:highlight>
              <a:latin typeface="Arial"/>
              <a:ea typeface="Arial"/>
              <a:cs typeface="Arial"/>
              <a:sym typeface="Arial"/>
            </a:endParaRPr>
          </a:p>
        </p:txBody>
      </p:sp>
      <p:sp>
        <p:nvSpPr>
          <p:cNvPr id="186" name="Google Shape;186;g3215a255e14_0_12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215a255e14_0_60"/>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Gauri went to the stationers and bought things worth Rs. 25, out of which 30 paise went on sales tax on taxable purchases. If the tax rate was 6%, then what was the cost of the tax free items?</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800"/>
              </a:spcBef>
              <a:spcAft>
                <a:spcPts val="0"/>
              </a:spcAft>
              <a:buClr>
                <a:schemeClr val="dk1"/>
              </a:buClr>
              <a:buSzPts val="1400"/>
              <a:buFont typeface="Arial"/>
              <a:buNone/>
            </a:pPr>
            <a:r>
              <a:rPr lang="en-IN" sz="1600">
                <a:solidFill>
                  <a:schemeClr val="dk1"/>
                </a:solidFill>
                <a:highlight>
                  <a:schemeClr val="lt1"/>
                </a:highlight>
              </a:rPr>
              <a:t>A.Rs. 15</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B.Rs. 15.70</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C.Rs. 19.70</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D.Rs. 20</a:t>
            </a:r>
            <a:endParaRPr sz="1600">
              <a:solidFill>
                <a:schemeClr val="dk1"/>
              </a:solidFill>
              <a:highlight>
                <a:schemeClr val="lt1"/>
              </a:highlight>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92" name="Google Shape;192;g3215a255e14_0_6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8</a:t>
            </a:r>
            <a:endParaRPr b="1" i="0" sz="2000" u="none" cap="none" strike="noStrike">
              <a:solidFill>
                <a:srgbClr val="8182EF"/>
              </a:solidFill>
              <a:latin typeface="Roboto"/>
              <a:ea typeface="Roboto"/>
              <a:cs typeface="Roboto"/>
              <a:sym typeface="Roboto"/>
            </a:endParaRPr>
          </a:p>
        </p:txBody>
      </p:sp>
      <p:sp>
        <p:nvSpPr>
          <p:cNvPr id="193" name="Google Shape;193;g3215a255e14_0_6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C</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 calcmode="lin" valueType="num">
                                      <p:cBhvr additive="base">
                                        <p:cTn dur="500"/>
                                        <p:tgtEl>
                                          <p:spTgt spid="1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 calcmode="lin" valueType="num">
                                      <p:cBhvr additive="base">
                                        <p:cTn dur="500"/>
                                        <p:tgtEl>
                                          <p:spTgt spid="1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 calcmode="lin" valueType="num">
                                      <p:cBhvr additive="base">
                                        <p:cTn dur="500"/>
                                        <p:tgtEl>
                                          <p:spTgt spid="1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 calcmode="lin" valueType="num">
                                      <p:cBhvr additive="base">
                                        <p:cTn dur="500"/>
                                        <p:tgtEl>
                                          <p:spTgt spid="19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 calcmode="lin" valueType="num">
                                      <p:cBhvr additive="base">
                                        <p:cTn dur="500"/>
                                        <p:tgtEl>
                                          <p:spTgt spid="19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 calcmode="lin" valueType="num">
                                      <p:cBhvr additive="base">
                                        <p:cTn dur="500"/>
                                        <p:tgtEl>
                                          <p:spTgt spid="19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anim calcmode="lin" valueType="num">
                                      <p:cBhvr additive="base">
                                        <p:cTn dur="500"/>
                                        <p:tgtEl>
                                          <p:spTgt spid="19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7" st="7"/>
                                            </p:txEl>
                                          </p:spTgt>
                                        </p:tgtEl>
                                        <p:attrNameLst>
                                          <p:attrName>style.visibility</p:attrName>
                                        </p:attrNameLst>
                                      </p:cBhvr>
                                      <p:to>
                                        <p:strVal val="visible"/>
                                      </p:to>
                                    </p:set>
                                    <p:anim calcmode="lin" valueType="num">
                                      <p:cBhvr additive="base">
                                        <p:cTn dur="500"/>
                                        <p:tgtEl>
                                          <p:spTgt spid="19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3215a255e14_0_13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Let the amount taxable purchases be Rs. </a:t>
            </a:r>
            <a:r>
              <a:rPr i="1" lang="en-IN" sz="1600">
                <a:solidFill>
                  <a:schemeClr val="dk1"/>
                </a:solidFill>
                <a:highlight>
                  <a:schemeClr val="lt1"/>
                </a:highlight>
              </a:rPr>
              <a:t>x </a:t>
            </a:r>
            <a:endParaRPr i="1"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Then, 6% of </a:t>
            </a:r>
            <a:r>
              <a:rPr i="1" lang="en-IN" sz="1600">
                <a:solidFill>
                  <a:schemeClr val="dk1"/>
                </a:solidFill>
                <a:highlight>
                  <a:schemeClr val="lt1"/>
                </a:highlight>
              </a:rPr>
              <a:t>x</a:t>
            </a:r>
            <a:r>
              <a:rPr lang="en-IN" sz="1600">
                <a:solidFill>
                  <a:schemeClr val="dk1"/>
                </a:solidFill>
                <a:highlight>
                  <a:schemeClr val="lt1"/>
                </a:highlight>
              </a:rPr>
              <a:t> = 30/00</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x=(30/100 * 100/6) = 5</a:t>
            </a:r>
            <a:endParaRPr sz="16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Cost of tax free items = Rs. [25 - (5 + 0.30)] = Rs. 19.70</a:t>
            </a:r>
            <a:endParaRPr sz="1600">
              <a:solidFill>
                <a:schemeClr val="dk1"/>
              </a:solidFill>
              <a:highlight>
                <a:schemeClr val="lt1"/>
              </a:highlight>
            </a:endParaRPr>
          </a:p>
        </p:txBody>
      </p:sp>
      <p:sp>
        <p:nvSpPr>
          <p:cNvPr id="199" name="Google Shape;199;g3215a255e14_0_13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215a255e14_0_66"/>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The population of a town increased from 1,75,000 to 2,62,500 in a decade. The average percent increase of population per year is:</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spcBef>
                <a:spcPts val="800"/>
              </a:spcBef>
              <a:spcAft>
                <a:spcPts val="0"/>
              </a:spcAft>
              <a:buClr>
                <a:schemeClr val="dk1"/>
              </a:buClr>
              <a:buSzPts val="1400"/>
              <a:buFont typeface="Arial"/>
              <a:buNone/>
            </a:pPr>
            <a:r>
              <a:rPr lang="en-IN" sz="1600">
                <a:solidFill>
                  <a:schemeClr val="dk1"/>
                </a:solidFill>
                <a:highlight>
                  <a:schemeClr val="lt1"/>
                </a:highlight>
              </a:rPr>
              <a:t>A.4.37%</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B.5%</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C.6%</a:t>
            </a:r>
            <a:endParaRPr sz="1600">
              <a:solidFill>
                <a:schemeClr val="dk1"/>
              </a:solidFill>
              <a:highlight>
                <a:schemeClr val="lt1"/>
              </a:highlight>
            </a:endParaRPr>
          </a:p>
          <a:p>
            <a:pPr indent="0" lvl="0" marL="0" rtl="0" algn="l">
              <a:spcBef>
                <a:spcPts val="0"/>
              </a:spcBef>
              <a:spcAft>
                <a:spcPts val="0"/>
              </a:spcAft>
              <a:buClr>
                <a:schemeClr val="dk1"/>
              </a:buClr>
              <a:buSzPts val="1400"/>
              <a:buFont typeface="Arial"/>
              <a:buNone/>
            </a:pPr>
            <a:r>
              <a:rPr lang="en-IN" sz="1600">
                <a:solidFill>
                  <a:schemeClr val="dk1"/>
                </a:solidFill>
                <a:highlight>
                  <a:schemeClr val="lt1"/>
                </a:highlight>
              </a:rPr>
              <a:t>D.8.75%</a:t>
            </a:r>
            <a:endParaRPr sz="1600">
              <a:solidFill>
                <a:schemeClr val="dk1"/>
              </a:solidFill>
              <a:highlight>
                <a:schemeClr val="lt1"/>
              </a:highlight>
            </a:endParaRPr>
          </a:p>
          <a:p>
            <a:pPr indent="0" lvl="0" marL="457200" rtl="0" algn="l">
              <a:lnSpc>
                <a:spcPct val="150000"/>
              </a:lnSpc>
              <a:spcBef>
                <a:spcPts val="0"/>
              </a:spcBef>
              <a:spcAft>
                <a:spcPts val="0"/>
              </a:spcAft>
              <a:buSzPts val="1800"/>
              <a:buNone/>
            </a:pPr>
            <a:br>
              <a:rPr lang="en-IN" sz="1600">
                <a:solidFill>
                  <a:schemeClr val="dk1"/>
                </a:solidFill>
              </a:rPr>
            </a:br>
            <a:endParaRPr sz="1600">
              <a:solidFill>
                <a:schemeClr val="dk1"/>
              </a:solidFill>
            </a:endParaRPr>
          </a:p>
        </p:txBody>
      </p:sp>
      <p:sp>
        <p:nvSpPr>
          <p:cNvPr id="205" name="Google Shape;205;g3215a255e14_0_66"/>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a:t>
            </a:r>
            <a:r>
              <a:rPr b="1" lang="en-IN" sz="2000">
                <a:solidFill>
                  <a:srgbClr val="8182EF"/>
                </a:solidFill>
                <a:latin typeface="Roboto"/>
                <a:ea typeface="Roboto"/>
                <a:cs typeface="Roboto"/>
                <a:sym typeface="Roboto"/>
              </a:rPr>
              <a:t>9</a:t>
            </a:r>
            <a:endParaRPr b="1" i="0" sz="2000" u="none" cap="none" strike="noStrike">
              <a:solidFill>
                <a:srgbClr val="8182EF"/>
              </a:solidFill>
              <a:latin typeface="Roboto"/>
              <a:ea typeface="Roboto"/>
              <a:cs typeface="Roboto"/>
              <a:sym typeface="Roboto"/>
            </a:endParaRPr>
          </a:p>
        </p:txBody>
      </p:sp>
      <p:sp>
        <p:nvSpPr>
          <p:cNvPr id="206" name="Google Shape;206;g3215a255e14_0_6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B</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 calcmode="lin" valueType="num">
                                      <p:cBhvr additive="base">
                                        <p:cTn dur="500"/>
                                        <p:tgtEl>
                                          <p:spTgt spid="2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 calcmode="lin" valueType="num">
                                      <p:cBhvr additive="base">
                                        <p:cTn dur="500"/>
                                        <p:tgtEl>
                                          <p:spTgt spid="20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 calcmode="lin" valueType="num">
                                      <p:cBhvr additive="base">
                                        <p:cTn dur="500"/>
                                        <p:tgtEl>
                                          <p:spTgt spid="2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 calcmode="lin" valueType="num">
                                      <p:cBhvr additive="base">
                                        <p:cTn dur="500"/>
                                        <p:tgtEl>
                                          <p:spTgt spid="20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 calcmode="lin" valueType="num">
                                      <p:cBhvr additive="base">
                                        <p:cTn dur="500"/>
                                        <p:tgtEl>
                                          <p:spTgt spid="20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 calcmode="lin" valueType="num">
                                      <p:cBhvr additive="base">
                                        <p:cTn dur="500"/>
                                        <p:tgtEl>
                                          <p:spTgt spid="20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anim calcmode="lin" valueType="num">
                                      <p:cBhvr additive="base">
                                        <p:cTn dur="500"/>
                                        <p:tgtEl>
                                          <p:spTgt spid="20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g3215a255e14_0_13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Increase in 10 years = (262500 - 175000) = 87500.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Increase% = ((87500./ 175000)*100)% = 50%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Required average = (50/10)% = 5 % </a:t>
            </a:r>
            <a:endParaRPr sz="1400">
              <a:solidFill>
                <a:schemeClr val="dk1"/>
              </a:solidFill>
              <a:highlight>
                <a:schemeClr val="lt1"/>
              </a:highlight>
              <a:latin typeface="Arial"/>
              <a:ea typeface="Arial"/>
              <a:cs typeface="Arial"/>
              <a:sym typeface="Arial"/>
            </a:endParaRPr>
          </a:p>
        </p:txBody>
      </p:sp>
      <p:sp>
        <p:nvSpPr>
          <p:cNvPr id="212" name="Google Shape;212;g3215a255e14_0_13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215a255e14_0_72"/>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Abhishek secures 42% of the total marks in an exam and gets 29 marks more than the pass mark. Anirban secures 29% of the total marks in the same exam and fails by 23 marks. What is the pass mark as a percentage of the total marks?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28%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32.25%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34.75%  </a:t>
            </a:r>
            <a:endParaRPr sz="1600">
              <a:solidFill>
                <a:schemeClr val="dk1"/>
              </a:solidFill>
              <a:highlight>
                <a:schemeClr val="lt1"/>
              </a:highlight>
            </a:endParaRPr>
          </a:p>
          <a:p>
            <a:pPr indent="0" lvl="0" marL="0" rtl="0" algn="l">
              <a:lnSpc>
                <a:spcPct val="150000"/>
              </a:lnSpc>
              <a:spcBef>
                <a:spcPts val="0"/>
              </a:spcBef>
              <a:spcAft>
                <a:spcPts val="0"/>
              </a:spcAft>
              <a:buSzPts val="1800"/>
              <a:buNone/>
            </a:pPr>
            <a:r>
              <a:rPr lang="en-IN" sz="1600">
                <a:solidFill>
                  <a:schemeClr val="dk1"/>
                </a:solidFill>
                <a:highlight>
                  <a:schemeClr val="lt1"/>
                </a:highlight>
              </a:rPr>
              <a:t>D. 35% </a:t>
            </a:r>
            <a:br>
              <a:rPr lang="en-IN" sz="1600">
                <a:solidFill>
                  <a:schemeClr val="dk1"/>
                </a:solidFill>
              </a:rPr>
            </a:br>
            <a:endParaRPr sz="1600">
              <a:solidFill>
                <a:schemeClr val="dk1"/>
              </a:solidFill>
            </a:endParaRPr>
          </a:p>
        </p:txBody>
      </p:sp>
      <p:sp>
        <p:nvSpPr>
          <p:cNvPr id="218" name="Google Shape;218;g3215a255e14_0_7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a:t>
            </a:r>
            <a:r>
              <a:rPr b="1" lang="en-IN" sz="2000">
                <a:solidFill>
                  <a:srgbClr val="8182EF"/>
                </a:solidFill>
                <a:latin typeface="Roboto"/>
                <a:ea typeface="Roboto"/>
                <a:cs typeface="Roboto"/>
                <a:sym typeface="Roboto"/>
              </a:rPr>
              <a:t>10</a:t>
            </a:r>
            <a:endParaRPr b="1" i="0" sz="2000" u="none" cap="none" strike="noStrike">
              <a:solidFill>
                <a:srgbClr val="8182EF"/>
              </a:solidFill>
              <a:latin typeface="Roboto"/>
              <a:ea typeface="Roboto"/>
              <a:cs typeface="Roboto"/>
              <a:sym typeface="Roboto"/>
            </a:endParaRPr>
          </a:p>
        </p:txBody>
      </p:sp>
      <p:sp>
        <p:nvSpPr>
          <p:cNvPr id="219" name="Google Shape;219;g3215a255e14_0_7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C</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 calcmode="lin" valueType="num">
                                      <p:cBhvr additive="base">
                                        <p:cTn dur="500"/>
                                        <p:tgtEl>
                                          <p:spTgt spid="2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 calcmode="lin" valueType="num">
                                      <p:cBhvr additive="base">
                                        <p:cTn dur="500"/>
                                        <p:tgtEl>
                                          <p:spTgt spid="2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 calcmode="lin" valueType="num">
                                      <p:cBhvr additive="base">
                                        <p:cTn dur="500"/>
                                        <p:tgtEl>
                                          <p:spTgt spid="21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 calcmode="lin" valueType="num">
                                      <p:cBhvr additive="base">
                                        <p:cTn dur="500"/>
                                        <p:tgtEl>
                                          <p:spTgt spid="21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 calcmode="lin" valueType="num">
                                      <p:cBhvr additive="base">
                                        <p:cTn dur="500"/>
                                        <p:tgtEl>
                                          <p:spTgt spid="21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 calcmode="lin" valueType="num">
                                      <p:cBhvr additive="base">
                                        <p:cTn dur="500"/>
                                        <p:tgtEl>
                                          <p:spTgt spid="21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g3215a255e14_0_14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Let x be total marks in exam.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Passing marks = 0.42x – 29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Also, passing marks = 0.29x + 23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0.42x – 29 = 0.29x + 23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0.13x = 52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x = 400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Passing marks =  0.42x – 29 = 0.42(400) – 29 = 139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Pass marks as a percentage of total marks = 139/400 =34.75% </a:t>
            </a:r>
            <a:endParaRPr sz="1400">
              <a:solidFill>
                <a:schemeClr val="dk1"/>
              </a:solidFill>
              <a:highlight>
                <a:schemeClr val="lt1"/>
              </a:highlight>
              <a:latin typeface="Arial"/>
              <a:ea typeface="Arial"/>
              <a:cs typeface="Arial"/>
              <a:sym typeface="Arial"/>
            </a:endParaRPr>
          </a:p>
        </p:txBody>
      </p:sp>
      <p:sp>
        <p:nvSpPr>
          <p:cNvPr id="225" name="Google Shape;225;g3215a255e14_0_14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215a255e14_0_78"/>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Sharma’s tutorial center was started in the year 2004.  Every year a certain number of students enroll for class XII tutorials. This number increased by 20% every year. If the number of students in the year 2008 is 576 more than the number of students in the year 2007, how many students enrolled in the year 2005?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2000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2160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2340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2400</a:t>
            </a:r>
            <a:endParaRPr sz="1600">
              <a:solidFill>
                <a:schemeClr val="dk1"/>
              </a:solidFill>
              <a:highlight>
                <a:schemeClr val="lt1"/>
              </a:highlight>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31" name="Google Shape;231;g3215a255e14_0_78"/>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a:t>
            </a:r>
            <a:r>
              <a:rPr b="1" lang="en-IN" sz="2000">
                <a:solidFill>
                  <a:srgbClr val="8182EF"/>
                </a:solidFill>
                <a:latin typeface="Roboto"/>
                <a:ea typeface="Roboto"/>
                <a:cs typeface="Roboto"/>
                <a:sym typeface="Roboto"/>
              </a:rPr>
              <a:t>11</a:t>
            </a:r>
            <a:endParaRPr b="1" i="0" sz="2000" u="none" cap="none" strike="noStrike">
              <a:solidFill>
                <a:srgbClr val="8182EF"/>
              </a:solidFill>
              <a:latin typeface="Roboto"/>
              <a:ea typeface="Roboto"/>
              <a:cs typeface="Roboto"/>
              <a:sym typeface="Roboto"/>
            </a:endParaRPr>
          </a:p>
        </p:txBody>
      </p:sp>
      <p:sp>
        <p:nvSpPr>
          <p:cNvPr id="232" name="Google Shape;232;g3215a255e14_0_7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 calcmode="lin" valueType="num">
                                      <p:cBhvr additive="base">
                                        <p:cTn dur="500"/>
                                        <p:tgtEl>
                                          <p:spTgt spid="23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 calcmode="lin" valueType="num">
                                      <p:cBhvr additive="base">
                                        <p:cTn dur="500"/>
                                        <p:tgtEl>
                                          <p:spTgt spid="23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 calcmode="lin" valueType="num">
                                      <p:cBhvr additive="base">
                                        <p:cTn dur="500"/>
                                        <p:tgtEl>
                                          <p:spTgt spid="23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 calcmode="lin" valueType="num">
                                      <p:cBhvr additive="base">
                                        <p:cTn dur="500"/>
                                        <p:tgtEl>
                                          <p:spTgt spid="23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 calcmode="lin" valueType="num">
                                      <p:cBhvr additive="base">
                                        <p:cTn dur="500"/>
                                        <p:tgtEl>
                                          <p:spTgt spid="23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 calcmode="lin" valueType="num">
                                      <p:cBhvr additive="base">
                                        <p:cTn dur="500"/>
                                        <p:tgtEl>
                                          <p:spTgt spid="23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anim calcmode="lin" valueType="num">
                                      <p:cBhvr additive="base">
                                        <p:cTn dur="500"/>
                                        <p:tgtEl>
                                          <p:spTgt spid="23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7" st="7"/>
                                            </p:txEl>
                                          </p:spTgt>
                                        </p:tgtEl>
                                        <p:attrNameLst>
                                          <p:attrName>style.visibility</p:attrName>
                                        </p:attrNameLst>
                                      </p:cBhvr>
                                      <p:to>
                                        <p:strVal val="visible"/>
                                      </p:to>
                                    </p:set>
                                    <p:anim calcmode="lin" valueType="num">
                                      <p:cBhvr additive="base">
                                        <p:cTn dur="500"/>
                                        <p:tgtEl>
                                          <p:spTgt spid="23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g3215a255e14_0_14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 Let the number of students who enrolled in 2005 be x</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 So in subsequent years it will be 1.2 x for 2006,</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 1.44x  for 2007 and 1.728x for 2008.</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 1.728x – 1.44x = 576</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 ⇒ 0.288 x = 576</a:t>
            </a:r>
            <a:endParaRPr sz="1600">
              <a:solidFill>
                <a:schemeClr val="dk1"/>
              </a:solidFill>
              <a:highlight>
                <a:schemeClr val="lt1"/>
              </a:highlight>
            </a:endParaRPr>
          </a:p>
          <a:p>
            <a:pPr indent="0" lvl="0" marL="0" rtl="0" algn="l">
              <a:lnSpc>
                <a:spcPct val="100000"/>
              </a:lnSpc>
              <a:spcBef>
                <a:spcPts val="800"/>
              </a:spcBef>
              <a:spcAft>
                <a:spcPts val="800"/>
              </a:spcAft>
              <a:buClr>
                <a:schemeClr val="dk1"/>
              </a:buClr>
              <a:buSzPts val="1400"/>
              <a:buFont typeface="Arial"/>
              <a:buNone/>
            </a:pPr>
            <a:r>
              <a:rPr lang="en-IN" sz="1600">
                <a:solidFill>
                  <a:schemeClr val="dk1"/>
                </a:solidFill>
                <a:highlight>
                  <a:schemeClr val="lt1"/>
                </a:highlight>
              </a:rPr>
              <a:t> ⇒ x = 2000</a:t>
            </a:r>
            <a:endParaRPr sz="1600">
              <a:solidFill>
                <a:schemeClr val="dk1"/>
              </a:solidFill>
              <a:highlight>
                <a:schemeClr val="lt1"/>
              </a:highlight>
            </a:endParaRPr>
          </a:p>
        </p:txBody>
      </p:sp>
      <p:sp>
        <p:nvSpPr>
          <p:cNvPr id="238" name="Google Shape;238;g3215a255e14_0_14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215a255e14_0_84"/>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The success rate of the Indian cricket team in Australia was 25% from 60 matches. If 54 matches were played since then, how many more matches would India have lost if its overall success rate is 50%?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12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14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18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22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44" name="Google Shape;244;g3215a255e14_0_84"/>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a:t>
            </a:r>
            <a:r>
              <a:rPr b="1" lang="en-IN" sz="2000">
                <a:solidFill>
                  <a:srgbClr val="8182EF"/>
                </a:solidFill>
                <a:latin typeface="Roboto"/>
                <a:ea typeface="Roboto"/>
                <a:cs typeface="Roboto"/>
                <a:sym typeface="Roboto"/>
              </a:rPr>
              <a:t>12</a:t>
            </a:r>
            <a:endParaRPr b="1" i="0" sz="2000" u="none" cap="none" strike="noStrike">
              <a:solidFill>
                <a:srgbClr val="8182EF"/>
              </a:solidFill>
              <a:latin typeface="Roboto"/>
              <a:ea typeface="Roboto"/>
              <a:cs typeface="Roboto"/>
              <a:sym typeface="Roboto"/>
            </a:endParaRPr>
          </a:p>
        </p:txBody>
      </p:sp>
      <p:sp>
        <p:nvSpPr>
          <p:cNvPr id="245" name="Google Shape;245;g3215a255e14_0_8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 calcmode="lin" valueType="num">
                                      <p:cBhvr additive="base">
                                        <p:cTn dur="500"/>
                                        <p:tgtEl>
                                          <p:spTgt spid="2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 calcmode="lin" valueType="num">
                                      <p:cBhvr additive="base">
                                        <p:cTn dur="500"/>
                                        <p:tgtEl>
                                          <p:spTgt spid="2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 calcmode="lin" valueType="num">
                                      <p:cBhvr additive="base">
                                        <p:cTn dur="500"/>
                                        <p:tgtEl>
                                          <p:spTgt spid="2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 calcmode="lin" valueType="num">
                                      <p:cBhvr additive="base">
                                        <p:cTn dur="500"/>
                                        <p:tgtEl>
                                          <p:spTgt spid="2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 calcmode="lin" valueType="num">
                                      <p:cBhvr additive="base">
                                        <p:cTn dur="500"/>
                                        <p:tgtEl>
                                          <p:spTgt spid="24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anim calcmode="lin" valueType="num">
                                      <p:cBhvr additive="base">
                                        <p:cTn dur="500"/>
                                        <p:tgtEl>
                                          <p:spTgt spid="24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6" st="6"/>
                                            </p:txEl>
                                          </p:spTgt>
                                        </p:tgtEl>
                                        <p:attrNameLst>
                                          <p:attrName>style.visibility</p:attrName>
                                        </p:attrNameLst>
                                      </p:cBhvr>
                                      <p:to>
                                        <p:strVal val="visible"/>
                                      </p:to>
                                    </p:set>
                                    <p:anim calcmode="lin" valueType="num">
                                      <p:cBhvr additive="base">
                                        <p:cTn dur="500"/>
                                        <p:tgtEl>
                                          <p:spTgt spid="24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g3215a255e14_0_15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rPr>
              <a:t>From first 60 matches, India won 25% = 15 Wins. </a:t>
            </a:r>
            <a:endParaRPr sz="1600">
              <a:solidFill>
                <a:schemeClr val="dk1"/>
              </a:solidFill>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rPr>
              <a:t>For total 114 matches, </a:t>
            </a:r>
            <a:endParaRPr sz="1600">
              <a:solidFill>
                <a:schemeClr val="dk1"/>
              </a:solidFill>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rPr>
              <a:t>India won 50% = 57 Wins So in 54 matches, </a:t>
            </a:r>
            <a:endParaRPr sz="1600">
              <a:solidFill>
                <a:schemeClr val="dk1"/>
              </a:solidFill>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rPr>
              <a:t>India won 57 – 15 = 42 matches. </a:t>
            </a:r>
            <a:endParaRPr sz="1600">
              <a:solidFill>
                <a:schemeClr val="dk1"/>
              </a:solidFill>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rPr>
              <a:t>So, India lost 54 – 42 = 12 matches out of 54 matches. </a:t>
            </a:r>
            <a:endParaRPr sz="1600">
              <a:solidFill>
                <a:schemeClr val="dk1"/>
              </a:solidFill>
            </a:endParaRPr>
          </a:p>
          <a:p>
            <a:pPr indent="0" lvl="0" marL="0" rtl="0" algn="l">
              <a:lnSpc>
                <a:spcPct val="100000"/>
              </a:lnSpc>
              <a:spcBef>
                <a:spcPts val="800"/>
              </a:spcBef>
              <a:spcAft>
                <a:spcPts val="0"/>
              </a:spcAft>
              <a:buNone/>
            </a:pPr>
            <a:r>
              <a:t/>
            </a:r>
            <a:endParaRPr sz="1600">
              <a:solidFill>
                <a:schemeClr val="dk1"/>
              </a:solidFill>
              <a:highlight>
                <a:schemeClr val="lt1"/>
              </a:highlight>
            </a:endParaRPr>
          </a:p>
        </p:txBody>
      </p:sp>
      <p:sp>
        <p:nvSpPr>
          <p:cNvPr id="251" name="Google Shape;251;g3215a255e14_0_15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215a255e14_0_90"/>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The price of an LED TV has been decreasing every year by a constant percentage over the last 4 years. If the cost of the LED TV was Rs. 150000, 4 years ago and it costs Rs. 98415 now, then find the annual rate of decrease.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8%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9%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10%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15%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57" name="Google Shape;257;g3215a255e14_0_9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a:t>
            </a:r>
            <a:r>
              <a:rPr b="1" lang="en-IN" sz="2000">
                <a:solidFill>
                  <a:srgbClr val="8182EF"/>
                </a:solidFill>
                <a:latin typeface="Roboto"/>
                <a:ea typeface="Roboto"/>
                <a:cs typeface="Roboto"/>
                <a:sym typeface="Roboto"/>
              </a:rPr>
              <a:t>13</a:t>
            </a:r>
            <a:endParaRPr b="1" i="0" sz="2000" u="none" cap="none" strike="noStrike">
              <a:solidFill>
                <a:srgbClr val="8182EF"/>
              </a:solidFill>
              <a:latin typeface="Roboto"/>
              <a:ea typeface="Roboto"/>
              <a:cs typeface="Roboto"/>
              <a:sym typeface="Roboto"/>
            </a:endParaRPr>
          </a:p>
        </p:txBody>
      </p:sp>
      <p:sp>
        <p:nvSpPr>
          <p:cNvPr id="258" name="Google Shape;258;g3215a255e14_0_9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i="0" lang="en-IN" sz="1400" u="none" cap="none" strike="noStrike">
                <a:solidFill>
                  <a:srgbClr val="000000"/>
                </a:solidFill>
                <a:latin typeface="Arial"/>
                <a:ea typeface="Arial"/>
                <a:cs typeface="Arial"/>
                <a:sym typeface="Arial"/>
              </a:rPr>
              <a:t>:</a:t>
            </a:r>
            <a:r>
              <a:rPr b="1" lang="en-IN"/>
              <a:t>C</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 calcmode="lin" valueType="num">
                                      <p:cBhvr additive="base">
                                        <p:cTn dur="500"/>
                                        <p:tgtEl>
                                          <p:spTgt spid="25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 calcmode="lin" valueType="num">
                                      <p:cBhvr additive="base">
                                        <p:cTn dur="500"/>
                                        <p:tgtEl>
                                          <p:spTgt spid="25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 calcmode="lin" valueType="num">
                                      <p:cBhvr additive="base">
                                        <p:cTn dur="500"/>
                                        <p:tgtEl>
                                          <p:spTgt spid="25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 calcmode="lin" valueType="num">
                                      <p:cBhvr additive="base">
                                        <p:cTn dur="500"/>
                                        <p:tgtEl>
                                          <p:spTgt spid="25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 calcmode="lin" valueType="num">
                                      <p:cBhvr additive="base">
                                        <p:cTn dur="500"/>
                                        <p:tgtEl>
                                          <p:spTgt spid="25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 calcmode="lin" valueType="num">
                                      <p:cBhvr additive="base">
                                        <p:cTn dur="500"/>
                                        <p:tgtEl>
                                          <p:spTgt spid="25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anim calcmode="lin" valueType="num">
                                      <p:cBhvr additive="base">
                                        <p:cTn dur="500"/>
                                        <p:tgtEl>
                                          <p:spTgt spid="25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g3215a255e14_0_157"/>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Average value for  Actual / Original =  √98415/150000 =  0.9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Hence the value will be decrease by 10% every year.</a:t>
            </a:r>
            <a:endParaRPr sz="1400">
              <a:solidFill>
                <a:schemeClr val="dk1"/>
              </a:solidFill>
              <a:highlight>
                <a:schemeClr val="lt1"/>
              </a:highlight>
              <a:latin typeface="Arial"/>
              <a:ea typeface="Arial"/>
              <a:cs typeface="Arial"/>
              <a:sym typeface="Arial"/>
            </a:endParaRPr>
          </a:p>
        </p:txBody>
      </p:sp>
      <p:sp>
        <p:nvSpPr>
          <p:cNvPr id="264" name="Google Shape;264;g3215a255e14_0_15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215a255e14_0_96"/>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If the area of a rectangle is increased by 56% and its breadth is increased by 20%, what is the percentage increase in its perimeter?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20%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24%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30%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Indeterminate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70" name="Google Shape;270;g3215a255e14_0_96"/>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a:t>
            </a:r>
            <a:r>
              <a:rPr b="1" lang="en-IN" sz="2000">
                <a:solidFill>
                  <a:srgbClr val="8182EF"/>
                </a:solidFill>
                <a:latin typeface="Roboto"/>
                <a:ea typeface="Roboto"/>
                <a:cs typeface="Roboto"/>
                <a:sym typeface="Roboto"/>
              </a:rPr>
              <a:t>14</a:t>
            </a:r>
            <a:endParaRPr b="1" i="0" sz="2000" u="none" cap="none" strike="noStrike">
              <a:solidFill>
                <a:srgbClr val="8182EF"/>
              </a:solidFill>
              <a:latin typeface="Roboto"/>
              <a:ea typeface="Roboto"/>
              <a:cs typeface="Roboto"/>
              <a:sym typeface="Roboto"/>
            </a:endParaRPr>
          </a:p>
        </p:txBody>
      </p:sp>
      <p:sp>
        <p:nvSpPr>
          <p:cNvPr id="271" name="Google Shape;271;g3215a255e14_0_9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D</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 calcmode="lin" valueType="num">
                                      <p:cBhvr additive="base">
                                        <p:cTn dur="500"/>
                                        <p:tgtEl>
                                          <p:spTgt spid="2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 calcmode="lin" valueType="num">
                                      <p:cBhvr additive="base">
                                        <p:cTn dur="500"/>
                                        <p:tgtEl>
                                          <p:spTgt spid="2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 calcmode="lin" valueType="num">
                                      <p:cBhvr additive="base">
                                        <p:cTn dur="500"/>
                                        <p:tgtEl>
                                          <p:spTgt spid="2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 calcmode="lin" valueType="num">
                                      <p:cBhvr additive="base">
                                        <p:cTn dur="500"/>
                                        <p:tgtEl>
                                          <p:spTgt spid="2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 calcmode="lin" valueType="num">
                                      <p:cBhvr additive="base">
                                        <p:cTn dur="500"/>
                                        <p:tgtEl>
                                          <p:spTgt spid="26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 calcmode="lin" valueType="num">
                                      <p:cBhvr additive="base">
                                        <p:cTn dur="500"/>
                                        <p:tgtEl>
                                          <p:spTgt spid="26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xEl>
                                              <p:pRg end="6" st="6"/>
                                            </p:txEl>
                                          </p:spTgt>
                                        </p:tgtEl>
                                        <p:attrNameLst>
                                          <p:attrName>style.visibility</p:attrName>
                                        </p:attrNameLst>
                                      </p:cBhvr>
                                      <p:to>
                                        <p:strVal val="visible"/>
                                      </p:to>
                                    </p:set>
                                    <p:anim calcmode="lin" valueType="num">
                                      <p:cBhvr additive="base">
                                        <p:cTn dur="500"/>
                                        <p:tgtEl>
                                          <p:spTgt spid="26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g3215a255e14_0_162"/>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 Let L, B and A be length, breadth and Area of the rectangle.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Also let L’, B’ and A’ be the new length, breadth and area of rectangle.</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A’ = 1.56 A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B’ = 1.2 B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L’ = A’/B’ = (1.56/ 1.2) * A/B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 L’ = 1.3 L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So new perimeter = 2 L’ + 2B’ = 2.6 L + 2.4 B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And old perimeter = 2L + 2B</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latin typeface="Arial"/>
                <a:ea typeface="Arial"/>
                <a:cs typeface="Arial"/>
                <a:sym typeface="Arial"/>
              </a:rPr>
              <a:t>Increase in perimeter = 0.6 L + 0.4 B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IN" sz="1400">
                <a:solidFill>
                  <a:schemeClr val="dk1"/>
                </a:solidFill>
                <a:latin typeface="Arial"/>
                <a:ea typeface="Arial"/>
                <a:cs typeface="Arial"/>
                <a:sym typeface="Arial"/>
              </a:rPr>
              <a:t>% Change in perimeter = (0.6L+0.4B)/(2L+2B)</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IN" sz="1400">
                <a:solidFill>
                  <a:schemeClr val="dk1"/>
                </a:solidFill>
                <a:latin typeface="Arial"/>
                <a:ea typeface="Arial"/>
                <a:cs typeface="Arial"/>
                <a:sym typeface="Arial"/>
              </a:rPr>
              <a:t> This will vary depending on values of L &amp; B which are both unknown.</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IN" sz="1400">
                <a:solidFill>
                  <a:schemeClr val="dk1"/>
                </a:solidFill>
                <a:latin typeface="Arial"/>
                <a:ea typeface="Arial"/>
                <a:cs typeface="Arial"/>
                <a:sym typeface="Arial"/>
              </a:rPr>
              <a:t> Hence this is indeterminate. </a:t>
            </a:r>
            <a:endParaRPr sz="1400">
              <a:solidFill>
                <a:schemeClr val="dk1"/>
              </a:solidFill>
              <a:highlight>
                <a:schemeClr val="lt1"/>
              </a:highlight>
              <a:latin typeface="Arial"/>
              <a:ea typeface="Arial"/>
              <a:cs typeface="Arial"/>
              <a:sym typeface="Arial"/>
            </a:endParaRPr>
          </a:p>
        </p:txBody>
      </p:sp>
      <p:sp>
        <p:nvSpPr>
          <p:cNvPr id="277" name="Google Shape;277;g3215a255e14_0_16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215a255e14_0_173"/>
          <p:cNvSpPr txBox="1"/>
          <p:nvPr>
            <p:ph idx="1" type="body"/>
          </p:nvPr>
        </p:nvSpPr>
        <p:spPr>
          <a:xfrm>
            <a:off x="262788" y="1058995"/>
            <a:ext cx="8517000" cy="4407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600">
                <a:solidFill>
                  <a:schemeClr val="dk1"/>
                </a:solidFill>
                <a:highlight>
                  <a:schemeClr val="lt1"/>
                </a:highlight>
              </a:rPr>
              <a:t>Rocket Singh is a salesman and has to choose between two schemes of remuneration. Scheme I has a fixed salary of Rs. 3700 and a commission of 2% on sales above Rs. 50000. Scheme II has no fixed salary, but offers 3% commission on the sales up to Rs. 50000 and increases at a rate of 1 percentage point for every increase of Rs. 50000 of sales up to a maximum of 20% of sales. What is the minimum value of the sales (in Rs.) above which he can prefer Scheme II?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A. 50000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B. 89000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C. 140000  </a:t>
            </a:r>
            <a:endParaRPr sz="1600">
              <a:solidFill>
                <a:schemeClr val="dk1"/>
              </a:solidFill>
              <a:highlight>
                <a:schemeClr val="lt1"/>
              </a:highlight>
            </a:endParaRPr>
          </a:p>
          <a:p>
            <a:pPr indent="0" lvl="0" marL="0" rtl="0" algn="l">
              <a:lnSpc>
                <a:spcPct val="100000"/>
              </a:lnSpc>
              <a:spcBef>
                <a:spcPts val="800"/>
              </a:spcBef>
              <a:spcAft>
                <a:spcPts val="0"/>
              </a:spcAft>
              <a:buClr>
                <a:schemeClr val="dk1"/>
              </a:buClr>
              <a:buSzPts val="1400"/>
              <a:buFont typeface="Arial"/>
              <a:buNone/>
            </a:pPr>
            <a:r>
              <a:rPr lang="en-IN" sz="1600">
                <a:solidFill>
                  <a:schemeClr val="dk1"/>
                </a:solidFill>
                <a:highlight>
                  <a:schemeClr val="lt1"/>
                </a:highlight>
              </a:rPr>
              <a:t>D. No such sales value exists. </a:t>
            </a:r>
            <a:endParaRPr sz="1600">
              <a:solidFill>
                <a:schemeClr val="dk1"/>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83" name="Google Shape;283;g3215a255e14_0_173"/>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a:t>
            </a:r>
            <a:r>
              <a:rPr b="1" lang="en-IN"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
        <p:nvSpPr>
          <p:cNvPr id="284" name="Google Shape;284;g3215a255e14_0_173"/>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a:t>
            </a:r>
            <a:r>
              <a:rPr b="1" lang="en-IN"/>
              <a:t>C</a:t>
            </a:r>
            <a:r>
              <a:rPr b="1" i="0" lang="en-I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 calcmode="lin" valueType="num">
                                      <p:cBhvr additive="base">
                                        <p:cTn dur="500"/>
                                        <p:tgtEl>
                                          <p:spTgt spid="2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 calcmode="lin" valueType="num">
                                      <p:cBhvr additive="base">
                                        <p:cTn dur="500"/>
                                        <p:tgtEl>
                                          <p:spTgt spid="28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 calcmode="lin" valueType="num">
                                      <p:cBhvr additive="base">
                                        <p:cTn dur="500"/>
                                        <p:tgtEl>
                                          <p:spTgt spid="28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 calcmode="lin" valueType="num">
                                      <p:cBhvr additive="base">
                                        <p:cTn dur="500"/>
                                        <p:tgtEl>
                                          <p:spTgt spid="28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anim calcmode="lin" valueType="num">
                                      <p:cBhvr additive="base">
                                        <p:cTn dur="500"/>
                                        <p:tgtEl>
                                          <p:spTgt spid="28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5" st="5"/>
                                            </p:txEl>
                                          </p:spTgt>
                                        </p:tgtEl>
                                        <p:attrNameLst>
                                          <p:attrName>style.visibility</p:attrName>
                                        </p:attrNameLst>
                                      </p:cBhvr>
                                      <p:to>
                                        <p:strVal val="visible"/>
                                      </p:to>
                                    </p:set>
                                    <p:anim calcmode="lin" valueType="num">
                                      <p:cBhvr additive="base">
                                        <p:cTn dur="500"/>
                                        <p:tgtEl>
                                          <p:spTgt spid="2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2">
                                            <p:txEl>
                                              <p:pRg end="6" st="6"/>
                                            </p:txEl>
                                          </p:spTgt>
                                        </p:tgtEl>
                                        <p:attrNameLst>
                                          <p:attrName>style.visibility</p:attrName>
                                        </p:attrNameLst>
                                      </p:cBhvr>
                                      <p:to>
                                        <p:strVal val="visible"/>
                                      </p:to>
                                    </p:set>
                                    <p:anim calcmode="lin" valueType="num">
                                      <p:cBhvr additive="base">
                                        <p:cTn dur="500"/>
                                        <p:tgtEl>
                                          <p:spTgt spid="28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g3215a255e14_0_168"/>
          <p:cNvSpPr txBox="1"/>
          <p:nvPr>
            <p:ph idx="1" type="body"/>
          </p:nvPr>
        </p:nvSpPr>
        <p:spPr>
          <a:xfrm>
            <a:off x="415200" y="11352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Let x be minimum salary at which he can start  preferring Scheme II.</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in scheme I his remuneration = 3700 + 0.02(x – 50,000)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Obviously the breakeven will happen in 3rd slab.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So, in scheme II his remuneration</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0.03(50,000) +  0.04(50,000) + 0.05(x – 100,000) 3700 + 0.02(x – 50,000)</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0.03(50,000) + 0.04(50,000) + 0.05(x – 100,000) ⇒ 3700 -1000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0.03x + 1500 + 2000 -5000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0.03 x = 4200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x = 4200/0.03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en-IN" sz="1400">
                <a:solidFill>
                  <a:schemeClr val="dk1"/>
                </a:solidFill>
                <a:highlight>
                  <a:schemeClr val="lt1"/>
                </a:highlight>
                <a:latin typeface="Arial"/>
                <a:ea typeface="Arial"/>
                <a:cs typeface="Arial"/>
                <a:sym typeface="Arial"/>
              </a:rPr>
              <a:t>⇒ x = 140,000 </a:t>
            </a:r>
            <a:endParaRPr sz="1400">
              <a:solidFill>
                <a:schemeClr val="dk1"/>
              </a:solidFill>
              <a:highlight>
                <a:schemeClr val="lt1"/>
              </a:highlight>
              <a:latin typeface="Arial"/>
              <a:ea typeface="Arial"/>
              <a:cs typeface="Arial"/>
              <a:sym typeface="Arial"/>
            </a:endParaRPr>
          </a:p>
          <a:p>
            <a:pPr indent="0" lvl="0" marL="0" rtl="0" algn="l">
              <a:lnSpc>
                <a:spcPct val="100000"/>
              </a:lnSpc>
              <a:spcBef>
                <a:spcPts val="0"/>
              </a:spcBef>
              <a:spcAft>
                <a:spcPts val="0"/>
              </a:spcAft>
              <a:buNone/>
            </a:pPr>
            <a:r>
              <a:t/>
            </a:r>
            <a:endParaRPr sz="1400">
              <a:solidFill>
                <a:schemeClr val="dk1"/>
              </a:solidFill>
              <a:latin typeface="Arial"/>
              <a:ea typeface="Arial"/>
              <a:cs typeface="Arial"/>
              <a:sym typeface="Arial"/>
            </a:endParaRPr>
          </a:p>
        </p:txBody>
      </p:sp>
      <p:sp>
        <p:nvSpPr>
          <p:cNvPr id="290" name="Google Shape;290;g3215a255e14_0_168"/>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n-IN" sz="2000">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6" name="Google Shape;296;p4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7" name="Google Shape;297;p4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03" name="Google Shape;303;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04" name="Google Shape;304;p4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5" name="Google Shape;305;p4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6" name="Google Shape;306;p4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7" name="Google Shape;307;p4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8" name="Google Shape;308;p4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9" name="Google Shape;309;p4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0" name="Google Shape;310;p4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11" name="Google Shape;311;p4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2" name="Google Shape;312;p4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13" name="Google Shape;313;p4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