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53">
          <p15:clr>
            <a:srgbClr val="FF0000"/>
          </p15:clr>
        </p15:guide>
        <p15:guide id="2" orient="horz" pos="904">
          <p15:clr>
            <a:srgbClr val="FF0000"/>
          </p15:clr>
        </p15:guide>
        <p15:guide id="3" orient="horz" pos="737">
          <p15:clr>
            <a:srgbClr val="00FF00"/>
          </p15:clr>
        </p15:guide>
        <p15:guide id="4" orient="horz" pos="397">
          <p15:clr>
            <a:srgbClr val="00FF00"/>
          </p15:clr>
        </p15:guide>
        <p15:guide id="5" pos="455">
          <p15:clr>
            <a:srgbClr val="FF00FF"/>
          </p15:clr>
        </p15:guide>
        <p15:guide id="6" pos="5270">
          <p15:clr>
            <a:srgbClr val="FF00FF"/>
          </p15:clr>
        </p15:guide>
      </p15:sldGuideLst>
    </p:ext>
    <p:ext uri="GoogleSlidesCustomDataVersion2">
      <go:slidesCustomData xmlns:go="http://customooxmlschemas.google.com/" r:id="rId45" roundtripDataSignature="AMtx7mhi/sbbfyw5sZC69Jce7Ou6XcjC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53" orient="horz"/>
        <p:guide pos="904" orient="horz"/>
        <p:guide pos="737" orient="horz"/>
        <p:guide pos="397" orient="horz"/>
        <p:guide pos="455"/>
        <p:guide pos="52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6.xml"/><Relationship Id="rId43" Type="http://schemas.openxmlformats.org/officeDocument/2006/relationships/font" Target="fonts/Robot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f4593350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g2f45933508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taken by A to cover 400 m = Distance/ Speed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400/16 s = 25 s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B covers (400 -16) = 384 m in(25 + 40) = 65 s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B's speed = 384/65 =5.9 m/s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8928c0b4a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78928c0b4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B runs 50 m, then A runs 45 m.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B runs 1000 m, then A runs (45/50) x 1000 m = 900 m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B beats A by 100 m.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Let the length of the train be x meter and its speed be y m/sec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Then, (x + 480 m) / 24 sec = y ....(i)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and , (x + 720 m) / 36 sec = y ....(ii)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From Eqs (i) and (ii)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(x + 480) / 24 = (x + 900) / 36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⇒ 3x + 1440 = 2x + 1800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∴ Length of train, x= 360m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8928c0b4a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278928c0b4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distance covered by B in 35 seconds = 200 x 35 / 38 = 3500 / 19 m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Now, 200 – 3500 / 19 = 300 / 19 = 15</a:t>
            </a:r>
            <a:r>
              <a:rPr baseline="30000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⁄</a:t>
            </a:r>
            <a:r>
              <a:rPr baseline="-25000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m Hence, A can beat B by 15</a:t>
            </a:r>
            <a:r>
              <a:rPr baseline="30000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⁄</a:t>
            </a:r>
            <a:r>
              <a:rPr baseline="-25000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m.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Let the required speed be y km/hr.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Then, ( 2 x 64 ) x [ y / (64 + y)] = 56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⇒ 128y = 64 x 56 + 56y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∴ y= (64 x 56 ) / 72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= 49.77 km/hr.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8928c0b4a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278928c0b4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 runs 600 m, then B runs 570 m.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 runs 400 m, B then runs (570/600) x 400 m = 380 m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B runs 500 m, then C runs 475 m,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B runs 380 m, then C runs (475/500) x 380 = 361 m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A beats C by (400 - 361) = 39 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78928c0b4a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278928c0b4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is 1</a:t>
            </a:r>
            <a:r>
              <a:rPr baseline="30000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aseline="-25000"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faster than B.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Then, ratio of the rates of A and B = 7 : 4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 m are gained in a race of 7 m .</a:t>
            </a:r>
            <a:b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30 m are gained in a race of (7/3) x 30 = 70 m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78928c0b4a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278928c0b4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:notes"/>
          <p:cNvSpPr/>
          <p:nvPr>
            <p:ph idx="2" type="sldImg"/>
          </p:nvPr>
        </p:nvSpPr>
        <p:spPr>
          <a:xfrm>
            <a:off x="685800" y="1143000"/>
            <a:ext cx="5484813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8:notes"/>
          <p:cNvSpPr txBox="1"/>
          <p:nvPr>
            <p:ph idx="1"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" name="Google Shape;2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31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" name="Google Shape;32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7" name="Google Shape;3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" name="Google Shape;40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43" name="Google Shape;4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9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39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39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39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3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rms.gle/tsCnEgRsEHspn4CA7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Relationship Id="rId4" Type="http://schemas.openxmlformats.org/officeDocument/2006/relationships/hyperlink" Target="https://learn.codemithra.com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45933508c_0_0"/>
          <p:cNvSpPr txBox="1"/>
          <p:nvPr>
            <p:ph idx="1" type="body"/>
          </p:nvPr>
        </p:nvSpPr>
        <p:spPr>
          <a:xfrm>
            <a:off x="729200" y="1384300"/>
            <a:ext cx="8086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b="1" lang="en-US" sz="160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https://forms.gle/tsCnEgRsEHspn4CA7</a:t>
            </a:r>
            <a:endParaRPr b="1" sz="1600">
              <a:solidFill>
                <a:srgbClr val="373737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rgbClr val="373737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QR CODE</a:t>
            </a: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rgbClr val="373737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				</a:t>
            </a:r>
            <a:endParaRPr b="1" sz="1600">
              <a:solidFill>
                <a:srgbClr val="373737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g2f45933508c_0_0"/>
          <p:cNvSpPr txBox="1"/>
          <p:nvPr/>
        </p:nvSpPr>
        <p:spPr>
          <a:xfrm>
            <a:off x="577325" y="622125"/>
            <a:ext cx="778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   TEST TIME ON WORK PROBLEMS ON BOATS AND STREAMS, 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ESCALATOR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g2f45933508c_0_0"/>
          <p:cNvSpPr txBox="1"/>
          <p:nvPr/>
        </p:nvSpPr>
        <p:spPr>
          <a:xfrm>
            <a:off x="5143500" y="944725"/>
            <a:ext cx="40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" name="Google Shape;64;g2f45933508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7575" y="2138750"/>
            <a:ext cx="2987475" cy="24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71" name="Google Shape;7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 txBox="1"/>
          <p:nvPr/>
        </p:nvSpPr>
        <p:spPr>
          <a:xfrm>
            <a:off x="425864" y="2052085"/>
            <a:ext cx="46908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PROBLEMS ON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RACES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/>
        </p:nvSpPr>
        <p:spPr>
          <a:xfrm>
            <a:off x="722375" y="1435600"/>
            <a:ext cx="80928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Raman covers 1 km in 8 min while suman covers the same distance in 10 min. By what distance does Raman beat Suman ?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150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65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190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200 m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/>
        </p:nvSpPr>
        <p:spPr>
          <a:xfrm>
            <a:off x="722375" y="1435600"/>
            <a:ext cx="8020200" cy="1708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Raman covers 1 km in 8 min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suman cover 1 km in 10 min.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they starts together, then distance covered by suman in 8 min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(1000/10) x 8 = 800 m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Raman will beat suman by (1000 - 800 ) m = 200 m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: 01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idx="1" type="body"/>
          </p:nvPr>
        </p:nvSpPr>
        <p:spPr>
          <a:xfrm>
            <a:off x="722375" y="1435600"/>
            <a:ext cx="8071800" cy="29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In a game of 100 points, A scores 100 points while B scores only 65 points. In this game, how much points can A give to B?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45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35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25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55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idx="1" type="body"/>
          </p:nvPr>
        </p:nvSpPr>
        <p:spPr>
          <a:xfrm>
            <a:off x="722375" y="1435600"/>
            <a:ext cx="8071800" cy="29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Score of A = 100 points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Score of B = 65 points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A can give (100 - 65 ) = 35 points to B.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746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722375" y="1435600"/>
            <a:ext cx="7644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a race, P gives Q a start of 25 m making length of race for Q a distance of 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175 m. Find the total length of race. ?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250 m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200 m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225 m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235 m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/>
        </p:nvSpPr>
        <p:spPr>
          <a:xfrm>
            <a:off x="0" y="203917"/>
            <a:ext cx="317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74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Explanation:</a:t>
            </a:r>
            <a:endParaRPr b="1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722374" y="1435599"/>
            <a:ext cx="799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Required length = (175 + 25)m = 200 m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/>
          <p:nvPr>
            <p:ph idx="1" type="body"/>
          </p:nvPr>
        </p:nvSpPr>
        <p:spPr>
          <a:xfrm>
            <a:off x="722375" y="1435600"/>
            <a:ext cx="8066400" cy="30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</a:rPr>
              <a:t>In a race of 300 meter, A beats B by 15 meter or 5 sec. A’s time over the course is: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100 seconds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95 seconds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105 seconds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90 seconds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6" name="Google Shape;116;p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722375" y="1435600"/>
            <a:ext cx="8109900" cy="31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15 meter is covered by B in 5 sec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300 meter is covered by B in 5 × 300/15 = 100 seconds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A takes 100 - 5 = 95 seconds.</a:t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22" name="Google Shape;122;p1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722375" y="1435600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 runs 19/8 times as fast as B. If A gives B a start of 120 m and they reach the goal at the same time, the goal is at a distance of: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360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440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460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380 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28" name="Google Shape;128;p1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idx="1" type="body"/>
          </p:nvPr>
        </p:nvSpPr>
        <p:spPr>
          <a:xfrm>
            <a:off x="722375" y="1435600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The speed of A and B are in the ratio 11 : 8.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Let, speeds be 11s and 8s (in m/sec).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Let, race be of P meter.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Then, time taken by A to run P meter is same as that of B to run (P - 120) meter.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P / 11 = (P - 120) / 8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P / 11 = (P - 120 / 8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8P = 11 x (P - 120 )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8P = 11P - 120 x 11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11P - 8P = 120 x 11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3P = 11 × 120</a:t>
            </a:r>
            <a:endParaRPr sz="1400">
              <a:solidFill>
                <a:schemeClr val="dk1"/>
              </a:solidFill>
            </a:endParaRPr>
          </a:p>
          <a:p>
            <a:pPr indent="-1900" lvl="0" marL="11620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>
                <a:solidFill>
                  <a:schemeClr val="dk1"/>
                </a:solidFill>
              </a:rPr>
              <a:t>∴ P = 440.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idx="1" type="body"/>
          </p:nvPr>
        </p:nvSpPr>
        <p:spPr>
          <a:xfrm>
            <a:off x="722375" y="1435600"/>
            <a:ext cx="81099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At a game of billiards, A can give B 6 points in 50 and he can give C 13 in 65. In a game of 55, number of points B can give C is: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4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5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8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idx="1" type="body"/>
          </p:nvPr>
        </p:nvSpPr>
        <p:spPr>
          <a:xfrm>
            <a:off x="722375" y="1435600"/>
            <a:ext cx="8109900" cy="26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In a game of 50.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While A scores 50, B scores 50 - 6 = 44 and in a game of 65. While A scores 65, C scores 65 - 13 = 52.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While A scores 50, C scores 52 / 65 × 50 = 40.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While B scores 44, C’s score = 40.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While B scores 55, C’s score = 40 / 44 × 55 = 50.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In a game of 55,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B can give C 55 - 50 = 5 points.</a:t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59055" lvl="0" marL="5905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06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722375" y="1435600"/>
            <a:ext cx="81099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In a 1000 m race A beats B by 100 m and C by 200 m. By how much can B beats C in a race of 1350 m?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125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130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140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150 m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722375" y="1435600"/>
            <a:ext cx="81099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If A run 1000 meters then B runs 900 meters and C runs 800 meters.</a:t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B runs 1350 meters while C will run 800 * 1350/ 900 = 1200 meters</a:t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Hence, B can beat C by (1350 – 1200) = 150 m</a:t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11430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722375" y="1435600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 can give B 50 m start and C 80 m start in the 1000 m race, how many metres start B give C in a 1000 m race?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31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31+11/19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31+2/19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30+11/19 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722375" y="1435600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In a game of 1000 meters, If A scores 1000 meters then B scores 950 meters and C scores 920 meters.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B runs 1000 m while C scores 920 x 1000 / 950= 18400 / 19 m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Hence, in 1000 m race, B can give C (1000 - 18400 / 19) = 600 / 19 = 3111⁄19 meters start.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/>
        </p:nvSpPr>
        <p:spPr>
          <a:xfrm>
            <a:off x="0" y="213069"/>
            <a:ext cx="31236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29083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b="1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722375" y="1435600"/>
            <a:ext cx="8093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a race of 300 metres A beats B by 15 metres or 5 seconds. How much time A does take to complete the race?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105 sec.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100 sec.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95 sec.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90 sec.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/>
        </p:nvSpPr>
        <p:spPr>
          <a:xfrm>
            <a:off x="0" y="188686"/>
            <a:ext cx="3123675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722375" y="1435600"/>
            <a:ext cx="809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From the question it is clear that speed of B = 15 / 5 = 3 m/s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time taken by B to cover 300 m = 300 / 3 = 100 sec.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Hence, time taken by A to complete the race = 100 – 5 = 95 sec.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09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/>
        </p:nvSpPr>
        <p:spPr>
          <a:xfrm>
            <a:off x="722375" y="1435600"/>
            <a:ext cx="8093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a 1000 m race, X beats Y by 140 m or 14 s. What will be the X's time over the course?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86 s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90 s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95 s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76 s</a:t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/>
        </p:nvSpPr>
        <p:spPr>
          <a:xfrm>
            <a:off x="0" y="188686"/>
            <a:ext cx="3123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  <a:r>
              <a:rPr b="1" i="0" lang="en-US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722375" y="1435600"/>
            <a:ext cx="809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Clearly, Y covers 140 m in 14 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∴ Y' s time over the course = (14/140) x 1000 = 100 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∴ X' s time over the course = 100 - 14 = 86 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10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/>
        </p:nvSpPr>
        <p:spPr>
          <a:xfrm>
            <a:off x="0" y="211118"/>
            <a:ext cx="4457699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722374" y="1435599"/>
            <a:ext cx="78174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a 400 m race, A runs at a speed of 16 m/s. If A gives B a start of 16 m and still beats him by 40 s, What will be the speed of B?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 m/s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 m/s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 m/s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5.9 m/s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78928c0b4a_0_10"/>
          <p:cNvSpPr txBox="1"/>
          <p:nvPr/>
        </p:nvSpPr>
        <p:spPr>
          <a:xfrm>
            <a:off x="0" y="211118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g278928c0b4a_0_10"/>
          <p:cNvSpPr txBox="1"/>
          <p:nvPr/>
        </p:nvSpPr>
        <p:spPr>
          <a:xfrm>
            <a:off x="722374" y="1435599"/>
            <a:ext cx="78174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taken by A to cover 400 m = Distance/ Speed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 400/16 s = 25 s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B covers (400 -16) = 384 m in(25 + 40) = 65 s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B's speed = 384/65 =5.9 m/s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g278928c0b4a_0_10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/>
        </p:nvSpPr>
        <p:spPr>
          <a:xfrm>
            <a:off x="722375" y="1435600"/>
            <a:ext cx="8093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can run 45 m while B runs 50 m. In a km race B beats A by how many metres ?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150 m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200 m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 m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125 m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8928c0b4a_0_16"/>
          <p:cNvSpPr txBox="1"/>
          <p:nvPr/>
        </p:nvSpPr>
        <p:spPr>
          <a:xfrm>
            <a:off x="722375" y="1435600"/>
            <a:ext cx="80931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B runs 50 m, then A runs 45 m.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B runs 1000 m, then A runs (45/50) x 1000 m = 900 m</a:t>
            </a:r>
            <a:b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B beats A by 100 m.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Let the length of the train be x meter and its speed be y m/sec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Then, (x + 480 m) / 24 sec = y ....(i)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, (x + 720 m) / 36 sec = y ....(ii)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Eqs (i) and (ii)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(x + 480) / 24 = (x + 900) / 36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⇒ 3x + 1440 = 2x + 1800 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∴ Length of train, x= 360m</a:t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58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g278928c0b4a_0_1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12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idx="1" type="body"/>
          </p:nvPr>
        </p:nvSpPr>
        <p:spPr>
          <a:xfrm>
            <a:off x="722375" y="1435601"/>
            <a:ext cx="81099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 can run 200 m in 35 seconds and B in 38 seconds. By what distance A beats B?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15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15+2/3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15+15/19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15+4/19 m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8928c0b4a_0_21"/>
          <p:cNvSpPr txBox="1"/>
          <p:nvPr>
            <p:ph idx="1" type="body"/>
          </p:nvPr>
        </p:nvSpPr>
        <p:spPr>
          <a:xfrm>
            <a:off x="722375" y="1435601"/>
            <a:ext cx="81099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C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The distance covered by B in 35 seconds = 200 x 35 / 38 = 3500 / 19 m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Now, 200 – 3500 / 19 = 300 / 19 = 15</a:t>
            </a:r>
            <a:r>
              <a:rPr baseline="30000" lang="en-US" sz="1400">
                <a:solidFill>
                  <a:schemeClr val="dk1"/>
                </a:solidFill>
              </a:rPr>
              <a:t>15</a:t>
            </a:r>
            <a:r>
              <a:rPr lang="en-US" sz="1400">
                <a:solidFill>
                  <a:schemeClr val="dk1"/>
                </a:solidFill>
              </a:rPr>
              <a:t>⁄</a:t>
            </a:r>
            <a:r>
              <a:rPr baseline="-25000" lang="en-US" sz="1400">
                <a:solidFill>
                  <a:schemeClr val="dk1"/>
                </a:solidFill>
              </a:rPr>
              <a:t>19</a:t>
            </a:r>
            <a:r>
              <a:rPr lang="en-US" sz="1400">
                <a:solidFill>
                  <a:schemeClr val="dk1"/>
                </a:solidFill>
              </a:rPr>
              <a:t> m Hence, A can beat B by 15</a:t>
            </a:r>
            <a:r>
              <a:rPr baseline="30000" lang="en-US" sz="1400">
                <a:solidFill>
                  <a:schemeClr val="dk1"/>
                </a:solidFill>
              </a:rPr>
              <a:t>15</a:t>
            </a:r>
            <a:r>
              <a:rPr lang="en-US" sz="1400">
                <a:solidFill>
                  <a:schemeClr val="dk1"/>
                </a:solidFill>
              </a:rPr>
              <a:t>⁄</a:t>
            </a:r>
            <a:r>
              <a:rPr baseline="-25000" lang="en-US" sz="1400">
                <a:solidFill>
                  <a:schemeClr val="dk1"/>
                </a:solidFill>
              </a:rPr>
              <a:t>19</a:t>
            </a:r>
            <a:r>
              <a:rPr lang="en-US" sz="1400">
                <a:solidFill>
                  <a:schemeClr val="dk1"/>
                </a:solidFill>
              </a:rPr>
              <a:t> m.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Let the required speed be y km/hr.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Then, ( 2 x 64 ) x [ y / (64 + y)] = 56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⇒ 128y = 64 x 56 + 56y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∴ y= (64 x 56 ) / 72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= 49.77 km/hr.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35" name="Google Shape;235;g278928c0b4a_0_2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13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>
            <p:ph idx="1" type="body"/>
          </p:nvPr>
        </p:nvSpPr>
        <p:spPr>
          <a:xfrm>
            <a:off x="722375" y="1435600"/>
            <a:ext cx="76443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In a race of 600 m, A can beat B by 30 m and in a race of 500 m, B can beat C by 25 m. By how many metres will A beat C in a race of 400 m 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39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49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55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25 m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78928c0b4a_0_26"/>
          <p:cNvSpPr txBox="1"/>
          <p:nvPr>
            <p:ph idx="1" type="body"/>
          </p:nvPr>
        </p:nvSpPr>
        <p:spPr>
          <a:xfrm>
            <a:off x="722375" y="1435600"/>
            <a:ext cx="76443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A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If A runs 600 m, then B runs 570 m.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If A runs 400 m, B then runs (570/600) x 400 m = 380 m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When B runs 500 m, then C runs 475 m,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When B runs 380 m, then C runs (475/500) x 380 = 361 m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∴ A beats C by (400 - 361) = 39 m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47" name="Google Shape;247;g278928c0b4a_0_26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14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"/>
          <p:cNvSpPr txBox="1"/>
          <p:nvPr>
            <p:ph idx="1" type="body"/>
          </p:nvPr>
        </p:nvSpPr>
        <p:spPr>
          <a:xfrm>
            <a:off x="722375" y="1435599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A runs 1% times as fast as B. If A gives B a start of 30 m, how far must the winning post be, so that A and B reach it at the same time 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52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75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69 m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lphaUcPeriod"/>
            </a:pPr>
            <a:r>
              <a:rPr lang="en-US" sz="1600">
                <a:solidFill>
                  <a:schemeClr val="dk1"/>
                </a:solidFill>
              </a:rPr>
              <a:t>70 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78928c0b4a_0_31"/>
          <p:cNvSpPr txBox="1"/>
          <p:nvPr>
            <p:ph idx="1" type="body"/>
          </p:nvPr>
        </p:nvSpPr>
        <p:spPr>
          <a:xfrm>
            <a:off x="722375" y="1435599"/>
            <a:ext cx="8109900" cy="31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D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</a:rPr>
              <a:t>A is 1</a:t>
            </a:r>
            <a:r>
              <a:rPr baseline="30000" lang="en-US" sz="1400">
                <a:solidFill>
                  <a:schemeClr val="dk1"/>
                </a:solidFill>
              </a:rPr>
              <a:t>3</a:t>
            </a:r>
            <a:r>
              <a:rPr lang="en-US" sz="1400">
                <a:solidFill>
                  <a:schemeClr val="dk1"/>
                </a:solidFill>
              </a:rPr>
              <a:t>/</a:t>
            </a:r>
            <a:r>
              <a:rPr baseline="-25000" lang="en-US" sz="1400">
                <a:solidFill>
                  <a:schemeClr val="dk1"/>
                </a:solidFill>
              </a:rPr>
              <a:t>4</a:t>
            </a:r>
            <a:r>
              <a:rPr lang="en-US" sz="1400">
                <a:solidFill>
                  <a:schemeClr val="dk1"/>
                </a:solidFill>
              </a:rPr>
              <a:t> faster than B.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Then, ratio of the rates of A and B = 7 : 4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3 m are gained in a race of 7 m .</a:t>
            </a:r>
            <a:br>
              <a:rPr lang="en-US" sz="1400">
                <a:solidFill>
                  <a:schemeClr val="dk1"/>
                </a:solidFill>
              </a:rPr>
            </a:br>
            <a:r>
              <a:rPr lang="en-US" sz="1400">
                <a:solidFill>
                  <a:schemeClr val="dk1"/>
                </a:solidFill>
              </a:rPr>
              <a:t>30 m are gained in a race of (7/3) x 30 = 70 m</a:t>
            </a:r>
            <a:endParaRPr sz="1400">
              <a:solidFill>
                <a:schemeClr val="dk1"/>
              </a:solidFill>
            </a:endParaRPr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59" name="Google Shape;259;g278928c0b4a_0_31"/>
          <p:cNvSpPr txBox="1"/>
          <p:nvPr/>
        </p:nvSpPr>
        <p:spPr>
          <a:xfrm>
            <a:off x="722375" y="6302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182EF"/>
                </a:solidFill>
                <a:latin typeface="Roboto"/>
                <a:ea typeface="Roboto"/>
                <a:cs typeface="Roboto"/>
                <a:sym typeface="Roboto"/>
              </a:rPr>
              <a:t>Explanation: 15</a:t>
            </a:r>
            <a:endParaRPr b="1" sz="2000">
              <a:solidFill>
                <a:srgbClr val="8182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/>
          <p:nvPr/>
        </p:nvSpPr>
        <p:spPr>
          <a:xfrm>
            <a:off x="555120" y="915840"/>
            <a:ext cx="754488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8"/>
          <p:cNvSpPr/>
          <p:nvPr/>
        </p:nvSpPr>
        <p:spPr>
          <a:xfrm>
            <a:off x="1634729" y="4055269"/>
            <a:ext cx="5183981" cy="28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72" name="Google Shape;272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73" name="Google Shape;27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8" name="Google Shape;278;p29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29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0" name="Google Shape;28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9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2" name="Google Shape;282;p29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</cp:coreProperties>
</file>