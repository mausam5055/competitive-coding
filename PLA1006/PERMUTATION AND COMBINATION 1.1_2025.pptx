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8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Roboto Light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63" roundtripDataSignature="AMtx7mg05lMb49qY5tKmQG0nIyhv3gdp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3.xml"/><Relationship Id="rId63" Type="http://customschemas.google.com/relationships/presentationmetadata" Target="meta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OpenSans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-regular.fntdata"/><Relationship Id="rId50" Type="http://schemas.openxmlformats.org/officeDocument/2006/relationships/slide" Target="slides/slide43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4.xml"/><Relationship Id="rId55" Type="http://schemas.openxmlformats.org/officeDocument/2006/relationships/font" Target="fonts/RobotoLight-regular.fntdata"/><Relationship Id="rId10" Type="http://schemas.openxmlformats.org/officeDocument/2006/relationships/slide" Target="slides/slide3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6.xml"/><Relationship Id="rId57" Type="http://schemas.openxmlformats.org/officeDocument/2006/relationships/font" Target="fonts/RobotoLight-italic.fntdata"/><Relationship Id="rId12" Type="http://schemas.openxmlformats.org/officeDocument/2006/relationships/slide" Target="slides/slide5.xml"/><Relationship Id="rId56" Type="http://schemas.openxmlformats.org/officeDocument/2006/relationships/font" Target="fonts/RobotoLight-bold.fntdata"/><Relationship Id="rId15" Type="http://schemas.openxmlformats.org/officeDocument/2006/relationships/slide" Target="slides/slide8.xml"/><Relationship Id="rId59" Type="http://schemas.openxmlformats.org/officeDocument/2006/relationships/font" Target="fonts/OpenSans-regular.fntdata"/><Relationship Id="rId14" Type="http://schemas.openxmlformats.org/officeDocument/2006/relationships/slide" Target="slides/slide7.xml"/><Relationship Id="rId58" Type="http://schemas.openxmlformats.org/officeDocument/2006/relationships/font" Target="fonts/RobotoLight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d199edd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1d199edd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d1ad1f30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1d1ad1f30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d1ad1f3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1d1ad1f3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d1ad1f30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1d1ad1f30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337fc5d25_0_3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14337fc5d25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4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4337fc5d25_0_4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14337fc5d25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b9c7de5d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1b9c7de5d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337fc5d25_0_5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14337fc5d25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b9c7de5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1b9c7de5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337fc5d25_0_5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14337fc5d25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b9c7de5d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1b9c7de5d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4337fc5d25_0_5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14337fc5d25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d1ad1f308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1d1ad1f30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d1ad1f308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1d1ad1f30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b9c7de5d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1b9c7de5d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4337fc5d25_0_5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14337fc5d2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b9c7de5d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1b9c7de5d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337fc5d25_0_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14337fc5d25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d1ad1f308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1d1ad1f30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d1ad1f308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1d1ad1f30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337fc5d25_0_6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14337fc5d25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4337fc5d25_0_6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14337fc5d25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4337fc5d25_0_6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14337fc5d25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4337fc5d25_0_6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14337fc5d25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d1ad1f308_0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1d1ad1f30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4337fc5d25_0_6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14337fc5d25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4337fc5d25_0_6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14337fc5d25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337fc5d25_0_6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14337fc5d25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d1ad1f308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1d1ad1f30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4337fc5d25_0_6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14337fc5d25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4337fc5d25_0_6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14337fc5d25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4337fc5d25_0_6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14337fc5d25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4337fc5d25_0_6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14337fc5d25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4337fc5d25_0_7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14337fc5d25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4337fc5d25_0_7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14337fc5d25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4337fc5d25_0_7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14337fc5d25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4337fc5d25_0_7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14337fc5d2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4337fc5d25_0_7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14337fc5d25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337fc5d25_0_7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14337fc5d25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4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showMasterSp="0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4337fc5d25_0_4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14337fc5d25_0_4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14337fc5d25_0_4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3" name="Google Shape;53;g14337fc5d25_0_4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4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4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4337fc5d25_0_49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g14337fc5d25_0_4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4337fc5d25_0_50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g14337fc5d25_0_5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g14337fc5d25_0_5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g14337fc5d25_0_5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g14337fc5d25_0_5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4337fc5d25_0_50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69" name="Google Shape;69;g14337fc5d25_0_5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4337fc5d25_0_50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" name="Google Shape;72;g14337fc5d25_0_50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g14337fc5d25_0_5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75" name="Google Shape;75;g14337fc5d25_0_5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14337fc5d25_0_513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g14337fc5d25_0_513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g14337fc5d25_0_513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g14337fc5d25_0_513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116" name="Google Shape;11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10" Type="http://schemas.openxmlformats.org/officeDocument/2006/relationships/theme" Target="../theme/theme4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4337fc5d25_0_4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14337fc5d25_0_4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14337fc5d25_0_4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g14337fc5d25_0_48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4" name="Google Shape;8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hyperlink" Target="https://learn.codemithra.com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28" name="Google Shape;12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78001" y="2109682"/>
            <a:ext cx="46908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PERMUTATION AND COMBINATION 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d199edd61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2000">
                <a:solidFill>
                  <a:srgbClr val="8182EF"/>
                </a:solidFill>
              </a:rPr>
              <a:t>INTRODUCTION</a:t>
            </a:r>
            <a:endParaRPr b="1" sz="2000">
              <a:solidFill>
                <a:srgbClr val="8182EF"/>
              </a:solidFill>
            </a:endParaRPr>
          </a:p>
        </p:txBody>
      </p:sp>
      <p:sp>
        <p:nvSpPr>
          <p:cNvPr id="145" name="Google Shape;145;g31d199edd61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Multiplication Theorem: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If an operation can be performed in </a:t>
            </a:r>
            <a:r>
              <a:rPr b="1" lang="en-GB" sz="1600">
                <a:solidFill>
                  <a:schemeClr val="dk1"/>
                </a:solidFill>
              </a:rPr>
              <a:t>m</a:t>
            </a:r>
            <a:r>
              <a:rPr lang="en-GB" sz="1600">
                <a:solidFill>
                  <a:schemeClr val="dk1"/>
                </a:solidFill>
              </a:rPr>
              <a:t> different ways and following which a 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second  operation can be performed in </a:t>
            </a:r>
            <a:r>
              <a:rPr b="1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different ways, then the two operations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in succession can be performed in </a:t>
            </a:r>
            <a:r>
              <a:rPr b="1" lang="en-GB" sz="1600">
                <a:solidFill>
                  <a:schemeClr val="dk1"/>
                </a:solidFill>
              </a:rPr>
              <a:t>m×n</a:t>
            </a:r>
            <a:r>
              <a:rPr lang="en-GB" sz="1600">
                <a:solidFill>
                  <a:schemeClr val="dk1"/>
                </a:solidFill>
              </a:rPr>
              <a:t> different ways.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Addition Theorem (Fundamental Principles of Counting)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If an operation can be performed in </a:t>
            </a:r>
            <a:r>
              <a:rPr b="1" lang="en-GB" sz="1600">
                <a:solidFill>
                  <a:schemeClr val="dk1"/>
                </a:solidFill>
              </a:rPr>
              <a:t>m</a:t>
            </a:r>
            <a:r>
              <a:rPr lang="en-GB" sz="1600">
                <a:solidFill>
                  <a:schemeClr val="dk1"/>
                </a:solidFill>
              </a:rPr>
              <a:t> different ways and a second independent  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operation can be performed in </a:t>
            </a:r>
            <a:r>
              <a:rPr b="1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different ways, either of the two operations can 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be  performed in (m+n) ways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Factorial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Let n be a positive integer. Then n factorial can be defined as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                                     n!=n(n−1)(n−2)⋯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d1ad1f308_0_2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Special Cases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0!=1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1!=1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Permutation formula: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Permutation is defined as arrangement of r things that can be done out of total n 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things. This is denoted by </a:t>
            </a: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b="1" lang="en-GB" sz="1600">
                <a:solidFill>
                  <a:schemeClr val="dk1"/>
                </a:solidFill>
              </a:rPr>
              <a:t>P</a:t>
            </a:r>
            <a:r>
              <a:rPr b="1" baseline="-25000" lang="en-GB" sz="1600">
                <a:solidFill>
                  <a:schemeClr val="dk1"/>
                </a:solidFill>
              </a:rPr>
              <a:t>r </a:t>
            </a:r>
            <a:r>
              <a:rPr lang="en-GB" sz="1600">
                <a:solidFill>
                  <a:schemeClr val="dk1"/>
                </a:solidFill>
              </a:rPr>
              <a:t>which is equal to </a:t>
            </a:r>
            <a:r>
              <a:rPr b="1" lang="en-GB" sz="1600">
                <a:solidFill>
                  <a:schemeClr val="dk1"/>
                </a:solidFill>
              </a:rPr>
              <a:t>n!/(n-r)!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Combination formula: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Combination is defined as selection of r things that can be done out of total n 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things. This is denoted by </a:t>
            </a: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b="1" lang="en-GB" sz="1600">
                <a:solidFill>
                  <a:schemeClr val="dk1"/>
                </a:solidFill>
              </a:rPr>
              <a:t>C</a:t>
            </a:r>
            <a:r>
              <a:rPr b="1" baseline="-25000" lang="en-GB" sz="1600">
                <a:solidFill>
                  <a:schemeClr val="dk1"/>
                </a:solidFill>
              </a:rPr>
              <a:t>r</a:t>
            </a:r>
            <a:r>
              <a:rPr baseline="-25000" lang="en-GB" sz="1600">
                <a:solidFill>
                  <a:schemeClr val="dk1"/>
                </a:solidFill>
              </a:rPr>
              <a:t> </a:t>
            </a:r>
            <a:r>
              <a:rPr lang="en-GB" sz="1600">
                <a:solidFill>
                  <a:schemeClr val="dk1"/>
                </a:solidFill>
              </a:rPr>
              <a:t>which is equal to </a:t>
            </a:r>
            <a:r>
              <a:rPr b="1" lang="en-GB" sz="1600">
                <a:solidFill>
                  <a:schemeClr val="dk1"/>
                </a:solidFill>
              </a:rPr>
              <a:t>n!/r!(n-r)!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151" name="Google Shape;151;g31d1ad1f308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2000">
                <a:solidFill>
                  <a:srgbClr val="8182EF"/>
                </a:solidFill>
              </a:rPr>
              <a:t>INTRODUCTION</a:t>
            </a:r>
            <a:endParaRPr b="1" sz="2000">
              <a:solidFill>
                <a:srgbClr val="8182E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d1ad1f308_0_11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The different arrangements of a given number of things by taking some or all at a time, are called permutations.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GB" sz="1600">
                <a:solidFill>
                  <a:schemeClr val="dk1"/>
                </a:solidFill>
              </a:rPr>
              <a:t> </a:t>
            </a: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</a:t>
            </a:r>
            <a:r>
              <a:rPr b="1" lang="en-GB" sz="1600">
                <a:solidFill>
                  <a:schemeClr val="dk1"/>
                </a:solidFill>
              </a:rPr>
              <a:t>P</a:t>
            </a:r>
            <a:r>
              <a:rPr b="1" baseline="-25000" lang="en-GB" sz="1600">
                <a:solidFill>
                  <a:schemeClr val="dk1"/>
                </a:solidFill>
              </a:rPr>
              <a:t>r</a:t>
            </a:r>
            <a:r>
              <a:rPr b="1" lang="en-GB" sz="1600">
                <a:solidFill>
                  <a:schemeClr val="dk1"/>
                </a:solidFill>
              </a:rPr>
              <a:t> = n! / (n – r)!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There are basically two types of permutation: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Repetition is Allowed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GB" sz="1600">
                <a:solidFill>
                  <a:schemeClr val="dk1"/>
                </a:solidFill>
              </a:rPr>
              <a:t>n × n × ... (r times) = n</a:t>
            </a:r>
            <a:r>
              <a:rPr baseline="30000" lang="en-GB" sz="1600">
                <a:solidFill>
                  <a:schemeClr val="dk1"/>
                </a:solidFill>
              </a:rPr>
              <a:t>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No Repetition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GB" sz="1600">
                <a:solidFill>
                  <a:schemeClr val="dk1"/>
                </a:solidFill>
              </a:rPr>
              <a:t>n!/(n − r)!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157" name="Google Shape;157;g31d1ad1f308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2000">
                <a:solidFill>
                  <a:srgbClr val="8182EF"/>
                </a:solidFill>
              </a:rPr>
              <a:t>INTRODUCTION</a:t>
            </a:r>
            <a:endParaRPr b="1" sz="2000">
              <a:solidFill>
                <a:srgbClr val="8182E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d1ad1f308_0_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Each of the different groups or selections which can be formed by taking some or all of a number of objects is called a combination.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r</a:t>
            </a:r>
            <a:r>
              <a:rPr lang="en-GB" sz="1600">
                <a:solidFill>
                  <a:schemeClr val="dk1"/>
                </a:solidFill>
              </a:rPr>
              <a:t> = n! / [ r ! x (n – r)! 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Note: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 =1 and  </a:t>
            </a: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0 </a:t>
            </a:r>
            <a:r>
              <a:rPr lang="en-GB" sz="1600">
                <a:solidFill>
                  <a:schemeClr val="dk1"/>
                </a:solidFill>
              </a:rPr>
              <a:t> =1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GB" sz="1600">
                <a:solidFill>
                  <a:schemeClr val="dk1"/>
                </a:solidFill>
              </a:rPr>
              <a:t>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r=</a:t>
            </a:r>
            <a:r>
              <a:rPr b="1" baseline="30000" lang="en-GB" sz="1600">
                <a:solidFill>
                  <a:schemeClr val="dk1"/>
                </a:solidFill>
              </a:rPr>
              <a:t> n</a:t>
            </a:r>
            <a:r>
              <a:rPr lang="en-GB" sz="1600">
                <a:solidFill>
                  <a:schemeClr val="dk1"/>
                </a:solidFill>
              </a:rPr>
              <a:t> C </a:t>
            </a:r>
            <a:r>
              <a:rPr baseline="-25000" lang="en-GB" sz="1600">
                <a:solidFill>
                  <a:schemeClr val="dk1"/>
                </a:solidFill>
              </a:rPr>
              <a:t>(n-r)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3" name="Google Shape;163;g31d1ad1f308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2000">
                <a:solidFill>
                  <a:srgbClr val="8182EF"/>
                </a:solidFill>
              </a:rPr>
              <a:t>INTRODUCTION</a:t>
            </a:r>
            <a:endParaRPr b="1" sz="2000">
              <a:solidFill>
                <a:srgbClr val="8182E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337fc5d25_0_39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14337fc5d25_0_391"/>
          <p:cNvSpPr txBox="1"/>
          <p:nvPr/>
        </p:nvSpPr>
        <p:spPr>
          <a:xfrm>
            <a:off x="720000" y="1439999"/>
            <a:ext cx="8472300" cy="27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 of 7 consonants and 4 vowels, how many words of 3 consonants and 2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vowels can be formed?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24400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21300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210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25200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14337fc5d25_0_39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Answer: </a:t>
            </a:r>
            <a:r>
              <a:rPr b="1" lang="en-GB"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4337fc5d25_0_47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g14337fc5d25_0_477"/>
          <p:cNvSpPr txBox="1"/>
          <p:nvPr/>
        </p:nvSpPr>
        <p:spPr>
          <a:xfrm>
            <a:off x="720000" y="1066800"/>
            <a:ext cx="682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14337fc5d25_0_477"/>
          <p:cNvSpPr txBox="1"/>
          <p:nvPr/>
        </p:nvSpPr>
        <p:spPr>
          <a:xfrm>
            <a:off x="720000" y="3839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g14337fc5d25_0_477"/>
          <p:cNvSpPr txBox="1"/>
          <p:nvPr/>
        </p:nvSpPr>
        <p:spPr>
          <a:xfrm>
            <a:off x="720000" y="1269825"/>
            <a:ext cx="6289500" cy="4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of selecting 3 consonants out of 7 = 7C3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of selecting 2 vowels out of 4 = 4C2Number of ways of selecting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consonants out of 7 and 2 vowels out of 4 = 7C3 x 4C2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=(7×6×5/3×2×1)×(4×3/2×1)=210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means that we can have 210 groups where each group contains total 5 letters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(3 consonants and 2 vowels).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Number of ways of arranging 5 letters among themselves =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5! = 5 x 4 x 3 x 2 x = 120 Hence, Required number of ways = 210 x 120 = 25200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 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b9c7de5da_0_78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g31b9c7de5da_0_78"/>
          <p:cNvSpPr txBox="1"/>
          <p:nvPr/>
        </p:nvSpPr>
        <p:spPr>
          <a:xfrm>
            <a:off x="720000" y="1439999"/>
            <a:ext cx="84723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9998" lvl="0" marL="89998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a group of 7 men and 6 women, five persons are to be selected to form a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committee so that at least 3 men are there on the committee. In how many ways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it be done?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624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702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756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812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1b9c7de5da_0_78"/>
          <p:cNvSpPr txBox="1"/>
          <p:nvPr/>
        </p:nvSpPr>
        <p:spPr>
          <a:xfrm>
            <a:off x="6849200" y="4018075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337fc5d25_0_530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14337fc5d25_0_530"/>
          <p:cNvSpPr txBox="1"/>
          <p:nvPr/>
        </p:nvSpPr>
        <p:spPr>
          <a:xfrm>
            <a:off x="720725" y="4969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g14337fc5d25_0_530"/>
          <p:cNvSpPr txBox="1"/>
          <p:nvPr/>
        </p:nvSpPr>
        <p:spPr>
          <a:xfrm>
            <a:off x="814375" y="9994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a group of 7 men and 6 women, five persons are to be selected with at least 3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men. Hence we have the following 3 choices We can select 5 men ——(Option 1)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do this = 7C5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select 4 men and 1 woman ——(Option 2)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do this = 7C4 x 6C1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select 3 men and 2 women ——(Option 3)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do this = 7C3 x 6C2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ways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 7C5 + [7C4 x 6C1] + [7C3 x 6C2]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 7C2 + [7C3 x 6C1] + [7C3 x 6C2] [</a:t>
            </a:r>
            <a:r>
              <a:rPr i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Applied the formula nCr = nC(n – r) 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=[7×62×1]+[(7×6×53×2×1)×6]+[(7×6×53×2×1)×(6×52×1)]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= 21 + 210 + 525 = 756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GB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b9c7de5da_0_86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31b9c7de5da_0_86"/>
          <p:cNvSpPr txBox="1"/>
          <p:nvPr/>
        </p:nvSpPr>
        <p:spPr>
          <a:xfrm>
            <a:off x="720000" y="1439999"/>
            <a:ext cx="84723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the rank of a word "SMART" using permutations?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79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78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g31b9c7de5da_0_86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337fc5d25_0_546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g14337fc5d25_0_546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g14337fc5d25_0_546"/>
          <p:cNvSpPr txBox="1"/>
          <p:nvPr/>
        </p:nvSpPr>
        <p:spPr>
          <a:xfrm>
            <a:off x="855675" y="1122850"/>
            <a:ext cx="75135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Dictionary order of letters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AMRST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 _ _ _ _  = 4!= 24 words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M _ _ _ _  = 4!= 24 words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R _ _ _ _ = 4!= 24 words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SA _ _ _ = 3! = 6 words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SMA  R T = 0! = 1 words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          = 24 + 24 + 24 + 6 + 1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          =79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b9c7de5da_0_94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31b9c7de5da_0_94"/>
          <p:cNvSpPr txBox="1"/>
          <p:nvPr/>
        </p:nvSpPr>
        <p:spPr>
          <a:xfrm>
            <a:off x="720000" y="1439999"/>
            <a:ext cx="8472300" cy="3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01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how many ways can be the letter of the word ‘STRANGE’ be arranged so that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(a) The vowel may appear in the odd places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(b) The vowels are never separated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(c) The vowels never come together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1340,1650,4720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1420,1540,4800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1620, 2120,4200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1440,1440,3600</a:t>
            </a:r>
            <a:endParaRPr sz="16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31b9c7de5da_0_94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337fc5d25_0_562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14337fc5d25_0_562"/>
          <p:cNvSpPr txBox="1"/>
          <p:nvPr/>
        </p:nvSpPr>
        <p:spPr>
          <a:xfrm>
            <a:off x="747000" y="1122850"/>
            <a:ext cx="8239500" cy="5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For finding number of ways of placing n things in r objects, we use 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npr=n!/(n-1)!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Also, for arranging n objects without restrictions, we have n! ways.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(a) There are 7 letters in the word ‘STRANGE’ amongst which 2 are vowels and there are 4 odd places (1, 3, 5, 7) where these two vowels are to be placed together.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Total number of ways can be expressed by replacing n = 4 and r = 2,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4p2=4!/(4−2)!=4!/2!=(4×3×2!)/2!=4×3=12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And corresponding to these 12 ways the other 5 letters may be placed in 5! ways 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=5×4×3×2×1=120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=5×4×3×2×1=120.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Therefore, the total number of required arrangements = 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</a:rPr>
              <a:t>12×120=1440 ways.</a:t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g14337fc5d25_0_562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d1ad1f308_0_28"/>
          <p:cNvSpPr txBox="1"/>
          <p:nvPr/>
        </p:nvSpPr>
        <p:spPr>
          <a:xfrm>
            <a:off x="270328" y="8645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31d1ad1f308_0_28"/>
          <p:cNvSpPr txBox="1"/>
          <p:nvPr/>
        </p:nvSpPr>
        <p:spPr>
          <a:xfrm>
            <a:off x="747000" y="1122850"/>
            <a:ext cx="8239500" cy="46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(b) Now, vowels are not to be separated. So, we consider all vowels as a single letter.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 are six letters S, T, R, N, G, (AE) , so they can arrange themselves in 6! ways and two vowels can arrange themselves in 2! ways.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Total number of required arrangements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=6!×2!=6×5×4×3×2×1×2×1=1440ways.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(c) Now, for the number of arrangements when all vowels never come together, we subtract the total arrangement where all vowels have occurred together from the total number of arrangements.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32E2B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g31d1ad1f308_0_28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d1ad1f308_0_34"/>
          <p:cNvSpPr txBox="1"/>
          <p:nvPr/>
        </p:nvSpPr>
        <p:spPr>
          <a:xfrm>
            <a:off x="270328" y="8645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1d1ad1f308_0_34"/>
          <p:cNvSpPr txBox="1"/>
          <p:nvPr/>
        </p:nvSpPr>
        <p:spPr>
          <a:xfrm>
            <a:off x="747000" y="1122850"/>
            <a:ext cx="82395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total number of arrangements = 7! = 5040 ways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And the number of arrangements in which the vowels do not come together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=7!−6!2!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=7!−6!2!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number of arrangements in which the vowels do not come together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=5040−1440=3600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=5040−1440=3600 ways.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1d1ad1f308_0_34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b9c7de5da_0_102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g31b9c7de5da_0_102"/>
          <p:cNvSpPr txBox="1"/>
          <p:nvPr/>
        </p:nvSpPr>
        <p:spPr>
          <a:xfrm>
            <a:off x="720725" y="1439874"/>
            <a:ext cx="8472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3-letter words with or without meaning, can be formed out of the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letters of the word, ‘LOGARITHMS’, if repetition of letters is not allowed?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720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None of these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5040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31b9c7de5da_0_102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337fc5d25_0_578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14337fc5d25_0_578"/>
          <p:cNvSpPr txBox="1"/>
          <p:nvPr/>
        </p:nvSpPr>
        <p:spPr>
          <a:xfrm>
            <a:off x="720000" y="1010050"/>
            <a:ext cx="8022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word ‘LOGARITHMS’ has 10 different letters. Hence, the number of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 3-letter words(with or without meaning) formed by using these letters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 10P3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10 x 9 x 8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 720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14337fc5d25_0_578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b9c7de5da_0_110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31b9c7de5da_0_110"/>
          <p:cNvSpPr txBox="1"/>
          <p:nvPr/>
        </p:nvSpPr>
        <p:spPr>
          <a:xfrm>
            <a:off x="720000" y="1439999"/>
            <a:ext cx="8472300" cy="3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all the permutations of the letters of the word “AGAIN” are arranged in a dictionary, then 50th word is</a:t>
            </a:r>
            <a:endParaRPr sz="18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A.NAAGI</a:t>
            </a:r>
            <a:endParaRPr sz="16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B.NAGAI</a:t>
            </a:r>
            <a:endParaRPr sz="16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C.NAAIG</a:t>
            </a:r>
            <a:endParaRPr sz="16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0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D.NAIAG</a:t>
            </a:r>
            <a:endParaRPr sz="160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5" name="Google Shape;255;g31b9c7de5da_0_110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4337fc5d25_0_594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g14337fc5d25_0_594"/>
          <p:cNvSpPr txBox="1"/>
          <p:nvPr/>
        </p:nvSpPr>
        <p:spPr>
          <a:xfrm>
            <a:off x="720000" y="1170000"/>
            <a:ext cx="7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g14337fc5d25_0_594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g14337fc5d25_0_594"/>
          <p:cNvSpPr txBox="1"/>
          <p:nvPr/>
        </p:nvSpPr>
        <p:spPr>
          <a:xfrm>
            <a:off x="673500" y="11228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 u="sng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Complete step-by-step answer:</a:t>
            </a:r>
            <a:endParaRPr b="1" sz="1600" u="sng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 the are placed in alphabetical order so the number of words start with letter A is given by: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Number of words that can be formed with A at first position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=4!=24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Rest of the letters can be placed at first place and let us see how many words are formed from them respectively. G letter will come after A letter. So, number of words formed with first letter G is given by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Number of words that can be formed with G at first position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 4!/2!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   = (4×3×2×1)/(2×1)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=12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Here you can see we divide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4! by 2!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2! why? The reason behind that is that there are two A letters in the word given to us. So, to avoid repetition of words and the position of the last word appear in a dictionary whose first letter G can be given by the addition of number of words formed by A and I i.e.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⇒The number of words till G letter at starting =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24+12=36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24+12=36.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d1ad1f308_0_49"/>
          <p:cNvSpPr txBox="1"/>
          <p:nvPr/>
        </p:nvSpPr>
        <p:spPr>
          <a:xfrm>
            <a:off x="270328" y="8645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g31d1ad1f308_0_49"/>
          <p:cNvSpPr txBox="1"/>
          <p:nvPr/>
        </p:nvSpPr>
        <p:spPr>
          <a:xfrm>
            <a:off x="720000" y="1170000"/>
            <a:ext cx="7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g31d1ad1f308_0_4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g31d1ad1f308_0_49"/>
          <p:cNvSpPr txBox="1"/>
          <p:nvPr/>
        </p:nvSpPr>
        <p:spPr>
          <a:xfrm>
            <a:off x="673500" y="11228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Here you can see we divide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4! by 2!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2! why? The reason behind that is that there are two A letters in the word given to us. So, to avoid repetition of words and the position of the last word appear in a dictionary whose first letter G can be given by the addition of number of words formed by A and I i.e.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⇒The number of words till G letter at starting = 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24+12=36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rgbClr val="332E2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24+12=36.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d1ad1f308_0_56"/>
          <p:cNvSpPr txBox="1"/>
          <p:nvPr/>
        </p:nvSpPr>
        <p:spPr>
          <a:xfrm>
            <a:off x="270328" y="8645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31d1ad1f308_0_56"/>
          <p:cNvSpPr txBox="1"/>
          <p:nvPr/>
        </p:nvSpPr>
        <p:spPr>
          <a:xfrm>
            <a:off x="720000" y="1170000"/>
            <a:ext cx="7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31d1ad1f308_0_56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g31d1ad1f308_0_56"/>
          <p:cNvSpPr txBox="1"/>
          <p:nvPr/>
        </p:nvSpPr>
        <p:spPr>
          <a:xfrm>
            <a:off x="673500" y="11228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Similarly, the number of words formed with first letter I is given by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Number of words that can be formed with I at first position 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7620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=4!/2!</a:t>
            </a:r>
            <a:endParaRPr sz="145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          =(4×3×2×1)/(2×1)</a:t>
            </a:r>
            <a:endParaRPr sz="145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=12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Hence, you can find the position of last word start with letter I i.e.</a:t>
            </a:r>
            <a:endParaRPr sz="145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⇒ The number of words till I letter at starting = 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24+12+12=48</a:t>
            </a:r>
            <a:endParaRPr sz="145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24+12+12=48.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Now you can see the first 48 words appearing in a dictionary are from the words starting with letter A, I, G. After that the next two words i.e. word at 49th and 50th position have starting letter N.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So, look at the first two words that appear in the dictionary starting with the N alphabet are NAAGI and NAAIG in alphabetically order respectively.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Here, the word at 50th position is NAAIG.</a:t>
            </a:r>
            <a:endParaRPr sz="1200">
              <a:solidFill>
                <a:srgbClr val="332E2B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200">
                <a:solidFill>
                  <a:srgbClr val="332E2B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Hence the correct option is C.</a:t>
            </a:r>
            <a:endParaRPr sz="1600">
              <a:solidFill>
                <a:srgbClr val="332E2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337fc5d25_0_607"/>
          <p:cNvSpPr txBox="1"/>
          <p:nvPr/>
        </p:nvSpPr>
        <p:spPr>
          <a:xfrm>
            <a:off x="720000" y="1439999"/>
            <a:ext cx="84723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how many different ways can the letters of the word ‘DETAIL’ be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arranged such that the vowels must occupy only the odd positions?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None of these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g14337fc5d25_0_607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g14337fc5d25_0_60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4337fc5d25_0_615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g14337fc5d25_0_615"/>
          <p:cNvSpPr txBox="1"/>
          <p:nvPr/>
        </p:nvSpPr>
        <p:spPr>
          <a:xfrm>
            <a:off x="720000" y="1439888"/>
            <a:ext cx="716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g14337fc5d25_0_61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14337fc5d25_0_615"/>
          <p:cNvSpPr txBox="1"/>
          <p:nvPr/>
        </p:nvSpPr>
        <p:spPr>
          <a:xfrm>
            <a:off x="814375" y="1122850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The word ‘DETAIL’ has 6 letters which has 3 vowels (EAI) and 3 consonants(DTL)The 3 vowels(EAI) must occupy only the odd positions.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Let’s mark the positions as (1) (2) (3) (4) (5) (6).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Now, the 3 vowels should only occupy the 3 positions marked as (1),(3) and (5) in any order.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Hence, number of ways to arrange these vowels = 3P3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                               = 3! = 3 x 2 x 1 = 6 Now we have 3 consonants(DTL) which can be arranged in the remaining 3 positions in any order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Hence, number of ways to arrange these consonants = 3P3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                                = 3! = 3 x 2 x 1 = 6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Total number of ways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= number of ways to arrange the vowels x number of ways to arrange the consonants</a:t>
            </a:r>
            <a:br>
              <a:rPr lang="en-GB" sz="1600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                                 = 6 x 6 = 36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 </a:t>
            </a:r>
            <a:endParaRPr sz="16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4337fc5d25_0_623"/>
          <p:cNvSpPr txBox="1"/>
          <p:nvPr/>
        </p:nvSpPr>
        <p:spPr>
          <a:xfrm>
            <a:off x="720000" y="1439874"/>
            <a:ext cx="84723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bag contains 2 white balls, 3 black balls and 4 red balls. In how many way can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balls be drawn from the bag, if at least one black ball is to be included in the draw?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None of these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g14337fc5d25_0_623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14337fc5d25_0_62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4337fc5d25_0_631"/>
          <p:cNvSpPr txBox="1"/>
          <p:nvPr/>
        </p:nvSpPr>
        <p:spPr>
          <a:xfrm>
            <a:off x="270328" y="6622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g14337fc5d25_0_631"/>
          <p:cNvSpPr txBox="1"/>
          <p:nvPr/>
        </p:nvSpPr>
        <p:spPr>
          <a:xfrm>
            <a:off x="720000" y="6005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14337fc5d25_0_631"/>
          <p:cNvSpPr txBox="1"/>
          <p:nvPr/>
        </p:nvSpPr>
        <p:spPr>
          <a:xfrm>
            <a:off x="814375" y="1228975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 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2 white balls, 3 black balls and 4 red balls, 3 balls are to be selected such that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 least one black ball should be there. Hence we have 3 choices as given below We can select 3 black balls ————————–(Option 1)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select 2 black balls and 1 non-black ball——(Option 2)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can select 1 black ball and 2 non-black balls——(Option 3)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select 3 black balls = 3C3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select 2 black balls and 1 non-black ball = 3C2 x 6C1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select 1 black ball and 2 non-black balls = 3C1 x 6C2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ways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= 3C3 + (3C2 x 6C1) + (3C1 x 6C2)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= 1 + (3C1 x 6C1) + (3C1 x 6C2) [</a:t>
            </a:r>
            <a:r>
              <a:rPr i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Applied the formula nCr = nC(n – r) 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=1+[3×6]+[3×(6×52×1)]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= 1 + 18 + 45 = 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d1ad1f308_0_81"/>
          <p:cNvSpPr txBox="1"/>
          <p:nvPr/>
        </p:nvSpPr>
        <p:spPr>
          <a:xfrm>
            <a:off x="270328" y="6622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g31d1ad1f308_0_81"/>
          <p:cNvSpPr txBox="1"/>
          <p:nvPr/>
        </p:nvSpPr>
        <p:spPr>
          <a:xfrm>
            <a:off x="720000" y="6005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31d1ad1f308_0_81"/>
          <p:cNvSpPr txBox="1"/>
          <p:nvPr/>
        </p:nvSpPr>
        <p:spPr>
          <a:xfrm>
            <a:off x="814375" y="1228975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select 3 black balls = 3C3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select 2 black balls and 1 non-black ball = 3C2 x 6C1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ways to select 1 black ball and 2 non-black balls = 3C1 x 6C2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ways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= 3C3 + (3C2 x 6C1) + (3C1 x 6C2)</a:t>
            </a:r>
            <a:b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= 1 + (3C1 x 6C1) + (3C1 x 6C2) [</a:t>
            </a:r>
            <a:r>
              <a:rPr i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Applied the formula nCr = nC(n – r) </a:t>
            </a: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=1+[3×6]+[3×(6×52×1)]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= 1 + 18 + 45 = 64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4337fc5d25_0_639"/>
          <p:cNvSpPr txBox="1"/>
          <p:nvPr/>
        </p:nvSpPr>
        <p:spPr>
          <a:xfrm>
            <a:off x="720000" y="1439999"/>
            <a:ext cx="8472300" cy="22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3 digit numbers can be formed from the digits 2, 3, 5, 6, 7 and 9 which</a:t>
            </a: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divisible by 5 and none of the digits is repeated?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g14337fc5d25_0_639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g14337fc5d25_0_63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4337fc5d25_0_64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g14337fc5d25_0_647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g14337fc5d25_0_647"/>
          <p:cNvSpPr txBox="1"/>
          <p:nvPr/>
        </p:nvSpPr>
        <p:spPr>
          <a:xfrm>
            <a:off x="988950" y="1439875"/>
            <a:ext cx="49851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Here is the answer and explanation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Answer : Option 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Explanation 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 number is divisible by 5 if the its last digit is a 0 or 5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So last digit have one possibilities  _ _ 1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As given in question no digit is repeated so 5*4*1=20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 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4337fc5d25_0_655"/>
          <p:cNvSpPr txBox="1"/>
          <p:nvPr/>
        </p:nvSpPr>
        <p:spPr>
          <a:xfrm>
            <a:off x="720000" y="1439999"/>
            <a:ext cx="84723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6 digit telephone numbers can be formed if each number starts with 35 and no digit appears more than once?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360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1680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g14337fc5d25_0_65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g14337fc5d25_0_65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1d1ad1f308_0_89"/>
          <p:cNvSpPr txBox="1"/>
          <p:nvPr/>
        </p:nvSpPr>
        <p:spPr>
          <a:xfrm>
            <a:off x="270328" y="864506"/>
            <a:ext cx="847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g31d1ad1f308_0_89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r>
              <a:rPr b="1" lang="en-GB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g31d1ad1f308_0_89"/>
          <p:cNvSpPr txBox="1"/>
          <p:nvPr/>
        </p:nvSpPr>
        <p:spPr>
          <a:xfrm>
            <a:off x="988950" y="1439875"/>
            <a:ext cx="49851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The first two places can only be filled by 3 and 5 respectively and there is only 1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Way of doing this Given that no digit appears more than once. Hence we have 8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digits remaining(0,1,2,4,6,7,8,9) So, the next 4 places can be filled with the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remaining 8 digits in 8P4 ways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Total number of ways = 8P4 = 8 x 7 x 6 x 5 = 1680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 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4337fc5d25_0_671"/>
          <p:cNvSpPr txBox="1"/>
          <p:nvPr/>
        </p:nvSpPr>
        <p:spPr>
          <a:xfrm>
            <a:off x="720000" y="1439999"/>
            <a:ext cx="8472300" cy="2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are five visiting places in a city and can visit the 3 places on a day. Find the number of ways in which a visitor can visit these places in a day.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b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g14337fc5d25_0_671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14337fc5d25_0_671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4337fc5d25_0_679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g14337fc5d25_0_679"/>
          <p:cNvSpPr txBox="1"/>
          <p:nvPr/>
        </p:nvSpPr>
        <p:spPr>
          <a:xfrm>
            <a:off x="720000" y="1440000"/>
            <a:ext cx="71661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the number of ways in which a visitor can visit the places are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5c1 + 5c2+ 5c3= 5 +10+10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=25 ways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GB" sz="20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A2A2A"/>
              </a:solidFill>
              <a:highlight>
                <a:srgbClr val="FFFFFF"/>
              </a:highlight>
            </a:endParaRPr>
          </a:p>
        </p:txBody>
      </p:sp>
      <p:sp>
        <p:nvSpPr>
          <p:cNvPr id="357" name="Google Shape;357;g14337fc5d25_0_67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4337fc5d25_0_687"/>
          <p:cNvSpPr txBox="1"/>
          <p:nvPr/>
        </p:nvSpPr>
        <p:spPr>
          <a:xfrm>
            <a:off x="720000" y="1439999"/>
            <a:ext cx="8472300" cy="4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how many ways the 18 English and 12 Hindi books can be kept on the shelf so that two books on Hindi may not be together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15400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50388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93564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none of these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  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								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                                                                                        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g14337fc5d25_0_687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g14337fc5d25_0_68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4337fc5d25_0_695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14337fc5d25_0_695"/>
          <p:cNvSpPr txBox="1"/>
          <p:nvPr/>
        </p:nvSpPr>
        <p:spPr>
          <a:xfrm>
            <a:off x="720000" y="1314850"/>
            <a:ext cx="71661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in order that no two Hindi come together we need to have following arrangement.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X E X E X E X……….E 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There are 18 English books so places needs to be is 19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And for the Hindi books 12 places are used 19c12 = 50388 ways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A2A2A"/>
              </a:solidFill>
              <a:highlight>
                <a:schemeClr val="lt1"/>
              </a:highlight>
            </a:endParaRPr>
          </a:p>
        </p:txBody>
      </p:sp>
      <p:sp>
        <p:nvSpPr>
          <p:cNvPr id="371" name="Google Shape;371;g14337fc5d25_0_69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4337fc5d25_0_703"/>
          <p:cNvSpPr txBox="1"/>
          <p:nvPr/>
        </p:nvSpPr>
        <p:spPr>
          <a:xfrm>
            <a:off x="720000" y="1439999"/>
            <a:ext cx="8472300" cy="3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 are 10 students in a dance group, out of which 6 are too selected in a row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such that  two of them will not be able to participate together. Find the number of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ways in which 8 can  be selected.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144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732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728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398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g14337fc5d25_0_703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g14337fc5d25_0_70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4337fc5d25_0_711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g14337fc5d25_0_711"/>
          <p:cNvSpPr txBox="1"/>
          <p:nvPr/>
        </p:nvSpPr>
        <p:spPr>
          <a:xfrm>
            <a:off x="662325" y="1239775"/>
            <a:ext cx="67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14337fc5d25_0_711"/>
          <p:cNvSpPr txBox="1"/>
          <p:nvPr/>
        </p:nvSpPr>
        <p:spPr>
          <a:xfrm>
            <a:off x="72072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g14337fc5d25_0_711"/>
          <p:cNvSpPr txBox="1"/>
          <p:nvPr/>
        </p:nvSpPr>
        <p:spPr>
          <a:xfrm>
            <a:off x="879900" y="1239775"/>
            <a:ext cx="73842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let there be students A to j out of which A and b don’t participate together,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Case 1: neither of A and B come then the remain students’ needs to be selected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8c6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Case 2: only one of them comes i.e. selecting 5 out of 8 and one from A and b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8c6 + 8c5 x 2c1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=728 ways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GB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A2A2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4337fc5d25_0_719"/>
          <p:cNvSpPr txBox="1"/>
          <p:nvPr/>
        </p:nvSpPr>
        <p:spPr>
          <a:xfrm>
            <a:off x="720000" y="1439999"/>
            <a:ext cx="84723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many positive integers not more than 4300 of digits 0, 1, 2, 3, 4 if repetition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allowed?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625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560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565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575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g14337fc5d25_0_719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g14337fc5d25_0_719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337fc5d25_0_727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g14337fc5d25_0_727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g14337fc5d25_0_727"/>
          <p:cNvSpPr txBox="1"/>
          <p:nvPr/>
        </p:nvSpPr>
        <p:spPr>
          <a:xfrm>
            <a:off x="720713" y="1170000"/>
            <a:ext cx="8394000" cy="31446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one digit no =4 (0 is not a positive integer)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two digit no=4*5=20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three digit no=4*5*5=100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four digit no=3*5*5*5=375(the possibility for 1,2,3 will come in the first position)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four digit no=1*3*5*5 (the possibility of 4is fixed in the first position and then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0,1,2is comes in second position)and the last digit is 4300 we include this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number also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Ans is 4+20+100+375+75+1=575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br>
              <a:rPr lang="en-GB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4337fc5d25_0_735"/>
          <p:cNvSpPr txBox="1"/>
          <p:nvPr/>
        </p:nvSpPr>
        <p:spPr>
          <a:xfrm>
            <a:off x="720000" y="1422449"/>
            <a:ext cx="8472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9998" lvl="0" marL="8999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number plate can be formed with two alphabets followed by two digits with n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Repetition then how many possible combinations can we get?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67600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64320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58500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65000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2A2A2A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g14337fc5d25_0_735"/>
          <p:cNvSpPr txBox="1"/>
          <p:nvPr/>
        </p:nvSpPr>
        <p:spPr>
          <a:xfrm>
            <a:off x="7189450" y="4019550"/>
            <a:ext cx="1456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 : </a:t>
            </a: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g14337fc5d25_0_735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4337fc5d25_0_743"/>
          <p:cNvSpPr txBox="1"/>
          <p:nvPr/>
        </p:nvSpPr>
        <p:spPr>
          <a:xfrm>
            <a:off x="270328" y="864506"/>
            <a:ext cx="8472300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g14337fc5d25_0_743"/>
          <p:cNvSpPr txBox="1"/>
          <p:nvPr/>
        </p:nvSpPr>
        <p:spPr>
          <a:xfrm>
            <a:off x="720725" y="1372300"/>
            <a:ext cx="7166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2000">
                <a:solidFill>
                  <a:schemeClr val="dk1"/>
                </a:solidFill>
              </a:rPr>
              <a:t>no. of alphabets=26 (a-z), no. of digits=10(0-9).</a:t>
            </a:r>
            <a:br>
              <a:rPr lang="en-GB" sz="2000">
                <a:solidFill>
                  <a:schemeClr val="dk1"/>
                </a:solidFill>
              </a:rPr>
            </a:br>
            <a:r>
              <a:rPr lang="en-GB" sz="2000">
                <a:solidFill>
                  <a:schemeClr val="dk1"/>
                </a:solidFill>
              </a:rPr>
              <a:t>ways of arranging two alphabets with out repetition=26*25;</a:t>
            </a:r>
            <a:br>
              <a:rPr lang="en-GB" sz="2000">
                <a:solidFill>
                  <a:schemeClr val="dk1"/>
                </a:solidFill>
              </a:rPr>
            </a:br>
            <a:r>
              <a:rPr lang="en-GB" sz="2000">
                <a:solidFill>
                  <a:schemeClr val="dk1"/>
                </a:solidFill>
              </a:rPr>
              <a:t>ways of forming two digits without repetition=10*9</a:t>
            </a:r>
            <a:br>
              <a:rPr lang="en-GB" sz="2000">
                <a:solidFill>
                  <a:schemeClr val="dk1"/>
                </a:solidFill>
              </a:rPr>
            </a:br>
            <a:r>
              <a:rPr lang="en-GB" sz="2000">
                <a:solidFill>
                  <a:schemeClr val="dk1"/>
                </a:solidFill>
              </a:rPr>
              <a:t>no. of combinations of forming the number on number plate= 26*25*10*9=58500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GB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A2A2A"/>
              </a:solidFill>
              <a:highlight>
                <a:schemeClr val="lt1"/>
              </a:highlight>
            </a:endParaRPr>
          </a:p>
        </p:txBody>
      </p:sp>
      <p:sp>
        <p:nvSpPr>
          <p:cNvPr id="414" name="Google Shape;414;g14337fc5d25_0_743"/>
          <p:cNvSpPr txBox="1"/>
          <p:nvPr/>
        </p:nvSpPr>
        <p:spPr>
          <a:xfrm>
            <a:off x="720000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0" name="Google Shape;4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427" name="Google Shape;427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28" name="Google Shape;4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0" name="Google Shape;4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5" name="Google Shape;43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