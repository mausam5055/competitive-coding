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y="5143500" cx="9144000"/>
  <p:notesSz cx="6858000" cy="9144000"/>
  <p:embeddedFontLst>
    <p:embeddedFont>
      <p:font typeface="Roboto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454">
          <p15:clr>
            <a:srgbClr val="FF00FF"/>
          </p15:clr>
        </p15:guide>
        <p15:guide id="2" orient="horz" pos="2755">
          <p15:clr>
            <a:srgbClr val="FF0000"/>
          </p15:clr>
        </p15:guide>
        <p15:guide id="3" pos="5272">
          <p15:clr>
            <a:srgbClr val="FF00FF"/>
          </p15:clr>
        </p15:guide>
        <p15:guide id="4" orient="horz" pos="907">
          <p15:clr>
            <a:srgbClr val="FF0000"/>
          </p15:clr>
        </p15:guide>
        <p15:guide id="5" orient="horz" pos="737">
          <p15:clr>
            <a:srgbClr val="00FF00"/>
          </p15:clr>
        </p15:guide>
        <p15:guide id="6" orient="horz" pos="397">
          <p15:clr>
            <a:srgbClr val="00FF00"/>
          </p15:clr>
        </p15:guide>
      </p15:sldGuideLst>
    </p:ext>
    <p:ext uri="GoogleSlidesCustomDataVersion2">
      <go:slidesCustomData xmlns:go="http://customooxmlschemas.google.com/" r:id="rId51" roundtripDataSignature="AMtx7mi5COslSXxZYIckav68Q2iT43mZ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54"/>
        <p:guide pos="2755" orient="horz"/>
        <p:guide pos="5272"/>
        <p:guide pos="907" orient="horz"/>
        <p:guide pos="737" orient="horz"/>
        <p:guide pos="397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Roboto-bold.fntdata"/><Relationship Id="rId47" Type="http://schemas.openxmlformats.org/officeDocument/2006/relationships/font" Target="fonts/Roboto-regular.fntdata"/><Relationship Id="rId49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customschemas.google.com/relationships/presentationmetadata" Target="metadata"/><Relationship Id="rId50" Type="http://schemas.openxmlformats.org/officeDocument/2006/relationships/font" Target="fonts/Robo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" name="Google Shape;67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9d04df441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" name="Google Shape;72;g19d04df4417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9d04df4417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" name="Google Shape;77;g19d04df4417_0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9d04df4417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" name="Google Shape;82;g19d04df4417_0_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ecd34265b5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g2ecd34265b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f8f968bb7c_0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g2f8f968bb7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9d04df4417_0_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19d04df441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ecfead3591_1_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2ecfead3591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ecfead3591_1_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2ecfead3591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ecfead3591_1_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g2ecfead3591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f8f968bb7c_0_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g2f8f968bb7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ecfead3591_1_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2ecfead3591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f8f968bb7c_0_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g2f8f968bb7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ecfead3591_1_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g2ecfead3591_1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f8f968bb7c_0_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g2f8f968bb7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f8f968bb7c_0_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g2f8f968bb7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ecfead3591_1_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g2ecfead3591_1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f8f968bb7c_0_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g2f8f968bb7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ecfead3591_1_6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g2ecfead3591_1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ecfead3591_1_6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g2ecfead3591_1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ecfead3591_1_7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g2ecfead3591_1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ecfead3591_1_8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g2ecfead3591_1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f8f968bb7c_0_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g2f8f968bb7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2f8f968bb7c_0_5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g2f8f968bb7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ecfead3591_1_8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g2ecfead3591_1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" name="Google Shape;290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9:notes"/>
          <p:cNvSpPr/>
          <p:nvPr>
            <p:ph idx="2" type="sldImg"/>
          </p:nvPr>
        </p:nvSpPr>
        <p:spPr>
          <a:xfrm>
            <a:off x="685800" y="1143000"/>
            <a:ext cx="5484813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7" name="Google Shape;297;p49:notes"/>
          <p:cNvSpPr txBox="1"/>
          <p:nvPr>
            <p:ph idx="1"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200" strike="noStrike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" name="Google Shape;14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" name="Google Shape;15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8" name="Google Shape;18;p5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9" name="Google Shape;19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2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4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4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8" name="Google Shape;28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4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" name="Google Shape;41;p4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4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4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</a:lstStyle>
          <a:p/>
        </p:txBody>
      </p:sp>
      <p:sp>
        <p:nvSpPr>
          <p:cNvPr id="47" name="Google Shape;47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p4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" name="Google Shape;9;p3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1" y="7219"/>
            <a:ext cx="9144001" cy="513628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transition spd="slow"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2.png"/><Relationship Id="rId4" Type="http://schemas.openxmlformats.org/officeDocument/2006/relationships/hyperlink" Target="https://learn.codemithra.com/" TargetMode="Externa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6.jpg"/><Relationship Id="rId4" Type="http://schemas.openxmlformats.org/officeDocument/2006/relationships/image" Target="../media/image10.png"/><Relationship Id="rId5" Type="http://schemas.openxmlformats.org/officeDocument/2006/relationships/image" Target="../media/image13.png"/><Relationship Id="rId6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" y="4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04604" y="600291"/>
            <a:ext cx="4134799" cy="29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00054" y="3386141"/>
            <a:ext cx="4743901" cy="115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48"/>
          <p:cNvSpPr txBox="1"/>
          <p:nvPr/>
        </p:nvSpPr>
        <p:spPr>
          <a:xfrm>
            <a:off x="178001" y="2109682"/>
            <a:ext cx="4690948" cy="68015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GB" sz="2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REMAINDER CYCLE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"/>
          <p:cNvSpPr txBox="1"/>
          <p:nvPr>
            <p:ph idx="1" type="body"/>
          </p:nvPr>
        </p:nvSpPr>
        <p:spPr>
          <a:xfrm>
            <a:off x="720725" y="1439875"/>
            <a:ext cx="7436400" cy="26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GB" sz="1400" u="sng">
                <a:solidFill>
                  <a:schemeClr val="dk1"/>
                </a:solidFill>
              </a:rPr>
              <a:t>Cyclicity of Remainders:</a:t>
            </a:r>
            <a:endParaRPr sz="1400">
              <a:solidFill>
                <a:schemeClr val="dk1"/>
              </a:solidFill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400">
                <a:solidFill>
                  <a:schemeClr val="dk1"/>
                </a:solidFill>
              </a:rPr>
              <a:t>Cyclicity of remainders is an important concept which can be used to solve questions based on remainders. </a:t>
            </a:r>
            <a:endParaRPr sz="1400">
              <a:solidFill>
                <a:schemeClr val="dk1"/>
              </a:solidFill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400">
                <a:solidFill>
                  <a:schemeClr val="dk1"/>
                </a:solidFill>
              </a:rPr>
              <a:t>This concept utilizes the fact that remainders repeat themselves after a certain interval when divided by a number.</a:t>
            </a:r>
            <a:endParaRPr sz="1400">
              <a:solidFill>
                <a:schemeClr val="dk1"/>
              </a:solidFill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400">
                <a:solidFill>
                  <a:schemeClr val="dk1"/>
                </a:solidFill>
              </a:rPr>
              <a:t>First of all, we know that Remainder = 0 to d – 1; where d= number by which the divisor is divided.</a:t>
            </a:r>
            <a:endParaRPr sz="1400">
              <a:solidFill>
                <a:schemeClr val="dk1"/>
              </a:solidFill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400">
                <a:solidFill>
                  <a:schemeClr val="dk1"/>
                </a:solidFill>
              </a:rPr>
              <a:t>If we divide an by d, the remainder can be any value from 0 to d-1. </a:t>
            </a:r>
            <a:endParaRPr sz="1400">
              <a:solidFill>
                <a:schemeClr val="dk1"/>
              </a:solidFill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400">
                <a:solidFill>
                  <a:schemeClr val="dk1"/>
                </a:solidFill>
              </a:rPr>
              <a:t>If we keep on increasing the value of n, the remainders are cyclical in nature. </a:t>
            </a:r>
            <a:endParaRPr sz="1400">
              <a:solidFill>
                <a:schemeClr val="dk1"/>
              </a:solidFill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400">
                <a:solidFill>
                  <a:schemeClr val="dk1"/>
                </a:solidFill>
              </a:rPr>
              <a:t>The pattern of the remainders would repeat. 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19d04df4417_0_0"/>
          <p:cNvSpPr txBox="1"/>
          <p:nvPr>
            <p:ph idx="1" type="body"/>
          </p:nvPr>
        </p:nvSpPr>
        <p:spPr>
          <a:xfrm>
            <a:off x="720725" y="1439875"/>
            <a:ext cx="7588800" cy="27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400">
                <a:solidFill>
                  <a:schemeClr val="dk1"/>
                </a:solidFill>
              </a:rPr>
              <a:t>4ˆ1 divided by 9, leaves a remainder of 4.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400">
                <a:solidFill>
                  <a:schemeClr val="dk1"/>
                </a:solidFill>
              </a:rPr>
              <a:t>4ˆ2 divided by 9, leaves a remainder of 7. {Rem(16/9) = 7}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400">
                <a:solidFill>
                  <a:schemeClr val="dk1"/>
                </a:solidFill>
              </a:rPr>
              <a:t>4ˆ3 divided by 9, leaves a remainder of 1. {Rem (64/9) = 1}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400">
                <a:solidFill>
                  <a:schemeClr val="dk1"/>
                </a:solidFill>
              </a:rPr>
              <a:t>4ˆ4 divided by 9, leaves a remainder of 4. {Rem (256/9) = 4}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400">
                <a:solidFill>
                  <a:schemeClr val="dk1"/>
                </a:solidFill>
              </a:rPr>
              <a:t>4ˆ5 divided by 9, leaves a remainder of 4. {Rem (1024/9) = 7}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400">
                <a:solidFill>
                  <a:schemeClr val="dk1"/>
                </a:solidFill>
              </a:rPr>
              <a:t>4ˆ6 divided by 9, leaves a remainder of 4. {Rem (4096/9) = 1}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400">
                <a:solidFill>
                  <a:schemeClr val="dk1"/>
                </a:solidFill>
              </a:rPr>
              <a:t>4ˆ(3k+1) leaves a remainder of 4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400">
                <a:solidFill>
                  <a:schemeClr val="dk1"/>
                </a:solidFill>
              </a:rPr>
              <a:t>4ˆ(3k+2) leaves a remainder of 7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400">
                <a:solidFill>
                  <a:schemeClr val="dk1"/>
                </a:solidFill>
              </a:rPr>
              <a:t>4ˆ3k leaves a remainder of 1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400">
                <a:solidFill>
                  <a:schemeClr val="dk1"/>
                </a:solidFill>
              </a:rPr>
              <a:t>As you can see above, the remainder when 4n is divided by 9 is cyclical in nature. The remainders obtained are 4, 7, 1, 4, 7, 1, 4, 7, 1 and so on. They will always follow the same pattern.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19d04df4417_0_9"/>
          <p:cNvSpPr txBox="1"/>
          <p:nvPr>
            <p:ph idx="1" type="body"/>
          </p:nvPr>
        </p:nvSpPr>
        <p:spPr>
          <a:xfrm>
            <a:off x="720725" y="1439875"/>
            <a:ext cx="7588800" cy="27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a</a:t>
            </a:r>
            <a:r>
              <a:rPr baseline="30000" lang="en-GB" sz="1400">
                <a:solidFill>
                  <a:schemeClr val="dk1"/>
                </a:solidFill>
              </a:rPr>
              <a:t>n</a:t>
            </a:r>
            <a:r>
              <a:rPr lang="en-GB" sz="1400">
                <a:solidFill>
                  <a:schemeClr val="dk1"/>
                </a:solidFill>
              </a:rPr>
              <a:t> when divided by d, will always give remainders which will have a pattern and will move in cycles of r such that r is less than or equal to d.</a:t>
            </a:r>
            <a:endParaRPr sz="1400"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Let us apply this concept to some examples to getter a better understanding of it.</a:t>
            </a:r>
            <a:endParaRPr sz="1400"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19d04df4417_0_17"/>
          <p:cNvSpPr txBox="1"/>
          <p:nvPr>
            <p:ph idx="1" type="body"/>
          </p:nvPr>
        </p:nvSpPr>
        <p:spPr>
          <a:xfrm>
            <a:off x="720725" y="1439875"/>
            <a:ext cx="7588800" cy="27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>
                <a:solidFill>
                  <a:schemeClr val="dk1"/>
                </a:solidFill>
              </a:rPr>
              <a:t>What will be the remainder when 41^43 is divided by 9?</a:t>
            </a:r>
            <a:endParaRPr b="1" sz="1400"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Solution:</a:t>
            </a:r>
            <a:endParaRPr sz="1400"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Step 1: We know that 41ˆ1 when divided by 9 gives a remainder= 5.</a:t>
            </a:r>
            <a:endParaRPr sz="1400"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41ˆ2 when divided by 9 gives a remainder= 7.</a:t>
            </a:r>
            <a:endParaRPr sz="1400"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41ˆ3 when divided by 9 gives a remainder= 8.</a:t>
            </a:r>
            <a:endParaRPr sz="1400"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41ˆ4 when divided by 9 gives a remainder= 0.</a:t>
            </a:r>
            <a:endParaRPr sz="1400"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41ˆ5 when divided by 9 gives a remainder=2.</a:t>
            </a:r>
            <a:endParaRPr sz="1400"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41ˆ6 when divided by 9 gives a remainder= 1.</a:t>
            </a:r>
            <a:endParaRPr sz="1400"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So, the cycle/pattern is 5,7,8,0, 2, and 1.</a:t>
            </a:r>
            <a:endParaRPr sz="1400"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Step 2: The cyclicity is 6.</a:t>
            </a:r>
            <a:endParaRPr sz="1400"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Step 3: 43 when divided by 6 is 1</a:t>
            </a:r>
            <a:endParaRPr sz="1400"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Step 4: The answer is the 1st value in the cyclic pattern i.e. 5</a:t>
            </a:r>
            <a:endParaRPr sz="1400"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Answer is 5.</a:t>
            </a:r>
            <a:endParaRPr sz="1400"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85" name="Google Shape;85;g19d04df4417_0_17"/>
          <p:cNvSpPr txBox="1"/>
          <p:nvPr/>
        </p:nvSpPr>
        <p:spPr>
          <a:xfrm>
            <a:off x="838925" y="5395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ecd34265b5_0_0"/>
          <p:cNvSpPr txBox="1"/>
          <p:nvPr/>
        </p:nvSpPr>
        <p:spPr>
          <a:xfrm>
            <a:off x="720725" y="1439875"/>
            <a:ext cx="80946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Find out the remainder when 32ˆ32</a:t>
            </a:r>
            <a:r>
              <a:rPr lang="en-GB" sz="160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is divided by 7?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AutoNum type="alphaUcPeriod"/>
            </a:pPr>
            <a:r>
              <a:rPr b="0"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AutoNum type="alphaUcPeriod"/>
            </a:pPr>
            <a:r>
              <a:rPr b="0"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AutoNum type="alphaUcPeriod"/>
            </a:pPr>
            <a:r>
              <a:rPr lang="en-GB" sz="1600">
                <a:latin typeface="Roboto"/>
                <a:ea typeface="Roboto"/>
                <a:cs typeface="Roboto"/>
                <a:sym typeface="Roboto"/>
              </a:rPr>
              <a:t>2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AutoNum type="alphaUcPeriod"/>
            </a:pPr>
            <a:r>
              <a:rPr b="0"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" name="Google Shape;91;g2ecd34265b5_0_0"/>
          <p:cNvSpPr txBox="1"/>
          <p:nvPr/>
        </p:nvSpPr>
        <p:spPr>
          <a:xfrm>
            <a:off x="63002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"/>
          <p:cNvSpPr txBox="1"/>
          <p:nvPr/>
        </p:nvSpPr>
        <p:spPr>
          <a:xfrm>
            <a:off x="720728" y="1539431"/>
            <a:ext cx="8472300" cy="22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Step 1: We know that 32ˆ1 when divided by 7 gives a remainder= 4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32ˆ2 when divided by 7 gives a remainder= 2.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32ˆ3 when divided by 7 gives a remainder= 1.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32ˆ4 when divided by 7 gives a remainder= 4.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32ˆ5 when divided by 7 gives a remainder= 2.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32ˆ6 when divided by 7 gives a remainder= 1.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" name="Google Shape;97;p5"/>
          <p:cNvSpPr txBox="1"/>
          <p:nvPr/>
        </p:nvSpPr>
        <p:spPr>
          <a:xfrm>
            <a:off x="720725" y="630250"/>
            <a:ext cx="3118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01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f8f968bb7c_0_5"/>
          <p:cNvSpPr txBox="1"/>
          <p:nvPr/>
        </p:nvSpPr>
        <p:spPr>
          <a:xfrm>
            <a:off x="720728" y="1539431"/>
            <a:ext cx="84723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Step 2: The cyclicity is 3.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Step 3: 32ˆ32 when divided by 3 is 1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Step 4: The answer is the 1st value in the cyclic pattern of 4, 2, and 1 i.e. 4.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Answer is 4.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g2f8f968bb7c_0_5"/>
          <p:cNvSpPr txBox="1"/>
          <p:nvPr/>
        </p:nvSpPr>
        <p:spPr>
          <a:xfrm>
            <a:off x="720725" y="630250"/>
            <a:ext cx="3118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01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"/>
          <p:cNvSpPr txBox="1"/>
          <p:nvPr>
            <p:ph idx="1" type="body"/>
          </p:nvPr>
        </p:nvSpPr>
        <p:spPr>
          <a:xfrm>
            <a:off x="720725" y="1439875"/>
            <a:ext cx="8073600" cy="29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</a:rPr>
              <a:t>What is the remainder when 17^200 is divided by 18?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</a:rPr>
              <a:t>3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</a:rPr>
              <a:t>1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</a:rPr>
              <a:t>15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</a:rPr>
              <a:t>17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09" name="Google Shape;109;p6"/>
          <p:cNvPicPr preferRelativeResize="0"/>
          <p:nvPr/>
        </p:nvPicPr>
        <p:blipFill rotWithShape="1">
          <a:blip r:embed="rId3">
            <a:alphaModFix/>
          </a:blip>
          <a:srcRect b="0" l="0" r="53855" t="0"/>
          <a:stretch/>
        </p:blipFill>
        <p:spPr>
          <a:xfrm>
            <a:off x="8096775" y="0"/>
            <a:ext cx="1047224" cy="110272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6"/>
          <p:cNvSpPr txBox="1"/>
          <p:nvPr/>
        </p:nvSpPr>
        <p:spPr>
          <a:xfrm>
            <a:off x="63002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02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9d04df4417_0_26"/>
          <p:cNvSpPr txBox="1"/>
          <p:nvPr>
            <p:ph idx="1" type="body"/>
          </p:nvPr>
        </p:nvSpPr>
        <p:spPr>
          <a:xfrm>
            <a:off x="720725" y="1439875"/>
            <a:ext cx="8073600" cy="29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These type of questions become really simple if you understand the concept of negative remainders. Always try and reduce the dividend to 1 or -1.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= Rem [17^200 / 18]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= Rem [ (-1)^200 / 18]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= Rem [1 / 18]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400">
                <a:solidFill>
                  <a:schemeClr val="dk1"/>
                </a:solidFill>
              </a:rPr>
              <a:t>= 1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16" name="Google Shape;116;g19d04df4417_0_26"/>
          <p:cNvSpPr txBox="1"/>
          <p:nvPr/>
        </p:nvSpPr>
        <p:spPr>
          <a:xfrm>
            <a:off x="720725" y="630250"/>
            <a:ext cx="3118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02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ecfead3591_1_12"/>
          <p:cNvSpPr txBox="1"/>
          <p:nvPr/>
        </p:nvSpPr>
        <p:spPr>
          <a:xfrm>
            <a:off x="0" y="203917"/>
            <a:ext cx="317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174625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b="1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" name="Google Shape;122;g2ecfead3591_1_12"/>
          <p:cNvSpPr txBox="1"/>
          <p:nvPr/>
        </p:nvSpPr>
        <p:spPr>
          <a:xfrm>
            <a:off x="720724" y="1439875"/>
            <a:ext cx="79995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What is the remainder when (71^71+71) is divided by 72?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9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70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63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" name="Google Shape;123;g2ecfead3591_1_12"/>
          <p:cNvSpPr txBox="1"/>
          <p:nvPr/>
        </p:nvSpPr>
        <p:spPr>
          <a:xfrm>
            <a:off x="63002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03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"/>
          <p:cNvSpPr txBox="1"/>
          <p:nvPr/>
        </p:nvSpPr>
        <p:spPr>
          <a:xfrm>
            <a:off x="0" y="203917"/>
            <a:ext cx="317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74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Explanation:</a:t>
            </a:r>
            <a:endParaRPr b="1" i="0" sz="2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" name="Google Shape;129;p7"/>
          <p:cNvSpPr txBox="1"/>
          <p:nvPr/>
        </p:nvSpPr>
        <p:spPr>
          <a:xfrm>
            <a:off x="720725" y="1439875"/>
            <a:ext cx="79995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Ans: Rem [(71^71 + 71)/72]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= Rem [(71^71)/72] + Rem [71/72]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= Rem [(-1)^71] + (-1)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= (-1) + (-1)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= -2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= 72-2 = 70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" name="Google Shape;130;p7"/>
          <p:cNvSpPr txBox="1"/>
          <p:nvPr/>
        </p:nvSpPr>
        <p:spPr>
          <a:xfrm>
            <a:off x="720725" y="630250"/>
            <a:ext cx="3118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03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"/>
          <p:cNvSpPr txBox="1"/>
          <p:nvPr>
            <p:ph idx="1" type="body"/>
          </p:nvPr>
        </p:nvSpPr>
        <p:spPr>
          <a:xfrm>
            <a:off x="720725" y="1439875"/>
            <a:ext cx="8067900" cy="29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</a:rPr>
              <a:t>What is the remainder when 19^98 is divided by 7?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</a:rPr>
              <a:t>8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</a:rPr>
              <a:t>2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</a:rPr>
              <a:t>0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</a:rPr>
              <a:t>4</a:t>
            </a:r>
            <a:endParaRPr sz="16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36" name="Google Shape;136;p8"/>
          <p:cNvSpPr txBox="1"/>
          <p:nvPr/>
        </p:nvSpPr>
        <p:spPr>
          <a:xfrm>
            <a:off x="63002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04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"/>
          <p:cNvSpPr txBox="1"/>
          <p:nvPr>
            <p:ph idx="1" type="body"/>
          </p:nvPr>
        </p:nvSpPr>
        <p:spPr>
          <a:xfrm>
            <a:off x="720725" y="1439875"/>
            <a:ext cx="8282700" cy="28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Rem [19^98/7]</a:t>
            </a:r>
            <a:endParaRPr sz="14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= Rem [(-2)^98/7]</a:t>
            </a:r>
            <a:endParaRPr sz="14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= Rem [2^98/7]</a:t>
            </a:r>
            <a:endParaRPr sz="14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= Rem [ 2^96 * 2^2 / 7]</a:t>
            </a:r>
            <a:endParaRPr sz="14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= Rem [ 8^32 * 4 / 7]</a:t>
            </a:r>
            <a:endParaRPr sz="14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= Rem [1 * 4 / 7]</a:t>
            </a:r>
            <a:endParaRPr sz="14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= 4</a:t>
            </a:r>
            <a:endParaRPr sz="14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2" name="Google Shape;142;p9"/>
          <p:cNvSpPr txBox="1"/>
          <p:nvPr/>
        </p:nvSpPr>
        <p:spPr>
          <a:xfrm>
            <a:off x="720725" y="630250"/>
            <a:ext cx="3118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04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ecfead3591_1_17"/>
          <p:cNvSpPr txBox="1"/>
          <p:nvPr>
            <p:ph idx="1" type="body"/>
          </p:nvPr>
        </p:nvSpPr>
        <p:spPr>
          <a:xfrm>
            <a:off x="720725" y="1439875"/>
            <a:ext cx="8111700" cy="31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</a:rPr>
              <a:t>What is the remainder when 7^2015 is divided by 9?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</a:rPr>
              <a:t>7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</a:rPr>
              <a:t>8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</a:rPr>
              <a:t>4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</a:rPr>
              <a:t>1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lphaUcPeriod"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48" name="Google Shape;148;g2ecfead3591_1_17"/>
          <p:cNvSpPr txBox="1"/>
          <p:nvPr/>
        </p:nvSpPr>
        <p:spPr>
          <a:xfrm>
            <a:off x="63002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05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1"/>
          <p:cNvSpPr txBox="1"/>
          <p:nvPr>
            <p:ph idx="1" type="body"/>
          </p:nvPr>
        </p:nvSpPr>
        <p:spPr>
          <a:xfrm>
            <a:off x="720725" y="1439875"/>
            <a:ext cx="8111700" cy="31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900" lvl="0" marL="11620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Rem [7^2015 / 9]</a:t>
            </a:r>
            <a:endParaRPr sz="1400">
              <a:solidFill>
                <a:schemeClr val="dk1"/>
              </a:solidFill>
            </a:endParaRPr>
          </a:p>
          <a:p>
            <a:pPr indent="-1900" lvl="0" marL="11620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1900" lvl="0" marL="11620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= Rem [(-2)^2015 / 9]</a:t>
            </a:r>
            <a:endParaRPr sz="1400">
              <a:solidFill>
                <a:schemeClr val="dk1"/>
              </a:solidFill>
            </a:endParaRPr>
          </a:p>
          <a:p>
            <a:pPr indent="-1900" lvl="0" marL="11620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1900" lvl="0" marL="11620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= Rem [ 4*(-2)^2013 / 9]</a:t>
            </a:r>
            <a:endParaRPr sz="1400">
              <a:solidFill>
                <a:schemeClr val="dk1"/>
              </a:solidFill>
            </a:endParaRPr>
          </a:p>
          <a:p>
            <a:pPr indent="-1900" lvl="0" marL="11620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1900" lvl="0" marL="11620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= Rem [ 4*(-8)^671 / 9]</a:t>
            </a:r>
            <a:endParaRPr sz="1400">
              <a:solidFill>
                <a:schemeClr val="dk1"/>
              </a:solidFill>
            </a:endParaRPr>
          </a:p>
          <a:p>
            <a:pPr indent="-1900" lvl="0" marL="11620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1900" lvl="0" marL="11620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= Rem [ 4*1 / 9]</a:t>
            </a:r>
            <a:endParaRPr sz="1400">
              <a:solidFill>
                <a:schemeClr val="dk1"/>
              </a:solidFill>
            </a:endParaRPr>
          </a:p>
          <a:p>
            <a:pPr indent="-1900" lvl="0" marL="11620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1900" lvl="0" marL="11620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= 4</a:t>
            </a:r>
            <a:endParaRPr sz="1400"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54" name="Google Shape;154;p11"/>
          <p:cNvSpPr txBox="1"/>
          <p:nvPr/>
        </p:nvSpPr>
        <p:spPr>
          <a:xfrm>
            <a:off x="720725" y="630250"/>
            <a:ext cx="3118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05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ecfead3591_1_25"/>
          <p:cNvSpPr txBox="1"/>
          <p:nvPr>
            <p:ph idx="1" type="body"/>
          </p:nvPr>
        </p:nvSpPr>
        <p:spPr>
          <a:xfrm>
            <a:off x="720725" y="1439875"/>
            <a:ext cx="8111700" cy="26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</a:rPr>
              <a:t>What is the remainder when 2^2003 is divided by 17?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</a:rPr>
              <a:t>9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</a:rPr>
              <a:t>2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</a:rPr>
              <a:t>8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</a:rPr>
              <a:t>1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60" name="Google Shape;160;g2ecfead3591_1_25"/>
          <p:cNvSpPr txBox="1"/>
          <p:nvPr/>
        </p:nvSpPr>
        <p:spPr>
          <a:xfrm>
            <a:off x="63002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06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3"/>
          <p:cNvSpPr txBox="1"/>
          <p:nvPr>
            <p:ph idx="1" type="body"/>
          </p:nvPr>
        </p:nvSpPr>
        <p:spPr>
          <a:xfrm>
            <a:off x="720725" y="1439875"/>
            <a:ext cx="8111700" cy="26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59055" lvl="0" marL="5905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Rem [2^2003 / 17]</a:t>
            </a:r>
            <a:endParaRPr sz="1400">
              <a:solidFill>
                <a:schemeClr val="dk1"/>
              </a:solidFill>
            </a:endParaRPr>
          </a:p>
          <a:p>
            <a:pPr indent="-59055" lvl="0" marL="5905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59055" lvl="0" marL="5905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= Rem [2^2000 * 8 /17]</a:t>
            </a:r>
            <a:endParaRPr sz="1400">
              <a:solidFill>
                <a:schemeClr val="dk1"/>
              </a:solidFill>
            </a:endParaRPr>
          </a:p>
          <a:p>
            <a:pPr indent="-59055" lvl="0" marL="5905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59055" lvl="0" marL="5905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= Rem [16^500 * 8 / 17]</a:t>
            </a:r>
            <a:endParaRPr sz="1400">
              <a:solidFill>
                <a:schemeClr val="dk1"/>
              </a:solidFill>
            </a:endParaRPr>
          </a:p>
          <a:p>
            <a:pPr indent="-59055" lvl="0" marL="5905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59055" lvl="0" marL="5905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= Rem [(-1)^500 * 8 / 17]</a:t>
            </a:r>
            <a:endParaRPr sz="1400">
              <a:solidFill>
                <a:schemeClr val="dk1"/>
              </a:solidFill>
            </a:endParaRPr>
          </a:p>
          <a:p>
            <a:pPr indent="-59055" lvl="0" marL="5905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59055" lvl="0" marL="5905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= Rem [ 1*8/17]</a:t>
            </a:r>
            <a:endParaRPr sz="1400">
              <a:solidFill>
                <a:schemeClr val="dk1"/>
              </a:solidFill>
            </a:endParaRPr>
          </a:p>
          <a:p>
            <a:pPr indent="-59055" lvl="0" marL="5905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59055" lvl="0" marL="5905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400">
                <a:solidFill>
                  <a:schemeClr val="dk1"/>
                </a:solidFill>
              </a:rPr>
              <a:t>= 8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66" name="Google Shape;166;p13"/>
          <p:cNvSpPr txBox="1"/>
          <p:nvPr/>
        </p:nvSpPr>
        <p:spPr>
          <a:xfrm>
            <a:off x="720725" y="630250"/>
            <a:ext cx="3118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06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4"/>
          <p:cNvSpPr txBox="1"/>
          <p:nvPr>
            <p:ph idx="1" type="body"/>
          </p:nvPr>
        </p:nvSpPr>
        <p:spPr>
          <a:xfrm>
            <a:off x="720725" y="1439875"/>
            <a:ext cx="8111700" cy="26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solidFill>
                  <a:schemeClr val="dk1"/>
                </a:solidFill>
              </a:rPr>
              <a:t>Find the remainder when 15^2010 +16^2011 is divided by 7 ?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</a:rPr>
              <a:t>2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</a:rPr>
              <a:t>1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</a:rPr>
              <a:t>6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</a:rPr>
              <a:t>3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72" name="Google Shape;172;p14"/>
          <p:cNvSpPr txBox="1"/>
          <p:nvPr/>
        </p:nvSpPr>
        <p:spPr>
          <a:xfrm>
            <a:off x="63002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07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f8f968bb7c_0_15"/>
          <p:cNvSpPr txBox="1"/>
          <p:nvPr>
            <p:ph idx="1" type="body"/>
          </p:nvPr>
        </p:nvSpPr>
        <p:spPr>
          <a:xfrm>
            <a:off x="720725" y="1439875"/>
            <a:ext cx="3054900" cy="26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1430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Here we need to know that:                                           </a:t>
            </a:r>
            <a:endParaRPr sz="1100">
              <a:solidFill>
                <a:schemeClr val="dk1"/>
              </a:solidFill>
            </a:endParaRPr>
          </a:p>
          <a:p>
            <a:pPr indent="-11430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11430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Rem[(a + b)/c] = Rem[a/c] + Rem[b/c]</a:t>
            </a:r>
            <a:endParaRPr sz="1100">
              <a:solidFill>
                <a:schemeClr val="dk1"/>
              </a:solidFill>
            </a:endParaRPr>
          </a:p>
          <a:p>
            <a:pPr indent="-11430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11430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Rem[(a*b)/c] = Rem[a/c] * Rem[b/c]</a:t>
            </a:r>
            <a:endParaRPr sz="1100">
              <a:solidFill>
                <a:schemeClr val="dk1"/>
              </a:solidFill>
            </a:endParaRPr>
          </a:p>
          <a:p>
            <a:pPr indent="-11430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11430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Keeping that in mind:</a:t>
            </a:r>
            <a:endParaRPr sz="1100">
              <a:solidFill>
                <a:schemeClr val="dk1"/>
              </a:solidFill>
            </a:endParaRPr>
          </a:p>
          <a:p>
            <a:pPr indent="-11430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11430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Rem[15^2010/7] = Rem[1^2010/7] = 1</a:t>
            </a:r>
            <a:endParaRPr sz="1100">
              <a:solidFill>
                <a:schemeClr val="dk1"/>
              </a:solidFill>
            </a:endParaRPr>
          </a:p>
          <a:p>
            <a:pPr indent="-11430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11430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Rem[16^2011/7]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78" name="Google Shape;178;g2f8f968bb7c_0_15"/>
          <p:cNvSpPr txBox="1"/>
          <p:nvPr/>
        </p:nvSpPr>
        <p:spPr>
          <a:xfrm>
            <a:off x="4134375" y="1483150"/>
            <a:ext cx="50325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1430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= Rem[2^2011/7]</a:t>
            </a:r>
            <a:endParaRPr b="0" i="0" sz="1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1430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1430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= Rem[2^2010/7]*Rem[2/7]</a:t>
            </a:r>
            <a:endParaRPr b="0" i="0" sz="1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1430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1430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= Rem[8^670/7] * 2</a:t>
            </a:r>
            <a:endParaRPr b="0" i="0" sz="1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1430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1430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= 1*2 = 2</a:t>
            </a:r>
            <a:endParaRPr b="0" i="0" sz="1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1430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1430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Rem[(15^2010 + 16^2011)/7] = 1 + 2 = 3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g2f8f968bb7c_0_15"/>
          <p:cNvSpPr txBox="1"/>
          <p:nvPr/>
        </p:nvSpPr>
        <p:spPr>
          <a:xfrm>
            <a:off x="720725" y="630250"/>
            <a:ext cx="3118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07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ecfead3591_1_35"/>
          <p:cNvSpPr txBox="1"/>
          <p:nvPr>
            <p:ph idx="1" type="body"/>
          </p:nvPr>
        </p:nvSpPr>
        <p:spPr>
          <a:xfrm>
            <a:off x="720725" y="1439875"/>
            <a:ext cx="8111700" cy="31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solidFill>
                  <a:schemeClr val="dk1"/>
                </a:solidFill>
              </a:rPr>
              <a:t>Find the remainder of 21^875 divided by 17?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</a:rPr>
              <a:t>3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</a:rPr>
              <a:t>4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</a:rPr>
              <a:t>14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</a:rPr>
              <a:t>13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85" name="Google Shape;185;g2ecfead3591_1_35"/>
          <p:cNvSpPr txBox="1"/>
          <p:nvPr/>
        </p:nvSpPr>
        <p:spPr>
          <a:xfrm>
            <a:off x="63002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08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f8f968bb7c_0_21"/>
          <p:cNvSpPr txBox="1"/>
          <p:nvPr>
            <p:ph idx="1" type="body"/>
          </p:nvPr>
        </p:nvSpPr>
        <p:spPr>
          <a:xfrm>
            <a:off x="720725" y="1439875"/>
            <a:ext cx="8111700" cy="26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= Rem [4^875 / 17]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= Rem[4*4^874 / 17]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= Rem [4* 16^437 / 17]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= Rem [4*(-1)^437 / 17]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= Rem [4*(-1) / 17]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= Rem [-4 / 17]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400">
                <a:solidFill>
                  <a:schemeClr val="dk1"/>
                </a:solidFill>
              </a:rPr>
              <a:t>= 13                 Ans: Rem [21^875 / 17]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91" name="Google Shape;191;g2f8f968bb7c_0_21"/>
          <p:cNvSpPr txBox="1"/>
          <p:nvPr/>
        </p:nvSpPr>
        <p:spPr>
          <a:xfrm>
            <a:off x="720725" y="630250"/>
            <a:ext cx="3118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08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0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0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0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ecfead3591_1_45"/>
          <p:cNvSpPr txBox="1"/>
          <p:nvPr/>
        </p:nvSpPr>
        <p:spPr>
          <a:xfrm>
            <a:off x="0" y="213069"/>
            <a:ext cx="312367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29083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Question: 02</a:t>
            </a:r>
            <a:endParaRPr b="1" i="0" sz="2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7" name="Google Shape;197;g2ecfead3591_1_45"/>
          <p:cNvSpPr txBox="1"/>
          <p:nvPr/>
        </p:nvSpPr>
        <p:spPr>
          <a:xfrm>
            <a:off x="720725" y="1439874"/>
            <a:ext cx="84726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What is the remainder when 128^1000 is divided by 153?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AutoNum type="alphaUcPeriod"/>
            </a:pPr>
            <a:r>
              <a:rPr b="0"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72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AutoNum type="alphaUcPeriod"/>
            </a:pPr>
            <a:r>
              <a:rPr b="0"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52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AutoNum type="alphaUcPeriod"/>
            </a:pPr>
            <a:r>
              <a:rPr b="0"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16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AutoNum type="alphaUcPeriod"/>
            </a:pPr>
            <a:r>
              <a:rPr b="0"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36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" name="Google Shape;198;g2ecfead3591_1_45"/>
          <p:cNvSpPr txBox="1"/>
          <p:nvPr/>
        </p:nvSpPr>
        <p:spPr>
          <a:xfrm>
            <a:off x="63002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09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f8f968bb7c_0_26"/>
          <p:cNvSpPr txBox="1"/>
          <p:nvPr>
            <p:ph idx="1" type="body"/>
          </p:nvPr>
        </p:nvSpPr>
        <p:spPr>
          <a:xfrm>
            <a:off x="720725" y="1439875"/>
            <a:ext cx="8111700" cy="26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1"/>
                </a:solidFill>
              </a:rPr>
              <a:t>We have to find out Rem [128^1000/153]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1"/>
                </a:solidFill>
              </a:rPr>
              <a:t> 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1"/>
                </a:solidFill>
              </a:rPr>
              <a:t>This looks a little  difficult if you do not any theorems for finding out remainders. Let us  take a simpler approach and break down the problem into smaller parts.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1"/>
                </a:solidFill>
              </a:rPr>
              <a:t>These type of questions become really simple if you understand the concept of negative remainders. Always try and reduce the dividend to 1 or -1.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1"/>
                </a:solidFill>
              </a:rPr>
              <a:t> 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1"/>
                </a:solidFill>
              </a:rPr>
              <a:t>153 =  9*17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1"/>
                </a:solidFill>
              </a:rPr>
              <a:t>128^1000 = 2^7000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1"/>
                </a:solidFill>
              </a:rPr>
              <a:t> 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1"/>
                </a:solidFill>
              </a:rPr>
              <a:t>Let us find out Rem[2^7000/9] and Rem[2^7000/17]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1"/>
                </a:solidFill>
              </a:rPr>
              <a:t>We will combine them later.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1"/>
                </a:solidFill>
              </a:rPr>
              <a:t> 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1"/>
                </a:solidFill>
              </a:rPr>
              <a:t>Rem[2^7000/9]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1"/>
                </a:solidFill>
              </a:rPr>
              <a:t>= Rem [ 2^6999 x 2 / 9]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1"/>
                </a:solidFill>
              </a:rPr>
              <a:t>= Rem [ 8^2333 x 2 / 9]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1"/>
                </a:solidFill>
              </a:rPr>
              <a:t>= Rem [ (-1)^2333 x 2 / 9]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1"/>
                </a:solidFill>
              </a:rPr>
              <a:t>= Rem [ (-1) x 2 / 9]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1"/>
                </a:solidFill>
              </a:rPr>
              <a:t>= – 2 from 9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1"/>
                </a:solidFill>
              </a:rPr>
              <a:t>= 7</a:t>
            </a:r>
            <a:endParaRPr sz="2100"/>
          </a:p>
        </p:txBody>
      </p:sp>
      <p:sp>
        <p:nvSpPr>
          <p:cNvPr id="204" name="Google Shape;204;g2f8f968bb7c_0_26"/>
          <p:cNvSpPr txBox="1"/>
          <p:nvPr/>
        </p:nvSpPr>
        <p:spPr>
          <a:xfrm>
            <a:off x="720725" y="630250"/>
            <a:ext cx="3118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09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3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3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3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3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3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3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17" st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3">
                                            <p:txEl>
                                              <p:pRg end="17" st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18" st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3">
                                            <p:txEl>
                                              <p:pRg end="18" st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f8f968bb7c_0_31"/>
          <p:cNvSpPr txBox="1"/>
          <p:nvPr>
            <p:ph idx="1" type="body"/>
          </p:nvPr>
        </p:nvSpPr>
        <p:spPr>
          <a:xfrm>
            <a:off x="720725" y="1439875"/>
            <a:ext cx="8111700" cy="26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1"/>
                </a:solidFill>
              </a:rPr>
              <a:t>Rem[2^7000/17]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1"/>
                </a:solidFill>
              </a:rPr>
              <a:t>= Rem [16^1750 / 17]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1"/>
                </a:solidFill>
              </a:rPr>
              <a:t>= Rem [ (-1)^1750 / 17]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1"/>
                </a:solidFill>
              </a:rPr>
              <a:t>= 1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1"/>
                </a:solidFill>
              </a:rPr>
              <a:t> 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1"/>
                </a:solidFill>
              </a:rPr>
              <a:t>So, our answer is a number which leaves a remainder of 7 when divided by 9 and it should leave a remainder of 1 when divided by 17.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1"/>
                </a:solidFill>
              </a:rPr>
              <a:t> 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1"/>
                </a:solidFill>
              </a:rPr>
              <a:t>Let us start considering all numbers that leave a remainder of 1 when divided by 17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1"/>
                </a:solidFill>
              </a:rPr>
              <a:t>= 18 (leaves a remainder of 0 from 9. Invalid)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1"/>
                </a:solidFill>
              </a:rPr>
              <a:t>= 35 (leaves a remainder of 8 from 9. Invalid)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1"/>
                </a:solidFill>
              </a:rPr>
              <a:t>= 52 (leaves a remainder of 7 from 9. Valid. This is our answer)</a:t>
            </a:r>
            <a:endParaRPr sz="1000"/>
          </a:p>
        </p:txBody>
      </p:sp>
      <p:sp>
        <p:nvSpPr>
          <p:cNvPr id="210" name="Google Shape;210;g2f8f968bb7c_0_31"/>
          <p:cNvSpPr txBox="1"/>
          <p:nvPr/>
        </p:nvSpPr>
        <p:spPr>
          <a:xfrm>
            <a:off x="720725" y="630250"/>
            <a:ext cx="3118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09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9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9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9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ecfead3591_1_53"/>
          <p:cNvSpPr txBox="1"/>
          <p:nvPr/>
        </p:nvSpPr>
        <p:spPr>
          <a:xfrm>
            <a:off x="720725" y="1439876"/>
            <a:ext cx="80949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Find the remainder when 7^26 is divided by 100?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AutoNum type="alphaUcPeriod"/>
            </a:pPr>
            <a:r>
              <a:rPr b="0"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52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AutoNum type="alphaUcPeriod"/>
            </a:pPr>
            <a:r>
              <a:rPr b="0"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23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AutoNum type="alphaUcPeriod"/>
            </a:pPr>
            <a:r>
              <a:rPr b="0"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49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AutoNum type="alphaUcPeriod"/>
            </a:pPr>
            <a:r>
              <a:rPr b="0"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51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6" name="Google Shape;216;g2ecfead3591_1_53"/>
          <p:cNvSpPr txBox="1"/>
          <p:nvPr/>
        </p:nvSpPr>
        <p:spPr>
          <a:xfrm>
            <a:off x="63002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10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f8f968bb7c_0_46"/>
          <p:cNvSpPr txBox="1"/>
          <p:nvPr>
            <p:ph idx="1" type="body"/>
          </p:nvPr>
        </p:nvSpPr>
        <p:spPr>
          <a:xfrm>
            <a:off x="720725" y="1439875"/>
            <a:ext cx="8111700" cy="26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</a:rPr>
              <a:t>Finding out the remainder from 100, is the same as finding out the last two digits of a number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</a:rPr>
              <a:t>Last two digits of 7^1 are 07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</a:rPr>
              <a:t>Last two digits of 7^2 are 49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</a:rPr>
              <a:t>Last two digits of 7^3 are 43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</a:rPr>
              <a:t>Last two digits of 7^4 are 01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</a:rPr>
              <a:t>After this, the same pattern will keep on repeating.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</a:rPr>
              <a:t>So, 7^(4n+1) will end in 07, 7^(4n+2) will end in 49, 7^(4n + 3) will end in 43, and 7^4n will end in 01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</a:rPr>
              <a:t>7^26 = 7^(4n+2) will end in 49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</a:rPr>
              <a:t>= Rem [7^26/100] = 49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222" name="Google Shape;222;g2f8f968bb7c_0_46"/>
          <p:cNvSpPr txBox="1"/>
          <p:nvPr/>
        </p:nvSpPr>
        <p:spPr>
          <a:xfrm>
            <a:off x="720725" y="630250"/>
            <a:ext cx="3118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10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1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1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1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1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ecfead3591_1_61"/>
          <p:cNvSpPr txBox="1"/>
          <p:nvPr/>
        </p:nvSpPr>
        <p:spPr>
          <a:xfrm>
            <a:off x="0" y="211118"/>
            <a:ext cx="4457699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2317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Question: 04</a:t>
            </a:r>
            <a:endParaRPr b="1" i="0" sz="25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8" name="Google Shape;228;g2ecfead3591_1_61"/>
          <p:cNvSpPr txBox="1"/>
          <p:nvPr/>
        </p:nvSpPr>
        <p:spPr>
          <a:xfrm>
            <a:off x="720724" y="1439874"/>
            <a:ext cx="78189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25^102 divided by 17 gives the remainder as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8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13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9" name="Google Shape;229;g2ecfead3591_1_61"/>
          <p:cNvSpPr txBox="1"/>
          <p:nvPr/>
        </p:nvSpPr>
        <p:spPr>
          <a:xfrm>
            <a:off x="63002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11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3"/>
          <p:cNvSpPr txBox="1"/>
          <p:nvPr/>
        </p:nvSpPr>
        <p:spPr>
          <a:xfrm>
            <a:off x="0" y="188686"/>
            <a:ext cx="3123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2317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Explanation</a:t>
            </a:r>
            <a:r>
              <a:rPr b="1" i="0" lang="en-GB" sz="2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 b="1" i="0" sz="25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5" name="Google Shape;235;p23"/>
          <p:cNvSpPr txBox="1"/>
          <p:nvPr/>
        </p:nvSpPr>
        <p:spPr>
          <a:xfrm>
            <a:off x="720725" y="1439875"/>
            <a:ext cx="80949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3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25^102 / 17 = 8^102 / 17 = (2^3)102 / 17 = 2^306 / 17 </a:t>
            </a:r>
            <a:endParaRPr b="0" i="0" sz="13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3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= ((2^4)76 * 2^2) / 17 </a:t>
            </a:r>
            <a:endParaRPr b="0" i="0" sz="13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3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= (-1)76 * 4 / 17 = 4/17 = Remainder is 4</a:t>
            </a:r>
            <a:endParaRPr b="0" i="0" sz="13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" name="Google Shape;236;p23"/>
          <p:cNvSpPr txBox="1"/>
          <p:nvPr/>
        </p:nvSpPr>
        <p:spPr>
          <a:xfrm>
            <a:off x="720725" y="630250"/>
            <a:ext cx="3118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11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ecfead3591_1_68"/>
          <p:cNvSpPr txBox="1"/>
          <p:nvPr/>
        </p:nvSpPr>
        <p:spPr>
          <a:xfrm>
            <a:off x="720725" y="1522451"/>
            <a:ext cx="80949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Find the remainder when 1! + 2! + 3! +4! + 5! + ————–  1000! is divided by 14?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9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" name="Google Shape;242;g2ecfead3591_1_68"/>
          <p:cNvSpPr txBox="1"/>
          <p:nvPr/>
        </p:nvSpPr>
        <p:spPr>
          <a:xfrm>
            <a:off x="63002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12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 txBox="1"/>
          <p:nvPr/>
        </p:nvSpPr>
        <p:spPr>
          <a:xfrm>
            <a:off x="0" y="188686"/>
            <a:ext cx="3123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2317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Explanation</a:t>
            </a:r>
            <a:r>
              <a:rPr b="1" i="0" lang="en-GB" sz="2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 b="1" i="0" sz="25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48" name="Google Shape;24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5354" y="946541"/>
            <a:ext cx="2957303" cy="41189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 txBox="1"/>
          <p:nvPr/>
        </p:nvSpPr>
        <p:spPr>
          <a:xfrm>
            <a:off x="578200" y="383950"/>
            <a:ext cx="3118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12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ecfead3591_1_75"/>
          <p:cNvSpPr txBox="1"/>
          <p:nvPr>
            <p:ph idx="1" type="body"/>
          </p:nvPr>
        </p:nvSpPr>
        <p:spPr>
          <a:xfrm>
            <a:off x="720725" y="1439876"/>
            <a:ext cx="8111700" cy="26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</a:rPr>
              <a:t>Find the remainder when 1! + 2! + 3! +4! + 5! + ————–  1000! is divided by 8?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</a:rPr>
              <a:t>1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</a:rPr>
              <a:t>4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</a:rPr>
              <a:t>7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</a:rPr>
              <a:t>6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255" name="Google Shape;255;g2ecfead3591_1_75"/>
          <p:cNvPicPr preferRelativeResize="0"/>
          <p:nvPr/>
        </p:nvPicPr>
        <p:blipFill rotWithShape="1">
          <a:blip r:embed="rId3">
            <a:alphaModFix/>
          </a:blip>
          <a:srcRect b="0" l="0" r="53855" t="0"/>
          <a:stretch/>
        </p:blipFill>
        <p:spPr>
          <a:xfrm>
            <a:off x="8096775" y="0"/>
            <a:ext cx="1047224" cy="1102725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g2ecfead3591_1_75"/>
          <p:cNvSpPr txBox="1"/>
          <p:nvPr/>
        </p:nvSpPr>
        <p:spPr>
          <a:xfrm>
            <a:off x="63002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13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7"/>
          <p:cNvSpPr txBox="1"/>
          <p:nvPr/>
        </p:nvSpPr>
        <p:spPr>
          <a:xfrm>
            <a:off x="0" y="188686"/>
            <a:ext cx="3123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2317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Explanation</a:t>
            </a:r>
            <a:r>
              <a:rPr b="1" i="0" lang="en-GB" sz="2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 b="1" i="0" sz="25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2" name="Google Shape;26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9100" y="1358225"/>
            <a:ext cx="3392750" cy="33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7"/>
          <p:cNvSpPr txBox="1"/>
          <p:nvPr/>
        </p:nvSpPr>
        <p:spPr>
          <a:xfrm>
            <a:off x="720725" y="630250"/>
            <a:ext cx="3118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13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2ecfead3591_1_82"/>
          <p:cNvSpPr txBox="1"/>
          <p:nvPr>
            <p:ph idx="1" type="body"/>
          </p:nvPr>
        </p:nvSpPr>
        <p:spPr>
          <a:xfrm>
            <a:off x="720725" y="1439874"/>
            <a:ext cx="8111700" cy="31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</a:rPr>
              <a:t>What is the remainder when 767^1009 is divided by 25?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</a:rPr>
              <a:t>18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</a:rPr>
              <a:t>15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</a:rPr>
              <a:t>22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</a:rPr>
              <a:t>516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69" name="Google Shape;269;g2ecfead3591_1_82"/>
          <p:cNvSpPr txBox="1"/>
          <p:nvPr/>
        </p:nvSpPr>
        <p:spPr>
          <a:xfrm>
            <a:off x="63002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14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f8f968bb7c_0_51"/>
          <p:cNvSpPr txBox="1"/>
          <p:nvPr>
            <p:ph idx="1" type="body"/>
          </p:nvPr>
        </p:nvSpPr>
        <p:spPr>
          <a:xfrm>
            <a:off x="720725" y="1439875"/>
            <a:ext cx="5403600" cy="26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Remainder of a number from 25 will be the same as the remainder of the last two digits of the number from 25.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For finding out the last two digits of an odd number raised to a power, we should first try and reduce the base to a number ending in 1.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After that, we can use the property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Last two digits of (…a1)^(…b) will be [Last digit of a*b]1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275" name="Google Shape;275;g2f8f968bb7c_0_51"/>
          <p:cNvSpPr txBox="1"/>
          <p:nvPr/>
        </p:nvSpPr>
        <p:spPr>
          <a:xfrm>
            <a:off x="720725" y="630250"/>
            <a:ext cx="3118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14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f8f968bb7c_0_56"/>
          <p:cNvSpPr txBox="1"/>
          <p:nvPr>
            <p:ph idx="1" type="body"/>
          </p:nvPr>
        </p:nvSpPr>
        <p:spPr>
          <a:xfrm>
            <a:off x="720725" y="1439875"/>
            <a:ext cx="8111700" cy="26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Let us try and apply this concept in the given question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Last two digits of 767^1009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= Last two digits of 67^1009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= Last two digits of 67*67^1008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= Last two digits of 67*(67^2)^504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= Last two digits of 67*(..89)^504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= Last two digits of 67*((..89)^2)^252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= Last two digits of 67*(…21)^252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= Last two digts of 67*(…41) {Here I have used the property mentioned above}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= 47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Rem [767^1009 / 25]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= Rem [47/25]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= 22</a:t>
            </a:r>
            <a:endParaRPr sz="2100"/>
          </a:p>
        </p:txBody>
      </p:sp>
      <p:sp>
        <p:nvSpPr>
          <p:cNvPr id="281" name="Google Shape;281;g2f8f968bb7c_0_56"/>
          <p:cNvSpPr txBox="1"/>
          <p:nvPr/>
        </p:nvSpPr>
        <p:spPr>
          <a:xfrm>
            <a:off x="720725" y="630250"/>
            <a:ext cx="3118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14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0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0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0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ecfead3591_1_89"/>
          <p:cNvSpPr txBox="1"/>
          <p:nvPr>
            <p:ph idx="1" type="body"/>
          </p:nvPr>
        </p:nvSpPr>
        <p:spPr>
          <a:xfrm>
            <a:off x="720725" y="1439874"/>
            <a:ext cx="8111700" cy="31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</a:rPr>
              <a:t>What is the remainder when 2^1040 is divided by 131?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</a:rPr>
              <a:t>91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</a:rPr>
              <a:t>72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</a:rPr>
              <a:t>1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</a:rPr>
              <a:t>8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87" name="Google Shape;287;g2ecfead3591_1_89"/>
          <p:cNvSpPr txBox="1"/>
          <p:nvPr/>
        </p:nvSpPr>
        <p:spPr>
          <a:xfrm>
            <a:off x="63002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15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1"/>
          <p:cNvSpPr txBox="1"/>
          <p:nvPr/>
        </p:nvSpPr>
        <p:spPr>
          <a:xfrm>
            <a:off x="0" y="188686"/>
            <a:ext cx="3123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2317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Explanation</a:t>
            </a:r>
            <a:r>
              <a:rPr b="1" i="0" lang="en-GB" sz="2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 b="1" i="0" sz="25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3" name="Google Shape;293;p31"/>
          <p:cNvSpPr txBox="1"/>
          <p:nvPr/>
        </p:nvSpPr>
        <p:spPr>
          <a:xfrm>
            <a:off x="720725" y="1439875"/>
            <a:ext cx="8094900" cy="22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We have to find out Rem [2^1040/131]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As per Fermat’s Theorem, [a^(p-1)/p] = 1 where p is a prime number and HCF(a,p) = 1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Rem [2^130 / 131] = 1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= Rem [(2^130)^8 / 131] = 1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= Rem [2^1040 / 131] = 1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p31"/>
          <p:cNvSpPr txBox="1"/>
          <p:nvPr/>
        </p:nvSpPr>
        <p:spPr>
          <a:xfrm>
            <a:off x="720725" y="630250"/>
            <a:ext cx="3118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15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9"/>
          <p:cNvSpPr/>
          <p:nvPr/>
        </p:nvSpPr>
        <p:spPr>
          <a:xfrm>
            <a:off x="555120" y="915840"/>
            <a:ext cx="7544880" cy="830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00" name="Google Shape;300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99160" y="913210"/>
            <a:ext cx="2855119" cy="2888456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49"/>
          <p:cNvSpPr/>
          <p:nvPr/>
        </p:nvSpPr>
        <p:spPr>
          <a:xfrm>
            <a:off x="1634729" y="4055269"/>
            <a:ext cx="5183981" cy="28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82925" lIns="81625" spcFirstLastPara="1" rIns="81625" wrap="square" tIns="82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sng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https://learn.codemithra.com</a:t>
            </a:r>
            <a:endParaRPr b="0" i="0" sz="1200" u="none" cap="none" strike="noStrike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50"/>
          <p:cNvSpPr txBox="1"/>
          <p:nvPr/>
        </p:nvSpPr>
        <p:spPr>
          <a:xfrm>
            <a:off x="3141000" y="2194650"/>
            <a:ext cx="2862000" cy="75402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0" i="0" lang="en-GB" sz="3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THANK YOU</a:t>
            </a:r>
            <a:endParaRPr b="0" i="0" sz="37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08" name="Google Shape;308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2016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72650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50"/>
          <p:cNvSpPr txBox="1"/>
          <p:nvPr/>
        </p:nvSpPr>
        <p:spPr>
          <a:xfrm>
            <a:off x="1980750" y="4590801"/>
            <a:ext cx="1187100" cy="3385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+91 78150 95095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1" name="Google Shape;311;p50"/>
          <p:cNvCxnSpPr/>
          <p:nvPr/>
        </p:nvCxnSpPr>
        <p:spPr>
          <a:xfrm rot="10800000">
            <a:off x="3220250" y="4619675"/>
            <a:ext cx="0" cy="300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2" name="Google Shape;312;p50"/>
          <p:cNvSpPr txBox="1"/>
          <p:nvPr/>
        </p:nvSpPr>
        <p:spPr>
          <a:xfrm>
            <a:off x="3519050" y="4590801"/>
            <a:ext cx="1934700" cy="3385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codemithra@ethnus.com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3" name="Google Shape;313;p5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23771" y="4591063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50"/>
          <p:cNvSpPr txBox="1"/>
          <p:nvPr/>
        </p:nvSpPr>
        <p:spPr>
          <a:xfrm>
            <a:off x="5457275" y="4590801"/>
            <a:ext cx="1934700" cy="3385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www.codemithra.com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5" name="Google Shape;315;p50"/>
          <p:cNvCxnSpPr/>
          <p:nvPr/>
        </p:nvCxnSpPr>
        <p:spPr>
          <a:xfrm rot="10800000">
            <a:off x="5166625" y="4610150"/>
            <a:ext cx="0" cy="300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pooja ram</dc:creator>
</cp:coreProperties>
</file>