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8" r:id="rId5"/>
    <p:sldMasterId id="214748366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y="5143500" cx="9144000"/>
  <p:notesSz cx="6858000" cy="9144000"/>
  <p:embeddedFontLst>
    <p:embeddedFont>
      <p:font typeface="Roboto"/>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47" roundtripDataSignature="AMtx7mjTizLGFv3LByl64+WECzJEOojH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font" Target="fonts/Roboto-bold.fntdata"/><Relationship Id="rId21" Type="http://schemas.openxmlformats.org/officeDocument/2006/relationships/slide" Target="slides/slide14.xml"/><Relationship Id="rId43" Type="http://schemas.openxmlformats.org/officeDocument/2006/relationships/font" Target="fonts/Roboto-regular.fntdata"/><Relationship Id="rId24" Type="http://schemas.openxmlformats.org/officeDocument/2006/relationships/slide" Target="slides/slide17.xml"/><Relationship Id="rId46" Type="http://schemas.openxmlformats.org/officeDocument/2006/relationships/font" Target="fonts/Roboto-boldItalic.fntdata"/><Relationship Id="rId23" Type="http://schemas.openxmlformats.org/officeDocument/2006/relationships/slide" Target="slides/slide16.xml"/><Relationship Id="rId45"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47" Type="http://customschemas.google.com/relationships/presentationmetadata" Target="meta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2aa43c559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g32aa43c559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4337fc5d25_0_3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14337fc5d25_0_3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800"/>
              </a:spcBef>
              <a:spcAft>
                <a:spcPts val="0"/>
              </a:spcAft>
              <a:buSzPts val="1400"/>
              <a:buNone/>
            </a:pPr>
            <a:r>
              <a:t/>
            </a:r>
            <a:endParaRPr b="1" sz="1400">
              <a:solidFill>
                <a:schemeClr val="dk1"/>
              </a:solidFill>
              <a:highlight>
                <a:schemeClr val="lt1"/>
              </a:highlight>
              <a:latin typeface="Roboto"/>
              <a:ea typeface="Roboto"/>
              <a:cs typeface="Roboto"/>
              <a:sym typeface="Roboto"/>
            </a:endParaRPr>
          </a:p>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4337fc5d25_0_4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14337fc5d25_0_4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1b9c7de5d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31b9c7de5da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4337fc5d25_0_5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14337fc5d25_0_5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1b9c7de5da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31b9c7de5da_0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4337fc5d25_0_5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14337fc5d25_0_5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1b9c7de5da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31b9c7de5da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4337fc5d25_0_5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14337fc5d25_0_5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1b9c7de5d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31b9c7de5da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4337fc5d25_0_5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14337fc5d25_0_5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1b9c7de5d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g31b9c7de5da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4337fc5d25_0_5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g14337fc5d25_0_5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4337fc5d25_0_6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g14337fc5d25_0_6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4337fc5d25_0_6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14337fc5d25_0_6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4337fc5d25_0_6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14337fc5d25_0_6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4337fc5d25_0_6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14337fc5d25_0_6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4337fc5d25_0_6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g14337fc5d25_0_6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4337fc5d25_0_6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g14337fc5d25_0_6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4337fc5d25_0_6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14337fc5d25_0_6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4337fc5d25_0_6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14337fc5d25_0_6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4337fc5d25_0_6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g14337fc5d25_0_6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4337fc5d25_0_6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g14337fc5d25_0_6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4337fc5d25_0_6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g14337fc5d25_0_6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4337fc5d25_0_6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g14337fc5d25_0_6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4337fc5d25_0_7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g14337fc5d25_0_7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4337fc5d25_0_7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g14337fc5d25_0_7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4337fc5d25_0_7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g14337fc5d25_0_7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4337fc5d25_0_7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g14337fc5d25_0_7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4337fc5d25_0_7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g14337fc5d25_0_7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4337fc5d25_0_7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g14337fc5d25_0_7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GB">
                <a:solidFill>
                  <a:schemeClr val="dk1"/>
                </a:solidFill>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showMasterSp="0" type="tx">
  <p:cSld name="TITLE_AND_BODY">
    <p:spTree>
      <p:nvGrpSpPr>
        <p:cNvPr id="49" name="Shape 49"/>
        <p:cNvGrpSpPr/>
        <p:nvPr/>
      </p:nvGrpSpPr>
      <p:grpSpPr>
        <a:xfrm>
          <a:off x="0" y="0"/>
          <a:ext cx="0" cy="0"/>
          <a:chOff x="0" y="0"/>
          <a:chExt cx="0" cy="0"/>
        </a:xfrm>
      </p:grpSpPr>
      <p:sp>
        <p:nvSpPr>
          <p:cNvPr id="50" name="Google Shape;50;g14337fc5d25_0_4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g14337fc5d25_0_49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2" name="Google Shape;52;g14337fc5d25_0_49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3" name="Google Shape;53;g14337fc5d25_0_490"/>
          <p:cNvPicPr preferRelativeResize="0"/>
          <p:nvPr/>
        </p:nvPicPr>
        <p:blipFill rotWithShape="1">
          <a:blip r:embed="rId2">
            <a:alphaModFix/>
          </a:blip>
          <a:srcRect b="0" l="0" r="0" t="0"/>
          <a:stretch/>
        </p:blipFill>
        <p:spPr>
          <a:xfrm>
            <a:off x="-1" y="7219"/>
            <a:ext cx="9144001" cy="513628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g14337fc5d25_0_49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g14337fc5d25_0_4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8" name="Shape 58"/>
        <p:cNvGrpSpPr/>
        <p:nvPr/>
      </p:nvGrpSpPr>
      <p:grpSpPr>
        <a:xfrm>
          <a:off x="0" y="0"/>
          <a:ext cx="0" cy="0"/>
          <a:chOff x="0" y="0"/>
          <a:chExt cx="0" cy="0"/>
        </a:xfrm>
      </p:grpSpPr>
      <p:sp>
        <p:nvSpPr>
          <p:cNvPr id="59" name="Google Shape;59;g14337fc5d25_0_49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0" name="Google Shape;60;g14337fc5d25_0_49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g14337fc5d25_0_50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63" name="Google Shape;63;g14337fc5d25_0_50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4" name="Google Shape;64;g14337fc5d25_0_50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5" name="Google Shape;65;g14337fc5d25_0_50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6" name="Google Shape;66;g14337fc5d25_0_5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7" name="Shape 67"/>
        <p:cNvGrpSpPr/>
        <p:nvPr/>
      </p:nvGrpSpPr>
      <p:grpSpPr>
        <a:xfrm>
          <a:off x="0" y="0"/>
          <a:ext cx="0" cy="0"/>
          <a:chOff x="0" y="0"/>
          <a:chExt cx="0" cy="0"/>
        </a:xfrm>
      </p:grpSpPr>
      <p:sp>
        <p:nvSpPr>
          <p:cNvPr id="68" name="Google Shape;68;g14337fc5d25_0_50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69" name="Google Shape;69;g14337fc5d25_0_50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0" name="Shape 70"/>
        <p:cNvGrpSpPr/>
        <p:nvPr/>
      </p:nvGrpSpPr>
      <p:grpSpPr>
        <a:xfrm>
          <a:off x="0" y="0"/>
          <a:ext cx="0" cy="0"/>
          <a:chOff x="0" y="0"/>
          <a:chExt cx="0" cy="0"/>
        </a:xfrm>
      </p:grpSpPr>
      <p:sp>
        <p:nvSpPr>
          <p:cNvPr id="71" name="Google Shape;71;g14337fc5d25_0_50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2" name="Google Shape;72;g14337fc5d25_0_50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73" name="Google Shape;73;g14337fc5d25_0_50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74" name="Shape 74"/>
        <p:cNvGrpSpPr/>
        <p:nvPr/>
      </p:nvGrpSpPr>
      <p:grpSpPr>
        <a:xfrm>
          <a:off x="0" y="0"/>
          <a:ext cx="0" cy="0"/>
          <a:chOff x="0" y="0"/>
          <a:chExt cx="0" cy="0"/>
        </a:xfrm>
      </p:grpSpPr>
      <p:pic>
        <p:nvPicPr>
          <p:cNvPr descr="A close up of a logo&#10;&#10;Description generated with high confidence" id="75" name="Google Shape;75;g14337fc5d25_0_513"/>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76" name="Google Shape;76;g14337fc5d25_0_513"/>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7" name="Google Shape;77;g14337fc5d25_0_513"/>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8" name="Google Shape;78;g14337fc5d25_0_513"/>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9" name="Google Shape;79;g14337fc5d25_0_513"/>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5" name="Shape 85"/>
        <p:cNvGrpSpPr/>
        <p:nvPr/>
      </p:nvGrpSpPr>
      <p:grpSpPr>
        <a:xfrm>
          <a:off x="0" y="0"/>
          <a:ext cx="0" cy="0"/>
          <a:chOff x="0" y="0"/>
          <a:chExt cx="0" cy="0"/>
        </a:xfrm>
      </p:grpSpPr>
      <p:sp>
        <p:nvSpPr>
          <p:cNvPr id="86" name="Google Shape;86;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7" name="Google Shape;87;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8" name="Google Shape;88;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9" name="Google Shape;89;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2" name="Google Shape;92;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3" name="Google Shape;93;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94" name="Shape 94"/>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5" name="Shape 95"/>
        <p:cNvGrpSpPr/>
        <p:nvPr/>
      </p:nvGrpSpPr>
      <p:grpSpPr>
        <a:xfrm>
          <a:off x="0" y="0"/>
          <a:ext cx="0" cy="0"/>
          <a:chOff x="0" y="0"/>
          <a:chExt cx="0" cy="0"/>
        </a:xfrm>
      </p:grpSpPr>
      <p:sp>
        <p:nvSpPr>
          <p:cNvPr id="96" name="Google Shape;96;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7" name="Google Shape;97;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0" name="Google Shape;100;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1" name="Shape 101"/>
        <p:cNvGrpSpPr/>
        <p:nvPr/>
      </p:nvGrpSpPr>
      <p:grpSpPr>
        <a:xfrm>
          <a:off x="0" y="0"/>
          <a:ext cx="0" cy="0"/>
          <a:chOff x="0" y="0"/>
          <a:chExt cx="0" cy="0"/>
        </a:xfrm>
      </p:grpSpPr>
      <p:sp>
        <p:nvSpPr>
          <p:cNvPr id="102" name="Google Shape;102;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3" name="Google Shape;103;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04" name="Google Shape;104;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5" name="Shape 105"/>
        <p:cNvGrpSpPr/>
        <p:nvPr/>
      </p:nvGrpSpPr>
      <p:grpSpPr>
        <a:xfrm>
          <a:off x="0" y="0"/>
          <a:ext cx="0" cy="0"/>
          <a:chOff x="0" y="0"/>
          <a:chExt cx="0" cy="0"/>
        </a:xfrm>
      </p:grpSpPr>
      <p:sp>
        <p:nvSpPr>
          <p:cNvPr id="106" name="Google Shape;106;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7" name="Google Shape;107;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10" name="Google Shape;110;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1" name="Google Shape;111;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2" name="Google Shape;112;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13" name="Google Shape;113;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4" name="Shape 114"/>
        <p:cNvGrpSpPr/>
        <p:nvPr/>
      </p:nvGrpSpPr>
      <p:grpSpPr>
        <a:xfrm>
          <a:off x="0" y="0"/>
          <a:ext cx="0" cy="0"/>
          <a:chOff x="0" y="0"/>
          <a:chExt cx="0" cy="0"/>
        </a:xfrm>
      </p:grpSpPr>
      <p:sp>
        <p:nvSpPr>
          <p:cNvPr id="115" name="Google Shape;115;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116" name="Google Shape;116;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7" name="Shape 117"/>
        <p:cNvGrpSpPr/>
        <p:nvPr/>
      </p:nvGrpSpPr>
      <p:grpSpPr>
        <a:xfrm>
          <a:off x="0" y="0"/>
          <a:ext cx="0" cy="0"/>
          <a:chOff x="0" y="0"/>
          <a:chExt cx="0" cy="0"/>
        </a:xfrm>
      </p:grpSpPr>
      <p:sp>
        <p:nvSpPr>
          <p:cNvPr id="118" name="Google Shape;118;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19" name="Google Shape;119;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120" name="Google Shape;120;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10" Type="http://schemas.openxmlformats.org/officeDocument/2006/relationships/theme" Target="../theme/theme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theme" Target="../theme/theme3.xml"/><Relationship Id="rId12" Type="http://schemas.openxmlformats.org/officeDocument/2006/relationships/slideLayout" Target="../slideLayouts/slideLayout28.xml"/><Relationship Id="rId1" Type="http://schemas.openxmlformats.org/officeDocument/2006/relationships/image" Target="../media/image4.jpg"/><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 name="Shape 44"/>
        <p:cNvGrpSpPr/>
        <p:nvPr/>
      </p:nvGrpSpPr>
      <p:grpSpPr>
        <a:xfrm>
          <a:off x="0" y="0"/>
          <a:ext cx="0" cy="0"/>
          <a:chOff x="0" y="0"/>
          <a:chExt cx="0" cy="0"/>
        </a:xfrm>
      </p:grpSpPr>
      <p:sp>
        <p:nvSpPr>
          <p:cNvPr id="45" name="Google Shape;45;g14337fc5d25_0_48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6" name="Google Shape;46;g14337fc5d25_0_48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47" name="Google Shape;47;g14337fc5d25_0_4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g14337fc5d25_0_485"/>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0" name="Shape 80"/>
        <p:cNvGrpSpPr/>
        <p:nvPr/>
      </p:nvGrpSpPr>
      <p:grpSpPr>
        <a:xfrm>
          <a:off x="0" y="0"/>
          <a:ext cx="0" cy="0"/>
          <a:chOff x="0" y="0"/>
          <a:chExt cx="0" cy="0"/>
        </a:xfrm>
      </p:grpSpPr>
      <p:sp>
        <p:nvSpPr>
          <p:cNvPr id="81" name="Google Shape;81;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2" name="Google Shape;82;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3" name="Google Shape;83;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84" name="Google Shape;84;g14337fc5d25_0_837"/>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1.png"/><Relationship Id="rId5"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8.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4.xml"/><Relationship Id="rId3" Type="http://schemas.openxmlformats.org/officeDocument/2006/relationships/image" Target="../media/image22.png"/><Relationship Id="rId4" Type="http://schemas.openxmlformats.org/officeDocument/2006/relationships/hyperlink" Target="https://learn.codemithra.co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5.xml"/><Relationship Id="rId3" Type="http://schemas.openxmlformats.org/officeDocument/2006/relationships/image" Target="../media/image17.jpg"/><Relationship Id="rId4" Type="http://schemas.openxmlformats.org/officeDocument/2006/relationships/image" Target="../media/image19.png"/><Relationship Id="rId5" Type="http://schemas.openxmlformats.org/officeDocument/2006/relationships/image" Target="../media/image15.png"/><Relationship Id="rId6"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28" name="Google Shape;128;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129" name="Google Shape;129;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30" name="Google Shape;130;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31" name="Google Shape;131;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37" name="Google Shape;13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38" name="Google Shape;138;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39" name="Google Shape;139;p3"/>
          <p:cNvSpPr txBox="1"/>
          <p:nvPr/>
        </p:nvSpPr>
        <p:spPr>
          <a:xfrm>
            <a:off x="178001" y="2109682"/>
            <a:ext cx="4690800" cy="1243800"/>
          </a:xfrm>
          <a:prstGeom prst="rect">
            <a:avLst/>
          </a:prstGeom>
          <a:noFill/>
          <a:ln>
            <a:noFill/>
          </a:ln>
        </p:spPr>
        <p:txBody>
          <a:bodyPr anchorCtr="0" anchor="t" bIns="91425" lIns="91425" spcFirstLastPara="1" rIns="91425" wrap="square" tIns="91425">
            <a:spAutoFit/>
          </a:bodyPr>
          <a:lstStyle/>
          <a:p>
            <a:pPr indent="0" lvl="0" marL="114300" marR="0" rtl="0" algn="ctr">
              <a:lnSpc>
                <a:spcPct val="115000"/>
              </a:lnSpc>
              <a:spcBef>
                <a:spcPts val="0"/>
              </a:spcBef>
              <a:spcAft>
                <a:spcPts val="0"/>
              </a:spcAft>
              <a:buClr>
                <a:srgbClr val="000000"/>
              </a:buClr>
              <a:buSzPts val="1800"/>
              <a:buFont typeface="Arial"/>
              <a:buNone/>
            </a:pPr>
            <a:r>
              <a:rPr b="1" i="0" lang="en-GB" sz="3200" u="none" cap="none" strike="noStrike">
                <a:solidFill>
                  <a:schemeClr val="lt1"/>
                </a:solidFill>
                <a:latin typeface="Roboto"/>
                <a:ea typeface="Roboto"/>
                <a:cs typeface="Roboto"/>
                <a:sym typeface="Roboto"/>
              </a:rPr>
              <a:t>MIXTURES AND ALLIGATIONS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2aa43c5594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chemeClr val="dk1"/>
                </a:solidFill>
                <a:highlight>
                  <a:srgbClr val="FFFFFF"/>
                </a:highlight>
                <a:latin typeface="Roboto"/>
                <a:ea typeface="Roboto"/>
                <a:cs typeface="Roboto"/>
                <a:sym typeface="Roboto"/>
              </a:rPr>
              <a:t>QR CODE</a:t>
            </a:r>
            <a:r>
              <a:rPr b="1" lang="en-GB"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145" name="Google Shape;145;g32aa43c5594_0_0"/>
          <p:cNvSpPr txBox="1"/>
          <p:nvPr/>
        </p:nvSpPr>
        <p:spPr>
          <a:xfrm>
            <a:off x="577325" y="622125"/>
            <a:ext cx="77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GB" sz="1800" u="none" cap="none" strike="noStrike">
                <a:solidFill>
                  <a:srgbClr val="000000"/>
                </a:solidFill>
                <a:latin typeface="Roboto"/>
                <a:ea typeface="Roboto"/>
                <a:cs typeface="Roboto"/>
                <a:sym typeface="Roboto"/>
              </a:rPr>
              <a:t>                                    Test time on : </a:t>
            </a:r>
            <a:endParaRPr b="1" i="0" sz="1800" u="none" cap="none" strike="noStrike">
              <a:solidFill>
                <a:srgbClr val="000000"/>
              </a:solidFill>
              <a:latin typeface="Roboto"/>
              <a:ea typeface="Roboto"/>
              <a:cs typeface="Roboto"/>
              <a:sym typeface="Roboto"/>
            </a:endParaRPr>
          </a:p>
        </p:txBody>
      </p:sp>
      <p:sp>
        <p:nvSpPr>
          <p:cNvPr id="146" name="Google Shape;146;g32aa43c5594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14337fc5d25_0_39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01</a:t>
            </a:r>
            <a:endParaRPr b="1" i="0" sz="2000" u="none" cap="none" strike="noStrike">
              <a:solidFill>
                <a:srgbClr val="8182EF"/>
              </a:solidFill>
              <a:latin typeface="Roboto"/>
              <a:ea typeface="Roboto"/>
              <a:cs typeface="Roboto"/>
              <a:sym typeface="Roboto"/>
            </a:endParaRPr>
          </a:p>
        </p:txBody>
      </p:sp>
      <p:sp>
        <p:nvSpPr>
          <p:cNvPr id="152" name="Google Shape;152;g14337fc5d25_0_391"/>
          <p:cNvSpPr txBox="1"/>
          <p:nvPr/>
        </p:nvSpPr>
        <p:spPr>
          <a:xfrm>
            <a:off x="720000" y="1440000"/>
            <a:ext cx="7649400" cy="1892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400"/>
              <a:buFont typeface="Arial"/>
              <a:buNone/>
            </a:pPr>
            <a:r>
              <a:rPr b="0" i="0" lang="en-GB" sz="1700" u="none" cap="none" strike="noStrike">
                <a:solidFill>
                  <a:schemeClr val="dk1"/>
                </a:solidFill>
                <a:highlight>
                  <a:schemeClr val="lt1"/>
                </a:highlight>
                <a:latin typeface="Roboto"/>
                <a:ea typeface="Roboto"/>
                <a:cs typeface="Roboto"/>
                <a:sym typeface="Roboto"/>
              </a:rPr>
              <a:t>In what ratio must wheat A at Rs. 10.50 per kg be mixed with wheat B at Rs. 12.30 per kg, so that the mixture be worth of Rs. 11 per kg?</a:t>
            </a:r>
            <a:endParaRPr b="0" i="0" sz="17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80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13 : 5</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18 : 3</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17 : 5</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11 : 5</a:t>
            </a:r>
            <a:endParaRPr b="0" i="0" sz="1800" u="none" cap="none" strike="noStrike">
              <a:solidFill>
                <a:schemeClr val="dk1"/>
              </a:solidFill>
              <a:latin typeface="Roboto"/>
              <a:ea typeface="Roboto"/>
              <a:cs typeface="Roboto"/>
              <a:sym typeface="Roboto"/>
            </a:endParaRPr>
          </a:p>
        </p:txBody>
      </p:sp>
      <p:sp>
        <p:nvSpPr>
          <p:cNvPr id="153" name="Google Shape;153;g14337fc5d25_0_391"/>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anim calcmode="lin" valueType="num">
                                      <p:cBhvr additive="base">
                                        <p:cTn dur="1000"/>
                                        <p:tgtEl>
                                          <p:spTgt spid="15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anim calcmode="lin" valueType="num">
                                      <p:cBhvr additive="base">
                                        <p:cTn dur="1000"/>
                                        <p:tgtEl>
                                          <p:spTgt spid="15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anim calcmode="lin" valueType="num">
                                      <p:cBhvr additive="base">
                                        <p:cTn dur="1000"/>
                                        <p:tgtEl>
                                          <p:spTgt spid="15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anim calcmode="lin" valueType="num">
                                      <p:cBhvr additive="base">
                                        <p:cTn dur="1000"/>
                                        <p:tgtEl>
                                          <p:spTgt spid="15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xEl>
                                              <p:pRg end="4" st="4"/>
                                            </p:txEl>
                                          </p:spTgt>
                                        </p:tgtEl>
                                        <p:attrNameLst>
                                          <p:attrName>style.visibility</p:attrName>
                                        </p:attrNameLst>
                                      </p:cBhvr>
                                      <p:to>
                                        <p:strVal val="visible"/>
                                      </p:to>
                                    </p:set>
                                    <p:anim calcmode="lin" valueType="num">
                                      <p:cBhvr additive="base">
                                        <p:cTn dur="1000"/>
                                        <p:tgtEl>
                                          <p:spTgt spid="15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anim calcmode="lin" valueType="num">
                                      <p:cBhvr additive="base">
                                        <p:cTn dur="1000"/>
                                        <p:tgtEl>
                                          <p:spTgt spid="15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7" name="Shape 157"/>
        <p:cNvGrpSpPr/>
        <p:nvPr/>
      </p:nvGrpSpPr>
      <p:grpSpPr>
        <a:xfrm>
          <a:off x="0" y="0"/>
          <a:ext cx="0" cy="0"/>
          <a:chOff x="0" y="0"/>
          <a:chExt cx="0" cy="0"/>
        </a:xfrm>
      </p:grpSpPr>
      <p:sp>
        <p:nvSpPr>
          <p:cNvPr id="158" name="Google Shape;158;g14337fc5d25_0_477"/>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59" name="Google Shape;159;g14337fc5d25_0_477"/>
          <p:cNvSpPr txBox="1"/>
          <p:nvPr/>
        </p:nvSpPr>
        <p:spPr>
          <a:xfrm>
            <a:off x="720000" y="1066800"/>
            <a:ext cx="682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chemeClr val="dk1"/>
              </a:solidFill>
              <a:highlight>
                <a:schemeClr val="lt1"/>
              </a:highlight>
              <a:latin typeface="Roboto"/>
              <a:ea typeface="Roboto"/>
              <a:cs typeface="Roboto"/>
              <a:sym typeface="Roboto"/>
            </a:endParaRPr>
          </a:p>
        </p:txBody>
      </p:sp>
      <p:sp>
        <p:nvSpPr>
          <p:cNvPr id="160" name="Google Shape;160;g14337fc5d25_0_477"/>
          <p:cNvSpPr txBox="1"/>
          <p:nvPr/>
        </p:nvSpPr>
        <p:spPr>
          <a:xfrm>
            <a:off x="720000" y="3839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01</a:t>
            </a:r>
            <a:endParaRPr b="1" i="0" sz="2000" u="none" cap="none" strike="noStrike">
              <a:solidFill>
                <a:srgbClr val="8182EF"/>
              </a:solidFill>
              <a:latin typeface="Roboto"/>
              <a:ea typeface="Roboto"/>
              <a:cs typeface="Roboto"/>
              <a:sym typeface="Roboto"/>
            </a:endParaRPr>
          </a:p>
        </p:txBody>
      </p:sp>
      <p:sp>
        <p:nvSpPr>
          <p:cNvPr id="161" name="Google Shape;161;g14337fc5d25_0_477"/>
          <p:cNvSpPr txBox="1"/>
          <p:nvPr/>
        </p:nvSpPr>
        <p:spPr>
          <a:xfrm>
            <a:off x="814375" y="999450"/>
            <a:ext cx="73842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Convert Rs into paise, to make the calculation easy</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80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                                            The required ratio = 130 : 50 = 13 : 5</a:t>
            </a:r>
            <a:endParaRPr b="1" i="0" sz="1400" u="none" cap="none" strike="noStrike">
              <a:solidFill>
                <a:srgbClr val="000000"/>
              </a:solidFill>
              <a:highlight>
                <a:srgbClr val="FFFFFF"/>
              </a:highlight>
              <a:latin typeface="Arial"/>
              <a:ea typeface="Arial"/>
              <a:cs typeface="Arial"/>
              <a:sym typeface="Arial"/>
            </a:endParaRPr>
          </a:p>
        </p:txBody>
      </p:sp>
      <p:pic>
        <p:nvPicPr>
          <p:cNvPr id="162" name="Google Shape;162;g14337fc5d25_0_477"/>
          <p:cNvPicPr preferRelativeResize="0"/>
          <p:nvPr/>
        </p:nvPicPr>
        <p:blipFill rotWithShape="1">
          <a:blip r:embed="rId3">
            <a:alphaModFix/>
          </a:blip>
          <a:srcRect b="0" l="0" r="0" t="0"/>
          <a:stretch/>
        </p:blipFill>
        <p:spPr>
          <a:xfrm>
            <a:off x="1928950" y="1467000"/>
            <a:ext cx="2535250" cy="1677475"/>
          </a:xfrm>
          <a:prstGeom prst="rect">
            <a:avLst/>
          </a:prstGeom>
          <a:noFill/>
          <a:ln>
            <a:noFill/>
          </a:ln>
        </p:spPr>
      </p:pic>
      <p:pic>
        <p:nvPicPr>
          <p:cNvPr id="163" name="Google Shape;163;g14337fc5d25_0_477"/>
          <p:cNvPicPr preferRelativeResize="0"/>
          <p:nvPr/>
        </p:nvPicPr>
        <p:blipFill rotWithShape="1">
          <a:blip r:embed="rId4">
            <a:alphaModFix/>
          </a:blip>
          <a:srcRect b="0" l="0" r="0" t="0"/>
          <a:stretch/>
        </p:blipFill>
        <p:spPr>
          <a:xfrm>
            <a:off x="5309550" y="1812376"/>
            <a:ext cx="2535250" cy="642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gtEl>
                                        <p:attrNameLst>
                                          <p:attrName>style.visibility</p:attrName>
                                        </p:attrNameLst>
                                      </p:cBhvr>
                                      <p:to>
                                        <p:strVal val="visible"/>
                                      </p:to>
                                    </p:set>
                                    <p:anim calcmode="lin" valueType="num">
                                      <p:cBhvr additive="base">
                                        <p:cTn dur="1000"/>
                                        <p:tgtEl>
                                          <p:spTgt spid="16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gtEl>
                                        <p:attrNameLst>
                                          <p:attrName>style.visibility</p:attrName>
                                        </p:attrNameLst>
                                      </p:cBhvr>
                                      <p:to>
                                        <p:strVal val="visible"/>
                                      </p:to>
                                    </p:set>
                                    <p:anim calcmode="lin" valueType="num">
                                      <p:cBhvr additive="base">
                                        <p:cTn dur="1000"/>
                                        <p:tgtEl>
                                          <p:spTgt spid="16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3"/>
                                        </p:tgtEl>
                                        <p:attrNameLst>
                                          <p:attrName>style.visibility</p:attrName>
                                        </p:attrNameLst>
                                      </p:cBhvr>
                                      <p:to>
                                        <p:strVal val="visible"/>
                                      </p:to>
                                    </p:set>
                                    <p:anim calcmode="lin" valueType="num">
                                      <p:cBhvr additive="base">
                                        <p:cTn dur="1000"/>
                                        <p:tgtEl>
                                          <p:spTgt spid="16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1b9c7de5da_0_7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02</a:t>
            </a:r>
            <a:endParaRPr b="1" i="0" sz="2000" u="none" cap="none" strike="noStrike">
              <a:solidFill>
                <a:srgbClr val="8182EF"/>
              </a:solidFill>
              <a:latin typeface="Roboto"/>
              <a:ea typeface="Roboto"/>
              <a:cs typeface="Roboto"/>
              <a:sym typeface="Roboto"/>
            </a:endParaRPr>
          </a:p>
        </p:txBody>
      </p:sp>
      <p:sp>
        <p:nvSpPr>
          <p:cNvPr id="169" name="Google Shape;169;g31b9c7de5da_0_78"/>
          <p:cNvSpPr txBox="1"/>
          <p:nvPr/>
        </p:nvSpPr>
        <p:spPr>
          <a:xfrm>
            <a:off x="720000" y="1439999"/>
            <a:ext cx="8472300" cy="2328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400"/>
              <a:buFont typeface="Arial"/>
              <a:buNone/>
            </a:pPr>
            <a:r>
              <a:rPr b="0" i="0" lang="en-GB" sz="1700" u="none" cap="none" strike="noStrike">
                <a:solidFill>
                  <a:schemeClr val="dk1"/>
                </a:solidFill>
                <a:highlight>
                  <a:schemeClr val="lt1"/>
                </a:highlight>
                <a:latin typeface="Roboto"/>
                <a:ea typeface="Roboto"/>
                <a:cs typeface="Roboto"/>
                <a:sym typeface="Roboto"/>
              </a:rPr>
              <a:t>In what ratio must a shopkeeper mix Peas and Soybean of Rs. 16 and Rs. 25 per kg respectively, so as to obtain a mixture of Rs. 19.50 ?</a:t>
            </a:r>
            <a:endParaRPr b="0" i="0" sz="1700" u="none" cap="none" strike="noStrike">
              <a:solidFill>
                <a:schemeClr val="dk1"/>
              </a:solidFill>
              <a:highlight>
                <a:schemeClr val="lt1"/>
              </a:highlight>
              <a:latin typeface="Roboto"/>
              <a:ea typeface="Roboto"/>
              <a:cs typeface="Roboto"/>
              <a:sym typeface="Roboto"/>
            </a:endParaRPr>
          </a:p>
          <a:p>
            <a:pPr indent="-323850" lvl="0" marL="360000" marR="0" rtl="0" algn="l">
              <a:lnSpc>
                <a:spcPct val="115000"/>
              </a:lnSpc>
              <a:spcBef>
                <a:spcPts val="800"/>
              </a:spcBef>
              <a:spcAft>
                <a:spcPts val="0"/>
              </a:spcAft>
              <a:buClr>
                <a:schemeClr val="dk1"/>
              </a:buClr>
              <a:buSzPts val="1500"/>
              <a:buFont typeface="Roboto"/>
              <a:buAutoNum type="alphaUcPeriod"/>
            </a:pPr>
            <a:r>
              <a:rPr b="0" i="0" lang="en-GB" sz="1500" u="none" cap="none" strike="noStrike">
                <a:solidFill>
                  <a:schemeClr val="dk1"/>
                </a:solidFill>
                <a:highlight>
                  <a:schemeClr val="lt1"/>
                </a:highlight>
                <a:latin typeface="Roboto"/>
                <a:ea typeface="Roboto"/>
                <a:cs typeface="Roboto"/>
                <a:sym typeface="Roboto"/>
              </a:rPr>
              <a:t> 9 : 5</a:t>
            </a:r>
            <a:endParaRPr b="0" i="0" sz="1500" u="none" cap="none" strike="noStrike">
              <a:solidFill>
                <a:schemeClr val="dk1"/>
              </a:solidFill>
              <a:highlight>
                <a:schemeClr val="lt1"/>
              </a:highlight>
              <a:latin typeface="Roboto"/>
              <a:ea typeface="Roboto"/>
              <a:cs typeface="Roboto"/>
              <a:sym typeface="Roboto"/>
            </a:endParaRPr>
          </a:p>
          <a:p>
            <a:pPr indent="-323850" lvl="0" marL="360000" marR="0" rtl="0" algn="l">
              <a:lnSpc>
                <a:spcPct val="115000"/>
              </a:lnSpc>
              <a:spcBef>
                <a:spcPts val="0"/>
              </a:spcBef>
              <a:spcAft>
                <a:spcPts val="0"/>
              </a:spcAft>
              <a:buClr>
                <a:schemeClr val="dk1"/>
              </a:buClr>
              <a:buSzPts val="1500"/>
              <a:buFont typeface="Roboto"/>
              <a:buAutoNum type="alphaUcPeriod"/>
            </a:pPr>
            <a:r>
              <a:rPr b="0" i="0" lang="en-GB" sz="1500" u="none" cap="none" strike="noStrike">
                <a:solidFill>
                  <a:schemeClr val="dk1"/>
                </a:solidFill>
                <a:highlight>
                  <a:schemeClr val="lt1"/>
                </a:highlight>
                <a:latin typeface="Roboto"/>
                <a:ea typeface="Roboto"/>
                <a:cs typeface="Roboto"/>
                <a:sym typeface="Roboto"/>
              </a:rPr>
              <a:t> 7 : 5</a:t>
            </a:r>
            <a:endParaRPr b="0" i="0" sz="1500" u="none" cap="none" strike="noStrike">
              <a:solidFill>
                <a:schemeClr val="dk1"/>
              </a:solidFill>
              <a:highlight>
                <a:schemeClr val="lt1"/>
              </a:highlight>
              <a:latin typeface="Roboto"/>
              <a:ea typeface="Roboto"/>
              <a:cs typeface="Roboto"/>
              <a:sym typeface="Roboto"/>
            </a:endParaRPr>
          </a:p>
          <a:p>
            <a:pPr indent="-323850" lvl="0" marL="360000" marR="0" rtl="0" algn="l">
              <a:lnSpc>
                <a:spcPct val="115000"/>
              </a:lnSpc>
              <a:spcBef>
                <a:spcPts val="0"/>
              </a:spcBef>
              <a:spcAft>
                <a:spcPts val="0"/>
              </a:spcAft>
              <a:buClr>
                <a:schemeClr val="dk1"/>
              </a:buClr>
              <a:buSzPts val="1500"/>
              <a:buFont typeface="Roboto"/>
              <a:buAutoNum type="alphaUcPeriod"/>
            </a:pPr>
            <a:r>
              <a:rPr b="0" i="0" lang="en-GB" sz="1500" u="none" cap="none" strike="noStrike">
                <a:solidFill>
                  <a:schemeClr val="dk1"/>
                </a:solidFill>
                <a:highlight>
                  <a:schemeClr val="lt1"/>
                </a:highlight>
                <a:latin typeface="Roboto"/>
                <a:ea typeface="Roboto"/>
                <a:cs typeface="Roboto"/>
                <a:sym typeface="Roboto"/>
              </a:rPr>
              <a:t>11 : 7</a:t>
            </a:r>
            <a:endParaRPr b="0" i="0" sz="1500" u="none" cap="none" strike="noStrike">
              <a:solidFill>
                <a:schemeClr val="dk1"/>
              </a:solidFill>
              <a:highlight>
                <a:schemeClr val="lt1"/>
              </a:highlight>
              <a:latin typeface="Roboto"/>
              <a:ea typeface="Roboto"/>
              <a:cs typeface="Roboto"/>
              <a:sym typeface="Roboto"/>
            </a:endParaRPr>
          </a:p>
          <a:p>
            <a:pPr indent="-323850" lvl="0" marL="360000" marR="0" rtl="0" algn="l">
              <a:lnSpc>
                <a:spcPct val="115000"/>
              </a:lnSpc>
              <a:spcBef>
                <a:spcPts val="0"/>
              </a:spcBef>
              <a:spcAft>
                <a:spcPts val="0"/>
              </a:spcAft>
              <a:buClr>
                <a:schemeClr val="dk1"/>
              </a:buClr>
              <a:buSzPts val="1500"/>
              <a:buFont typeface="Roboto"/>
              <a:buAutoNum type="alphaUcPeriod"/>
            </a:pPr>
            <a:r>
              <a:rPr b="0" i="0" lang="en-GB" sz="1500" u="none" cap="none" strike="noStrike">
                <a:solidFill>
                  <a:schemeClr val="dk1"/>
                </a:solidFill>
                <a:highlight>
                  <a:schemeClr val="lt1"/>
                </a:highlight>
                <a:latin typeface="Roboto"/>
                <a:ea typeface="Roboto"/>
                <a:cs typeface="Roboto"/>
                <a:sym typeface="Roboto"/>
              </a:rPr>
              <a:t>12 : 8</a:t>
            </a:r>
            <a:endParaRPr b="0" i="0" sz="1500" u="none" cap="none" strike="noStrike">
              <a:solidFill>
                <a:schemeClr val="dk1"/>
              </a:solidFill>
              <a:highlight>
                <a:schemeClr val="lt1"/>
              </a:highlight>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170" name="Google Shape;170;g31b9c7de5da_0_78"/>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0" st="0"/>
                                            </p:txEl>
                                          </p:spTgt>
                                        </p:tgtEl>
                                        <p:attrNameLst>
                                          <p:attrName>style.visibility</p:attrName>
                                        </p:attrNameLst>
                                      </p:cBhvr>
                                      <p:to>
                                        <p:strVal val="visible"/>
                                      </p:to>
                                    </p:set>
                                    <p:anim calcmode="lin" valueType="num">
                                      <p:cBhvr additive="base">
                                        <p:cTn dur="1000"/>
                                        <p:tgtEl>
                                          <p:spTgt spid="16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1" st="1"/>
                                            </p:txEl>
                                          </p:spTgt>
                                        </p:tgtEl>
                                        <p:attrNameLst>
                                          <p:attrName>style.visibility</p:attrName>
                                        </p:attrNameLst>
                                      </p:cBhvr>
                                      <p:to>
                                        <p:strVal val="visible"/>
                                      </p:to>
                                    </p:set>
                                    <p:anim calcmode="lin" valueType="num">
                                      <p:cBhvr additive="base">
                                        <p:cTn dur="1000"/>
                                        <p:tgtEl>
                                          <p:spTgt spid="16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2" st="2"/>
                                            </p:txEl>
                                          </p:spTgt>
                                        </p:tgtEl>
                                        <p:attrNameLst>
                                          <p:attrName>style.visibility</p:attrName>
                                        </p:attrNameLst>
                                      </p:cBhvr>
                                      <p:to>
                                        <p:strVal val="visible"/>
                                      </p:to>
                                    </p:set>
                                    <p:anim calcmode="lin" valueType="num">
                                      <p:cBhvr additive="base">
                                        <p:cTn dur="1000"/>
                                        <p:tgtEl>
                                          <p:spTgt spid="16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3" st="3"/>
                                            </p:txEl>
                                          </p:spTgt>
                                        </p:tgtEl>
                                        <p:attrNameLst>
                                          <p:attrName>style.visibility</p:attrName>
                                        </p:attrNameLst>
                                      </p:cBhvr>
                                      <p:to>
                                        <p:strVal val="visible"/>
                                      </p:to>
                                    </p:set>
                                    <p:anim calcmode="lin" valueType="num">
                                      <p:cBhvr additive="base">
                                        <p:cTn dur="1000"/>
                                        <p:tgtEl>
                                          <p:spTgt spid="16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4" st="4"/>
                                            </p:txEl>
                                          </p:spTgt>
                                        </p:tgtEl>
                                        <p:attrNameLst>
                                          <p:attrName>style.visibility</p:attrName>
                                        </p:attrNameLst>
                                      </p:cBhvr>
                                      <p:to>
                                        <p:strVal val="visible"/>
                                      </p:to>
                                    </p:set>
                                    <p:anim calcmode="lin" valueType="num">
                                      <p:cBhvr additive="base">
                                        <p:cTn dur="1000"/>
                                        <p:tgtEl>
                                          <p:spTgt spid="16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xEl>
                                              <p:pRg end="5" st="5"/>
                                            </p:txEl>
                                          </p:spTgt>
                                        </p:tgtEl>
                                        <p:attrNameLst>
                                          <p:attrName>style.visibility</p:attrName>
                                        </p:attrNameLst>
                                      </p:cBhvr>
                                      <p:to>
                                        <p:strVal val="visible"/>
                                      </p:to>
                                    </p:set>
                                    <p:anim calcmode="lin" valueType="num">
                                      <p:cBhvr additive="base">
                                        <p:cTn dur="1000"/>
                                        <p:tgtEl>
                                          <p:spTgt spid="16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gtEl>
                                        <p:attrNameLst>
                                          <p:attrName>style.visibility</p:attrName>
                                        </p:attrNameLst>
                                      </p:cBhvr>
                                      <p:to>
                                        <p:strVal val="visible"/>
                                      </p:to>
                                    </p:set>
                                    <p:anim calcmode="lin" valueType="num">
                                      <p:cBhvr additive="base">
                                        <p:cTn dur="1100"/>
                                        <p:tgtEl>
                                          <p:spTgt spid="17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4" name="Shape 174"/>
        <p:cNvGrpSpPr/>
        <p:nvPr/>
      </p:nvGrpSpPr>
      <p:grpSpPr>
        <a:xfrm>
          <a:off x="0" y="0"/>
          <a:ext cx="0" cy="0"/>
          <a:chOff x="0" y="0"/>
          <a:chExt cx="0" cy="0"/>
        </a:xfrm>
      </p:grpSpPr>
      <p:sp>
        <p:nvSpPr>
          <p:cNvPr id="175" name="Google Shape;175;g14337fc5d25_0_530"/>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76" name="Google Shape;176;g14337fc5d25_0_530"/>
          <p:cNvSpPr txBox="1"/>
          <p:nvPr/>
        </p:nvSpPr>
        <p:spPr>
          <a:xfrm>
            <a:off x="720725" y="4969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02</a:t>
            </a:r>
            <a:endParaRPr b="1" i="0" sz="2000" u="none" cap="none" strike="noStrike">
              <a:solidFill>
                <a:srgbClr val="8182EF"/>
              </a:solidFill>
              <a:latin typeface="Roboto"/>
              <a:ea typeface="Roboto"/>
              <a:cs typeface="Roboto"/>
              <a:sym typeface="Roboto"/>
            </a:endParaRPr>
          </a:p>
        </p:txBody>
      </p:sp>
      <p:sp>
        <p:nvSpPr>
          <p:cNvPr id="177" name="Google Shape;177;g14337fc5d25_0_530"/>
          <p:cNvSpPr txBox="1"/>
          <p:nvPr/>
        </p:nvSpPr>
        <p:spPr>
          <a:xfrm>
            <a:off x="814375" y="999450"/>
            <a:ext cx="73842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Use rule of alligation, to determine the ratio</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The required ratio of Soybean and Peas = 5.50 : 3.50 = 11 : 7</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800"/>
              </a:spcBef>
              <a:spcAft>
                <a:spcPts val="80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pic>
        <p:nvPicPr>
          <p:cNvPr id="178" name="Google Shape;178;g14337fc5d25_0_530"/>
          <p:cNvPicPr preferRelativeResize="0"/>
          <p:nvPr/>
        </p:nvPicPr>
        <p:blipFill rotWithShape="1">
          <a:blip r:embed="rId3">
            <a:alphaModFix/>
          </a:blip>
          <a:srcRect b="0" l="0" r="0" t="0"/>
          <a:stretch/>
        </p:blipFill>
        <p:spPr>
          <a:xfrm>
            <a:off x="2362750" y="1480888"/>
            <a:ext cx="3083625" cy="2181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gtEl>
                                        <p:attrNameLst>
                                          <p:attrName>style.visibility</p:attrName>
                                        </p:attrNameLst>
                                      </p:cBhvr>
                                      <p:to>
                                        <p:strVal val="visible"/>
                                      </p:to>
                                    </p:set>
                                    <p:anim calcmode="lin" valueType="num">
                                      <p:cBhvr additive="base">
                                        <p:cTn dur="1000"/>
                                        <p:tgtEl>
                                          <p:spTgt spid="1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
                                        </p:tgtEl>
                                        <p:attrNameLst>
                                          <p:attrName>style.visibility</p:attrName>
                                        </p:attrNameLst>
                                      </p:cBhvr>
                                      <p:to>
                                        <p:strVal val="visible"/>
                                      </p:to>
                                    </p:set>
                                    <p:anim calcmode="lin" valueType="num">
                                      <p:cBhvr additive="base">
                                        <p:cTn dur="1000"/>
                                        <p:tgtEl>
                                          <p:spTgt spid="17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1b9c7de5da_0_8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03</a:t>
            </a:r>
            <a:endParaRPr b="1" i="0" sz="2000" u="none" cap="none" strike="noStrike">
              <a:solidFill>
                <a:srgbClr val="8182EF"/>
              </a:solidFill>
              <a:latin typeface="Roboto"/>
              <a:ea typeface="Roboto"/>
              <a:cs typeface="Roboto"/>
              <a:sym typeface="Roboto"/>
            </a:endParaRPr>
          </a:p>
        </p:txBody>
      </p:sp>
      <p:sp>
        <p:nvSpPr>
          <p:cNvPr id="184" name="Google Shape;184;g31b9c7de5da_0_86"/>
          <p:cNvSpPr txBox="1"/>
          <p:nvPr/>
        </p:nvSpPr>
        <p:spPr>
          <a:xfrm>
            <a:off x="720000" y="1439999"/>
            <a:ext cx="8472300" cy="30717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1400"/>
              <a:buFont typeface="Arial"/>
              <a:buNone/>
            </a:pPr>
            <a:r>
              <a:rPr b="0" i="0" lang="en-GB" sz="1800" u="none" cap="none" strike="noStrike">
                <a:solidFill>
                  <a:schemeClr val="dk1"/>
                </a:solidFill>
                <a:highlight>
                  <a:schemeClr val="lt1"/>
                </a:highlight>
                <a:latin typeface="Roboto"/>
                <a:ea typeface="Roboto"/>
                <a:cs typeface="Roboto"/>
                <a:sym typeface="Roboto"/>
              </a:rPr>
              <a:t>10 gallons are drawn from a container full of alcohol and filled with water again. 10 gallons of mixture are again drawn and the container is filled with water again. If the ratio of alcohol and water left in the container is 49 : 32, then find how much quantity does the container hold?</a:t>
            </a:r>
            <a:endParaRPr b="0" i="0" sz="1800" u="none" cap="none" strike="noStrike">
              <a:solidFill>
                <a:schemeClr val="dk1"/>
              </a:solidFill>
              <a:highlight>
                <a:schemeClr val="lt1"/>
              </a:highlight>
              <a:latin typeface="Roboto"/>
              <a:ea typeface="Roboto"/>
              <a:cs typeface="Roboto"/>
              <a:sym typeface="Roboto"/>
            </a:endParaRPr>
          </a:p>
          <a:p>
            <a:pPr indent="-330200" lvl="0" marL="457200" marR="0" rtl="0" algn="just">
              <a:lnSpc>
                <a:spcPct val="115000"/>
              </a:lnSpc>
              <a:spcBef>
                <a:spcPts val="80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35</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45</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55</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60</a:t>
            </a:r>
            <a:endParaRPr b="0" i="0" sz="1600" u="none" cap="none" strike="noStrike">
              <a:solidFill>
                <a:schemeClr val="dk1"/>
              </a:solidFill>
              <a:highlight>
                <a:schemeClr val="lt1"/>
              </a:highlight>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185" name="Google Shape;185;g31b9c7de5da_0_86"/>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anim calcmode="lin" valueType="num">
                                      <p:cBhvr additive="base">
                                        <p:cTn dur="1000"/>
                                        <p:tgtEl>
                                          <p:spTgt spid="18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anim calcmode="lin" valueType="num">
                                      <p:cBhvr additive="base">
                                        <p:cTn dur="1000"/>
                                        <p:tgtEl>
                                          <p:spTgt spid="18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anim calcmode="lin" valueType="num">
                                      <p:cBhvr additive="base">
                                        <p:cTn dur="1000"/>
                                        <p:tgtEl>
                                          <p:spTgt spid="18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4">
                                            <p:txEl>
                                              <p:pRg end="3" st="3"/>
                                            </p:txEl>
                                          </p:spTgt>
                                        </p:tgtEl>
                                        <p:attrNameLst>
                                          <p:attrName>style.visibility</p:attrName>
                                        </p:attrNameLst>
                                      </p:cBhvr>
                                      <p:to>
                                        <p:strVal val="visible"/>
                                      </p:to>
                                    </p:set>
                                    <p:anim calcmode="lin" valueType="num">
                                      <p:cBhvr additive="base">
                                        <p:cTn dur="1000"/>
                                        <p:tgtEl>
                                          <p:spTgt spid="18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4">
                                            <p:txEl>
                                              <p:pRg end="4" st="4"/>
                                            </p:txEl>
                                          </p:spTgt>
                                        </p:tgtEl>
                                        <p:attrNameLst>
                                          <p:attrName>style.visibility</p:attrName>
                                        </p:attrNameLst>
                                      </p:cBhvr>
                                      <p:to>
                                        <p:strVal val="visible"/>
                                      </p:to>
                                    </p:set>
                                    <p:anim calcmode="lin" valueType="num">
                                      <p:cBhvr additive="base">
                                        <p:cTn dur="1000"/>
                                        <p:tgtEl>
                                          <p:spTgt spid="18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4">
                                            <p:txEl>
                                              <p:pRg end="5" st="5"/>
                                            </p:txEl>
                                          </p:spTgt>
                                        </p:tgtEl>
                                        <p:attrNameLst>
                                          <p:attrName>style.visibility</p:attrName>
                                        </p:attrNameLst>
                                      </p:cBhvr>
                                      <p:to>
                                        <p:strVal val="visible"/>
                                      </p:to>
                                    </p:set>
                                    <p:anim calcmode="lin" valueType="num">
                                      <p:cBhvr additive="base">
                                        <p:cTn dur="1000"/>
                                        <p:tgtEl>
                                          <p:spTgt spid="18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anim calcmode="lin" valueType="num">
                                      <p:cBhvr additive="base">
                                        <p:cTn dur="1000"/>
                                        <p:tgtEl>
                                          <p:spTgt spid="18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9" name="Shape 189"/>
        <p:cNvGrpSpPr/>
        <p:nvPr/>
      </p:nvGrpSpPr>
      <p:grpSpPr>
        <a:xfrm>
          <a:off x="0" y="0"/>
          <a:ext cx="0" cy="0"/>
          <a:chOff x="0" y="0"/>
          <a:chExt cx="0" cy="0"/>
        </a:xfrm>
      </p:grpSpPr>
      <p:sp>
        <p:nvSpPr>
          <p:cNvPr id="190" name="Google Shape;190;g14337fc5d25_0_546"/>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91" name="Google Shape;191;g14337fc5d25_0_546"/>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03</a:t>
            </a:r>
            <a:endParaRPr b="1" i="0" sz="2000" u="none" cap="none" strike="noStrike">
              <a:solidFill>
                <a:srgbClr val="8182EF"/>
              </a:solidFill>
              <a:latin typeface="Roboto"/>
              <a:ea typeface="Roboto"/>
              <a:cs typeface="Roboto"/>
              <a:sym typeface="Roboto"/>
            </a:endParaRPr>
          </a:p>
        </p:txBody>
      </p:sp>
      <p:sp>
        <p:nvSpPr>
          <p:cNvPr id="192" name="Google Shape;192;g14337fc5d25_0_546"/>
          <p:cNvSpPr txBox="1"/>
          <p:nvPr/>
        </p:nvSpPr>
        <p:spPr>
          <a:xfrm>
            <a:off x="855675" y="1074250"/>
            <a:ext cx="7887000" cy="5094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chemeClr val="lt1"/>
                </a:highlight>
                <a:latin typeface="Arial"/>
                <a:ea typeface="Arial"/>
                <a:cs typeface="Arial"/>
                <a:sym typeface="Arial"/>
              </a:rPr>
              <a:t>Initially the container contains only wine. 10 gallons of alcohol was removed and same quantity of water was added.</a:t>
            </a:r>
            <a:endParaRPr b="0" i="0" sz="1400" u="none" cap="none" strike="noStrike">
              <a:solidFill>
                <a:schemeClr val="dk1"/>
              </a:solidFill>
              <a:highlight>
                <a:schemeClr val="lt1"/>
              </a:highlight>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chemeClr val="lt1"/>
                </a:highlight>
                <a:latin typeface="Arial"/>
                <a:ea typeface="Arial"/>
                <a:cs typeface="Arial"/>
                <a:sym typeface="Arial"/>
              </a:rPr>
              <a:t>This process is again repeated by replacing the mixture( alcohol + water) of 10 gallons with same quantity of water. Hence, the initial quantity of wine and the final quantity of water and alcohol is the same.</a:t>
            </a:r>
            <a:endParaRPr b="0" i="0" sz="1400" u="none" cap="none" strike="noStrike">
              <a:solidFill>
                <a:schemeClr val="dk1"/>
              </a:solidFill>
              <a:highlight>
                <a:schemeClr val="lt1"/>
              </a:highlight>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chemeClr val="lt1"/>
                </a:highlight>
                <a:latin typeface="Arial"/>
                <a:ea typeface="Arial"/>
                <a:cs typeface="Arial"/>
                <a:sym typeface="Arial"/>
              </a:rPr>
              <a:t>1) First assume that the initial quantity of alcohol is 'A' .</a:t>
            </a:r>
            <a:endParaRPr b="0" i="0" sz="1400" u="none" cap="none" strike="noStrike">
              <a:solidFill>
                <a:schemeClr val="dk1"/>
              </a:solidFill>
              <a:highlight>
                <a:schemeClr val="lt1"/>
              </a:highlight>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chemeClr val="lt1"/>
                </a:highlight>
                <a:latin typeface="Arial"/>
                <a:ea typeface="Arial"/>
                <a:cs typeface="Arial"/>
                <a:sym typeface="Arial"/>
              </a:rPr>
              <a:t>2) We are given that, the ratio of alcohol and water is 49 : 32</a:t>
            </a:r>
            <a:endParaRPr b="0" i="0" sz="1400" u="none" cap="none" strike="noStrike">
              <a:solidFill>
                <a:schemeClr val="dk1"/>
              </a:solidFill>
              <a:highlight>
                <a:schemeClr val="lt1"/>
              </a:highlight>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chemeClr val="lt1"/>
                </a:highlight>
                <a:latin typeface="Arial"/>
                <a:ea typeface="Arial"/>
                <a:cs typeface="Arial"/>
                <a:sym typeface="Arial"/>
              </a:rPr>
              <a:t>3) Assume initial quantity of alcohol in the container = 49 + 32 = 81 ----- (This is because we have assumed that initial quantity of alcohol = final quantity of water and alcohol)</a:t>
            </a:r>
            <a:endParaRPr b="0" i="0" sz="1400" u="none" cap="none" strike="noStrike">
              <a:solidFill>
                <a:schemeClr val="dk1"/>
              </a:solidFill>
              <a:highlight>
                <a:schemeClr val="lt1"/>
              </a:highlight>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chemeClr val="lt1"/>
                </a:highlight>
                <a:latin typeface="Arial"/>
                <a:ea typeface="Arial"/>
                <a:cs typeface="Arial"/>
                <a:sym typeface="Arial"/>
              </a:rPr>
              <a:t>4) Subtract the quantity of alcohol replaced by water from the initial quantity of alcohol (A – B). As this operation is repeated n times, therefore (A – B)</a:t>
            </a:r>
            <a:r>
              <a:rPr b="0" baseline="30000" i="0" lang="en-GB" sz="1400" u="none" cap="none" strike="noStrike">
                <a:solidFill>
                  <a:schemeClr val="dk1"/>
                </a:solidFill>
                <a:highlight>
                  <a:schemeClr val="lt1"/>
                </a:highlight>
                <a:latin typeface="Arial"/>
                <a:ea typeface="Arial"/>
                <a:cs typeface="Arial"/>
                <a:sym typeface="Arial"/>
              </a:rPr>
              <a:t>n</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highlight>
                  <a:schemeClr val="lt1"/>
                </a:highlight>
                <a:latin typeface="Arial"/>
                <a:ea typeface="Arial"/>
                <a:cs typeface="Arial"/>
                <a:sym typeface="Arial"/>
              </a:rPr>
              <a:t>Therefore,</a:t>
            </a:r>
            <a:endParaRPr b="0" i="0" sz="140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chemeClr val="dk1"/>
                </a:solidFill>
                <a:highlight>
                  <a:schemeClr val="lt1"/>
                </a:highlight>
                <a:latin typeface="Arial"/>
                <a:ea typeface="Arial"/>
                <a:cs typeface="Arial"/>
                <a:sym typeface="Arial"/>
              </a:rPr>
              <a:t>                                                            A=45 Gallons                                                   </a:t>
            </a:r>
            <a:endParaRPr b="0" i="0" sz="140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50"/>
              <a:buFont typeface="Arial"/>
              <a:buNone/>
            </a:pPr>
            <a:r>
              <a:t/>
            </a:r>
            <a:endParaRPr b="0" i="0" sz="115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50"/>
              <a:buFont typeface="Arial"/>
              <a:buNone/>
            </a:pPr>
            <a:r>
              <a:rPr b="0" i="0" lang="en-GB" sz="1150" u="none" cap="none" strike="noStrike">
                <a:solidFill>
                  <a:schemeClr val="dk1"/>
                </a:solidFill>
                <a:highlight>
                  <a:schemeClr val="lt1"/>
                </a:highlight>
                <a:latin typeface="Arial"/>
                <a:ea typeface="Arial"/>
                <a:cs typeface="Arial"/>
                <a:sym typeface="Arial"/>
              </a:rPr>
              <a:t>                                                                                                                                                                  </a:t>
            </a:r>
            <a:endParaRPr b="0" i="0" sz="115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pic>
        <p:nvPicPr>
          <p:cNvPr id="193" name="Google Shape;193;g14337fc5d25_0_546"/>
          <p:cNvPicPr preferRelativeResize="0"/>
          <p:nvPr/>
        </p:nvPicPr>
        <p:blipFill rotWithShape="1">
          <a:blip r:embed="rId3">
            <a:alphaModFix/>
          </a:blip>
          <a:srcRect b="0" l="0" r="0" t="0"/>
          <a:stretch/>
        </p:blipFill>
        <p:spPr>
          <a:xfrm>
            <a:off x="2155075" y="3564025"/>
            <a:ext cx="4702800" cy="1171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0" st="0"/>
                                            </p:txEl>
                                          </p:spTgt>
                                        </p:tgtEl>
                                        <p:attrNameLst>
                                          <p:attrName>style.visibility</p:attrName>
                                        </p:attrNameLst>
                                      </p:cBhvr>
                                      <p:to>
                                        <p:strVal val="visible"/>
                                      </p:to>
                                    </p:set>
                                    <p:anim calcmode="lin" valueType="num">
                                      <p:cBhvr additive="base">
                                        <p:cTn dur="1000"/>
                                        <p:tgtEl>
                                          <p:spTgt spid="19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1" st="1"/>
                                            </p:txEl>
                                          </p:spTgt>
                                        </p:tgtEl>
                                        <p:attrNameLst>
                                          <p:attrName>style.visibility</p:attrName>
                                        </p:attrNameLst>
                                      </p:cBhvr>
                                      <p:to>
                                        <p:strVal val="visible"/>
                                      </p:to>
                                    </p:set>
                                    <p:anim calcmode="lin" valueType="num">
                                      <p:cBhvr additive="base">
                                        <p:cTn dur="1000"/>
                                        <p:tgtEl>
                                          <p:spTgt spid="19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2" st="2"/>
                                            </p:txEl>
                                          </p:spTgt>
                                        </p:tgtEl>
                                        <p:attrNameLst>
                                          <p:attrName>style.visibility</p:attrName>
                                        </p:attrNameLst>
                                      </p:cBhvr>
                                      <p:to>
                                        <p:strVal val="visible"/>
                                      </p:to>
                                    </p:set>
                                    <p:anim calcmode="lin" valueType="num">
                                      <p:cBhvr additive="base">
                                        <p:cTn dur="1000"/>
                                        <p:tgtEl>
                                          <p:spTgt spid="19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3" st="3"/>
                                            </p:txEl>
                                          </p:spTgt>
                                        </p:tgtEl>
                                        <p:attrNameLst>
                                          <p:attrName>style.visibility</p:attrName>
                                        </p:attrNameLst>
                                      </p:cBhvr>
                                      <p:to>
                                        <p:strVal val="visible"/>
                                      </p:to>
                                    </p:set>
                                    <p:anim calcmode="lin" valueType="num">
                                      <p:cBhvr additive="base">
                                        <p:cTn dur="1000"/>
                                        <p:tgtEl>
                                          <p:spTgt spid="19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4" st="4"/>
                                            </p:txEl>
                                          </p:spTgt>
                                        </p:tgtEl>
                                        <p:attrNameLst>
                                          <p:attrName>style.visibility</p:attrName>
                                        </p:attrNameLst>
                                      </p:cBhvr>
                                      <p:to>
                                        <p:strVal val="visible"/>
                                      </p:to>
                                    </p:set>
                                    <p:anim calcmode="lin" valueType="num">
                                      <p:cBhvr additive="base">
                                        <p:cTn dur="1000"/>
                                        <p:tgtEl>
                                          <p:spTgt spid="19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5" st="5"/>
                                            </p:txEl>
                                          </p:spTgt>
                                        </p:tgtEl>
                                        <p:attrNameLst>
                                          <p:attrName>style.visibility</p:attrName>
                                        </p:attrNameLst>
                                      </p:cBhvr>
                                      <p:to>
                                        <p:strVal val="visible"/>
                                      </p:to>
                                    </p:set>
                                    <p:anim calcmode="lin" valueType="num">
                                      <p:cBhvr additive="base">
                                        <p:cTn dur="1000"/>
                                        <p:tgtEl>
                                          <p:spTgt spid="19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6" st="6"/>
                                            </p:txEl>
                                          </p:spTgt>
                                        </p:tgtEl>
                                        <p:attrNameLst>
                                          <p:attrName>style.visibility</p:attrName>
                                        </p:attrNameLst>
                                      </p:cBhvr>
                                      <p:to>
                                        <p:strVal val="visible"/>
                                      </p:to>
                                    </p:set>
                                    <p:anim calcmode="lin" valueType="num">
                                      <p:cBhvr additive="base">
                                        <p:cTn dur="1000"/>
                                        <p:tgtEl>
                                          <p:spTgt spid="192">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7" st="7"/>
                                            </p:txEl>
                                          </p:spTgt>
                                        </p:tgtEl>
                                        <p:attrNameLst>
                                          <p:attrName>style.visibility</p:attrName>
                                        </p:attrNameLst>
                                      </p:cBhvr>
                                      <p:to>
                                        <p:strVal val="visible"/>
                                      </p:to>
                                    </p:set>
                                    <p:anim calcmode="lin" valueType="num">
                                      <p:cBhvr additive="base">
                                        <p:cTn dur="1000"/>
                                        <p:tgtEl>
                                          <p:spTgt spid="192">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8" st="8"/>
                                            </p:txEl>
                                          </p:spTgt>
                                        </p:tgtEl>
                                        <p:attrNameLst>
                                          <p:attrName>style.visibility</p:attrName>
                                        </p:attrNameLst>
                                      </p:cBhvr>
                                      <p:to>
                                        <p:strVal val="visible"/>
                                      </p:to>
                                    </p:set>
                                    <p:anim calcmode="lin" valueType="num">
                                      <p:cBhvr additive="base">
                                        <p:cTn dur="1000"/>
                                        <p:tgtEl>
                                          <p:spTgt spid="192">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9" st="9"/>
                                            </p:txEl>
                                          </p:spTgt>
                                        </p:tgtEl>
                                        <p:attrNameLst>
                                          <p:attrName>style.visibility</p:attrName>
                                        </p:attrNameLst>
                                      </p:cBhvr>
                                      <p:to>
                                        <p:strVal val="visible"/>
                                      </p:to>
                                    </p:set>
                                    <p:anim calcmode="lin" valueType="num">
                                      <p:cBhvr additive="base">
                                        <p:cTn dur="1000"/>
                                        <p:tgtEl>
                                          <p:spTgt spid="192">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10" st="10"/>
                                            </p:txEl>
                                          </p:spTgt>
                                        </p:tgtEl>
                                        <p:attrNameLst>
                                          <p:attrName>style.visibility</p:attrName>
                                        </p:attrNameLst>
                                      </p:cBhvr>
                                      <p:to>
                                        <p:strVal val="visible"/>
                                      </p:to>
                                    </p:set>
                                    <p:anim calcmode="lin" valueType="num">
                                      <p:cBhvr additive="base">
                                        <p:cTn dur="1000"/>
                                        <p:tgtEl>
                                          <p:spTgt spid="192">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11" st="11"/>
                                            </p:txEl>
                                          </p:spTgt>
                                        </p:tgtEl>
                                        <p:attrNameLst>
                                          <p:attrName>style.visibility</p:attrName>
                                        </p:attrNameLst>
                                      </p:cBhvr>
                                      <p:to>
                                        <p:strVal val="visible"/>
                                      </p:to>
                                    </p:set>
                                    <p:anim calcmode="lin" valueType="num">
                                      <p:cBhvr additive="base">
                                        <p:cTn dur="1000"/>
                                        <p:tgtEl>
                                          <p:spTgt spid="192">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12" st="12"/>
                                            </p:txEl>
                                          </p:spTgt>
                                        </p:tgtEl>
                                        <p:attrNameLst>
                                          <p:attrName>style.visibility</p:attrName>
                                        </p:attrNameLst>
                                      </p:cBhvr>
                                      <p:to>
                                        <p:strVal val="visible"/>
                                      </p:to>
                                    </p:set>
                                    <p:anim calcmode="lin" valueType="num">
                                      <p:cBhvr additive="base">
                                        <p:cTn dur="1000"/>
                                        <p:tgtEl>
                                          <p:spTgt spid="192">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13" st="13"/>
                                            </p:txEl>
                                          </p:spTgt>
                                        </p:tgtEl>
                                        <p:attrNameLst>
                                          <p:attrName>style.visibility</p:attrName>
                                        </p:attrNameLst>
                                      </p:cBhvr>
                                      <p:to>
                                        <p:strVal val="visible"/>
                                      </p:to>
                                    </p:set>
                                    <p:anim calcmode="lin" valueType="num">
                                      <p:cBhvr additive="base">
                                        <p:cTn dur="1000"/>
                                        <p:tgtEl>
                                          <p:spTgt spid="192">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14" st="14"/>
                                            </p:txEl>
                                          </p:spTgt>
                                        </p:tgtEl>
                                        <p:attrNameLst>
                                          <p:attrName>style.visibility</p:attrName>
                                        </p:attrNameLst>
                                      </p:cBhvr>
                                      <p:to>
                                        <p:strVal val="visible"/>
                                      </p:to>
                                    </p:set>
                                    <p:anim calcmode="lin" valueType="num">
                                      <p:cBhvr additive="base">
                                        <p:cTn dur="1000"/>
                                        <p:tgtEl>
                                          <p:spTgt spid="192">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15" st="15"/>
                                            </p:txEl>
                                          </p:spTgt>
                                        </p:tgtEl>
                                        <p:attrNameLst>
                                          <p:attrName>style.visibility</p:attrName>
                                        </p:attrNameLst>
                                      </p:cBhvr>
                                      <p:to>
                                        <p:strVal val="visible"/>
                                      </p:to>
                                    </p:set>
                                    <p:anim calcmode="lin" valueType="num">
                                      <p:cBhvr additive="base">
                                        <p:cTn dur="1000"/>
                                        <p:tgtEl>
                                          <p:spTgt spid="192">
                                            <p:txEl>
                                              <p:pRg end="15" st="1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16" st="16"/>
                                            </p:txEl>
                                          </p:spTgt>
                                        </p:tgtEl>
                                        <p:attrNameLst>
                                          <p:attrName>style.visibility</p:attrName>
                                        </p:attrNameLst>
                                      </p:cBhvr>
                                      <p:to>
                                        <p:strVal val="visible"/>
                                      </p:to>
                                    </p:set>
                                    <p:anim calcmode="lin" valueType="num">
                                      <p:cBhvr additive="base">
                                        <p:cTn dur="1000"/>
                                        <p:tgtEl>
                                          <p:spTgt spid="192">
                                            <p:txEl>
                                              <p:pRg end="16" st="1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2">
                                            <p:txEl>
                                              <p:pRg end="17" st="17"/>
                                            </p:txEl>
                                          </p:spTgt>
                                        </p:tgtEl>
                                        <p:attrNameLst>
                                          <p:attrName>style.visibility</p:attrName>
                                        </p:attrNameLst>
                                      </p:cBhvr>
                                      <p:to>
                                        <p:strVal val="visible"/>
                                      </p:to>
                                    </p:set>
                                    <p:anim calcmode="lin" valueType="num">
                                      <p:cBhvr additive="base">
                                        <p:cTn dur="1000"/>
                                        <p:tgtEl>
                                          <p:spTgt spid="192">
                                            <p:txEl>
                                              <p:pRg end="17" st="1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3"/>
                                        </p:tgtEl>
                                        <p:attrNameLst>
                                          <p:attrName>style.visibility</p:attrName>
                                        </p:attrNameLst>
                                      </p:cBhvr>
                                      <p:to>
                                        <p:strVal val="visible"/>
                                      </p:to>
                                    </p:set>
                                    <p:anim calcmode="lin" valueType="num">
                                      <p:cBhvr additive="base">
                                        <p:cTn dur="1000"/>
                                        <p:tgtEl>
                                          <p:spTgt spid="19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1b9c7de5da_0_9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04</a:t>
            </a:r>
            <a:endParaRPr b="1" i="0" sz="2000" u="none" cap="none" strike="noStrike">
              <a:solidFill>
                <a:srgbClr val="8182EF"/>
              </a:solidFill>
              <a:latin typeface="Roboto"/>
              <a:ea typeface="Roboto"/>
              <a:cs typeface="Roboto"/>
              <a:sym typeface="Roboto"/>
            </a:endParaRPr>
          </a:p>
        </p:txBody>
      </p:sp>
      <p:sp>
        <p:nvSpPr>
          <p:cNvPr id="199" name="Google Shape;199;g31b9c7de5da_0_94"/>
          <p:cNvSpPr txBox="1"/>
          <p:nvPr/>
        </p:nvSpPr>
        <p:spPr>
          <a:xfrm>
            <a:off x="720000" y="1440000"/>
            <a:ext cx="7504500" cy="27531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highlight>
                  <a:schemeClr val="lt1"/>
                </a:highlight>
                <a:latin typeface="Roboto"/>
                <a:ea typeface="Roboto"/>
                <a:cs typeface="Roboto"/>
                <a:sym typeface="Roboto"/>
              </a:rPr>
              <a:t>A container is filled with a mixture of water and milk in the ratio of 3 : 5. Find the quantity of mixture to be drawn off and replaced with water, in order to get the mixture as half milk and half water.</a:t>
            </a:r>
            <a:endParaRPr b="0" i="0" sz="1800" u="none" cap="none" strike="noStrike">
              <a:solidFill>
                <a:schemeClr val="dk1"/>
              </a:solidFill>
              <a:latin typeface="Roboto"/>
              <a:ea typeface="Roboto"/>
              <a:cs typeface="Roboto"/>
              <a:sym typeface="Roboto"/>
            </a:endParaRPr>
          </a:p>
          <a:p>
            <a:pPr indent="-330200" lvl="0" marL="457200" marR="0" rtl="0" algn="l">
              <a:lnSpc>
                <a:spcPct val="115000"/>
              </a:lnSpc>
              <a:spcBef>
                <a:spcPts val="80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2 : 3</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1 : 1</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1 : 5</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1 : 4</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200" name="Google Shape;200;g31b9c7de5da_0_94"/>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anim calcmode="lin" valueType="num">
                                      <p:cBhvr additive="base">
                                        <p:cTn dur="1000"/>
                                        <p:tgtEl>
                                          <p:spTgt spid="19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9">
                                            <p:txEl>
                                              <p:pRg end="1" st="1"/>
                                            </p:txEl>
                                          </p:spTgt>
                                        </p:tgtEl>
                                        <p:attrNameLst>
                                          <p:attrName>style.visibility</p:attrName>
                                        </p:attrNameLst>
                                      </p:cBhvr>
                                      <p:to>
                                        <p:strVal val="visible"/>
                                      </p:to>
                                    </p:set>
                                    <p:anim calcmode="lin" valueType="num">
                                      <p:cBhvr additive="base">
                                        <p:cTn dur="1000"/>
                                        <p:tgtEl>
                                          <p:spTgt spid="19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9">
                                            <p:txEl>
                                              <p:pRg end="2" st="2"/>
                                            </p:txEl>
                                          </p:spTgt>
                                        </p:tgtEl>
                                        <p:attrNameLst>
                                          <p:attrName>style.visibility</p:attrName>
                                        </p:attrNameLst>
                                      </p:cBhvr>
                                      <p:to>
                                        <p:strVal val="visible"/>
                                      </p:to>
                                    </p:set>
                                    <p:anim calcmode="lin" valueType="num">
                                      <p:cBhvr additive="base">
                                        <p:cTn dur="1000"/>
                                        <p:tgtEl>
                                          <p:spTgt spid="19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9">
                                            <p:txEl>
                                              <p:pRg end="3" st="3"/>
                                            </p:txEl>
                                          </p:spTgt>
                                        </p:tgtEl>
                                        <p:attrNameLst>
                                          <p:attrName>style.visibility</p:attrName>
                                        </p:attrNameLst>
                                      </p:cBhvr>
                                      <p:to>
                                        <p:strVal val="visible"/>
                                      </p:to>
                                    </p:set>
                                    <p:anim calcmode="lin" valueType="num">
                                      <p:cBhvr additive="base">
                                        <p:cTn dur="1000"/>
                                        <p:tgtEl>
                                          <p:spTgt spid="19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9">
                                            <p:txEl>
                                              <p:pRg end="4" st="4"/>
                                            </p:txEl>
                                          </p:spTgt>
                                        </p:tgtEl>
                                        <p:attrNameLst>
                                          <p:attrName>style.visibility</p:attrName>
                                        </p:attrNameLst>
                                      </p:cBhvr>
                                      <p:to>
                                        <p:strVal val="visible"/>
                                      </p:to>
                                    </p:set>
                                    <p:anim calcmode="lin" valueType="num">
                                      <p:cBhvr additive="base">
                                        <p:cTn dur="1000"/>
                                        <p:tgtEl>
                                          <p:spTgt spid="19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9">
                                            <p:txEl>
                                              <p:pRg end="5" st="5"/>
                                            </p:txEl>
                                          </p:spTgt>
                                        </p:tgtEl>
                                        <p:attrNameLst>
                                          <p:attrName>style.visibility</p:attrName>
                                        </p:attrNameLst>
                                      </p:cBhvr>
                                      <p:to>
                                        <p:strVal val="visible"/>
                                      </p:to>
                                    </p:set>
                                    <p:anim calcmode="lin" valueType="num">
                                      <p:cBhvr additive="base">
                                        <p:cTn dur="1000"/>
                                        <p:tgtEl>
                                          <p:spTgt spid="19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0" st="0"/>
                                            </p:txEl>
                                          </p:spTgt>
                                        </p:tgtEl>
                                        <p:attrNameLst>
                                          <p:attrName>style.visibility</p:attrName>
                                        </p:attrNameLst>
                                      </p:cBhvr>
                                      <p:to>
                                        <p:strVal val="visible"/>
                                      </p:to>
                                    </p:set>
                                    <p:anim calcmode="lin" valueType="num">
                                      <p:cBhvr additive="base">
                                        <p:cTn dur="1000"/>
                                        <p:tgtEl>
                                          <p:spTgt spid="20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4" name="Shape 204"/>
        <p:cNvGrpSpPr/>
        <p:nvPr/>
      </p:nvGrpSpPr>
      <p:grpSpPr>
        <a:xfrm>
          <a:off x="0" y="0"/>
          <a:ext cx="0" cy="0"/>
          <a:chOff x="0" y="0"/>
          <a:chExt cx="0" cy="0"/>
        </a:xfrm>
      </p:grpSpPr>
      <p:sp>
        <p:nvSpPr>
          <p:cNvPr id="205" name="Google Shape;205;g14337fc5d25_0_562"/>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06" name="Google Shape;206;g14337fc5d25_0_562"/>
          <p:cNvSpPr txBox="1"/>
          <p:nvPr/>
        </p:nvSpPr>
        <p:spPr>
          <a:xfrm>
            <a:off x="747000" y="1122850"/>
            <a:ext cx="8239500" cy="3959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chemeClr val="lt1"/>
                </a:highlight>
                <a:latin typeface="Arial"/>
                <a:ea typeface="Arial"/>
                <a:cs typeface="Arial"/>
                <a:sym typeface="Arial"/>
              </a:rPr>
              <a:t>A container contains milk and water in the ratio of 3 : 5. This means that the vessel contains 8 litres of mixture.</a:t>
            </a:r>
            <a:r>
              <a:rPr b="0" i="0" lang="en-GB" sz="1400" u="none" cap="none" strike="noStrike">
                <a:solidFill>
                  <a:schemeClr val="dk1"/>
                </a:solidFill>
                <a:latin typeface="Arial"/>
                <a:ea typeface="Arial"/>
                <a:cs typeface="Arial"/>
                <a:sym typeface="Arial"/>
              </a:rPr>
              <a:t> </a:t>
            </a:r>
            <a:r>
              <a:rPr b="0" i="0" lang="en-GB" sz="1400" u="none" cap="none" strike="noStrike">
                <a:solidFill>
                  <a:schemeClr val="dk1"/>
                </a:solidFill>
                <a:highlight>
                  <a:schemeClr val="lt1"/>
                </a:highlight>
                <a:latin typeface="Arial"/>
                <a:ea typeface="Arial"/>
                <a:cs typeface="Arial"/>
                <a:sym typeface="Arial"/>
              </a:rPr>
              <a:t>Assume that x litres of this mixture is replaced with water.</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highlight>
                  <a:schemeClr val="lt1"/>
                </a:highlight>
                <a:latin typeface="Arial"/>
                <a:ea typeface="Arial"/>
                <a:cs typeface="Arial"/>
                <a:sym typeface="Arial"/>
              </a:rPr>
              <a:t>From the mixture containing water and milk of 3 : 5, x quantity of mixture is withdrawn and is replaced by water of the same quantity in the mixture. From the mixture (3x)/(8) part of water is removed and x quantity of water is added.</a:t>
            </a:r>
            <a:endParaRPr b="0" i="0" sz="1400" u="none" cap="none" strike="noStrike">
              <a:solidFill>
                <a:schemeClr val="dk1"/>
              </a:solidFill>
              <a:highlight>
                <a:schemeClr val="lt1"/>
              </a:highlight>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highlight>
                  <a:schemeClr val="lt1"/>
                </a:highlight>
                <a:latin typeface="Arial"/>
                <a:ea typeface="Arial"/>
                <a:cs typeface="Arial"/>
                <a:sym typeface="Arial"/>
              </a:rPr>
              <a:t>1) Quantity of water in the newly formed mixture = [3-(3X/8)+X]-----&gt; (3 is the quantity of water, x is the quantity of mixture replaced by water)</a:t>
            </a:r>
            <a:endParaRPr b="0" i="0" sz="1400" u="none" cap="none" strike="noStrike">
              <a:solidFill>
                <a:schemeClr val="dk1"/>
              </a:solidFill>
              <a:highlight>
                <a:schemeClr val="lt1"/>
              </a:highlight>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highlight>
                  <a:schemeClr val="lt1"/>
                </a:highlight>
                <a:latin typeface="Arial"/>
                <a:ea typeface="Arial"/>
                <a:cs typeface="Arial"/>
                <a:sym typeface="Arial"/>
              </a:rPr>
              <a:t>2) Similarly, quantity of milk in the newly formed mixture =[5-(5X/8)]----&gt;(Here x is not added because only water was added in the mixture and not the syrup)</a:t>
            </a:r>
            <a:endParaRPr b="0" i="0" sz="1400" u="none" cap="none" strike="noStrike">
              <a:solidFill>
                <a:schemeClr val="dk1"/>
              </a:solidFill>
              <a:highlight>
                <a:schemeClr val="lt1"/>
              </a:highlight>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highlight>
                  <a:schemeClr val="lt1"/>
                </a:highlight>
                <a:latin typeface="Arial"/>
                <a:ea typeface="Arial"/>
                <a:cs typeface="Arial"/>
                <a:sym typeface="Arial"/>
              </a:rPr>
              <a:t> [3-(3X/8)+X] = [5-(5X/8)]</a:t>
            </a:r>
            <a:endParaRPr b="0" i="0" sz="1400" u="none" cap="none" strike="noStrike">
              <a:solidFill>
                <a:schemeClr val="dk1"/>
              </a:solidFill>
              <a:highlight>
                <a:schemeClr val="lt1"/>
              </a:highlight>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highlight>
                  <a:schemeClr val="lt1"/>
                </a:highlight>
                <a:latin typeface="Arial"/>
                <a:ea typeface="Arial"/>
                <a:cs typeface="Arial"/>
                <a:sym typeface="Arial"/>
              </a:rPr>
              <a:t>5X + 24=40 -5X</a:t>
            </a:r>
            <a:endParaRPr b="0" i="0" sz="1400" u="none" cap="none" strike="noStrike">
              <a:solidFill>
                <a:schemeClr val="dk1"/>
              </a:solidFill>
              <a:highlight>
                <a:schemeClr val="lt1"/>
              </a:highlight>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n-GB" sz="1400" u="none" cap="none" strike="noStrike">
                <a:solidFill>
                  <a:schemeClr val="dk1"/>
                </a:solidFill>
                <a:highlight>
                  <a:schemeClr val="lt1"/>
                </a:highlight>
                <a:latin typeface="Arial"/>
                <a:ea typeface="Arial"/>
                <a:cs typeface="Arial"/>
                <a:sym typeface="Arial"/>
              </a:rPr>
              <a:t>X=8/5</a:t>
            </a:r>
            <a:endParaRPr b="0" i="0" sz="1400" u="none" cap="none" strike="noStrike">
              <a:solidFill>
                <a:schemeClr val="dk1"/>
              </a:solidFill>
              <a:highlight>
                <a:schemeClr val="lt1"/>
              </a:highlight>
              <a:latin typeface="Arial"/>
              <a:ea typeface="Arial"/>
              <a:cs typeface="Arial"/>
              <a:sym typeface="Arial"/>
            </a:endParaRPr>
          </a:p>
          <a:p>
            <a:pPr indent="0" lvl="0" marL="0" marR="0" rtl="0" algn="l">
              <a:lnSpc>
                <a:spcPct val="150000"/>
              </a:lnSpc>
              <a:spcBef>
                <a:spcPts val="0"/>
              </a:spcBef>
              <a:spcAft>
                <a:spcPts val="0"/>
              </a:spcAft>
              <a:buClr>
                <a:schemeClr val="dk1"/>
              </a:buClr>
              <a:buSzPts val="1400"/>
              <a:buFont typeface="Arial"/>
              <a:buNone/>
            </a:pPr>
            <a:r>
              <a:rPr b="0" i="0" lang="en-GB" sz="1400" u="none" cap="none" strike="noStrike">
                <a:solidFill>
                  <a:schemeClr val="dk1"/>
                </a:solidFill>
                <a:highlight>
                  <a:schemeClr val="lt1"/>
                </a:highlight>
                <a:latin typeface="Arial"/>
                <a:ea typeface="Arial"/>
                <a:cs typeface="Arial"/>
                <a:sym typeface="Arial"/>
              </a:rPr>
              <a:t>So the part of mixture replaced from 8 litres =  8/5 *1/8= 1/5</a:t>
            </a:r>
            <a:endParaRPr b="0" i="0" sz="1400" u="none" cap="none" strike="noStrike">
              <a:solidFill>
                <a:schemeClr val="dk1"/>
              </a:solidFill>
              <a:highlight>
                <a:schemeClr val="lt1"/>
              </a:highlight>
              <a:latin typeface="Arial"/>
              <a:ea typeface="Arial"/>
              <a:cs typeface="Arial"/>
              <a:sym typeface="Arial"/>
            </a:endParaRPr>
          </a:p>
          <a:p>
            <a:pPr indent="0" lvl="0" marL="0" marR="0" rtl="0" algn="ctr">
              <a:lnSpc>
                <a:spcPct val="150000"/>
              </a:lnSpc>
              <a:spcBef>
                <a:spcPts val="0"/>
              </a:spcBef>
              <a:spcAft>
                <a:spcPts val="0"/>
              </a:spcAft>
              <a:buClr>
                <a:schemeClr val="dk1"/>
              </a:buClr>
              <a:buSzPts val="1050"/>
              <a:buFont typeface="Arial"/>
              <a:buNone/>
            </a:pPr>
            <a:r>
              <a:t/>
            </a:r>
            <a:endParaRPr b="0" i="0" sz="1050" u="none" cap="none" strike="noStrike">
              <a:solidFill>
                <a:schemeClr val="dk1"/>
              </a:solidFill>
              <a:highlight>
                <a:schemeClr val="lt1"/>
              </a:highlight>
              <a:latin typeface="Arial"/>
              <a:ea typeface="Arial"/>
              <a:cs typeface="Arial"/>
              <a:sym typeface="Arial"/>
            </a:endParaRPr>
          </a:p>
          <a:p>
            <a:pPr indent="0" lvl="0" marL="0" marR="0" rtl="0" algn="just">
              <a:lnSpc>
                <a:spcPct val="100000"/>
              </a:lnSpc>
              <a:spcBef>
                <a:spcPts val="0"/>
              </a:spcBef>
              <a:spcAft>
                <a:spcPts val="0"/>
              </a:spcAft>
              <a:buClr>
                <a:schemeClr val="dk1"/>
              </a:buClr>
              <a:buSzPts val="1050"/>
              <a:buFont typeface="Arial"/>
              <a:buNone/>
            </a:pPr>
            <a:r>
              <a:t/>
            </a:r>
            <a:endParaRPr b="0" i="0" sz="1050" u="none" cap="none" strike="noStrike">
              <a:solidFill>
                <a:schemeClr val="dk1"/>
              </a:solidFill>
              <a:highlight>
                <a:schemeClr val="lt1"/>
              </a:highlight>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t/>
            </a:r>
            <a:endParaRPr b="0" i="0" sz="1400" u="none" cap="none" strike="noStrike">
              <a:solidFill>
                <a:schemeClr val="dk1"/>
              </a:solidFill>
              <a:highlight>
                <a:schemeClr val="lt1"/>
              </a:highlight>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07" name="Google Shape;207;g14337fc5d25_0_562"/>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anim calcmode="lin" valueType="num">
                                      <p:cBhvr additive="base">
                                        <p:cTn dur="1000"/>
                                        <p:tgtEl>
                                          <p:spTgt spid="20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1" st="1"/>
                                            </p:txEl>
                                          </p:spTgt>
                                        </p:tgtEl>
                                        <p:attrNameLst>
                                          <p:attrName>style.visibility</p:attrName>
                                        </p:attrNameLst>
                                      </p:cBhvr>
                                      <p:to>
                                        <p:strVal val="visible"/>
                                      </p:to>
                                    </p:set>
                                    <p:anim calcmode="lin" valueType="num">
                                      <p:cBhvr additive="base">
                                        <p:cTn dur="1000"/>
                                        <p:tgtEl>
                                          <p:spTgt spid="20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2" st="2"/>
                                            </p:txEl>
                                          </p:spTgt>
                                        </p:tgtEl>
                                        <p:attrNameLst>
                                          <p:attrName>style.visibility</p:attrName>
                                        </p:attrNameLst>
                                      </p:cBhvr>
                                      <p:to>
                                        <p:strVal val="visible"/>
                                      </p:to>
                                    </p:set>
                                    <p:anim calcmode="lin" valueType="num">
                                      <p:cBhvr additive="base">
                                        <p:cTn dur="1000"/>
                                        <p:tgtEl>
                                          <p:spTgt spid="20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3" st="3"/>
                                            </p:txEl>
                                          </p:spTgt>
                                        </p:tgtEl>
                                        <p:attrNameLst>
                                          <p:attrName>style.visibility</p:attrName>
                                        </p:attrNameLst>
                                      </p:cBhvr>
                                      <p:to>
                                        <p:strVal val="visible"/>
                                      </p:to>
                                    </p:set>
                                    <p:anim calcmode="lin" valueType="num">
                                      <p:cBhvr additive="base">
                                        <p:cTn dur="1000"/>
                                        <p:tgtEl>
                                          <p:spTgt spid="20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4" st="4"/>
                                            </p:txEl>
                                          </p:spTgt>
                                        </p:tgtEl>
                                        <p:attrNameLst>
                                          <p:attrName>style.visibility</p:attrName>
                                        </p:attrNameLst>
                                      </p:cBhvr>
                                      <p:to>
                                        <p:strVal val="visible"/>
                                      </p:to>
                                    </p:set>
                                    <p:anim calcmode="lin" valueType="num">
                                      <p:cBhvr additive="base">
                                        <p:cTn dur="1000"/>
                                        <p:tgtEl>
                                          <p:spTgt spid="20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5" st="5"/>
                                            </p:txEl>
                                          </p:spTgt>
                                        </p:tgtEl>
                                        <p:attrNameLst>
                                          <p:attrName>style.visibility</p:attrName>
                                        </p:attrNameLst>
                                      </p:cBhvr>
                                      <p:to>
                                        <p:strVal val="visible"/>
                                      </p:to>
                                    </p:set>
                                    <p:anim calcmode="lin" valueType="num">
                                      <p:cBhvr additive="base">
                                        <p:cTn dur="1000"/>
                                        <p:tgtEl>
                                          <p:spTgt spid="20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6" st="6"/>
                                            </p:txEl>
                                          </p:spTgt>
                                        </p:tgtEl>
                                        <p:attrNameLst>
                                          <p:attrName>style.visibility</p:attrName>
                                        </p:attrNameLst>
                                      </p:cBhvr>
                                      <p:to>
                                        <p:strVal val="visible"/>
                                      </p:to>
                                    </p:set>
                                    <p:anim calcmode="lin" valueType="num">
                                      <p:cBhvr additive="base">
                                        <p:cTn dur="1000"/>
                                        <p:tgtEl>
                                          <p:spTgt spid="20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7" st="7"/>
                                            </p:txEl>
                                          </p:spTgt>
                                        </p:tgtEl>
                                        <p:attrNameLst>
                                          <p:attrName>style.visibility</p:attrName>
                                        </p:attrNameLst>
                                      </p:cBhvr>
                                      <p:to>
                                        <p:strVal val="visible"/>
                                      </p:to>
                                    </p:set>
                                    <p:anim calcmode="lin" valueType="num">
                                      <p:cBhvr additive="base">
                                        <p:cTn dur="1000"/>
                                        <p:tgtEl>
                                          <p:spTgt spid="206">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8" st="8"/>
                                            </p:txEl>
                                          </p:spTgt>
                                        </p:tgtEl>
                                        <p:attrNameLst>
                                          <p:attrName>style.visibility</p:attrName>
                                        </p:attrNameLst>
                                      </p:cBhvr>
                                      <p:to>
                                        <p:strVal val="visible"/>
                                      </p:to>
                                    </p:set>
                                    <p:anim calcmode="lin" valueType="num">
                                      <p:cBhvr additive="base">
                                        <p:cTn dur="1000"/>
                                        <p:tgtEl>
                                          <p:spTgt spid="206">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9" st="9"/>
                                            </p:txEl>
                                          </p:spTgt>
                                        </p:tgtEl>
                                        <p:attrNameLst>
                                          <p:attrName>style.visibility</p:attrName>
                                        </p:attrNameLst>
                                      </p:cBhvr>
                                      <p:to>
                                        <p:strVal val="visible"/>
                                      </p:to>
                                    </p:set>
                                    <p:anim calcmode="lin" valueType="num">
                                      <p:cBhvr additive="base">
                                        <p:cTn dur="1000"/>
                                        <p:tgtEl>
                                          <p:spTgt spid="206">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10" st="10"/>
                                            </p:txEl>
                                          </p:spTgt>
                                        </p:tgtEl>
                                        <p:attrNameLst>
                                          <p:attrName>style.visibility</p:attrName>
                                        </p:attrNameLst>
                                      </p:cBhvr>
                                      <p:to>
                                        <p:strVal val="visible"/>
                                      </p:to>
                                    </p:set>
                                    <p:anim calcmode="lin" valueType="num">
                                      <p:cBhvr additive="base">
                                        <p:cTn dur="1000"/>
                                        <p:tgtEl>
                                          <p:spTgt spid="206">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6">
                                            <p:txEl>
                                              <p:pRg end="11" st="11"/>
                                            </p:txEl>
                                          </p:spTgt>
                                        </p:tgtEl>
                                        <p:attrNameLst>
                                          <p:attrName>style.visibility</p:attrName>
                                        </p:attrNameLst>
                                      </p:cBhvr>
                                      <p:to>
                                        <p:strVal val="visible"/>
                                      </p:to>
                                    </p:set>
                                    <p:anim calcmode="lin" valueType="num">
                                      <p:cBhvr additive="base">
                                        <p:cTn dur="1000"/>
                                        <p:tgtEl>
                                          <p:spTgt spid="206">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1b9c7de5da_0_102"/>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05</a:t>
            </a:r>
            <a:endParaRPr b="1" i="0" sz="2000" u="none" cap="none" strike="noStrike">
              <a:solidFill>
                <a:srgbClr val="8182EF"/>
              </a:solidFill>
              <a:latin typeface="Roboto"/>
              <a:ea typeface="Roboto"/>
              <a:cs typeface="Roboto"/>
              <a:sym typeface="Roboto"/>
            </a:endParaRPr>
          </a:p>
        </p:txBody>
      </p:sp>
      <p:sp>
        <p:nvSpPr>
          <p:cNvPr id="213" name="Google Shape;213;g31b9c7de5da_0_102"/>
          <p:cNvSpPr txBox="1"/>
          <p:nvPr/>
        </p:nvSpPr>
        <p:spPr>
          <a:xfrm>
            <a:off x="720725" y="1439874"/>
            <a:ext cx="8472300" cy="27225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1400"/>
              <a:buFont typeface="Arial"/>
              <a:buNone/>
            </a:pPr>
            <a:r>
              <a:rPr b="0" i="0" lang="en-GB" sz="1800" u="none" cap="none" strike="noStrike">
                <a:solidFill>
                  <a:schemeClr val="dk1"/>
                </a:solidFill>
                <a:highlight>
                  <a:schemeClr val="lt1"/>
                </a:highlight>
                <a:latin typeface="Roboto"/>
                <a:ea typeface="Roboto"/>
                <a:cs typeface="Roboto"/>
                <a:sym typeface="Roboto"/>
              </a:rPr>
              <a:t>A shopkeeper has 100 kg of salt. He sells part of the total quantity A at 7% profit and the rest B at 17 % profit. If he gains 10 % profit on the whole quantity, then find how much is sold at 7 % profit and what is the quantity of part A?</a:t>
            </a:r>
            <a:endParaRPr b="0" i="0" sz="1800" u="none" cap="none" strike="noStrike">
              <a:solidFill>
                <a:schemeClr val="dk1"/>
              </a:solidFill>
              <a:highlight>
                <a:schemeClr val="lt1"/>
              </a:highlight>
              <a:latin typeface="Roboto"/>
              <a:ea typeface="Roboto"/>
              <a:cs typeface="Roboto"/>
              <a:sym typeface="Roboto"/>
            </a:endParaRPr>
          </a:p>
          <a:p>
            <a:pPr indent="-330200" lvl="0" marL="457200" marR="0" rtl="0" algn="just">
              <a:lnSpc>
                <a:spcPct val="115000"/>
              </a:lnSpc>
              <a:spcBef>
                <a:spcPts val="80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 30 kg</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 35 kg</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40 kg</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45 kg</a:t>
            </a:r>
            <a:endParaRPr b="0" i="0" sz="1600" u="none" cap="none" strike="noStrike">
              <a:solidFill>
                <a:schemeClr val="dk1"/>
              </a:solidFill>
              <a:highlight>
                <a:schemeClr val="lt1"/>
              </a:highlight>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14" name="Google Shape;214;g31b9c7de5da_0_102"/>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anim calcmode="lin" valueType="num">
                                      <p:cBhvr additive="base">
                                        <p:cTn dur="1000"/>
                                        <p:tgtEl>
                                          <p:spTgt spid="21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1" st="1"/>
                                            </p:txEl>
                                          </p:spTgt>
                                        </p:tgtEl>
                                        <p:attrNameLst>
                                          <p:attrName>style.visibility</p:attrName>
                                        </p:attrNameLst>
                                      </p:cBhvr>
                                      <p:to>
                                        <p:strVal val="visible"/>
                                      </p:to>
                                    </p:set>
                                    <p:anim calcmode="lin" valueType="num">
                                      <p:cBhvr additive="base">
                                        <p:cTn dur="1000"/>
                                        <p:tgtEl>
                                          <p:spTgt spid="21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2" st="2"/>
                                            </p:txEl>
                                          </p:spTgt>
                                        </p:tgtEl>
                                        <p:attrNameLst>
                                          <p:attrName>style.visibility</p:attrName>
                                        </p:attrNameLst>
                                      </p:cBhvr>
                                      <p:to>
                                        <p:strVal val="visible"/>
                                      </p:to>
                                    </p:set>
                                    <p:anim calcmode="lin" valueType="num">
                                      <p:cBhvr additive="base">
                                        <p:cTn dur="1000"/>
                                        <p:tgtEl>
                                          <p:spTgt spid="21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3" st="3"/>
                                            </p:txEl>
                                          </p:spTgt>
                                        </p:tgtEl>
                                        <p:attrNameLst>
                                          <p:attrName>style.visibility</p:attrName>
                                        </p:attrNameLst>
                                      </p:cBhvr>
                                      <p:to>
                                        <p:strVal val="visible"/>
                                      </p:to>
                                    </p:set>
                                    <p:anim calcmode="lin" valueType="num">
                                      <p:cBhvr additive="base">
                                        <p:cTn dur="1000"/>
                                        <p:tgtEl>
                                          <p:spTgt spid="21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4" st="4"/>
                                            </p:txEl>
                                          </p:spTgt>
                                        </p:tgtEl>
                                        <p:attrNameLst>
                                          <p:attrName>style.visibility</p:attrName>
                                        </p:attrNameLst>
                                      </p:cBhvr>
                                      <p:to>
                                        <p:strVal val="visible"/>
                                      </p:to>
                                    </p:set>
                                    <p:anim calcmode="lin" valueType="num">
                                      <p:cBhvr additive="base">
                                        <p:cTn dur="1000"/>
                                        <p:tgtEl>
                                          <p:spTgt spid="21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5" st="5"/>
                                            </p:txEl>
                                          </p:spTgt>
                                        </p:tgtEl>
                                        <p:attrNameLst>
                                          <p:attrName>style.visibility</p:attrName>
                                        </p:attrNameLst>
                                      </p:cBhvr>
                                      <p:to>
                                        <p:strVal val="visible"/>
                                      </p:to>
                                    </p:set>
                                    <p:anim calcmode="lin" valueType="num">
                                      <p:cBhvr additive="base">
                                        <p:cTn dur="1000"/>
                                        <p:tgtEl>
                                          <p:spTgt spid="21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anim calcmode="lin" valueType="num">
                                      <p:cBhvr additive="base">
                                        <p:cTn dur="1000"/>
                                        <p:tgtEl>
                                          <p:spTgt spid="21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8" name="Shape 218"/>
        <p:cNvGrpSpPr/>
        <p:nvPr/>
      </p:nvGrpSpPr>
      <p:grpSpPr>
        <a:xfrm>
          <a:off x="0" y="0"/>
          <a:ext cx="0" cy="0"/>
          <a:chOff x="0" y="0"/>
          <a:chExt cx="0" cy="0"/>
        </a:xfrm>
      </p:grpSpPr>
      <p:sp>
        <p:nvSpPr>
          <p:cNvPr id="219" name="Google Shape;219;g14337fc5d25_0_578"/>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20" name="Google Shape;220;g14337fc5d25_0_578"/>
          <p:cNvSpPr txBox="1"/>
          <p:nvPr/>
        </p:nvSpPr>
        <p:spPr>
          <a:xfrm>
            <a:off x="720000" y="1010050"/>
            <a:ext cx="8022600" cy="366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Assume that A and B are two parts of the mixture. To determine the quantity A and B, first calculate ratio of A : 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Given:</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1) Selling price of mixture with 10% profit = Rs. 110</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2) With 17 % profit, the selling price of A = Rs. 117</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3) With 7 % profit, the selling price of B = Rs. 107</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Now, this question can be easily solved by using the rule of alligation</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Now, the ratio of A : B = 3 : 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Let the quantity of part A be 3x and part B be 7x in the total quantity of 100 kg.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Therefore, 3x + 7x = 100</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10x = 100</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x =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Quantity of part A = 3x = 3 x 10 = 30 kg</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Quantity of part B = 7x = 7 x 10 = 70 kg</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21" name="Google Shape;221;g14337fc5d25_0_57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05</a:t>
            </a:r>
            <a:endParaRPr b="1" i="0" sz="2000" u="none" cap="none" strike="noStrike">
              <a:solidFill>
                <a:srgbClr val="8182EF"/>
              </a:solidFill>
              <a:latin typeface="Roboto"/>
              <a:ea typeface="Roboto"/>
              <a:cs typeface="Roboto"/>
              <a:sym typeface="Roboto"/>
            </a:endParaRPr>
          </a:p>
        </p:txBody>
      </p:sp>
      <p:pic>
        <p:nvPicPr>
          <p:cNvPr id="222" name="Google Shape;222;g14337fc5d25_0_578"/>
          <p:cNvPicPr preferRelativeResize="0"/>
          <p:nvPr/>
        </p:nvPicPr>
        <p:blipFill rotWithShape="1">
          <a:blip r:embed="rId3">
            <a:alphaModFix/>
          </a:blip>
          <a:srcRect b="0" l="0" r="0" t="0"/>
          <a:stretch/>
        </p:blipFill>
        <p:spPr>
          <a:xfrm>
            <a:off x="7013875" y="1635925"/>
            <a:ext cx="1915350" cy="2384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0" st="0"/>
                                            </p:txEl>
                                          </p:spTgt>
                                        </p:tgtEl>
                                        <p:attrNameLst>
                                          <p:attrName>style.visibility</p:attrName>
                                        </p:attrNameLst>
                                      </p:cBhvr>
                                      <p:to>
                                        <p:strVal val="visible"/>
                                      </p:to>
                                    </p:set>
                                    <p:anim calcmode="lin" valueType="num">
                                      <p:cBhvr additive="base">
                                        <p:cTn dur="1000"/>
                                        <p:tgtEl>
                                          <p:spTgt spid="22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1" st="1"/>
                                            </p:txEl>
                                          </p:spTgt>
                                        </p:tgtEl>
                                        <p:attrNameLst>
                                          <p:attrName>style.visibility</p:attrName>
                                        </p:attrNameLst>
                                      </p:cBhvr>
                                      <p:to>
                                        <p:strVal val="visible"/>
                                      </p:to>
                                    </p:set>
                                    <p:anim calcmode="lin" valueType="num">
                                      <p:cBhvr additive="base">
                                        <p:cTn dur="1000"/>
                                        <p:tgtEl>
                                          <p:spTgt spid="22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2" st="2"/>
                                            </p:txEl>
                                          </p:spTgt>
                                        </p:tgtEl>
                                        <p:attrNameLst>
                                          <p:attrName>style.visibility</p:attrName>
                                        </p:attrNameLst>
                                      </p:cBhvr>
                                      <p:to>
                                        <p:strVal val="visible"/>
                                      </p:to>
                                    </p:set>
                                    <p:anim calcmode="lin" valueType="num">
                                      <p:cBhvr additive="base">
                                        <p:cTn dur="1000"/>
                                        <p:tgtEl>
                                          <p:spTgt spid="22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3" st="3"/>
                                            </p:txEl>
                                          </p:spTgt>
                                        </p:tgtEl>
                                        <p:attrNameLst>
                                          <p:attrName>style.visibility</p:attrName>
                                        </p:attrNameLst>
                                      </p:cBhvr>
                                      <p:to>
                                        <p:strVal val="visible"/>
                                      </p:to>
                                    </p:set>
                                    <p:anim calcmode="lin" valueType="num">
                                      <p:cBhvr additive="base">
                                        <p:cTn dur="1000"/>
                                        <p:tgtEl>
                                          <p:spTgt spid="22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4" st="4"/>
                                            </p:txEl>
                                          </p:spTgt>
                                        </p:tgtEl>
                                        <p:attrNameLst>
                                          <p:attrName>style.visibility</p:attrName>
                                        </p:attrNameLst>
                                      </p:cBhvr>
                                      <p:to>
                                        <p:strVal val="visible"/>
                                      </p:to>
                                    </p:set>
                                    <p:anim calcmode="lin" valueType="num">
                                      <p:cBhvr additive="base">
                                        <p:cTn dur="1000"/>
                                        <p:tgtEl>
                                          <p:spTgt spid="22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5" st="5"/>
                                            </p:txEl>
                                          </p:spTgt>
                                        </p:tgtEl>
                                        <p:attrNameLst>
                                          <p:attrName>style.visibility</p:attrName>
                                        </p:attrNameLst>
                                      </p:cBhvr>
                                      <p:to>
                                        <p:strVal val="visible"/>
                                      </p:to>
                                    </p:set>
                                    <p:anim calcmode="lin" valueType="num">
                                      <p:cBhvr additive="base">
                                        <p:cTn dur="1000"/>
                                        <p:tgtEl>
                                          <p:spTgt spid="22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6" st="6"/>
                                            </p:txEl>
                                          </p:spTgt>
                                        </p:tgtEl>
                                        <p:attrNameLst>
                                          <p:attrName>style.visibility</p:attrName>
                                        </p:attrNameLst>
                                      </p:cBhvr>
                                      <p:to>
                                        <p:strVal val="visible"/>
                                      </p:to>
                                    </p:set>
                                    <p:anim calcmode="lin" valueType="num">
                                      <p:cBhvr additive="base">
                                        <p:cTn dur="1000"/>
                                        <p:tgtEl>
                                          <p:spTgt spid="22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7" st="7"/>
                                            </p:txEl>
                                          </p:spTgt>
                                        </p:tgtEl>
                                        <p:attrNameLst>
                                          <p:attrName>style.visibility</p:attrName>
                                        </p:attrNameLst>
                                      </p:cBhvr>
                                      <p:to>
                                        <p:strVal val="visible"/>
                                      </p:to>
                                    </p:set>
                                    <p:anim calcmode="lin" valueType="num">
                                      <p:cBhvr additive="base">
                                        <p:cTn dur="1000"/>
                                        <p:tgtEl>
                                          <p:spTgt spid="220">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8" st="8"/>
                                            </p:txEl>
                                          </p:spTgt>
                                        </p:tgtEl>
                                        <p:attrNameLst>
                                          <p:attrName>style.visibility</p:attrName>
                                        </p:attrNameLst>
                                      </p:cBhvr>
                                      <p:to>
                                        <p:strVal val="visible"/>
                                      </p:to>
                                    </p:set>
                                    <p:anim calcmode="lin" valueType="num">
                                      <p:cBhvr additive="base">
                                        <p:cTn dur="1000"/>
                                        <p:tgtEl>
                                          <p:spTgt spid="220">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9" st="9"/>
                                            </p:txEl>
                                          </p:spTgt>
                                        </p:tgtEl>
                                        <p:attrNameLst>
                                          <p:attrName>style.visibility</p:attrName>
                                        </p:attrNameLst>
                                      </p:cBhvr>
                                      <p:to>
                                        <p:strVal val="visible"/>
                                      </p:to>
                                    </p:set>
                                    <p:anim calcmode="lin" valueType="num">
                                      <p:cBhvr additive="base">
                                        <p:cTn dur="1000"/>
                                        <p:tgtEl>
                                          <p:spTgt spid="220">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10" st="10"/>
                                            </p:txEl>
                                          </p:spTgt>
                                        </p:tgtEl>
                                        <p:attrNameLst>
                                          <p:attrName>style.visibility</p:attrName>
                                        </p:attrNameLst>
                                      </p:cBhvr>
                                      <p:to>
                                        <p:strVal val="visible"/>
                                      </p:to>
                                    </p:set>
                                    <p:anim calcmode="lin" valueType="num">
                                      <p:cBhvr additive="base">
                                        <p:cTn dur="1000"/>
                                        <p:tgtEl>
                                          <p:spTgt spid="220">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11" st="11"/>
                                            </p:txEl>
                                          </p:spTgt>
                                        </p:tgtEl>
                                        <p:attrNameLst>
                                          <p:attrName>style.visibility</p:attrName>
                                        </p:attrNameLst>
                                      </p:cBhvr>
                                      <p:to>
                                        <p:strVal val="visible"/>
                                      </p:to>
                                    </p:set>
                                    <p:anim calcmode="lin" valueType="num">
                                      <p:cBhvr additive="base">
                                        <p:cTn dur="1000"/>
                                        <p:tgtEl>
                                          <p:spTgt spid="220">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12" st="12"/>
                                            </p:txEl>
                                          </p:spTgt>
                                        </p:tgtEl>
                                        <p:attrNameLst>
                                          <p:attrName>style.visibility</p:attrName>
                                        </p:attrNameLst>
                                      </p:cBhvr>
                                      <p:to>
                                        <p:strVal val="visible"/>
                                      </p:to>
                                    </p:set>
                                    <p:anim calcmode="lin" valueType="num">
                                      <p:cBhvr additive="base">
                                        <p:cTn dur="1000"/>
                                        <p:tgtEl>
                                          <p:spTgt spid="220">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13" st="13"/>
                                            </p:txEl>
                                          </p:spTgt>
                                        </p:tgtEl>
                                        <p:attrNameLst>
                                          <p:attrName>style.visibility</p:attrName>
                                        </p:attrNameLst>
                                      </p:cBhvr>
                                      <p:to>
                                        <p:strVal val="visible"/>
                                      </p:to>
                                    </p:set>
                                    <p:anim calcmode="lin" valueType="num">
                                      <p:cBhvr additive="base">
                                        <p:cTn dur="1000"/>
                                        <p:tgtEl>
                                          <p:spTgt spid="220">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
                                            <p:txEl>
                                              <p:pRg end="14" st="14"/>
                                            </p:txEl>
                                          </p:spTgt>
                                        </p:tgtEl>
                                        <p:attrNameLst>
                                          <p:attrName>style.visibility</p:attrName>
                                        </p:attrNameLst>
                                      </p:cBhvr>
                                      <p:to>
                                        <p:strVal val="visible"/>
                                      </p:to>
                                    </p:set>
                                    <p:anim calcmode="lin" valueType="num">
                                      <p:cBhvr additive="base">
                                        <p:cTn dur="1000"/>
                                        <p:tgtEl>
                                          <p:spTgt spid="220">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1000"/>
                                        <p:tgtEl>
                                          <p:spTgt spid="22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1b9c7de5da_0_11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06</a:t>
            </a:r>
            <a:endParaRPr b="1" i="0" sz="2000" u="none" cap="none" strike="noStrike">
              <a:solidFill>
                <a:srgbClr val="8182EF"/>
              </a:solidFill>
              <a:latin typeface="Roboto"/>
              <a:ea typeface="Roboto"/>
              <a:cs typeface="Roboto"/>
              <a:sym typeface="Roboto"/>
            </a:endParaRPr>
          </a:p>
        </p:txBody>
      </p:sp>
      <p:sp>
        <p:nvSpPr>
          <p:cNvPr id="228" name="Google Shape;228;g31b9c7de5da_0_110"/>
          <p:cNvSpPr txBox="1"/>
          <p:nvPr/>
        </p:nvSpPr>
        <p:spPr>
          <a:xfrm>
            <a:off x="720000" y="1439999"/>
            <a:ext cx="8472300" cy="2650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400"/>
              <a:buFont typeface="Arial"/>
              <a:buNone/>
            </a:pPr>
            <a:r>
              <a:rPr b="0" i="0" lang="en-GB" sz="1800" u="none" cap="none" strike="noStrike">
                <a:solidFill>
                  <a:srgbClr val="000000"/>
                </a:solidFill>
                <a:highlight>
                  <a:srgbClr val="FFFFFF"/>
                </a:highlight>
                <a:latin typeface="Roboto"/>
                <a:ea typeface="Roboto"/>
                <a:cs typeface="Roboto"/>
                <a:sym typeface="Roboto"/>
              </a:rPr>
              <a:t>Sugar A worth Rs. 130/kg and B of Rs. 120/kg are mixed with a third variety C in the ratio of </a:t>
            </a:r>
            <a:endParaRPr b="0" i="0" sz="1800" u="none" cap="none" strike="noStrike">
              <a:solidFill>
                <a:srgbClr val="000000"/>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rPr b="0" i="0" lang="en-GB" sz="1800" u="none" cap="none" strike="noStrike">
                <a:solidFill>
                  <a:srgbClr val="000000"/>
                </a:solidFill>
                <a:highlight>
                  <a:srgbClr val="FFFFFF"/>
                </a:highlight>
                <a:latin typeface="Roboto"/>
                <a:ea typeface="Roboto"/>
                <a:cs typeface="Roboto"/>
                <a:sym typeface="Roboto"/>
              </a:rPr>
              <a:t>1 : 1 : 2. If the mixture is worth Rs. 160, then find the price of third variety of sugar.</a:t>
            </a:r>
            <a:endParaRPr b="0" i="0" sz="1800" u="none" cap="none" strike="noStrike">
              <a:solidFill>
                <a:srgbClr val="000000"/>
              </a:solidFill>
              <a:latin typeface="Roboto"/>
              <a:ea typeface="Roboto"/>
              <a:cs typeface="Roboto"/>
              <a:sym typeface="Roboto"/>
            </a:endParaRPr>
          </a:p>
          <a:p>
            <a:pPr indent="-330200" lvl="0" marL="457200" marR="0" rtl="0" algn="l">
              <a:lnSpc>
                <a:spcPct val="115000"/>
              </a:lnSpc>
              <a:spcBef>
                <a:spcPts val="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Rs. 195</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115000"/>
              </a:lnSpc>
              <a:spcBef>
                <a:spcPts val="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Rs. 200</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115000"/>
              </a:lnSpc>
              <a:spcBef>
                <a:spcPts val="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Rs. 225</a:t>
            </a:r>
            <a:endParaRPr b="0" i="0" sz="1600" u="none" cap="none" strike="noStrike">
              <a:solidFill>
                <a:srgbClr val="000000"/>
              </a:solidFill>
              <a:highlight>
                <a:srgbClr val="FFFFFF"/>
              </a:highlight>
              <a:latin typeface="Roboto"/>
              <a:ea typeface="Roboto"/>
              <a:cs typeface="Roboto"/>
              <a:sym typeface="Roboto"/>
            </a:endParaRPr>
          </a:p>
          <a:p>
            <a:pPr indent="-330200" lvl="0" marL="457200" marR="0" rtl="0" algn="l">
              <a:lnSpc>
                <a:spcPct val="115000"/>
              </a:lnSpc>
              <a:spcBef>
                <a:spcPts val="0"/>
              </a:spcBef>
              <a:spcAft>
                <a:spcPts val="0"/>
              </a:spcAft>
              <a:buClr>
                <a:srgbClr val="000000"/>
              </a:buClr>
              <a:buSzPts val="1600"/>
              <a:buFont typeface="Roboto"/>
              <a:buAutoNum type="alphaUcPeriod"/>
            </a:pPr>
            <a:r>
              <a:rPr b="0" i="0" lang="en-GB" sz="1600" u="none" cap="none" strike="noStrike">
                <a:solidFill>
                  <a:srgbClr val="000000"/>
                </a:solidFill>
                <a:highlight>
                  <a:srgbClr val="FFFFFF"/>
                </a:highlight>
                <a:latin typeface="Roboto"/>
                <a:ea typeface="Roboto"/>
                <a:cs typeface="Roboto"/>
                <a:sym typeface="Roboto"/>
              </a:rPr>
              <a:t>Rs. 230</a:t>
            </a:r>
            <a:endParaRPr b="0" i="0" sz="1600" u="none" cap="none" strike="noStrike">
              <a:solidFill>
                <a:srgbClr val="000000"/>
              </a:solidFill>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229" name="Google Shape;229;g31b9c7de5da_0_110"/>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8">
                                            <p:txEl>
                                              <p:pRg end="0" st="0"/>
                                            </p:txEl>
                                          </p:spTgt>
                                        </p:tgtEl>
                                        <p:attrNameLst>
                                          <p:attrName>style.visibility</p:attrName>
                                        </p:attrNameLst>
                                      </p:cBhvr>
                                      <p:to>
                                        <p:strVal val="visible"/>
                                      </p:to>
                                    </p:set>
                                    <p:anim calcmode="lin" valueType="num">
                                      <p:cBhvr additive="base">
                                        <p:cTn dur="1000"/>
                                        <p:tgtEl>
                                          <p:spTgt spid="22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8">
                                            <p:txEl>
                                              <p:pRg end="1" st="1"/>
                                            </p:txEl>
                                          </p:spTgt>
                                        </p:tgtEl>
                                        <p:attrNameLst>
                                          <p:attrName>style.visibility</p:attrName>
                                        </p:attrNameLst>
                                      </p:cBhvr>
                                      <p:to>
                                        <p:strVal val="visible"/>
                                      </p:to>
                                    </p:set>
                                    <p:anim calcmode="lin" valueType="num">
                                      <p:cBhvr additive="base">
                                        <p:cTn dur="1000"/>
                                        <p:tgtEl>
                                          <p:spTgt spid="22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8">
                                            <p:txEl>
                                              <p:pRg end="2" st="2"/>
                                            </p:txEl>
                                          </p:spTgt>
                                        </p:tgtEl>
                                        <p:attrNameLst>
                                          <p:attrName>style.visibility</p:attrName>
                                        </p:attrNameLst>
                                      </p:cBhvr>
                                      <p:to>
                                        <p:strVal val="visible"/>
                                      </p:to>
                                    </p:set>
                                    <p:anim calcmode="lin" valueType="num">
                                      <p:cBhvr additive="base">
                                        <p:cTn dur="1000"/>
                                        <p:tgtEl>
                                          <p:spTgt spid="22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8">
                                            <p:txEl>
                                              <p:pRg end="3" st="3"/>
                                            </p:txEl>
                                          </p:spTgt>
                                        </p:tgtEl>
                                        <p:attrNameLst>
                                          <p:attrName>style.visibility</p:attrName>
                                        </p:attrNameLst>
                                      </p:cBhvr>
                                      <p:to>
                                        <p:strVal val="visible"/>
                                      </p:to>
                                    </p:set>
                                    <p:anim calcmode="lin" valueType="num">
                                      <p:cBhvr additive="base">
                                        <p:cTn dur="1000"/>
                                        <p:tgtEl>
                                          <p:spTgt spid="22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8">
                                            <p:txEl>
                                              <p:pRg end="4" st="4"/>
                                            </p:txEl>
                                          </p:spTgt>
                                        </p:tgtEl>
                                        <p:attrNameLst>
                                          <p:attrName>style.visibility</p:attrName>
                                        </p:attrNameLst>
                                      </p:cBhvr>
                                      <p:to>
                                        <p:strVal val="visible"/>
                                      </p:to>
                                    </p:set>
                                    <p:anim calcmode="lin" valueType="num">
                                      <p:cBhvr additive="base">
                                        <p:cTn dur="1000"/>
                                        <p:tgtEl>
                                          <p:spTgt spid="22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8">
                                            <p:txEl>
                                              <p:pRg end="5" st="5"/>
                                            </p:txEl>
                                          </p:spTgt>
                                        </p:tgtEl>
                                        <p:attrNameLst>
                                          <p:attrName>style.visibility</p:attrName>
                                        </p:attrNameLst>
                                      </p:cBhvr>
                                      <p:to>
                                        <p:strVal val="visible"/>
                                      </p:to>
                                    </p:set>
                                    <p:anim calcmode="lin" valueType="num">
                                      <p:cBhvr additive="base">
                                        <p:cTn dur="1000"/>
                                        <p:tgtEl>
                                          <p:spTgt spid="22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8">
                                            <p:txEl>
                                              <p:pRg end="6" st="6"/>
                                            </p:txEl>
                                          </p:spTgt>
                                        </p:tgtEl>
                                        <p:attrNameLst>
                                          <p:attrName>style.visibility</p:attrName>
                                        </p:attrNameLst>
                                      </p:cBhvr>
                                      <p:to>
                                        <p:strVal val="visible"/>
                                      </p:to>
                                    </p:set>
                                    <p:anim calcmode="lin" valueType="num">
                                      <p:cBhvr additive="base">
                                        <p:cTn dur="1000"/>
                                        <p:tgtEl>
                                          <p:spTgt spid="22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9">
                                            <p:txEl>
                                              <p:pRg end="0" st="0"/>
                                            </p:txEl>
                                          </p:spTgt>
                                        </p:tgtEl>
                                        <p:attrNameLst>
                                          <p:attrName>style.visibility</p:attrName>
                                        </p:attrNameLst>
                                      </p:cBhvr>
                                      <p:to>
                                        <p:strVal val="visible"/>
                                      </p:to>
                                    </p:set>
                                    <p:anim calcmode="lin" valueType="num">
                                      <p:cBhvr additive="base">
                                        <p:cTn dur="1000"/>
                                        <p:tgtEl>
                                          <p:spTgt spid="22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3" name="Shape 233"/>
        <p:cNvGrpSpPr/>
        <p:nvPr/>
      </p:nvGrpSpPr>
      <p:grpSpPr>
        <a:xfrm>
          <a:off x="0" y="0"/>
          <a:ext cx="0" cy="0"/>
          <a:chOff x="0" y="0"/>
          <a:chExt cx="0" cy="0"/>
        </a:xfrm>
      </p:grpSpPr>
      <p:sp>
        <p:nvSpPr>
          <p:cNvPr id="234" name="Google Shape;234;g14337fc5d25_0_594"/>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35" name="Google Shape;235;g14337fc5d25_0_594"/>
          <p:cNvSpPr txBox="1"/>
          <p:nvPr/>
        </p:nvSpPr>
        <p:spPr>
          <a:xfrm>
            <a:off x="720000" y="1170000"/>
            <a:ext cx="7291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2A2A2A"/>
              </a:solidFill>
              <a:highlight>
                <a:schemeClr val="lt1"/>
              </a:highlight>
              <a:latin typeface="Roboto"/>
              <a:ea typeface="Roboto"/>
              <a:cs typeface="Roboto"/>
              <a:sym typeface="Roboto"/>
            </a:endParaRPr>
          </a:p>
        </p:txBody>
      </p:sp>
      <p:sp>
        <p:nvSpPr>
          <p:cNvPr id="236" name="Google Shape;236;g14337fc5d25_0_59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06</a:t>
            </a:r>
            <a:endParaRPr b="1" i="0" sz="2000" u="none" cap="none" strike="noStrike">
              <a:solidFill>
                <a:srgbClr val="8182EF"/>
              </a:solidFill>
              <a:latin typeface="Roboto"/>
              <a:ea typeface="Roboto"/>
              <a:cs typeface="Roboto"/>
              <a:sym typeface="Roboto"/>
            </a:endParaRPr>
          </a:p>
        </p:txBody>
      </p:sp>
      <p:sp>
        <p:nvSpPr>
          <p:cNvPr id="237" name="Google Shape;237;g14337fc5d25_0_594"/>
          <p:cNvSpPr txBox="1"/>
          <p:nvPr/>
        </p:nvSpPr>
        <p:spPr>
          <a:xfrm>
            <a:off x="673500" y="1122850"/>
            <a:ext cx="73842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1) First calculate the average of A and B variety of sugar: (120 + 130)/2 = Rs.125</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 2) Now, the mixture is formed by two varieties of sugar, one at Rs. 125 /kg and assume the cost of type C Rs. x. It is formed in the ratio of 2 : 2, i.e 1 : 1</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Use the rule of alligation, to easily determine the unknown quantity.</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(X -160)/35 = 1</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X= 35+ 160 = Rs.195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The cost of third variety of sugar C = Rs. 195</a:t>
            </a:r>
            <a:endParaRPr b="0" i="0" sz="1400" u="none" cap="none" strike="noStrike">
              <a:solidFill>
                <a:srgbClr val="000000"/>
              </a:solidFill>
              <a:highlight>
                <a:srgbClr val="FFFFFF"/>
              </a:highlight>
              <a:latin typeface="Arial"/>
              <a:ea typeface="Arial"/>
              <a:cs typeface="Arial"/>
              <a:sym typeface="Arial"/>
            </a:endParaRPr>
          </a:p>
        </p:txBody>
      </p:sp>
      <p:pic>
        <p:nvPicPr>
          <p:cNvPr id="238" name="Google Shape;238;g14337fc5d25_0_594"/>
          <p:cNvPicPr preferRelativeResize="0"/>
          <p:nvPr/>
        </p:nvPicPr>
        <p:blipFill rotWithShape="1">
          <a:blip r:embed="rId3">
            <a:alphaModFix/>
          </a:blip>
          <a:srcRect b="0" l="0" r="0" t="0"/>
          <a:stretch/>
        </p:blipFill>
        <p:spPr>
          <a:xfrm>
            <a:off x="5303574" y="2153999"/>
            <a:ext cx="3065725" cy="2373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
                                            <p:txEl>
                                              <p:pRg end="0" st="0"/>
                                            </p:txEl>
                                          </p:spTgt>
                                        </p:tgtEl>
                                        <p:attrNameLst>
                                          <p:attrName>style.visibility</p:attrName>
                                        </p:attrNameLst>
                                      </p:cBhvr>
                                      <p:to>
                                        <p:strVal val="visible"/>
                                      </p:to>
                                    </p:set>
                                    <p:anim calcmode="lin" valueType="num">
                                      <p:cBhvr additive="base">
                                        <p:cTn dur="1000"/>
                                        <p:tgtEl>
                                          <p:spTgt spid="23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
                                            <p:txEl>
                                              <p:pRg end="1" st="1"/>
                                            </p:txEl>
                                          </p:spTgt>
                                        </p:tgtEl>
                                        <p:attrNameLst>
                                          <p:attrName>style.visibility</p:attrName>
                                        </p:attrNameLst>
                                      </p:cBhvr>
                                      <p:to>
                                        <p:strVal val="visible"/>
                                      </p:to>
                                    </p:set>
                                    <p:anim calcmode="lin" valueType="num">
                                      <p:cBhvr additive="base">
                                        <p:cTn dur="1000"/>
                                        <p:tgtEl>
                                          <p:spTgt spid="23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
                                            <p:txEl>
                                              <p:pRg end="2" st="2"/>
                                            </p:txEl>
                                          </p:spTgt>
                                        </p:tgtEl>
                                        <p:attrNameLst>
                                          <p:attrName>style.visibility</p:attrName>
                                        </p:attrNameLst>
                                      </p:cBhvr>
                                      <p:to>
                                        <p:strVal val="visible"/>
                                      </p:to>
                                    </p:set>
                                    <p:anim calcmode="lin" valueType="num">
                                      <p:cBhvr additive="base">
                                        <p:cTn dur="1000"/>
                                        <p:tgtEl>
                                          <p:spTgt spid="23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
                                            <p:txEl>
                                              <p:pRg end="3" st="3"/>
                                            </p:txEl>
                                          </p:spTgt>
                                        </p:tgtEl>
                                        <p:attrNameLst>
                                          <p:attrName>style.visibility</p:attrName>
                                        </p:attrNameLst>
                                      </p:cBhvr>
                                      <p:to>
                                        <p:strVal val="visible"/>
                                      </p:to>
                                    </p:set>
                                    <p:anim calcmode="lin" valueType="num">
                                      <p:cBhvr additive="base">
                                        <p:cTn dur="1000"/>
                                        <p:tgtEl>
                                          <p:spTgt spid="23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
                                            <p:txEl>
                                              <p:pRg end="4" st="4"/>
                                            </p:txEl>
                                          </p:spTgt>
                                        </p:tgtEl>
                                        <p:attrNameLst>
                                          <p:attrName>style.visibility</p:attrName>
                                        </p:attrNameLst>
                                      </p:cBhvr>
                                      <p:to>
                                        <p:strVal val="visible"/>
                                      </p:to>
                                    </p:set>
                                    <p:anim calcmode="lin" valueType="num">
                                      <p:cBhvr additive="base">
                                        <p:cTn dur="1000"/>
                                        <p:tgtEl>
                                          <p:spTgt spid="23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
                                            <p:txEl>
                                              <p:pRg end="5" st="5"/>
                                            </p:txEl>
                                          </p:spTgt>
                                        </p:tgtEl>
                                        <p:attrNameLst>
                                          <p:attrName>style.visibility</p:attrName>
                                        </p:attrNameLst>
                                      </p:cBhvr>
                                      <p:to>
                                        <p:strVal val="visible"/>
                                      </p:to>
                                    </p:set>
                                    <p:anim calcmode="lin" valueType="num">
                                      <p:cBhvr additive="base">
                                        <p:cTn dur="1000"/>
                                        <p:tgtEl>
                                          <p:spTgt spid="23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
                                            <p:txEl>
                                              <p:pRg end="6" st="6"/>
                                            </p:txEl>
                                          </p:spTgt>
                                        </p:tgtEl>
                                        <p:attrNameLst>
                                          <p:attrName>style.visibility</p:attrName>
                                        </p:attrNameLst>
                                      </p:cBhvr>
                                      <p:to>
                                        <p:strVal val="visible"/>
                                      </p:to>
                                    </p:set>
                                    <p:anim calcmode="lin" valueType="num">
                                      <p:cBhvr additive="base">
                                        <p:cTn dur="1000"/>
                                        <p:tgtEl>
                                          <p:spTgt spid="23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1000"/>
                                        <p:tgtEl>
                                          <p:spTgt spid="23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14337fc5d25_0_607"/>
          <p:cNvSpPr txBox="1"/>
          <p:nvPr/>
        </p:nvSpPr>
        <p:spPr>
          <a:xfrm>
            <a:off x="720000" y="1439999"/>
            <a:ext cx="8472300" cy="27060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highlight>
                  <a:schemeClr val="lt1"/>
                </a:highlight>
                <a:latin typeface="Roboto"/>
                <a:ea typeface="Roboto"/>
                <a:cs typeface="Roboto"/>
                <a:sym typeface="Roboto"/>
              </a:rPr>
              <a:t>Two containers P and Q contain milk and water in the ratio of 5 : 2 and 7 : 6 respectively. Find the ratio in which these two mixtures can be mixed so that a new mixture formed in the container R is in the ratio of 8 : 5.</a:t>
            </a:r>
            <a:endParaRPr b="0" i="0" sz="1800" u="none" cap="none" strike="noStrike">
              <a:solidFill>
                <a:schemeClr val="dk1"/>
              </a:solidFill>
              <a:highlight>
                <a:schemeClr val="lt1"/>
              </a:highlight>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5 : 6</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4 : 9</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7 : 9</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9 : 7</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244" name="Google Shape;244;g14337fc5d25_0_607"/>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245" name="Google Shape;245;g14337fc5d25_0_60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07</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anim calcmode="lin" valueType="num">
                                      <p:cBhvr additive="base">
                                        <p:cTn dur="1000"/>
                                        <p:tgtEl>
                                          <p:spTgt spid="24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1" st="1"/>
                                            </p:txEl>
                                          </p:spTgt>
                                        </p:tgtEl>
                                        <p:attrNameLst>
                                          <p:attrName>style.visibility</p:attrName>
                                        </p:attrNameLst>
                                      </p:cBhvr>
                                      <p:to>
                                        <p:strVal val="visible"/>
                                      </p:to>
                                    </p:set>
                                    <p:anim calcmode="lin" valueType="num">
                                      <p:cBhvr additive="base">
                                        <p:cTn dur="1000"/>
                                        <p:tgtEl>
                                          <p:spTgt spid="24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2" st="2"/>
                                            </p:txEl>
                                          </p:spTgt>
                                        </p:tgtEl>
                                        <p:attrNameLst>
                                          <p:attrName>style.visibility</p:attrName>
                                        </p:attrNameLst>
                                      </p:cBhvr>
                                      <p:to>
                                        <p:strVal val="visible"/>
                                      </p:to>
                                    </p:set>
                                    <p:anim calcmode="lin" valueType="num">
                                      <p:cBhvr additive="base">
                                        <p:cTn dur="1000"/>
                                        <p:tgtEl>
                                          <p:spTgt spid="24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3" st="3"/>
                                            </p:txEl>
                                          </p:spTgt>
                                        </p:tgtEl>
                                        <p:attrNameLst>
                                          <p:attrName>style.visibility</p:attrName>
                                        </p:attrNameLst>
                                      </p:cBhvr>
                                      <p:to>
                                        <p:strVal val="visible"/>
                                      </p:to>
                                    </p:set>
                                    <p:anim calcmode="lin" valueType="num">
                                      <p:cBhvr additive="base">
                                        <p:cTn dur="1000"/>
                                        <p:tgtEl>
                                          <p:spTgt spid="24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4" st="4"/>
                                            </p:txEl>
                                          </p:spTgt>
                                        </p:tgtEl>
                                        <p:attrNameLst>
                                          <p:attrName>style.visibility</p:attrName>
                                        </p:attrNameLst>
                                      </p:cBhvr>
                                      <p:to>
                                        <p:strVal val="visible"/>
                                      </p:to>
                                    </p:set>
                                    <p:anim calcmode="lin" valueType="num">
                                      <p:cBhvr additive="base">
                                        <p:cTn dur="1000"/>
                                        <p:tgtEl>
                                          <p:spTgt spid="24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5" st="5"/>
                                            </p:txEl>
                                          </p:spTgt>
                                        </p:tgtEl>
                                        <p:attrNameLst>
                                          <p:attrName>style.visibility</p:attrName>
                                        </p:attrNameLst>
                                      </p:cBhvr>
                                      <p:to>
                                        <p:strVal val="visible"/>
                                      </p:to>
                                    </p:set>
                                    <p:anim calcmode="lin" valueType="num">
                                      <p:cBhvr additive="base">
                                        <p:cTn dur="1000"/>
                                        <p:tgtEl>
                                          <p:spTgt spid="24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xEl>
                                              <p:pRg end="6" st="6"/>
                                            </p:txEl>
                                          </p:spTgt>
                                        </p:tgtEl>
                                        <p:attrNameLst>
                                          <p:attrName>style.visibility</p:attrName>
                                        </p:attrNameLst>
                                      </p:cBhvr>
                                      <p:to>
                                        <p:strVal val="visible"/>
                                      </p:to>
                                    </p:set>
                                    <p:anim calcmode="lin" valueType="num">
                                      <p:cBhvr additive="base">
                                        <p:cTn dur="1000"/>
                                        <p:tgtEl>
                                          <p:spTgt spid="24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4">
                                            <p:txEl>
                                              <p:pRg end="0" st="0"/>
                                            </p:txEl>
                                          </p:spTgt>
                                        </p:tgtEl>
                                        <p:attrNameLst>
                                          <p:attrName>style.visibility</p:attrName>
                                        </p:attrNameLst>
                                      </p:cBhvr>
                                      <p:to>
                                        <p:strVal val="visible"/>
                                      </p:to>
                                    </p:set>
                                    <p:anim calcmode="lin" valueType="num">
                                      <p:cBhvr additive="base">
                                        <p:cTn dur="1000"/>
                                        <p:tgtEl>
                                          <p:spTgt spid="24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9" name="Shape 249"/>
        <p:cNvGrpSpPr/>
        <p:nvPr/>
      </p:nvGrpSpPr>
      <p:grpSpPr>
        <a:xfrm>
          <a:off x="0" y="0"/>
          <a:ext cx="0" cy="0"/>
          <a:chOff x="0" y="0"/>
          <a:chExt cx="0" cy="0"/>
        </a:xfrm>
      </p:grpSpPr>
      <p:sp>
        <p:nvSpPr>
          <p:cNvPr id="250" name="Google Shape;250;g14337fc5d25_0_615"/>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51" name="Google Shape;251;g14337fc5d25_0_615"/>
          <p:cNvSpPr txBox="1"/>
          <p:nvPr/>
        </p:nvSpPr>
        <p:spPr>
          <a:xfrm>
            <a:off x="720000" y="1439888"/>
            <a:ext cx="7166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rgbClr val="2A2A2A"/>
              </a:solidFill>
              <a:highlight>
                <a:schemeClr val="lt1"/>
              </a:highlight>
              <a:latin typeface="Roboto"/>
              <a:ea typeface="Roboto"/>
              <a:cs typeface="Roboto"/>
              <a:sym typeface="Roboto"/>
            </a:endParaRPr>
          </a:p>
        </p:txBody>
      </p:sp>
      <p:sp>
        <p:nvSpPr>
          <p:cNvPr id="252" name="Google Shape;252;g14337fc5d25_0_61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07</a:t>
            </a:r>
            <a:endParaRPr b="1" i="0" sz="2000" u="none" cap="none" strike="noStrike">
              <a:solidFill>
                <a:srgbClr val="8182EF"/>
              </a:solidFill>
              <a:latin typeface="Roboto"/>
              <a:ea typeface="Roboto"/>
              <a:cs typeface="Roboto"/>
              <a:sym typeface="Roboto"/>
            </a:endParaRPr>
          </a:p>
        </p:txBody>
      </p:sp>
      <p:sp>
        <p:nvSpPr>
          <p:cNvPr id="253" name="Google Shape;253;g14337fc5d25_0_615"/>
          <p:cNvSpPr txBox="1"/>
          <p:nvPr/>
        </p:nvSpPr>
        <p:spPr>
          <a:xfrm>
            <a:off x="814375" y="1122850"/>
            <a:ext cx="73842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rgbClr val="000000"/>
                </a:solidFill>
                <a:highlight>
                  <a:srgbClr val="FFFFFF"/>
                </a:highlight>
                <a:latin typeface="Arial"/>
                <a:ea typeface="Arial"/>
                <a:cs typeface="Arial"/>
                <a:sym typeface="Arial"/>
              </a:rPr>
              <a:t>Let the cost price of milk be </a:t>
            </a:r>
            <a:r>
              <a:rPr b="1" i="0" lang="en-GB" sz="1400" u="none" cap="none" strike="noStrike">
                <a:solidFill>
                  <a:srgbClr val="000000"/>
                </a:solidFill>
                <a:highlight>
                  <a:srgbClr val="FFFFFF"/>
                </a:highlight>
                <a:latin typeface="Arial"/>
                <a:ea typeface="Arial"/>
                <a:cs typeface="Arial"/>
                <a:sym typeface="Arial"/>
              </a:rPr>
              <a:t>Re. 1 per litre.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Therefore, </a:t>
            </a:r>
            <a:r>
              <a:rPr b="1" i="0" lang="en-GB" sz="1400" u="none" cap="none" strike="noStrike">
                <a:solidFill>
                  <a:srgbClr val="000000"/>
                </a:solidFill>
                <a:highlight>
                  <a:srgbClr val="FFFFFF"/>
                </a:highlight>
                <a:latin typeface="Arial"/>
                <a:ea typeface="Arial"/>
                <a:cs typeface="Arial"/>
                <a:sym typeface="Arial"/>
              </a:rPr>
              <a:t>cost of milk in 1 litre of mixture in</a:t>
            </a:r>
            <a:endParaRPr b="1"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Container A (Milk : Water = 5 : 2) =(5/7)*Re. 1= Re. 5/7</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Container B (Milk : Water = 7 : 6) =(7/13)*Re.1=Re.7/13</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Container C (Milk : Water = 8 : 5) =(8/14)*Re.1=Re. 8/14</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Now use the rule of alligation, to find the required ratio</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The required ratio of milk and water:</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1/13 : 9/91</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Simplifying, we get 7 : 9</a:t>
            </a:r>
            <a:endParaRPr b="0" i="0" sz="1400" u="none" cap="none" strike="noStrike">
              <a:solidFill>
                <a:srgbClr val="000000"/>
              </a:solidFill>
              <a:highlight>
                <a:srgbClr val="FFFFFF"/>
              </a:highlight>
              <a:latin typeface="Arial"/>
              <a:ea typeface="Arial"/>
              <a:cs typeface="Arial"/>
              <a:sym typeface="Arial"/>
            </a:endParaRPr>
          </a:p>
        </p:txBody>
      </p:sp>
      <p:pic>
        <p:nvPicPr>
          <p:cNvPr id="254" name="Google Shape;254;g14337fc5d25_0_615"/>
          <p:cNvPicPr preferRelativeResize="0"/>
          <p:nvPr/>
        </p:nvPicPr>
        <p:blipFill rotWithShape="1">
          <a:blip r:embed="rId3">
            <a:alphaModFix/>
          </a:blip>
          <a:srcRect b="0" l="0" r="0" t="0"/>
          <a:stretch/>
        </p:blipFill>
        <p:spPr>
          <a:xfrm>
            <a:off x="5647575" y="1549075"/>
            <a:ext cx="3177743" cy="2613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anim calcmode="lin" valueType="num">
                                      <p:cBhvr additive="base">
                                        <p:cTn dur="1000"/>
                                        <p:tgtEl>
                                          <p:spTgt spid="25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
                                            <p:txEl>
                                              <p:pRg end="1" st="1"/>
                                            </p:txEl>
                                          </p:spTgt>
                                        </p:tgtEl>
                                        <p:attrNameLst>
                                          <p:attrName>style.visibility</p:attrName>
                                        </p:attrNameLst>
                                      </p:cBhvr>
                                      <p:to>
                                        <p:strVal val="visible"/>
                                      </p:to>
                                    </p:set>
                                    <p:anim calcmode="lin" valueType="num">
                                      <p:cBhvr additive="base">
                                        <p:cTn dur="1000"/>
                                        <p:tgtEl>
                                          <p:spTgt spid="25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
                                            <p:txEl>
                                              <p:pRg end="2" st="2"/>
                                            </p:txEl>
                                          </p:spTgt>
                                        </p:tgtEl>
                                        <p:attrNameLst>
                                          <p:attrName>style.visibility</p:attrName>
                                        </p:attrNameLst>
                                      </p:cBhvr>
                                      <p:to>
                                        <p:strVal val="visible"/>
                                      </p:to>
                                    </p:set>
                                    <p:anim calcmode="lin" valueType="num">
                                      <p:cBhvr additive="base">
                                        <p:cTn dur="1000"/>
                                        <p:tgtEl>
                                          <p:spTgt spid="25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
                                            <p:txEl>
                                              <p:pRg end="3" st="3"/>
                                            </p:txEl>
                                          </p:spTgt>
                                        </p:tgtEl>
                                        <p:attrNameLst>
                                          <p:attrName>style.visibility</p:attrName>
                                        </p:attrNameLst>
                                      </p:cBhvr>
                                      <p:to>
                                        <p:strVal val="visible"/>
                                      </p:to>
                                    </p:set>
                                    <p:anim calcmode="lin" valueType="num">
                                      <p:cBhvr additive="base">
                                        <p:cTn dur="1000"/>
                                        <p:tgtEl>
                                          <p:spTgt spid="25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
                                            <p:txEl>
                                              <p:pRg end="4" st="4"/>
                                            </p:txEl>
                                          </p:spTgt>
                                        </p:tgtEl>
                                        <p:attrNameLst>
                                          <p:attrName>style.visibility</p:attrName>
                                        </p:attrNameLst>
                                      </p:cBhvr>
                                      <p:to>
                                        <p:strVal val="visible"/>
                                      </p:to>
                                    </p:set>
                                    <p:anim calcmode="lin" valueType="num">
                                      <p:cBhvr additive="base">
                                        <p:cTn dur="1000"/>
                                        <p:tgtEl>
                                          <p:spTgt spid="25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
                                            <p:txEl>
                                              <p:pRg end="5" st="5"/>
                                            </p:txEl>
                                          </p:spTgt>
                                        </p:tgtEl>
                                        <p:attrNameLst>
                                          <p:attrName>style.visibility</p:attrName>
                                        </p:attrNameLst>
                                      </p:cBhvr>
                                      <p:to>
                                        <p:strVal val="visible"/>
                                      </p:to>
                                    </p:set>
                                    <p:anim calcmode="lin" valueType="num">
                                      <p:cBhvr additive="base">
                                        <p:cTn dur="1000"/>
                                        <p:tgtEl>
                                          <p:spTgt spid="25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
                                            <p:txEl>
                                              <p:pRg end="6" st="6"/>
                                            </p:txEl>
                                          </p:spTgt>
                                        </p:tgtEl>
                                        <p:attrNameLst>
                                          <p:attrName>style.visibility</p:attrName>
                                        </p:attrNameLst>
                                      </p:cBhvr>
                                      <p:to>
                                        <p:strVal val="visible"/>
                                      </p:to>
                                    </p:set>
                                    <p:anim calcmode="lin" valueType="num">
                                      <p:cBhvr additive="base">
                                        <p:cTn dur="1000"/>
                                        <p:tgtEl>
                                          <p:spTgt spid="25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
                                            <p:txEl>
                                              <p:pRg end="7" st="7"/>
                                            </p:txEl>
                                          </p:spTgt>
                                        </p:tgtEl>
                                        <p:attrNameLst>
                                          <p:attrName>style.visibility</p:attrName>
                                        </p:attrNameLst>
                                      </p:cBhvr>
                                      <p:to>
                                        <p:strVal val="visible"/>
                                      </p:to>
                                    </p:set>
                                    <p:anim calcmode="lin" valueType="num">
                                      <p:cBhvr additive="base">
                                        <p:cTn dur="1000"/>
                                        <p:tgtEl>
                                          <p:spTgt spid="253">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
                                            <p:txEl>
                                              <p:pRg end="8" st="8"/>
                                            </p:txEl>
                                          </p:spTgt>
                                        </p:tgtEl>
                                        <p:attrNameLst>
                                          <p:attrName>style.visibility</p:attrName>
                                        </p:attrNameLst>
                                      </p:cBhvr>
                                      <p:to>
                                        <p:strVal val="visible"/>
                                      </p:to>
                                    </p:set>
                                    <p:anim calcmode="lin" valueType="num">
                                      <p:cBhvr additive="base">
                                        <p:cTn dur="1000"/>
                                        <p:tgtEl>
                                          <p:spTgt spid="253">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
                                            <p:txEl>
                                              <p:pRg end="9" st="9"/>
                                            </p:txEl>
                                          </p:spTgt>
                                        </p:tgtEl>
                                        <p:attrNameLst>
                                          <p:attrName>style.visibility</p:attrName>
                                        </p:attrNameLst>
                                      </p:cBhvr>
                                      <p:to>
                                        <p:strVal val="visible"/>
                                      </p:to>
                                    </p:set>
                                    <p:anim calcmode="lin" valueType="num">
                                      <p:cBhvr additive="base">
                                        <p:cTn dur="1000"/>
                                        <p:tgtEl>
                                          <p:spTgt spid="253">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
                                            <p:txEl>
                                              <p:pRg end="10" st="10"/>
                                            </p:txEl>
                                          </p:spTgt>
                                        </p:tgtEl>
                                        <p:attrNameLst>
                                          <p:attrName>style.visibility</p:attrName>
                                        </p:attrNameLst>
                                      </p:cBhvr>
                                      <p:to>
                                        <p:strVal val="visible"/>
                                      </p:to>
                                    </p:set>
                                    <p:anim calcmode="lin" valueType="num">
                                      <p:cBhvr additive="base">
                                        <p:cTn dur="1000"/>
                                        <p:tgtEl>
                                          <p:spTgt spid="253">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gtEl>
                                        <p:attrNameLst>
                                          <p:attrName>style.visibility</p:attrName>
                                        </p:attrNameLst>
                                      </p:cBhvr>
                                      <p:to>
                                        <p:strVal val="visible"/>
                                      </p:to>
                                    </p:set>
                                    <p:anim calcmode="lin" valueType="num">
                                      <p:cBhvr additive="base">
                                        <p:cTn dur="1000"/>
                                        <p:tgtEl>
                                          <p:spTgt spid="25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14337fc5d25_0_623"/>
          <p:cNvSpPr txBox="1"/>
          <p:nvPr/>
        </p:nvSpPr>
        <p:spPr>
          <a:xfrm>
            <a:off x="720000" y="1439874"/>
            <a:ext cx="8472300" cy="21396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400"/>
              <a:buFont typeface="Arial"/>
              <a:buNone/>
            </a:pPr>
            <a:r>
              <a:rPr b="0" i="0" lang="en-GB" sz="1800" u="none" cap="none" strike="noStrike">
                <a:solidFill>
                  <a:schemeClr val="dk1"/>
                </a:solidFill>
                <a:highlight>
                  <a:schemeClr val="lt1"/>
                </a:highlight>
                <a:latin typeface="Roboto"/>
                <a:ea typeface="Roboto"/>
                <a:cs typeface="Roboto"/>
                <a:sym typeface="Roboto"/>
              </a:rPr>
              <a:t>In what ratio must a shopkeeper mix two types of rice worth Rs. 50 kg and Rs. 70 kg, so that the average cost of the mixture is Rs. 65 kg?</a:t>
            </a:r>
            <a:endParaRPr b="0" i="0" sz="18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2:1</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1:2</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3:1</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1:3</a:t>
            </a:r>
            <a:endParaRPr b="0" i="0" sz="1600" u="none" cap="none" strike="noStrike">
              <a:solidFill>
                <a:schemeClr val="dk1"/>
              </a:solidFill>
              <a:highlight>
                <a:schemeClr val="lt1"/>
              </a:highlight>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260" name="Google Shape;260;g14337fc5d25_0_623"/>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
        <p:nvSpPr>
          <p:cNvPr id="261" name="Google Shape;261;g14337fc5d25_0_62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08</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9">
                                            <p:txEl>
                                              <p:pRg end="0" st="0"/>
                                            </p:txEl>
                                          </p:spTgt>
                                        </p:tgtEl>
                                        <p:attrNameLst>
                                          <p:attrName>style.visibility</p:attrName>
                                        </p:attrNameLst>
                                      </p:cBhvr>
                                      <p:to>
                                        <p:strVal val="visible"/>
                                      </p:to>
                                    </p:set>
                                    <p:anim calcmode="lin" valueType="num">
                                      <p:cBhvr additive="base">
                                        <p:cTn dur="1000"/>
                                        <p:tgtEl>
                                          <p:spTgt spid="25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9">
                                            <p:txEl>
                                              <p:pRg end="1" st="1"/>
                                            </p:txEl>
                                          </p:spTgt>
                                        </p:tgtEl>
                                        <p:attrNameLst>
                                          <p:attrName>style.visibility</p:attrName>
                                        </p:attrNameLst>
                                      </p:cBhvr>
                                      <p:to>
                                        <p:strVal val="visible"/>
                                      </p:to>
                                    </p:set>
                                    <p:anim calcmode="lin" valueType="num">
                                      <p:cBhvr additive="base">
                                        <p:cTn dur="1000"/>
                                        <p:tgtEl>
                                          <p:spTgt spid="25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9">
                                            <p:txEl>
                                              <p:pRg end="2" st="2"/>
                                            </p:txEl>
                                          </p:spTgt>
                                        </p:tgtEl>
                                        <p:attrNameLst>
                                          <p:attrName>style.visibility</p:attrName>
                                        </p:attrNameLst>
                                      </p:cBhvr>
                                      <p:to>
                                        <p:strVal val="visible"/>
                                      </p:to>
                                    </p:set>
                                    <p:anim calcmode="lin" valueType="num">
                                      <p:cBhvr additive="base">
                                        <p:cTn dur="1000"/>
                                        <p:tgtEl>
                                          <p:spTgt spid="25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9">
                                            <p:txEl>
                                              <p:pRg end="3" st="3"/>
                                            </p:txEl>
                                          </p:spTgt>
                                        </p:tgtEl>
                                        <p:attrNameLst>
                                          <p:attrName>style.visibility</p:attrName>
                                        </p:attrNameLst>
                                      </p:cBhvr>
                                      <p:to>
                                        <p:strVal val="visible"/>
                                      </p:to>
                                    </p:set>
                                    <p:anim calcmode="lin" valueType="num">
                                      <p:cBhvr additive="base">
                                        <p:cTn dur="1000"/>
                                        <p:tgtEl>
                                          <p:spTgt spid="25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9">
                                            <p:txEl>
                                              <p:pRg end="4" st="4"/>
                                            </p:txEl>
                                          </p:spTgt>
                                        </p:tgtEl>
                                        <p:attrNameLst>
                                          <p:attrName>style.visibility</p:attrName>
                                        </p:attrNameLst>
                                      </p:cBhvr>
                                      <p:to>
                                        <p:strVal val="visible"/>
                                      </p:to>
                                    </p:set>
                                    <p:anim calcmode="lin" valueType="num">
                                      <p:cBhvr additive="base">
                                        <p:cTn dur="1000"/>
                                        <p:tgtEl>
                                          <p:spTgt spid="25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9">
                                            <p:txEl>
                                              <p:pRg end="5" st="5"/>
                                            </p:txEl>
                                          </p:spTgt>
                                        </p:tgtEl>
                                        <p:attrNameLst>
                                          <p:attrName>style.visibility</p:attrName>
                                        </p:attrNameLst>
                                      </p:cBhvr>
                                      <p:to>
                                        <p:strVal val="visible"/>
                                      </p:to>
                                    </p:set>
                                    <p:anim calcmode="lin" valueType="num">
                                      <p:cBhvr additive="base">
                                        <p:cTn dur="1000"/>
                                        <p:tgtEl>
                                          <p:spTgt spid="25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0">
                                            <p:txEl>
                                              <p:pRg end="0" st="0"/>
                                            </p:txEl>
                                          </p:spTgt>
                                        </p:tgtEl>
                                        <p:attrNameLst>
                                          <p:attrName>style.visibility</p:attrName>
                                        </p:attrNameLst>
                                      </p:cBhvr>
                                      <p:to>
                                        <p:strVal val="visible"/>
                                      </p:to>
                                    </p:set>
                                    <p:anim calcmode="lin" valueType="num">
                                      <p:cBhvr additive="base">
                                        <p:cTn dur="1000"/>
                                        <p:tgtEl>
                                          <p:spTgt spid="26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5" name="Shape 265"/>
        <p:cNvGrpSpPr/>
        <p:nvPr/>
      </p:nvGrpSpPr>
      <p:grpSpPr>
        <a:xfrm>
          <a:off x="0" y="0"/>
          <a:ext cx="0" cy="0"/>
          <a:chOff x="0" y="0"/>
          <a:chExt cx="0" cy="0"/>
        </a:xfrm>
      </p:grpSpPr>
      <p:sp>
        <p:nvSpPr>
          <p:cNvPr id="266" name="Google Shape;266;g14337fc5d25_0_631"/>
          <p:cNvSpPr txBox="1"/>
          <p:nvPr/>
        </p:nvSpPr>
        <p:spPr>
          <a:xfrm>
            <a:off x="270328" y="6622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67" name="Google Shape;267;g14337fc5d25_0_631"/>
          <p:cNvSpPr txBox="1"/>
          <p:nvPr/>
        </p:nvSpPr>
        <p:spPr>
          <a:xfrm>
            <a:off x="720000" y="6005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08</a:t>
            </a:r>
            <a:endParaRPr b="1" i="0" sz="2000" u="none" cap="none" strike="noStrike">
              <a:solidFill>
                <a:srgbClr val="8182EF"/>
              </a:solidFill>
              <a:latin typeface="Roboto"/>
              <a:ea typeface="Roboto"/>
              <a:cs typeface="Roboto"/>
              <a:sym typeface="Roboto"/>
            </a:endParaRPr>
          </a:p>
        </p:txBody>
      </p:sp>
      <p:sp>
        <p:nvSpPr>
          <p:cNvPr id="268" name="Google Shape;268;g14337fc5d25_0_631"/>
          <p:cNvSpPr txBox="1"/>
          <p:nvPr/>
        </p:nvSpPr>
        <p:spPr>
          <a:xfrm>
            <a:off x="814375" y="1228975"/>
            <a:ext cx="73842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                            50                         70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                                           65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                            5                             15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                         5:15 = 1:3    </a:t>
            </a:r>
            <a:endParaRPr b="0" i="0" sz="1400" u="none" cap="none" strike="noStrike">
              <a:solidFill>
                <a:srgbClr val="000000"/>
              </a:solidFill>
              <a:latin typeface="Arial"/>
              <a:ea typeface="Arial"/>
              <a:cs typeface="Arial"/>
              <a:sym typeface="Arial"/>
            </a:endParaRPr>
          </a:p>
        </p:txBody>
      </p:sp>
      <p:cxnSp>
        <p:nvCxnSpPr>
          <p:cNvPr id="269" name="Google Shape;269;g14337fc5d25_0_631"/>
          <p:cNvCxnSpPr/>
          <p:nvPr/>
        </p:nvCxnSpPr>
        <p:spPr>
          <a:xfrm>
            <a:off x="2454250" y="1866800"/>
            <a:ext cx="339300" cy="378600"/>
          </a:xfrm>
          <a:prstGeom prst="straightConnector1">
            <a:avLst/>
          </a:prstGeom>
          <a:noFill/>
          <a:ln cap="flat" cmpd="sng" w="9525">
            <a:solidFill>
              <a:srgbClr val="000000"/>
            </a:solidFill>
            <a:prstDash val="solid"/>
            <a:round/>
            <a:headEnd len="sm" w="sm" type="none"/>
            <a:tailEnd len="sm" w="sm" type="none"/>
          </a:ln>
        </p:spPr>
      </p:cxnSp>
      <p:cxnSp>
        <p:nvCxnSpPr>
          <p:cNvPr id="270" name="Google Shape;270;g14337fc5d25_0_631"/>
          <p:cNvCxnSpPr/>
          <p:nvPr/>
        </p:nvCxnSpPr>
        <p:spPr>
          <a:xfrm flipH="1">
            <a:off x="3259425" y="1855850"/>
            <a:ext cx="304500" cy="400500"/>
          </a:xfrm>
          <a:prstGeom prst="straightConnector1">
            <a:avLst/>
          </a:prstGeom>
          <a:noFill/>
          <a:ln cap="flat" cmpd="sng" w="9525">
            <a:solidFill>
              <a:schemeClr val="dk2"/>
            </a:solidFill>
            <a:prstDash val="solid"/>
            <a:round/>
            <a:headEnd len="sm" w="sm" type="none"/>
            <a:tailEnd len="sm" w="sm" type="none"/>
          </a:ln>
        </p:spPr>
      </p:cxnSp>
      <p:cxnSp>
        <p:nvCxnSpPr>
          <p:cNvPr id="271" name="Google Shape;271;g14337fc5d25_0_631"/>
          <p:cNvCxnSpPr/>
          <p:nvPr/>
        </p:nvCxnSpPr>
        <p:spPr>
          <a:xfrm flipH="1" rot="10800000">
            <a:off x="2465050" y="2663125"/>
            <a:ext cx="341700" cy="404700"/>
          </a:xfrm>
          <a:prstGeom prst="straightConnector1">
            <a:avLst/>
          </a:prstGeom>
          <a:noFill/>
          <a:ln cap="flat" cmpd="sng" w="9525">
            <a:solidFill>
              <a:schemeClr val="dk2"/>
            </a:solidFill>
            <a:prstDash val="solid"/>
            <a:round/>
            <a:headEnd len="sm" w="sm" type="none"/>
            <a:tailEnd len="sm" w="sm" type="none"/>
          </a:ln>
        </p:spPr>
      </p:cxnSp>
      <p:cxnSp>
        <p:nvCxnSpPr>
          <p:cNvPr id="272" name="Google Shape;272;g14337fc5d25_0_631"/>
          <p:cNvCxnSpPr/>
          <p:nvPr/>
        </p:nvCxnSpPr>
        <p:spPr>
          <a:xfrm>
            <a:off x="3242025" y="2676175"/>
            <a:ext cx="339300" cy="3786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8">
                                            <p:txEl>
                                              <p:pRg end="0" st="0"/>
                                            </p:txEl>
                                          </p:spTgt>
                                        </p:tgtEl>
                                        <p:attrNameLst>
                                          <p:attrName>style.visibility</p:attrName>
                                        </p:attrNameLst>
                                      </p:cBhvr>
                                      <p:to>
                                        <p:strVal val="visible"/>
                                      </p:to>
                                    </p:set>
                                    <p:anim calcmode="lin" valueType="num">
                                      <p:cBhvr additive="base">
                                        <p:cTn dur="1000"/>
                                        <p:tgtEl>
                                          <p:spTgt spid="26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8">
                                            <p:txEl>
                                              <p:pRg end="1" st="1"/>
                                            </p:txEl>
                                          </p:spTgt>
                                        </p:tgtEl>
                                        <p:attrNameLst>
                                          <p:attrName>style.visibility</p:attrName>
                                        </p:attrNameLst>
                                      </p:cBhvr>
                                      <p:to>
                                        <p:strVal val="visible"/>
                                      </p:to>
                                    </p:set>
                                    <p:anim calcmode="lin" valueType="num">
                                      <p:cBhvr additive="base">
                                        <p:cTn dur="1000"/>
                                        <p:tgtEl>
                                          <p:spTgt spid="26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8">
                                            <p:txEl>
                                              <p:pRg end="2" st="2"/>
                                            </p:txEl>
                                          </p:spTgt>
                                        </p:tgtEl>
                                        <p:attrNameLst>
                                          <p:attrName>style.visibility</p:attrName>
                                        </p:attrNameLst>
                                      </p:cBhvr>
                                      <p:to>
                                        <p:strVal val="visible"/>
                                      </p:to>
                                    </p:set>
                                    <p:anim calcmode="lin" valueType="num">
                                      <p:cBhvr additive="base">
                                        <p:cTn dur="1000"/>
                                        <p:tgtEl>
                                          <p:spTgt spid="26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8">
                                            <p:txEl>
                                              <p:pRg end="3" st="3"/>
                                            </p:txEl>
                                          </p:spTgt>
                                        </p:tgtEl>
                                        <p:attrNameLst>
                                          <p:attrName>style.visibility</p:attrName>
                                        </p:attrNameLst>
                                      </p:cBhvr>
                                      <p:to>
                                        <p:strVal val="visible"/>
                                      </p:to>
                                    </p:set>
                                    <p:anim calcmode="lin" valueType="num">
                                      <p:cBhvr additive="base">
                                        <p:cTn dur="1000"/>
                                        <p:tgtEl>
                                          <p:spTgt spid="26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8">
                                            <p:txEl>
                                              <p:pRg end="4" st="4"/>
                                            </p:txEl>
                                          </p:spTgt>
                                        </p:tgtEl>
                                        <p:attrNameLst>
                                          <p:attrName>style.visibility</p:attrName>
                                        </p:attrNameLst>
                                      </p:cBhvr>
                                      <p:to>
                                        <p:strVal val="visible"/>
                                      </p:to>
                                    </p:set>
                                    <p:anim calcmode="lin" valueType="num">
                                      <p:cBhvr additive="base">
                                        <p:cTn dur="1000"/>
                                        <p:tgtEl>
                                          <p:spTgt spid="26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8">
                                            <p:txEl>
                                              <p:pRg end="5" st="5"/>
                                            </p:txEl>
                                          </p:spTgt>
                                        </p:tgtEl>
                                        <p:attrNameLst>
                                          <p:attrName>style.visibility</p:attrName>
                                        </p:attrNameLst>
                                      </p:cBhvr>
                                      <p:to>
                                        <p:strVal val="visible"/>
                                      </p:to>
                                    </p:set>
                                    <p:anim calcmode="lin" valueType="num">
                                      <p:cBhvr additive="base">
                                        <p:cTn dur="1000"/>
                                        <p:tgtEl>
                                          <p:spTgt spid="26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8">
                                            <p:txEl>
                                              <p:pRg end="6" st="6"/>
                                            </p:txEl>
                                          </p:spTgt>
                                        </p:tgtEl>
                                        <p:attrNameLst>
                                          <p:attrName>style.visibility</p:attrName>
                                        </p:attrNameLst>
                                      </p:cBhvr>
                                      <p:to>
                                        <p:strVal val="visible"/>
                                      </p:to>
                                    </p:set>
                                    <p:anim calcmode="lin" valueType="num">
                                      <p:cBhvr additive="base">
                                        <p:cTn dur="1000"/>
                                        <p:tgtEl>
                                          <p:spTgt spid="26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8">
                                            <p:txEl>
                                              <p:pRg end="7" st="7"/>
                                            </p:txEl>
                                          </p:spTgt>
                                        </p:tgtEl>
                                        <p:attrNameLst>
                                          <p:attrName>style.visibility</p:attrName>
                                        </p:attrNameLst>
                                      </p:cBhvr>
                                      <p:to>
                                        <p:strVal val="visible"/>
                                      </p:to>
                                    </p:set>
                                    <p:anim calcmode="lin" valueType="num">
                                      <p:cBhvr additive="base">
                                        <p:cTn dur="1000"/>
                                        <p:tgtEl>
                                          <p:spTgt spid="268">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8">
                                            <p:txEl>
                                              <p:pRg end="8" st="8"/>
                                            </p:txEl>
                                          </p:spTgt>
                                        </p:tgtEl>
                                        <p:attrNameLst>
                                          <p:attrName>style.visibility</p:attrName>
                                        </p:attrNameLst>
                                      </p:cBhvr>
                                      <p:to>
                                        <p:strVal val="visible"/>
                                      </p:to>
                                    </p:set>
                                    <p:anim calcmode="lin" valueType="num">
                                      <p:cBhvr additive="base">
                                        <p:cTn dur="1000"/>
                                        <p:tgtEl>
                                          <p:spTgt spid="268">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8">
                                            <p:txEl>
                                              <p:pRg end="9" st="9"/>
                                            </p:txEl>
                                          </p:spTgt>
                                        </p:tgtEl>
                                        <p:attrNameLst>
                                          <p:attrName>style.visibility</p:attrName>
                                        </p:attrNameLst>
                                      </p:cBhvr>
                                      <p:to>
                                        <p:strVal val="visible"/>
                                      </p:to>
                                    </p:set>
                                    <p:anim calcmode="lin" valueType="num">
                                      <p:cBhvr additive="base">
                                        <p:cTn dur="1000"/>
                                        <p:tgtEl>
                                          <p:spTgt spid="268">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8">
                                            <p:txEl>
                                              <p:pRg end="10" st="10"/>
                                            </p:txEl>
                                          </p:spTgt>
                                        </p:tgtEl>
                                        <p:attrNameLst>
                                          <p:attrName>style.visibility</p:attrName>
                                        </p:attrNameLst>
                                      </p:cBhvr>
                                      <p:to>
                                        <p:strVal val="visible"/>
                                      </p:to>
                                    </p:set>
                                    <p:anim calcmode="lin" valueType="num">
                                      <p:cBhvr additive="base">
                                        <p:cTn dur="1000"/>
                                        <p:tgtEl>
                                          <p:spTgt spid="268">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8">
                                            <p:txEl>
                                              <p:pRg end="11" st="11"/>
                                            </p:txEl>
                                          </p:spTgt>
                                        </p:tgtEl>
                                        <p:attrNameLst>
                                          <p:attrName>style.visibility</p:attrName>
                                        </p:attrNameLst>
                                      </p:cBhvr>
                                      <p:to>
                                        <p:strVal val="visible"/>
                                      </p:to>
                                    </p:set>
                                    <p:anim calcmode="lin" valueType="num">
                                      <p:cBhvr additive="base">
                                        <p:cTn dur="1000"/>
                                        <p:tgtEl>
                                          <p:spTgt spid="268">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8">
                                            <p:txEl>
                                              <p:pRg end="12" st="12"/>
                                            </p:txEl>
                                          </p:spTgt>
                                        </p:tgtEl>
                                        <p:attrNameLst>
                                          <p:attrName>style.visibility</p:attrName>
                                        </p:attrNameLst>
                                      </p:cBhvr>
                                      <p:to>
                                        <p:strVal val="visible"/>
                                      </p:to>
                                    </p:set>
                                    <p:anim calcmode="lin" valueType="num">
                                      <p:cBhvr additive="base">
                                        <p:cTn dur="1000"/>
                                        <p:tgtEl>
                                          <p:spTgt spid="268">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9"/>
                                        </p:tgtEl>
                                        <p:attrNameLst>
                                          <p:attrName>style.visibility</p:attrName>
                                        </p:attrNameLst>
                                      </p:cBhvr>
                                      <p:to>
                                        <p:strVal val="visible"/>
                                      </p:to>
                                    </p:set>
                                    <p:anim calcmode="lin" valueType="num">
                                      <p:cBhvr additive="base">
                                        <p:cTn dur="1000"/>
                                        <p:tgtEl>
                                          <p:spTgt spid="26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0"/>
                                        </p:tgtEl>
                                        <p:attrNameLst>
                                          <p:attrName>style.visibility</p:attrName>
                                        </p:attrNameLst>
                                      </p:cBhvr>
                                      <p:to>
                                        <p:strVal val="visible"/>
                                      </p:to>
                                    </p:set>
                                    <p:anim calcmode="lin" valueType="num">
                                      <p:cBhvr additive="base">
                                        <p:cTn dur="1000"/>
                                        <p:tgtEl>
                                          <p:spTgt spid="27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1"/>
                                        </p:tgtEl>
                                        <p:attrNameLst>
                                          <p:attrName>style.visibility</p:attrName>
                                        </p:attrNameLst>
                                      </p:cBhvr>
                                      <p:to>
                                        <p:strVal val="visible"/>
                                      </p:to>
                                    </p:set>
                                    <p:anim calcmode="lin" valueType="num">
                                      <p:cBhvr additive="base">
                                        <p:cTn dur="1000"/>
                                        <p:tgtEl>
                                          <p:spTgt spid="27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2"/>
                                        </p:tgtEl>
                                        <p:attrNameLst>
                                          <p:attrName>style.visibility</p:attrName>
                                        </p:attrNameLst>
                                      </p:cBhvr>
                                      <p:to>
                                        <p:strVal val="visible"/>
                                      </p:to>
                                    </p:set>
                                    <p:anim calcmode="lin" valueType="num">
                                      <p:cBhvr additive="base">
                                        <p:cTn dur="1000"/>
                                        <p:tgtEl>
                                          <p:spTgt spid="27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14337fc5d25_0_639"/>
          <p:cNvSpPr txBox="1"/>
          <p:nvPr/>
        </p:nvSpPr>
        <p:spPr>
          <a:xfrm>
            <a:off x="720000" y="1439999"/>
            <a:ext cx="8472300" cy="2560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400"/>
              <a:buFont typeface="Arial"/>
              <a:buNone/>
            </a:pPr>
            <a:r>
              <a:rPr b="0" i="0" lang="en-GB" sz="1800" u="none" cap="none" strike="noStrike">
                <a:solidFill>
                  <a:schemeClr val="dk1"/>
                </a:solidFill>
                <a:highlight>
                  <a:schemeClr val="lt1"/>
                </a:highlight>
                <a:latin typeface="Roboto"/>
                <a:ea typeface="Roboto"/>
                <a:cs typeface="Roboto"/>
                <a:sym typeface="Roboto"/>
              </a:rPr>
              <a:t>A container contains 50 litres of milk. From this container, 10 litres of milk was taken out and replaced by water. This process is repeated one more time. How much milk is now left in the container?</a:t>
            </a:r>
            <a:endParaRPr b="0" i="0" sz="18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24</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32</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30</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36</a:t>
            </a:r>
            <a:endParaRPr b="0" i="0" sz="1600" u="none" cap="none" strike="noStrike">
              <a:solidFill>
                <a:schemeClr val="dk1"/>
              </a:solidFill>
              <a:highlight>
                <a:schemeClr val="lt1"/>
              </a:highlight>
              <a:latin typeface="Roboto"/>
              <a:ea typeface="Roboto"/>
              <a:cs typeface="Roboto"/>
              <a:sym typeface="Roboto"/>
            </a:endParaRPr>
          </a:p>
          <a:p>
            <a:pPr indent="0" lvl="0" marL="457200" marR="0" rtl="0" algn="l">
              <a:lnSpc>
                <a:spcPct val="115000"/>
              </a:lnSpc>
              <a:spcBef>
                <a:spcPts val="80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278" name="Google Shape;278;g14337fc5d25_0_639"/>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279" name="Google Shape;279;g14337fc5d25_0_63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09</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0" st="0"/>
                                            </p:txEl>
                                          </p:spTgt>
                                        </p:tgtEl>
                                        <p:attrNameLst>
                                          <p:attrName>style.visibility</p:attrName>
                                        </p:attrNameLst>
                                      </p:cBhvr>
                                      <p:to>
                                        <p:strVal val="visible"/>
                                      </p:to>
                                    </p:set>
                                    <p:anim calcmode="lin" valueType="num">
                                      <p:cBhvr additive="base">
                                        <p:cTn dur="1000"/>
                                        <p:tgtEl>
                                          <p:spTgt spid="27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1" st="1"/>
                                            </p:txEl>
                                          </p:spTgt>
                                        </p:tgtEl>
                                        <p:attrNameLst>
                                          <p:attrName>style.visibility</p:attrName>
                                        </p:attrNameLst>
                                      </p:cBhvr>
                                      <p:to>
                                        <p:strVal val="visible"/>
                                      </p:to>
                                    </p:set>
                                    <p:anim calcmode="lin" valueType="num">
                                      <p:cBhvr additive="base">
                                        <p:cTn dur="1000"/>
                                        <p:tgtEl>
                                          <p:spTgt spid="27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2" st="2"/>
                                            </p:txEl>
                                          </p:spTgt>
                                        </p:tgtEl>
                                        <p:attrNameLst>
                                          <p:attrName>style.visibility</p:attrName>
                                        </p:attrNameLst>
                                      </p:cBhvr>
                                      <p:to>
                                        <p:strVal val="visible"/>
                                      </p:to>
                                    </p:set>
                                    <p:anim calcmode="lin" valueType="num">
                                      <p:cBhvr additive="base">
                                        <p:cTn dur="1000"/>
                                        <p:tgtEl>
                                          <p:spTgt spid="27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3" st="3"/>
                                            </p:txEl>
                                          </p:spTgt>
                                        </p:tgtEl>
                                        <p:attrNameLst>
                                          <p:attrName>style.visibility</p:attrName>
                                        </p:attrNameLst>
                                      </p:cBhvr>
                                      <p:to>
                                        <p:strVal val="visible"/>
                                      </p:to>
                                    </p:set>
                                    <p:anim calcmode="lin" valueType="num">
                                      <p:cBhvr additive="base">
                                        <p:cTn dur="1000"/>
                                        <p:tgtEl>
                                          <p:spTgt spid="27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4" st="4"/>
                                            </p:txEl>
                                          </p:spTgt>
                                        </p:tgtEl>
                                        <p:attrNameLst>
                                          <p:attrName>style.visibility</p:attrName>
                                        </p:attrNameLst>
                                      </p:cBhvr>
                                      <p:to>
                                        <p:strVal val="visible"/>
                                      </p:to>
                                    </p:set>
                                    <p:anim calcmode="lin" valueType="num">
                                      <p:cBhvr additive="base">
                                        <p:cTn dur="1000"/>
                                        <p:tgtEl>
                                          <p:spTgt spid="27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5" st="5"/>
                                            </p:txEl>
                                          </p:spTgt>
                                        </p:tgtEl>
                                        <p:attrNameLst>
                                          <p:attrName>style.visibility</p:attrName>
                                        </p:attrNameLst>
                                      </p:cBhvr>
                                      <p:to>
                                        <p:strVal val="visible"/>
                                      </p:to>
                                    </p:set>
                                    <p:anim calcmode="lin" valueType="num">
                                      <p:cBhvr additive="base">
                                        <p:cTn dur="1000"/>
                                        <p:tgtEl>
                                          <p:spTgt spid="27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8">
                                            <p:txEl>
                                              <p:pRg end="0" st="0"/>
                                            </p:txEl>
                                          </p:spTgt>
                                        </p:tgtEl>
                                        <p:attrNameLst>
                                          <p:attrName>style.visibility</p:attrName>
                                        </p:attrNameLst>
                                      </p:cBhvr>
                                      <p:to>
                                        <p:strVal val="visible"/>
                                      </p:to>
                                    </p:set>
                                    <p:anim calcmode="lin" valueType="num">
                                      <p:cBhvr additive="base">
                                        <p:cTn dur="1000"/>
                                        <p:tgtEl>
                                          <p:spTgt spid="27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3" name="Shape 283"/>
        <p:cNvGrpSpPr/>
        <p:nvPr/>
      </p:nvGrpSpPr>
      <p:grpSpPr>
        <a:xfrm>
          <a:off x="0" y="0"/>
          <a:ext cx="0" cy="0"/>
          <a:chOff x="0" y="0"/>
          <a:chExt cx="0" cy="0"/>
        </a:xfrm>
      </p:grpSpPr>
      <p:sp>
        <p:nvSpPr>
          <p:cNvPr id="284" name="Google Shape;284;g14337fc5d25_0_647"/>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85" name="Google Shape;285;g14337fc5d25_0_647"/>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09</a:t>
            </a:r>
            <a:endParaRPr b="1" i="0" sz="2000" u="none" cap="none" strike="noStrike">
              <a:solidFill>
                <a:srgbClr val="8182EF"/>
              </a:solidFill>
              <a:latin typeface="Roboto"/>
              <a:ea typeface="Roboto"/>
              <a:cs typeface="Roboto"/>
              <a:sym typeface="Roboto"/>
            </a:endParaRPr>
          </a:p>
        </p:txBody>
      </p:sp>
      <p:sp>
        <p:nvSpPr>
          <p:cNvPr id="286" name="Google Shape;286;g14337fc5d25_0_647"/>
          <p:cNvSpPr txBox="1"/>
          <p:nvPr/>
        </p:nvSpPr>
        <p:spPr>
          <a:xfrm>
            <a:off x="988950" y="1439875"/>
            <a:ext cx="61650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Amount of milk after 2 operations= [50(1-(10/50))^2]</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                                                     = 50 *4/5 *4/5</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                                                     = 32 litres</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6">
                                            <p:txEl>
                                              <p:pRg end="0" st="0"/>
                                            </p:txEl>
                                          </p:spTgt>
                                        </p:tgtEl>
                                        <p:attrNameLst>
                                          <p:attrName>style.visibility</p:attrName>
                                        </p:attrNameLst>
                                      </p:cBhvr>
                                      <p:to>
                                        <p:strVal val="visible"/>
                                      </p:to>
                                    </p:set>
                                    <p:anim calcmode="lin" valueType="num">
                                      <p:cBhvr additive="base">
                                        <p:cTn dur="1000"/>
                                        <p:tgtEl>
                                          <p:spTgt spid="28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6">
                                            <p:txEl>
                                              <p:pRg end="1" st="1"/>
                                            </p:txEl>
                                          </p:spTgt>
                                        </p:tgtEl>
                                        <p:attrNameLst>
                                          <p:attrName>style.visibility</p:attrName>
                                        </p:attrNameLst>
                                      </p:cBhvr>
                                      <p:to>
                                        <p:strVal val="visible"/>
                                      </p:to>
                                    </p:set>
                                    <p:anim calcmode="lin" valueType="num">
                                      <p:cBhvr additive="base">
                                        <p:cTn dur="1000"/>
                                        <p:tgtEl>
                                          <p:spTgt spid="28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6">
                                            <p:txEl>
                                              <p:pRg end="2" st="2"/>
                                            </p:txEl>
                                          </p:spTgt>
                                        </p:tgtEl>
                                        <p:attrNameLst>
                                          <p:attrName>style.visibility</p:attrName>
                                        </p:attrNameLst>
                                      </p:cBhvr>
                                      <p:to>
                                        <p:strVal val="visible"/>
                                      </p:to>
                                    </p:set>
                                    <p:anim calcmode="lin" valueType="num">
                                      <p:cBhvr additive="base">
                                        <p:cTn dur="1000"/>
                                        <p:tgtEl>
                                          <p:spTgt spid="28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14337fc5d25_0_655"/>
          <p:cNvSpPr txBox="1"/>
          <p:nvPr/>
        </p:nvSpPr>
        <p:spPr>
          <a:xfrm>
            <a:off x="720000" y="1439999"/>
            <a:ext cx="8472300" cy="2498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100"/>
              </a:spcBef>
              <a:spcAft>
                <a:spcPts val="0"/>
              </a:spcAft>
              <a:buClr>
                <a:schemeClr val="dk1"/>
              </a:buClr>
              <a:buSzPts val="1100"/>
              <a:buFont typeface="Arial"/>
              <a:buNone/>
            </a:pPr>
            <a:r>
              <a:rPr b="0" i="0" lang="en-GB" sz="1800" u="none" cap="none" strike="noStrike">
                <a:solidFill>
                  <a:schemeClr val="dk1"/>
                </a:solidFill>
                <a:highlight>
                  <a:schemeClr val="lt1"/>
                </a:highlight>
                <a:latin typeface="Roboto"/>
                <a:ea typeface="Roboto"/>
                <a:cs typeface="Roboto"/>
                <a:sym typeface="Roboto"/>
              </a:rPr>
              <a:t>In what ratio water must be mixed with milk costing Rs. 48 per liter to get a mixture worth Rs. 32 per liter ?</a:t>
            </a:r>
            <a:endParaRPr b="0" i="0" sz="1800" u="none" cap="none" strike="noStrike">
              <a:solidFill>
                <a:schemeClr val="dk1"/>
              </a:solidFill>
              <a:highlight>
                <a:schemeClr val="lt1"/>
              </a:highlight>
              <a:latin typeface="Roboto"/>
              <a:ea typeface="Roboto"/>
              <a:cs typeface="Roboto"/>
              <a:sym typeface="Roboto"/>
            </a:endParaRPr>
          </a:p>
          <a:p>
            <a:pPr indent="-330200" lvl="0" marL="457200" marR="25400" rtl="0" algn="l">
              <a:lnSpc>
                <a:spcPct val="115000"/>
              </a:lnSpc>
              <a:spcBef>
                <a:spcPts val="130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2:3</a:t>
            </a:r>
            <a:endParaRPr b="0" i="0" sz="1600" u="none" cap="none" strike="noStrike">
              <a:solidFill>
                <a:schemeClr val="dk1"/>
              </a:solidFill>
              <a:highlight>
                <a:schemeClr val="lt1"/>
              </a:highlight>
              <a:latin typeface="Roboto"/>
              <a:ea typeface="Roboto"/>
              <a:cs typeface="Roboto"/>
              <a:sym typeface="Roboto"/>
            </a:endParaRPr>
          </a:p>
          <a:p>
            <a:pPr indent="-330200" lvl="0" marL="457200" marR="2540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3:2</a:t>
            </a:r>
            <a:endParaRPr b="0" i="0" sz="1600" u="none" cap="none" strike="noStrike">
              <a:solidFill>
                <a:schemeClr val="dk1"/>
              </a:solidFill>
              <a:highlight>
                <a:schemeClr val="lt1"/>
              </a:highlight>
              <a:latin typeface="Roboto"/>
              <a:ea typeface="Roboto"/>
              <a:cs typeface="Roboto"/>
              <a:sym typeface="Roboto"/>
            </a:endParaRPr>
          </a:p>
          <a:p>
            <a:pPr indent="-330200" lvl="0" marL="457200" marR="2540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3:4</a:t>
            </a:r>
            <a:endParaRPr b="0" i="0" sz="1600" u="none" cap="none" strike="noStrike">
              <a:solidFill>
                <a:schemeClr val="dk1"/>
              </a:solidFill>
              <a:highlight>
                <a:schemeClr val="lt1"/>
              </a:highlight>
              <a:latin typeface="Roboto"/>
              <a:ea typeface="Roboto"/>
              <a:cs typeface="Roboto"/>
              <a:sym typeface="Roboto"/>
            </a:endParaRPr>
          </a:p>
          <a:p>
            <a:pPr indent="-330200" lvl="0" marL="457200" marR="2540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highlight>
                  <a:schemeClr val="lt1"/>
                </a:highlight>
                <a:latin typeface="Roboto"/>
                <a:ea typeface="Roboto"/>
                <a:cs typeface="Roboto"/>
                <a:sym typeface="Roboto"/>
              </a:rPr>
              <a:t>1:2</a:t>
            </a:r>
            <a:endParaRPr b="0" i="0" sz="1600" u="none" cap="none" strike="noStrike">
              <a:solidFill>
                <a:schemeClr val="dk1"/>
              </a:solidFill>
              <a:highlight>
                <a:schemeClr val="lt1"/>
              </a:highlight>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292" name="Google Shape;292;g14337fc5d25_0_655"/>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
        <p:nvSpPr>
          <p:cNvPr id="293" name="Google Shape;293;g14337fc5d25_0_65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10</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xEl>
                                              <p:pRg end="0" st="0"/>
                                            </p:txEl>
                                          </p:spTgt>
                                        </p:tgtEl>
                                        <p:attrNameLst>
                                          <p:attrName>style.visibility</p:attrName>
                                        </p:attrNameLst>
                                      </p:cBhvr>
                                      <p:to>
                                        <p:strVal val="visible"/>
                                      </p:to>
                                    </p:set>
                                    <p:anim calcmode="lin" valueType="num">
                                      <p:cBhvr additive="base">
                                        <p:cTn dur="1000"/>
                                        <p:tgtEl>
                                          <p:spTgt spid="29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xEl>
                                              <p:pRg end="1" st="1"/>
                                            </p:txEl>
                                          </p:spTgt>
                                        </p:tgtEl>
                                        <p:attrNameLst>
                                          <p:attrName>style.visibility</p:attrName>
                                        </p:attrNameLst>
                                      </p:cBhvr>
                                      <p:to>
                                        <p:strVal val="visible"/>
                                      </p:to>
                                    </p:set>
                                    <p:anim calcmode="lin" valueType="num">
                                      <p:cBhvr additive="base">
                                        <p:cTn dur="1000"/>
                                        <p:tgtEl>
                                          <p:spTgt spid="29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xEl>
                                              <p:pRg end="2" st="2"/>
                                            </p:txEl>
                                          </p:spTgt>
                                        </p:tgtEl>
                                        <p:attrNameLst>
                                          <p:attrName>style.visibility</p:attrName>
                                        </p:attrNameLst>
                                      </p:cBhvr>
                                      <p:to>
                                        <p:strVal val="visible"/>
                                      </p:to>
                                    </p:set>
                                    <p:anim calcmode="lin" valueType="num">
                                      <p:cBhvr additive="base">
                                        <p:cTn dur="1000"/>
                                        <p:tgtEl>
                                          <p:spTgt spid="29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xEl>
                                              <p:pRg end="3" st="3"/>
                                            </p:txEl>
                                          </p:spTgt>
                                        </p:tgtEl>
                                        <p:attrNameLst>
                                          <p:attrName>style.visibility</p:attrName>
                                        </p:attrNameLst>
                                      </p:cBhvr>
                                      <p:to>
                                        <p:strVal val="visible"/>
                                      </p:to>
                                    </p:set>
                                    <p:anim calcmode="lin" valueType="num">
                                      <p:cBhvr additive="base">
                                        <p:cTn dur="1000"/>
                                        <p:tgtEl>
                                          <p:spTgt spid="29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xEl>
                                              <p:pRg end="4" st="4"/>
                                            </p:txEl>
                                          </p:spTgt>
                                        </p:tgtEl>
                                        <p:attrNameLst>
                                          <p:attrName>style.visibility</p:attrName>
                                        </p:attrNameLst>
                                      </p:cBhvr>
                                      <p:to>
                                        <p:strVal val="visible"/>
                                      </p:to>
                                    </p:set>
                                    <p:anim calcmode="lin" valueType="num">
                                      <p:cBhvr additive="base">
                                        <p:cTn dur="1000"/>
                                        <p:tgtEl>
                                          <p:spTgt spid="29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xEl>
                                              <p:pRg end="5" st="5"/>
                                            </p:txEl>
                                          </p:spTgt>
                                        </p:tgtEl>
                                        <p:attrNameLst>
                                          <p:attrName>style.visibility</p:attrName>
                                        </p:attrNameLst>
                                      </p:cBhvr>
                                      <p:to>
                                        <p:strVal val="visible"/>
                                      </p:to>
                                    </p:set>
                                    <p:anim calcmode="lin" valueType="num">
                                      <p:cBhvr additive="base">
                                        <p:cTn dur="1000"/>
                                        <p:tgtEl>
                                          <p:spTgt spid="29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2">
                                            <p:txEl>
                                              <p:pRg end="0" st="0"/>
                                            </p:txEl>
                                          </p:spTgt>
                                        </p:tgtEl>
                                        <p:attrNameLst>
                                          <p:attrName>style.visibility</p:attrName>
                                        </p:attrNameLst>
                                      </p:cBhvr>
                                      <p:to>
                                        <p:strVal val="visible"/>
                                      </p:to>
                                    </p:set>
                                    <p:anim calcmode="lin" valueType="num">
                                      <p:cBhvr additive="base">
                                        <p:cTn dur="1000"/>
                                        <p:tgtEl>
                                          <p:spTgt spid="29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7" name="Shape 297"/>
        <p:cNvGrpSpPr/>
        <p:nvPr/>
      </p:nvGrpSpPr>
      <p:grpSpPr>
        <a:xfrm>
          <a:off x="0" y="0"/>
          <a:ext cx="0" cy="0"/>
          <a:chOff x="0" y="0"/>
          <a:chExt cx="0" cy="0"/>
        </a:xfrm>
      </p:grpSpPr>
      <p:sp>
        <p:nvSpPr>
          <p:cNvPr id="298" name="Google Shape;298;g14337fc5d25_0_663"/>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99" name="Google Shape;299;g14337fc5d25_0_66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10</a:t>
            </a:r>
            <a:endParaRPr b="1" i="0" sz="2000" u="none" cap="none" strike="noStrike">
              <a:solidFill>
                <a:srgbClr val="8182EF"/>
              </a:solidFill>
              <a:latin typeface="Roboto"/>
              <a:ea typeface="Roboto"/>
              <a:cs typeface="Roboto"/>
              <a:sym typeface="Roboto"/>
            </a:endParaRPr>
          </a:p>
        </p:txBody>
      </p:sp>
      <p:pic>
        <p:nvPicPr>
          <p:cNvPr id="300" name="Google Shape;300;g14337fc5d25_0_663"/>
          <p:cNvPicPr preferRelativeResize="0"/>
          <p:nvPr/>
        </p:nvPicPr>
        <p:blipFill rotWithShape="1">
          <a:blip r:embed="rId3">
            <a:alphaModFix/>
          </a:blip>
          <a:srcRect b="0" l="0" r="0" t="0"/>
          <a:stretch/>
        </p:blipFill>
        <p:spPr>
          <a:xfrm>
            <a:off x="3124200" y="1123950"/>
            <a:ext cx="3115875" cy="1973425"/>
          </a:xfrm>
          <a:prstGeom prst="rect">
            <a:avLst/>
          </a:prstGeom>
          <a:noFill/>
          <a:ln>
            <a:noFill/>
          </a:ln>
        </p:spPr>
      </p:pic>
      <p:sp>
        <p:nvSpPr>
          <p:cNvPr id="301" name="Google Shape;301;g14337fc5d25_0_663"/>
          <p:cNvSpPr txBox="1"/>
          <p:nvPr/>
        </p:nvSpPr>
        <p:spPr>
          <a:xfrm>
            <a:off x="1751950" y="3218175"/>
            <a:ext cx="30000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    Water/Milk = 16/32=1/2</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highlight>
                  <a:schemeClr val="lt1"/>
                </a:highlight>
                <a:latin typeface="Arial"/>
                <a:ea typeface="Arial"/>
                <a:cs typeface="Arial"/>
                <a:sym typeface="Arial"/>
              </a:rPr>
              <a:t>     Required ratio; water:milk = 1:2</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0"/>
                                        </p:tgtEl>
                                        <p:attrNameLst>
                                          <p:attrName>style.visibility</p:attrName>
                                        </p:attrNameLst>
                                      </p:cBhvr>
                                      <p:to>
                                        <p:strVal val="visible"/>
                                      </p:to>
                                    </p:set>
                                    <p:anim calcmode="lin" valueType="num">
                                      <p:cBhvr additive="base">
                                        <p:cTn dur="1000"/>
                                        <p:tgtEl>
                                          <p:spTgt spid="30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1">
                                            <p:txEl>
                                              <p:pRg end="0" st="0"/>
                                            </p:txEl>
                                          </p:spTgt>
                                        </p:tgtEl>
                                        <p:attrNameLst>
                                          <p:attrName>style.visibility</p:attrName>
                                        </p:attrNameLst>
                                      </p:cBhvr>
                                      <p:to>
                                        <p:strVal val="visible"/>
                                      </p:to>
                                    </p:set>
                                    <p:anim calcmode="lin" valueType="num">
                                      <p:cBhvr additive="base">
                                        <p:cTn dur="1000"/>
                                        <p:tgtEl>
                                          <p:spTgt spid="30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1">
                                            <p:txEl>
                                              <p:pRg end="1" st="1"/>
                                            </p:txEl>
                                          </p:spTgt>
                                        </p:tgtEl>
                                        <p:attrNameLst>
                                          <p:attrName>style.visibility</p:attrName>
                                        </p:attrNameLst>
                                      </p:cBhvr>
                                      <p:to>
                                        <p:strVal val="visible"/>
                                      </p:to>
                                    </p:set>
                                    <p:anim calcmode="lin" valueType="num">
                                      <p:cBhvr additive="base">
                                        <p:cTn dur="1000"/>
                                        <p:tgtEl>
                                          <p:spTgt spid="30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1">
                                            <p:txEl>
                                              <p:pRg end="2" st="2"/>
                                            </p:txEl>
                                          </p:spTgt>
                                        </p:tgtEl>
                                        <p:attrNameLst>
                                          <p:attrName>style.visibility</p:attrName>
                                        </p:attrNameLst>
                                      </p:cBhvr>
                                      <p:to>
                                        <p:strVal val="visible"/>
                                      </p:to>
                                    </p:set>
                                    <p:anim calcmode="lin" valueType="num">
                                      <p:cBhvr additive="base">
                                        <p:cTn dur="1000"/>
                                        <p:tgtEl>
                                          <p:spTgt spid="30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14337fc5d25_0_671"/>
          <p:cNvSpPr txBox="1"/>
          <p:nvPr/>
        </p:nvSpPr>
        <p:spPr>
          <a:xfrm>
            <a:off x="720000" y="1439999"/>
            <a:ext cx="8472300" cy="28794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400"/>
              <a:buFont typeface="Arial"/>
              <a:buNone/>
            </a:pPr>
            <a:r>
              <a:rPr b="0" i="0" lang="en-GB" sz="1800" u="none" cap="none" strike="noStrike">
                <a:solidFill>
                  <a:srgbClr val="2A2A2A"/>
                </a:solidFill>
                <a:highlight>
                  <a:schemeClr val="lt1"/>
                </a:highlight>
                <a:latin typeface="Roboto"/>
                <a:ea typeface="Roboto"/>
                <a:cs typeface="Roboto"/>
                <a:sym typeface="Roboto"/>
              </a:rPr>
              <a:t>8 litres are drawn from a cask full of wine and is then filled with water. This operation is performed three more times. The ratio of the quantity of wine now left in cask to that of the water is 16 : 65. How much wine the cask hold originally?</a:t>
            </a:r>
            <a:endParaRPr b="0" i="0" sz="18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80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18 litres</a:t>
            </a:r>
            <a:endParaRPr b="0" i="0" sz="16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24 litres</a:t>
            </a:r>
            <a:endParaRPr b="0" i="0" sz="16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32 litres</a:t>
            </a:r>
            <a:endParaRPr b="0" i="0" sz="16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42 litres</a:t>
            </a:r>
            <a:endParaRPr b="0" i="0" sz="1600" u="none" cap="none" strike="noStrike">
              <a:solidFill>
                <a:srgbClr val="2A2A2A"/>
              </a:solidFill>
              <a:highlight>
                <a:schemeClr val="lt1"/>
              </a:highlight>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307" name="Google Shape;307;g14337fc5d25_0_671"/>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308" name="Google Shape;308;g14337fc5d25_0_67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6">
                                            <p:txEl>
                                              <p:pRg end="0" st="0"/>
                                            </p:txEl>
                                          </p:spTgt>
                                        </p:tgtEl>
                                        <p:attrNameLst>
                                          <p:attrName>style.visibility</p:attrName>
                                        </p:attrNameLst>
                                      </p:cBhvr>
                                      <p:to>
                                        <p:strVal val="visible"/>
                                      </p:to>
                                    </p:set>
                                    <p:anim calcmode="lin" valueType="num">
                                      <p:cBhvr additive="base">
                                        <p:cTn dur="1000"/>
                                        <p:tgtEl>
                                          <p:spTgt spid="30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6">
                                            <p:txEl>
                                              <p:pRg end="1" st="1"/>
                                            </p:txEl>
                                          </p:spTgt>
                                        </p:tgtEl>
                                        <p:attrNameLst>
                                          <p:attrName>style.visibility</p:attrName>
                                        </p:attrNameLst>
                                      </p:cBhvr>
                                      <p:to>
                                        <p:strVal val="visible"/>
                                      </p:to>
                                    </p:set>
                                    <p:anim calcmode="lin" valueType="num">
                                      <p:cBhvr additive="base">
                                        <p:cTn dur="1000"/>
                                        <p:tgtEl>
                                          <p:spTgt spid="30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6">
                                            <p:txEl>
                                              <p:pRg end="2" st="2"/>
                                            </p:txEl>
                                          </p:spTgt>
                                        </p:tgtEl>
                                        <p:attrNameLst>
                                          <p:attrName>style.visibility</p:attrName>
                                        </p:attrNameLst>
                                      </p:cBhvr>
                                      <p:to>
                                        <p:strVal val="visible"/>
                                      </p:to>
                                    </p:set>
                                    <p:anim calcmode="lin" valueType="num">
                                      <p:cBhvr additive="base">
                                        <p:cTn dur="1000"/>
                                        <p:tgtEl>
                                          <p:spTgt spid="30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6">
                                            <p:txEl>
                                              <p:pRg end="3" st="3"/>
                                            </p:txEl>
                                          </p:spTgt>
                                        </p:tgtEl>
                                        <p:attrNameLst>
                                          <p:attrName>style.visibility</p:attrName>
                                        </p:attrNameLst>
                                      </p:cBhvr>
                                      <p:to>
                                        <p:strVal val="visible"/>
                                      </p:to>
                                    </p:set>
                                    <p:anim calcmode="lin" valueType="num">
                                      <p:cBhvr additive="base">
                                        <p:cTn dur="1000"/>
                                        <p:tgtEl>
                                          <p:spTgt spid="30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6">
                                            <p:txEl>
                                              <p:pRg end="4" st="4"/>
                                            </p:txEl>
                                          </p:spTgt>
                                        </p:tgtEl>
                                        <p:attrNameLst>
                                          <p:attrName>style.visibility</p:attrName>
                                        </p:attrNameLst>
                                      </p:cBhvr>
                                      <p:to>
                                        <p:strVal val="visible"/>
                                      </p:to>
                                    </p:set>
                                    <p:anim calcmode="lin" valueType="num">
                                      <p:cBhvr additive="base">
                                        <p:cTn dur="1000"/>
                                        <p:tgtEl>
                                          <p:spTgt spid="30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6">
                                            <p:txEl>
                                              <p:pRg end="5" st="5"/>
                                            </p:txEl>
                                          </p:spTgt>
                                        </p:tgtEl>
                                        <p:attrNameLst>
                                          <p:attrName>style.visibility</p:attrName>
                                        </p:attrNameLst>
                                      </p:cBhvr>
                                      <p:to>
                                        <p:strVal val="visible"/>
                                      </p:to>
                                    </p:set>
                                    <p:anim calcmode="lin" valueType="num">
                                      <p:cBhvr additive="base">
                                        <p:cTn dur="1000"/>
                                        <p:tgtEl>
                                          <p:spTgt spid="30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
                                            <p:txEl>
                                              <p:pRg end="0" st="0"/>
                                            </p:txEl>
                                          </p:spTgt>
                                        </p:tgtEl>
                                        <p:attrNameLst>
                                          <p:attrName>style.visibility</p:attrName>
                                        </p:attrNameLst>
                                      </p:cBhvr>
                                      <p:to>
                                        <p:strVal val="visible"/>
                                      </p:to>
                                    </p:set>
                                    <p:anim calcmode="lin" valueType="num">
                                      <p:cBhvr additive="base">
                                        <p:cTn dur="1000"/>
                                        <p:tgtEl>
                                          <p:spTgt spid="30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2" name="Shape 312"/>
        <p:cNvGrpSpPr/>
        <p:nvPr/>
      </p:nvGrpSpPr>
      <p:grpSpPr>
        <a:xfrm>
          <a:off x="0" y="0"/>
          <a:ext cx="0" cy="0"/>
          <a:chOff x="0" y="0"/>
          <a:chExt cx="0" cy="0"/>
        </a:xfrm>
      </p:grpSpPr>
      <p:sp>
        <p:nvSpPr>
          <p:cNvPr id="313" name="Google Shape;313;g14337fc5d25_0_679"/>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14" name="Google Shape;314;g14337fc5d25_0_679"/>
          <p:cNvSpPr txBox="1"/>
          <p:nvPr/>
        </p:nvSpPr>
        <p:spPr>
          <a:xfrm>
            <a:off x="720000" y="1440000"/>
            <a:ext cx="7166100" cy="326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2A2A2A"/>
                </a:solidFill>
                <a:highlight>
                  <a:srgbClr val="FFFFFF"/>
                </a:highlight>
                <a:latin typeface="Arial"/>
                <a:ea typeface="Arial"/>
                <a:cs typeface="Arial"/>
                <a:sym typeface="Arial"/>
              </a:rPr>
              <a:t>Let the quantity of the wine in the cask originally be x litres</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2A2A2A"/>
                </a:solidFill>
                <a:highlight>
                  <a:srgbClr val="FFFFFF"/>
                </a:highlight>
                <a:latin typeface="Arial"/>
                <a:ea typeface="Arial"/>
                <a:cs typeface="Arial"/>
                <a:sym typeface="Arial"/>
              </a:rPr>
              <a:t>  =&gt; x = 24</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800" u="none" cap="none" strike="noStrike">
              <a:solidFill>
                <a:schemeClr val="dk1"/>
              </a:solidFill>
              <a:latin typeface="Arial"/>
              <a:ea typeface="Arial"/>
              <a:cs typeface="Arial"/>
              <a:sym typeface="Arial"/>
            </a:endParaRPr>
          </a:p>
        </p:txBody>
      </p:sp>
      <p:sp>
        <p:nvSpPr>
          <p:cNvPr id="315" name="Google Shape;315;g14337fc5d25_0_67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11</a:t>
            </a:r>
            <a:endParaRPr b="1" i="0" sz="2000" u="none" cap="none" strike="noStrike">
              <a:solidFill>
                <a:srgbClr val="8182EF"/>
              </a:solidFill>
              <a:latin typeface="Roboto"/>
              <a:ea typeface="Roboto"/>
              <a:cs typeface="Roboto"/>
              <a:sym typeface="Roboto"/>
            </a:endParaRPr>
          </a:p>
        </p:txBody>
      </p:sp>
      <p:pic>
        <p:nvPicPr>
          <p:cNvPr id="316" name="Google Shape;316;g14337fc5d25_0_679"/>
          <p:cNvPicPr preferRelativeResize="0"/>
          <p:nvPr/>
        </p:nvPicPr>
        <p:blipFill rotWithShape="1">
          <a:blip r:embed="rId3">
            <a:alphaModFix/>
          </a:blip>
          <a:srcRect b="0" l="0" r="0" t="0"/>
          <a:stretch/>
        </p:blipFill>
        <p:spPr>
          <a:xfrm>
            <a:off x="1075088" y="1972363"/>
            <a:ext cx="5400675" cy="1800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4">
                                            <p:txEl>
                                              <p:pRg end="0" st="0"/>
                                            </p:txEl>
                                          </p:spTgt>
                                        </p:tgtEl>
                                        <p:attrNameLst>
                                          <p:attrName>style.visibility</p:attrName>
                                        </p:attrNameLst>
                                      </p:cBhvr>
                                      <p:to>
                                        <p:strVal val="visible"/>
                                      </p:to>
                                    </p:set>
                                    <p:anim calcmode="lin" valueType="num">
                                      <p:cBhvr additive="base">
                                        <p:cTn dur="1000"/>
                                        <p:tgtEl>
                                          <p:spTgt spid="31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4">
                                            <p:txEl>
                                              <p:pRg end="1" st="1"/>
                                            </p:txEl>
                                          </p:spTgt>
                                        </p:tgtEl>
                                        <p:attrNameLst>
                                          <p:attrName>style.visibility</p:attrName>
                                        </p:attrNameLst>
                                      </p:cBhvr>
                                      <p:to>
                                        <p:strVal val="visible"/>
                                      </p:to>
                                    </p:set>
                                    <p:anim calcmode="lin" valueType="num">
                                      <p:cBhvr additive="base">
                                        <p:cTn dur="1000"/>
                                        <p:tgtEl>
                                          <p:spTgt spid="31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4">
                                            <p:txEl>
                                              <p:pRg end="2" st="2"/>
                                            </p:txEl>
                                          </p:spTgt>
                                        </p:tgtEl>
                                        <p:attrNameLst>
                                          <p:attrName>style.visibility</p:attrName>
                                        </p:attrNameLst>
                                      </p:cBhvr>
                                      <p:to>
                                        <p:strVal val="visible"/>
                                      </p:to>
                                    </p:set>
                                    <p:anim calcmode="lin" valueType="num">
                                      <p:cBhvr additive="base">
                                        <p:cTn dur="1000"/>
                                        <p:tgtEl>
                                          <p:spTgt spid="31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4">
                                            <p:txEl>
                                              <p:pRg end="3" st="3"/>
                                            </p:txEl>
                                          </p:spTgt>
                                        </p:tgtEl>
                                        <p:attrNameLst>
                                          <p:attrName>style.visibility</p:attrName>
                                        </p:attrNameLst>
                                      </p:cBhvr>
                                      <p:to>
                                        <p:strVal val="visible"/>
                                      </p:to>
                                    </p:set>
                                    <p:anim calcmode="lin" valueType="num">
                                      <p:cBhvr additive="base">
                                        <p:cTn dur="1000"/>
                                        <p:tgtEl>
                                          <p:spTgt spid="31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4">
                                            <p:txEl>
                                              <p:pRg end="4" st="4"/>
                                            </p:txEl>
                                          </p:spTgt>
                                        </p:tgtEl>
                                        <p:attrNameLst>
                                          <p:attrName>style.visibility</p:attrName>
                                        </p:attrNameLst>
                                      </p:cBhvr>
                                      <p:to>
                                        <p:strVal val="visible"/>
                                      </p:to>
                                    </p:set>
                                    <p:anim calcmode="lin" valueType="num">
                                      <p:cBhvr additive="base">
                                        <p:cTn dur="1000"/>
                                        <p:tgtEl>
                                          <p:spTgt spid="31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4">
                                            <p:txEl>
                                              <p:pRg end="5" st="5"/>
                                            </p:txEl>
                                          </p:spTgt>
                                        </p:tgtEl>
                                        <p:attrNameLst>
                                          <p:attrName>style.visibility</p:attrName>
                                        </p:attrNameLst>
                                      </p:cBhvr>
                                      <p:to>
                                        <p:strVal val="visible"/>
                                      </p:to>
                                    </p:set>
                                    <p:anim calcmode="lin" valueType="num">
                                      <p:cBhvr additive="base">
                                        <p:cTn dur="1000"/>
                                        <p:tgtEl>
                                          <p:spTgt spid="31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4">
                                            <p:txEl>
                                              <p:pRg end="6" st="6"/>
                                            </p:txEl>
                                          </p:spTgt>
                                        </p:tgtEl>
                                        <p:attrNameLst>
                                          <p:attrName>style.visibility</p:attrName>
                                        </p:attrNameLst>
                                      </p:cBhvr>
                                      <p:to>
                                        <p:strVal val="visible"/>
                                      </p:to>
                                    </p:set>
                                    <p:anim calcmode="lin" valueType="num">
                                      <p:cBhvr additive="base">
                                        <p:cTn dur="1000"/>
                                        <p:tgtEl>
                                          <p:spTgt spid="31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4">
                                            <p:txEl>
                                              <p:pRg end="7" st="7"/>
                                            </p:txEl>
                                          </p:spTgt>
                                        </p:tgtEl>
                                        <p:attrNameLst>
                                          <p:attrName>style.visibility</p:attrName>
                                        </p:attrNameLst>
                                      </p:cBhvr>
                                      <p:to>
                                        <p:strVal val="visible"/>
                                      </p:to>
                                    </p:set>
                                    <p:anim calcmode="lin" valueType="num">
                                      <p:cBhvr additive="base">
                                        <p:cTn dur="1000"/>
                                        <p:tgtEl>
                                          <p:spTgt spid="314">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4">
                                            <p:txEl>
                                              <p:pRg end="8" st="8"/>
                                            </p:txEl>
                                          </p:spTgt>
                                        </p:tgtEl>
                                        <p:attrNameLst>
                                          <p:attrName>style.visibility</p:attrName>
                                        </p:attrNameLst>
                                      </p:cBhvr>
                                      <p:to>
                                        <p:strVal val="visible"/>
                                      </p:to>
                                    </p:set>
                                    <p:anim calcmode="lin" valueType="num">
                                      <p:cBhvr additive="base">
                                        <p:cTn dur="1000"/>
                                        <p:tgtEl>
                                          <p:spTgt spid="314">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4">
                                            <p:txEl>
                                              <p:pRg end="9" st="9"/>
                                            </p:txEl>
                                          </p:spTgt>
                                        </p:tgtEl>
                                        <p:attrNameLst>
                                          <p:attrName>style.visibility</p:attrName>
                                        </p:attrNameLst>
                                      </p:cBhvr>
                                      <p:to>
                                        <p:strVal val="visible"/>
                                      </p:to>
                                    </p:set>
                                    <p:anim calcmode="lin" valueType="num">
                                      <p:cBhvr additive="base">
                                        <p:cTn dur="1000"/>
                                        <p:tgtEl>
                                          <p:spTgt spid="314">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4">
                                            <p:txEl>
                                              <p:pRg end="10" st="10"/>
                                            </p:txEl>
                                          </p:spTgt>
                                        </p:tgtEl>
                                        <p:attrNameLst>
                                          <p:attrName>style.visibility</p:attrName>
                                        </p:attrNameLst>
                                      </p:cBhvr>
                                      <p:to>
                                        <p:strVal val="visible"/>
                                      </p:to>
                                    </p:set>
                                    <p:anim calcmode="lin" valueType="num">
                                      <p:cBhvr additive="base">
                                        <p:cTn dur="1000"/>
                                        <p:tgtEl>
                                          <p:spTgt spid="314">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4">
                                            <p:txEl>
                                              <p:pRg end="11" st="11"/>
                                            </p:txEl>
                                          </p:spTgt>
                                        </p:tgtEl>
                                        <p:attrNameLst>
                                          <p:attrName>style.visibility</p:attrName>
                                        </p:attrNameLst>
                                      </p:cBhvr>
                                      <p:to>
                                        <p:strVal val="visible"/>
                                      </p:to>
                                    </p:set>
                                    <p:anim calcmode="lin" valueType="num">
                                      <p:cBhvr additive="base">
                                        <p:cTn dur="1000"/>
                                        <p:tgtEl>
                                          <p:spTgt spid="314">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4">
                                            <p:txEl>
                                              <p:pRg end="12" st="12"/>
                                            </p:txEl>
                                          </p:spTgt>
                                        </p:tgtEl>
                                        <p:attrNameLst>
                                          <p:attrName>style.visibility</p:attrName>
                                        </p:attrNameLst>
                                      </p:cBhvr>
                                      <p:to>
                                        <p:strVal val="visible"/>
                                      </p:to>
                                    </p:set>
                                    <p:anim calcmode="lin" valueType="num">
                                      <p:cBhvr additive="base">
                                        <p:cTn dur="1000"/>
                                        <p:tgtEl>
                                          <p:spTgt spid="314">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4">
                                            <p:txEl>
                                              <p:pRg end="13" st="13"/>
                                            </p:txEl>
                                          </p:spTgt>
                                        </p:tgtEl>
                                        <p:attrNameLst>
                                          <p:attrName>style.visibility</p:attrName>
                                        </p:attrNameLst>
                                      </p:cBhvr>
                                      <p:to>
                                        <p:strVal val="visible"/>
                                      </p:to>
                                    </p:set>
                                    <p:anim calcmode="lin" valueType="num">
                                      <p:cBhvr additive="base">
                                        <p:cTn dur="1000"/>
                                        <p:tgtEl>
                                          <p:spTgt spid="314">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gtEl>
                                        <p:attrNameLst>
                                          <p:attrName>style.visibility</p:attrName>
                                        </p:attrNameLst>
                                      </p:cBhvr>
                                      <p:to>
                                        <p:strVal val="visible"/>
                                      </p:to>
                                    </p:set>
                                    <p:anim calcmode="lin" valueType="num">
                                      <p:cBhvr additive="base">
                                        <p:cTn dur="1000"/>
                                        <p:tgtEl>
                                          <p:spTgt spid="31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14337fc5d25_0_687"/>
          <p:cNvSpPr txBox="1"/>
          <p:nvPr/>
        </p:nvSpPr>
        <p:spPr>
          <a:xfrm>
            <a:off x="720000" y="1439999"/>
            <a:ext cx="8472300" cy="2344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400"/>
              <a:buFont typeface="Arial"/>
              <a:buNone/>
            </a:pPr>
            <a:r>
              <a:rPr b="0" i="0" lang="en-GB" sz="1800" u="none" cap="none" strike="noStrike">
                <a:solidFill>
                  <a:srgbClr val="2A2A2A"/>
                </a:solidFill>
                <a:highlight>
                  <a:schemeClr val="lt1"/>
                </a:highlight>
                <a:latin typeface="Roboto"/>
                <a:ea typeface="Roboto"/>
                <a:cs typeface="Roboto"/>
                <a:sym typeface="Roboto"/>
              </a:rPr>
              <a:t>A mixture of 150 liters of wine and water contains 20% water. How much more water should be added so that water becomes 25% of the new mixture?</a:t>
            </a:r>
            <a:endParaRPr b="0" i="0" sz="18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80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10 litres</a:t>
            </a:r>
            <a:endParaRPr b="0" i="0" sz="16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20 litres</a:t>
            </a:r>
            <a:endParaRPr b="0" i="0" sz="16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30 litres</a:t>
            </a:r>
            <a:endParaRPr b="0" i="0" sz="16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40 litres</a:t>
            </a:r>
            <a:endParaRPr b="0" i="0" sz="1600" u="none" cap="none" strike="noStrike">
              <a:solidFill>
                <a:srgbClr val="2A2A2A"/>
              </a:solidFill>
              <a:highlight>
                <a:schemeClr val="lt1"/>
              </a:highlight>
              <a:latin typeface="Roboto"/>
              <a:ea typeface="Roboto"/>
              <a:cs typeface="Roboto"/>
              <a:sym typeface="Roboto"/>
            </a:endParaRPr>
          </a:p>
          <a:p>
            <a:pPr indent="0" lvl="0" marL="457200" marR="0" rtl="0" algn="l">
              <a:lnSpc>
                <a:spcPct val="115000"/>
              </a:lnSpc>
              <a:spcBef>
                <a:spcPts val="80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322" name="Google Shape;322;g14337fc5d25_0_687"/>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323" name="Google Shape;323;g14337fc5d25_0_68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1">
                                            <p:txEl>
                                              <p:pRg end="0" st="0"/>
                                            </p:txEl>
                                          </p:spTgt>
                                        </p:tgtEl>
                                        <p:attrNameLst>
                                          <p:attrName>style.visibility</p:attrName>
                                        </p:attrNameLst>
                                      </p:cBhvr>
                                      <p:to>
                                        <p:strVal val="visible"/>
                                      </p:to>
                                    </p:set>
                                    <p:anim calcmode="lin" valueType="num">
                                      <p:cBhvr additive="base">
                                        <p:cTn dur="1000"/>
                                        <p:tgtEl>
                                          <p:spTgt spid="32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1">
                                            <p:txEl>
                                              <p:pRg end="1" st="1"/>
                                            </p:txEl>
                                          </p:spTgt>
                                        </p:tgtEl>
                                        <p:attrNameLst>
                                          <p:attrName>style.visibility</p:attrName>
                                        </p:attrNameLst>
                                      </p:cBhvr>
                                      <p:to>
                                        <p:strVal val="visible"/>
                                      </p:to>
                                    </p:set>
                                    <p:anim calcmode="lin" valueType="num">
                                      <p:cBhvr additive="base">
                                        <p:cTn dur="1000"/>
                                        <p:tgtEl>
                                          <p:spTgt spid="32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1">
                                            <p:txEl>
                                              <p:pRg end="2" st="2"/>
                                            </p:txEl>
                                          </p:spTgt>
                                        </p:tgtEl>
                                        <p:attrNameLst>
                                          <p:attrName>style.visibility</p:attrName>
                                        </p:attrNameLst>
                                      </p:cBhvr>
                                      <p:to>
                                        <p:strVal val="visible"/>
                                      </p:to>
                                    </p:set>
                                    <p:anim calcmode="lin" valueType="num">
                                      <p:cBhvr additive="base">
                                        <p:cTn dur="1000"/>
                                        <p:tgtEl>
                                          <p:spTgt spid="32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1">
                                            <p:txEl>
                                              <p:pRg end="3" st="3"/>
                                            </p:txEl>
                                          </p:spTgt>
                                        </p:tgtEl>
                                        <p:attrNameLst>
                                          <p:attrName>style.visibility</p:attrName>
                                        </p:attrNameLst>
                                      </p:cBhvr>
                                      <p:to>
                                        <p:strVal val="visible"/>
                                      </p:to>
                                    </p:set>
                                    <p:anim calcmode="lin" valueType="num">
                                      <p:cBhvr additive="base">
                                        <p:cTn dur="1000"/>
                                        <p:tgtEl>
                                          <p:spTgt spid="32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1">
                                            <p:txEl>
                                              <p:pRg end="4" st="4"/>
                                            </p:txEl>
                                          </p:spTgt>
                                        </p:tgtEl>
                                        <p:attrNameLst>
                                          <p:attrName>style.visibility</p:attrName>
                                        </p:attrNameLst>
                                      </p:cBhvr>
                                      <p:to>
                                        <p:strVal val="visible"/>
                                      </p:to>
                                    </p:set>
                                    <p:anim calcmode="lin" valueType="num">
                                      <p:cBhvr additive="base">
                                        <p:cTn dur="1000"/>
                                        <p:tgtEl>
                                          <p:spTgt spid="32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1">
                                            <p:txEl>
                                              <p:pRg end="5" st="5"/>
                                            </p:txEl>
                                          </p:spTgt>
                                        </p:tgtEl>
                                        <p:attrNameLst>
                                          <p:attrName>style.visibility</p:attrName>
                                        </p:attrNameLst>
                                      </p:cBhvr>
                                      <p:to>
                                        <p:strVal val="visible"/>
                                      </p:to>
                                    </p:set>
                                    <p:anim calcmode="lin" valueType="num">
                                      <p:cBhvr additive="base">
                                        <p:cTn dur="1000"/>
                                        <p:tgtEl>
                                          <p:spTgt spid="32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2">
                                            <p:txEl>
                                              <p:pRg end="0" st="0"/>
                                            </p:txEl>
                                          </p:spTgt>
                                        </p:tgtEl>
                                        <p:attrNameLst>
                                          <p:attrName>style.visibility</p:attrName>
                                        </p:attrNameLst>
                                      </p:cBhvr>
                                      <p:to>
                                        <p:strVal val="visible"/>
                                      </p:to>
                                    </p:set>
                                    <p:anim calcmode="lin" valueType="num">
                                      <p:cBhvr additive="base">
                                        <p:cTn dur="1000"/>
                                        <p:tgtEl>
                                          <p:spTgt spid="32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7" name="Shape 327"/>
        <p:cNvGrpSpPr/>
        <p:nvPr/>
      </p:nvGrpSpPr>
      <p:grpSpPr>
        <a:xfrm>
          <a:off x="0" y="0"/>
          <a:ext cx="0" cy="0"/>
          <a:chOff x="0" y="0"/>
          <a:chExt cx="0" cy="0"/>
        </a:xfrm>
      </p:grpSpPr>
      <p:sp>
        <p:nvSpPr>
          <p:cNvPr id="328" name="Google Shape;328;g14337fc5d25_0_695"/>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29" name="Google Shape;329;g14337fc5d25_0_695"/>
          <p:cNvSpPr txBox="1"/>
          <p:nvPr/>
        </p:nvSpPr>
        <p:spPr>
          <a:xfrm>
            <a:off x="720000" y="1314850"/>
            <a:ext cx="71661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2A2A2A"/>
                </a:solidFill>
                <a:highlight>
                  <a:schemeClr val="lt1"/>
                </a:highlight>
                <a:latin typeface="Arial"/>
                <a:ea typeface="Arial"/>
                <a:cs typeface="Arial"/>
                <a:sym typeface="Arial"/>
              </a:rPr>
              <a:t>Number of liters of water in 125 liters of the mixture = 20% of 150 = 1/5 of 150 = 30 liters</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2A2A2A"/>
                </a:solidFill>
                <a:highlight>
                  <a:schemeClr val="lt1"/>
                </a:highlight>
                <a:latin typeface="Arial"/>
                <a:ea typeface="Arial"/>
                <a:cs typeface="Arial"/>
                <a:sym typeface="Arial"/>
              </a:rPr>
              <a:t> </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2A2A2A"/>
                </a:solidFill>
                <a:highlight>
                  <a:schemeClr val="lt1"/>
                </a:highlight>
                <a:latin typeface="Arial"/>
                <a:ea typeface="Arial"/>
                <a:cs typeface="Arial"/>
                <a:sym typeface="Arial"/>
              </a:rPr>
              <a:t>Let us Assume that another 'P' liters of water are added to the mixture to make water 25% of the new mixture. So, the total amount of water becomes (30 + P) and the total volume of the mixture becomes (150 + P)</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2A2A2A"/>
                </a:solidFill>
                <a:highlight>
                  <a:schemeClr val="lt1"/>
                </a:highlight>
                <a:latin typeface="Arial"/>
                <a:ea typeface="Arial"/>
                <a:cs typeface="Arial"/>
                <a:sym typeface="Arial"/>
              </a:rPr>
              <a:t> </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2A2A2A"/>
                </a:solidFill>
                <a:highlight>
                  <a:schemeClr val="lt1"/>
                </a:highlight>
                <a:latin typeface="Arial"/>
                <a:ea typeface="Arial"/>
                <a:cs typeface="Arial"/>
                <a:sym typeface="Arial"/>
              </a:rPr>
              <a:t>Thus, (30 + P) = 25% of (150 + P)</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2A2A2A"/>
                </a:solidFill>
                <a:highlight>
                  <a:schemeClr val="lt1"/>
                </a:highlight>
                <a:latin typeface="Arial"/>
                <a:ea typeface="Arial"/>
                <a:cs typeface="Arial"/>
                <a:sym typeface="Arial"/>
              </a:rPr>
              <a:t> </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2A2A2A"/>
                </a:solidFill>
                <a:highlight>
                  <a:schemeClr val="lt1"/>
                </a:highlight>
                <a:latin typeface="Arial"/>
                <a:ea typeface="Arial"/>
                <a:cs typeface="Arial"/>
                <a:sym typeface="Arial"/>
              </a:rPr>
              <a:t>Solving, we get P = 10 liters</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800" u="none" cap="none" strike="noStrike">
              <a:solidFill>
                <a:schemeClr val="dk1"/>
              </a:solidFill>
              <a:latin typeface="Arial"/>
              <a:ea typeface="Arial"/>
              <a:cs typeface="Arial"/>
              <a:sym typeface="Arial"/>
            </a:endParaRPr>
          </a:p>
        </p:txBody>
      </p:sp>
      <p:sp>
        <p:nvSpPr>
          <p:cNvPr id="330" name="Google Shape;330;g14337fc5d25_0_69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0" st="0"/>
                                            </p:txEl>
                                          </p:spTgt>
                                        </p:tgtEl>
                                        <p:attrNameLst>
                                          <p:attrName>style.visibility</p:attrName>
                                        </p:attrNameLst>
                                      </p:cBhvr>
                                      <p:to>
                                        <p:strVal val="visible"/>
                                      </p:to>
                                    </p:set>
                                    <p:anim calcmode="lin" valueType="num">
                                      <p:cBhvr additive="base">
                                        <p:cTn dur="1000"/>
                                        <p:tgtEl>
                                          <p:spTgt spid="32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1" st="1"/>
                                            </p:txEl>
                                          </p:spTgt>
                                        </p:tgtEl>
                                        <p:attrNameLst>
                                          <p:attrName>style.visibility</p:attrName>
                                        </p:attrNameLst>
                                      </p:cBhvr>
                                      <p:to>
                                        <p:strVal val="visible"/>
                                      </p:to>
                                    </p:set>
                                    <p:anim calcmode="lin" valueType="num">
                                      <p:cBhvr additive="base">
                                        <p:cTn dur="1000"/>
                                        <p:tgtEl>
                                          <p:spTgt spid="32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2" st="2"/>
                                            </p:txEl>
                                          </p:spTgt>
                                        </p:tgtEl>
                                        <p:attrNameLst>
                                          <p:attrName>style.visibility</p:attrName>
                                        </p:attrNameLst>
                                      </p:cBhvr>
                                      <p:to>
                                        <p:strVal val="visible"/>
                                      </p:to>
                                    </p:set>
                                    <p:anim calcmode="lin" valueType="num">
                                      <p:cBhvr additive="base">
                                        <p:cTn dur="1000"/>
                                        <p:tgtEl>
                                          <p:spTgt spid="32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3" st="3"/>
                                            </p:txEl>
                                          </p:spTgt>
                                        </p:tgtEl>
                                        <p:attrNameLst>
                                          <p:attrName>style.visibility</p:attrName>
                                        </p:attrNameLst>
                                      </p:cBhvr>
                                      <p:to>
                                        <p:strVal val="visible"/>
                                      </p:to>
                                    </p:set>
                                    <p:anim calcmode="lin" valueType="num">
                                      <p:cBhvr additive="base">
                                        <p:cTn dur="1000"/>
                                        <p:tgtEl>
                                          <p:spTgt spid="32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4" st="4"/>
                                            </p:txEl>
                                          </p:spTgt>
                                        </p:tgtEl>
                                        <p:attrNameLst>
                                          <p:attrName>style.visibility</p:attrName>
                                        </p:attrNameLst>
                                      </p:cBhvr>
                                      <p:to>
                                        <p:strVal val="visible"/>
                                      </p:to>
                                    </p:set>
                                    <p:anim calcmode="lin" valueType="num">
                                      <p:cBhvr additive="base">
                                        <p:cTn dur="1000"/>
                                        <p:tgtEl>
                                          <p:spTgt spid="32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5" st="5"/>
                                            </p:txEl>
                                          </p:spTgt>
                                        </p:tgtEl>
                                        <p:attrNameLst>
                                          <p:attrName>style.visibility</p:attrName>
                                        </p:attrNameLst>
                                      </p:cBhvr>
                                      <p:to>
                                        <p:strVal val="visible"/>
                                      </p:to>
                                    </p:set>
                                    <p:anim calcmode="lin" valueType="num">
                                      <p:cBhvr additive="base">
                                        <p:cTn dur="1000"/>
                                        <p:tgtEl>
                                          <p:spTgt spid="32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6" st="6"/>
                                            </p:txEl>
                                          </p:spTgt>
                                        </p:tgtEl>
                                        <p:attrNameLst>
                                          <p:attrName>style.visibility</p:attrName>
                                        </p:attrNameLst>
                                      </p:cBhvr>
                                      <p:to>
                                        <p:strVal val="visible"/>
                                      </p:to>
                                    </p:set>
                                    <p:anim calcmode="lin" valueType="num">
                                      <p:cBhvr additive="base">
                                        <p:cTn dur="1000"/>
                                        <p:tgtEl>
                                          <p:spTgt spid="32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7" st="7"/>
                                            </p:txEl>
                                          </p:spTgt>
                                        </p:tgtEl>
                                        <p:attrNameLst>
                                          <p:attrName>style.visibility</p:attrName>
                                        </p:attrNameLst>
                                      </p:cBhvr>
                                      <p:to>
                                        <p:strVal val="visible"/>
                                      </p:to>
                                    </p:set>
                                    <p:anim calcmode="lin" valueType="num">
                                      <p:cBhvr additive="base">
                                        <p:cTn dur="1000"/>
                                        <p:tgtEl>
                                          <p:spTgt spid="32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14337fc5d25_0_703"/>
          <p:cNvSpPr txBox="1"/>
          <p:nvPr/>
        </p:nvSpPr>
        <p:spPr>
          <a:xfrm>
            <a:off x="720000" y="1439999"/>
            <a:ext cx="8472300" cy="32934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400"/>
              <a:buFont typeface="Arial"/>
              <a:buNone/>
            </a:pPr>
            <a:r>
              <a:rPr b="0" i="0" lang="en-GB" sz="1800" u="none" cap="none" strike="noStrike">
                <a:solidFill>
                  <a:srgbClr val="2A2A2A"/>
                </a:solidFill>
                <a:highlight>
                  <a:schemeClr val="lt1"/>
                </a:highlight>
                <a:latin typeface="Roboto"/>
                <a:ea typeface="Roboto"/>
                <a:cs typeface="Roboto"/>
                <a:sym typeface="Roboto"/>
              </a:rPr>
              <a:t>How many kilograms of sugar costing Rs. 9 per kg must be mixed with 27 kg of sugar costing Rs. 7 per Kg so that there may be a gain of 10 % by selling the mixture at Rs. 9.24 per Kg ?</a:t>
            </a:r>
            <a:endParaRPr b="0" i="0" sz="18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80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36 Kg</a:t>
            </a:r>
            <a:endParaRPr b="0" i="0" sz="16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42 Kg</a:t>
            </a:r>
            <a:endParaRPr b="0" i="0" sz="16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54 Kg</a:t>
            </a:r>
            <a:endParaRPr b="0" i="0" sz="16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63 Kg</a:t>
            </a:r>
            <a:endParaRPr b="0" i="0" sz="1600" u="none" cap="none" strike="noStrike">
              <a:solidFill>
                <a:srgbClr val="2A2A2A"/>
              </a:solidFill>
              <a:highlight>
                <a:schemeClr val="lt1"/>
              </a:highlight>
              <a:latin typeface="Roboto"/>
              <a:ea typeface="Roboto"/>
              <a:cs typeface="Roboto"/>
              <a:sym typeface="Roboto"/>
            </a:endParaRPr>
          </a:p>
          <a:p>
            <a:pPr indent="0" lvl="0" marL="0" marR="0" rtl="0" algn="l">
              <a:lnSpc>
                <a:spcPct val="115000"/>
              </a:lnSpc>
              <a:spcBef>
                <a:spcPts val="800"/>
              </a:spcBef>
              <a:spcAft>
                <a:spcPts val="0"/>
              </a:spcAft>
              <a:buClr>
                <a:schemeClr val="dk1"/>
              </a:buClr>
              <a:buSzPts val="1200"/>
              <a:buFont typeface="Arial"/>
              <a:buNone/>
            </a:pPr>
            <a:r>
              <a:t/>
            </a:r>
            <a:endParaRPr b="0" i="0" sz="1200" u="none" cap="none" strike="noStrike">
              <a:solidFill>
                <a:srgbClr val="2A2A2A"/>
              </a:solidFill>
              <a:highlight>
                <a:schemeClr val="lt1"/>
              </a:highlight>
              <a:latin typeface="Arial"/>
              <a:ea typeface="Arial"/>
              <a:cs typeface="Arial"/>
              <a:sym typeface="Arial"/>
            </a:endParaRPr>
          </a:p>
          <a:p>
            <a:pPr indent="0" lvl="0" marL="0" marR="0" rtl="0" algn="l">
              <a:lnSpc>
                <a:spcPct val="115000"/>
              </a:lnSpc>
              <a:spcBef>
                <a:spcPts val="800"/>
              </a:spcBef>
              <a:spcAft>
                <a:spcPts val="0"/>
              </a:spcAft>
              <a:buClr>
                <a:schemeClr val="dk1"/>
              </a:buClr>
              <a:buSzPts val="1200"/>
              <a:buFont typeface="Arial"/>
              <a:buNone/>
            </a:pPr>
            <a:r>
              <a:t/>
            </a:r>
            <a:endParaRPr b="0" i="0" sz="1200" u="none" cap="none" strike="noStrike">
              <a:solidFill>
                <a:srgbClr val="2A2A2A"/>
              </a:solidFill>
              <a:highlight>
                <a:schemeClr val="lt1"/>
              </a:highlight>
              <a:latin typeface="Arial"/>
              <a:ea typeface="Arial"/>
              <a:cs typeface="Arial"/>
              <a:sym typeface="Arial"/>
            </a:endParaRPr>
          </a:p>
          <a:p>
            <a:pPr indent="0" lvl="0" marL="457200" marR="0" rtl="0" algn="l">
              <a:lnSpc>
                <a:spcPct val="115000"/>
              </a:lnSpc>
              <a:spcBef>
                <a:spcPts val="80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336" name="Google Shape;336;g14337fc5d25_0_703"/>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D</a:t>
            </a:r>
            <a:endParaRPr b="0" i="0" sz="1600" u="none" cap="none" strike="noStrike">
              <a:solidFill>
                <a:schemeClr val="dk1"/>
              </a:solidFill>
              <a:latin typeface="Roboto"/>
              <a:ea typeface="Roboto"/>
              <a:cs typeface="Roboto"/>
              <a:sym typeface="Roboto"/>
            </a:endParaRPr>
          </a:p>
        </p:txBody>
      </p:sp>
      <p:sp>
        <p:nvSpPr>
          <p:cNvPr id="337" name="Google Shape;337;g14337fc5d25_0_70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0" st="0"/>
                                            </p:txEl>
                                          </p:spTgt>
                                        </p:tgtEl>
                                        <p:attrNameLst>
                                          <p:attrName>style.visibility</p:attrName>
                                        </p:attrNameLst>
                                      </p:cBhvr>
                                      <p:to>
                                        <p:strVal val="visible"/>
                                      </p:to>
                                    </p:set>
                                    <p:anim calcmode="lin" valueType="num">
                                      <p:cBhvr additive="base">
                                        <p:cTn dur="1000"/>
                                        <p:tgtEl>
                                          <p:spTgt spid="33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1" st="1"/>
                                            </p:txEl>
                                          </p:spTgt>
                                        </p:tgtEl>
                                        <p:attrNameLst>
                                          <p:attrName>style.visibility</p:attrName>
                                        </p:attrNameLst>
                                      </p:cBhvr>
                                      <p:to>
                                        <p:strVal val="visible"/>
                                      </p:to>
                                    </p:set>
                                    <p:anim calcmode="lin" valueType="num">
                                      <p:cBhvr additive="base">
                                        <p:cTn dur="1000"/>
                                        <p:tgtEl>
                                          <p:spTgt spid="33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2" st="2"/>
                                            </p:txEl>
                                          </p:spTgt>
                                        </p:tgtEl>
                                        <p:attrNameLst>
                                          <p:attrName>style.visibility</p:attrName>
                                        </p:attrNameLst>
                                      </p:cBhvr>
                                      <p:to>
                                        <p:strVal val="visible"/>
                                      </p:to>
                                    </p:set>
                                    <p:anim calcmode="lin" valueType="num">
                                      <p:cBhvr additive="base">
                                        <p:cTn dur="1000"/>
                                        <p:tgtEl>
                                          <p:spTgt spid="33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3" st="3"/>
                                            </p:txEl>
                                          </p:spTgt>
                                        </p:tgtEl>
                                        <p:attrNameLst>
                                          <p:attrName>style.visibility</p:attrName>
                                        </p:attrNameLst>
                                      </p:cBhvr>
                                      <p:to>
                                        <p:strVal val="visible"/>
                                      </p:to>
                                    </p:set>
                                    <p:anim calcmode="lin" valueType="num">
                                      <p:cBhvr additive="base">
                                        <p:cTn dur="1000"/>
                                        <p:tgtEl>
                                          <p:spTgt spid="33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4" st="4"/>
                                            </p:txEl>
                                          </p:spTgt>
                                        </p:tgtEl>
                                        <p:attrNameLst>
                                          <p:attrName>style.visibility</p:attrName>
                                        </p:attrNameLst>
                                      </p:cBhvr>
                                      <p:to>
                                        <p:strVal val="visible"/>
                                      </p:to>
                                    </p:set>
                                    <p:anim calcmode="lin" valueType="num">
                                      <p:cBhvr additive="base">
                                        <p:cTn dur="1000"/>
                                        <p:tgtEl>
                                          <p:spTgt spid="33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5" st="5"/>
                                            </p:txEl>
                                          </p:spTgt>
                                        </p:tgtEl>
                                        <p:attrNameLst>
                                          <p:attrName>style.visibility</p:attrName>
                                        </p:attrNameLst>
                                      </p:cBhvr>
                                      <p:to>
                                        <p:strVal val="visible"/>
                                      </p:to>
                                    </p:set>
                                    <p:anim calcmode="lin" valueType="num">
                                      <p:cBhvr additive="base">
                                        <p:cTn dur="1000"/>
                                        <p:tgtEl>
                                          <p:spTgt spid="33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6" st="6"/>
                                            </p:txEl>
                                          </p:spTgt>
                                        </p:tgtEl>
                                        <p:attrNameLst>
                                          <p:attrName>style.visibility</p:attrName>
                                        </p:attrNameLst>
                                      </p:cBhvr>
                                      <p:to>
                                        <p:strVal val="visible"/>
                                      </p:to>
                                    </p:set>
                                    <p:anim calcmode="lin" valueType="num">
                                      <p:cBhvr additive="base">
                                        <p:cTn dur="1000"/>
                                        <p:tgtEl>
                                          <p:spTgt spid="33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7" st="7"/>
                                            </p:txEl>
                                          </p:spTgt>
                                        </p:tgtEl>
                                        <p:attrNameLst>
                                          <p:attrName>style.visibility</p:attrName>
                                        </p:attrNameLst>
                                      </p:cBhvr>
                                      <p:to>
                                        <p:strVal val="visible"/>
                                      </p:to>
                                    </p:set>
                                    <p:anim calcmode="lin" valueType="num">
                                      <p:cBhvr additive="base">
                                        <p:cTn dur="1000"/>
                                        <p:tgtEl>
                                          <p:spTgt spid="33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6">
                                            <p:txEl>
                                              <p:pRg end="0" st="0"/>
                                            </p:txEl>
                                          </p:spTgt>
                                        </p:tgtEl>
                                        <p:attrNameLst>
                                          <p:attrName>style.visibility</p:attrName>
                                        </p:attrNameLst>
                                      </p:cBhvr>
                                      <p:to>
                                        <p:strVal val="visible"/>
                                      </p:to>
                                    </p:set>
                                    <p:anim calcmode="lin" valueType="num">
                                      <p:cBhvr additive="base">
                                        <p:cTn dur="1000"/>
                                        <p:tgtEl>
                                          <p:spTgt spid="33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1" name="Shape 341"/>
        <p:cNvGrpSpPr/>
        <p:nvPr/>
      </p:nvGrpSpPr>
      <p:grpSpPr>
        <a:xfrm>
          <a:off x="0" y="0"/>
          <a:ext cx="0" cy="0"/>
          <a:chOff x="0" y="0"/>
          <a:chExt cx="0" cy="0"/>
        </a:xfrm>
      </p:grpSpPr>
      <p:sp>
        <p:nvSpPr>
          <p:cNvPr id="342" name="Google Shape;342;g14337fc5d25_0_711"/>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43" name="Google Shape;343;g14337fc5d25_0_711"/>
          <p:cNvSpPr txBox="1"/>
          <p:nvPr/>
        </p:nvSpPr>
        <p:spPr>
          <a:xfrm>
            <a:off x="662325" y="1239775"/>
            <a:ext cx="6776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chemeClr val="dk1"/>
              </a:solidFill>
              <a:highlight>
                <a:schemeClr val="lt1"/>
              </a:highlight>
              <a:latin typeface="Roboto"/>
              <a:ea typeface="Roboto"/>
              <a:cs typeface="Roboto"/>
              <a:sym typeface="Roboto"/>
            </a:endParaRPr>
          </a:p>
        </p:txBody>
      </p:sp>
      <p:sp>
        <p:nvSpPr>
          <p:cNvPr id="344" name="Google Shape;344;g14337fc5d25_0_711"/>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13</a:t>
            </a:r>
            <a:endParaRPr b="1" i="0" sz="2000" u="none" cap="none" strike="noStrike">
              <a:solidFill>
                <a:srgbClr val="8182EF"/>
              </a:solidFill>
              <a:latin typeface="Roboto"/>
              <a:ea typeface="Roboto"/>
              <a:cs typeface="Roboto"/>
              <a:sym typeface="Roboto"/>
            </a:endParaRPr>
          </a:p>
        </p:txBody>
      </p:sp>
      <p:sp>
        <p:nvSpPr>
          <p:cNvPr id="345" name="Google Shape;345;g14337fc5d25_0_711"/>
          <p:cNvSpPr txBox="1"/>
          <p:nvPr/>
        </p:nvSpPr>
        <p:spPr>
          <a:xfrm>
            <a:off x="879900" y="1239775"/>
            <a:ext cx="7396800" cy="19977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2A2A2A"/>
                </a:solidFill>
                <a:highlight>
                  <a:srgbClr val="FFFFFF"/>
                </a:highlight>
                <a:latin typeface="Arial"/>
                <a:ea typeface="Arial"/>
                <a:cs typeface="Arial"/>
                <a:sym typeface="Arial"/>
              </a:rPr>
              <a:t>C.P. of 1 kg sugar of 1st kind  	C.P. of 1 kg sugar of 2nd kind</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2A2A2A"/>
                </a:solidFill>
                <a:highlight>
                  <a:srgbClr val="FFFFFF"/>
                </a:highlight>
                <a:latin typeface="Arial"/>
                <a:ea typeface="Arial"/>
                <a:cs typeface="Arial"/>
                <a:sym typeface="Arial"/>
              </a:rPr>
              <a:t>Rs. 9                                                                          Rs. 7</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2A2A2A"/>
                </a:solidFill>
                <a:highlight>
                  <a:srgbClr val="FFFFFF"/>
                </a:highlight>
                <a:latin typeface="Arial"/>
                <a:ea typeface="Arial"/>
                <a:cs typeface="Arial"/>
                <a:sym typeface="Arial"/>
              </a:rPr>
              <a:t>                                          Rs.8.40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2A2A2A"/>
                </a:solidFill>
                <a:highlight>
                  <a:srgbClr val="FFFFFF"/>
                </a:highlight>
                <a:latin typeface="Arial"/>
                <a:ea typeface="Arial"/>
                <a:cs typeface="Arial"/>
                <a:sym typeface="Arial"/>
              </a:rPr>
              <a:t>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2A2A2A"/>
                </a:solidFill>
                <a:highlight>
                  <a:srgbClr val="FFFFFF"/>
                </a:highlight>
                <a:latin typeface="Arial"/>
                <a:ea typeface="Arial"/>
                <a:cs typeface="Arial"/>
                <a:sym typeface="Arial"/>
              </a:rPr>
              <a:t>1.40                                                                              0.60</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Arial"/>
              <a:ea typeface="Arial"/>
              <a:cs typeface="Arial"/>
              <a:sym typeface="Arial"/>
            </a:endParaRPr>
          </a:p>
        </p:txBody>
      </p:sp>
      <p:cxnSp>
        <p:nvCxnSpPr>
          <p:cNvPr id="346" name="Google Shape;346;g14337fc5d25_0_711"/>
          <p:cNvCxnSpPr/>
          <p:nvPr/>
        </p:nvCxnSpPr>
        <p:spPr>
          <a:xfrm>
            <a:off x="1749300" y="1762375"/>
            <a:ext cx="1044300" cy="326400"/>
          </a:xfrm>
          <a:prstGeom prst="straightConnector1">
            <a:avLst/>
          </a:prstGeom>
          <a:noFill/>
          <a:ln cap="flat" cmpd="sng" w="9525">
            <a:solidFill>
              <a:schemeClr val="dk2"/>
            </a:solidFill>
            <a:prstDash val="solid"/>
            <a:round/>
            <a:headEnd len="sm" w="sm" type="none"/>
            <a:tailEnd len="sm" w="sm" type="none"/>
          </a:ln>
        </p:spPr>
      </p:cxnSp>
      <p:cxnSp>
        <p:nvCxnSpPr>
          <p:cNvPr id="347" name="Google Shape;347;g14337fc5d25_0_711"/>
          <p:cNvCxnSpPr/>
          <p:nvPr/>
        </p:nvCxnSpPr>
        <p:spPr>
          <a:xfrm flipH="1" rot="10800000">
            <a:off x="1736250" y="2415075"/>
            <a:ext cx="1044300" cy="404700"/>
          </a:xfrm>
          <a:prstGeom prst="straightConnector1">
            <a:avLst/>
          </a:prstGeom>
          <a:noFill/>
          <a:ln cap="flat" cmpd="sng" w="9525">
            <a:solidFill>
              <a:schemeClr val="dk2"/>
            </a:solidFill>
            <a:prstDash val="solid"/>
            <a:round/>
            <a:headEnd len="sm" w="sm" type="none"/>
            <a:tailEnd len="sm" w="sm" type="none"/>
          </a:ln>
        </p:spPr>
      </p:cxnSp>
      <p:cxnSp>
        <p:nvCxnSpPr>
          <p:cNvPr id="348" name="Google Shape;348;g14337fc5d25_0_711"/>
          <p:cNvCxnSpPr/>
          <p:nvPr/>
        </p:nvCxnSpPr>
        <p:spPr>
          <a:xfrm flipH="1" rot="10800000">
            <a:off x="3807675" y="1723225"/>
            <a:ext cx="1044300" cy="404700"/>
          </a:xfrm>
          <a:prstGeom prst="straightConnector1">
            <a:avLst/>
          </a:prstGeom>
          <a:noFill/>
          <a:ln cap="flat" cmpd="sng" w="9525">
            <a:solidFill>
              <a:schemeClr val="dk2"/>
            </a:solidFill>
            <a:prstDash val="solid"/>
            <a:round/>
            <a:headEnd len="sm" w="sm" type="none"/>
            <a:tailEnd len="sm" w="sm" type="none"/>
          </a:ln>
        </p:spPr>
      </p:cxnSp>
      <p:cxnSp>
        <p:nvCxnSpPr>
          <p:cNvPr id="349" name="Google Shape;349;g14337fc5d25_0_711"/>
          <p:cNvCxnSpPr/>
          <p:nvPr/>
        </p:nvCxnSpPr>
        <p:spPr>
          <a:xfrm>
            <a:off x="3801075" y="2382450"/>
            <a:ext cx="1057500" cy="378600"/>
          </a:xfrm>
          <a:prstGeom prst="straightConnector1">
            <a:avLst/>
          </a:prstGeom>
          <a:noFill/>
          <a:ln cap="flat" cmpd="sng" w="9525">
            <a:solidFill>
              <a:schemeClr val="dk2"/>
            </a:solidFill>
            <a:prstDash val="solid"/>
            <a:round/>
            <a:headEnd len="sm" w="sm" type="none"/>
            <a:tailEnd len="sm" w="sm" type="none"/>
          </a:ln>
        </p:spPr>
      </p:cxnSp>
      <p:sp>
        <p:nvSpPr>
          <p:cNvPr id="350" name="Google Shape;350;g14337fc5d25_0_711"/>
          <p:cNvSpPr txBox="1"/>
          <p:nvPr/>
        </p:nvSpPr>
        <p:spPr>
          <a:xfrm>
            <a:off x="783275" y="3485575"/>
            <a:ext cx="7493400" cy="11619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56250"/>
              </a:lnSpc>
              <a:spcBef>
                <a:spcPts val="0"/>
              </a:spcBef>
              <a:spcAft>
                <a:spcPts val="0"/>
              </a:spcAft>
              <a:buClr>
                <a:schemeClr val="dk1"/>
              </a:buClr>
              <a:buSzPts val="1100"/>
              <a:buFont typeface="Arial"/>
              <a:buNone/>
            </a:pPr>
            <a:r>
              <a:rPr b="0" i="0" lang="en-GB" sz="1400" u="none" cap="none" strike="noStrike">
                <a:solidFill>
                  <a:srgbClr val="2A2A2A"/>
                </a:solidFill>
                <a:highlight>
                  <a:schemeClr val="lt1"/>
                </a:highlight>
                <a:latin typeface="Arial"/>
                <a:ea typeface="Arial"/>
                <a:cs typeface="Arial"/>
                <a:sym typeface="Arial"/>
              </a:rPr>
              <a:t>Therefore, Ratio of quantities of 1st and 2nd kind = 14 : 6 = 7 : 3. </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56250"/>
              </a:lnSpc>
              <a:spcBef>
                <a:spcPts val="0"/>
              </a:spcBef>
              <a:spcAft>
                <a:spcPts val="0"/>
              </a:spcAft>
              <a:buClr>
                <a:schemeClr val="dk1"/>
              </a:buClr>
              <a:buSzPts val="1100"/>
              <a:buFont typeface="Arial"/>
              <a:buNone/>
            </a:pPr>
            <a:r>
              <a:rPr b="0" i="0" lang="en-GB" sz="1400" u="none" cap="none" strike="noStrike">
                <a:solidFill>
                  <a:srgbClr val="2A2A2A"/>
                </a:solidFill>
                <a:highlight>
                  <a:schemeClr val="lt1"/>
                </a:highlight>
                <a:latin typeface="Arial"/>
                <a:ea typeface="Arial"/>
                <a:cs typeface="Arial"/>
                <a:sym typeface="Arial"/>
              </a:rPr>
              <a:t>Let </a:t>
            </a:r>
            <a:r>
              <a:rPr b="0" i="1" lang="en-GB" sz="1400" u="none" cap="none" strike="noStrike">
                <a:solidFill>
                  <a:srgbClr val="2A2A2A"/>
                </a:solidFill>
                <a:highlight>
                  <a:schemeClr val="lt1"/>
                </a:highlight>
                <a:latin typeface="Arial"/>
                <a:ea typeface="Arial"/>
                <a:cs typeface="Arial"/>
                <a:sym typeface="Arial"/>
              </a:rPr>
              <a:t>x</a:t>
            </a:r>
            <a:r>
              <a:rPr b="0" i="0" lang="en-GB" sz="1400" u="none" cap="none" strike="noStrike">
                <a:solidFill>
                  <a:srgbClr val="2A2A2A"/>
                </a:solidFill>
                <a:highlight>
                  <a:schemeClr val="lt1"/>
                </a:highlight>
                <a:latin typeface="Arial"/>
                <a:ea typeface="Arial"/>
                <a:cs typeface="Arial"/>
                <a:sym typeface="Arial"/>
              </a:rPr>
              <a:t> kg of sugar of 1st kind be mixed with 27 kg of 2nd kind. </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56250"/>
              </a:lnSpc>
              <a:spcBef>
                <a:spcPts val="0"/>
              </a:spcBef>
              <a:spcAft>
                <a:spcPts val="0"/>
              </a:spcAft>
              <a:buClr>
                <a:schemeClr val="dk1"/>
              </a:buClr>
              <a:buSzPts val="1100"/>
              <a:buFont typeface="Arial"/>
              <a:buNone/>
            </a:pPr>
            <a:r>
              <a:rPr b="0" i="0" lang="en-GB" sz="1400" u="none" cap="none" strike="noStrike">
                <a:solidFill>
                  <a:srgbClr val="2A2A2A"/>
                </a:solidFill>
                <a:highlight>
                  <a:schemeClr val="lt1"/>
                </a:highlight>
                <a:latin typeface="Arial"/>
                <a:ea typeface="Arial"/>
                <a:cs typeface="Arial"/>
                <a:sym typeface="Arial"/>
              </a:rPr>
              <a:t>Then, 7 : 3 = </a:t>
            </a:r>
            <a:r>
              <a:rPr b="0" i="1" lang="en-GB" sz="1400" u="none" cap="none" strike="noStrike">
                <a:solidFill>
                  <a:srgbClr val="2A2A2A"/>
                </a:solidFill>
                <a:highlight>
                  <a:schemeClr val="lt1"/>
                </a:highlight>
                <a:latin typeface="Arial"/>
                <a:ea typeface="Arial"/>
                <a:cs typeface="Arial"/>
                <a:sym typeface="Arial"/>
              </a:rPr>
              <a:t>x</a:t>
            </a:r>
            <a:r>
              <a:rPr b="0" i="0" lang="en-GB" sz="1400" u="none" cap="none" strike="noStrike">
                <a:solidFill>
                  <a:srgbClr val="2A2A2A"/>
                </a:solidFill>
                <a:highlight>
                  <a:schemeClr val="lt1"/>
                </a:highlight>
                <a:latin typeface="Arial"/>
                <a:ea typeface="Arial"/>
                <a:cs typeface="Arial"/>
                <a:sym typeface="Arial"/>
              </a:rPr>
              <a:t> : 27 or </a:t>
            </a:r>
            <a:r>
              <a:rPr b="0" i="1" lang="en-GB" sz="1400" u="none" cap="none" strike="noStrike">
                <a:solidFill>
                  <a:srgbClr val="2A2A2A"/>
                </a:solidFill>
                <a:highlight>
                  <a:schemeClr val="lt1"/>
                </a:highlight>
                <a:latin typeface="Arial"/>
                <a:ea typeface="Arial"/>
                <a:cs typeface="Arial"/>
                <a:sym typeface="Arial"/>
              </a:rPr>
              <a:t>x</a:t>
            </a:r>
            <a:r>
              <a:rPr b="0" i="0" lang="en-GB" sz="1400" u="none" cap="none" strike="noStrike">
                <a:solidFill>
                  <a:srgbClr val="2A2A2A"/>
                </a:solidFill>
                <a:highlight>
                  <a:schemeClr val="lt1"/>
                </a:highlight>
                <a:latin typeface="Arial"/>
                <a:ea typeface="Arial"/>
                <a:cs typeface="Arial"/>
                <a:sym typeface="Arial"/>
              </a:rPr>
              <a:t> = (7 x 27 / 3) = 63 kg.</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0" st="0"/>
                                            </p:txEl>
                                          </p:spTgt>
                                        </p:tgtEl>
                                        <p:attrNameLst>
                                          <p:attrName>style.visibility</p:attrName>
                                        </p:attrNameLst>
                                      </p:cBhvr>
                                      <p:to>
                                        <p:strVal val="visible"/>
                                      </p:to>
                                    </p:set>
                                    <p:anim calcmode="lin" valueType="num">
                                      <p:cBhvr additive="base">
                                        <p:cTn dur="1000"/>
                                        <p:tgtEl>
                                          <p:spTgt spid="34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1" st="1"/>
                                            </p:txEl>
                                          </p:spTgt>
                                        </p:tgtEl>
                                        <p:attrNameLst>
                                          <p:attrName>style.visibility</p:attrName>
                                        </p:attrNameLst>
                                      </p:cBhvr>
                                      <p:to>
                                        <p:strVal val="visible"/>
                                      </p:to>
                                    </p:set>
                                    <p:anim calcmode="lin" valueType="num">
                                      <p:cBhvr additive="base">
                                        <p:cTn dur="1000"/>
                                        <p:tgtEl>
                                          <p:spTgt spid="34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2" st="2"/>
                                            </p:txEl>
                                          </p:spTgt>
                                        </p:tgtEl>
                                        <p:attrNameLst>
                                          <p:attrName>style.visibility</p:attrName>
                                        </p:attrNameLst>
                                      </p:cBhvr>
                                      <p:to>
                                        <p:strVal val="visible"/>
                                      </p:to>
                                    </p:set>
                                    <p:anim calcmode="lin" valueType="num">
                                      <p:cBhvr additive="base">
                                        <p:cTn dur="1000"/>
                                        <p:tgtEl>
                                          <p:spTgt spid="34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3" st="3"/>
                                            </p:txEl>
                                          </p:spTgt>
                                        </p:tgtEl>
                                        <p:attrNameLst>
                                          <p:attrName>style.visibility</p:attrName>
                                        </p:attrNameLst>
                                      </p:cBhvr>
                                      <p:to>
                                        <p:strVal val="visible"/>
                                      </p:to>
                                    </p:set>
                                    <p:anim calcmode="lin" valueType="num">
                                      <p:cBhvr additive="base">
                                        <p:cTn dur="1000"/>
                                        <p:tgtEl>
                                          <p:spTgt spid="34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4" st="4"/>
                                            </p:txEl>
                                          </p:spTgt>
                                        </p:tgtEl>
                                        <p:attrNameLst>
                                          <p:attrName>style.visibility</p:attrName>
                                        </p:attrNameLst>
                                      </p:cBhvr>
                                      <p:to>
                                        <p:strVal val="visible"/>
                                      </p:to>
                                    </p:set>
                                    <p:anim calcmode="lin" valueType="num">
                                      <p:cBhvr additive="base">
                                        <p:cTn dur="1000"/>
                                        <p:tgtEl>
                                          <p:spTgt spid="34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5" st="5"/>
                                            </p:txEl>
                                          </p:spTgt>
                                        </p:tgtEl>
                                        <p:attrNameLst>
                                          <p:attrName>style.visibility</p:attrName>
                                        </p:attrNameLst>
                                      </p:cBhvr>
                                      <p:to>
                                        <p:strVal val="visible"/>
                                      </p:to>
                                    </p:set>
                                    <p:anim calcmode="lin" valueType="num">
                                      <p:cBhvr additive="base">
                                        <p:cTn dur="1000"/>
                                        <p:tgtEl>
                                          <p:spTgt spid="34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6" st="6"/>
                                            </p:txEl>
                                          </p:spTgt>
                                        </p:tgtEl>
                                        <p:attrNameLst>
                                          <p:attrName>style.visibility</p:attrName>
                                        </p:attrNameLst>
                                      </p:cBhvr>
                                      <p:to>
                                        <p:strVal val="visible"/>
                                      </p:to>
                                    </p:set>
                                    <p:anim calcmode="lin" valueType="num">
                                      <p:cBhvr additive="base">
                                        <p:cTn dur="1000"/>
                                        <p:tgtEl>
                                          <p:spTgt spid="34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7" st="7"/>
                                            </p:txEl>
                                          </p:spTgt>
                                        </p:tgtEl>
                                        <p:attrNameLst>
                                          <p:attrName>style.visibility</p:attrName>
                                        </p:attrNameLst>
                                      </p:cBhvr>
                                      <p:to>
                                        <p:strVal val="visible"/>
                                      </p:to>
                                    </p:set>
                                    <p:anim calcmode="lin" valueType="num">
                                      <p:cBhvr additive="base">
                                        <p:cTn dur="1000"/>
                                        <p:tgtEl>
                                          <p:spTgt spid="34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8" st="8"/>
                                            </p:txEl>
                                          </p:spTgt>
                                        </p:tgtEl>
                                        <p:attrNameLst>
                                          <p:attrName>style.visibility</p:attrName>
                                        </p:attrNameLst>
                                      </p:cBhvr>
                                      <p:to>
                                        <p:strVal val="visible"/>
                                      </p:to>
                                    </p:set>
                                    <p:anim calcmode="lin" valueType="num">
                                      <p:cBhvr additive="base">
                                        <p:cTn dur="1000"/>
                                        <p:tgtEl>
                                          <p:spTgt spid="345">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9" st="9"/>
                                            </p:txEl>
                                          </p:spTgt>
                                        </p:tgtEl>
                                        <p:attrNameLst>
                                          <p:attrName>style.visibility</p:attrName>
                                        </p:attrNameLst>
                                      </p:cBhvr>
                                      <p:to>
                                        <p:strVal val="visible"/>
                                      </p:to>
                                    </p:set>
                                    <p:anim calcmode="lin" valueType="num">
                                      <p:cBhvr additive="base">
                                        <p:cTn dur="1000"/>
                                        <p:tgtEl>
                                          <p:spTgt spid="345">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10" st="10"/>
                                            </p:txEl>
                                          </p:spTgt>
                                        </p:tgtEl>
                                        <p:attrNameLst>
                                          <p:attrName>style.visibility</p:attrName>
                                        </p:attrNameLst>
                                      </p:cBhvr>
                                      <p:to>
                                        <p:strVal val="visible"/>
                                      </p:to>
                                    </p:set>
                                    <p:anim calcmode="lin" valueType="num">
                                      <p:cBhvr additive="base">
                                        <p:cTn dur="1000"/>
                                        <p:tgtEl>
                                          <p:spTgt spid="345">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1000"/>
                                        <p:tgtEl>
                                          <p:spTgt spid="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1000"/>
                                        <p:tgtEl>
                                          <p:spTgt spid="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000"/>
                                        <p:tgtEl>
                                          <p:spTgt spid="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0">
                                            <p:txEl>
                                              <p:pRg end="0" st="0"/>
                                            </p:txEl>
                                          </p:spTgt>
                                        </p:tgtEl>
                                        <p:attrNameLst>
                                          <p:attrName>style.visibility</p:attrName>
                                        </p:attrNameLst>
                                      </p:cBhvr>
                                      <p:to>
                                        <p:strVal val="visible"/>
                                      </p:to>
                                    </p:set>
                                    <p:anim calcmode="lin" valueType="num">
                                      <p:cBhvr additive="base">
                                        <p:cTn dur="1000"/>
                                        <p:tgtEl>
                                          <p:spTgt spid="35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0">
                                            <p:txEl>
                                              <p:pRg end="1" st="1"/>
                                            </p:txEl>
                                          </p:spTgt>
                                        </p:tgtEl>
                                        <p:attrNameLst>
                                          <p:attrName>style.visibility</p:attrName>
                                        </p:attrNameLst>
                                      </p:cBhvr>
                                      <p:to>
                                        <p:strVal val="visible"/>
                                      </p:to>
                                    </p:set>
                                    <p:anim calcmode="lin" valueType="num">
                                      <p:cBhvr additive="base">
                                        <p:cTn dur="1000"/>
                                        <p:tgtEl>
                                          <p:spTgt spid="35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0">
                                            <p:txEl>
                                              <p:pRg end="2" st="2"/>
                                            </p:txEl>
                                          </p:spTgt>
                                        </p:tgtEl>
                                        <p:attrNameLst>
                                          <p:attrName>style.visibility</p:attrName>
                                        </p:attrNameLst>
                                      </p:cBhvr>
                                      <p:to>
                                        <p:strVal val="visible"/>
                                      </p:to>
                                    </p:set>
                                    <p:anim calcmode="lin" valueType="num">
                                      <p:cBhvr additive="base">
                                        <p:cTn dur="1000"/>
                                        <p:tgtEl>
                                          <p:spTgt spid="35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0">
                                            <p:txEl>
                                              <p:pRg end="3" st="3"/>
                                            </p:txEl>
                                          </p:spTgt>
                                        </p:tgtEl>
                                        <p:attrNameLst>
                                          <p:attrName>style.visibility</p:attrName>
                                        </p:attrNameLst>
                                      </p:cBhvr>
                                      <p:to>
                                        <p:strVal val="visible"/>
                                      </p:to>
                                    </p:set>
                                    <p:anim calcmode="lin" valueType="num">
                                      <p:cBhvr additive="base">
                                        <p:cTn dur="1000"/>
                                        <p:tgtEl>
                                          <p:spTgt spid="35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14337fc5d25_0_719"/>
          <p:cNvSpPr txBox="1"/>
          <p:nvPr/>
        </p:nvSpPr>
        <p:spPr>
          <a:xfrm>
            <a:off x="720000" y="1439874"/>
            <a:ext cx="8472300" cy="26706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400"/>
              <a:buFont typeface="Arial"/>
              <a:buNone/>
            </a:pPr>
            <a:r>
              <a:rPr b="0" i="0" lang="en-GB" sz="1800" u="none" cap="none" strike="noStrike">
                <a:solidFill>
                  <a:srgbClr val="2A2A2A"/>
                </a:solidFill>
                <a:highlight>
                  <a:schemeClr val="lt1"/>
                </a:highlight>
                <a:latin typeface="Roboto"/>
                <a:ea typeface="Roboto"/>
                <a:cs typeface="Roboto"/>
                <a:sym typeface="Roboto"/>
              </a:rPr>
              <a:t>The ratio of expenditure and savings is 3 : 2 . If the income increases by 15% and the savings increases by 6% , then by how much percent should his expenditure increases?</a:t>
            </a:r>
            <a:endParaRPr b="0" i="0" sz="18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25</a:t>
            </a:r>
            <a:endParaRPr b="0" i="0" sz="16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21</a:t>
            </a:r>
            <a:endParaRPr b="0" i="0" sz="16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12</a:t>
            </a:r>
            <a:endParaRPr b="0" i="0" sz="16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24</a:t>
            </a:r>
            <a:endParaRPr b="0" i="0" sz="1600" u="none" cap="none" strike="noStrike">
              <a:solidFill>
                <a:srgbClr val="2A2A2A"/>
              </a:solidFill>
              <a:highlight>
                <a:schemeClr val="lt1"/>
              </a:highlight>
              <a:latin typeface="Roboto"/>
              <a:ea typeface="Roboto"/>
              <a:cs typeface="Roboto"/>
              <a:sym typeface="Roboto"/>
            </a:endParaRPr>
          </a:p>
          <a:p>
            <a:pPr indent="0" lvl="0" marL="457200" marR="0" rtl="0" algn="l">
              <a:lnSpc>
                <a:spcPct val="115000"/>
              </a:lnSpc>
              <a:spcBef>
                <a:spcPts val="0"/>
              </a:spcBef>
              <a:spcAft>
                <a:spcPts val="0"/>
              </a:spcAft>
              <a:buClr>
                <a:schemeClr val="dk1"/>
              </a:buClr>
              <a:buSzPts val="1200"/>
              <a:buFont typeface="Arial"/>
              <a:buNone/>
            </a:pPr>
            <a:r>
              <a:t/>
            </a:r>
            <a:endParaRPr b="0" i="0" sz="1200" u="none" cap="none" strike="noStrike">
              <a:solidFill>
                <a:srgbClr val="2A2A2A"/>
              </a:solidFill>
              <a:highlight>
                <a:schemeClr val="lt1"/>
              </a:highlight>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356" name="Google Shape;356;g14337fc5d25_0_719"/>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357" name="Google Shape;357;g14337fc5d25_0_71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5">
                                            <p:txEl>
                                              <p:pRg end="0" st="0"/>
                                            </p:txEl>
                                          </p:spTgt>
                                        </p:tgtEl>
                                        <p:attrNameLst>
                                          <p:attrName>style.visibility</p:attrName>
                                        </p:attrNameLst>
                                      </p:cBhvr>
                                      <p:to>
                                        <p:strVal val="visible"/>
                                      </p:to>
                                    </p:set>
                                    <p:anim calcmode="lin" valueType="num">
                                      <p:cBhvr additive="base">
                                        <p:cTn dur="1000"/>
                                        <p:tgtEl>
                                          <p:spTgt spid="35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5">
                                            <p:txEl>
                                              <p:pRg end="1" st="1"/>
                                            </p:txEl>
                                          </p:spTgt>
                                        </p:tgtEl>
                                        <p:attrNameLst>
                                          <p:attrName>style.visibility</p:attrName>
                                        </p:attrNameLst>
                                      </p:cBhvr>
                                      <p:to>
                                        <p:strVal val="visible"/>
                                      </p:to>
                                    </p:set>
                                    <p:anim calcmode="lin" valueType="num">
                                      <p:cBhvr additive="base">
                                        <p:cTn dur="1000"/>
                                        <p:tgtEl>
                                          <p:spTgt spid="35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5">
                                            <p:txEl>
                                              <p:pRg end="2" st="2"/>
                                            </p:txEl>
                                          </p:spTgt>
                                        </p:tgtEl>
                                        <p:attrNameLst>
                                          <p:attrName>style.visibility</p:attrName>
                                        </p:attrNameLst>
                                      </p:cBhvr>
                                      <p:to>
                                        <p:strVal val="visible"/>
                                      </p:to>
                                    </p:set>
                                    <p:anim calcmode="lin" valueType="num">
                                      <p:cBhvr additive="base">
                                        <p:cTn dur="1000"/>
                                        <p:tgtEl>
                                          <p:spTgt spid="35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5">
                                            <p:txEl>
                                              <p:pRg end="3" st="3"/>
                                            </p:txEl>
                                          </p:spTgt>
                                        </p:tgtEl>
                                        <p:attrNameLst>
                                          <p:attrName>style.visibility</p:attrName>
                                        </p:attrNameLst>
                                      </p:cBhvr>
                                      <p:to>
                                        <p:strVal val="visible"/>
                                      </p:to>
                                    </p:set>
                                    <p:anim calcmode="lin" valueType="num">
                                      <p:cBhvr additive="base">
                                        <p:cTn dur="1000"/>
                                        <p:tgtEl>
                                          <p:spTgt spid="35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5">
                                            <p:txEl>
                                              <p:pRg end="4" st="4"/>
                                            </p:txEl>
                                          </p:spTgt>
                                        </p:tgtEl>
                                        <p:attrNameLst>
                                          <p:attrName>style.visibility</p:attrName>
                                        </p:attrNameLst>
                                      </p:cBhvr>
                                      <p:to>
                                        <p:strVal val="visible"/>
                                      </p:to>
                                    </p:set>
                                    <p:anim calcmode="lin" valueType="num">
                                      <p:cBhvr additive="base">
                                        <p:cTn dur="1000"/>
                                        <p:tgtEl>
                                          <p:spTgt spid="35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5">
                                            <p:txEl>
                                              <p:pRg end="5" st="5"/>
                                            </p:txEl>
                                          </p:spTgt>
                                        </p:tgtEl>
                                        <p:attrNameLst>
                                          <p:attrName>style.visibility</p:attrName>
                                        </p:attrNameLst>
                                      </p:cBhvr>
                                      <p:to>
                                        <p:strVal val="visible"/>
                                      </p:to>
                                    </p:set>
                                    <p:anim calcmode="lin" valueType="num">
                                      <p:cBhvr additive="base">
                                        <p:cTn dur="1000"/>
                                        <p:tgtEl>
                                          <p:spTgt spid="35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5">
                                            <p:txEl>
                                              <p:pRg end="6" st="6"/>
                                            </p:txEl>
                                          </p:spTgt>
                                        </p:tgtEl>
                                        <p:attrNameLst>
                                          <p:attrName>style.visibility</p:attrName>
                                        </p:attrNameLst>
                                      </p:cBhvr>
                                      <p:to>
                                        <p:strVal val="visible"/>
                                      </p:to>
                                    </p:set>
                                    <p:anim calcmode="lin" valueType="num">
                                      <p:cBhvr additive="base">
                                        <p:cTn dur="1000"/>
                                        <p:tgtEl>
                                          <p:spTgt spid="35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6">
                                            <p:txEl>
                                              <p:pRg end="0" st="0"/>
                                            </p:txEl>
                                          </p:spTgt>
                                        </p:tgtEl>
                                        <p:attrNameLst>
                                          <p:attrName>style.visibility</p:attrName>
                                        </p:attrNameLst>
                                      </p:cBhvr>
                                      <p:to>
                                        <p:strVal val="visible"/>
                                      </p:to>
                                    </p:set>
                                    <p:anim calcmode="lin" valueType="num">
                                      <p:cBhvr additive="base">
                                        <p:cTn dur="1000"/>
                                        <p:tgtEl>
                                          <p:spTgt spid="35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1" name="Shape 361"/>
        <p:cNvGrpSpPr/>
        <p:nvPr/>
      </p:nvGrpSpPr>
      <p:grpSpPr>
        <a:xfrm>
          <a:off x="0" y="0"/>
          <a:ext cx="0" cy="0"/>
          <a:chOff x="0" y="0"/>
          <a:chExt cx="0" cy="0"/>
        </a:xfrm>
      </p:grpSpPr>
      <p:sp>
        <p:nvSpPr>
          <p:cNvPr id="362" name="Google Shape;362;g14337fc5d25_0_727"/>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63" name="Google Shape;363;g14337fc5d25_0_72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14</a:t>
            </a:r>
            <a:endParaRPr b="1" i="0" sz="2000" u="none" cap="none" strike="noStrike">
              <a:solidFill>
                <a:srgbClr val="8182EF"/>
              </a:solidFill>
              <a:latin typeface="Roboto"/>
              <a:ea typeface="Roboto"/>
              <a:cs typeface="Roboto"/>
              <a:sym typeface="Roboto"/>
            </a:endParaRPr>
          </a:p>
        </p:txBody>
      </p:sp>
      <p:sp>
        <p:nvSpPr>
          <p:cNvPr id="364" name="Google Shape;364;g14337fc5d25_0_727"/>
          <p:cNvSpPr txBox="1"/>
          <p:nvPr/>
        </p:nvSpPr>
        <p:spPr>
          <a:xfrm>
            <a:off x="720713" y="1170000"/>
            <a:ext cx="83940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2A2A2A"/>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2A2A2A"/>
                </a:solidFill>
                <a:highlight>
                  <a:srgbClr val="FFFFFF"/>
                </a:highlight>
                <a:latin typeface="Arial"/>
                <a:ea typeface="Arial"/>
                <a:cs typeface="Arial"/>
                <a:sym typeface="Arial"/>
              </a:rPr>
              <a:t>Therefore x = 21%</a:t>
            </a:r>
            <a:endParaRPr b="0" i="0" sz="1400" u="none" cap="none" strike="noStrike">
              <a:solidFill>
                <a:srgbClr val="000000"/>
              </a:solidFill>
              <a:latin typeface="Arial"/>
              <a:ea typeface="Arial"/>
              <a:cs typeface="Arial"/>
              <a:sym typeface="Arial"/>
            </a:endParaRPr>
          </a:p>
        </p:txBody>
      </p:sp>
      <p:pic>
        <p:nvPicPr>
          <p:cNvPr id="365" name="Google Shape;365;g14337fc5d25_0_727"/>
          <p:cNvPicPr preferRelativeResize="0"/>
          <p:nvPr/>
        </p:nvPicPr>
        <p:blipFill rotWithShape="1">
          <a:blip r:embed="rId3">
            <a:alphaModFix/>
          </a:blip>
          <a:srcRect b="0" l="0" r="0" t="0"/>
          <a:stretch/>
        </p:blipFill>
        <p:spPr>
          <a:xfrm>
            <a:off x="1985825" y="1372300"/>
            <a:ext cx="2047875" cy="1654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5"/>
                                        </p:tgtEl>
                                        <p:attrNameLst>
                                          <p:attrName>style.visibility</p:attrName>
                                        </p:attrNameLst>
                                      </p:cBhvr>
                                      <p:to>
                                        <p:strVal val="visible"/>
                                      </p:to>
                                    </p:set>
                                    <p:anim calcmode="lin" valueType="num">
                                      <p:cBhvr additive="base">
                                        <p:cTn dur="1000"/>
                                        <p:tgtEl>
                                          <p:spTgt spid="36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0" st="0"/>
                                            </p:txEl>
                                          </p:spTgt>
                                        </p:tgtEl>
                                        <p:attrNameLst>
                                          <p:attrName>style.visibility</p:attrName>
                                        </p:attrNameLst>
                                      </p:cBhvr>
                                      <p:to>
                                        <p:strVal val="visible"/>
                                      </p:to>
                                    </p:set>
                                    <p:anim calcmode="lin" valueType="num">
                                      <p:cBhvr additive="base">
                                        <p:cTn dur="1000"/>
                                        <p:tgtEl>
                                          <p:spTgt spid="36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1" st="1"/>
                                            </p:txEl>
                                          </p:spTgt>
                                        </p:tgtEl>
                                        <p:attrNameLst>
                                          <p:attrName>style.visibility</p:attrName>
                                        </p:attrNameLst>
                                      </p:cBhvr>
                                      <p:to>
                                        <p:strVal val="visible"/>
                                      </p:to>
                                    </p:set>
                                    <p:anim calcmode="lin" valueType="num">
                                      <p:cBhvr additive="base">
                                        <p:cTn dur="1000"/>
                                        <p:tgtEl>
                                          <p:spTgt spid="36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2" st="2"/>
                                            </p:txEl>
                                          </p:spTgt>
                                        </p:tgtEl>
                                        <p:attrNameLst>
                                          <p:attrName>style.visibility</p:attrName>
                                        </p:attrNameLst>
                                      </p:cBhvr>
                                      <p:to>
                                        <p:strVal val="visible"/>
                                      </p:to>
                                    </p:set>
                                    <p:anim calcmode="lin" valueType="num">
                                      <p:cBhvr additive="base">
                                        <p:cTn dur="1000"/>
                                        <p:tgtEl>
                                          <p:spTgt spid="36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3" st="3"/>
                                            </p:txEl>
                                          </p:spTgt>
                                        </p:tgtEl>
                                        <p:attrNameLst>
                                          <p:attrName>style.visibility</p:attrName>
                                        </p:attrNameLst>
                                      </p:cBhvr>
                                      <p:to>
                                        <p:strVal val="visible"/>
                                      </p:to>
                                    </p:set>
                                    <p:anim calcmode="lin" valueType="num">
                                      <p:cBhvr additive="base">
                                        <p:cTn dur="1000"/>
                                        <p:tgtEl>
                                          <p:spTgt spid="36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4" st="4"/>
                                            </p:txEl>
                                          </p:spTgt>
                                        </p:tgtEl>
                                        <p:attrNameLst>
                                          <p:attrName>style.visibility</p:attrName>
                                        </p:attrNameLst>
                                      </p:cBhvr>
                                      <p:to>
                                        <p:strVal val="visible"/>
                                      </p:to>
                                    </p:set>
                                    <p:anim calcmode="lin" valueType="num">
                                      <p:cBhvr additive="base">
                                        <p:cTn dur="1000"/>
                                        <p:tgtEl>
                                          <p:spTgt spid="36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5" st="5"/>
                                            </p:txEl>
                                          </p:spTgt>
                                        </p:tgtEl>
                                        <p:attrNameLst>
                                          <p:attrName>style.visibility</p:attrName>
                                        </p:attrNameLst>
                                      </p:cBhvr>
                                      <p:to>
                                        <p:strVal val="visible"/>
                                      </p:to>
                                    </p:set>
                                    <p:anim calcmode="lin" valueType="num">
                                      <p:cBhvr additive="base">
                                        <p:cTn dur="1000"/>
                                        <p:tgtEl>
                                          <p:spTgt spid="36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6" st="6"/>
                                            </p:txEl>
                                          </p:spTgt>
                                        </p:tgtEl>
                                        <p:attrNameLst>
                                          <p:attrName>style.visibility</p:attrName>
                                        </p:attrNameLst>
                                      </p:cBhvr>
                                      <p:to>
                                        <p:strVal val="visible"/>
                                      </p:to>
                                    </p:set>
                                    <p:anim calcmode="lin" valueType="num">
                                      <p:cBhvr additive="base">
                                        <p:cTn dur="1000"/>
                                        <p:tgtEl>
                                          <p:spTgt spid="36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7" st="7"/>
                                            </p:txEl>
                                          </p:spTgt>
                                        </p:tgtEl>
                                        <p:attrNameLst>
                                          <p:attrName>style.visibility</p:attrName>
                                        </p:attrNameLst>
                                      </p:cBhvr>
                                      <p:to>
                                        <p:strVal val="visible"/>
                                      </p:to>
                                    </p:set>
                                    <p:anim calcmode="lin" valueType="num">
                                      <p:cBhvr additive="base">
                                        <p:cTn dur="1000"/>
                                        <p:tgtEl>
                                          <p:spTgt spid="364">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8" st="8"/>
                                            </p:txEl>
                                          </p:spTgt>
                                        </p:tgtEl>
                                        <p:attrNameLst>
                                          <p:attrName>style.visibility</p:attrName>
                                        </p:attrNameLst>
                                      </p:cBhvr>
                                      <p:to>
                                        <p:strVal val="visible"/>
                                      </p:to>
                                    </p:set>
                                    <p:anim calcmode="lin" valueType="num">
                                      <p:cBhvr additive="base">
                                        <p:cTn dur="1000"/>
                                        <p:tgtEl>
                                          <p:spTgt spid="364">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9" st="9"/>
                                            </p:txEl>
                                          </p:spTgt>
                                        </p:tgtEl>
                                        <p:attrNameLst>
                                          <p:attrName>style.visibility</p:attrName>
                                        </p:attrNameLst>
                                      </p:cBhvr>
                                      <p:to>
                                        <p:strVal val="visible"/>
                                      </p:to>
                                    </p:set>
                                    <p:anim calcmode="lin" valueType="num">
                                      <p:cBhvr additive="base">
                                        <p:cTn dur="1000"/>
                                        <p:tgtEl>
                                          <p:spTgt spid="364">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10" st="10"/>
                                            </p:txEl>
                                          </p:spTgt>
                                        </p:tgtEl>
                                        <p:attrNameLst>
                                          <p:attrName>style.visibility</p:attrName>
                                        </p:attrNameLst>
                                      </p:cBhvr>
                                      <p:to>
                                        <p:strVal val="visible"/>
                                      </p:to>
                                    </p:set>
                                    <p:anim calcmode="lin" valueType="num">
                                      <p:cBhvr additive="base">
                                        <p:cTn dur="1000"/>
                                        <p:tgtEl>
                                          <p:spTgt spid="364">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11" st="11"/>
                                            </p:txEl>
                                          </p:spTgt>
                                        </p:tgtEl>
                                        <p:attrNameLst>
                                          <p:attrName>style.visibility</p:attrName>
                                        </p:attrNameLst>
                                      </p:cBhvr>
                                      <p:to>
                                        <p:strVal val="visible"/>
                                      </p:to>
                                    </p:set>
                                    <p:anim calcmode="lin" valueType="num">
                                      <p:cBhvr additive="base">
                                        <p:cTn dur="1000"/>
                                        <p:tgtEl>
                                          <p:spTgt spid="364">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4">
                                            <p:txEl>
                                              <p:pRg end="12" st="12"/>
                                            </p:txEl>
                                          </p:spTgt>
                                        </p:tgtEl>
                                        <p:attrNameLst>
                                          <p:attrName>style.visibility</p:attrName>
                                        </p:attrNameLst>
                                      </p:cBhvr>
                                      <p:to>
                                        <p:strVal val="visible"/>
                                      </p:to>
                                    </p:set>
                                    <p:anim calcmode="lin" valueType="num">
                                      <p:cBhvr additive="base">
                                        <p:cTn dur="1000"/>
                                        <p:tgtEl>
                                          <p:spTgt spid="364">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14337fc5d25_0_735"/>
          <p:cNvSpPr txBox="1"/>
          <p:nvPr/>
        </p:nvSpPr>
        <p:spPr>
          <a:xfrm>
            <a:off x="720000" y="1422449"/>
            <a:ext cx="8472300" cy="2560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400"/>
              <a:buFont typeface="Arial"/>
              <a:buNone/>
            </a:pPr>
            <a:r>
              <a:rPr b="0" i="0" lang="en-GB" sz="1800" u="none" cap="none" strike="noStrike">
                <a:solidFill>
                  <a:srgbClr val="2A2A2A"/>
                </a:solidFill>
                <a:highlight>
                  <a:schemeClr val="lt1"/>
                </a:highlight>
                <a:latin typeface="Roboto"/>
                <a:ea typeface="Roboto"/>
                <a:cs typeface="Roboto"/>
                <a:sym typeface="Roboto"/>
              </a:rPr>
              <a:t>A vessel is filled with liquid, 3 parts of which are water and 5 parts of syrup. How much of the mixture must be drawn off and replaced with water so that the mixture may be half water and half syrup?</a:t>
            </a:r>
            <a:endParaRPr b="0" i="0" sz="18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80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1/3</a:t>
            </a:r>
            <a:endParaRPr b="0" i="0" sz="16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1/4</a:t>
            </a:r>
            <a:endParaRPr b="0" i="0" sz="16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1/5</a:t>
            </a:r>
            <a:endParaRPr b="0" i="0" sz="1600" u="none" cap="none" strike="noStrike">
              <a:solidFill>
                <a:srgbClr val="2A2A2A"/>
              </a:solidFill>
              <a:highlight>
                <a:schemeClr val="lt1"/>
              </a:highlight>
              <a:latin typeface="Roboto"/>
              <a:ea typeface="Roboto"/>
              <a:cs typeface="Roboto"/>
              <a:sym typeface="Roboto"/>
            </a:endParaRPr>
          </a:p>
          <a:p>
            <a:pPr indent="-330200" lvl="0" marL="457200" marR="0" rtl="0" algn="l">
              <a:lnSpc>
                <a:spcPct val="115000"/>
              </a:lnSpc>
              <a:spcBef>
                <a:spcPts val="0"/>
              </a:spcBef>
              <a:spcAft>
                <a:spcPts val="0"/>
              </a:spcAft>
              <a:buClr>
                <a:srgbClr val="2A2A2A"/>
              </a:buClr>
              <a:buSzPts val="1600"/>
              <a:buFont typeface="Roboto"/>
              <a:buAutoNum type="alphaUcPeriod"/>
            </a:pPr>
            <a:r>
              <a:rPr b="0" i="0" lang="en-GB" sz="1600" u="none" cap="none" strike="noStrike">
                <a:solidFill>
                  <a:srgbClr val="2A2A2A"/>
                </a:solidFill>
                <a:highlight>
                  <a:schemeClr val="lt1"/>
                </a:highlight>
                <a:latin typeface="Roboto"/>
                <a:ea typeface="Roboto"/>
                <a:cs typeface="Roboto"/>
                <a:sym typeface="Roboto"/>
              </a:rPr>
              <a:t>1/7</a:t>
            </a:r>
            <a:endParaRPr b="0" i="0" sz="1600" u="none" cap="none" strike="noStrike">
              <a:solidFill>
                <a:srgbClr val="2A2A2A"/>
              </a:solidFill>
              <a:highlight>
                <a:schemeClr val="lt1"/>
              </a:highlight>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371" name="Google Shape;371;g14337fc5d25_0_735"/>
          <p:cNvSpPr txBox="1"/>
          <p:nvPr/>
        </p:nvSpPr>
        <p:spPr>
          <a:xfrm>
            <a:off x="7189450" y="40195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372" name="Google Shape;372;g14337fc5d25_0_73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0">
                                            <p:txEl>
                                              <p:pRg end="0" st="0"/>
                                            </p:txEl>
                                          </p:spTgt>
                                        </p:tgtEl>
                                        <p:attrNameLst>
                                          <p:attrName>style.visibility</p:attrName>
                                        </p:attrNameLst>
                                      </p:cBhvr>
                                      <p:to>
                                        <p:strVal val="visible"/>
                                      </p:to>
                                    </p:set>
                                    <p:anim calcmode="lin" valueType="num">
                                      <p:cBhvr additive="base">
                                        <p:cTn dur="1000"/>
                                        <p:tgtEl>
                                          <p:spTgt spid="37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0">
                                            <p:txEl>
                                              <p:pRg end="1" st="1"/>
                                            </p:txEl>
                                          </p:spTgt>
                                        </p:tgtEl>
                                        <p:attrNameLst>
                                          <p:attrName>style.visibility</p:attrName>
                                        </p:attrNameLst>
                                      </p:cBhvr>
                                      <p:to>
                                        <p:strVal val="visible"/>
                                      </p:to>
                                    </p:set>
                                    <p:anim calcmode="lin" valueType="num">
                                      <p:cBhvr additive="base">
                                        <p:cTn dur="1000"/>
                                        <p:tgtEl>
                                          <p:spTgt spid="37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0">
                                            <p:txEl>
                                              <p:pRg end="2" st="2"/>
                                            </p:txEl>
                                          </p:spTgt>
                                        </p:tgtEl>
                                        <p:attrNameLst>
                                          <p:attrName>style.visibility</p:attrName>
                                        </p:attrNameLst>
                                      </p:cBhvr>
                                      <p:to>
                                        <p:strVal val="visible"/>
                                      </p:to>
                                    </p:set>
                                    <p:anim calcmode="lin" valueType="num">
                                      <p:cBhvr additive="base">
                                        <p:cTn dur="1000"/>
                                        <p:tgtEl>
                                          <p:spTgt spid="37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0">
                                            <p:txEl>
                                              <p:pRg end="3" st="3"/>
                                            </p:txEl>
                                          </p:spTgt>
                                        </p:tgtEl>
                                        <p:attrNameLst>
                                          <p:attrName>style.visibility</p:attrName>
                                        </p:attrNameLst>
                                      </p:cBhvr>
                                      <p:to>
                                        <p:strVal val="visible"/>
                                      </p:to>
                                    </p:set>
                                    <p:anim calcmode="lin" valueType="num">
                                      <p:cBhvr additive="base">
                                        <p:cTn dur="1000"/>
                                        <p:tgtEl>
                                          <p:spTgt spid="37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0">
                                            <p:txEl>
                                              <p:pRg end="4" st="4"/>
                                            </p:txEl>
                                          </p:spTgt>
                                        </p:tgtEl>
                                        <p:attrNameLst>
                                          <p:attrName>style.visibility</p:attrName>
                                        </p:attrNameLst>
                                      </p:cBhvr>
                                      <p:to>
                                        <p:strVal val="visible"/>
                                      </p:to>
                                    </p:set>
                                    <p:anim calcmode="lin" valueType="num">
                                      <p:cBhvr additive="base">
                                        <p:cTn dur="1000"/>
                                        <p:tgtEl>
                                          <p:spTgt spid="37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0">
                                            <p:txEl>
                                              <p:pRg end="5" st="5"/>
                                            </p:txEl>
                                          </p:spTgt>
                                        </p:tgtEl>
                                        <p:attrNameLst>
                                          <p:attrName>style.visibility</p:attrName>
                                        </p:attrNameLst>
                                      </p:cBhvr>
                                      <p:to>
                                        <p:strVal val="visible"/>
                                      </p:to>
                                    </p:set>
                                    <p:anim calcmode="lin" valueType="num">
                                      <p:cBhvr additive="base">
                                        <p:cTn dur="1000"/>
                                        <p:tgtEl>
                                          <p:spTgt spid="37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1">
                                            <p:txEl>
                                              <p:pRg end="0" st="0"/>
                                            </p:txEl>
                                          </p:spTgt>
                                        </p:tgtEl>
                                        <p:attrNameLst>
                                          <p:attrName>style.visibility</p:attrName>
                                        </p:attrNameLst>
                                      </p:cBhvr>
                                      <p:to>
                                        <p:strVal val="visible"/>
                                      </p:to>
                                    </p:set>
                                    <p:anim calcmode="lin" valueType="num">
                                      <p:cBhvr additive="base">
                                        <p:cTn dur="1000"/>
                                        <p:tgtEl>
                                          <p:spTgt spid="37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6" name="Shape 376"/>
        <p:cNvGrpSpPr/>
        <p:nvPr/>
      </p:nvGrpSpPr>
      <p:grpSpPr>
        <a:xfrm>
          <a:off x="0" y="0"/>
          <a:ext cx="0" cy="0"/>
          <a:chOff x="0" y="0"/>
          <a:chExt cx="0" cy="0"/>
        </a:xfrm>
      </p:grpSpPr>
      <p:sp>
        <p:nvSpPr>
          <p:cNvPr id="377" name="Google Shape;377;g14337fc5d25_0_743"/>
          <p:cNvSpPr txBox="1"/>
          <p:nvPr/>
        </p:nvSpPr>
        <p:spPr>
          <a:xfrm>
            <a:off x="270328" y="8645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378" name="Google Shape;378;g14337fc5d25_0_743"/>
          <p:cNvSpPr txBox="1"/>
          <p:nvPr/>
        </p:nvSpPr>
        <p:spPr>
          <a:xfrm>
            <a:off x="720725" y="1372300"/>
            <a:ext cx="7166100" cy="2672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rgbClr val="2A2A2A"/>
                </a:solidFill>
                <a:highlight>
                  <a:schemeClr val="lt1"/>
                </a:highlight>
                <a:latin typeface="Arial"/>
                <a:ea typeface="Arial"/>
                <a:cs typeface="Arial"/>
                <a:sym typeface="Arial"/>
              </a:rPr>
              <a:t>Suppose the vessel initially contains 8 litres of liquid.</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rgbClr val="2A2A2A"/>
                </a:solidFill>
                <a:highlight>
                  <a:schemeClr val="lt1"/>
                </a:highlight>
                <a:latin typeface="Arial"/>
                <a:ea typeface="Arial"/>
                <a:cs typeface="Arial"/>
                <a:sym typeface="Arial"/>
              </a:rPr>
              <a:t>Let x litres of this liquid be replaced with water.</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rgbClr val="2A2A2A"/>
                </a:solidFill>
                <a:highlight>
                  <a:schemeClr val="lt1"/>
                </a:highlight>
                <a:latin typeface="Arial"/>
                <a:ea typeface="Arial"/>
                <a:cs typeface="Arial"/>
                <a:sym typeface="Arial"/>
              </a:rPr>
              <a:t>Quantity of water in new mixture =(3-(3X/8)+X)litres</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rgbClr val="2A2A2A"/>
                </a:solidFill>
                <a:highlight>
                  <a:schemeClr val="lt1"/>
                </a:highlight>
                <a:latin typeface="Arial"/>
                <a:ea typeface="Arial"/>
                <a:cs typeface="Arial"/>
                <a:sym typeface="Arial"/>
              </a:rPr>
              <a:t>Quantity of syrup in new mixture =(5-(5X/8))litres</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rPr b="0" i="0" lang="en-GB" sz="1400" u="none" cap="none" strike="noStrike">
                <a:solidFill>
                  <a:srgbClr val="2A2A2A"/>
                </a:solidFill>
                <a:highlight>
                  <a:schemeClr val="lt1"/>
                </a:highlight>
                <a:latin typeface="Arial"/>
                <a:ea typeface="Arial"/>
                <a:cs typeface="Arial"/>
                <a:sym typeface="Arial"/>
              </a:rPr>
              <a:t>(3-(3X/8)+X)= (5-(5X/8))</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56250"/>
              </a:lnSpc>
              <a:spcBef>
                <a:spcPts val="0"/>
              </a:spcBef>
              <a:spcAft>
                <a:spcPts val="0"/>
              </a:spcAft>
              <a:buClr>
                <a:schemeClr val="dk1"/>
              </a:buClr>
              <a:buSzPts val="1400"/>
              <a:buFont typeface="Arial"/>
              <a:buNone/>
            </a:pPr>
            <a:r>
              <a:rPr b="0" i="0" lang="en-GB" sz="1400" u="none" cap="none" strike="noStrike">
                <a:solidFill>
                  <a:srgbClr val="2A2A2A"/>
                </a:solidFill>
                <a:highlight>
                  <a:schemeClr val="lt1"/>
                </a:highlight>
                <a:latin typeface="Arial"/>
                <a:ea typeface="Arial"/>
                <a:cs typeface="Arial"/>
                <a:sym typeface="Arial"/>
              </a:rPr>
              <a:t>=&gt;   5x + 24 = 40 - 5x </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56250"/>
              </a:lnSpc>
              <a:spcBef>
                <a:spcPts val="0"/>
              </a:spcBef>
              <a:spcAft>
                <a:spcPts val="0"/>
              </a:spcAft>
              <a:buClr>
                <a:schemeClr val="dk1"/>
              </a:buClr>
              <a:buSzPts val="1400"/>
              <a:buFont typeface="Arial"/>
              <a:buNone/>
            </a:pPr>
            <a:r>
              <a:rPr b="0" i="0" lang="en-GB" sz="1400" u="none" cap="none" strike="noStrike">
                <a:solidFill>
                  <a:srgbClr val="2A2A2A"/>
                </a:solidFill>
                <a:highlight>
                  <a:schemeClr val="lt1"/>
                </a:highlight>
                <a:latin typeface="Arial"/>
                <a:ea typeface="Arial"/>
                <a:cs typeface="Arial"/>
                <a:sym typeface="Arial"/>
              </a:rPr>
              <a:t>=&gt;   10x = 16    =&gt; x = 8/5</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56250"/>
              </a:lnSpc>
              <a:spcBef>
                <a:spcPts val="0"/>
              </a:spcBef>
              <a:spcAft>
                <a:spcPts val="0"/>
              </a:spcAft>
              <a:buClr>
                <a:schemeClr val="dk1"/>
              </a:buClr>
              <a:buSzPts val="1400"/>
              <a:buFont typeface="Arial"/>
              <a:buNone/>
            </a:pPr>
            <a:r>
              <a:rPr b="0" i="0" lang="en-GB" sz="1400" u="none" cap="none" strike="noStrike">
                <a:solidFill>
                  <a:srgbClr val="2A2A2A"/>
                </a:solidFill>
                <a:highlight>
                  <a:schemeClr val="lt1"/>
                </a:highlight>
                <a:latin typeface="Arial"/>
                <a:ea typeface="Arial"/>
                <a:cs typeface="Arial"/>
                <a:sym typeface="Arial"/>
              </a:rPr>
              <a:t>So, part of the mixture replaced = (8/5 * 1/8)=1/5</a:t>
            </a:r>
            <a:endParaRPr b="0" i="0" sz="1400" u="none" cap="none" strike="noStrike">
              <a:solidFill>
                <a:srgbClr val="2A2A2A"/>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2A2A2A"/>
              </a:solidFill>
              <a:highlight>
                <a:schemeClr val="lt1"/>
              </a:highlight>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2A2A2A"/>
              </a:solidFill>
              <a:highlight>
                <a:schemeClr val="lt1"/>
              </a:highlight>
              <a:latin typeface="Roboto"/>
              <a:ea typeface="Roboto"/>
              <a:cs typeface="Roboto"/>
              <a:sym typeface="Roboto"/>
            </a:endParaRPr>
          </a:p>
        </p:txBody>
      </p:sp>
      <p:sp>
        <p:nvSpPr>
          <p:cNvPr id="379" name="Google Shape;379;g14337fc5d25_0_74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8">
                                            <p:txEl>
                                              <p:pRg end="0" st="0"/>
                                            </p:txEl>
                                          </p:spTgt>
                                        </p:tgtEl>
                                        <p:attrNameLst>
                                          <p:attrName>style.visibility</p:attrName>
                                        </p:attrNameLst>
                                      </p:cBhvr>
                                      <p:to>
                                        <p:strVal val="visible"/>
                                      </p:to>
                                    </p:set>
                                    <p:anim calcmode="lin" valueType="num">
                                      <p:cBhvr additive="base">
                                        <p:cTn dur="1000"/>
                                        <p:tgtEl>
                                          <p:spTgt spid="37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8">
                                            <p:txEl>
                                              <p:pRg end="1" st="1"/>
                                            </p:txEl>
                                          </p:spTgt>
                                        </p:tgtEl>
                                        <p:attrNameLst>
                                          <p:attrName>style.visibility</p:attrName>
                                        </p:attrNameLst>
                                      </p:cBhvr>
                                      <p:to>
                                        <p:strVal val="visible"/>
                                      </p:to>
                                    </p:set>
                                    <p:anim calcmode="lin" valueType="num">
                                      <p:cBhvr additive="base">
                                        <p:cTn dur="1000"/>
                                        <p:tgtEl>
                                          <p:spTgt spid="37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8">
                                            <p:txEl>
                                              <p:pRg end="2" st="2"/>
                                            </p:txEl>
                                          </p:spTgt>
                                        </p:tgtEl>
                                        <p:attrNameLst>
                                          <p:attrName>style.visibility</p:attrName>
                                        </p:attrNameLst>
                                      </p:cBhvr>
                                      <p:to>
                                        <p:strVal val="visible"/>
                                      </p:to>
                                    </p:set>
                                    <p:anim calcmode="lin" valueType="num">
                                      <p:cBhvr additive="base">
                                        <p:cTn dur="1000"/>
                                        <p:tgtEl>
                                          <p:spTgt spid="37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8">
                                            <p:txEl>
                                              <p:pRg end="3" st="3"/>
                                            </p:txEl>
                                          </p:spTgt>
                                        </p:tgtEl>
                                        <p:attrNameLst>
                                          <p:attrName>style.visibility</p:attrName>
                                        </p:attrNameLst>
                                      </p:cBhvr>
                                      <p:to>
                                        <p:strVal val="visible"/>
                                      </p:to>
                                    </p:set>
                                    <p:anim calcmode="lin" valueType="num">
                                      <p:cBhvr additive="base">
                                        <p:cTn dur="1000"/>
                                        <p:tgtEl>
                                          <p:spTgt spid="37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8">
                                            <p:txEl>
                                              <p:pRg end="4" st="4"/>
                                            </p:txEl>
                                          </p:spTgt>
                                        </p:tgtEl>
                                        <p:attrNameLst>
                                          <p:attrName>style.visibility</p:attrName>
                                        </p:attrNameLst>
                                      </p:cBhvr>
                                      <p:to>
                                        <p:strVal val="visible"/>
                                      </p:to>
                                    </p:set>
                                    <p:anim calcmode="lin" valueType="num">
                                      <p:cBhvr additive="base">
                                        <p:cTn dur="1000"/>
                                        <p:tgtEl>
                                          <p:spTgt spid="37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8">
                                            <p:txEl>
                                              <p:pRg end="5" st="5"/>
                                            </p:txEl>
                                          </p:spTgt>
                                        </p:tgtEl>
                                        <p:attrNameLst>
                                          <p:attrName>style.visibility</p:attrName>
                                        </p:attrNameLst>
                                      </p:cBhvr>
                                      <p:to>
                                        <p:strVal val="visible"/>
                                      </p:to>
                                    </p:set>
                                    <p:anim calcmode="lin" valueType="num">
                                      <p:cBhvr additive="base">
                                        <p:cTn dur="1000"/>
                                        <p:tgtEl>
                                          <p:spTgt spid="37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8">
                                            <p:txEl>
                                              <p:pRg end="6" st="6"/>
                                            </p:txEl>
                                          </p:spTgt>
                                        </p:tgtEl>
                                        <p:attrNameLst>
                                          <p:attrName>style.visibility</p:attrName>
                                        </p:attrNameLst>
                                      </p:cBhvr>
                                      <p:to>
                                        <p:strVal val="visible"/>
                                      </p:to>
                                    </p:set>
                                    <p:anim calcmode="lin" valueType="num">
                                      <p:cBhvr additive="base">
                                        <p:cTn dur="1000"/>
                                        <p:tgtEl>
                                          <p:spTgt spid="37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8">
                                            <p:txEl>
                                              <p:pRg end="7" st="7"/>
                                            </p:txEl>
                                          </p:spTgt>
                                        </p:tgtEl>
                                        <p:attrNameLst>
                                          <p:attrName>style.visibility</p:attrName>
                                        </p:attrNameLst>
                                      </p:cBhvr>
                                      <p:to>
                                        <p:strVal val="visible"/>
                                      </p:to>
                                    </p:set>
                                    <p:anim calcmode="lin" valueType="num">
                                      <p:cBhvr additive="base">
                                        <p:cTn dur="1000"/>
                                        <p:tgtEl>
                                          <p:spTgt spid="378">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8">
                                            <p:txEl>
                                              <p:pRg end="8" st="8"/>
                                            </p:txEl>
                                          </p:spTgt>
                                        </p:tgtEl>
                                        <p:attrNameLst>
                                          <p:attrName>style.visibility</p:attrName>
                                        </p:attrNameLst>
                                      </p:cBhvr>
                                      <p:to>
                                        <p:strVal val="visible"/>
                                      </p:to>
                                    </p:set>
                                    <p:anim calcmode="lin" valueType="num">
                                      <p:cBhvr additive="base">
                                        <p:cTn dur="1000"/>
                                        <p:tgtEl>
                                          <p:spTgt spid="378">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78">
                                            <p:txEl>
                                              <p:pRg end="9" st="9"/>
                                            </p:txEl>
                                          </p:spTgt>
                                        </p:tgtEl>
                                        <p:attrNameLst>
                                          <p:attrName>style.visibility</p:attrName>
                                        </p:attrNameLst>
                                      </p:cBhvr>
                                      <p:to>
                                        <p:strVal val="visible"/>
                                      </p:to>
                                    </p:set>
                                    <p:anim calcmode="lin" valueType="num">
                                      <p:cBhvr additive="base">
                                        <p:cTn dur="1000"/>
                                        <p:tgtEl>
                                          <p:spTgt spid="378">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85" name="Google Shape;385;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386" name="Google Shape;386;p4"/>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000"/>
                                        <p:tgtEl>
                                          <p:spTgt spid="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1000"/>
                                        <p:tgtEl>
                                          <p:spTgt spid="3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92" name="Google Shape;392;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93" name="Google Shape;393;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94" name="Google Shape;394;p5"/>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95" name="Google Shape;395;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96" name="Google Shape;396;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97" name="Google Shape;397;p5"/>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98" name="Google Shape;398;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99" name="Google Shape;399;p5"/>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400" name="Google Shape;400;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401" name="Google Shape;401;p5"/>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402" name="Google Shape;402;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