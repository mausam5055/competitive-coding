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 id="2147483673" r:id="rId6"/>
    <p:sldMasterId id="2147483685" r:id="rId7"/>
    <p:sldMasterId id="2147483697"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Lst>
  <p:sldSz cy="5143500" cx="9144000"/>
  <p:notesSz cx="6858000" cy="9144000"/>
  <p:embeddedFontLst>
    <p:embeddedFont>
      <p:font typeface="Roboto"/>
      <p:regular r:id="rId43"/>
      <p:bold r:id="rId44"/>
      <p:italic r:id="rId45"/>
      <p:boldItalic r:id="rId46"/>
    </p:embeddedFont>
    <p:embeddedFont>
      <p:font typeface="Roboto Medium"/>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222">
          <p15:clr>
            <a:srgbClr val="9AA0A6"/>
          </p15:clr>
        </p15:guide>
        <p15:guide id="2" orient="horz" pos="2755">
          <p15:clr>
            <a:srgbClr val="9AA0A6"/>
          </p15:clr>
        </p15:guide>
        <p15:guide id="3" orient="horz" pos="776">
          <p15:clr>
            <a:srgbClr val="9AA0A6"/>
          </p15:clr>
        </p15:guide>
        <p15:guide id="4" pos="206">
          <p15:clr>
            <a:srgbClr val="9AA0A6"/>
          </p15:clr>
        </p15:guide>
        <p15:guide id="5" pos="5553">
          <p15:clr>
            <a:srgbClr val="9AA0A6"/>
          </p15:clr>
        </p15:guide>
        <p15:guide id="6" orient="horz" pos="914">
          <p15:clr>
            <a:srgbClr val="9AA0A6"/>
          </p15:clr>
        </p15:guide>
        <p15:guide id="7" orient="horz" pos="2451">
          <p15:clr>
            <a:srgbClr val="9AA0A6"/>
          </p15:clr>
        </p15:guide>
        <p15:guide id="8" pos="871">
          <p15:clr>
            <a:srgbClr val="9AA0A6"/>
          </p15:clr>
        </p15:guide>
        <p15:guide id="9" pos="2880">
          <p15:clr>
            <a:srgbClr val="9AA0A6"/>
          </p15:clr>
        </p15:guide>
        <p15:guide id="10" pos="4909">
          <p15:clr>
            <a:srgbClr val="9AA0A6"/>
          </p15:clr>
        </p15:guide>
        <p15:guide id="11" orient="horz" pos="2193">
          <p15:clr>
            <a:srgbClr val="9AA0A6"/>
          </p15:clr>
        </p15:guide>
      </p15:sldGuideLst>
    </p:ext>
    <p:ext uri="GoogleSlidesCustomDataVersion2">
      <go:slidesCustomData xmlns:go="http://customooxmlschemas.google.com/" r:id="rId51" roundtripDataSignature="AMtx7mj7SGH5rtdi8/Mybe7m/On96g84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222"/>
        <p:guide pos="2755" orient="horz"/>
        <p:guide pos="776" orient="horz"/>
        <p:guide pos="206"/>
        <p:guide pos="5553"/>
        <p:guide pos="914" orient="horz"/>
        <p:guide pos="2451" orient="horz"/>
        <p:guide pos="871"/>
        <p:guide pos="2880"/>
        <p:guide pos="4909"/>
        <p:guide pos="2193"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font" Target="fonts/Roboto-bold.fntdata"/><Relationship Id="rId43" Type="http://schemas.openxmlformats.org/officeDocument/2006/relationships/font" Target="fonts/Roboto-regular.fntdata"/><Relationship Id="rId46" Type="http://schemas.openxmlformats.org/officeDocument/2006/relationships/font" Target="fonts/Roboto-boldItalic.fntdata"/><Relationship Id="rId45" Type="http://schemas.openxmlformats.org/officeDocument/2006/relationships/font" Target="fonts/Roboto-italic.fntdata"/><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48" Type="http://schemas.openxmlformats.org/officeDocument/2006/relationships/font" Target="fonts/RobotoMedium-bold.fntdata"/><Relationship Id="rId47" Type="http://schemas.openxmlformats.org/officeDocument/2006/relationships/font" Target="fonts/RobotoMedium-regular.fntdata"/><Relationship Id="rId49" Type="http://schemas.openxmlformats.org/officeDocument/2006/relationships/font" Target="fonts/RobotoMedium-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22.xml"/><Relationship Id="rId30" Type="http://schemas.openxmlformats.org/officeDocument/2006/relationships/slide" Target="slides/slide21.xml"/><Relationship Id="rId33" Type="http://schemas.openxmlformats.org/officeDocument/2006/relationships/slide" Target="slides/slide24.xml"/><Relationship Id="rId32" Type="http://schemas.openxmlformats.org/officeDocument/2006/relationships/slide" Target="slides/slide23.xml"/><Relationship Id="rId35" Type="http://schemas.openxmlformats.org/officeDocument/2006/relationships/slide" Target="slides/slide26.xml"/><Relationship Id="rId34" Type="http://schemas.openxmlformats.org/officeDocument/2006/relationships/slide" Target="slides/slide25.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20" Type="http://schemas.openxmlformats.org/officeDocument/2006/relationships/slide" Target="slides/slide11.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51" Type="http://customschemas.google.com/relationships/presentationmetadata" Target="metadata"/><Relationship Id="rId50" Type="http://schemas.openxmlformats.org/officeDocument/2006/relationships/font" Target="fonts/RobotoMedium-boldItalic.fntdata"/><Relationship Id="rId11" Type="http://schemas.openxmlformats.org/officeDocument/2006/relationships/slide" Target="slides/slide2.xml"/><Relationship Id="rId10" Type="http://schemas.openxmlformats.org/officeDocument/2006/relationships/slide" Target="slides/slide1.xml"/><Relationship Id="rId13" Type="http://schemas.openxmlformats.org/officeDocument/2006/relationships/slide" Target="slides/slide4.xml"/><Relationship Id="rId12" Type="http://schemas.openxmlformats.org/officeDocument/2006/relationships/slide" Target="slides/slide3.xml"/><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In simple terms, a root word is a complete word that you can't break down any further.</a:t>
            </a:r>
            <a:endParaRPr/>
          </a:p>
          <a:p>
            <a:pPr indent="0" lvl="0" marL="0" rtl="0" algn="l">
              <a:lnSpc>
                <a:spcPct val="100000"/>
              </a:lnSpc>
              <a:spcBef>
                <a:spcPts val="0"/>
              </a:spcBef>
              <a:spcAft>
                <a:spcPts val="0"/>
              </a:spcAft>
              <a:buSzPts val="1100"/>
              <a:buNone/>
            </a:pPr>
            <a:r>
              <a:rPr lang="en-GB"/>
              <a:t>Adding prefixes (strings of letters added to the front of a word) and suffixes (strings of letters added to the end of a word) can change the meaning of a root word in English. Words such as act, form and legal are among the most common root words in English that we use in everyday conversations. Unlike suffixes and prefixes, root words in the English language can stand alone.</a:t>
            </a:r>
            <a:endParaRPr/>
          </a:p>
          <a:p>
            <a:pPr indent="0" lvl="0" marL="0" rtl="0" algn="l">
              <a:lnSpc>
                <a:spcPct val="100000"/>
              </a:lnSpc>
              <a:spcBef>
                <a:spcPts val="0"/>
              </a:spcBef>
              <a:spcAft>
                <a:spcPts val="0"/>
              </a:spcAft>
              <a:buSzPts val="1100"/>
              <a:buNone/>
            </a:pPr>
            <a:r>
              <a:rPr lang="en-GB"/>
              <a:t>We use root words every day, even if we don't realise it! Root words are simply words that are used (written or spoken) that do not have an additional prefix or suffix added to the end or beginning of them. In traditional root words, these words come from Latin and Greek words, and typically do not stand alone as a complete word. Understanding the meanings of common root words can help you work out the meanings of new words as you encounter them.</a:t>
            </a:r>
            <a:endParaRPr/>
          </a:p>
          <a:p>
            <a:pPr indent="0" lvl="0" marL="0" rtl="0" algn="l">
              <a:lnSpc>
                <a:spcPct val="100000"/>
              </a:lnSpc>
              <a:spcBef>
                <a:spcPts val="0"/>
              </a:spcBef>
              <a:spcAft>
                <a:spcPts val="0"/>
              </a:spcAft>
              <a:buSzPts val="1100"/>
              <a:buNone/>
            </a:pPr>
            <a:r>
              <a:t/>
            </a:r>
            <a:endParaRPr/>
          </a:p>
          <a:p>
            <a:pPr indent="-457200" lvl="0" marL="457200" rtl="0" algn="l">
              <a:lnSpc>
                <a:spcPct val="100000"/>
              </a:lnSpc>
              <a:spcBef>
                <a:spcPts val="0"/>
              </a:spcBef>
              <a:spcAft>
                <a:spcPts val="800"/>
              </a:spcAft>
              <a:buClr>
                <a:schemeClr val="dk1"/>
              </a:buClr>
              <a:buSzPts val="1100"/>
              <a:buFont typeface="Arial"/>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9d04df4417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g19d04df441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marR="0" rtl="0" algn="l">
              <a:lnSpc>
                <a:spcPct val="100000"/>
              </a:lnSpc>
              <a:spcBef>
                <a:spcPts val="0"/>
              </a:spcBef>
              <a:spcAft>
                <a:spcPts val="0"/>
              </a:spcAft>
              <a:buClr>
                <a:schemeClr val="dk1"/>
              </a:buClr>
              <a:buSzPts val="1100"/>
              <a:buFont typeface="Arial"/>
              <a:buNone/>
            </a:pPr>
            <a:r>
              <a:rPr lang="en-GB" sz="1100">
                <a:solidFill>
                  <a:srgbClr val="30353D"/>
                </a:solidFill>
              </a:rPr>
              <a:t>Interaction with others is a routine job of businesses in today’s world. </a:t>
            </a:r>
            <a:endParaRPr/>
          </a:p>
          <a:p>
            <a:pPr indent="-457200" lvl="0" marL="457200" rtl="0" algn="l">
              <a:lnSpc>
                <a:spcPct val="100000"/>
              </a:lnSpc>
              <a:spcBef>
                <a:spcPts val="800"/>
              </a:spcBef>
              <a:spcAft>
                <a:spcPts val="800"/>
              </a:spcAft>
              <a:buClr>
                <a:schemeClr val="dk1"/>
              </a:buClr>
              <a:buSzPts val="1100"/>
              <a:buFont typeface="Arial"/>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19d04df4417_0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g19d04df4417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marR="0" rtl="0" algn="l">
              <a:lnSpc>
                <a:spcPct val="100000"/>
              </a:lnSpc>
              <a:spcBef>
                <a:spcPts val="0"/>
              </a:spcBef>
              <a:spcAft>
                <a:spcPts val="0"/>
              </a:spcAft>
              <a:buClr>
                <a:schemeClr val="dk1"/>
              </a:buClr>
              <a:buSzPts val="1100"/>
              <a:buFont typeface="Arial"/>
              <a:buNone/>
            </a:pPr>
            <a:r>
              <a:rPr lang="en-GB"/>
              <a:t>Base words are similar to root words, but they are not exactly the same. A base word is a standalone English word that can also form other words by using prefixes and suffixes (whereas, root words cannot always be used as an independent word). When a prefix or suffix is added to a base word, the word's meaning changes and a new word is formed.</a:t>
            </a:r>
            <a:endParaRPr/>
          </a:p>
          <a:p>
            <a:pPr indent="-457200" lvl="0" marL="457200" rtl="0" algn="l">
              <a:lnSpc>
                <a:spcPct val="100000"/>
              </a:lnSpc>
              <a:spcBef>
                <a:spcPts val="800"/>
              </a:spcBef>
              <a:spcAft>
                <a:spcPts val="800"/>
              </a:spcAft>
              <a:buClr>
                <a:schemeClr val="dk1"/>
              </a:buClr>
              <a:buSzPts val="1100"/>
              <a:buFont typeface="Arial"/>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19d04df4417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g19d04df4417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150">
                <a:solidFill>
                  <a:srgbClr val="232629"/>
                </a:solidFill>
                <a:highlight>
                  <a:srgbClr val="FFFFFF"/>
                </a:highlight>
                <a:latin typeface="Georgia"/>
                <a:ea typeface="Georgia"/>
                <a:cs typeface="Georgia"/>
                <a:sym typeface="Georgia"/>
              </a:rPr>
              <a:t>The answer you link to says the minute hand gains </a:t>
            </a:r>
            <a:endParaRPr sz="1150">
              <a:solidFill>
                <a:srgbClr val="232629"/>
              </a:solidFill>
              <a:highlight>
                <a:srgbClr val="FFFFFF"/>
              </a:highlight>
              <a:latin typeface="Georgia"/>
              <a:ea typeface="Georgia"/>
              <a:cs typeface="Georgia"/>
              <a:sym typeface="Georgia"/>
            </a:endParaRPr>
          </a:p>
          <a:p>
            <a:pPr indent="0" lvl="0" marL="0" rtl="0" algn="l">
              <a:lnSpc>
                <a:spcPct val="115000"/>
              </a:lnSpc>
              <a:spcBef>
                <a:spcPts val="0"/>
              </a:spcBef>
              <a:spcAft>
                <a:spcPts val="0"/>
              </a:spcAft>
              <a:buClr>
                <a:schemeClr val="dk1"/>
              </a:buClr>
              <a:buSzPts val="1100"/>
              <a:buFont typeface="Arial"/>
              <a:buNone/>
            </a:pPr>
            <a:r>
              <a:rPr lang="en-GB" sz="1250">
                <a:solidFill>
                  <a:srgbClr val="232629"/>
                </a:solidFill>
                <a:highlight>
                  <a:srgbClr val="FFFFFF"/>
                </a:highlight>
                <a:latin typeface="Georgia"/>
                <a:ea typeface="Georgia"/>
                <a:cs typeface="Georgia"/>
                <a:sym typeface="Georgia"/>
              </a:rPr>
              <a:t>55</a:t>
            </a:r>
            <a:endParaRPr sz="1250">
              <a:solidFill>
                <a:srgbClr val="232629"/>
              </a:solidFill>
              <a:highlight>
                <a:srgbClr val="FFFFFF"/>
              </a:highlight>
              <a:latin typeface="Georgia"/>
              <a:ea typeface="Georgia"/>
              <a:cs typeface="Georgia"/>
              <a:sym typeface="Georgia"/>
            </a:endParaRPr>
          </a:p>
          <a:p>
            <a:pPr indent="0" lvl="0" marL="0" rtl="0" algn="l">
              <a:lnSpc>
                <a:spcPct val="115000"/>
              </a:lnSpc>
              <a:spcBef>
                <a:spcPts val="0"/>
              </a:spcBef>
              <a:spcAft>
                <a:spcPts val="0"/>
              </a:spcAft>
              <a:buClr>
                <a:schemeClr val="dk1"/>
              </a:buClr>
              <a:buSzPts val="1100"/>
              <a:buFont typeface="Arial"/>
              <a:buNone/>
            </a:pPr>
            <a:r>
              <a:rPr lang="en-GB" sz="1150">
                <a:solidFill>
                  <a:srgbClr val="232629"/>
                </a:solidFill>
                <a:highlight>
                  <a:srgbClr val="FFFFFF"/>
                </a:highlight>
                <a:latin typeface="Georgia"/>
                <a:ea typeface="Georgia"/>
                <a:cs typeface="Georgia"/>
                <a:sym typeface="Georgia"/>
              </a:rPr>
              <a:t>55 minutes on the hour hand, not the other way around. As you say, in one hour the minute hand moves</a:t>
            </a:r>
            <a:endParaRPr sz="900">
              <a:solidFill>
                <a:srgbClr val="232629"/>
              </a:solidFill>
              <a:highlight>
                <a:srgbClr val="FFFFFF"/>
              </a:highlight>
              <a:latin typeface="Georgia"/>
              <a:ea typeface="Georgia"/>
              <a:cs typeface="Georgia"/>
              <a:sym typeface="Georgia"/>
            </a:endParaRPr>
          </a:p>
          <a:p>
            <a:pPr indent="0" lvl="0" marL="0" rtl="0" algn="l">
              <a:lnSpc>
                <a:spcPct val="115000"/>
              </a:lnSpc>
              <a:spcBef>
                <a:spcPts val="0"/>
              </a:spcBef>
              <a:spcAft>
                <a:spcPts val="0"/>
              </a:spcAft>
              <a:buClr>
                <a:schemeClr val="dk1"/>
              </a:buClr>
              <a:buSzPts val="1100"/>
              <a:buFont typeface="Arial"/>
              <a:buNone/>
            </a:pPr>
            <a:r>
              <a:rPr lang="en-GB" sz="1150">
                <a:solidFill>
                  <a:srgbClr val="232629"/>
                </a:solidFill>
                <a:highlight>
                  <a:srgbClr val="FFFFFF"/>
                </a:highlight>
                <a:latin typeface="Georgia"/>
                <a:ea typeface="Georgia"/>
                <a:cs typeface="Georgia"/>
                <a:sym typeface="Georgia"/>
              </a:rPr>
              <a:t>360∘, which the answer calls </a:t>
            </a:r>
            <a:endParaRPr sz="1250">
              <a:solidFill>
                <a:srgbClr val="232629"/>
              </a:solidFill>
              <a:highlight>
                <a:srgbClr val="FFFFFF"/>
              </a:highlight>
              <a:latin typeface="Georgia"/>
              <a:ea typeface="Georgia"/>
              <a:cs typeface="Georgia"/>
              <a:sym typeface="Georgia"/>
            </a:endParaRPr>
          </a:p>
          <a:p>
            <a:pPr indent="0" lvl="0" marL="0" rtl="0" algn="l">
              <a:lnSpc>
                <a:spcPct val="115000"/>
              </a:lnSpc>
              <a:spcBef>
                <a:spcPts val="0"/>
              </a:spcBef>
              <a:spcAft>
                <a:spcPts val="0"/>
              </a:spcAft>
              <a:buClr>
                <a:schemeClr val="dk1"/>
              </a:buClr>
              <a:buSzPts val="1100"/>
              <a:buFont typeface="Arial"/>
              <a:buNone/>
            </a:pPr>
            <a:r>
              <a:rPr lang="en-GB" sz="1150">
                <a:solidFill>
                  <a:srgbClr val="232629"/>
                </a:solidFill>
                <a:highlight>
                  <a:srgbClr val="FFFFFF"/>
                </a:highlight>
                <a:latin typeface="Georgia"/>
                <a:ea typeface="Georgia"/>
                <a:cs typeface="Georgia"/>
                <a:sym typeface="Georgia"/>
              </a:rPr>
              <a:t>60 minutes. In one hour, the hour hand moves </a:t>
            </a:r>
            <a:endParaRPr sz="1150">
              <a:solidFill>
                <a:srgbClr val="232629"/>
              </a:solidFill>
              <a:highlight>
                <a:srgbClr val="FFFFFF"/>
              </a:highlight>
              <a:latin typeface="Georgia"/>
              <a:ea typeface="Georgia"/>
              <a:cs typeface="Georgia"/>
              <a:sym typeface="Georgia"/>
            </a:endParaRPr>
          </a:p>
          <a:p>
            <a:pPr indent="0" lvl="0" marL="0" rtl="0" algn="l">
              <a:lnSpc>
                <a:spcPct val="115000"/>
              </a:lnSpc>
              <a:spcBef>
                <a:spcPts val="0"/>
              </a:spcBef>
              <a:spcAft>
                <a:spcPts val="0"/>
              </a:spcAft>
              <a:buClr>
                <a:schemeClr val="dk1"/>
              </a:buClr>
              <a:buSzPts val="1100"/>
              <a:buFont typeface="Arial"/>
              <a:buNone/>
            </a:pPr>
            <a:r>
              <a:t/>
            </a:r>
            <a:endParaRPr sz="900">
              <a:solidFill>
                <a:srgbClr val="232629"/>
              </a:solidFill>
              <a:highlight>
                <a:srgbClr val="FFFFFF"/>
              </a:highlight>
              <a:latin typeface="Georgia"/>
              <a:ea typeface="Georgia"/>
              <a:cs typeface="Georgia"/>
              <a:sym typeface="Georgia"/>
            </a:endParaRPr>
          </a:p>
          <a:p>
            <a:pPr indent="0" lvl="0" marL="0" rtl="0" algn="l">
              <a:lnSpc>
                <a:spcPct val="115000"/>
              </a:lnSpc>
              <a:spcBef>
                <a:spcPts val="0"/>
              </a:spcBef>
              <a:spcAft>
                <a:spcPts val="0"/>
              </a:spcAft>
              <a:buClr>
                <a:schemeClr val="dk1"/>
              </a:buClr>
              <a:buSzPts val="1100"/>
              <a:buFont typeface="Arial"/>
              <a:buNone/>
            </a:pPr>
            <a:r>
              <a:rPr lang="en-GB" sz="1150">
                <a:solidFill>
                  <a:srgbClr val="232629"/>
                </a:solidFill>
                <a:highlight>
                  <a:srgbClr val="FFFFFF"/>
                </a:highlight>
                <a:latin typeface="Georgia"/>
                <a:ea typeface="Georgia"/>
                <a:cs typeface="Georgia"/>
                <a:sym typeface="Georgia"/>
              </a:rPr>
              <a:t>30∘, so the minute hand gains </a:t>
            </a:r>
            <a:endParaRPr sz="1250">
              <a:solidFill>
                <a:srgbClr val="232629"/>
              </a:solidFill>
              <a:highlight>
                <a:srgbClr val="FFFFFF"/>
              </a:highlight>
              <a:latin typeface="Georgia"/>
              <a:ea typeface="Georgia"/>
              <a:cs typeface="Georgia"/>
              <a:sym typeface="Georgia"/>
            </a:endParaRPr>
          </a:p>
          <a:p>
            <a:pPr indent="-457200" lvl="0" marL="457200" rtl="0" algn="l">
              <a:lnSpc>
                <a:spcPct val="100000"/>
              </a:lnSpc>
              <a:spcBef>
                <a:spcPts val="0"/>
              </a:spcBef>
              <a:spcAft>
                <a:spcPts val="800"/>
              </a:spcAft>
              <a:buClr>
                <a:schemeClr val="dk1"/>
              </a:buClr>
              <a:buSzPts val="1100"/>
              <a:buFont typeface="Arial"/>
              <a:buNone/>
            </a:pPr>
            <a:r>
              <a:rPr lang="en-GB" sz="1150">
                <a:solidFill>
                  <a:srgbClr val="232629"/>
                </a:solidFill>
                <a:highlight>
                  <a:srgbClr val="FFFFFF"/>
                </a:highlight>
                <a:latin typeface="Georgia"/>
                <a:ea typeface="Georgia"/>
                <a:cs typeface="Georgia"/>
                <a:sym typeface="Georgia"/>
              </a:rPr>
              <a:t>330∘=55 minutes.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9d04df4417_0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g19d04df4417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9d04df4417_0_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g19d04df4417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GB" sz="1100">
                <a:solidFill>
                  <a:srgbClr val="313B3D"/>
                </a:solidFill>
                <a:highlight>
                  <a:srgbClr val="FFFFFF"/>
                </a:highlight>
              </a:rPr>
              <a:t>The elevator test is a business concept that venture capitalists and investors have used for many years to judge a pitch for a new product or business idea. In the world of business technology, the elevator test looks a little different, depending on if you’re using it to sell a solution, to better organize an internal project team, or just to get to know a colleague.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GB" sz="1100">
                <a:solidFill>
                  <a:srgbClr val="313B3D"/>
                </a:solidFill>
                <a:highlight>
                  <a:srgbClr val="FFFFFF"/>
                </a:highlight>
              </a:rPr>
              <a:t>If you're job searching, you can use your elevator pitch at job fairs and career expos, and online in your LinkedIn summary or Twitter bio, for example. An elevator speech is a great way to gain confidence in introducing yourself to hiring managers and company representatives. You can also use your elevator pitch to introduce yourself at networking events and mixers. If you're attending professional association programs and activities, or any other type of gathering, have your pitch ready to share with those you meet.</a:t>
            </a:r>
            <a:endParaRPr/>
          </a:p>
          <a:p>
            <a:pPr indent="0" lvl="0" marL="0" rtl="0" algn="l">
              <a:lnSpc>
                <a:spcPct val="115000"/>
              </a:lnSpc>
              <a:spcBef>
                <a:spcPts val="1200"/>
              </a:spcBef>
              <a:spcAft>
                <a:spcPts val="0"/>
              </a:spcAft>
              <a:buSzPts val="1100"/>
              <a:buNone/>
            </a:pPr>
            <a:r>
              <a:rPr lang="en-GB" sz="1100">
                <a:solidFill>
                  <a:srgbClr val="313B3D"/>
                </a:solidFill>
                <a:highlight>
                  <a:srgbClr val="FFFFFF"/>
                </a:highlight>
              </a:rPr>
              <a:t>Your elevator pitch can be used during job interviews, especially when you're asked about yourself. Interviewers often begin with the question, "Tell me about yourself"—think of your elevator pitch as a super-condensed version of your response to that request.</a:t>
            </a:r>
            <a:endParaRPr/>
          </a:p>
          <a:p>
            <a:pPr indent="0" lvl="0" marL="0" rtl="0" algn="l">
              <a:lnSpc>
                <a:spcPct val="115000"/>
              </a:lnSpc>
              <a:spcBef>
                <a:spcPts val="2200"/>
              </a:spcBef>
              <a:spcAft>
                <a:spcPts val="0"/>
              </a:spcAft>
              <a:buClr>
                <a:schemeClr val="dk1"/>
              </a:buClr>
              <a:buSzPts val="1100"/>
              <a:buFont typeface="Arial"/>
              <a:buNone/>
            </a:pPr>
            <a:r>
              <a:t/>
            </a:r>
            <a:endParaRPr sz="1100">
              <a:solidFill>
                <a:srgbClr val="313B3D"/>
              </a:solidFill>
              <a:highlight>
                <a:srgbClr val="FFFFFF"/>
              </a:highlight>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 name="Google Shape;33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GB" sz="1100">
                <a:solidFill>
                  <a:srgbClr val="313B3D"/>
                </a:solidFill>
                <a:highlight>
                  <a:srgbClr val="FFFFFF"/>
                </a:highlight>
              </a:rPr>
              <a:t>Restrict the speech to 30-60 seconds. You don't need to include your entire work history and career objectives. Your pitch should be a short recap of who you are and what you do.</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GB" sz="1100">
                <a:solidFill>
                  <a:srgbClr val="313B3D"/>
                </a:solidFill>
                <a:highlight>
                  <a:srgbClr val="FFFFFF"/>
                </a:highlight>
              </a:rPr>
              <a:t>Even though it's a short pitch, your elevator speech should be compelling enough to spark the listener's interest in your idea, organization, or background.</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GB" sz="1100">
                <a:solidFill>
                  <a:srgbClr val="313B3D"/>
                </a:solidFill>
                <a:highlight>
                  <a:srgbClr val="FFFFFF"/>
                </a:highlight>
              </a:rPr>
              <a:t>Your elevator pitch should explain who you are and what qualifications and skills you have. Try to focus on assets that add value in many situations. This is your chance to brag a bit—avoid sounding boastful, but do share what you bring to the table.</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GB" sz="1100">
                <a:solidFill>
                  <a:srgbClr val="313B3D"/>
                </a:solidFill>
                <a:highlight>
                  <a:srgbClr val="FFFFFF"/>
                </a:highlight>
              </a:rPr>
              <a:t>The best way to feel comfortable about giving an elevator speech is to practice it until the speed and “pitch” come naturally, without sounding robotic. You will get used to varying the conversation as you practice doing so. The more you practice, the easier it will be to deliver it when you’re at a career networking event or job interview</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0" name="Google Shape;370;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GB" sz="1100">
                <a:solidFill>
                  <a:srgbClr val="313B3D"/>
                </a:solidFill>
                <a:highlight>
                  <a:srgbClr val="FFFFFF"/>
                </a:highlight>
              </a:rPr>
              <a:t>You often aren’t interviewing for a specific position when you deliver your pitch, so you want to appear open-minded and flexible. Don’t lead with the stuff you’d rather not be doing. (For example, if you don’t want to travel a lot for work, that’s completely legitimate —but you needn’t volunteer that information right off the bat.) This is your chance to make a great first impression with a potential employer. Don’t waste it.</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0" name="Google Shape;380;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GB" sz="1100">
                <a:solidFill>
                  <a:srgbClr val="313B3D"/>
                </a:solidFill>
                <a:highlight>
                  <a:srgbClr val="FFFFFF"/>
                </a:highlight>
              </a:rPr>
              <a:t>You don't need to get too specific. An overly targeted goal isn't helpful since your pitch will be used in many circumstances, and with many different types of people. But do remember to say what you're looking for. For instance, you might say, "a role in accounting" or "an opportunity to apply my sales skills to a new market" or "to relocate to San Francisco with a job in this same industry."</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GB" sz="1100">
                <a:solidFill>
                  <a:srgbClr val="313B3D"/>
                </a:solidFill>
                <a:highlight>
                  <a:srgbClr val="FFFFFF"/>
                </a:highlight>
              </a:rPr>
              <a:t>In some cases, using jargon can be a powerful move—it demonstrates your industry knowledge. But be wary of using jargon during an elevator pitch, particularly if you're speaking to recruiters, who may find the terms unfamiliar and off-putting. Keep it simple and focused.</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1" name="Google Shape;401;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3" name="Google Shape;413;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4" name="Google Shape;424;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6" name="Google Shape;436;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7" name="Google Shape;447;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9" name="Google Shape;459;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0" name="Google Shape;470;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2" name="Google Shape;482;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3" name="Google Shape;493;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5" name="Google Shape;505;p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6" name="Google Shape;516;p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8" name="Google Shape;528;p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9" name="Google Shape;539;p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1" name="Google Shape;551;p6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7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7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7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7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7" name="Google Shape;17;p7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7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7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7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7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7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7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7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0" name="Shape 30"/>
        <p:cNvGrpSpPr/>
        <p:nvPr/>
      </p:nvGrpSpPr>
      <p:grpSpPr>
        <a:xfrm>
          <a:off x="0" y="0"/>
          <a:ext cx="0" cy="0"/>
          <a:chOff x="0" y="0"/>
          <a:chExt cx="0" cy="0"/>
        </a:xfrm>
      </p:grpSpPr>
      <p:sp>
        <p:nvSpPr>
          <p:cNvPr id="31" name="Google Shape;31;p7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7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7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4" name="Shape 34"/>
        <p:cNvGrpSpPr/>
        <p:nvPr/>
      </p:nvGrpSpPr>
      <p:grpSpPr>
        <a:xfrm>
          <a:off x="0" y="0"/>
          <a:ext cx="0" cy="0"/>
          <a:chOff x="0" y="0"/>
          <a:chExt cx="0" cy="0"/>
        </a:xfrm>
      </p:grpSpPr>
      <p:sp>
        <p:nvSpPr>
          <p:cNvPr id="35" name="Google Shape;35;p7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7" name="Shape 37"/>
        <p:cNvGrpSpPr/>
        <p:nvPr/>
      </p:nvGrpSpPr>
      <p:grpSpPr>
        <a:xfrm>
          <a:off x="0" y="0"/>
          <a:ext cx="0" cy="0"/>
          <a:chOff x="0" y="0"/>
          <a:chExt cx="0" cy="0"/>
        </a:xfrm>
      </p:grpSpPr>
      <p:sp>
        <p:nvSpPr>
          <p:cNvPr id="38" name="Google Shape;38;p7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7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7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7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7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3" name="Shape 43"/>
        <p:cNvGrpSpPr/>
        <p:nvPr/>
      </p:nvGrpSpPr>
      <p:grpSpPr>
        <a:xfrm>
          <a:off x="0" y="0"/>
          <a:ext cx="0" cy="0"/>
          <a:chOff x="0" y="0"/>
          <a:chExt cx="0" cy="0"/>
        </a:xfrm>
      </p:grpSpPr>
      <p:sp>
        <p:nvSpPr>
          <p:cNvPr id="44" name="Google Shape;44;p7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5" name="Google Shape;45;p7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6" name="Shape 46"/>
        <p:cNvGrpSpPr/>
        <p:nvPr/>
      </p:nvGrpSpPr>
      <p:grpSpPr>
        <a:xfrm>
          <a:off x="0" y="0"/>
          <a:ext cx="0" cy="0"/>
          <a:chOff x="0" y="0"/>
          <a:chExt cx="0" cy="0"/>
        </a:xfrm>
      </p:grpSpPr>
      <p:sp>
        <p:nvSpPr>
          <p:cNvPr id="47" name="Google Shape;47;p80"/>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48" name="Google Shape;48;p8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8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7" name="Shape 57"/>
        <p:cNvGrpSpPr/>
        <p:nvPr/>
      </p:nvGrpSpPr>
      <p:grpSpPr>
        <a:xfrm>
          <a:off x="0" y="0"/>
          <a:ext cx="0" cy="0"/>
          <a:chOff x="0" y="0"/>
          <a:chExt cx="0" cy="0"/>
        </a:xfrm>
      </p:grpSpPr>
      <p:sp>
        <p:nvSpPr>
          <p:cNvPr id="58" name="Google Shape;58;p8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9" name="Google Shape;59;p8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0" name="Google Shape;60;p8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1" name="Shape 61"/>
        <p:cNvGrpSpPr/>
        <p:nvPr/>
      </p:nvGrpSpPr>
      <p:grpSpPr>
        <a:xfrm>
          <a:off x="0" y="0"/>
          <a:ext cx="0" cy="0"/>
          <a:chOff x="0" y="0"/>
          <a:chExt cx="0" cy="0"/>
        </a:xfrm>
      </p:grpSpPr>
      <p:sp>
        <p:nvSpPr>
          <p:cNvPr id="62" name="Google Shape;62;p8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3" name="Google Shape;63;p8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4" name="Shape 64"/>
        <p:cNvGrpSpPr/>
        <p:nvPr/>
      </p:nvGrpSpPr>
      <p:grpSpPr>
        <a:xfrm>
          <a:off x="0" y="0"/>
          <a:ext cx="0" cy="0"/>
          <a:chOff x="0" y="0"/>
          <a:chExt cx="0" cy="0"/>
        </a:xfrm>
      </p:grpSpPr>
      <p:sp>
        <p:nvSpPr>
          <p:cNvPr id="65" name="Google Shape;65;p8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6" name="Google Shape;66;p8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7" name="Google Shape;67;p8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8" name="Shape 68"/>
        <p:cNvGrpSpPr/>
        <p:nvPr/>
      </p:nvGrpSpPr>
      <p:grpSpPr>
        <a:xfrm>
          <a:off x="0" y="0"/>
          <a:ext cx="0" cy="0"/>
          <a:chOff x="0" y="0"/>
          <a:chExt cx="0" cy="0"/>
        </a:xfrm>
      </p:grpSpPr>
      <p:sp>
        <p:nvSpPr>
          <p:cNvPr id="69" name="Google Shape;69;p8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0" name="Google Shape;70;p8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1" name="Google Shape;71;p8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2" name="Google Shape;72;p8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sp>
        <p:nvSpPr>
          <p:cNvPr id="74" name="Google Shape;74;p8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5" name="Google Shape;75;p8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76" name="Shape 76"/>
        <p:cNvGrpSpPr/>
        <p:nvPr/>
      </p:nvGrpSpPr>
      <p:grpSpPr>
        <a:xfrm>
          <a:off x="0" y="0"/>
          <a:ext cx="0" cy="0"/>
          <a:chOff x="0" y="0"/>
          <a:chExt cx="0" cy="0"/>
        </a:xfrm>
      </p:grpSpPr>
      <p:sp>
        <p:nvSpPr>
          <p:cNvPr id="77" name="Google Shape;77;p8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8" name="Google Shape;78;p8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9" name="Google Shape;79;p8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0" name="Shape 80"/>
        <p:cNvGrpSpPr/>
        <p:nvPr/>
      </p:nvGrpSpPr>
      <p:grpSpPr>
        <a:xfrm>
          <a:off x="0" y="0"/>
          <a:ext cx="0" cy="0"/>
          <a:chOff x="0" y="0"/>
          <a:chExt cx="0" cy="0"/>
        </a:xfrm>
      </p:grpSpPr>
      <p:sp>
        <p:nvSpPr>
          <p:cNvPr id="81" name="Google Shape;81;p8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2" name="Google Shape;82;p8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3" name="Shape 83"/>
        <p:cNvGrpSpPr/>
        <p:nvPr/>
      </p:nvGrpSpPr>
      <p:grpSpPr>
        <a:xfrm>
          <a:off x="0" y="0"/>
          <a:ext cx="0" cy="0"/>
          <a:chOff x="0" y="0"/>
          <a:chExt cx="0" cy="0"/>
        </a:xfrm>
      </p:grpSpPr>
      <p:sp>
        <p:nvSpPr>
          <p:cNvPr id="84" name="Google Shape;84;p9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9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6" name="Google Shape;86;p9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7" name="Google Shape;87;p9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8" name="Google Shape;88;p9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9" name="Shape 89"/>
        <p:cNvGrpSpPr/>
        <p:nvPr/>
      </p:nvGrpSpPr>
      <p:grpSpPr>
        <a:xfrm>
          <a:off x="0" y="0"/>
          <a:ext cx="0" cy="0"/>
          <a:chOff x="0" y="0"/>
          <a:chExt cx="0" cy="0"/>
        </a:xfrm>
      </p:grpSpPr>
      <p:sp>
        <p:nvSpPr>
          <p:cNvPr id="90" name="Google Shape;90;p9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91" name="Google Shape;91;p9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92" name="Shape 92"/>
        <p:cNvGrpSpPr/>
        <p:nvPr/>
      </p:nvGrpSpPr>
      <p:grpSpPr>
        <a:xfrm>
          <a:off x="0" y="0"/>
          <a:ext cx="0" cy="0"/>
          <a:chOff x="0" y="0"/>
          <a:chExt cx="0" cy="0"/>
        </a:xfrm>
      </p:grpSpPr>
      <p:sp>
        <p:nvSpPr>
          <p:cNvPr id="93" name="Google Shape;93;p92"/>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94" name="Google Shape;94;p9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5" name="Google Shape;95;p9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9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3" name="Shape 103"/>
        <p:cNvGrpSpPr/>
        <p:nvPr/>
      </p:nvGrpSpPr>
      <p:grpSpPr>
        <a:xfrm>
          <a:off x="0" y="0"/>
          <a:ext cx="0" cy="0"/>
          <a:chOff x="0" y="0"/>
          <a:chExt cx="0" cy="0"/>
        </a:xfrm>
      </p:grpSpPr>
      <p:sp>
        <p:nvSpPr>
          <p:cNvPr id="104" name="Google Shape;104;p9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5" name="Google Shape;105;p9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6" name="Google Shape;106;p9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9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09" name="Google Shape;109;p9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0" name="Shape 110"/>
        <p:cNvGrpSpPr/>
        <p:nvPr/>
      </p:nvGrpSpPr>
      <p:grpSpPr>
        <a:xfrm>
          <a:off x="0" y="0"/>
          <a:ext cx="0" cy="0"/>
          <a:chOff x="0" y="0"/>
          <a:chExt cx="0" cy="0"/>
        </a:xfrm>
      </p:grpSpPr>
      <p:sp>
        <p:nvSpPr>
          <p:cNvPr id="111" name="Google Shape;111;p9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2" name="Google Shape;112;p9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3" name="Google Shape;113;p9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4" name="Shape 114"/>
        <p:cNvGrpSpPr/>
        <p:nvPr/>
      </p:nvGrpSpPr>
      <p:grpSpPr>
        <a:xfrm>
          <a:off x="0" y="0"/>
          <a:ext cx="0" cy="0"/>
          <a:chOff x="0" y="0"/>
          <a:chExt cx="0" cy="0"/>
        </a:xfrm>
      </p:grpSpPr>
      <p:sp>
        <p:nvSpPr>
          <p:cNvPr id="115" name="Google Shape;115;p9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6" name="Google Shape;116;p9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7" name="Google Shape;117;p9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8" name="Google Shape;118;p9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9" name="Shape 119"/>
        <p:cNvGrpSpPr/>
        <p:nvPr/>
      </p:nvGrpSpPr>
      <p:grpSpPr>
        <a:xfrm>
          <a:off x="0" y="0"/>
          <a:ext cx="0" cy="0"/>
          <a:chOff x="0" y="0"/>
          <a:chExt cx="0" cy="0"/>
        </a:xfrm>
      </p:grpSpPr>
      <p:sp>
        <p:nvSpPr>
          <p:cNvPr id="120" name="Google Shape;120;p9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1" name="Google Shape;121;p9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122" name="Shape 122"/>
        <p:cNvGrpSpPr/>
        <p:nvPr/>
      </p:nvGrpSpPr>
      <p:grpSpPr>
        <a:xfrm>
          <a:off x="0" y="0"/>
          <a:ext cx="0" cy="0"/>
          <a:chOff x="0" y="0"/>
          <a:chExt cx="0" cy="0"/>
        </a:xfrm>
      </p:grpSpPr>
      <p:sp>
        <p:nvSpPr>
          <p:cNvPr id="123" name="Google Shape;123;p10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24" name="Google Shape;124;p10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25" name="Google Shape;125;p10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126" name="Shape 126"/>
        <p:cNvGrpSpPr/>
        <p:nvPr/>
      </p:nvGrpSpPr>
      <p:grpSpPr>
        <a:xfrm>
          <a:off x="0" y="0"/>
          <a:ext cx="0" cy="0"/>
          <a:chOff x="0" y="0"/>
          <a:chExt cx="0" cy="0"/>
        </a:xfrm>
      </p:grpSpPr>
      <p:sp>
        <p:nvSpPr>
          <p:cNvPr id="127" name="Google Shape;127;p10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28" name="Google Shape;128;p10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129" name="Shape 129"/>
        <p:cNvGrpSpPr/>
        <p:nvPr/>
      </p:nvGrpSpPr>
      <p:grpSpPr>
        <a:xfrm>
          <a:off x="0" y="0"/>
          <a:ext cx="0" cy="0"/>
          <a:chOff x="0" y="0"/>
          <a:chExt cx="0" cy="0"/>
        </a:xfrm>
      </p:grpSpPr>
      <p:sp>
        <p:nvSpPr>
          <p:cNvPr id="130" name="Google Shape;130;p10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10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32" name="Google Shape;132;p10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33" name="Google Shape;133;p10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4" name="Google Shape;134;p10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135" name="Shape 135"/>
        <p:cNvGrpSpPr/>
        <p:nvPr/>
      </p:nvGrpSpPr>
      <p:grpSpPr>
        <a:xfrm>
          <a:off x="0" y="0"/>
          <a:ext cx="0" cy="0"/>
          <a:chOff x="0" y="0"/>
          <a:chExt cx="0" cy="0"/>
        </a:xfrm>
      </p:grpSpPr>
      <p:sp>
        <p:nvSpPr>
          <p:cNvPr id="136" name="Google Shape;136;p10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7" name="Google Shape;137;p10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138" name="Shape 138"/>
        <p:cNvGrpSpPr/>
        <p:nvPr/>
      </p:nvGrpSpPr>
      <p:grpSpPr>
        <a:xfrm>
          <a:off x="0" y="0"/>
          <a:ext cx="0" cy="0"/>
          <a:chOff x="0" y="0"/>
          <a:chExt cx="0" cy="0"/>
        </a:xfrm>
      </p:grpSpPr>
      <p:sp>
        <p:nvSpPr>
          <p:cNvPr id="139" name="Google Shape;139;p104"/>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140" name="Google Shape;140;p10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41" name="Google Shape;141;p10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2" name="Shape 142"/>
        <p:cNvGrpSpPr/>
        <p:nvPr/>
      </p:nvGrpSpPr>
      <p:grpSpPr>
        <a:xfrm>
          <a:off x="0" y="0"/>
          <a:ext cx="0" cy="0"/>
          <a:chOff x="0" y="0"/>
          <a:chExt cx="0" cy="0"/>
        </a:xfrm>
      </p:grpSpPr>
      <p:sp>
        <p:nvSpPr>
          <p:cNvPr id="143" name="Google Shape;143;p10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9" name="Shape 149"/>
        <p:cNvGrpSpPr/>
        <p:nvPr/>
      </p:nvGrpSpPr>
      <p:grpSpPr>
        <a:xfrm>
          <a:off x="0" y="0"/>
          <a:ext cx="0" cy="0"/>
          <a:chOff x="0" y="0"/>
          <a:chExt cx="0" cy="0"/>
        </a:xfrm>
      </p:grpSpPr>
      <p:sp>
        <p:nvSpPr>
          <p:cNvPr id="150" name="Google Shape;150;p10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1" name="Google Shape;151;p10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2" name="Google Shape;152;p10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3" name="Shape 153"/>
        <p:cNvGrpSpPr/>
        <p:nvPr/>
      </p:nvGrpSpPr>
      <p:grpSpPr>
        <a:xfrm>
          <a:off x="0" y="0"/>
          <a:ext cx="0" cy="0"/>
          <a:chOff x="0" y="0"/>
          <a:chExt cx="0" cy="0"/>
        </a:xfrm>
      </p:grpSpPr>
      <p:sp>
        <p:nvSpPr>
          <p:cNvPr id="154" name="Google Shape;154;p10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5" name="Google Shape;155;p10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6" name="Shape 156"/>
        <p:cNvGrpSpPr/>
        <p:nvPr/>
      </p:nvGrpSpPr>
      <p:grpSpPr>
        <a:xfrm>
          <a:off x="0" y="0"/>
          <a:ext cx="0" cy="0"/>
          <a:chOff x="0" y="0"/>
          <a:chExt cx="0" cy="0"/>
        </a:xfrm>
      </p:grpSpPr>
      <p:sp>
        <p:nvSpPr>
          <p:cNvPr id="157" name="Google Shape;157;p10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8" name="Google Shape;158;p10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59" name="Google Shape;159;p10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60" name="Shape 160"/>
        <p:cNvGrpSpPr/>
        <p:nvPr/>
      </p:nvGrpSpPr>
      <p:grpSpPr>
        <a:xfrm>
          <a:off x="0" y="0"/>
          <a:ext cx="0" cy="0"/>
          <a:chOff x="0" y="0"/>
          <a:chExt cx="0" cy="0"/>
        </a:xfrm>
      </p:grpSpPr>
      <p:sp>
        <p:nvSpPr>
          <p:cNvPr id="161" name="Google Shape;161;p1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2" name="Google Shape;162;p11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63" name="Google Shape;163;p11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64" name="Google Shape;164;p1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5" name="Shape 165"/>
        <p:cNvGrpSpPr/>
        <p:nvPr/>
      </p:nvGrpSpPr>
      <p:grpSpPr>
        <a:xfrm>
          <a:off x="0" y="0"/>
          <a:ext cx="0" cy="0"/>
          <a:chOff x="0" y="0"/>
          <a:chExt cx="0" cy="0"/>
        </a:xfrm>
      </p:grpSpPr>
      <p:sp>
        <p:nvSpPr>
          <p:cNvPr id="166" name="Google Shape;166;p1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7" name="Google Shape;167;p1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168" name="Shape 168"/>
        <p:cNvGrpSpPr/>
        <p:nvPr/>
      </p:nvGrpSpPr>
      <p:grpSpPr>
        <a:xfrm>
          <a:off x="0" y="0"/>
          <a:ext cx="0" cy="0"/>
          <a:chOff x="0" y="0"/>
          <a:chExt cx="0" cy="0"/>
        </a:xfrm>
      </p:grpSpPr>
      <p:sp>
        <p:nvSpPr>
          <p:cNvPr id="169" name="Google Shape;169;p11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70" name="Google Shape;170;p11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71" name="Google Shape;171;p1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172" name="Shape 172"/>
        <p:cNvGrpSpPr/>
        <p:nvPr/>
      </p:nvGrpSpPr>
      <p:grpSpPr>
        <a:xfrm>
          <a:off x="0" y="0"/>
          <a:ext cx="0" cy="0"/>
          <a:chOff x="0" y="0"/>
          <a:chExt cx="0" cy="0"/>
        </a:xfrm>
      </p:grpSpPr>
      <p:sp>
        <p:nvSpPr>
          <p:cNvPr id="173" name="Google Shape;173;p11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74" name="Google Shape;174;p1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175" name="Shape 175"/>
        <p:cNvGrpSpPr/>
        <p:nvPr/>
      </p:nvGrpSpPr>
      <p:grpSpPr>
        <a:xfrm>
          <a:off x="0" y="0"/>
          <a:ext cx="0" cy="0"/>
          <a:chOff x="0" y="0"/>
          <a:chExt cx="0" cy="0"/>
        </a:xfrm>
      </p:grpSpPr>
      <p:sp>
        <p:nvSpPr>
          <p:cNvPr id="176" name="Google Shape;176;p11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1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78" name="Google Shape;178;p11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79" name="Google Shape;179;p11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80" name="Google Shape;180;p1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181" name="Shape 181"/>
        <p:cNvGrpSpPr/>
        <p:nvPr/>
      </p:nvGrpSpPr>
      <p:grpSpPr>
        <a:xfrm>
          <a:off x="0" y="0"/>
          <a:ext cx="0" cy="0"/>
          <a:chOff x="0" y="0"/>
          <a:chExt cx="0" cy="0"/>
        </a:xfrm>
      </p:grpSpPr>
      <p:sp>
        <p:nvSpPr>
          <p:cNvPr id="182" name="Google Shape;182;p11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83" name="Google Shape;183;p1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184" name="Shape 184"/>
        <p:cNvGrpSpPr/>
        <p:nvPr/>
      </p:nvGrpSpPr>
      <p:grpSpPr>
        <a:xfrm>
          <a:off x="0" y="0"/>
          <a:ext cx="0" cy="0"/>
          <a:chOff x="0" y="0"/>
          <a:chExt cx="0" cy="0"/>
        </a:xfrm>
      </p:grpSpPr>
      <p:sp>
        <p:nvSpPr>
          <p:cNvPr id="185" name="Google Shape;185;p116"/>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186" name="Google Shape;186;p11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87" name="Google Shape;187;p1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8" name="Shape 188"/>
        <p:cNvGrpSpPr/>
        <p:nvPr/>
      </p:nvGrpSpPr>
      <p:grpSpPr>
        <a:xfrm>
          <a:off x="0" y="0"/>
          <a:ext cx="0" cy="0"/>
          <a:chOff x="0" y="0"/>
          <a:chExt cx="0" cy="0"/>
        </a:xfrm>
      </p:grpSpPr>
      <p:sp>
        <p:nvSpPr>
          <p:cNvPr id="189" name="Google Shape;189;p1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5" name="Shape 195"/>
        <p:cNvGrpSpPr/>
        <p:nvPr/>
      </p:nvGrpSpPr>
      <p:grpSpPr>
        <a:xfrm>
          <a:off x="0" y="0"/>
          <a:ext cx="0" cy="0"/>
          <a:chOff x="0" y="0"/>
          <a:chExt cx="0" cy="0"/>
        </a:xfrm>
      </p:grpSpPr>
      <p:sp>
        <p:nvSpPr>
          <p:cNvPr id="196" name="Google Shape;196;p11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97" name="Google Shape;197;p11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98" name="Google Shape;198;p1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9" name="Shape 199"/>
        <p:cNvGrpSpPr/>
        <p:nvPr/>
      </p:nvGrpSpPr>
      <p:grpSpPr>
        <a:xfrm>
          <a:off x="0" y="0"/>
          <a:ext cx="0" cy="0"/>
          <a:chOff x="0" y="0"/>
          <a:chExt cx="0" cy="0"/>
        </a:xfrm>
      </p:grpSpPr>
      <p:sp>
        <p:nvSpPr>
          <p:cNvPr id="200" name="Google Shape;200;p12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01" name="Google Shape;201;p1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2" name="Shape 202"/>
        <p:cNvGrpSpPr/>
        <p:nvPr/>
      </p:nvGrpSpPr>
      <p:grpSpPr>
        <a:xfrm>
          <a:off x="0" y="0"/>
          <a:ext cx="0" cy="0"/>
          <a:chOff x="0" y="0"/>
          <a:chExt cx="0" cy="0"/>
        </a:xfrm>
      </p:grpSpPr>
      <p:sp>
        <p:nvSpPr>
          <p:cNvPr id="203" name="Google Shape;203;p1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4" name="Google Shape;204;p1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5" name="Google Shape;205;p1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6" name="Shape 206"/>
        <p:cNvGrpSpPr/>
        <p:nvPr/>
      </p:nvGrpSpPr>
      <p:grpSpPr>
        <a:xfrm>
          <a:off x="0" y="0"/>
          <a:ext cx="0" cy="0"/>
          <a:chOff x="0" y="0"/>
          <a:chExt cx="0" cy="0"/>
        </a:xfrm>
      </p:grpSpPr>
      <p:sp>
        <p:nvSpPr>
          <p:cNvPr id="207" name="Google Shape;207;p1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8" name="Google Shape;208;p12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09" name="Google Shape;209;p12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10" name="Google Shape;210;p1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1" name="Shape 211"/>
        <p:cNvGrpSpPr/>
        <p:nvPr/>
      </p:nvGrpSpPr>
      <p:grpSpPr>
        <a:xfrm>
          <a:off x="0" y="0"/>
          <a:ext cx="0" cy="0"/>
          <a:chOff x="0" y="0"/>
          <a:chExt cx="0" cy="0"/>
        </a:xfrm>
      </p:grpSpPr>
      <p:sp>
        <p:nvSpPr>
          <p:cNvPr id="212" name="Google Shape;212;p1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3" name="Google Shape;213;p1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14" name="Shape 214"/>
        <p:cNvGrpSpPr/>
        <p:nvPr/>
      </p:nvGrpSpPr>
      <p:grpSpPr>
        <a:xfrm>
          <a:off x="0" y="0"/>
          <a:ext cx="0" cy="0"/>
          <a:chOff x="0" y="0"/>
          <a:chExt cx="0" cy="0"/>
        </a:xfrm>
      </p:grpSpPr>
      <p:sp>
        <p:nvSpPr>
          <p:cNvPr id="215" name="Google Shape;215;p12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16" name="Google Shape;216;p12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17" name="Google Shape;217;p1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18" name="Shape 218"/>
        <p:cNvGrpSpPr/>
        <p:nvPr/>
      </p:nvGrpSpPr>
      <p:grpSpPr>
        <a:xfrm>
          <a:off x="0" y="0"/>
          <a:ext cx="0" cy="0"/>
          <a:chOff x="0" y="0"/>
          <a:chExt cx="0" cy="0"/>
        </a:xfrm>
      </p:grpSpPr>
      <p:sp>
        <p:nvSpPr>
          <p:cNvPr id="219" name="Google Shape;219;p12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20" name="Google Shape;220;p1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21" name="Shape 221"/>
        <p:cNvGrpSpPr/>
        <p:nvPr/>
      </p:nvGrpSpPr>
      <p:grpSpPr>
        <a:xfrm>
          <a:off x="0" y="0"/>
          <a:ext cx="0" cy="0"/>
          <a:chOff x="0" y="0"/>
          <a:chExt cx="0" cy="0"/>
        </a:xfrm>
      </p:grpSpPr>
      <p:sp>
        <p:nvSpPr>
          <p:cNvPr id="222" name="Google Shape;222;p12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2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24" name="Google Shape;224;p12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25" name="Google Shape;225;p12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26" name="Google Shape;226;p1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27" name="Shape 227"/>
        <p:cNvGrpSpPr/>
        <p:nvPr/>
      </p:nvGrpSpPr>
      <p:grpSpPr>
        <a:xfrm>
          <a:off x="0" y="0"/>
          <a:ext cx="0" cy="0"/>
          <a:chOff x="0" y="0"/>
          <a:chExt cx="0" cy="0"/>
        </a:xfrm>
      </p:grpSpPr>
      <p:sp>
        <p:nvSpPr>
          <p:cNvPr id="228" name="Google Shape;228;p12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29" name="Google Shape;229;p1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30" name="Shape 230"/>
        <p:cNvGrpSpPr/>
        <p:nvPr/>
      </p:nvGrpSpPr>
      <p:grpSpPr>
        <a:xfrm>
          <a:off x="0" y="0"/>
          <a:ext cx="0" cy="0"/>
          <a:chOff x="0" y="0"/>
          <a:chExt cx="0" cy="0"/>
        </a:xfrm>
      </p:grpSpPr>
      <p:sp>
        <p:nvSpPr>
          <p:cNvPr id="231" name="Google Shape;231;p128"/>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232" name="Google Shape;232;p12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233" name="Google Shape;233;p1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4" name="Shape 234"/>
        <p:cNvGrpSpPr/>
        <p:nvPr/>
      </p:nvGrpSpPr>
      <p:grpSpPr>
        <a:xfrm>
          <a:off x="0" y="0"/>
          <a:ext cx="0" cy="0"/>
          <a:chOff x="0" y="0"/>
          <a:chExt cx="0" cy="0"/>
        </a:xfrm>
      </p:grpSpPr>
      <p:sp>
        <p:nvSpPr>
          <p:cNvPr id="235" name="Google Shape;235;p1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5.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1.xml"/><Relationship Id="rId12" Type="http://schemas.openxmlformats.org/officeDocument/2006/relationships/slideLayout" Target="../slideLayouts/slideLayout23.xml"/><Relationship Id="rId1" Type="http://schemas.openxmlformats.org/officeDocument/2006/relationships/image" Target="../media/image2.jp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3.xml"/><Relationship Id="rId10" Type="http://schemas.openxmlformats.org/officeDocument/2006/relationships/slideLayout" Target="../slideLayouts/slideLayout32.xml"/><Relationship Id="rId13" Type="http://schemas.openxmlformats.org/officeDocument/2006/relationships/theme" Target="../theme/theme2.xml"/><Relationship Id="rId12" Type="http://schemas.openxmlformats.org/officeDocument/2006/relationships/slideLayout" Target="../slideLayouts/slideLayout34.xml"/><Relationship Id="rId1" Type="http://schemas.openxmlformats.org/officeDocument/2006/relationships/image" Target="../media/image2.jpg"/><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4.xml"/><Relationship Id="rId10" Type="http://schemas.openxmlformats.org/officeDocument/2006/relationships/slideLayout" Target="../slideLayouts/slideLayout43.xml"/><Relationship Id="rId13" Type="http://schemas.openxmlformats.org/officeDocument/2006/relationships/theme" Target="../theme/theme6.xml"/><Relationship Id="rId12" Type="http://schemas.openxmlformats.org/officeDocument/2006/relationships/slideLayout" Target="../slideLayouts/slideLayout45.xml"/><Relationship Id="rId1" Type="http://schemas.openxmlformats.org/officeDocument/2006/relationships/image" Target="../media/image2.jpg"/><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9" Type="http://schemas.openxmlformats.org/officeDocument/2006/relationships/slideLayout" Target="../slideLayouts/slideLayout42.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5.xml"/><Relationship Id="rId10" Type="http://schemas.openxmlformats.org/officeDocument/2006/relationships/slideLayout" Target="../slideLayouts/slideLayout54.xml"/><Relationship Id="rId13" Type="http://schemas.openxmlformats.org/officeDocument/2006/relationships/theme" Target="../theme/theme4.xml"/><Relationship Id="rId12" Type="http://schemas.openxmlformats.org/officeDocument/2006/relationships/slideLayout" Target="../slideLayouts/slideLayout56.xml"/><Relationship Id="rId1" Type="http://schemas.openxmlformats.org/officeDocument/2006/relationships/image" Target="../media/image2.jpg"/><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slideLayout" Target="../slideLayouts/slideLayout48.xml"/><Relationship Id="rId9" Type="http://schemas.openxmlformats.org/officeDocument/2006/relationships/slideLayout" Target="../slideLayouts/slideLayout53.xml"/><Relationship Id="rId5" Type="http://schemas.openxmlformats.org/officeDocument/2006/relationships/slideLayout" Target="../slideLayouts/slideLayout49.xml"/><Relationship Id="rId6" Type="http://schemas.openxmlformats.org/officeDocument/2006/relationships/slideLayout" Target="../slideLayouts/slideLayout50.xml"/><Relationship Id="rId7" Type="http://schemas.openxmlformats.org/officeDocument/2006/relationships/slideLayout" Target="../slideLayouts/slideLayout51.xml"/><Relationship Id="rId8"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69"/>
          <p:cNvPicPr preferRelativeResize="0"/>
          <p:nvPr/>
        </p:nvPicPr>
        <p:blipFill rotWithShape="1">
          <a:blip r:embed="rId1">
            <a:alphaModFix/>
          </a:blip>
          <a:srcRect b="0" l="0" r="0" t="0"/>
          <a:stretch/>
        </p:blipFill>
        <p:spPr>
          <a:xfrm>
            <a:off x="1" y="0"/>
            <a:ext cx="9143999" cy="5143500"/>
          </a:xfrm>
          <a:prstGeom prst="rect">
            <a:avLst/>
          </a:prstGeom>
          <a:noFill/>
          <a:ln>
            <a:noFill/>
          </a:ln>
        </p:spPr>
      </p:pic>
      <p:sp>
        <p:nvSpPr>
          <p:cNvPr id="7" name="Google Shape;7;p6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8" name="Google Shape;8;p6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9" name="Google Shape;9;p6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 name="Shape 52"/>
        <p:cNvGrpSpPr/>
        <p:nvPr/>
      </p:nvGrpSpPr>
      <p:grpSpPr>
        <a:xfrm>
          <a:off x="0" y="0"/>
          <a:ext cx="0" cy="0"/>
          <a:chOff x="0" y="0"/>
          <a:chExt cx="0" cy="0"/>
        </a:xfrm>
      </p:grpSpPr>
      <p:pic>
        <p:nvPicPr>
          <p:cNvPr id="53" name="Google Shape;53;p82"/>
          <p:cNvPicPr preferRelativeResize="0"/>
          <p:nvPr/>
        </p:nvPicPr>
        <p:blipFill rotWithShape="1">
          <a:blip r:embed="rId1">
            <a:alphaModFix/>
          </a:blip>
          <a:srcRect b="0" l="0" r="0" t="0"/>
          <a:stretch/>
        </p:blipFill>
        <p:spPr>
          <a:xfrm>
            <a:off x="0" y="0"/>
            <a:ext cx="9144000" cy="5143500"/>
          </a:xfrm>
          <a:prstGeom prst="rect">
            <a:avLst/>
          </a:prstGeom>
          <a:noFill/>
          <a:ln>
            <a:noFill/>
          </a:ln>
        </p:spPr>
      </p:pic>
      <p:sp>
        <p:nvSpPr>
          <p:cNvPr id="54" name="Google Shape;54;p8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5" name="Google Shape;55;p8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6" name="Google Shape;56;p8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8" name="Shape 98"/>
        <p:cNvGrpSpPr/>
        <p:nvPr/>
      </p:nvGrpSpPr>
      <p:grpSpPr>
        <a:xfrm>
          <a:off x="0" y="0"/>
          <a:ext cx="0" cy="0"/>
          <a:chOff x="0" y="0"/>
          <a:chExt cx="0" cy="0"/>
        </a:xfrm>
      </p:grpSpPr>
      <p:pic>
        <p:nvPicPr>
          <p:cNvPr id="99" name="Google Shape;99;p94"/>
          <p:cNvPicPr preferRelativeResize="0"/>
          <p:nvPr/>
        </p:nvPicPr>
        <p:blipFill rotWithShape="1">
          <a:blip r:embed="rId1">
            <a:alphaModFix/>
          </a:blip>
          <a:srcRect b="0" l="0" r="0" t="0"/>
          <a:stretch/>
        </p:blipFill>
        <p:spPr>
          <a:xfrm>
            <a:off x="0" y="0"/>
            <a:ext cx="9144000" cy="5143500"/>
          </a:xfrm>
          <a:prstGeom prst="rect">
            <a:avLst/>
          </a:prstGeom>
          <a:noFill/>
          <a:ln>
            <a:noFill/>
          </a:ln>
        </p:spPr>
      </p:pic>
      <p:sp>
        <p:nvSpPr>
          <p:cNvPr id="100" name="Google Shape;100;p9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01" name="Google Shape;101;p9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02" name="Google Shape;102;p9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4" name="Shape 144"/>
        <p:cNvGrpSpPr/>
        <p:nvPr/>
      </p:nvGrpSpPr>
      <p:grpSpPr>
        <a:xfrm>
          <a:off x="0" y="0"/>
          <a:ext cx="0" cy="0"/>
          <a:chOff x="0" y="0"/>
          <a:chExt cx="0" cy="0"/>
        </a:xfrm>
      </p:grpSpPr>
      <p:pic>
        <p:nvPicPr>
          <p:cNvPr id="145" name="Google Shape;145;p106"/>
          <p:cNvPicPr preferRelativeResize="0"/>
          <p:nvPr/>
        </p:nvPicPr>
        <p:blipFill rotWithShape="1">
          <a:blip r:embed="rId1">
            <a:alphaModFix/>
          </a:blip>
          <a:srcRect b="0" l="0" r="0" t="0"/>
          <a:stretch/>
        </p:blipFill>
        <p:spPr>
          <a:xfrm>
            <a:off x="0" y="0"/>
            <a:ext cx="9144000" cy="5143500"/>
          </a:xfrm>
          <a:prstGeom prst="rect">
            <a:avLst/>
          </a:prstGeom>
          <a:noFill/>
          <a:ln>
            <a:noFill/>
          </a:ln>
        </p:spPr>
      </p:pic>
      <p:sp>
        <p:nvSpPr>
          <p:cNvPr id="146" name="Google Shape;146;p10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47" name="Google Shape;147;p10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48" name="Google Shape;148;p10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0" name="Shape 190"/>
        <p:cNvGrpSpPr/>
        <p:nvPr/>
      </p:nvGrpSpPr>
      <p:grpSpPr>
        <a:xfrm>
          <a:off x="0" y="0"/>
          <a:ext cx="0" cy="0"/>
          <a:chOff x="0" y="0"/>
          <a:chExt cx="0" cy="0"/>
        </a:xfrm>
      </p:grpSpPr>
      <p:pic>
        <p:nvPicPr>
          <p:cNvPr id="191" name="Google Shape;191;p118"/>
          <p:cNvPicPr preferRelativeResize="0"/>
          <p:nvPr/>
        </p:nvPicPr>
        <p:blipFill rotWithShape="1">
          <a:blip r:embed="rId1">
            <a:alphaModFix/>
          </a:blip>
          <a:srcRect b="0" l="0" r="0" t="0"/>
          <a:stretch/>
        </p:blipFill>
        <p:spPr>
          <a:xfrm>
            <a:off x="0" y="0"/>
            <a:ext cx="9144000" cy="5143500"/>
          </a:xfrm>
          <a:prstGeom prst="rect">
            <a:avLst/>
          </a:prstGeom>
          <a:noFill/>
          <a:ln>
            <a:noFill/>
          </a:ln>
        </p:spPr>
      </p:pic>
      <p:sp>
        <p:nvSpPr>
          <p:cNvPr id="192" name="Google Shape;192;p1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93" name="Google Shape;193;p1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94" name="Google Shape;194;p1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jpg"/><Relationship Id="rId4" Type="http://schemas.openxmlformats.org/officeDocument/2006/relationships/image" Target="../media/image7.png"/><Relationship Id="rId5"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thoughtco.com/word-english-language-1692612" TargetMode="External"/><Relationship Id="rId4" Type="http://schemas.openxmlformats.org/officeDocument/2006/relationships/hyperlink" Target="https://www.thoughtco.com/meaning-semantics-term-1691373" TargetMode="External"/><Relationship Id="rId5" Type="http://schemas.openxmlformats.org/officeDocument/2006/relationships/hyperlink" Target="https://www.thoughtco.com/what-is-context-language-1689920"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thoughtco.com/synonym-definition-1692177"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9.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8.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0.jpg"/><Relationship Id="rId4" Type="http://schemas.openxmlformats.org/officeDocument/2006/relationships/image" Target="../media/image14.png"/><Relationship Id="rId5" Type="http://schemas.openxmlformats.org/officeDocument/2006/relationships/image" Target="../media/image16.png"/><Relationship Id="rId6"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241" name="Google Shape;241;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242" name="Google Shape;242;p4"/>
          <p:cNvPicPr preferRelativeResize="0"/>
          <p:nvPr/>
        </p:nvPicPr>
        <p:blipFill rotWithShape="1">
          <a:blip r:embed="rId3">
            <a:alphaModFix/>
          </a:blip>
          <a:srcRect b="0" l="0" r="0" t="0"/>
          <a:stretch/>
        </p:blipFill>
        <p:spPr>
          <a:xfrm>
            <a:off x="1" y="1"/>
            <a:ext cx="9144003" cy="5143501"/>
          </a:xfrm>
          <a:prstGeom prst="rect">
            <a:avLst/>
          </a:prstGeom>
          <a:noFill/>
          <a:ln>
            <a:noFill/>
          </a:ln>
        </p:spPr>
      </p:pic>
      <p:pic>
        <p:nvPicPr>
          <p:cNvPr id="243" name="Google Shape;243;p4"/>
          <p:cNvPicPr preferRelativeResize="0"/>
          <p:nvPr/>
        </p:nvPicPr>
        <p:blipFill rotWithShape="1">
          <a:blip r:embed="rId4">
            <a:alphaModFix/>
          </a:blip>
          <a:srcRect b="0" l="0" r="0" t="0"/>
          <a:stretch/>
        </p:blipFill>
        <p:spPr>
          <a:xfrm>
            <a:off x="2504601" y="600289"/>
            <a:ext cx="4134799" cy="2923400"/>
          </a:xfrm>
          <a:prstGeom prst="rect">
            <a:avLst/>
          </a:prstGeom>
          <a:noFill/>
          <a:ln>
            <a:noFill/>
          </a:ln>
        </p:spPr>
      </p:pic>
      <p:pic>
        <p:nvPicPr>
          <p:cNvPr id="244" name="Google Shape;244;p4"/>
          <p:cNvPicPr preferRelativeResize="0"/>
          <p:nvPr/>
        </p:nvPicPr>
        <p:blipFill rotWithShape="1">
          <a:blip r:embed="rId5">
            <a:alphaModFix/>
          </a:blip>
          <a:srcRect b="0" l="0" r="0" t="0"/>
          <a:stretch/>
        </p:blipFill>
        <p:spPr>
          <a:xfrm>
            <a:off x="2200051" y="3386139"/>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250" name="Google Shape;250;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251" name="Google Shape;251;p48"/>
          <p:cNvPicPr preferRelativeResize="0"/>
          <p:nvPr/>
        </p:nvPicPr>
        <p:blipFill rotWithShape="1">
          <a:blip r:embed="rId3">
            <a:alphaModFix/>
          </a:blip>
          <a:srcRect b="0" l="0" r="0" t="0"/>
          <a:stretch/>
        </p:blipFill>
        <p:spPr>
          <a:xfrm>
            <a:off x="1" y="1"/>
            <a:ext cx="9144003" cy="5143501"/>
          </a:xfrm>
          <a:prstGeom prst="rect">
            <a:avLst/>
          </a:prstGeom>
          <a:noFill/>
          <a:ln>
            <a:noFill/>
          </a:ln>
        </p:spPr>
      </p:pic>
      <p:pic>
        <p:nvPicPr>
          <p:cNvPr id="252" name="Google Shape;252;p48"/>
          <p:cNvPicPr preferRelativeResize="0"/>
          <p:nvPr/>
        </p:nvPicPr>
        <p:blipFill rotWithShape="1">
          <a:blip r:embed="rId4">
            <a:alphaModFix/>
          </a:blip>
          <a:srcRect b="0" l="0" r="0" t="0"/>
          <a:stretch/>
        </p:blipFill>
        <p:spPr>
          <a:xfrm>
            <a:off x="1" y="1"/>
            <a:ext cx="9144003" cy="5143501"/>
          </a:xfrm>
          <a:prstGeom prst="rect">
            <a:avLst/>
          </a:prstGeom>
          <a:noFill/>
          <a:ln>
            <a:noFill/>
          </a:ln>
        </p:spPr>
      </p:pic>
      <p:sp>
        <p:nvSpPr>
          <p:cNvPr id="253" name="Google Shape;253;p48"/>
          <p:cNvSpPr txBox="1"/>
          <p:nvPr/>
        </p:nvSpPr>
        <p:spPr>
          <a:xfrm>
            <a:off x="228601" y="1061689"/>
            <a:ext cx="5011838" cy="2436534"/>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800"/>
              </a:spcBef>
              <a:spcAft>
                <a:spcPts val="0"/>
              </a:spcAft>
              <a:buClr>
                <a:srgbClr val="000000"/>
              </a:buClr>
              <a:buSzPts val="3200"/>
              <a:buFont typeface="Arial"/>
              <a:buNone/>
            </a:pPr>
            <a:r>
              <a:rPr b="1" i="0" lang="en-GB" sz="3200" u="none" cap="none" strike="noStrike">
                <a:solidFill>
                  <a:srgbClr val="0070C0"/>
                </a:solidFill>
                <a:latin typeface="Arial"/>
                <a:ea typeface="Arial"/>
                <a:cs typeface="Arial"/>
                <a:sym typeface="Arial"/>
              </a:rPr>
              <a:t>SYNONYMS AND ANTONYMS</a:t>
            </a:r>
            <a:endParaRPr b="0" i="0" sz="1400" u="none" cap="none" strike="noStrike">
              <a:solidFill>
                <a:srgbClr val="000000"/>
              </a:solidFill>
              <a:latin typeface="Arial"/>
              <a:ea typeface="Arial"/>
              <a:cs typeface="Arial"/>
              <a:sym typeface="Arial"/>
            </a:endParaRPr>
          </a:p>
          <a:p>
            <a:pPr indent="0" lvl="0" marL="0" marR="0" rtl="0" algn="ctr">
              <a:lnSpc>
                <a:spcPct val="115000"/>
              </a:lnSpc>
              <a:spcBef>
                <a:spcPts val="800"/>
              </a:spcBef>
              <a:spcAft>
                <a:spcPts val="0"/>
              </a:spcAft>
              <a:buClr>
                <a:srgbClr val="000000"/>
              </a:buClr>
              <a:buSzPts val="6000"/>
              <a:buFont typeface="Arial"/>
              <a:buNone/>
            </a:pPr>
            <a:r>
              <a:t/>
            </a:r>
            <a:endParaRPr b="1" i="0" sz="6000" u="none" cap="none" strike="noStrike">
              <a:solidFill>
                <a:srgbClr val="0070C0"/>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
          <p:cNvSpPr/>
          <p:nvPr/>
        </p:nvSpPr>
        <p:spPr>
          <a:xfrm>
            <a:off x="130182" y="420179"/>
            <a:ext cx="184731"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259" name="Google Shape;259;p3"/>
          <p:cNvSpPr/>
          <p:nvPr/>
        </p:nvSpPr>
        <p:spPr>
          <a:xfrm>
            <a:off x="130182" y="422880"/>
            <a:ext cx="4767652"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GB" sz="3200" u="none" cap="none" strike="noStrike">
                <a:solidFill>
                  <a:srgbClr val="0070C0"/>
                </a:solidFill>
                <a:latin typeface="Arial"/>
                <a:ea typeface="Arial"/>
                <a:cs typeface="Arial"/>
                <a:sym typeface="Arial"/>
              </a:rPr>
              <a:t>WHAT IS A SYNONYM?</a:t>
            </a:r>
            <a:endParaRPr b="1" i="0" sz="3200" u="none" cap="none" strike="noStrike">
              <a:solidFill>
                <a:srgbClr val="0070C0"/>
              </a:solidFill>
              <a:latin typeface="Arial"/>
              <a:ea typeface="Arial"/>
              <a:cs typeface="Arial"/>
              <a:sym typeface="Arial"/>
            </a:endParaRPr>
          </a:p>
        </p:txBody>
      </p:sp>
      <p:sp>
        <p:nvSpPr>
          <p:cNvPr id="260" name="Google Shape;260;p3"/>
          <p:cNvSpPr/>
          <p:nvPr/>
        </p:nvSpPr>
        <p:spPr>
          <a:xfrm>
            <a:off x="325834" y="1567717"/>
            <a:ext cx="6838759" cy="646331"/>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rgbClr val="000000"/>
              </a:buClr>
              <a:buSzPts val="1800"/>
              <a:buFont typeface="Arial"/>
              <a:buNone/>
            </a:pPr>
            <a:r>
              <a:rPr b="0" i="0" lang="en-GB" sz="1800" u="none" cap="none" strike="noStrike">
                <a:solidFill>
                  <a:srgbClr val="282828"/>
                </a:solidFill>
                <a:highlight>
                  <a:srgbClr val="FFFFFF"/>
                </a:highlight>
                <a:latin typeface="Arial"/>
                <a:ea typeface="Arial"/>
                <a:cs typeface="Arial"/>
                <a:sym typeface="Arial"/>
              </a:rPr>
              <a:t>A </a:t>
            </a:r>
            <a:r>
              <a:rPr b="0" i="1" lang="en-GB" sz="1800" u="none" cap="none" strike="noStrike">
                <a:solidFill>
                  <a:srgbClr val="282828"/>
                </a:solidFill>
                <a:highlight>
                  <a:srgbClr val="FFFFFF"/>
                </a:highlight>
                <a:latin typeface="Arial"/>
                <a:ea typeface="Arial"/>
                <a:cs typeface="Arial"/>
                <a:sym typeface="Arial"/>
              </a:rPr>
              <a:t>synonym</a:t>
            </a:r>
            <a:r>
              <a:rPr b="0" i="0" lang="en-GB" sz="1800" u="none" cap="none" strike="noStrike">
                <a:solidFill>
                  <a:srgbClr val="282828"/>
                </a:solidFill>
                <a:highlight>
                  <a:srgbClr val="FFFFFF"/>
                </a:highlight>
                <a:latin typeface="Arial"/>
                <a:ea typeface="Arial"/>
                <a:cs typeface="Arial"/>
                <a:sym typeface="Arial"/>
              </a:rPr>
              <a:t> is a </a:t>
            </a:r>
            <a:r>
              <a:rPr b="0" i="0" lang="en-GB" sz="1800" u="none" cap="none" strike="noStrike">
                <a:solidFill>
                  <a:srgbClr val="282828"/>
                </a:solidFill>
                <a:uFill>
                  <a:noFill/>
                </a:uFill>
                <a:latin typeface="Arial"/>
                <a:ea typeface="Arial"/>
                <a:cs typeface="Arial"/>
                <a:sym typeface="Arial"/>
                <a:hlinkClick r:id="rId3">
                  <a:extLst>
                    <a:ext uri="{A12FA001-AC4F-418D-AE19-62706E023703}">
                      <ahyp:hlinkClr val="tx"/>
                    </a:ext>
                  </a:extLst>
                </a:hlinkClick>
              </a:rPr>
              <a:t>word</a:t>
            </a:r>
            <a:r>
              <a:rPr b="0" i="0" lang="en-GB" sz="1800" u="none" cap="none" strike="noStrike">
                <a:solidFill>
                  <a:srgbClr val="282828"/>
                </a:solidFill>
                <a:highlight>
                  <a:srgbClr val="FFFFFF"/>
                </a:highlight>
                <a:latin typeface="Arial"/>
                <a:ea typeface="Arial"/>
                <a:cs typeface="Arial"/>
                <a:sym typeface="Arial"/>
              </a:rPr>
              <a:t> having the same or nearly the same </a:t>
            </a:r>
            <a:r>
              <a:rPr b="0" i="0" lang="en-GB" sz="1800" u="none" cap="none" strike="noStrike">
                <a:solidFill>
                  <a:srgbClr val="282828"/>
                </a:solidFill>
                <a:uFill>
                  <a:noFill/>
                </a:uFill>
                <a:latin typeface="Arial"/>
                <a:ea typeface="Arial"/>
                <a:cs typeface="Arial"/>
                <a:sym typeface="Arial"/>
                <a:hlinkClick r:id="rId4">
                  <a:extLst>
                    <a:ext uri="{A12FA001-AC4F-418D-AE19-62706E023703}">
                      <ahyp:hlinkClr val="tx"/>
                    </a:ext>
                  </a:extLst>
                </a:hlinkClick>
              </a:rPr>
              <a:t>meaning</a:t>
            </a:r>
            <a:r>
              <a:rPr b="0" i="0" lang="en-GB" sz="1800" u="none" cap="none" strike="noStrike">
                <a:solidFill>
                  <a:srgbClr val="282828"/>
                </a:solidFill>
                <a:highlight>
                  <a:srgbClr val="FFFFFF"/>
                </a:highlight>
                <a:latin typeface="Arial"/>
                <a:ea typeface="Arial"/>
                <a:cs typeface="Arial"/>
                <a:sym typeface="Arial"/>
              </a:rPr>
              <a:t> as another word in certain </a:t>
            </a:r>
            <a:r>
              <a:rPr b="0" i="0" lang="en-GB" sz="1800" u="none" cap="none" strike="noStrike">
                <a:solidFill>
                  <a:srgbClr val="282828"/>
                </a:solidFill>
                <a:uFill>
                  <a:noFill/>
                </a:uFill>
                <a:latin typeface="Arial"/>
                <a:ea typeface="Arial"/>
                <a:cs typeface="Arial"/>
                <a:sym typeface="Arial"/>
                <a:hlinkClick r:id="rId5">
                  <a:extLst>
                    <a:ext uri="{A12FA001-AC4F-418D-AE19-62706E023703}">
                      <ahyp:hlinkClr val="tx"/>
                    </a:ext>
                  </a:extLst>
                </a:hlinkClick>
              </a:rPr>
              <a:t>contexts</a:t>
            </a:r>
            <a:r>
              <a:rPr b="0" i="0" lang="en-GB" sz="1400" u="none" cap="none" strike="noStrike">
                <a:solidFill>
                  <a:srgbClr val="282828"/>
                </a:solidFill>
                <a:highlight>
                  <a:srgbClr val="FFFFFF"/>
                </a:highlight>
                <a:latin typeface="Arial"/>
                <a:ea typeface="Arial"/>
                <a:cs typeface="Arial"/>
                <a:sym typeface="Arial"/>
              </a:rPr>
              <a:t>. </a:t>
            </a:r>
            <a:endParaRPr b="1" i="0" sz="20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19d04df4417_0_0"/>
          <p:cNvSpPr txBox="1"/>
          <p:nvPr/>
        </p:nvSpPr>
        <p:spPr>
          <a:xfrm>
            <a:off x="384825" y="1278081"/>
            <a:ext cx="8076900" cy="4010891"/>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457200" lvl="0" marL="457200" marR="0" rtl="0" algn="l">
              <a:lnSpc>
                <a:spcPct val="100000"/>
              </a:lnSpc>
              <a:spcBef>
                <a:spcPts val="800"/>
              </a:spcBef>
              <a:spcAft>
                <a:spcPts val="0"/>
              </a:spcAft>
              <a:buClr>
                <a:srgbClr val="000000"/>
              </a:buClr>
              <a:buSzPts val="2000"/>
              <a:buFont typeface="Arial"/>
              <a:buNone/>
            </a:pPr>
            <a:r>
              <a:rPr b="0" i="0" lang="en-GB" sz="2000" u="none" cap="none" strike="noStrike">
                <a:solidFill>
                  <a:srgbClr val="282828"/>
                </a:solidFill>
                <a:highlight>
                  <a:srgbClr val="FFFFFF"/>
                </a:highlight>
                <a:latin typeface="Arial"/>
                <a:ea typeface="Arial"/>
                <a:cs typeface="Arial"/>
                <a:sym typeface="Arial"/>
              </a:rPr>
              <a:t>An </a:t>
            </a:r>
            <a:r>
              <a:rPr b="0" i="1" lang="en-GB" sz="2000" u="none" cap="none" strike="noStrike">
                <a:solidFill>
                  <a:srgbClr val="282828"/>
                </a:solidFill>
                <a:highlight>
                  <a:srgbClr val="FFFFFF"/>
                </a:highlight>
                <a:latin typeface="Arial"/>
                <a:ea typeface="Arial"/>
                <a:cs typeface="Arial"/>
                <a:sym typeface="Arial"/>
              </a:rPr>
              <a:t>antonym</a:t>
            </a:r>
            <a:r>
              <a:rPr b="0" i="0" lang="en-GB" sz="2000" u="none" cap="none" strike="noStrike">
                <a:solidFill>
                  <a:srgbClr val="282828"/>
                </a:solidFill>
                <a:highlight>
                  <a:srgbClr val="FFFFFF"/>
                </a:highlight>
                <a:latin typeface="Arial"/>
                <a:ea typeface="Arial"/>
                <a:cs typeface="Arial"/>
                <a:sym typeface="Arial"/>
              </a:rPr>
              <a:t> is a word having a meaning opposite to that of another word, such as </a:t>
            </a:r>
            <a:r>
              <a:rPr b="0" i="1" lang="en-GB" sz="2000" u="none" cap="none" strike="noStrike">
                <a:solidFill>
                  <a:srgbClr val="282828"/>
                </a:solidFill>
                <a:highlight>
                  <a:srgbClr val="FFFFFF"/>
                </a:highlight>
                <a:latin typeface="Arial"/>
                <a:ea typeface="Arial"/>
                <a:cs typeface="Arial"/>
                <a:sym typeface="Arial"/>
              </a:rPr>
              <a:t>hot </a:t>
            </a:r>
            <a:r>
              <a:rPr b="0" i="0" lang="en-GB" sz="2000" u="none" cap="none" strike="noStrike">
                <a:solidFill>
                  <a:srgbClr val="282828"/>
                </a:solidFill>
                <a:highlight>
                  <a:srgbClr val="FFFFFF"/>
                </a:highlight>
                <a:latin typeface="Arial"/>
                <a:ea typeface="Arial"/>
                <a:cs typeface="Arial"/>
                <a:sym typeface="Arial"/>
              </a:rPr>
              <a:t>and</a:t>
            </a:r>
            <a:r>
              <a:rPr b="0" i="1" lang="en-GB" sz="2000" u="none" cap="none" strike="noStrike">
                <a:solidFill>
                  <a:srgbClr val="282828"/>
                </a:solidFill>
                <a:highlight>
                  <a:srgbClr val="FFFFFF"/>
                </a:highlight>
                <a:latin typeface="Arial"/>
                <a:ea typeface="Arial"/>
                <a:cs typeface="Arial"/>
                <a:sym typeface="Arial"/>
              </a:rPr>
              <a:t> cold</a:t>
            </a:r>
            <a:r>
              <a:rPr b="0" i="0" lang="en-GB" sz="2000" u="none" cap="none" strike="noStrike">
                <a:solidFill>
                  <a:srgbClr val="282828"/>
                </a:solidFill>
                <a:highlight>
                  <a:srgbClr val="FFFFFF"/>
                </a:highlight>
                <a:latin typeface="Arial"/>
                <a:ea typeface="Arial"/>
                <a:cs typeface="Arial"/>
                <a:sym typeface="Arial"/>
              </a:rPr>
              <a:t>, </a:t>
            </a:r>
            <a:r>
              <a:rPr b="0" i="1" lang="en-GB" sz="2000" u="none" cap="none" strike="noStrike">
                <a:solidFill>
                  <a:srgbClr val="282828"/>
                </a:solidFill>
                <a:highlight>
                  <a:srgbClr val="FFFFFF"/>
                </a:highlight>
                <a:latin typeface="Arial"/>
                <a:ea typeface="Arial"/>
                <a:cs typeface="Arial"/>
                <a:sym typeface="Arial"/>
              </a:rPr>
              <a:t>short</a:t>
            </a:r>
            <a:r>
              <a:rPr b="0" i="0" lang="en-GB" sz="2000" u="none" cap="none" strike="noStrike">
                <a:solidFill>
                  <a:srgbClr val="282828"/>
                </a:solidFill>
                <a:highlight>
                  <a:srgbClr val="FFFFFF"/>
                </a:highlight>
                <a:latin typeface="Arial"/>
                <a:ea typeface="Arial"/>
                <a:cs typeface="Arial"/>
                <a:sym typeface="Arial"/>
              </a:rPr>
              <a:t> and </a:t>
            </a:r>
            <a:r>
              <a:rPr b="0" i="1" lang="en-GB" sz="2000" u="none" cap="none" strike="noStrike">
                <a:solidFill>
                  <a:srgbClr val="282828"/>
                </a:solidFill>
                <a:highlight>
                  <a:srgbClr val="FFFFFF"/>
                </a:highlight>
                <a:latin typeface="Arial"/>
                <a:ea typeface="Arial"/>
                <a:cs typeface="Arial"/>
                <a:sym typeface="Arial"/>
              </a:rPr>
              <a:t>tall.</a:t>
            </a:r>
            <a:r>
              <a:rPr b="0" i="0" lang="en-GB" sz="2000" u="none" cap="none" strike="noStrike">
                <a:solidFill>
                  <a:srgbClr val="282828"/>
                </a:solidFill>
                <a:highlight>
                  <a:srgbClr val="FFFFFF"/>
                </a:highlight>
                <a:latin typeface="Arial"/>
                <a:ea typeface="Arial"/>
                <a:cs typeface="Arial"/>
                <a:sym typeface="Arial"/>
              </a:rPr>
              <a:t> </a:t>
            </a:r>
            <a:r>
              <a:rPr b="0" i="1" lang="en-GB" sz="2000" u="none" cap="none" strike="noStrike">
                <a:solidFill>
                  <a:srgbClr val="282828"/>
                </a:solidFill>
                <a:highlight>
                  <a:srgbClr val="FFFFFF"/>
                </a:highlight>
                <a:latin typeface="Arial"/>
                <a:ea typeface="Arial"/>
                <a:cs typeface="Arial"/>
                <a:sym typeface="Arial"/>
              </a:rPr>
              <a:t>An antonym</a:t>
            </a:r>
            <a:r>
              <a:rPr b="0" i="0" lang="en-GB" sz="2000" u="none" cap="none" strike="noStrike">
                <a:solidFill>
                  <a:srgbClr val="282828"/>
                </a:solidFill>
                <a:highlight>
                  <a:srgbClr val="FFFFFF"/>
                </a:highlight>
                <a:latin typeface="Arial"/>
                <a:ea typeface="Arial"/>
                <a:cs typeface="Arial"/>
                <a:sym typeface="Arial"/>
              </a:rPr>
              <a:t> is the antonym of </a:t>
            </a:r>
            <a:r>
              <a:rPr b="0" i="0" lang="en-GB" sz="2000" u="none" cap="none" strike="noStrike">
                <a:solidFill>
                  <a:srgbClr val="282828"/>
                </a:solidFill>
                <a:uFill>
                  <a:noFill/>
                </a:uFill>
                <a:latin typeface="Arial"/>
                <a:ea typeface="Arial"/>
                <a:cs typeface="Arial"/>
                <a:sym typeface="Arial"/>
                <a:hlinkClick r:id="rId3">
                  <a:extLst>
                    <a:ext uri="{A12FA001-AC4F-418D-AE19-62706E023703}">
                      <ahyp:hlinkClr val="tx"/>
                    </a:ext>
                  </a:extLst>
                </a:hlinkClick>
              </a:rPr>
              <a:t>synonym</a:t>
            </a:r>
            <a:r>
              <a:rPr b="0" i="0" lang="en-GB" sz="2000" u="none" cap="none" strike="noStrike">
                <a:solidFill>
                  <a:srgbClr val="282828"/>
                </a:solidFill>
                <a:highlight>
                  <a:srgbClr val="FFFFFF"/>
                </a:highlight>
                <a:latin typeface="Arial"/>
                <a:ea typeface="Arial"/>
                <a:cs typeface="Arial"/>
                <a:sym typeface="Arial"/>
              </a:rPr>
              <a:t>.</a:t>
            </a:r>
            <a:endParaRPr b="1" i="0" sz="2000" u="none" cap="none" strike="noStrike">
              <a:solidFill>
                <a:srgbClr val="000000"/>
              </a:solidFill>
              <a:latin typeface="Arial"/>
              <a:ea typeface="Arial"/>
              <a:cs typeface="Arial"/>
              <a:sym typeface="Arial"/>
            </a:endParaRPr>
          </a:p>
        </p:txBody>
      </p:sp>
      <p:sp>
        <p:nvSpPr>
          <p:cNvPr id="266" name="Google Shape;266;g19d04df4417_0_0"/>
          <p:cNvSpPr/>
          <p:nvPr/>
        </p:nvSpPr>
        <p:spPr>
          <a:xfrm>
            <a:off x="130182" y="339156"/>
            <a:ext cx="4293093"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GB" sz="2400" u="none" cap="none" strike="noStrike">
                <a:solidFill>
                  <a:srgbClr val="0070C0"/>
                </a:solidFill>
                <a:latin typeface="Arial"/>
                <a:ea typeface="Arial"/>
                <a:cs typeface="Arial"/>
                <a:sym typeface="Arial"/>
              </a:rPr>
              <a:t>WHAT IS AN ANTONYM?</a:t>
            </a:r>
            <a:endParaRPr b="1" i="0" sz="2400" u="none" cap="none" strike="noStrike">
              <a:solidFill>
                <a:srgbClr val="0070C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19d04df4417_0_9"/>
          <p:cNvSpPr/>
          <p:nvPr/>
        </p:nvSpPr>
        <p:spPr>
          <a:xfrm>
            <a:off x="130182" y="420179"/>
            <a:ext cx="184731"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70C0"/>
              </a:solidFill>
              <a:latin typeface="Roboto"/>
              <a:ea typeface="Roboto"/>
              <a:cs typeface="Roboto"/>
              <a:sym typeface="Roboto"/>
            </a:endParaRPr>
          </a:p>
        </p:txBody>
      </p:sp>
      <p:sp>
        <p:nvSpPr>
          <p:cNvPr id="272" name="Google Shape;272;g19d04df4417_0_9"/>
          <p:cNvSpPr/>
          <p:nvPr/>
        </p:nvSpPr>
        <p:spPr>
          <a:xfrm>
            <a:off x="130182" y="358623"/>
            <a:ext cx="807503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070C0"/>
                </a:solidFill>
                <a:latin typeface="Roboto"/>
                <a:ea typeface="Roboto"/>
                <a:cs typeface="Roboto"/>
                <a:sym typeface="Roboto"/>
              </a:rPr>
              <a:t>Concept</a:t>
            </a:r>
            <a:endParaRPr b="1" i="0" sz="2800" u="none" cap="none" strike="noStrike">
              <a:solidFill>
                <a:srgbClr val="0070C0"/>
              </a:solidFill>
              <a:latin typeface="Roboto"/>
              <a:ea typeface="Roboto"/>
              <a:cs typeface="Roboto"/>
              <a:sym typeface="Roboto"/>
            </a:endParaRPr>
          </a:p>
        </p:txBody>
      </p:sp>
      <p:sp>
        <p:nvSpPr>
          <p:cNvPr id="273" name="Google Shape;273;g19d04df4417_0_9"/>
          <p:cNvSpPr/>
          <p:nvPr/>
        </p:nvSpPr>
        <p:spPr>
          <a:xfrm>
            <a:off x="222547" y="1491395"/>
            <a:ext cx="8324045" cy="383823"/>
          </a:xfrm>
          <a:prstGeom prst="rect">
            <a:avLst/>
          </a:prstGeom>
          <a:noFill/>
          <a:ln>
            <a:noFill/>
          </a:ln>
        </p:spPr>
        <p:txBody>
          <a:bodyPr anchorCtr="0" anchor="t" bIns="45700" lIns="91425" spcFirstLastPara="1" rIns="91425" wrap="square" tIns="45700">
            <a:spAutoFit/>
          </a:bodyPr>
          <a:lstStyle/>
          <a:p>
            <a:pPr indent="-228600" lvl="0" marL="457200" marR="0" rtl="0" algn="l">
              <a:lnSpc>
                <a:spcPct val="115000"/>
              </a:lnSpc>
              <a:spcBef>
                <a:spcPts val="0"/>
              </a:spcBef>
              <a:spcAft>
                <a:spcPts val="0"/>
              </a:spcAft>
              <a:buClr>
                <a:srgbClr val="30353D"/>
              </a:buClr>
              <a:buSzPts val="2000"/>
              <a:buFont typeface="Arial"/>
              <a:buNone/>
            </a:pPr>
            <a:r>
              <a:t/>
            </a:r>
            <a:endParaRPr b="0" i="0" sz="1800" u="none" cap="none" strike="noStrike">
              <a:solidFill>
                <a:srgbClr val="30353D"/>
              </a:solidFill>
              <a:latin typeface="Arial"/>
              <a:ea typeface="Arial"/>
              <a:cs typeface="Arial"/>
              <a:sym typeface="Arial"/>
            </a:endParaRPr>
          </a:p>
        </p:txBody>
      </p:sp>
      <p:sp>
        <p:nvSpPr>
          <p:cNvPr id="274" name="Google Shape;274;g19d04df4417_0_9"/>
          <p:cNvSpPr/>
          <p:nvPr/>
        </p:nvSpPr>
        <p:spPr>
          <a:xfrm>
            <a:off x="426026" y="1215821"/>
            <a:ext cx="7779189" cy="244169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Normally english language vocabulary have different meanings at different sentences.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But all the vocabulary can be understood by using root words.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English language have many root words.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When we know the meaning of the root words we can know the meaning of the vocabulary.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Root word is a word that can form the basis of a new word.</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19d04df4417_0_17"/>
          <p:cNvSpPr/>
          <p:nvPr/>
        </p:nvSpPr>
        <p:spPr>
          <a:xfrm>
            <a:off x="0" y="432493"/>
            <a:ext cx="708490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070C0"/>
                </a:solidFill>
                <a:latin typeface="Arial"/>
                <a:ea typeface="Arial"/>
                <a:cs typeface="Arial"/>
                <a:sym typeface="Arial"/>
              </a:rPr>
              <a:t>Root words</a:t>
            </a:r>
            <a:endParaRPr b="1" i="0" sz="2800" u="none" cap="none" strike="noStrike">
              <a:solidFill>
                <a:srgbClr val="0070C0"/>
              </a:solidFill>
              <a:latin typeface="Arial"/>
              <a:ea typeface="Arial"/>
              <a:cs typeface="Arial"/>
              <a:sym typeface="Arial"/>
            </a:endParaRPr>
          </a:p>
        </p:txBody>
      </p:sp>
      <p:sp>
        <p:nvSpPr>
          <p:cNvPr id="280" name="Google Shape;280;g19d04df4417_0_17"/>
          <p:cNvSpPr/>
          <p:nvPr/>
        </p:nvSpPr>
        <p:spPr>
          <a:xfrm flipH="1" rot="10800000">
            <a:off x="235138" y="1241835"/>
            <a:ext cx="890886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70C0"/>
              </a:solidFill>
              <a:latin typeface="Arial"/>
              <a:ea typeface="Arial"/>
              <a:cs typeface="Arial"/>
              <a:sym typeface="Arial"/>
            </a:endParaRPr>
          </a:p>
        </p:txBody>
      </p:sp>
      <p:sp>
        <p:nvSpPr>
          <p:cNvPr id="281" name="Google Shape;281;g19d04df4417_0_17"/>
          <p:cNvSpPr/>
          <p:nvPr/>
        </p:nvSpPr>
        <p:spPr>
          <a:xfrm>
            <a:off x="426026" y="1254537"/>
            <a:ext cx="8582891" cy="27156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Some of the root words are:</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80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Ambi, amphi </a:t>
            </a:r>
            <a:r>
              <a:rPr b="0" i="0" lang="en-GB" sz="1800" u="none" cap="none" strike="noStrike">
                <a:solidFill>
                  <a:schemeClr val="dk1"/>
                </a:solidFill>
                <a:latin typeface="Arial"/>
                <a:ea typeface="Arial"/>
                <a:cs typeface="Arial"/>
                <a:sym typeface="Arial"/>
              </a:rPr>
              <a:t>– on both sides , around.</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Example – ambidextrous – able to use both hands equally.</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ambiguous – having more than one meaning.</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Ami</a:t>
            </a:r>
            <a:r>
              <a:rPr b="0" i="0" lang="en-GB" sz="1800" u="none" cap="none" strike="noStrike">
                <a:solidFill>
                  <a:schemeClr val="dk1"/>
                </a:solidFill>
                <a:latin typeface="Arial"/>
                <a:ea typeface="Arial"/>
                <a:cs typeface="Arial"/>
                <a:sym typeface="Arial"/>
              </a:rPr>
              <a:t> – love.</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Example – amiable – friendly and pleasant.</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amity – friendly and peaceful relations.</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Ante</a:t>
            </a:r>
            <a:r>
              <a:rPr b="0" i="0" lang="en-GB" sz="1800" u="none" cap="none" strike="noStrike">
                <a:solidFill>
                  <a:schemeClr val="dk1"/>
                </a:solidFill>
                <a:latin typeface="Arial"/>
                <a:ea typeface="Arial"/>
                <a:cs typeface="Arial"/>
                <a:sym typeface="Arial"/>
              </a:rPr>
              <a:t> – before or in front</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Example – antecede – to come before something in time.</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antemeridian – before noon.</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5"/>
          <p:cNvSpPr txBox="1"/>
          <p:nvPr/>
        </p:nvSpPr>
        <p:spPr>
          <a:xfrm>
            <a:off x="-1729785" y="538526"/>
            <a:ext cx="8255385"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800"/>
              </a:spcAft>
              <a:buClr>
                <a:srgbClr val="000000"/>
              </a:buClr>
              <a:buSzPts val="1400"/>
              <a:buFont typeface="Arial"/>
              <a:buNone/>
            </a:pPr>
            <a:r>
              <a:t/>
            </a:r>
            <a:endParaRPr b="0" i="0" sz="1400" u="none" cap="none" strike="noStrike">
              <a:solidFill>
                <a:schemeClr val="dk1"/>
              </a:solidFill>
              <a:highlight>
                <a:srgbClr val="FFFFFF"/>
              </a:highlight>
              <a:latin typeface="Arial"/>
              <a:ea typeface="Arial"/>
              <a:cs typeface="Arial"/>
              <a:sym typeface="Arial"/>
            </a:endParaRPr>
          </a:p>
        </p:txBody>
      </p:sp>
      <p:sp>
        <p:nvSpPr>
          <p:cNvPr id="287" name="Google Shape;287;p5"/>
          <p:cNvSpPr/>
          <p:nvPr/>
        </p:nvSpPr>
        <p:spPr>
          <a:xfrm>
            <a:off x="265159" y="1328928"/>
            <a:ext cx="5516880" cy="458074"/>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p:txBody>
      </p:sp>
      <p:sp>
        <p:nvSpPr>
          <p:cNvPr id="288" name="Google Shape;288;p5"/>
          <p:cNvSpPr/>
          <p:nvPr/>
        </p:nvSpPr>
        <p:spPr>
          <a:xfrm>
            <a:off x="235137" y="595504"/>
            <a:ext cx="216116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070C0"/>
                </a:solidFill>
                <a:latin typeface="Arial"/>
                <a:ea typeface="Arial"/>
                <a:cs typeface="Arial"/>
                <a:sym typeface="Arial"/>
              </a:rPr>
              <a:t>Root words</a:t>
            </a:r>
            <a:endParaRPr b="1" i="0" sz="2800" u="none" cap="none" strike="noStrike">
              <a:solidFill>
                <a:srgbClr val="0070C0"/>
              </a:solidFill>
              <a:latin typeface="Arial"/>
              <a:ea typeface="Arial"/>
              <a:cs typeface="Arial"/>
              <a:sym typeface="Arial"/>
            </a:endParaRPr>
          </a:p>
        </p:txBody>
      </p:sp>
      <p:sp>
        <p:nvSpPr>
          <p:cNvPr id="289" name="Google Shape;289;p5"/>
          <p:cNvSpPr/>
          <p:nvPr/>
        </p:nvSpPr>
        <p:spPr>
          <a:xfrm>
            <a:off x="265159" y="1328928"/>
            <a:ext cx="6492240" cy="28931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Anti </a:t>
            </a:r>
            <a:r>
              <a:rPr b="0" i="0" lang="en-GB" sz="1800" u="none" cap="none" strike="noStrike">
                <a:solidFill>
                  <a:schemeClr val="dk1"/>
                </a:solidFill>
                <a:latin typeface="Arial"/>
                <a:ea typeface="Arial"/>
                <a:cs typeface="Arial"/>
                <a:sym typeface="Arial"/>
              </a:rPr>
              <a:t>– against or opposite of</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Example – antibody – a substance that destroys the micro organism.</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antiseptic – preventing infection.</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Astro , aster </a:t>
            </a:r>
            <a:r>
              <a:rPr b="0" i="0" lang="en-GB" sz="1800" u="none" cap="none" strike="noStrike">
                <a:solidFill>
                  <a:schemeClr val="dk1"/>
                </a:solidFill>
                <a:latin typeface="Arial"/>
                <a:ea typeface="Arial"/>
                <a:cs typeface="Arial"/>
                <a:sym typeface="Arial"/>
              </a:rPr>
              <a:t>– stars, outer space</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Example – astronaut – a person travelling through stars.</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astronomer – someone who studies the stars.</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Avi</a:t>
            </a:r>
            <a:r>
              <a:rPr b="0" i="0" lang="en-GB" sz="1800" u="none" cap="none" strike="noStrike">
                <a:solidFill>
                  <a:schemeClr val="dk1"/>
                </a:solidFill>
                <a:latin typeface="Arial"/>
                <a:ea typeface="Arial"/>
                <a:cs typeface="Arial"/>
                <a:sym typeface="Arial"/>
              </a:rPr>
              <a:t> – bird</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Example – aviary – a large enclosure for birds.</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6"/>
          <p:cNvSpPr txBox="1"/>
          <p:nvPr/>
        </p:nvSpPr>
        <p:spPr>
          <a:xfrm>
            <a:off x="420099" y="1188164"/>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Auto</a:t>
            </a:r>
            <a:r>
              <a:rPr b="0" i="0" lang="en-GB" sz="1800" u="none" cap="none" strike="noStrike">
                <a:solidFill>
                  <a:schemeClr val="dk1"/>
                </a:solidFill>
                <a:latin typeface="Arial"/>
                <a:ea typeface="Arial"/>
                <a:cs typeface="Arial"/>
                <a:sym typeface="Arial"/>
              </a:rPr>
              <a:t> – self , same, one.</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Example – automatic – moving by itself.</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autograph – a person's own signature.</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Capt, ceive </a:t>
            </a:r>
            <a:r>
              <a:rPr b="0" i="0" lang="en-GB" sz="1800" u="none" cap="none" strike="noStrike">
                <a:solidFill>
                  <a:schemeClr val="dk1"/>
                </a:solidFill>
                <a:latin typeface="Arial"/>
                <a:ea typeface="Arial"/>
                <a:cs typeface="Arial"/>
                <a:sym typeface="Arial"/>
              </a:rPr>
              <a:t>– take or hold</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Example – intercept – to stop or interrupt.</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perceive – to take notice of something.</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Cogn </a:t>
            </a:r>
            <a:r>
              <a:rPr b="0" i="0" lang="en-GB" sz="1800" u="none" cap="none" strike="noStrike">
                <a:solidFill>
                  <a:schemeClr val="dk1"/>
                </a:solidFill>
                <a:latin typeface="Arial"/>
                <a:ea typeface="Arial"/>
                <a:cs typeface="Arial"/>
                <a:sym typeface="Arial"/>
              </a:rPr>
              <a:t>– know</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Example – cognition – the process of acquiring knowledge.</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incognito – disguised so no one knows.</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p:txBody>
      </p:sp>
      <p:sp>
        <p:nvSpPr>
          <p:cNvPr id="295" name="Google Shape;295;p6"/>
          <p:cNvSpPr/>
          <p:nvPr/>
        </p:nvSpPr>
        <p:spPr>
          <a:xfrm>
            <a:off x="103909" y="172501"/>
            <a:ext cx="2711949"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GB" sz="3200" u="none" cap="none" strike="noStrike">
                <a:solidFill>
                  <a:srgbClr val="0070C0"/>
                </a:solidFill>
                <a:latin typeface="Arial"/>
                <a:ea typeface="Arial"/>
                <a:cs typeface="Arial"/>
                <a:sym typeface="Arial"/>
              </a:rPr>
              <a:t>Root words</a:t>
            </a:r>
            <a:endParaRPr b="1" i="0" sz="32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19d04df4417_0_26"/>
          <p:cNvSpPr txBox="1"/>
          <p:nvPr/>
        </p:nvSpPr>
        <p:spPr>
          <a:xfrm>
            <a:off x="421124" y="812426"/>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GB" sz="16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 Cred</a:t>
            </a:r>
            <a:r>
              <a:rPr b="0" i="0" lang="en-GB" sz="1800" u="none" cap="none" strike="noStrike">
                <a:solidFill>
                  <a:schemeClr val="dk1"/>
                </a:solidFill>
                <a:latin typeface="Arial"/>
                <a:ea typeface="Arial"/>
                <a:cs typeface="Arial"/>
                <a:sym typeface="Arial"/>
              </a:rPr>
              <a:t> – believe.</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Example – credence – believe that something is true.</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credulous -  believing things too easily.</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Dys </a:t>
            </a:r>
            <a:r>
              <a:rPr b="0" i="0" lang="en-GB" sz="1800" u="none" cap="none" strike="noStrike">
                <a:solidFill>
                  <a:schemeClr val="dk1"/>
                </a:solidFill>
                <a:latin typeface="Arial"/>
                <a:ea typeface="Arial"/>
                <a:cs typeface="Arial"/>
                <a:sym typeface="Arial"/>
              </a:rPr>
              <a:t>– abnormal or bad.</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Example – dyspecia – abnormal digestion.</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dystopia – an imaginary place of total misery.</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Ep</a:t>
            </a:r>
            <a:r>
              <a:rPr b="0" i="0" lang="en-GB" sz="1800" u="none" cap="none" strike="noStrike">
                <a:solidFill>
                  <a:schemeClr val="dk1"/>
                </a:solidFill>
                <a:latin typeface="Arial"/>
                <a:ea typeface="Arial"/>
                <a:cs typeface="Arial"/>
                <a:sym typeface="Arial"/>
              </a:rPr>
              <a:t> – on ,over, among ,upon</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Example – epidemic – the rapid spread of something negative.</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epicentre – centre of the earthquake.</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t/>
            </a:r>
            <a:endParaRPr b="1"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800"/>
              <a:buFont typeface="Arial"/>
              <a:buNone/>
            </a:pPr>
            <a:r>
              <a:t/>
            </a:r>
            <a:endParaRPr b="1"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800"/>
              <a:buFont typeface="Arial"/>
              <a:buNone/>
            </a:pPr>
            <a:r>
              <a:t/>
            </a:r>
            <a:endParaRPr b="1" i="0" sz="1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800"/>
              <a:buFont typeface="Arial"/>
              <a:buNone/>
            </a:pPr>
            <a:r>
              <a:t/>
            </a:r>
            <a:endParaRPr b="1" i="0" sz="1800" u="none" cap="none" strike="noStrike">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rgbClr val="000000"/>
              </a:buClr>
              <a:buSzPts val="1800"/>
              <a:buFont typeface="Arial"/>
              <a:buNone/>
            </a:pPr>
            <a:r>
              <a:t/>
            </a:r>
            <a:endParaRPr b="1" i="0" sz="1800" u="none" cap="none" strike="noStrike">
              <a:solidFill>
                <a:srgbClr val="000000"/>
              </a:solidFill>
              <a:latin typeface="Roboto"/>
              <a:ea typeface="Roboto"/>
              <a:cs typeface="Roboto"/>
              <a:sym typeface="Roboto"/>
            </a:endParaRPr>
          </a:p>
          <a:p>
            <a:pPr indent="0" lvl="0" marL="0" marR="0" rtl="0" algn="just">
              <a:lnSpc>
                <a:spcPct val="100000"/>
              </a:lnSpc>
              <a:spcBef>
                <a:spcPts val="1200"/>
              </a:spcBef>
              <a:spcAft>
                <a:spcPts val="0"/>
              </a:spcAft>
              <a:buClr>
                <a:srgbClr val="000000"/>
              </a:buClr>
              <a:buSzPts val="1800"/>
              <a:buFont typeface="Arial"/>
              <a:buNone/>
            </a:pPr>
            <a:r>
              <a:rPr b="1" i="0" lang="en-GB" sz="1800" u="none" cap="none" strike="noStrike">
                <a:solidFill>
                  <a:schemeClr val="dk1"/>
                </a:solidFill>
                <a:latin typeface="Roboto"/>
                <a:ea typeface="Roboto"/>
                <a:cs typeface="Roboto"/>
                <a:sym typeface="Roboto"/>
              </a:rPr>
              <a:t>  </a:t>
            </a:r>
            <a:endParaRPr b="1" i="0" sz="1800" u="none" cap="none" strike="noStrike">
              <a:solidFill>
                <a:schemeClr val="dk1"/>
              </a:solidFill>
              <a:latin typeface="Roboto"/>
              <a:ea typeface="Roboto"/>
              <a:cs typeface="Roboto"/>
              <a:sym typeface="Roboto"/>
            </a:endParaRPr>
          </a:p>
          <a:p>
            <a:pPr indent="0" lvl="0" marL="12700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g19d04df4417_0_26"/>
          <p:cNvSpPr/>
          <p:nvPr/>
        </p:nvSpPr>
        <p:spPr>
          <a:xfrm>
            <a:off x="236393" y="334851"/>
            <a:ext cx="184731"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302" name="Google Shape;302;g19d04df4417_0_26"/>
          <p:cNvSpPr/>
          <p:nvPr/>
        </p:nvSpPr>
        <p:spPr>
          <a:xfrm>
            <a:off x="172351" y="292387"/>
            <a:ext cx="2438488"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GB" sz="3200" u="none" cap="none" strike="noStrike">
                <a:solidFill>
                  <a:srgbClr val="0070C0"/>
                </a:solidFill>
                <a:latin typeface="Roboto"/>
                <a:ea typeface="Roboto"/>
                <a:cs typeface="Roboto"/>
                <a:sym typeface="Roboto"/>
              </a:rPr>
              <a:t>Root words</a:t>
            </a:r>
            <a:endParaRPr b="1" i="0" sz="2400" u="none" cap="none" strike="noStrike">
              <a:solidFill>
                <a:srgbClr val="0070C0"/>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g19d04df4417_0_35"/>
          <p:cNvSpPr txBox="1"/>
          <p:nvPr/>
        </p:nvSpPr>
        <p:spPr>
          <a:xfrm>
            <a:off x="274883" y="844142"/>
            <a:ext cx="7384200" cy="3455215"/>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1270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800"/>
              </a:spcAft>
              <a:buClr>
                <a:srgbClr val="000000"/>
              </a:buClr>
              <a:buSzPts val="1400"/>
              <a:buFont typeface="Arial"/>
              <a:buNone/>
            </a:pPr>
            <a:r>
              <a:t/>
            </a:r>
            <a:endParaRPr b="1" baseline="30000" i="0" sz="1800" u="none" cap="none" strike="noStrike">
              <a:solidFill>
                <a:srgbClr val="000000"/>
              </a:solidFill>
              <a:latin typeface="Roboto"/>
              <a:ea typeface="Roboto"/>
              <a:cs typeface="Roboto"/>
              <a:sym typeface="Roboto"/>
            </a:endParaRPr>
          </a:p>
        </p:txBody>
      </p:sp>
      <p:sp>
        <p:nvSpPr>
          <p:cNvPr id="308" name="Google Shape;308;g19d04df4417_0_35"/>
          <p:cNvSpPr/>
          <p:nvPr/>
        </p:nvSpPr>
        <p:spPr>
          <a:xfrm>
            <a:off x="90152" y="387075"/>
            <a:ext cx="184731"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309" name="Google Shape;309;g19d04df4417_0_35"/>
          <p:cNvSpPr/>
          <p:nvPr/>
        </p:nvSpPr>
        <p:spPr>
          <a:xfrm>
            <a:off x="327600" y="1302540"/>
            <a:ext cx="4572000" cy="458074"/>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p:txBody>
      </p:sp>
      <p:sp>
        <p:nvSpPr>
          <p:cNvPr id="310" name="Google Shape;310;g19d04df4417_0_35"/>
          <p:cNvSpPr/>
          <p:nvPr/>
        </p:nvSpPr>
        <p:spPr>
          <a:xfrm>
            <a:off x="-1" y="351271"/>
            <a:ext cx="4291445"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070C0"/>
                </a:solidFill>
                <a:latin typeface="Roboto"/>
                <a:ea typeface="Roboto"/>
                <a:cs typeface="Roboto"/>
                <a:sym typeface="Roboto"/>
              </a:rPr>
              <a:t>Root words</a:t>
            </a:r>
            <a:endParaRPr b="1" i="0" sz="28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311" name="Google Shape;311;g19d04df4417_0_35"/>
          <p:cNvSpPr/>
          <p:nvPr/>
        </p:nvSpPr>
        <p:spPr>
          <a:xfrm>
            <a:off x="90152" y="1095047"/>
            <a:ext cx="6858000" cy="362471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Haem </a:t>
            </a:r>
            <a:r>
              <a:rPr b="0" i="0" lang="en-GB" sz="1800" u="none" cap="none" strike="noStrike">
                <a:solidFill>
                  <a:schemeClr val="dk1"/>
                </a:solidFill>
                <a:latin typeface="Arial"/>
                <a:ea typeface="Arial"/>
                <a:cs typeface="Arial"/>
                <a:sym typeface="Arial"/>
              </a:rPr>
              <a:t>– blood</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Example – haemoglobin – red blood particle.</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haemorrhage – clotting of the blood.</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Idio </a:t>
            </a:r>
            <a:r>
              <a:rPr b="0" i="0" lang="en-GB" sz="1800" u="none" cap="none" strike="noStrike">
                <a:solidFill>
                  <a:schemeClr val="dk1"/>
                </a:solidFill>
                <a:latin typeface="Arial"/>
                <a:ea typeface="Arial"/>
                <a:cs typeface="Arial"/>
                <a:sym typeface="Arial"/>
              </a:rPr>
              <a:t>– peculiar, personal</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Example – idiomatic – peculiar to a particular language.</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idiot – someone who is distinctly foolish or stupid.</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Viv</a:t>
            </a:r>
            <a:r>
              <a:rPr b="0" i="0" lang="en-GB" sz="1800" u="none" cap="none" strike="noStrike">
                <a:solidFill>
                  <a:schemeClr val="dk1"/>
                </a:solidFill>
                <a:latin typeface="Arial"/>
                <a:ea typeface="Arial"/>
                <a:cs typeface="Arial"/>
                <a:sym typeface="Arial"/>
              </a:rPr>
              <a:t> – live or life</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Example – revival – act of bringing back to life.</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vital – pertaining to live.</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7"/>
          <p:cNvSpPr txBox="1"/>
          <p:nvPr/>
        </p:nvSpPr>
        <p:spPr>
          <a:xfrm>
            <a:off x="-391684" y="1104738"/>
            <a:ext cx="8878840" cy="3175686"/>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highlight>
                <a:srgbClr val="FFFFFF"/>
              </a:highlight>
              <a:latin typeface="Roboto"/>
              <a:ea typeface="Roboto"/>
              <a:cs typeface="Roboto"/>
              <a:sym typeface="Roboto"/>
            </a:endParaRPr>
          </a:p>
        </p:txBody>
      </p:sp>
      <p:sp>
        <p:nvSpPr>
          <p:cNvPr id="317" name="Google Shape;317;p7"/>
          <p:cNvSpPr/>
          <p:nvPr/>
        </p:nvSpPr>
        <p:spPr>
          <a:xfrm>
            <a:off x="179816" y="284923"/>
            <a:ext cx="1875835"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rgbClr val="0070C0"/>
                </a:solidFill>
                <a:highlight>
                  <a:srgbClr val="FFFFFF"/>
                </a:highlight>
                <a:latin typeface="Arial"/>
                <a:ea typeface="Arial"/>
                <a:cs typeface="Arial"/>
                <a:sym typeface="Arial"/>
              </a:rPr>
              <a:t>Root words</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318" name="Google Shape;318;p7"/>
          <p:cNvSpPr/>
          <p:nvPr/>
        </p:nvSpPr>
        <p:spPr>
          <a:xfrm>
            <a:off x="179816" y="1177475"/>
            <a:ext cx="4572000" cy="4108817"/>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Acri</a:t>
            </a:r>
            <a:r>
              <a:rPr b="0" i="0" lang="en-GB" sz="1800" u="none" cap="none" strike="noStrike">
                <a:solidFill>
                  <a:schemeClr val="dk1"/>
                </a:solidFill>
                <a:latin typeface="Arial"/>
                <a:ea typeface="Arial"/>
                <a:cs typeface="Arial"/>
                <a:sym typeface="Arial"/>
              </a:rPr>
              <a:t> – bitter</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Example – acrid – unpleasantly bitter</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acrimony – ill feeling</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Archy</a:t>
            </a:r>
            <a:r>
              <a:rPr b="0" i="0" lang="en-GB" sz="1800" u="none" cap="none" strike="noStrike">
                <a:solidFill>
                  <a:schemeClr val="dk1"/>
                </a:solidFill>
                <a:latin typeface="Arial"/>
                <a:ea typeface="Arial"/>
                <a:cs typeface="Arial"/>
                <a:sym typeface="Arial"/>
              </a:rPr>
              <a:t> – rule</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Example – hierarchy – a ranking system or procedure to authority</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monarchy – form of government with a monarch at the head</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Pan</a:t>
            </a:r>
            <a:r>
              <a:rPr b="0" i="0" lang="en-GB" sz="1800" u="none" cap="none" strike="noStrike">
                <a:solidFill>
                  <a:schemeClr val="dk1"/>
                </a:solidFill>
                <a:latin typeface="Arial"/>
                <a:ea typeface="Arial"/>
                <a:cs typeface="Arial"/>
                <a:sym typeface="Arial"/>
              </a:rPr>
              <a:t> – all</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Example – pandemic – prevalent over a whole country</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panacea – a solution for all difficulties or diseases</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20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8"/>
          <p:cNvSpPr txBox="1"/>
          <p:nvPr/>
        </p:nvSpPr>
        <p:spPr>
          <a:xfrm>
            <a:off x="327600" y="99945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8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8"/>
          <p:cNvSpPr/>
          <p:nvPr/>
        </p:nvSpPr>
        <p:spPr>
          <a:xfrm>
            <a:off x="265160" y="438591"/>
            <a:ext cx="184731"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325" name="Google Shape;325;p8"/>
          <p:cNvSpPr/>
          <p:nvPr/>
        </p:nvSpPr>
        <p:spPr>
          <a:xfrm>
            <a:off x="691187" y="1123915"/>
            <a:ext cx="8117962" cy="646331"/>
          </a:xfrm>
          <a:prstGeom prst="rect">
            <a:avLst/>
          </a:prstGeom>
          <a:noFill/>
          <a:ln>
            <a:noFill/>
          </a:ln>
        </p:spPr>
        <p:txBody>
          <a:bodyPr anchorCtr="0" anchor="t" bIns="45700" lIns="91425" spcFirstLastPara="1" rIns="91425" wrap="square" tIns="45700">
            <a:spAutoFit/>
          </a:bodyPr>
          <a:lstStyle/>
          <a:p>
            <a:pPr indent="0" lvl="0" marL="13335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6" name="Google Shape;326;p8"/>
          <p:cNvSpPr/>
          <p:nvPr/>
        </p:nvSpPr>
        <p:spPr>
          <a:xfrm>
            <a:off x="327600" y="1307164"/>
            <a:ext cx="7933035" cy="66120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2800"/>
              <a:buFont typeface="Arial"/>
              <a:buNone/>
            </a:pPr>
            <a:r>
              <a:t/>
            </a:r>
            <a:endParaRPr b="1" i="0" sz="2800" u="none" cap="none" strike="noStrike">
              <a:solidFill>
                <a:srgbClr val="000000"/>
              </a:solidFill>
              <a:latin typeface="Times New Roman"/>
              <a:ea typeface="Times New Roman"/>
              <a:cs typeface="Times New Roman"/>
              <a:sym typeface="Times New Roman"/>
            </a:endParaRPr>
          </a:p>
        </p:txBody>
      </p:sp>
      <p:sp>
        <p:nvSpPr>
          <p:cNvPr id="327" name="Google Shape;327;p8"/>
          <p:cNvSpPr/>
          <p:nvPr/>
        </p:nvSpPr>
        <p:spPr>
          <a:xfrm>
            <a:off x="0" y="368508"/>
            <a:ext cx="1875835"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rgbClr val="0070C0"/>
                </a:solidFill>
                <a:highlight>
                  <a:srgbClr val="FFFFFF"/>
                </a:highlight>
                <a:latin typeface="Roboto"/>
                <a:ea typeface="Roboto"/>
                <a:cs typeface="Roboto"/>
                <a:sym typeface="Roboto"/>
              </a:rPr>
              <a:t>Root words</a:t>
            </a:r>
            <a:endParaRPr b="1" i="0" sz="2400" u="none" cap="none" strike="noStrike">
              <a:solidFill>
                <a:srgbClr val="0070C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328" name="Google Shape;328;p8"/>
          <p:cNvSpPr/>
          <p:nvPr/>
        </p:nvSpPr>
        <p:spPr>
          <a:xfrm>
            <a:off x="167777" y="1045616"/>
            <a:ext cx="7365632" cy="3083921"/>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Thei </a:t>
            </a:r>
            <a:r>
              <a:rPr b="0" i="0" lang="en-GB" sz="1800" u="none" cap="none" strike="noStrike">
                <a:solidFill>
                  <a:schemeClr val="dk1"/>
                </a:solidFill>
                <a:latin typeface="Arial"/>
                <a:ea typeface="Arial"/>
                <a:cs typeface="Arial"/>
                <a:sym typeface="Arial"/>
              </a:rPr>
              <a:t>– god</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Example – atheist – a person who disbelieves in the existence of god</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pantheist – worship of all gods of different religion</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Cert</a:t>
            </a:r>
            <a:r>
              <a:rPr b="0" i="0" lang="en-GB" sz="1800" u="none" cap="none" strike="noStrike">
                <a:solidFill>
                  <a:schemeClr val="dk1"/>
                </a:solidFill>
                <a:latin typeface="Arial"/>
                <a:ea typeface="Arial"/>
                <a:cs typeface="Arial"/>
                <a:sym typeface="Arial"/>
              </a:rPr>
              <a:t> – sure</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Example – certify – confirm in a formal statement</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certainly – used to emphasize the speakers belief is true</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Somni or hypno </a:t>
            </a:r>
            <a:r>
              <a:rPr b="0" i="0" lang="en-GB" sz="1800" u="none" cap="none" strike="noStrike">
                <a:solidFill>
                  <a:schemeClr val="dk1"/>
                </a:solidFill>
                <a:latin typeface="Arial"/>
                <a:ea typeface="Arial"/>
                <a:cs typeface="Arial"/>
                <a:sym typeface="Arial"/>
              </a:rPr>
              <a:t>– sleep</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Example – insomnia – inability to sleep</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somniloquy – talking aloud in sleep</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hypnosis – hypnotic state</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hypnotism – study or practise of hypnotisis</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9"/>
          <p:cNvSpPr txBox="1"/>
          <p:nvPr/>
        </p:nvSpPr>
        <p:spPr>
          <a:xfrm>
            <a:off x="265160" y="1026750"/>
            <a:ext cx="876293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4" name="Google Shape;334;p9"/>
          <p:cNvSpPr/>
          <p:nvPr/>
        </p:nvSpPr>
        <p:spPr>
          <a:xfrm>
            <a:off x="0" y="395808"/>
            <a:ext cx="1875835"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rgbClr val="0070C0"/>
                </a:solidFill>
                <a:highlight>
                  <a:srgbClr val="FFFFFF"/>
                </a:highlight>
                <a:latin typeface="Roboto"/>
                <a:ea typeface="Roboto"/>
                <a:cs typeface="Roboto"/>
                <a:sym typeface="Roboto"/>
              </a:rPr>
              <a:t>Root words</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335" name="Google Shape;335;p9"/>
          <p:cNvSpPr/>
          <p:nvPr/>
        </p:nvSpPr>
        <p:spPr>
          <a:xfrm>
            <a:off x="74624" y="1193308"/>
            <a:ext cx="7105493" cy="365176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Soli</a:t>
            </a:r>
            <a:r>
              <a:rPr b="0" i="0" lang="en-GB" sz="1800" u="none" cap="none" strike="noStrike">
                <a:solidFill>
                  <a:schemeClr val="dk1"/>
                </a:solidFill>
                <a:latin typeface="Arial"/>
                <a:ea typeface="Arial"/>
                <a:cs typeface="Arial"/>
                <a:sym typeface="Arial"/>
              </a:rPr>
              <a:t> – single</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Example – solitude – a state of being alone</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Omni </a:t>
            </a:r>
            <a:r>
              <a:rPr b="0" i="0" lang="en-GB" sz="1800" u="none" cap="none" strike="noStrike">
                <a:solidFill>
                  <a:schemeClr val="dk1"/>
                </a:solidFill>
                <a:latin typeface="Arial"/>
                <a:ea typeface="Arial"/>
                <a:cs typeface="Arial"/>
                <a:sym typeface="Arial"/>
              </a:rPr>
              <a:t>– all</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Example – omnivore – animal that eat both plants and animals</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omnipresent – present everywhere</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Vore</a:t>
            </a:r>
            <a:r>
              <a:rPr b="0" i="0" lang="en-GB" sz="1800" u="none" cap="none" strike="noStrike">
                <a:solidFill>
                  <a:schemeClr val="dk1"/>
                </a:solidFill>
                <a:latin typeface="Arial"/>
                <a:ea typeface="Arial"/>
                <a:cs typeface="Arial"/>
                <a:sym typeface="Arial"/>
              </a:rPr>
              <a:t> – to eat greedily</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Example – herbivore – animals that feed on plants</a:t>
            </a:r>
            <a:endParaRPr b="0" i="0" sz="1400" u="none" cap="none" strike="noStrike">
              <a:solidFill>
                <a:srgbClr val="000000"/>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omnivore – animals feeds on both plants and animals</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152400" marR="0" rtl="0" algn="l">
              <a:lnSpc>
                <a:spcPct val="9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9"/>
          <p:cNvSpPr txBox="1"/>
          <p:nvPr/>
        </p:nvSpPr>
        <p:spPr>
          <a:xfrm>
            <a:off x="937917" y="1771262"/>
            <a:ext cx="876293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1" name="Google Shape;341;p49"/>
          <p:cNvSpPr/>
          <p:nvPr/>
        </p:nvSpPr>
        <p:spPr>
          <a:xfrm>
            <a:off x="0" y="290418"/>
            <a:ext cx="184731"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342" name="Google Shape;342;p49"/>
          <p:cNvSpPr/>
          <p:nvPr/>
        </p:nvSpPr>
        <p:spPr>
          <a:xfrm>
            <a:off x="420624" y="1073191"/>
            <a:ext cx="704088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imes New Roman"/>
              <a:ea typeface="Times New Roman"/>
              <a:cs typeface="Times New Roman"/>
              <a:sym typeface="Times New Roman"/>
            </a:endParaRPr>
          </a:p>
        </p:txBody>
      </p:sp>
      <p:sp>
        <p:nvSpPr>
          <p:cNvPr id="343" name="Google Shape;343;p49"/>
          <p:cNvSpPr/>
          <p:nvPr/>
        </p:nvSpPr>
        <p:spPr>
          <a:xfrm>
            <a:off x="0" y="354509"/>
            <a:ext cx="1960793"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rgbClr val="0070C0"/>
                </a:solidFill>
                <a:highlight>
                  <a:srgbClr val="FFFFFF"/>
                </a:highlight>
                <a:latin typeface="Arial"/>
                <a:ea typeface="Arial"/>
                <a:cs typeface="Arial"/>
                <a:sym typeface="Arial"/>
              </a:rPr>
              <a:t>Question : 1</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344" name="Google Shape;344;p49"/>
          <p:cNvSpPr/>
          <p:nvPr/>
        </p:nvSpPr>
        <p:spPr>
          <a:xfrm>
            <a:off x="174339" y="1112545"/>
            <a:ext cx="6132943" cy="31393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Select the word or phrase which best expresses the meaning of the given word: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BLASPHEMOUS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000000"/>
              </a:buClr>
              <a:buSzPts val="1700"/>
              <a:buFont typeface="Arial"/>
              <a:buAutoNum type="alphaUcPeriod"/>
            </a:pPr>
            <a:r>
              <a:rPr b="0" i="0" lang="en-GB" sz="1800" u="none" cap="none" strike="noStrike">
                <a:solidFill>
                  <a:srgbClr val="000000"/>
                </a:solidFill>
                <a:latin typeface="Arial"/>
                <a:ea typeface="Arial"/>
                <a:cs typeface="Arial"/>
                <a:sym typeface="Arial"/>
              </a:rPr>
              <a:t>Convict								</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000000"/>
              </a:buClr>
              <a:buSzPts val="1700"/>
              <a:buFont typeface="Arial"/>
              <a:buAutoNum type="alphaUcPeriod"/>
            </a:pPr>
            <a:r>
              <a:rPr b="0" i="0" lang="en-GB" sz="1800" u="none" cap="none" strike="noStrike">
                <a:solidFill>
                  <a:srgbClr val="000000"/>
                </a:solidFill>
                <a:latin typeface="Arial"/>
                <a:ea typeface="Arial"/>
                <a:cs typeface="Arial"/>
                <a:sym typeface="Arial"/>
              </a:rPr>
              <a:t>Gather</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000000"/>
              </a:buClr>
              <a:buSzPts val="1700"/>
              <a:buFont typeface="Arial"/>
              <a:buAutoNum type="alphaUcPeriod"/>
            </a:pPr>
            <a:r>
              <a:rPr b="0" i="0" lang="en-GB" sz="1800" u="none" cap="none" strike="noStrike">
                <a:solidFill>
                  <a:srgbClr val="000000"/>
                </a:solidFill>
                <a:latin typeface="Arial"/>
                <a:ea typeface="Arial"/>
                <a:cs typeface="Arial"/>
                <a:sym typeface="Arial"/>
              </a:rPr>
              <a:t>Impious</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000000"/>
              </a:buClr>
              <a:buSzPts val="1700"/>
              <a:buFont typeface="Arial"/>
              <a:buAutoNum type="alphaUcPeriod"/>
            </a:pPr>
            <a:r>
              <a:rPr b="0" i="0" lang="en-GB" sz="1800" u="none" cap="none" strike="noStrike">
                <a:solidFill>
                  <a:srgbClr val="000000"/>
                </a:solidFill>
                <a:latin typeface="Arial"/>
                <a:ea typeface="Arial"/>
                <a:cs typeface="Arial"/>
                <a:sym typeface="Arial"/>
              </a:rPr>
              <a:t>Pious</a:t>
            </a:r>
            <a:endParaRPr b="1" i="0" sz="1600" u="none" cap="none" strike="noStrike">
              <a:solidFill>
                <a:srgbClr val="40404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 </a:t>
            </a:r>
            <a:endParaRPr b="0" i="0" sz="1800" u="none" cap="none" strike="noStrike">
              <a:solidFill>
                <a:srgbClr val="000000"/>
              </a:solidFill>
              <a:latin typeface="Arial"/>
              <a:ea typeface="Arial"/>
              <a:cs typeface="Arial"/>
              <a:sym typeface="Arial"/>
            </a:endParaRPr>
          </a:p>
        </p:txBody>
      </p:sp>
      <p:pic>
        <p:nvPicPr>
          <p:cNvPr id="345" name="Google Shape;345;p49"/>
          <p:cNvPicPr preferRelativeResize="0"/>
          <p:nvPr/>
        </p:nvPicPr>
        <p:blipFill rotWithShape="1">
          <a:blip r:embed="rId3">
            <a:alphaModFix/>
          </a:blip>
          <a:srcRect b="0" l="0" r="0" t="0"/>
          <a:stretch/>
        </p:blipFill>
        <p:spPr>
          <a:xfrm>
            <a:off x="5319382" y="1882105"/>
            <a:ext cx="2857500" cy="1600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0"/>
          <p:cNvSpPr txBox="1"/>
          <p:nvPr/>
        </p:nvSpPr>
        <p:spPr>
          <a:xfrm>
            <a:off x="265160" y="1026750"/>
            <a:ext cx="876293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1" name="Google Shape;351;p50"/>
          <p:cNvSpPr/>
          <p:nvPr/>
        </p:nvSpPr>
        <p:spPr>
          <a:xfrm>
            <a:off x="0" y="290418"/>
            <a:ext cx="184731"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352" name="Google Shape;352;p50"/>
          <p:cNvSpPr/>
          <p:nvPr/>
        </p:nvSpPr>
        <p:spPr>
          <a:xfrm>
            <a:off x="493776" y="1449455"/>
            <a:ext cx="651662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3" name="Google Shape;353;p50"/>
          <p:cNvSpPr/>
          <p:nvPr/>
        </p:nvSpPr>
        <p:spPr>
          <a:xfrm>
            <a:off x="-45663" y="290418"/>
            <a:ext cx="2222083" cy="16927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070C0"/>
                </a:solidFill>
                <a:highlight>
                  <a:srgbClr val="FFFFFF"/>
                </a:highlight>
                <a:latin typeface="Roboto"/>
                <a:ea typeface="Roboto"/>
                <a:cs typeface="Roboto"/>
                <a:sym typeface="Roboto"/>
              </a:rPr>
              <a:t>Explanation</a:t>
            </a:r>
            <a:endParaRPr b="1" i="0" sz="28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354" name="Google Shape;354;p50"/>
          <p:cNvSpPr/>
          <p:nvPr/>
        </p:nvSpPr>
        <p:spPr>
          <a:xfrm>
            <a:off x="1886297" y="3498944"/>
            <a:ext cx="184731" cy="53937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2200"/>
              <a:buFont typeface="Arial"/>
              <a:buNone/>
            </a:pPr>
            <a:r>
              <a:t/>
            </a:r>
            <a:endParaRPr b="1" i="0" sz="2200" u="none" cap="none" strike="noStrike">
              <a:solidFill>
                <a:srgbClr val="000000"/>
              </a:solidFill>
              <a:latin typeface="Times New Roman"/>
              <a:ea typeface="Times New Roman"/>
              <a:cs typeface="Times New Roman"/>
              <a:sym typeface="Times New Roman"/>
            </a:endParaRPr>
          </a:p>
        </p:txBody>
      </p:sp>
      <p:sp>
        <p:nvSpPr>
          <p:cNvPr id="355" name="Google Shape;355;p50"/>
          <p:cNvSpPr/>
          <p:nvPr/>
        </p:nvSpPr>
        <p:spPr>
          <a:xfrm>
            <a:off x="957072" y="4038322"/>
            <a:ext cx="4572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Times New Roman"/>
              <a:ea typeface="Times New Roman"/>
              <a:cs typeface="Times New Roman"/>
              <a:sym typeface="Times New Roman"/>
            </a:endParaRPr>
          </a:p>
        </p:txBody>
      </p:sp>
      <p:sp>
        <p:nvSpPr>
          <p:cNvPr id="356" name="Google Shape;356;p50"/>
          <p:cNvSpPr/>
          <p:nvPr/>
        </p:nvSpPr>
        <p:spPr>
          <a:xfrm>
            <a:off x="103066" y="1122936"/>
            <a:ext cx="7804416" cy="11285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The meaning of the word is it is irreverent and sacrilegious against god.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This relates exactly to impious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1"/>
          <p:cNvSpPr txBox="1"/>
          <p:nvPr/>
        </p:nvSpPr>
        <p:spPr>
          <a:xfrm>
            <a:off x="184730" y="1026750"/>
            <a:ext cx="884336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2" name="Google Shape;362;p51"/>
          <p:cNvSpPr/>
          <p:nvPr/>
        </p:nvSpPr>
        <p:spPr>
          <a:xfrm>
            <a:off x="0" y="290418"/>
            <a:ext cx="184731"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363" name="Google Shape;363;p51"/>
          <p:cNvSpPr/>
          <p:nvPr/>
        </p:nvSpPr>
        <p:spPr>
          <a:xfrm>
            <a:off x="92365" y="290418"/>
            <a:ext cx="184731"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364" name="Google Shape;364;p51"/>
          <p:cNvSpPr/>
          <p:nvPr/>
        </p:nvSpPr>
        <p:spPr>
          <a:xfrm>
            <a:off x="277096" y="1179061"/>
            <a:ext cx="8080520" cy="9079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0000"/>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Times New Roman"/>
                <a:ea typeface="Times New Roman"/>
                <a:cs typeface="Times New Roman"/>
                <a:sym typeface="Times New Roman"/>
              </a:rPr>
              <a:t>		</a:t>
            </a:r>
            <a:endParaRPr b="0" i="0" sz="1400" u="none" cap="none" strike="noStrike">
              <a:solidFill>
                <a:srgbClr val="000000"/>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365" name="Google Shape;365;p51"/>
          <p:cNvSpPr/>
          <p:nvPr/>
        </p:nvSpPr>
        <p:spPr>
          <a:xfrm>
            <a:off x="0" y="363453"/>
            <a:ext cx="2436886"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GB" sz="3200" u="none" cap="none" strike="noStrike">
                <a:solidFill>
                  <a:srgbClr val="0070C0"/>
                </a:solidFill>
                <a:highlight>
                  <a:srgbClr val="FFFFFF"/>
                </a:highlight>
                <a:latin typeface="Roboto"/>
                <a:ea typeface="Roboto"/>
                <a:cs typeface="Roboto"/>
                <a:sym typeface="Roboto"/>
              </a:rPr>
              <a:t>Question: 2</a:t>
            </a:r>
            <a:endParaRPr b="1" i="0" sz="3200" u="none" cap="none" strike="noStrike">
              <a:solidFill>
                <a:srgbClr val="0070C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366" name="Google Shape;366;p51"/>
          <p:cNvSpPr/>
          <p:nvPr/>
        </p:nvSpPr>
        <p:spPr>
          <a:xfrm>
            <a:off x="184730" y="1191394"/>
            <a:ext cx="6444669" cy="31393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Select the word or phrase which best expresses the meaning of the given word: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BAFFLE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000000"/>
              </a:buClr>
              <a:buSzPts val="1700"/>
              <a:buFont typeface="Arial"/>
              <a:buAutoNum type="alphaUcPeriod"/>
            </a:pPr>
            <a:r>
              <a:rPr b="0" i="0" lang="en-GB" sz="1800" u="none" cap="none" strike="noStrike">
                <a:solidFill>
                  <a:srgbClr val="000000"/>
                </a:solidFill>
                <a:latin typeface="Arial"/>
                <a:ea typeface="Arial"/>
                <a:cs typeface="Arial"/>
                <a:sym typeface="Arial"/>
              </a:rPr>
              <a:t>Regard							</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000000"/>
              </a:buClr>
              <a:buSzPts val="1700"/>
              <a:buFont typeface="Arial"/>
              <a:buAutoNum type="alphaUcPeriod"/>
            </a:pPr>
            <a:r>
              <a:rPr b="0" i="0" lang="en-GB" sz="1800" u="none" cap="none" strike="noStrike">
                <a:solidFill>
                  <a:srgbClr val="000000"/>
                </a:solidFill>
                <a:latin typeface="Arial"/>
                <a:ea typeface="Arial"/>
                <a:cs typeface="Arial"/>
                <a:sym typeface="Arial"/>
              </a:rPr>
              <a:t>Confound</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000000"/>
              </a:buClr>
              <a:buSzPts val="1700"/>
              <a:buFont typeface="Arial"/>
              <a:buAutoNum type="alphaUcPeriod"/>
            </a:pPr>
            <a:r>
              <a:rPr b="0" i="0" lang="en-GB" sz="1800" u="none" cap="none" strike="noStrike">
                <a:solidFill>
                  <a:srgbClr val="000000"/>
                </a:solidFill>
                <a:latin typeface="Arial"/>
                <a:ea typeface="Arial"/>
                <a:cs typeface="Arial"/>
                <a:sym typeface="Arial"/>
              </a:rPr>
              <a:t>Perplex</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000000"/>
              </a:buClr>
              <a:buSzPts val="1700"/>
              <a:buFont typeface="Arial"/>
              <a:buAutoNum type="alphaUcPeriod"/>
            </a:pPr>
            <a:r>
              <a:rPr b="0" i="0" lang="en-GB" sz="1800" u="none" cap="none" strike="noStrike">
                <a:solidFill>
                  <a:srgbClr val="000000"/>
                </a:solidFill>
                <a:latin typeface="Arial"/>
                <a:ea typeface="Arial"/>
                <a:cs typeface="Arial"/>
                <a:sym typeface="Arial"/>
              </a:rPr>
              <a:t>Scorn</a:t>
            </a:r>
            <a:endParaRPr b="1" i="0" sz="1600" u="none" cap="none" strike="noStrike">
              <a:solidFill>
                <a:srgbClr val="40404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67" name="Google Shape;367;p51"/>
          <p:cNvPicPr preferRelativeResize="0"/>
          <p:nvPr/>
        </p:nvPicPr>
        <p:blipFill rotWithShape="1">
          <a:blip r:embed="rId3">
            <a:alphaModFix/>
          </a:blip>
          <a:srcRect b="0" l="0" r="0" t="0"/>
          <a:stretch/>
        </p:blipFill>
        <p:spPr>
          <a:xfrm>
            <a:off x="5351225" y="1956191"/>
            <a:ext cx="2838450" cy="16097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2"/>
          <p:cNvSpPr txBox="1"/>
          <p:nvPr/>
        </p:nvSpPr>
        <p:spPr>
          <a:xfrm>
            <a:off x="265160" y="1026750"/>
            <a:ext cx="876293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3" name="Google Shape;373;p52"/>
          <p:cNvSpPr/>
          <p:nvPr/>
        </p:nvSpPr>
        <p:spPr>
          <a:xfrm>
            <a:off x="0" y="290418"/>
            <a:ext cx="184731"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374" name="Google Shape;374;p52"/>
          <p:cNvSpPr/>
          <p:nvPr/>
        </p:nvSpPr>
        <p:spPr>
          <a:xfrm>
            <a:off x="92365" y="290418"/>
            <a:ext cx="184731"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375" name="Google Shape;375;p52"/>
          <p:cNvSpPr/>
          <p:nvPr/>
        </p:nvSpPr>
        <p:spPr>
          <a:xfrm>
            <a:off x="277096" y="1168867"/>
            <a:ext cx="6720856" cy="78483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6" name="Google Shape;376;p52"/>
          <p:cNvSpPr/>
          <p:nvPr/>
        </p:nvSpPr>
        <p:spPr>
          <a:xfrm>
            <a:off x="112532" y="290418"/>
            <a:ext cx="2222083" cy="16927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070C0"/>
                </a:solidFill>
                <a:highlight>
                  <a:srgbClr val="FFFFFF"/>
                </a:highlight>
                <a:latin typeface="Roboto"/>
                <a:ea typeface="Roboto"/>
                <a:cs typeface="Roboto"/>
                <a:sym typeface="Roboto"/>
              </a:rPr>
              <a:t>Explanation</a:t>
            </a:r>
            <a:endParaRPr b="1" i="0" sz="28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377" name="Google Shape;377;p52"/>
          <p:cNvSpPr/>
          <p:nvPr/>
        </p:nvSpPr>
        <p:spPr>
          <a:xfrm>
            <a:off x="190109" y="1222883"/>
            <a:ext cx="7587669" cy="29346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BAFFLE means to bewilder by the event happened.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Perplex means exactly the same.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Scorn means to hate something and to avoid it and hate it completely.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Confound means to defeat or to prove or to cause confusion and surprise.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Regard means to consider.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15000"/>
              </a:lnSpc>
              <a:spcBef>
                <a:spcPts val="8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3"/>
          <p:cNvSpPr txBox="1"/>
          <p:nvPr/>
        </p:nvSpPr>
        <p:spPr>
          <a:xfrm>
            <a:off x="92365" y="1261357"/>
            <a:ext cx="876293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Select the word or phrase which best expresses the meaning of the given word: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DEFER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000000"/>
              </a:buClr>
              <a:buSzPts val="1700"/>
              <a:buFont typeface="Arial"/>
              <a:buAutoNum type="alphaUcPeriod"/>
            </a:pPr>
            <a:r>
              <a:rPr b="0" i="0" lang="en-GB" sz="1800" u="none" cap="none" strike="noStrike">
                <a:solidFill>
                  <a:srgbClr val="000000"/>
                </a:solidFill>
                <a:latin typeface="Arial"/>
                <a:ea typeface="Arial"/>
                <a:cs typeface="Arial"/>
                <a:sym typeface="Arial"/>
              </a:rPr>
              <a:t>Indifferent</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000000"/>
              </a:buClr>
              <a:buSzPts val="1700"/>
              <a:buFont typeface="Arial"/>
              <a:buAutoNum type="alphaUcPeriod"/>
            </a:pPr>
            <a:r>
              <a:rPr b="0" i="0" lang="en-GB" sz="1800" u="none" cap="none" strike="noStrike">
                <a:solidFill>
                  <a:srgbClr val="000000"/>
                </a:solidFill>
                <a:latin typeface="Arial"/>
                <a:ea typeface="Arial"/>
                <a:cs typeface="Arial"/>
                <a:sym typeface="Arial"/>
              </a:rPr>
              <a:t>Defy</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000000"/>
              </a:buClr>
              <a:buSzPts val="1700"/>
              <a:buFont typeface="Arial"/>
              <a:buAutoNum type="alphaUcPeriod"/>
            </a:pPr>
            <a:r>
              <a:rPr b="0" i="0" lang="en-GB" sz="1800" u="none" cap="none" strike="noStrike">
                <a:solidFill>
                  <a:srgbClr val="000000"/>
                </a:solidFill>
                <a:latin typeface="Arial"/>
                <a:ea typeface="Arial"/>
                <a:cs typeface="Arial"/>
                <a:sym typeface="Arial"/>
              </a:rPr>
              <a:t>Differ</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000000"/>
              </a:buClr>
              <a:buSzPts val="1700"/>
              <a:buFont typeface="Arial"/>
              <a:buAutoNum type="alphaUcPeriod"/>
            </a:pPr>
            <a:r>
              <a:rPr b="0" i="0" lang="en-GB" sz="1800" u="none" cap="none" strike="noStrike">
                <a:solidFill>
                  <a:srgbClr val="000000"/>
                </a:solidFill>
                <a:latin typeface="Arial"/>
                <a:ea typeface="Arial"/>
                <a:cs typeface="Arial"/>
                <a:sym typeface="Arial"/>
              </a:rPr>
              <a:t>Postpone</a:t>
            </a:r>
            <a:endParaRPr b="1" i="0" sz="1600" u="none" cap="none" strike="noStrike">
              <a:solidFill>
                <a:srgbClr val="40404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3" name="Google Shape;383;p53"/>
          <p:cNvSpPr/>
          <p:nvPr/>
        </p:nvSpPr>
        <p:spPr>
          <a:xfrm>
            <a:off x="0" y="290418"/>
            <a:ext cx="184731"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384" name="Google Shape;384;p53"/>
          <p:cNvSpPr/>
          <p:nvPr/>
        </p:nvSpPr>
        <p:spPr>
          <a:xfrm>
            <a:off x="92365" y="290418"/>
            <a:ext cx="184731"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385" name="Google Shape;385;p53"/>
          <p:cNvSpPr/>
          <p:nvPr/>
        </p:nvSpPr>
        <p:spPr>
          <a:xfrm>
            <a:off x="112532" y="290418"/>
            <a:ext cx="184731" cy="16312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386" name="Google Shape;386;p53"/>
          <p:cNvSpPr/>
          <p:nvPr/>
        </p:nvSpPr>
        <p:spPr>
          <a:xfrm>
            <a:off x="112532" y="290418"/>
            <a:ext cx="184731"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387" name="Google Shape;387;p53"/>
          <p:cNvSpPr/>
          <p:nvPr/>
        </p:nvSpPr>
        <p:spPr>
          <a:xfrm>
            <a:off x="112532" y="290418"/>
            <a:ext cx="2162772" cy="16927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070C0"/>
                </a:solidFill>
                <a:highlight>
                  <a:srgbClr val="FFFFFF"/>
                </a:highlight>
                <a:latin typeface="Roboto"/>
                <a:ea typeface="Roboto"/>
                <a:cs typeface="Roboto"/>
                <a:sym typeface="Roboto"/>
              </a:rPr>
              <a:t>Question: 3</a:t>
            </a:r>
            <a:endParaRPr b="1" i="0" sz="28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pic>
        <p:nvPicPr>
          <p:cNvPr id="388" name="Google Shape;388;p53"/>
          <p:cNvPicPr preferRelativeResize="0"/>
          <p:nvPr/>
        </p:nvPicPr>
        <p:blipFill rotWithShape="1">
          <a:blip r:embed="rId3">
            <a:alphaModFix/>
          </a:blip>
          <a:srcRect b="0" l="0" r="0" t="0"/>
          <a:stretch/>
        </p:blipFill>
        <p:spPr>
          <a:xfrm>
            <a:off x="5446131" y="1983189"/>
            <a:ext cx="2466975" cy="18478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4"/>
          <p:cNvSpPr txBox="1"/>
          <p:nvPr/>
        </p:nvSpPr>
        <p:spPr>
          <a:xfrm>
            <a:off x="493760" y="1026750"/>
            <a:ext cx="876293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4" name="Google Shape;394;p54"/>
          <p:cNvSpPr/>
          <p:nvPr/>
        </p:nvSpPr>
        <p:spPr>
          <a:xfrm>
            <a:off x="0" y="290418"/>
            <a:ext cx="184731"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395" name="Google Shape;395;p54"/>
          <p:cNvSpPr/>
          <p:nvPr/>
        </p:nvSpPr>
        <p:spPr>
          <a:xfrm>
            <a:off x="92365" y="290418"/>
            <a:ext cx="184731"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396" name="Google Shape;396;p54"/>
          <p:cNvSpPr/>
          <p:nvPr/>
        </p:nvSpPr>
        <p:spPr>
          <a:xfrm>
            <a:off x="0" y="372528"/>
            <a:ext cx="284052" cy="21236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070C0"/>
                </a:solidFill>
                <a:highlight>
                  <a:srgbClr val="FFFFFF"/>
                </a:highlight>
                <a:latin typeface="Roboto"/>
                <a:ea typeface="Roboto"/>
                <a:cs typeface="Roboto"/>
                <a:sym typeface="Roboto"/>
              </a:rPr>
              <a:t> </a:t>
            </a:r>
            <a:endParaRPr b="1" i="0" sz="2800" u="none" cap="none" strike="noStrike">
              <a:solidFill>
                <a:srgbClr val="0070C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397" name="Google Shape;397;p54"/>
          <p:cNvSpPr/>
          <p:nvPr/>
        </p:nvSpPr>
        <p:spPr>
          <a:xfrm>
            <a:off x="112532" y="290418"/>
            <a:ext cx="2222083" cy="16927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070C0"/>
                </a:solidFill>
                <a:highlight>
                  <a:srgbClr val="FFFFFF"/>
                </a:highlight>
                <a:latin typeface="Roboto"/>
                <a:ea typeface="Roboto"/>
                <a:cs typeface="Roboto"/>
                <a:sym typeface="Roboto"/>
              </a:rPr>
              <a:t>Explanation</a:t>
            </a:r>
            <a:endParaRPr b="1" i="0" sz="28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398" name="Google Shape;398;p54"/>
          <p:cNvSpPr/>
          <p:nvPr/>
        </p:nvSpPr>
        <p:spPr>
          <a:xfrm>
            <a:off x="195122" y="1121722"/>
            <a:ext cx="7785096"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Indifferent : having no particular interest or sympathy, unconcerned.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Defy : openly resist or refuse to obey.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Differ : be unlike or dissimilar.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Postpone : cause or arrange for (something) to take place at a time later than that first scheduled.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Defer : put off (an action or event) to a later time; postpone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5"/>
          <p:cNvSpPr txBox="1"/>
          <p:nvPr/>
        </p:nvSpPr>
        <p:spPr>
          <a:xfrm>
            <a:off x="265160" y="1026750"/>
            <a:ext cx="876293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4" name="Google Shape;404;p55"/>
          <p:cNvSpPr/>
          <p:nvPr/>
        </p:nvSpPr>
        <p:spPr>
          <a:xfrm>
            <a:off x="0" y="290418"/>
            <a:ext cx="184731"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05" name="Google Shape;405;p55"/>
          <p:cNvSpPr/>
          <p:nvPr/>
        </p:nvSpPr>
        <p:spPr>
          <a:xfrm>
            <a:off x="92365" y="290418"/>
            <a:ext cx="184731"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06" name="Google Shape;406;p55"/>
          <p:cNvSpPr/>
          <p:nvPr/>
        </p:nvSpPr>
        <p:spPr>
          <a:xfrm>
            <a:off x="184731" y="925278"/>
            <a:ext cx="6720856" cy="92333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18225"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407" name="Google Shape;407;p55"/>
          <p:cNvSpPr/>
          <p:nvPr/>
        </p:nvSpPr>
        <p:spPr>
          <a:xfrm>
            <a:off x="0" y="399596"/>
            <a:ext cx="184731" cy="20005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08" name="Google Shape;408;p55"/>
          <p:cNvSpPr/>
          <p:nvPr/>
        </p:nvSpPr>
        <p:spPr>
          <a:xfrm>
            <a:off x="112532" y="290418"/>
            <a:ext cx="2162772" cy="16927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070C0"/>
                </a:solidFill>
                <a:highlight>
                  <a:srgbClr val="FFFFFF"/>
                </a:highlight>
                <a:latin typeface="Roboto"/>
                <a:ea typeface="Roboto"/>
                <a:cs typeface="Roboto"/>
                <a:sym typeface="Roboto"/>
              </a:rPr>
              <a:t>Question: 4</a:t>
            </a:r>
            <a:endParaRPr b="1" i="0" sz="28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09" name="Google Shape;409;p55"/>
          <p:cNvSpPr/>
          <p:nvPr/>
        </p:nvSpPr>
        <p:spPr>
          <a:xfrm>
            <a:off x="74625" y="1136803"/>
            <a:ext cx="6830962" cy="31393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Select the word or phrase which best expresses the meaning of the given word: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GERMINATE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000000"/>
              </a:buClr>
              <a:buSzPts val="1700"/>
              <a:buFont typeface="Arial"/>
              <a:buAutoNum type="alphaUcPeriod"/>
            </a:pPr>
            <a:r>
              <a:rPr b="0" i="0" lang="en-GB" sz="1800" u="none" cap="none" strike="noStrike">
                <a:solidFill>
                  <a:srgbClr val="000000"/>
                </a:solidFill>
                <a:latin typeface="Arial"/>
                <a:ea typeface="Arial"/>
                <a:cs typeface="Arial"/>
                <a:sym typeface="Arial"/>
              </a:rPr>
              <a:t>Decay</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000000"/>
              </a:buClr>
              <a:buSzPts val="1700"/>
              <a:buFont typeface="Arial"/>
              <a:buAutoNum type="alphaUcPeriod"/>
            </a:pPr>
            <a:r>
              <a:rPr b="0" i="0" lang="en-GB" sz="1800" u="none" cap="none" strike="noStrike">
                <a:solidFill>
                  <a:srgbClr val="000000"/>
                </a:solidFill>
                <a:latin typeface="Arial"/>
                <a:ea typeface="Arial"/>
                <a:cs typeface="Arial"/>
                <a:sym typeface="Arial"/>
              </a:rPr>
              <a:t>Breed</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000000"/>
              </a:buClr>
              <a:buSzPts val="1700"/>
              <a:buFont typeface="Arial"/>
              <a:buAutoNum type="alphaUcPeriod"/>
            </a:pPr>
            <a:r>
              <a:rPr b="0" i="0" lang="en-GB" sz="1800" u="none" cap="none" strike="noStrike">
                <a:solidFill>
                  <a:srgbClr val="000000"/>
                </a:solidFill>
                <a:latin typeface="Arial"/>
                <a:ea typeface="Arial"/>
                <a:cs typeface="Arial"/>
                <a:sym typeface="Arial"/>
              </a:rPr>
              <a:t>Produce</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000000"/>
              </a:buClr>
              <a:buSzPts val="1700"/>
              <a:buFont typeface="Arial"/>
              <a:buAutoNum type="alphaUcPeriod"/>
            </a:pPr>
            <a:r>
              <a:rPr b="0" i="0" lang="en-GB" sz="1800" u="none" cap="none" strike="noStrike">
                <a:solidFill>
                  <a:srgbClr val="000000"/>
                </a:solidFill>
                <a:latin typeface="Arial"/>
                <a:ea typeface="Arial"/>
                <a:cs typeface="Arial"/>
                <a:sym typeface="Arial"/>
              </a:rPr>
              <a:t>Sprout</a:t>
            </a:r>
            <a:endParaRPr b="1" i="0" sz="1600" u="none" cap="none" strike="noStrike">
              <a:solidFill>
                <a:srgbClr val="40404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pic>
        <p:nvPicPr>
          <p:cNvPr id="410" name="Google Shape;410;p55"/>
          <p:cNvPicPr preferRelativeResize="0"/>
          <p:nvPr/>
        </p:nvPicPr>
        <p:blipFill rotWithShape="1">
          <a:blip r:embed="rId3">
            <a:alphaModFix/>
          </a:blip>
          <a:srcRect b="0" l="0" r="0" t="0"/>
          <a:stretch/>
        </p:blipFill>
        <p:spPr>
          <a:xfrm>
            <a:off x="5202438" y="1930175"/>
            <a:ext cx="2943225" cy="15525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6"/>
          <p:cNvSpPr txBox="1"/>
          <p:nvPr/>
        </p:nvSpPr>
        <p:spPr>
          <a:xfrm>
            <a:off x="265160" y="1026750"/>
            <a:ext cx="876293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6" name="Google Shape;416;p56"/>
          <p:cNvSpPr/>
          <p:nvPr/>
        </p:nvSpPr>
        <p:spPr>
          <a:xfrm>
            <a:off x="0" y="290418"/>
            <a:ext cx="184731"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17" name="Google Shape;417;p56"/>
          <p:cNvSpPr/>
          <p:nvPr/>
        </p:nvSpPr>
        <p:spPr>
          <a:xfrm>
            <a:off x="92365" y="290418"/>
            <a:ext cx="184731"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18" name="Google Shape;418;p56"/>
          <p:cNvSpPr/>
          <p:nvPr/>
        </p:nvSpPr>
        <p:spPr>
          <a:xfrm>
            <a:off x="184731" y="925278"/>
            <a:ext cx="6720856" cy="92333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18225"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419" name="Google Shape;419;p56"/>
          <p:cNvSpPr/>
          <p:nvPr/>
        </p:nvSpPr>
        <p:spPr>
          <a:xfrm>
            <a:off x="0" y="399596"/>
            <a:ext cx="184731" cy="20005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20" name="Google Shape;420;p56"/>
          <p:cNvSpPr/>
          <p:nvPr/>
        </p:nvSpPr>
        <p:spPr>
          <a:xfrm>
            <a:off x="112532" y="290418"/>
            <a:ext cx="2222083" cy="16927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070C0"/>
                </a:solidFill>
                <a:highlight>
                  <a:srgbClr val="FFFFFF"/>
                </a:highlight>
                <a:latin typeface="Roboto"/>
                <a:ea typeface="Roboto"/>
                <a:cs typeface="Roboto"/>
                <a:sym typeface="Roboto"/>
              </a:rPr>
              <a:t>Explanation</a:t>
            </a:r>
            <a:endParaRPr b="1" i="0" sz="28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21" name="Google Shape;421;p56"/>
          <p:cNvSpPr/>
          <p:nvPr/>
        </p:nvSpPr>
        <p:spPr>
          <a:xfrm>
            <a:off x="74625" y="1136803"/>
            <a:ext cx="6830962" cy="25853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Decay : rot or decompose through the action of bacteria and fungi.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Produce : make or manufacture from components or raw materials.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Sprout : put out shoots.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Breed : mate and then produce offspring.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Germinate : begin to grow and put out shoots after a period of dormancy.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57"/>
          <p:cNvSpPr txBox="1"/>
          <p:nvPr/>
        </p:nvSpPr>
        <p:spPr>
          <a:xfrm>
            <a:off x="265160" y="1026750"/>
            <a:ext cx="876293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7" name="Google Shape;427;p57"/>
          <p:cNvSpPr/>
          <p:nvPr/>
        </p:nvSpPr>
        <p:spPr>
          <a:xfrm>
            <a:off x="0" y="290418"/>
            <a:ext cx="184731"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28" name="Google Shape;428;p57"/>
          <p:cNvSpPr/>
          <p:nvPr/>
        </p:nvSpPr>
        <p:spPr>
          <a:xfrm>
            <a:off x="92365" y="290418"/>
            <a:ext cx="184731"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29" name="Google Shape;429;p57"/>
          <p:cNvSpPr/>
          <p:nvPr/>
        </p:nvSpPr>
        <p:spPr>
          <a:xfrm>
            <a:off x="184731" y="925278"/>
            <a:ext cx="6720856" cy="92333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18225"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430" name="Google Shape;430;p57"/>
          <p:cNvSpPr/>
          <p:nvPr/>
        </p:nvSpPr>
        <p:spPr>
          <a:xfrm>
            <a:off x="0" y="399596"/>
            <a:ext cx="184731" cy="20005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31" name="Google Shape;431;p57"/>
          <p:cNvSpPr/>
          <p:nvPr/>
        </p:nvSpPr>
        <p:spPr>
          <a:xfrm>
            <a:off x="112532" y="290418"/>
            <a:ext cx="2162772" cy="16927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070C0"/>
                </a:solidFill>
                <a:highlight>
                  <a:srgbClr val="FFFFFF"/>
                </a:highlight>
                <a:latin typeface="Roboto"/>
                <a:ea typeface="Roboto"/>
                <a:cs typeface="Roboto"/>
                <a:sym typeface="Roboto"/>
              </a:rPr>
              <a:t>Question: 5</a:t>
            </a:r>
            <a:endParaRPr b="1" i="0" sz="28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32" name="Google Shape;432;p57"/>
          <p:cNvSpPr/>
          <p:nvPr/>
        </p:nvSpPr>
        <p:spPr>
          <a:xfrm>
            <a:off x="74625" y="1136803"/>
            <a:ext cx="6830962" cy="31393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Select the word or phrase which best expresses the meaning of the given word: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CAMOUFLAGE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000000"/>
              </a:buClr>
              <a:buSzPts val="1700"/>
              <a:buFont typeface="Arial"/>
              <a:buAutoNum type="alphaUcPeriod"/>
            </a:pPr>
            <a:r>
              <a:rPr b="0" i="0" lang="en-GB" sz="1800" u="none" cap="none" strike="noStrike">
                <a:solidFill>
                  <a:srgbClr val="000000"/>
                </a:solidFill>
                <a:latin typeface="Arial"/>
                <a:ea typeface="Arial"/>
                <a:cs typeface="Arial"/>
                <a:sym typeface="Arial"/>
              </a:rPr>
              <a:t>Aggressive</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000000"/>
              </a:buClr>
              <a:buSzPts val="1700"/>
              <a:buFont typeface="Arial"/>
              <a:buAutoNum type="alphaUcPeriod"/>
            </a:pPr>
            <a:r>
              <a:rPr b="0" i="0" lang="en-GB" sz="1800" u="none" cap="none" strike="noStrike">
                <a:solidFill>
                  <a:srgbClr val="000000"/>
                </a:solidFill>
                <a:latin typeface="Arial"/>
                <a:ea typeface="Arial"/>
                <a:cs typeface="Arial"/>
                <a:sym typeface="Arial"/>
              </a:rPr>
              <a:t>Deception</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000000"/>
              </a:buClr>
              <a:buSzPts val="1700"/>
              <a:buFont typeface="Arial"/>
              <a:buAutoNum type="alphaUcPeriod"/>
            </a:pPr>
            <a:r>
              <a:rPr b="0" i="0" lang="en-GB" sz="1800" u="none" cap="none" strike="noStrike">
                <a:solidFill>
                  <a:srgbClr val="000000"/>
                </a:solidFill>
                <a:latin typeface="Arial"/>
                <a:ea typeface="Arial"/>
                <a:cs typeface="Arial"/>
                <a:sym typeface="Arial"/>
              </a:rPr>
              <a:t>Vigilant</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000000"/>
              </a:buClr>
              <a:buSzPts val="1700"/>
              <a:buFont typeface="Arial"/>
              <a:buAutoNum type="alphaUcPeriod"/>
            </a:pPr>
            <a:r>
              <a:rPr b="0" i="0" lang="en-GB" sz="1800" u="none" cap="none" strike="noStrike">
                <a:solidFill>
                  <a:srgbClr val="000000"/>
                </a:solidFill>
                <a:latin typeface="Arial"/>
                <a:ea typeface="Arial"/>
                <a:cs typeface="Arial"/>
                <a:sym typeface="Arial"/>
              </a:rPr>
              <a:t>Honour</a:t>
            </a:r>
            <a:endParaRPr b="1" i="0" sz="1600" u="none" cap="none" strike="noStrike">
              <a:solidFill>
                <a:srgbClr val="40404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pic>
        <p:nvPicPr>
          <p:cNvPr id="433" name="Google Shape;433;p57"/>
          <p:cNvPicPr preferRelativeResize="0"/>
          <p:nvPr/>
        </p:nvPicPr>
        <p:blipFill rotWithShape="1">
          <a:blip r:embed="rId3">
            <a:alphaModFix/>
          </a:blip>
          <a:srcRect b="0" l="0" r="0" t="0"/>
          <a:stretch/>
        </p:blipFill>
        <p:spPr>
          <a:xfrm>
            <a:off x="4832697" y="1798950"/>
            <a:ext cx="2847975" cy="1600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8"/>
          <p:cNvSpPr txBox="1"/>
          <p:nvPr/>
        </p:nvSpPr>
        <p:spPr>
          <a:xfrm>
            <a:off x="265160" y="1026750"/>
            <a:ext cx="876293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9" name="Google Shape;439;p58"/>
          <p:cNvSpPr/>
          <p:nvPr/>
        </p:nvSpPr>
        <p:spPr>
          <a:xfrm>
            <a:off x="0" y="290418"/>
            <a:ext cx="184731"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40" name="Google Shape;440;p58"/>
          <p:cNvSpPr/>
          <p:nvPr/>
        </p:nvSpPr>
        <p:spPr>
          <a:xfrm>
            <a:off x="92365" y="290418"/>
            <a:ext cx="184731"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41" name="Google Shape;441;p58"/>
          <p:cNvSpPr/>
          <p:nvPr/>
        </p:nvSpPr>
        <p:spPr>
          <a:xfrm>
            <a:off x="184731" y="925278"/>
            <a:ext cx="6720856" cy="92333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18225"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442" name="Google Shape;442;p58"/>
          <p:cNvSpPr/>
          <p:nvPr/>
        </p:nvSpPr>
        <p:spPr>
          <a:xfrm>
            <a:off x="0" y="399596"/>
            <a:ext cx="184731" cy="20005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43" name="Google Shape;443;p58"/>
          <p:cNvSpPr/>
          <p:nvPr/>
        </p:nvSpPr>
        <p:spPr>
          <a:xfrm>
            <a:off x="112532" y="290418"/>
            <a:ext cx="2222083" cy="16927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070C0"/>
                </a:solidFill>
                <a:highlight>
                  <a:srgbClr val="FFFFFF"/>
                </a:highlight>
                <a:latin typeface="Roboto"/>
                <a:ea typeface="Roboto"/>
                <a:cs typeface="Roboto"/>
                <a:sym typeface="Roboto"/>
              </a:rPr>
              <a:t>Explanation</a:t>
            </a:r>
            <a:endParaRPr b="1" i="0" sz="28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44" name="Google Shape;444;p58"/>
          <p:cNvSpPr/>
          <p:nvPr/>
        </p:nvSpPr>
        <p:spPr>
          <a:xfrm>
            <a:off x="74625" y="1136803"/>
            <a:ext cx="6830962"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Camouflage refers to to hide or to deceive by the presence where the soldiers do it in the borders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Vigilant refers to keeping careful watch over something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9"/>
          <p:cNvSpPr txBox="1"/>
          <p:nvPr/>
        </p:nvSpPr>
        <p:spPr>
          <a:xfrm>
            <a:off x="265160" y="1026750"/>
            <a:ext cx="876293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0" name="Google Shape;450;p59"/>
          <p:cNvSpPr/>
          <p:nvPr/>
        </p:nvSpPr>
        <p:spPr>
          <a:xfrm>
            <a:off x="0" y="290418"/>
            <a:ext cx="184731"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51" name="Google Shape;451;p59"/>
          <p:cNvSpPr/>
          <p:nvPr/>
        </p:nvSpPr>
        <p:spPr>
          <a:xfrm>
            <a:off x="92365" y="290418"/>
            <a:ext cx="184731"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52" name="Google Shape;452;p59"/>
          <p:cNvSpPr/>
          <p:nvPr/>
        </p:nvSpPr>
        <p:spPr>
          <a:xfrm>
            <a:off x="184731" y="925278"/>
            <a:ext cx="6720856" cy="92333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18225"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453" name="Google Shape;453;p59"/>
          <p:cNvSpPr/>
          <p:nvPr/>
        </p:nvSpPr>
        <p:spPr>
          <a:xfrm>
            <a:off x="0" y="399596"/>
            <a:ext cx="184731" cy="20005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54" name="Google Shape;454;p59"/>
          <p:cNvSpPr/>
          <p:nvPr/>
        </p:nvSpPr>
        <p:spPr>
          <a:xfrm>
            <a:off x="112532" y="290418"/>
            <a:ext cx="2262158" cy="16927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070C0"/>
                </a:solidFill>
                <a:highlight>
                  <a:srgbClr val="FFFFFF"/>
                </a:highlight>
                <a:latin typeface="Roboto"/>
                <a:ea typeface="Roboto"/>
                <a:cs typeface="Roboto"/>
                <a:sym typeface="Roboto"/>
              </a:rPr>
              <a:t>Question : 6</a:t>
            </a:r>
            <a:endParaRPr b="1" i="0" sz="28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55" name="Google Shape;455;p59"/>
          <p:cNvSpPr/>
          <p:nvPr/>
        </p:nvSpPr>
        <p:spPr>
          <a:xfrm>
            <a:off x="74625" y="1136803"/>
            <a:ext cx="6830962" cy="31393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Select the word which is OPPOSITE in the meaning of the given word: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 ABSTAIN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A. Hoard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B. Tolerate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C. Forbear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D. Begin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pic>
        <p:nvPicPr>
          <p:cNvPr id="456" name="Google Shape;456;p59"/>
          <p:cNvPicPr preferRelativeResize="0"/>
          <p:nvPr/>
        </p:nvPicPr>
        <p:blipFill rotWithShape="1">
          <a:blip r:embed="rId3">
            <a:alphaModFix/>
          </a:blip>
          <a:srcRect b="0" l="0" r="0" t="0"/>
          <a:stretch/>
        </p:blipFill>
        <p:spPr>
          <a:xfrm>
            <a:off x="4571999" y="1772641"/>
            <a:ext cx="3564401" cy="237567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60"/>
          <p:cNvSpPr txBox="1"/>
          <p:nvPr/>
        </p:nvSpPr>
        <p:spPr>
          <a:xfrm>
            <a:off x="265160" y="1026750"/>
            <a:ext cx="876293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2" name="Google Shape;462;p60"/>
          <p:cNvSpPr/>
          <p:nvPr/>
        </p:nvSpPr>
        <p:spPr>
          <a:xfrm>
            <a:off x="0" y="290418"/>
            <a:ext cx="184731"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63" name="Google Shape;463;p60"/>
          <p:cNvSpPr/>
          <p:nvPr/>
        </p:nvSpPr>
        <p:spPr>
          <a:xfrm>
            <a:off x="92365" y="290418"/>
            <a:ext cx="184731"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64" name="Google Shape;464;p60"/>
          <p:cNvSpPr/>
          <p:nvPr/>
        </p:nvSpPr>
        <p:spPr>
          <a:xfrm>
            <a:off x="184731" y="925278"/>
            <a:ext cx="6720856" cy="92333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18225"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465" name="Google Shape;465;p60"/>
          <p:cNvSpPr/>
          <p:nvPr/>
        </p:nvSpPr>
        <p:spPr>
          <a:xfrm>
            <a:off x="0" y="399596"/>
            <a:ext cx="184731" cy="20005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66" name="Google Shape;466;p60"/>
          <p:cNvSpPr/>
          <p:nvPr/>
        </p:nvSpPr>
        <p:spPr>
          <a:xfrm>
            <a:off x="112532" y="290418"/>
            <a:ext cx="2222083" cy="16927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070C0"/>
                </a:solidFill>
                <a:highlight>
                  <a:srgbClr val="FFFFFF"/>
                </a:highlight>
                <a:latin typeface="Roboto"/>
                <a:ea typeface="Roboto"/>
                <a:cs typeface="Roboto"/>
                <a:sym typeface="Roboto"/>
              </a:rPr>
              <a:t>Explanation</a:t>
            </a:r>
            <a:endParaRPr b="1" i="0" sz="28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67" name="Google Shape;467;p60"/>
          <p:cNvSpPr/>
          <p:nvPr/>
        </p:nvSpPr>
        <p:spPr>
          <a:xfrm>
            <a:off x="74625" y="1136803"/>
            <a:ext cx="6830962"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Hoard : a stock or store of money or valued objects, typically one that is secret or carefully guarded. Tolerate : bear, forbear, forebear, abide.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Forbear : bear, forbear, forebear, abide.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Begin : commence, induct.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Abstain : restrain oneself from doing or enjoying something. Antonym of Abstain is Begin.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1"/>
          <p:cNvSpPr txBox="1"/>
          <p:nvPr/>
        </p:nvSpPr>
        <p:spPr>
          <a:xfrm>
            <a:off x="265160" y="1026750"/>
            <a:ext cx="876293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3" name="Google Shape;473;p61"/>
          <p:cNvSpPr/>
          <p:nvPr/>
        </p:nvSpPr>
        <p:spPr>
          <a:xfrm>
            <a:off x="0" y="290418"/>
            <a:ext cx="184731"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74" name="Google Shape;474;p61"/>
          <p:cNvSpPr/>
          <p:nvPr/>
        </p:nvSpPr>
        <p:spPr>
          <a:xfrm>
            <a:off x="92365" y="290418"/>
            <a:ext cx="184731"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75" name="Google Shape;475;p61"/>
          <p:cNvSpPr/>
          <p:nvPr/>
        </p:nvSpPr>
        <p:spPr>
          <a:xfrm>
            <a:off x="184731" y="925278"/>
            <a:ext cx="6720856" cy="92333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18225"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476" name="Google Shape;476;p61"/>
          <p:cNvSpPr/>
          <p:nvPr/>
        </p:nvSpPr>
        <p:spPr>
          <a:xfrm>
            <a:off x="0" y="399596"/>
            <a:ext cx="184731" cy="20005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77" name="Google Shape;477;p61"/>
          <p:cNvSpPr/>
          <p:nvPr/>
        </p:nvSpPr>
        <p:spPr>
          <a:xfrm>
            <a:off x="112532" y="290418"/>
            <a:ext cx="2262158" cy="16927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070C0"/>
                </a:solidFill>
                <a:highlight>
                  <a:srgbClr val="FFFFFF"/>
                </a:highlight>
                <a:latin typeface="Roboto"/>
                <a:ea typeface="Roboto"/>
                <a:cs typeface="Roboto"/>
                <a:sym typeface="Roboto"/>
              </a:rPr>
              <a:t>Question : 7</a:t>
            </a:r>
            <a:endParaRPr b="1" i="0" sz="28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78" name="Google Shape;478;p61"/>
          <p:cNvSpPr/>
          <p:nvPr/>
        </p:nvSpPr>
        <p:spPr>
          <a:xfrm>
            <a:off x="74625" y="1136803"/>
            <a:ext cx="6830962" cy="31393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Select the word which is OPPOSITE in the meaning of the given word: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BENIGN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000000"/>
              </a:buClr>
              <a:buSzPts val="1700"/>
              <a:buFont typeface="Arial"/>
              <a:buAutoNum type="alphaUcPeriod"/>
            </a:pPr>
            <a:r>
              <a:rPr b="0" i="0" lang="en-GB" sz="1800" u="none" cap="none" strike="noStrike">
                <a:solidFill>
                  <a:srgbClr val="000000"/>
                </a:solidFill>
                <a:latin typeface="Arial"/>
                <a:ea typeface="Arial"/>
                <a:cs typeface="Arial"/>
                <a:sym typeface="Arial"/>
              </a:rPr>
              <a:t>Malevolent</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000000"/>
              </a:buClr>
              <a:buSzPts val="1700"/>
              <a:buFont typeface="Arial"/>
              <a:buAutoNum type="alphaUcPeriod"/>
            </a:pPr>
            <a:r>
              <a:rPr b="0" i="0" lang="en-GB" sz="1800" u="none" cap="none" strike="noStrike">
                <a:solidFill>
                  <a:srgbClr val="000000"/>
                </a:solidFill>
                <a:latin typeface="Arial"/>
                <a:ea typeface="Arial"/>
                <a:cs typeface="Arial"/>
                <a:sym typeface="Arial"/>
              </a:rPr>
              <a:t>Soft</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000000"/>
              </a:buClr>
              <a:buSzPts val="1700"/>
              <a:buFont typeface="Arial"/>
              <a:buAutoNum type="alphaUcPeriod"/>
            </a:pPr>
            <a:r>
              <a:rPr b="0" i="0" lang="en-GB" sz="1800" u="none" cap="none" strike="noStrike">
                <a:solidFill>
                  <a:srgbClr val="000000"/>
                </a:solidFill>
                <a:latin typeface="Arial"/>
                <a:ea typeface="Arial"/>
                <a:cs typeface="Arial"/>
                <a:sym typeface="Arial"/>
              </a:rPr>
              <a:t>Friendly</a:t>
            </a:r>
            <a:endParaRPr b="0" i="0" sz="1400" u="none" cap="none" strike="noStrike">
              <a:solidFill>
                <a:srgbClr val="000000"/>
              </a:solidFill>
              <a:latin typeface="Arial"/>
              <a:ea typeface="Arial"/>
              <a:cs typeface="Arial"/>
              <a:sym typeface="Arial"/>
            </a:endParaRPr>
          </a:p>
          <a:p>
            <a:pPr indent="-336550" lvl="0" marL="457200" marR="0" rtl="0" algn="l">
              <a:lnSpc>
                <a:spcPct val="100000"/>
              </a:lnSpc>
              <a:spcBef>
                <a:spcPts val="0"/>
              </a:spcBef>
              <a:spcAft>
                <a:spcPts val="0"/>
              </a:spcAft>
              <a:buClr>
                <a:srgbClr val="000000"/>
              </a:buClr>
              <a:buSzPts val="1700"/>
              <a:buFont typeface="Arial"/>
              <a:buAutoNum type="alphaUcPeriod"/>
            </a:pPr>
            <a:r>
              <a:rPr b="0" i="0" lang="en-GB" sz="1800" u="none" cap="none" strike="noStrike">
                <a:solidFill>
                  <a:srgbClr val="000000"/>
                </a:solidFill>
                <a:latin typeface="Arial"/>
                <a:ea typeface="Arial"/>
                <a:cs typeface="Arial"/>
                <a:sym typeface="Arial"/>
              </a:rPr>
              <a:t>Unwise</a:t>
            </a:r>
            <a:endParaRPr b="0" i="0" sz="1800" u="none" cap="none" strike="noStrike">
              <a:solidFill>
                <a:srgbClr val="40404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pic>
        <p:nvPicPr>
          <p:cNvPr id="479" name="Google Shape;479;p61"/>
          <p:cNvPicPr preferRelativeResize="0"/>
          <p:nvPr/>
        </p:nvPicPr>
        <p:blipFill rotWithShape="1">
          <a:blip r:embed="rId3">
            <a:alphaModFix/>
          </a:blip>
          <a:srcRect b="0" l="0" r="0" t="0"/>
          <a:stretch/>
        </p:blipFill>
        <p:spPr>
          <a:xfrm>
            <a:off x="5092306" y="1983188"/>
            <a:ext cx="2390775" cy="19145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62"/>
          <p:cNvSpPr txBox="1"/>
          <p:nvPr/>
        </p:nvSpPr>
        <p:spPr>
          <a:xfrm>
            <a:off x="265160" y="1026750"/>
            <a:ext cx="876293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5" name="Google Shape;485;p62"/>
          <p:cNvSpPr/>
          <p:nvPr/>
        </p:nvSpPr>
        <p:spPr>
          <a:xfrm>
            <a:off x="0" y="290418"/>
            <a:ext cx="184731"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86" name="Google Shape;486;p62"/>
          <p:cNvSpPr/>
          <p:nvPr/>
        </p:nvSpPr>
        <p:spPr>
          <a:xfrm>
            <a:off x="92365" y="290418"/>
            <a:ext cx="184731"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87" name="Google Shape;487;p62"/>
          <p:cNvSpPr/>
          <p:nvPr/>
        </p:nvSpPr>
        <p:spPr>
          <a:xfrm>
            <a:off x="184731" y="925278"/>
            <a:ext cx="6720856" cy="92333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18225"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488" name="Google Shape;488;p62"/>
          <p:cNvSpPr/>
          <p:nvPr/>
        </p:nvSpPr>
        <p:spPr>
          <a:xfrm>
            <a:off x="0" y="399596"/>
            <a:ext cx="184731" cy="20005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89" name="Google Shape;489;p62"/>
          <p:cNvSpPr/>
          <p:nvPr/>
        </p:nvSpPr>
        <p:spPr>
          <a:xfrm>
            <a:off x="112532" y="290418"/>
            <a:ext cx="2222083" cy="16927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070C0"/>
                </a:solidFill>
                <a:highlight>
                  <a:srgbClr val="FFFFFF"/>
                </a:highlight>
                <a:latin typeface="Roboto"/>
                <a:ea typeface="Roboto"/>
                <a:cs typeface="Roboto"/>
                <a:sym typeface="Roboto"/>
              </a:rPr>
              <a:t>Explanation</a:t>
            </a:r>
            <a:endParaRPr b="1" i="0" sz="28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90" name="Google Shape;490;p62"/>
          <p:cNvSpPr/>
          <p:nvPr/>
        </p:nvSpPr>
        <p:spPr>
          <a:xfrm>
            <a:off x="74625" y="1136803"/>
            <a:ext cx="6830962"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Soft : easy to mould, cut, compress, or fold, not hard or firm to the touch, soft, bland, malleable, moderate, tender, flaccid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Friendly : kind and pleasant.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Unwise : (of a person or action) not wise or sensible, foolish.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Malevolent : having or showing a wish to do evil to others.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Benign : gentle and kind. Appropriate antonym of Benign is Malevolent.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63"/>
          <p:cNvSpPr txBox="1"/>
          <p:nvPr/>
        </p:nvSpPr>
        <p:spPr>
          <a:xfrm>
            <a:off x="265160" y="1026750"/>
            <a:ext cx="876293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6" name="Google Shape;496;p63"/>
          <p:cNvSpPr/>
          <p:nvPr/>
        </p:nvSpPr>
        <p:spPr>
          <a:xfrm>
            <a:off x="0" y="290418"/>
            <a:ext cx="184731"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97" name="Google Shape;497;p63"/>
          <p:cNvSpPr/>
          <p:nvPr/>
        </p:nvSpPr>
        <p:spPr>
          <a:xfrm>
            <a:off x="92365" y="290418"/>
            <a:ext cx="184731"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498" name="Google Shape;498;p63"/>
          <p:cNvSpPr/>
          <p:nvPr/>
        </p:nvSpPr>
        <p:spPr>
          <a:xfrm>
            <a:off x="184731" y="925278"/>
            <a:ext cx="6720856" cy="92333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18225"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499" name="Google Shape;499;p63"/>
          <p:cNvSpPr/>
          <p:nvPr/>
        </p:nvSpPr>
        <p:spPr>
          <a:xfrm>
            <a:off x="0" y="399596"/>
            <a:ext cx="184731" cy="20005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500" name="Google Shape;500;p63"/>
          <p:cNvSpPr/>
          <p:nvPr/>
        </p:nvSpPr>
        <p:spPr>
          <a:xfrm>
            <a:off x="112532" y="290418"/>
            <a:ext cx="2262158" cy="16927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070C0"/>
                </a:solidFill>
                <a:highlight>
                  <a:srgbClr val="FFFFFF"/>
                </a:highlight>
                <a:latin typeface="Roboto"/>
                <a:ea typeface="Roboto"/>
                <a:cs typeface="Roboto"/>
                <a:sym typeface="Roboto"/>
              </a:rPr>
              <a:t>Question : 8</a:t>
            </a:r>
            <a:endParaRPr b="1" i="0" sz="28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501" name="Google Shape;501;p63"/>
          <p:cNvSpPr/>
          <p:nvPr/>
        </p:nvSpPr>
        <p:spPr>
          <a:xfrm>
            <a:off x="74625" y="1136803"/>
            <a:ext cx="6830962" cy="31393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Select the word which is OPPOSITE in the meaning of the given word: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ACQUIT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A. Deprive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B. Retreat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C. Convict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D. Conceal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pic>
        <p:nvPicPr>
          <p:cNvPr id="502" name="Google Shape;502;p63"/>
          <p:cNvPicPr preferRelativeResize="0"/>
          <p:nvPr/>
        </p:nvPicPr>
        <p:blipFill rotWithShape="1">
          <a:blip r:embed="rId3">
            <a:alphaModFix/>
          </a:blip>
          <a:srcRect b="0" l="0" r="0" t="0"/>
          <a:stretch/>
        </p:blipFill>
        <p:spPr>
          <a:xfrm>
            <a:off x="4884247" y="1887313"/>
            <a:ext cx="2800350" cy="16383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64"/>
          <p:cNvSpPr txBox="1"/>
          <p:nvPr/>
        </p:nvSpPr>
        <p:spPr>
          <a:xfrm>
            <a:off x="265160" y="1026750"/>
            <a:ext cx="876293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8" name="Google Shape;508;p64"/>
          <p:cNvSpPr/>
          <p:nvPr/>
        </p:nvSpPr>
        <p:spPr>
          <a:xfrm>
            <a:off x="0" y="290418"/>
            <a:ext cx="184731"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509" name="Google Shape;509;p64"/>
          <p:cNvSpPr/>
          <p:nvPr/>
        </p:nvSpPr>
        <p:spPr>
          <a:xfrm>
            <a:off x="92365" y="290418"/>
            <a:ext cx="184731"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510" name="Google Shape;510;p64"/>
          <p:cNvSpPr/>
          <p:nvPr/>
        </p:nvSpPr>
        <p:spPr>
          <a:xfrm>
            <a:off x="184731" y="925278"/>
            <a:ext cx="6720856" cy="92333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18225"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511" name="Google Shape;511;p64"/>
          <p:cNvSpPr/>
          <p:nvPr/>
        </p:nvSpPr>
        <p:spPr>
          <a:xfrm>
            <a:off x="0" y="399596"/>
            <a:ext cx="184731" cy="20005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512" name="Google Shape;512;p64"/>
          <p:cNvSpPr/>
          <p:nvPr/>
        </p:nvSpPr>
        <p:spPr>
          <a:xfrm>
            <a:off x="112532" y="290418"/>
            <a:ext cx="2222083" cy="16927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070C0"/>
                </a:solidFill>
                <a:highlight>
                  <a:srgbClr val="FFFFFF"/>
                </a:highlight>
                <a:latin typeface="Roboto"/>
                <a:ea typeface="Roboto"/>
                <a:cs typeface="Roboto"/>
                <a:sym typeface="Roboto"/>
              </a:rPr>
              <a:t>Explanation</a:t>
            </a:r>
            <a:endParaRPr b="1" i="0" sz="28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513" name="Google Shape;513;p64"/>
          <p:cNvSpPr/>
          <p:nvPr/>
        </p:nvSpPr>
        <p:spPr>
          <a:xfrm>
            <a:off x="74625" y="1136803"/>
            <a:ext cx="6830962" cy="25853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Retreat : digress, recoil, shrink back, retrograde, fall back.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Conceal : hide, secrete, conceal, stash, wrap.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Deprive : debar, shear, bereave, mulct, denude.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Convict : declare (someone) to be guilty of a criminal offense by the verdict of a jury or the decision of a judge in a court of law.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Acquit : liberate, rid, set free, release, exempt. Antonyms of Acquit is Convict.</a:t>
            </a:r>
            <a:endParaRPr b="1" i="0" sz="1800" u="none" cap="none" strike="noStrike">
              <a:solidFill>
                <a:srgbClr val="404040"/>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404040"/>
                </a:solidFill>
                <a:highlight>
                  <a:srgbClr val="FFFFFF"/>
                </a:highlight>
                <a:latin typeface="Arial"/>
                <a:ea typeface="Arial"/>
                <a:cs typeface="Arial"/>
                <a:sym typeface="Arial"/>
              </a:rPr>
              <a:t>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65"/>
          <p:cNvSpPr txBox="1"/>
          <p:nvPr/>
        </p:nvSpPr>
        <p:spPr>
          <a:xfrm>
            <a:off x="265160" y="1026750"/>
            <a:ext cx="876293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9" name="Google Shape;519;p65"/>
          <p:cNvSpPr/>
          <p:nvPr/>
        </p:nvSpPr>
        <p:spPr>
          <a:xfrm>
            <a:off x="0" y="290418"/>
            <a:ext cx="184731"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520" name="Google Shape;520;p65"/>
          <p:cNvSpPr/>
          <p:nvPr/>
        </p:nvSpPr>
        <p:spPr>
          <a:xfrm>
            <a:off x="92365" y="290418"/>
            <a:ext cx="184731"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521" name="Google Shape;521;p65"/>
          <p:cNvSpPr/>
          <p:nvPr/>
        </p:nvSpPr>
        <p:spPr>
          <a:xfrm>
            <a:off x="184731" y="925278"/>
            <a:ext cx="6720856" cy="92333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18225"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522" name="Google Shape;522;p65"/>
          <p:cNvSpPr/>
          <p:nvPr/>
        </p:nvSpPr>
        <p:spPr>
          <a:xfrm>
            <a:off x="0" y="399596"/>
            <a:ext cx="184731" cy="20005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523" name="Google Shape;523;p65"/>
          <p:cNvSpPr/>
          <p:nvPr/>
        </p:nvSpPr>
        <p:spPr>
          <a:xfrm>
            <a:off x="112532" y="290418"/>
            <a:ext cx="2262158" cy="16927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070C0"/>
                </a:solidFill>
                <a:highlight>
                  <a:srgbClr val="FFFFFF"/>
                </a:highlight>
                <a:latin typeface="Roboto"/>
                <a:ea typeface="Roboto"/>
                <a:cs typeface="Roboto"/>
                <a:sym typeface="Roboto"/>
              </a:rPr>
              <a:t>Question : 9</a:t>
            </a:r>
            <a:endParaRPr b="1" i="0" sz="28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524" name="Google Shape;524;p65"/>
          <p:cNvSpPr/>
          <p:nvPr/>
        </p:nvSpPr>
        <p:spPr>
          <a:xfrm>
            <a:off x="74625" y="1136803"/>
            <a:ext cx="6830962" cy="369331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Select the word which is OPPOSITE in the meaning of the given word: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AVERSION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A. Avoidable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B. Awareness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C. Hatred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D. Liking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pic>
        <p:nvPicPr>
          <p:cNvPr id="525" name="Google Shape;525;p65"/>
          <p:cNvPicPr preferRelativeResize="0"/>
          <p:nvPr/>
        </p:nvPicPr>
        <p:blipFill rotWithShape="1">
          <a:blip r:embed="rId3">
            <a:alphaModFix/>
          </a:blip>
          <a:srcRect b="0" l="0" r="0" t="0"/>
          <a:stretch/>
        </p:blipFill>
        <p:spPr>
          <a:xfrm>
            <a:off x="4899220" y="1850988"/>
            <a:ext cx="2324100" cy="16668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66"/>
          <p:cNvSpPr txBox="1"/>
          <p:nvPr/>
        </p:nvSpPr>
        <p:spPr>
          <a:xfrm>
            <a:off x="265160" y="1026750"/>
            <a:ext cx="876293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1" name="Google Shape;531;p66"/>
          <p:cNvSpPr/>
          <p:nvPr/>
        </p:nvSpPr>
        <p:spPr>
          <a:xfrm>
            <a:off x="0" y="290418"/>
            <a:ext cx="184731"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532" name="Google Shape;532;p66"/>
          <p:cNvSpPr/>
          <p:nvPr/>
        </p:nvSpPr>
        <p:spPr>
          <a:xfrm>
            <a:off x="92365" y="290418"/>
            <a:ext cx="184731"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533" name="Google Shape;533;p66"/>
          <p:cNvSpPr/>
          <p:nvPr/>
        </p:nvSpPr>
        <p:spPr>
          <a:xfrm>
            <a:off x="184731" y="925278"/>
            <a:ext cx="6720856" cy="92333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18225"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534" name="Google Shape;534;p66"/>
          <p:cNvSpPr/>
          <p:nvPr/>
        </p:nvSpPr>
        <p:spPr>
          <a:xfrm>
            <a:off x="0" y="399596"/>
            <a:ext cx="184731" cy="20005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535" name="Google Shape;535;p66"/>
          <p:cNvSpPr/>
          <p:nvPr/>
        </p:nvSpPr>
        <p:spPr>
          <a:xfrm>
            <a:off x="112532" y="290418"/>
            <a:ext cx="2222083" cy="16927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070C0"/>
                </a:solidFill>
                <a:highlight>
                  <a:srgbClr val="FFFFFF"/>
                </a:highlight>
                <a:latin typeface="Roboto"/>
                <a:ea typeface="Roboto"/>
                <a:cs typeface="Roboto"/>
                <a:sym typeface="Roboto"/>
              </a:rPr>
              <a:t>Explanation</a:t>
            </a:r>
            <a:endParaRPr b="1" i="0" sz="28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536" name="Google Shape;536;p66"/>
          <p:cNvSpPr/>
          <p:nvPr/>
        </p:nvSpPr>
        <p:spPr>
          <a:xfrm>
            <a:off x="74625" y="1136803"/>
            <a:ext cx="6830962"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Avoidable: Able to be avoided or prevented.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Awareness: Knowledge or perception of a situation or fact.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Hatred: Intense dislike; hate.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Liking: A feeling of regard or fondness.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AVERSION: A strong dislike or disinclination. Antonym of AVERSION is Liking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67"/>
          <p:cNvSpPr txBox="1"/>
          <p:nvPr/>
        </p:nvSpPr>
        <p:spPr>
          <a:xfrm>
            <a:off x="265160" y="1026750"/>
            <a:ext cx="876293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2" name="Google Shape;542;p67"/>
          <p:cNvSpPr/>
          <p:nvPr/>
        </p:nvSpPr>
        <p:spPr>
          <a:xfrm>
            <a:off x="0" y="290418"/>
            <a:ext cx="184731"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543" name="Google Shape;543;p67"/>
          <p:cNvSpPr/>
          <p:nvPr/>
        </p:nvSpPr>
        <p:spPr>
          <a:xfrm>
            <a:off x="92365" y="290418"/>
            <a:ext cx="184731"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544" name="Google Shape;544;p67"/>
          <p:cNvSpPr/>
          <p:nvPr/>
        </p:nvSpPr>
        <p:spPr>
          <a:xfrm>
            <a:off x="184731" y="925278"/>
            <a:ext cx="6720856" cy="92333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a:p>
            <a:pPr indent="0" lvl="0" marL="18225" marR="0" rtl="0" algn="l">
              <a:lnSpc>
                <a:spcPct val="15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545" name="Google Shape;545;p67"/>
          <p:cNvSpPr/>
          <p:nvPr/>
        </p:nvSpPr>
        <p:spPr>
          <a:xfrm>
            <a:off x="0" y="399596"/>
            <a:ext cx="184731" cy="20005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546" name="Google Shape;546;p67"/>
          <p:cNvSpPr/>
          <p:nvPr/>
        </p:nvSpPr>
        <p:spPr>
          <a:xfrm>
            <a:off x="112532" y="290418"/>
            <a:ext cx="2462534" cy="16927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rgbClr val="0070C0"/>
                </a:solidFill>
                <a:highlight>
                  <a:srgbClr val="FFFFFF"/>
                </a:highlight>
                <a:latin typeface="Roboto"/>
                <a:ea typeface="Roboto"/>
                <a:cs typeface="Roboto"/>
                <a:sym typeface="Roboto"/>
              </a:rPr>
              <a:t>Question : 10</a:t>
            </a:r>
            <a:endParaRPr b="1" i="0" sz="28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70C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Roboto"/>
              <a:ea typeface="Roboto"/>
              <a:cs typeface="Roboto"/>
              <a:sym typeface="Roboto"/>
            </a:endParaRPr>
          </a:p>
        </p:txBody>
      </p:sp>
      <p:sp>
        <p:nvSpPr>
          <p:cNvPr id="547" name="Google Shape;547;p67"/>
          <p:cNvSpPr/>
          <p:nvPr/>
        </p:nvSpPr>
        <p:spPr>
          <a:xfrm>
            <a:off x="74625" y="1136803"/>
            <a:ext cx="6830962" cy="31393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Select the word which is OPPOSITE in the meaning of the given word: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MITIGATE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A. Abate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B. Aggravate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C. Allay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Arial"/>
                <a:ea typeface="Arial"/>
                <a:cs typeface="Arial"/>
                <a:sym typeface="Arial"/>
              </a:rPr>
              <a:t>D. Alleviate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pic>
        <p:nvPicPr>
          <p:cNvPr id="548" name="Google Shape;548;p67"/>
          <p:cNvPicPr preferRelativeResize="0"/>
          <p:nvPr/>
        </p:nvPicPr>
        <p:blipFill rotWithShape="1">
          <a:blip r:embed="rId3">
            <a:alphaModFix/>
          </a:blip>
          <a:srcRect b="0" l="0" r="0" t="0"/>
          <a:stretch/>
        </p:blipFill>
        <p:spPr>
          <a:xfrm>
            <a:off x="4366100" y="1785750"/>
            <a:ext cx="2847975" cy="16002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pic>
        <p:nvPicPr>
          <p:cNvPr id="553" name="Google Shape;553;p68"/>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554" name="Google Shape;554;p68"/>
          <p:cNvSpPr txBox="1"/>
          <p:nvPr/>
        </p:nvSpPr>
        <p:spPr>
          <a:xfrm>
            <a:off x="3066415" y="2196465"/>
            <a:ext cx="3011170" cy="75057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Medium"/>
                <a:ea typeface="Roboto Medium"/>
                <a:cs typeface="Roboto Medium"/>
                <a:sym typeface="Roboto Medium"/>
              </a:rPr>
              <a:t>THANK YOU</a:t>
            </a:r>
            <a:endParaRPr b="0" i="0" sz="3700" u="none" cap="none" strike="noStrike">
              <a:solidFill>
                <a:schemeClr val="lt1"/>
              </a:solidFill>
              <a:latin typeface="Roboto Medium"/>
              <a:ea typeface="Roboto Medium"/>
              <a:cs typeface="Roboto Medium"/>
              <a:sym typeface="Roboto Medium"/>
            </a:endParaRPr>
          </a:p>
        </p:txBody>
      </p:sp>
      <p:pic>
        <p:nvPicPr>
          <p:cNvPr id="555" name="Google Shape;555;p68"/>
          <p:cNvPicPr preferRelativeResize="0"/>
          <p:nvPr/>
        </p:nvPicPr>
        <p:blipFill rotWithShape="1">
          <a:blip r:embed="rId4">
            <a:alphaModFix/>
          </a:blip>
          <a:srcRect b="0" l="0" r="0" t="0"/>
          <a:stretch/>
        </p:blipFill>
        <p:spPr>
          <a:xfrm>
            <a:off x="2056816" y="4591075"/>
            <a:ext cx="338156" cy="338150"/>
          </a:xfrm>
          <a:prstGeom prst="rect">
            <a:avLst/>
          </a:prstGeom>
          <a:noFill/>
          <a:ln>
            <a:noFill/>
          </a:ln>
        </p:spPr>
      </p:pic>
      <p:pic>
        <p:nvPicPr>
          <p:cNvPr id="556" name="Google Shape;556;p68"/>
          <p:cNvPicPr preferRelativeResize="0"/>
          <p:nvPr/>
        </p:nvPicPr>
        <p:blipFill rotWithShape="1">
          <a:blip r:embed="rId5">
            <a:alphaModFix/>
          </a:blip>
          <a:srcRect b="0" l="0" r="0" t="0"/>
          <a:stretch/>
        </p:blipFill>
        <p:spPr>
          <a:xfrm>
            <a:off x="3577450" y="4591075"/>
            <a:ext cx="338156" cy="338150"/>
          </a:xfrm>
          <a:prstGeom prst="rect">
            <a:avLst/>
          </a:prstGeom>
          <a:noFill/>
          <a:ln>
            <a:noFill/>
          </a:ln>
        </p:spPr>
      </p:pic>
      <p:sp>
        <p:nvSpPr>
          <p:cNvPr id="557" name="Google Shape;557;p68"/>
          <p:cNvSpPr txBox="1"/>
          <p:nvPr/>
        </p:nvSpPr>
        <p:spPr>
          <a:xfrm>
            <a:off x="2285550" y="4590800"/>
            <a:ext cx="11871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+91 78150 95095</a:t>
            </a:r>
            <a:endParaRPr b="0" i="0" sz="1000" u="none" cap="none" strike="noStrike">
              <a:solidFill>
                <a:schemeClr val="lt1"/>
              </a:solidFill>
              <a:latin typeface="Roboto Medium"/>
              <a:ea typeface="Roboto Medium"/>
              <a:cs typeface="Roboto Medium"/>
              <a:sym typeface="Roboto Medium"/>
            </a:endParaRPr>
          </a:p>
        </p:txBody>
      </p:sp>
      <p:cxnSp>
        <p:nvCxnSpPr>
          <p:cNvPr id="558" name="Google Shape;558;p68"/>
          <p:cNvCxnSpPr/>
          <p:nvPr/>
        </p:nvCxnSpPr>
        <p:spPr>
          <a:xfrm rot="10800000">
            <a:off x="35250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559" name="Google Shape;559;p68"/>
          <p:cNvSpPr txBox="1"/>
          <p:nvPr/>
        </p:nvSpPr>
        <p:spPr>
          <a:xfrm>
            <a:off x="3823850" y="4590800"/>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codemithra@ethnus.com</a:t>
            </a:r>
            <a:endParaRPr b="0" i="0" sz="1000" u="none" cap="none" strike="noStrike">
              <a:solidFill>
                <a:schemeClr val="lt1"/>
              </a:solidFill>
              <a:latin typeface="Roboto Medium"/>
              <a:ea typeface="Roboto Medium"/>
              <a:cs typeface="Roboto Medium"/>
              <a:sym typeface="Roboto Medium"/>
            </a:endParaRPr>
          </a:p>
        </p:txBody>
      </p:sp>
      <p:pic>
        <p:nvPicPr>
          <p:cNvPr id="560" name="Google Shape;560;p68"/>
          <p:cNvPicPr preferRelativeResize="0"/>
          <p:nvPr/>
        </p:nvPicPr>
        <p:blipFill rotWithShape="1">
          <a:blip r:embed="rId6">
            <a:alphaModFix/>
          </a:blip>
          <a:srcRect b="0" l="0" r="0" t="0"/>
          <a:stretch/>
        </p:blipFill>
        <p:spPr>
          <a:xfrm>
            <a:off x="5528570" y="4591063"/>
            <a:ext cx="338156" cy="338150"/>
          </a:xfrm>
          <a:prstGeom prst="rect">
            <a:avLst/>
          </a:prstGeom>
          <a:noFill/>
          <a:ln>
            <a:noFill/>
          </a:ln>
        </p:spPr>
      </p:pic>
      <p:sp>
        <p:nvSpPr>
          <p:cNvPr id="561" name="Google Shape;561;p68"/>
          <p:cNvSpPr txBox="1"/>
          <p:nvPr/>
        </p:nvSpPr>
        <p:spPr>
          <a:xfrm>
            <a:off x="5761990" y="4591050"/>
            <a:ext cx="1417320" cy="33528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www.codemithra.com</a:t>
            </a:r>
            <a:endParaRPr b="0" i="0" sz="1000" u="none" cap="none" strike="noStrike">
              <a:solidFill>
                <a:schemeClr val="lt1"/>
              </a:solidFill>
              <a:latin typeface="Roboto Medium"/>
              <a:ea typeface="Roboto Medium"/>
              <a:cs typeface="Roboto Medium"/>
              <a:sym typeface="Roboto Medium"/>
            </a:endParaRPr>
          </a:p>
        </p:txBody>
      </p:sp>
      <p:cxnSp>
        <p:nvCxnSpPr>
          <p:cNvPr id="562" name="Google Shape;562;p68"/>
          <p:cNvCxnSpPr/>
          <p:nvPr/>
        </p:nvCxnSpPr>
        <p:spPr>
          <a:xfrm rot="10800000">
            <a:off x="54714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5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4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6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3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ELCOT</dc:creator>
</cp:coreProperties>
</file>