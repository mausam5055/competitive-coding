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3">
          <p15:clr>
            <a:srgbClr val="FF0000"/>
          </p15:clr>
        </p15:guide>
        <p15:guide id="2" pos="455">
          <p15:clr>
            <a:srgbClr val="FF00FF"/>
          </p15:clr>
        </p15:guide>
        <p15:guide id="3" pos="5270">
          <p15:clr>
            <a:srgbClr val="FF00FF"/>
          </p15:clr>
        </p15:guide>
        <p15:guide id="4" orient="horz" pos="904">
          <p15:clr>
            <a:srgbClr val="FF0000"/>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8" roundtripDataSignature="AMtx7mgZOVkspLeOJVeBE5kmSoChVnmp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3" orient="horz"/>
        <p:guide pos="455"/>
        <p:guide pos="5270"/>
        <p:guide pos="904" orient="horz"/>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Roboto-italic.fntdata"/><Relationship Id="rId23" Type="http://schemas.openxmlformats.org/officeDocument/2006/relationships/slide" Target="slides/slide18.xml"/><Relationship Id="rId45"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0e79ddc1a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g20e79ddc1a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0e79ddc1ad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20e79ddc1ad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0e79ddc1ad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20e79ddc1ad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b="1" lang="en" sz="1200">
                <a:solidFill>
                  <a:srgbClr val="333333"/>
                </a:solidFill>
                <a:highlight>
                  <a:srgbClr val="FFFFFF"/>
                </a:highlight>
              </a:rPr>
              <a: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B</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e9dd8e0ed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1e9dd8e0e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e9dd8e0edc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1e9dd8e0ed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C</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Solution: The nth term of GP is given by:</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2, 4, 8,….</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Here, a = 2 and r = 4/2 = 2</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a</a:t>
            </a:r>
            <a:r>
              <a:rPr lang="en" sz="800">
                <a:solidFill>
                  <a:srgbClr val="333333"/>
                </a:solidFill>
                <a:highlight>
                  <a:srgbClr val="FFFFFF"/>
                </a:highlight>
                <a:latin typeface="Roboto"/>
                <a:ea typeface="Roboto"/>
                <a:cs typeface="Roboto"/>
                <a:sym typeface="Roboto"/>
              </a:rPr>
              <a:t>n</a:t>
            </a:r>
            <a:r>
              <a:rPr lang="en" sz="1050">
                <a:solidFill>
                  <a:srgbClr val="333333"/>
                </a:solidFill>
                <a:highlight>
                  <a:srgbClr val="FFFFFF"/>
                </a:highlight>
                <a:latin typeface="Roboto"/>
                <a:ea typeface="Roboto"/>
                <a:cs typeface="Roboto"/>
                <a:sym typeface="Roboto"/>
              </a:rPr>
              <a:t> = ar</a:t>
            </a:r>
            <a:r>
              <a:rPr lang="en" sz="800">
                <a:solidFill>
                  <a:srgbClr val="333333"/>
                </a:solidFill>
                <a:highlight>
                  <a:srgbClr val="FFFFFF"/>
                </a:highlight>
                <a:latin typeface="Roboto"/>
                <a:ea typeface="Roboto"/>
                <a:cs typeface="Roboto"/>
                <a:sym typeface="Roboto"/>
              </a:rPr>
              <a:t>n-1</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Therefore,</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a</a:t>
            </a:r>
            <a:r>
              <a:rPr lang="en" sz="800">
                <a:solidFill>
                  <a:srgbClr val="333333"/>
                </a:solidFill>
                <a:highlight>
                  <a:srgbClr val="FFFFFF"/>
                </a:highlight>
                <a:latin typeface="Roboto"/>
                <a:ea typeface="Roboto"/>
                <a:cs typeface="Roboto"/>
                <a:sym typeface="Roboto"/>
              </a:rPr>
              <a:t>10</a:t>
            </a:r>
            <a:r>
              <a:rPr lang="en" sz="1050">
                <a:solidFill>
                  <a:srgbClr val="333333"/>
                </a:solidFill>
                <a:highlight>
                  <a:srgbClr val="FFFFFF"/>
                </a:highlight>
                <a:latin typeface="Roboto"/>
                <a:ea typeface="Roboto"/>
                <a:cs typeface="Roboto"/>
                <a:sym typeface="Roboto"/>
              </a:rPr>
              <a:t> = 2 x 2</a:t>
            </a:r>
            <a:r>
              <a:rPr lang="en" sz="800">
                <a:solidFill>
                  <a:srgbClr val="333333"/>
                </a:solidFill>
                <a:highlight>
                  <a:srgbClr val="FFFFFF"/>
                </a:highlight>
                <a:latin typeface="Roboto"/>
                <a:ea typeface="Roboto"/>
                <a:cs typeface="Roboto"/>
                <a:sym typeface="Roboto"/>
              </a:rPr>
              <a:t>10 – 1</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 2 × 2</a:t>
            </a:r>
            <a:r>
              <a:rPr lang="en" sz="800">
                <a:solidFill>
                  <a:srgbClr val="333333"/>
                </a:solidFill>
                <a:highlight>
                  <a:srgbClr val="FFFFFF"/>
                </a:highlight>
                <a:latin typeface="Roboto"/>
                <a:ea typeface="Roboto"/>
                <a:cs typeface="Roboto"/>
                <a:sym typeface="Roboto"/>
              </a:rPr>
              <a:t>9</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 1024</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A</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C</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B</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C</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B</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B</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A</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e9dd8e0edc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1e9dd8e0edc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e9dd8e0edc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1e9dd8e0edc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2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3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 name="Shape 26"/>
        <p:cNvGrpSpPr/>
        <p:nvPr/>
      </p:nvGrpSpPr>
      <p:grpSpPr>
        <a:xfrm>
          <a:off x="0" y="0"/>
          <a:ext cx="0" cy="0"/>
          <a:chOff x="0" y="0"/>
          <a:chExt cx="0" cy="0"/>
        </a:xfrm>
      </p:grpSpPr>
      <p:sp>
        <p:nvSpPr>
          <p:cNvPr id="27" name="Google Shape;2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8" name="Google Shape;2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2" name="Google Shape;3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4" name="Google Shape;3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 name="Shape 35"/>
        <p:cNvGrpSpPr/>
        <p:nvPr/>
      </p:nvGrpSpPr>
      <p:grpSpPr>
        <a:xfrm>
          <a:off x="0" y="0"/>
          <a:ext cx="0" cy="0"/>
          <a:chOff x="0" y="0"/>
          <a:chExt cx="0" cy="0"/>
        </a:xfrm>
      </p:grpSpPr>
      <p:sp>
        <p:nvSpPr>
          <p:cNvPr id="36" name="Google Shape;3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37" name="Google Shape;3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 name="Google Shape;4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1" name="Google Shape;4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2" name="Shape 42"/>
        <p:cNvGrpSpPr/>
        <p:nvPr/>
      </p:nvGrpSpPr>
      <p:grpSpPr>
        <a:xfrm>
          <a:off x="0" y="0"/>
          <a:ext cx="0" cy="0"/>
          <a:chOff x="0" y="0"/>
          <a:chExt cx="0" cy="0"/>
        </a:xfrm>
      </p:grpSpPr>
      <p:pic>
        <p:nvPicPr>
          <p:cNvPr descr="A close up of a logo&#10;&#10;Description generated with high confidence" id="43" name="Google Shape;43;p47"/>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44" name="Google Shape;44;p47"/>
          <p:cNvPicPr preferRelativeResize="0"/>
          <p:nvPr/>
        </p:nvPicPr>
        <p:blipFill rotWithShape="1">
          <a:blip r:embed="rId3">
            <a:alphaModFix/>
          </a:blip>
          <a:srcRect b="37530" l="0" r="0" t="55602"/>
          <a:stretch/>
        </p:blipFill>
        <p:spPr>
          <a:xfrm>
            <a:off x="0" y="4849200"/>
            <a:ext cx="9144000" cy="294300"/>
          </a:xfrm>
          <a:prstGeom prst="rect">
            <a:avLst/>
          </a:prstGeom>
          <a:noFill/>
          <a:ln>
            <a:noFill/>
          </a:ln>
        </p:spPr>
      </p:pic>
      <p:sp>
        <p:nvSpPr>
          <p:cNvPr id="45" name="Google Shape;45;p47"/>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46" name="Google Shape;46;p47"/>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47" name="Google Shape;47;p47"/>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48" name="Google Shape;48;p47"/>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1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hyperlink" Target="https://learn.codemithra.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4"/>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4"/>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4"/>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5"/>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5"/>
          <p:cNvSpPr txBox="1"/>
          <p:nvPr/>
        </p:nvSpPr>
        <p:spPr>
          <a:xfrm>
            <a:off x="148264" y="1741810"/>
            <a:ext cx="4690800" cy="221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PROBLEMS ON BOATS AND STREAMS</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3"/>
          <p:cNvSpPr txBox="1"/>
          <p:nvPr>
            <p:ph idx="1" type="body"/>
          </p:nvPr>
        </p:nvSpPr>
        <p:spPr>
          <a:xfrm>
            <a:off x="722375" y="1435600"/>
            <a:ext cx="8015400" cy="2638200"/>
          </a:xfrm>
          <a:prstGeom prst="rect">
            <a:avLst/>
          </a:prstGeom>
          <a:noFill/>
          <a:ln>
            <a:noFill/>
          </a:ln>
        </p:spPr>
        <p:txBody>
          <a:bodyPr anchorCtr="0" anchor="t" bIns="91425" lIns="91425" spcFirstLastPara="1" rIns="91425" wrap="square" tIns="91425">
            <a:noAutofit/>
          </a:bodyPr>
          <a:lstStyle/>
          <a:p>
            <a:pPr indent="-317500" lvl="0" marL="457200" rtl="0" algn="l">
              <a:lnSpc>
                <a:spcPct val="168750"/>
              </a:lnSpc>
              <a:spcBef>
                <a:spcPts val="800"/>
              </a:spcBef>
              <a:spcAft>
                <a:spcPts val="0"/>
              </a:spcAft>
              <a:buClr>
                <a:schemeClr val="dk1"/>
              </a:buClr>
              <a:buSzPts val="1400"/>
              <a:buChar char="●"/>
            </a:pPr>
            <a:r>
              <a:rPr lang="en" sz="1400">
                <a:solidFill>
                  <a:schemeClr val="dk1"/>
                </a:solidFill>
              </a:rPr>
              <a:t>A boat is said to go downstream if it is moving along the direction of the stream. The net speed of the boat in this case is called downstream speed.</a:t>
            </a:r>
            <a:endParaRPr sz="1400">
              <a:solidFill>
                <a:schemeClr val="dk1"/>
              </a:solidFill>
            </a:endParaRPr>
          </a:p>
          <a:p>
            <a:pPr indent="-317500" lvl="0" marL="457200" rtl="0" algn="l">
              <a:lnSpc>
                <a:spcPct val="168750"/>
              </a:lnSpc>
              <a:spcBef>
                <a:spcPts val="0"/>
              </a:spcBef>
              <a:spcAft>
                <a:spcPts val="0"/>
              </a:spcAft>
              <a:buClr>
                <a:schemeClr val="dk1"/>
              </a:buClr>
              <a:buSzPts val="1400"/>
              <a:buChar char="●"/>
            </a:pPr>
            <a:r>
              <a:rPr lang="en" sz="1400">
                <a:solidFill>
                  <a:schemeClr val="dk1"/>
                </a:solidFill>
              </a:rPr>
              <a:t>A boat is said to go upstream if it is moving in the direction opposite to the direction of the stream. The net speed of the boat in this case is called upstream speed.</a:t>
            </a:r>
            <a:endParaRPr sz="1400">
              <a:solidFill>
                <a:schemeClr val="dk1"/>
              </a:solidFill>
            </a:endParaRPr>
          </a:p>
          <a:p>
            <a:pPr indent="-317500" lvl="0" marL="457200" rtl="0" algn="l">
              <a:lnSpc>
                <a:spcPct val="168750"/>
              </a:lnSpc>
              <a:spcBef>
                <a:spcPts val="0"/>
              </a:spcBef>
              <a:spcAft>
                <a:spcPts val="0"/>
              </a:spcAft>
              <a:buClr>
                <a:schemeClr val="dk1"/>
              </a:buClr>
              <a:buSzPts val="1400"/>
              <a:buChar char="●"/>
            </a:pPr>
            <a:r>
              <a:rPr lang="en" sz="1400">
                <a:solidFill>
                  <a:schemeClr val="dk1"/>
                </a:solidFill>
              </a:rPr>
              <a:t>Let the speed of the boat in still water is 'b' km/hr and the speed of the stream is 'w' km/hr. When the boat goes downstream then the speed will be (b + w) km/hr as in this case the water will take the boat along with it.</a:t>
            </a:r>
            <a:endParaRPr sz="1400">
              <a:solidFill>
                <a:schemeClr val="dk1"/>
              </a:solidFill>
            </a:endParaRPr>
          </a:p>
          <a:p>
            <a:pPr indent="-317500" lvl="0" marL="457200" rtl="0" algn="l">
              <a:lnSpc>
                <a:spcPct val="168750"/>
              </a:lnSpc>
              <a:spcBef>
                <a:spcPts val="0"/>
              </a:spcBef>
              <a:spcAft>
                <a:spcPts val="0"/>
              </a:spcAft>
              <a:buClr>
                <a:schemeClr val="dk1"/>
              </a:buClr>
              <a:buSzPts val="1400"/>
              <a:buChar char="●"/>
            </a:pPr>
            <a:r>
              <a:rPr lang="en" sz="1400">
                <a:solidFill>
                  <a:schemeClr val="dk1"/>
                </a:solidFill>
              </a:rPr>
              <a:t>When the boat goes upstream then the speed will be (b - w) km/hr as in this case the water will offer resistance to the boat</a:t>
            </a:r>
            <a:endParaRPr sz="1400">
              <a:solidFill>
                <a:schemeClr val="dk1"/>
              </a:solidFill>
            </a:endParaRPr>
          </a:p>
          <a:p>
            <a:pPr indent="0" lvl="0" marL="0" rtl="0" algn="just">
              <a:lnSpc>
                <a:spcPct val="115000"/>
              </a:lnSpc>
              <a:spcBef>
                <a:spcPts val="800"/>
              </a:spcBef>
              <a:spcAft>
                <a:spcPts val="0"/>
              </a:spcAft>
              <a:buClr>
                <a:schemeClr val="dk1"/>
              </a:buClr>
              <a:buSzPts val="1800"/>
              <a:buFont typeface="Arial"/>
              <a:buNone/>
            </a:pPr>
            <a:r>
              <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just">
              <a:lnSpc>
                <a:spcPct val="115000"/>
              </a:lnSpc>
              <a:spcBef>
                <a:spcPts val="800"/>
              </a:spcBef>
              <a:spcAft>
                <a:spcPts val="0"/>
              </a:spcAft>
              <a:buSzPts val="1800"/>
              <a:buNone/>
            </a:pPr>
            <a:r>
              <a:t/>
            </a:r>
            <a:endParaRPr sz="1400">
              <a:solidFill>
                <a:schemeClr val="dk1"/>
              </a:solidFill>
            </a:endParaRPr>
          </a:p>
        </p:txBody>
      </p:sp>
      <p:sp>
        <p:nvSpPr>
          <p:cNvPr id="71" name="Google Shape;71;p3"/>
          <p:cNvSpPr/>
          <p:nvPr/>
        </p:nvSpPr>
        <p:spPr>
          <a:xfrm>
            <a:off x="722375" y="758225"/>
            <a:ext cx="3427200" cy="4122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lt1"/>
                </a:solidFill>
                <a:latin typeface="Roboto"/>
                <a:ea typeface="Roboto"/>
                <a:cs typeface="Roboto"/>
                <a:sym typeface="Roboto"/>
              </a:rPr>
              <a:t>TSD- BOATS AND STREAMS</a:t>
            </a:r>
            <a:endParaRPr b="1" i="0" sz="20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0" st="0"/>
                                            </p:txEl>
                                          </p:spTgt>
                                        </p:tgtEl>
                                        <p:attrNameLst>
                                          <p:attrName>style.visibility</p:attrName>
                                        </p:attrNameLst>
                                      </p:cBhvr>
                                      <p:to>
                                        <p:strVal val="visible"/>
                                      </p:to>
                                    </p:set>
                                    <p:animEffect filter="fade" transition="in">
                                      <p:cBhvr>
                                        <p:cTn dur="1000"/>
                                        <p:tgtEl>
                                          <p:spTgt spid="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1" st="1"/>
                                            </p:txEl>
                                          </p:spTgt>
                                        </p:tgtEl>
                                        <p:attrNameLst>
                                          <p:attrName>style.visibility</p:attrName>
                                        </p:attrNameLst>
                                      </p:cBhvr>
                                      <p:to>
                                        <p:strVal val="visible"/>
                                      </p:to>
                                    </p:set>
                                    <p:animEffect filter="fade" transition="in">
                                      <p:cBhvr>
                                        <p:cTn dur="1000"/>
                                        <p:tgtEl>
                                          <p:spTgt spid="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2" st="2"/>
                                            </p:txEl>
                                          </p:spTgt>
                                        </p:tgtEl>
                                        <p:attrNameLst>
                                          <p:attrName>style.visibility</p:attrName>
                                        </p:attrNameLst>
                                      </p:cBhvr>
                                      <p:to>
                                        <p:strVal val="visible"/>
                                      </p:to>
                                    </p:set>
                                    <p:animEffect filter="fade" transition="in">
                                      <p:cBhvr>
                                        <p:cTn dur="1000"/>
                                        <p:tgtEl>
                                          <p:spTgt spid="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3" st="3"/>
                                            </p:txEl>
                                          </p:spTgt>
                                        </p:tgtEl>
                                        <p:attrNameLst>
                                          <p:attrName>style.visibility</p:attrName>
                                        </p:attrNameLst>
                                      </p:cBhvr>
                                      <p:to>
                                        <p:strVal val="visible"/>
                                      </p:to>
                                    </p:set>
                                    <p:animEffect filter="fade" transition="in">
                                      <p:cBhvr>
                                        <p:cTn dur="1000"/>
                                        <p:tgtEl>
                                          <p:spTgt spid="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4" st="4"/>
                                            </p:txEl>
                                          </p:spTgt>
                                        </p:tgtEl>
                                        <p:attrNameLst>
                                          <p:attrName>style.visibility</p:attrName>
                                        </p:attrNameLst>
                                      </p:cBhvr>
                                      <p:to>
                                        <p:strVal val="visible"/>
                                      </p:to>
                                    </p:set>
                                    <p:animEffect filter="fade" transition="in">
                                      <p:cBhvr>
                                        <p:cTn dur="1000"/>
                                        <p:tgtEl>
                                          <p:spTgt spid="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5" st="5"/>
                                            </p:txEl>
                                          </p:spTgt>
                                        </p:tgtEl>
                                        <p:attrNameLst>
                                          <p:attrName>style.visibility</p:attrName>
                                        </p:attrNameLst>
                                      </p:cBhvr>
                                      <p:to>
                                        <p:strVal val="visible"/>
                                      </p:to>
                                    </p:set>
                                    <p:animEffect filter="fade" transition="in">
                                      <p:cBhvr>
                                        <p:cTn dur="1000"/>
                                        <p:tgtEl>
                                          <p:spTgt spid="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6" st="6"/>
                                            </p:txEl>
                                          </p:spTgt>
                                        </p:tgtEl>
                                        <p:attrNameLst>
                                          <p:attrName>style.visibility</p:attrName>
                                        </p:attrNameLst>
                                      </p:cBhvr>
                                      <p:to>
                                        <p:strVal val="visible"/>
                                      </p:to>
                                    </p:set>
                                    <p:animEffect filter="fade" transition="in">
                                      <p:cBhvr>
                                        <p:cTn dur="1000"/>
                                        <p:tgtEl>
                                          <p:spTgt spid="7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20e79ddc1ad_0_0"/>
          <p:cNvSpPr txBox="1"/>
          <p:nvPr>
            <p:ph idx="1" type="body"/>
          </p:nvPr>
        </p:nvSpPr>
        <p:spPr>
          <a:xfrm>
            <a:off x="722375" y="1435600"/>
            <a:ext cx="7644300" cy="2638200"/>
          </a:xfrm>
          <a:prstGeom prst="rect">
            <a:avLst/>
          </a:prstGeom>
          <a:noFill/>
          <a:ln>
            <a:noFill/>
          </a:ln>
        </p:spPr>
        <p:txBody>
          <a:bodyPr anchorCtr="0" anchor="t" bIns="91425" lIns="91425" spcFirstLastPara="1" rIns="91425" wrap="square" tIns="91425">
            <a:noAutofit/>
          </a:bodyPr>
          <a:lstStyle/>
          <a:p>
            <a:pPr indent="-317500" lvl="0" marL="457200" rtl="0" algn="l">
              <a:lnSpc>
                <a:spcPct val="168750"/>
              </a:lnSpc>
              <a:spcBef>
                <a:spcPts val="0"/>
              </a:spcBef>
              <a:spcAft>
                <a:spcPts val="0"/>
              </a:spcAft>
              <a:buClr>
                <a:schemeClr val="dk1"/>
              </a:buClr>
              <a:buSzPts val="1400"/>
              <a:buChar char="●"/>
            </a:pPr>
            <a:r>
              <a:rPr lang="en" sz="1400">
                <a:solidFill>
                  <a:schemeClr val="dk1"/>
                </a:solidFill>
              </a:rPr>
              <a:t>Let the downstream speed = d = b + w ……….(i)</a:t>
            </a:r>
            <a:endParaRPr sz="1400">
              <a:solidFill>
                <a:schemeClr val="dk1"/>
              </a:solidFill>
            </a:endParaRPr>
          </a:p>
          <a:p>
            <a:pPr indent="-317500" lvl="0" marL="457200" rtl="0" algn="l">
              <a:lnSpc>
                <a:spcPct val="168750"/>
              </a:lnSpc>
              <a:spcBef>
                <a:spcPts val="0"/>
              </a:spcBef>
              <a:spcAft>
                <a:spcPts val="0"/>
              </a:spcAft>
              <a:buClr>
                <a:schemeClr val="dk1"/>
              </a:buClr>
              <a:buSzPts val="1400"/>
              <a:buChar char="●"/>
            </a:pPr>
            <a:r>
              <a:rPr lang="en" sz="1400">
                <a:solidFill>
                  <a:schemeClr val="dk1"/>
                </a:solidFill>
              </a:rPr>
              <a:t>Then the upstream speed = u = b – w ………(ii)</a:t>
            </a:r>
            <a:endParaRPr sz="1400">
              <a:solidFill>
                <a:schemeClr val="dk1"/>
              </a:solidFill>
            </a:endParaRPr>
          </a:p>
          <a:p>
            <a:pPr indent="-317500" lvl="0" marL="457200" rtl="0" algn="l">
              <a:lnSpc>
                <a:spcPct val="168750"/>
              </a:lnSpc>
              <a:spcBef>
                <a:spcPts val="0"/>
              </a:spcBef>
              <a:spcAft>
                <a:spcPts val="0"/>
              </a:spcAft>
              <a:buClr>
                <a:schemeClr val="dk1"/>
              </a:buClr>
              <a:buSzPts val="1400"/>
              <a:buChar char="●"/>
            </a:pPr>
            <a:r>
              <a:rPr lang="en" sz="1400">
                <a:solidFill>
                  <a:schemeClr val="dk1"/>
                </a:solidFill>
              </a:rPr>
              <a:t>Adding the two equations, we get 2b = d + u.</a:t>
            </a:r>
            <a:endParaRPr sz="1400">
              <a:solidFill>
                <a:schemeClr val="dk1"/>
              </a:solidFill>
            </a:endParaRPr>
          </a:p>
          <a:p>
            <a:pPr indent="-317500" lvl="0" marL="457200" rtl="0" algn="l">
              <a:lnSpc>
                <a:spcPct val="168750"/>
              </a:lnSpc>
              <a:spcBef>
                <a:spcPts val="0"/>
              </a:spcBef>
              <a:spcAft>
                <a:spcPts val="0"/>
              </a:spcAft>
              <a:buClr>
                <a:schemeClr val="dk1"/>
              </a:buClr>
              <a:buSzPts val="1400"/>
              <a:buChar char="●"/>
            </a:pPr>
            <a:r>
              <a:rPr lang="en" sz="1400">
                <a:solidFill>
                  <a:schemeClr val="dk1"/>
                </a:solidFill>
              </a:rPr>
              <a:t>⇒ b = (d+u) / 2 which gives the speed of the boat in terms of downstream and upstream speed. Subtracting the equation (i) and (ii), we get d – u = 2w ⇒ w = (d-u) / 2 which gives the speed of the stream in terms of downstream and upstream speed. You should remember these boats and streams formulas.</a:t>
            </a:r>
            <a:endParaRPr sz="1400">
              <a:solidFill>
                <a:schemeClr val="dk1"/>
              </a:solidFill>
            </a:endParaRPr>
          </a:p>
          <a:p>
            <a:pPr indent="0" lvl="0" marL="457200" rtl="0" algn="l">
              <a:lnSpc>
                <a:spcPct val="168750"/>
              </a:lnSpc>
              <a:spcBef>
                <a:spcPts val="800"/>
              </a:spcBef>
              <a:spcAft>
                <a:spcPts val="0"/>
              </a:spcAft>
              <a:buClr>
                <a:schemeClr val="dk1"/>
              </a:buClr>
              <a:buSzPts val="1100"/>
              <a:buFont typeface="Arial"/>
              <a:buNone/>
            </a:pPr>
            <a:r>
              <a:t/>
            </a:r>
            <a:endParaRPr sz="1400">
              <a:solidFill>
                <a:schemeClr val="dk1"/>
              </a:solidFill>
            </a:endParaRPr>
          </a:p>
          <a:p>
            <a:pPr indent="0" lvl="0" marL="0" rtl="0" algn="just">
              <a:lnSpc>
                <a:spcPct val="115000"/>
              </a:lnSpc>
              <a:spcBef>
                <a:spcPts val="800"/>
              </a:spcBef>
              <a:spcAft>
                <a:spcPts val="0"/>
              </a:spcAft>
              <a:buSzPts val="1800"/>
              <a:buNone/>
            </a:pPr>
            <a:r>
              <a:t/>
            </a:r>
            <a:endParaRPr sz="1400">
              <a:solidFill>
                <a:schemeClr val="dk1"/>
              </a:solidFill>
            </a:endParaRPr>
          </a:p>
        </p:txBody>
      </p:sp>
      <p:sp>
        <p:nvSpPr>
          <p:cNvPr id="77" name="Google Shape;77;g20e79ddc1ad_0_0"/>
          <p:cNvSpPr/>
          <p:nvPr/>
        </p:nvSpPr>
        <p:spPr>
          <a:xfrm>
            <a:off x="722385" y="758226"/>
            <a:ext cx="3516600" cy="4122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lt1"/>
                </a:solidFill>
                <a:latin typeface="Roboto"/>
                <a:ea typeface="Roboto"/>
                <a:cs typeface="Roboto"/>
                <a:sym typeface="Roboto"/>
              </a:rPr>
              <a:t>TSD- BOATS AND STREAMS</a:t>
            </a:r>
            <a:endParaRPr b="1" i="0" sz="20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Effect filter="fade" transition="in">
                                      <p:cBhvr>
                                        <p:cTn dur="1000"/>
                                        <p:tgtEl>
                                          <p:spTgt spid="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animEffect filter="fade" transition="in">
                                      <p:cBhvr>
                                        <p:cTn dur="1000"/>
                                        <p:tgtEl>
                                          <p:spTgt spid="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animEffect filter="fade" transition="in">
                                      <p:cBhvr>
                                        <p:cTn dur="1000"/>
                                        <p:tgtEl>
                                          <p:spTgt spid="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animEffect filter="fade" transition="in">
                                      <p:cBhvr>
                                        <p:cTn dur="1000"/>
                                        <p:tgtEl>
                                          <p:spTgt spid="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animEffect filter="fade" transition="in">
                                      <p:cBhvr>
                                        <p:cTn dur="1000"/>
                                        <p:tgtEl>
                                          <p:spTgt spid="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5" st="5"/>
                                            </p:txEl>
                                          </p:spTgt>
                                        </p:tgtEl>
                                        <p:attrNameLst>
                                          <p:attrName>style.visibility</p:attrName>
                                        </p:attrNameLst>
                                      </p:cBhvr>
                                      <p:to>
                                        <p:strVal val="visible"/>
                                      </p:to>
                                    </p:set>
                                    <p:animEffect filter="fade" transition="in">
                                      <p:cBhvr>
                                        <p:cTn dur="1000"/>
                                        <p:tgtEl>
                                          <p:spTgt spid="7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20e79ddc1ad_0_8"/>
          <p:cNvSpPr txBox="1"/>
          <p:nvPr>
            <p:ph idx="1" type="body"/>
          </p:nvPr>
        </p:nvSpPr>
        <p:spPr>
          <a:xfrm>
            <a:off x="722375" y="1533000"/>
            <a:ext cx="7446000" cy="25407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dk1"/>
              </a:buClr>
              <a:buSzPts val="1100"/>
              <a:buFont typeface="Arial"/>
              <a:buNone/>
            </a:pPr>
            <a:r>
              <a:rPr lang="en" sz="1200">
                <a:solidFill>
                  <a:schemeClr val="dk1"/>
                </a:solidFill>
              </a:rPr>
              <a:t>Suppose a man can row a boat at a speed of r km/hr in still water and covers the same distance up and down in a stream while a stream flows at a speed of s km/hr. His average speed will be :</a:t>
            </a:r>
            <a:endParaRPr sz="1200">
              <a:solidFill>
                <a:schemeClr val="dk1"/>
              </a:solidFill>
            </a:endParaRPr>
          </a:p>
          <a:p>
            <a:pPr indent="0" lvl="0" marL="457200" rtl="0" algn="l">
              <a:lnSpc>
                <a:spcPct val="100000"/>
              </a:lnSpc>
              <a:spcBef>
                <a:spcPts val="800"/>
              </a:spcBef>
              <a:spcAft>
                <a:spcPts val="0"/>
              </a:spcAft>
              <a:buClr>
                <a:schemeClr val="dk1"/>
              </a:buClr>
              <a:buSzPts val="1100"/>
              <a:buFont typeface="Arial"/>
              <a:buNone/>
            </a:pPr>
            <a:r>
              <a:t/>
            </a:r>
            <a:endParaRPr sz="1200">
              <a:solidFill>
                <a:schemeClr val="dk1"/>
              </a:solidFill>
            </a:endParaRPr>
          </a:p>
          <a:p>
            <a:pPr indent="0" lvl="0" marL="457200" rtl="0" algn="l">
              <a:lnSpc>
                <a:spcPct val="100000"/>
              </a:lnSpc>
              <a:spcBef>
                <a:spcPts val="800"/>
              </a:spcBef>
              <a:spcAft>
                <a:spcPts val="0"/>
              </a:spcAft>
              <a:buClr>
                <a:schemeClr val="dk1"/>
              </a:buClr>
              <a:buSzPts val="1100"/>
              <a:buFont typeface="Arial"/>
              <a:buNone/>
            </a:pPr>
            <a:r>
              <a:t/>
            </a:r>
            <a:endParaRPr sz="1200">
              <a:solidFill>
                <a:schemeClr val="dk1"/>
              </a:solidFill>
            </a:endParaRPr>
          </a:p>
          <a:p>
            <a:pPr indent="0" lvl="0" marL="457200" rtl="0" algn="l">
              <a:lnSpc>
                <a:spcPct val="100000"/>
              </a:lnSpc>
              <a:spcBef>
                <a:spcPts val="800"/>
              </a:spcBef>
              <a:spcAft>
                <a:spcPts val="0"/>
              </a:spcAft>
              <a:buClr>
                <a:schemeClr val="dk1"/>
              </a:buClr>
              <a:buSzPts val="1100"/>
              <a:buFont typeface="Arial"/>
              <a:buNone/>
            </a:pPr>
            <a:r>
              <a:rPr lang="en" sz="1200">
                <a:solidFill>
                  <a:schemeClr val="dk1"/>
                </a:solidFill>
              </a:rPr>
              <a:t>A man rows downstream by covering a certain distance in p1 hours and returns the same distance upstream in p2 hours. If the speed of the stream is s km/hr, then the speed of the man in still water will be :</a:t>
            </a:r>
            <a:endParaRPr sz="1200">
              <a:solidFill>
                <a:schemeClr val="dk1"/>
              </a:solidFill>
            </a:endParaRPr>
          </a:p>
          <a:p>
            <a:pPr indent="0" lvl="0" marL="0" rtl="0" algn="l">
              <a:lnSpc>
                <a:spcPct val="100000"/>
              </a:lnSpc>
              <a:spcBef>
                <a:spcPts val="800"/>
              </a:spcBef>
              <a:spcAft>
                <a:spcPts val="0"/>
              </a:spcAft>
              <a:buClr>
                <a:schemeClr val="dk1"/>
              </a:buClr>
              <a:buSzPts val="1100"/>
              <a:buFont typeface="Arial"/>
              <a:buNone/>
            </a:pPr>
            <a:r>
              <a:t/>
            </a:r>
            <a:endParaRPr sz="1200">
              <a:solidFill>
                <a:schemeClr val="dk1"/>
              </a:solidFill>
            </a:endParaRPr>
          </a:p>
          <a:p>
            <a:pPr indent="0" lvl="0" marL="457200" rtl="0" algn="l">
              <a:lnSpc>
                <a:spcPct val="100000"/>
              </a:lnSpc>
              <a:spcBef>
                <a:spcPts val="800"/>
              </a:spcBef>
              <a:spcAft>
                <a:spcPts val="0"/>
              </a:spcAft>
              <a:buClr>
                <a:schemeClr val="dk1"/>
              </a:buClr>
              <a:buSzPts val="1100"/>
              <a:buFont typeface="Arial"/>
              <a:buNone/>
            </a:pPr>
            <a:r>
              <a:rPr lang="en" sz="1200">
                <a:solidFill>
                  <a:schemeClr val="dk1"/>
                </a:solidFill>
              </a:rPr>
              <a:t>A man takes same number of times say m times to row upstream as to row downstream a river. If the speed of the man is r km/hr and the speed of the stream is s km/hr, then</a:t>
            </a:r>
            <a:endParaRPr sz="1200">
              <a:solidFill>
                <a:schemeClr val="dk1"/>
              </a:solidFill>
            </a:endParaRPr>
          </a:p>
          <a:p>
            <a:pPr indent="0" lvl="0" marL="457200" rtl="0" algn="l">
              <a:lnSpc>
                <a:spcPct val="100000"/>
              </a:lnSpc>
              <a:spcBef>
                <a:spcPts val="800"/>
              </a:spcBef>
              <a:spcAft>
                <a:spcPts val="0"/>
              </a:spcAft>
              <a:buClr>
                <a:schemeClr val="dk1"/>
              </a:buClr>
              <a:buSzPts val="1100"/>
              <a:buFont typeface="Arial"/>
              <a:buNone/>
            </a:pPr>
            <a:r>
              <a:t/>
            </a:r>
            <a:endParaRPr sz="1200">
              <a:solidFill>
                <a:schemeClr val="dk1"/>
              </a:solidFill>
            </a:endParaRPr>
          </a:p>
          <a:p>
            <a:pPr indent="0" lvl="0" marL="0" rtl="0" algn="just">
              <a:lnSpc>
                <a:spcPct val="115000"/>
              </a:lnSpc>
              <a:spcBef>
                <a:spcPts val="800"/>
              </a:spcBef>
              <a:spcAft>
                <a:spcPts val="0"/>
              </a:spcAft>
              <a:buSzPts val="1800"/>
              <a:buNone/>
            </a:pPr>
            <a:r>
              <a:t/>
            </a:r>
            <a:endParaRPr sz="1200">
              <a:solidFill>
                <a:schemeClr val="dk1"/>
              </a:solidFill>
            </a:endParaRPr>
          </a:p>
        </p:txBody>
      </p:sp>
      <p:sp>
        <p:nvSpPr>
          <p:cNvPr id="83" name="Google Shape;83;g20e79ddc1ad_0_8"/>
          <p:cNvSpPr/>
          <p:nvPr/>
        </p:nvSpPr>
        <p:spPr>
          <a:xfrm>
            <a:off x="722385" y="758226"/>
            <a:ext cx="3516600" cy="4122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lt1"/>
                </a:solidFill>
                <a:latin typeface="Roboto"/>
                <a:ea typeface="Roboto"/>
                <a:cs typeface="Roboto"/>
                <a:sym typeface="Roboto"/>
              </a:rPr>
              <a:t>TSD- BOATS AND STREAMS</a:t>
            </a:r>
            <a:endParaRPr b="1" i="0" sz="2000" u="none" cap="none" strike="noStrike">
              <a:solidFill>
                <a:srgbClr val="FFFFFF"/>
              </a:solidFill>
              <a:latin typeface="Arial"/>
              <a:ea typeface="Arial"/>
              <a:cs typeface="Arial"/>
              <a:sym typeface="Arial"/>
            </a:endParaRPr>
          </a:p>
        </p:txBody>
      </p:sp>
      <p:pic>
        <p:nvPicPr>
          <p:cNvPr id="84" name="Google Shape;84;g20e79ddc1ad_0_8"/>
          <p:cNvPicPr preferRelativeResize="0"/>
          <p:nvPr/>
        </p:nvPicPr>
        <p:blipFill rotWithShape="1">
          <a:blip r:embed="rId3">
            <a:alphaModFix/>
          </a:blip>
          <a:srcRect b="0" l="0" r="0" t="0"/>
          <a:stretch/>
        </p:blipFill>
        <p:spPr>
          <a:xfrm>
            <a:off x="2226276" y="2042850"/>
            <a:ext cx="4691425" cy="436500"/>
          </a:xfrm>
          <a:prstGeom prst="rect">
            <a:avLst/>
          </a:prstGeom>
          <a:noFill/>
          <a:ln>
            <a:noFill/>
          </a:ln>
        </p:spPr>
      </p:pic>
      <p:pic>
        <p:nvPicPr>
          <p:cNvPr id="85" name="Google Shape;85;g20e79ddc1ad_0_8"/>
          <p:cNvPicPr preferRelativeResize="0"/>
          <p:nvPr/>
        </p:nvPicPr>
        <p:blipFill rotWithShape="1">
          <a:blip r:embed="rId4">
            <a:alphaModFix/>
          </a:blip>
          <a:srcRect b="0" l="0" r="0" t="0"/>
          <a:stretch/>
        </p:blipFill>
        <p:spPr>
          <a:xfrm>
            <a:off x="3660900" y="3100600"/>
            <a:ext cx="1822200" cy="412200"/>
          </a:xfrm>
          <a:prstGeom prst="rect">
            <a:avLst/>
          </a:prstGeom>
          <a:noFill/>
          <a:ln>
            <a:noFill/>
          </a:ln>
        </p:spPr>
      </p:pic>
      <p:pic>
        <p:nvPicPr>
          <p:cNvPr id="86" name="Google Shape;86;g20e79ddc1ad_0_8"/>
          <p:cNvPicPr preferRelativeResize="0"/>
          <p:nvPr/>
        </p:nvPicPr>
        <p:blipFill rotWithShape="1">
          <a:blip r:embed="rId5">
            <a:alphaModFix/>
          </a:blip>
          <a:srcRect b="0" l="0" r="0" t="0"/>
          <a:stretch/>
        </p:blipFill>
        <p:spPr>
          <a:xfrm>
            <a:off x="3852366" y="4073700"/>
            <a:ext cx="1439225" cy="38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Effect filter="fade" transition="in">
                                      <p:cBhvr>
                                        <p:cTn dur="1000"/>
                                        <p:tgtEl>
                                          <p:spTgt spid="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animEffect filter="fade" transition="in">
                                      <p:cBhvr>
                                        <p:cTn dur="1000"/>
                                        <p:tgtEl>
                                          <p:spTgt spid="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animEffect filter="fade" transition="in">
                                      <p:cBhvr>
                                        <p:cTn dur="1000"/>
                                        <p:tgtEl>
                                          <p:spTgt spid="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animEffect filter="fade" transition="in">
                                      <p:cBhvr>
                                        <p:cTn dur="1000"/>
                                        <p:tgtEl>
                                          <p:spTgt spid="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animEffect filter="fade" transition="in">
                                      <p:cBhvr>
                                        <p:cTn dur="1000"/>
                                        <p:tgtEl>
                                          <p:spTgt spid="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5" st="5"/>
                                            </p:txEl>
                                          </p:spTgt>
                                        </p:tgtEl>
                                        <p:attrNameLst>
                                          <p:attrName>style.visibility</p:attrName>
                                        </p:attrNameLst>
                                      </p:cBhvr>
                                      <p:to>
                                        <p:strVal val="visible"/>
                                      </p:to>
                                    </p:set>
                                    <p:animEffect filter="fade" transition="in">
                                      <p:cBhvr>
                                        <p:cTn dur="1000"/>
                                        <p:tgtEl>
                                          <p:spTgt spid="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6" st="6"/>
                                            </p:txEl>
                                          </p:spTgt>
                                        </p:tgtEl>
                                        <p:attrNameLst>
                                          <p:attrName>style.visibility</p:attrName>
                                        </p:attrNameLst>
                                      </p:cBhvr>
                                      <p:to>
                                        <p:strVal val="visible"/>
                                      </p:to>
                                    </p:set>
                                    <p:animEffect filter="fade" transition="in">
                                      <p:cBhvr>
                                        <p:cTn dur="1000"/>
                                        <p:tgtEl>
                                          <p:spTgt spid="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7" st="7"/>
                                            </p:txEl>
                                          </p:spTgt>
                                        </p:tgtEl>
                                        <p:attrNameLst>
                                          <p:attrName>style.visibility</p:attrName>
                                        </p:attrNameLst>
                                      </p:cBhvr>
                                      <p:to>
                                        <p:strVal val="visible"/>
                                      </p:to>
                                    </p:set>
                                    <p:animEffect filter="fade" transition="in">
                                      <p:cBhvr>
                                        <p:cTn dur="1000"/>
                                        <p:tgtEl>
                                          <p:spTgt spid="8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20e79ddc1ad_0_22"/>
          <p:cNvSpPr txBox="1"/>
          <p:nvPr>
            <p:ph idx="1" type="body"/>
          </p:nvPr>
        </p:nvSpPr>
        <p:spPr>
          <a:xfrm>
            <a:off x="722375" y="1435600"/>
            <a:ext cx="7852200" cy="26382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333333"/>
              </a:buClr>
              <a:buSzPts val="1400"/>
              <a:buFont typeface="Roboto"/>
              <a:buChar char="●"/>
            </a:pPr>
            <a:r>
              <a:rPr lang="en" sz="1400">
                <a:solidFill>
                  <a:srgbClr val="333333"/>
                </a:solidFill>
                <a:highlight>
                  <a:srgbClr val="FFFFFF"/>
                </a:highlight>
              </a:rPr>
              <a:t>If it takes “t” hours for a boat to reach a point in still water and comes back to the same point then, the distance between the two points can be calculated by </a:t>
            </a:r>
            <a:r>
              <a:rPr b="1" lang="en" sz="1400">
                <a:solidFill>
                  <a:srgbClr val="333333"/>
                </a:solidFill>
                <a:highlight>
                  <a:srgbClr val="FFFFFF"/>
                </a:highlight>
              </a:rPr>
              <a:t>Distance = {(u2-v2) × t} / 2u</a:t>
            </a:r>
            <a:r>
              <a:rPr lang="en" sz="1400">
                <a:solidFill>
                  <a:srgbClr val="333333"/>
                </a:solidFill>
                <a:highlight>
                  <a:srgbClr val="FFFFFF"/>
                </a:highlight>
              </a:rPr>
              <a:t>, where “u” is the speed of the boat in still water and “v” is the speed of the stream</a:t>
            </a:r>
            <a:endParaRPr sz="1400">
              <a:solidFill>
                <a:srgbClr val="333333"/>
              </a:solidFill>
              <a:highlight>
                <a:srgbClr val="FFFFFF"/>
              </a:highlight>
            </a:endParaRPr>
          </a:p>
          <a:p>
            <a:pPr indent="-317500" lvl="0" marL="457200" rtl="0" algn="l">
              <a:lnSpc>
                <a:spcPct val="150000"/>
              </a:lnSpc>
              <a:spcBef>
                <a:spcPts val="0"/>
              </a:spcBef>
              <a:spcAft>
                <a:spcPts val="0"/>
              </a:spcAft>
              <a:buClr>
                <a:srgbClr val="333333"/>
              </a:buClr>
              <a:buSzPts val="1400"/>
              <a:buFont typeface="Roboto"/>
              <a:buChar char="●"/>
            </a:pPr>
            <a:r>
              <a:rPr lang="en" sz="1400">
                <a:solidFill>
                  <a:srgbClr val="333333"/>
                </a:solidFill>
                <a:highlight>
                  <a:srgbClr val="FFFFFF"/>
                </a:highlight>
              </a:rPr>
              <a:t>If it takes “t” hours more to go to a point upstream than downstream for the same distance, the formula for distance will be: </a:t>
            </a:r>
            <a:r>
              <a:rPr b="1" lang="en" sz="1400">
                <a:solidFill>
                  <a:srgbClr val="333333"/>
                </a:solidFill>
                <a:highlight>
                  <a:srgbClr val="FFFFFF"/>
                </a:highlight>
              </a:rPr>
              <a:t>Distance = {(u2-v2) × t} / 2v</a:t>
            </a:r>
            <a:r>
              <a:rPr lang="en" sz="1400">
                <a:solidFill>
                  <a:srgbClr val="333333"/>
                </a:solidFill>
                <a:highlight>
                  <a:srgbClr val="FFFFFF"/>
                </a:highlight>
              </a:rPr>
              <a:t>, where “u” is the speed of the boat in still water and “v” is the speed of the stream</a:t>
            </a:r>
            <a:endParaRPr sz="1400">
              <a:solidFill>
                <a:srgbClr val="333333"/>
              </a:solidFill>
              <a:highlight>
                <a:srgbClr val="FFFFFF"/>
              </a:highlight>
            </a:endParaRPr>
          </a:p>
          <a:p>
            <a:pPr indent="-317500" lvl="0" marL="457200" rtl="0" algn="l">
              <a:lnSpc>
                <a:spcPct val="150000"/>
              </a:lnSpc>
              <a:spcBef>
                <a:spcPts val="0"/>
              </a:spcBef>
              <a:spcAft>
                <a:spcPts val="0"/>
              </a:spcAft>
              <a:buClr>
                <a:srgbClr val="333333"/>
              </a:buClr>
              <a:buSzPts val="1400"/>
              <a:buFont typeface="Roboto"/>
              <a:buChar char="●"/>
            </a:pPr>
            <a:r>
              <a:rPr lang="en" sz="1400">
                <a:solidFill>
                  <a:srgbClr val="333333"/>
                </a:solidFill>
                <a:highlight>
                  <a:srgbClr val="FFFFFF"/>
                </a:highlight>
              </a:rPr>
              <a:t>If a boat travels a distance downstream in “t1” hours and returns the same distance upstream in “t2” hours, then the speed of the man in still water will be: </a:t>
            </a:r>
            <a:r>
              <a:rPr b="1" lang="en" sz="1400">
                <a:solidFill>
                  <a:srgbClr val="333333"/>
                </a:solidFill>
                <a:highlight>
                  <a:srgbClr val="FFFFFF"/>
                </a:highlight>
              </a:rPr>
              <a:t>Speed of Man in Still Water = [v × {(t2+t1) / (t2-t1)}] km/hr</a:t>
            </a:r>
            <a:r>
              <a:rPr lang="en" sz="1400">
                <a:solidFill>
                  <a:srgbClr val="333333"/>
                </a:solidFill>
                <a:highlight>
                  <a:srgbClr val="FFFFFF"/>
                </a:highlight>
              </a:rPr>
              <a:t>, where“v” is the speed of the stream</a:t>
            </a:r>
            <a:endParaRPr sz="1400">
              <a:solidFill>
                <a:srgbClr val="333333"/>
              </a:solidFill>
              <a:highlight>
                <a:srgbClr val="FFFFFF"/>
              </a:highlight>
            </a:endParaRPr>
          </a:p>
          <a:p>
            <a:pPr indent="0" lvl="0" marL="0" rtl="0" algn="just">
              <a:lnSpc>
                <a:spcPct val="150000"/>
              </a:lnSpc>
              <a:spcBef>
                <a:spcPts val="1200"/>
              </a:spcBef>
              <a:spcAft>
                <a:spcPts val="0"/>
              </a:spcAft>
              <a:buSzPts val="1800"/>
              <a:buNone/>
            </a:pPr>
            <a:r>
              <a:t/>
            </a:r>
            <a:endParaRPr sz="1400">
              <a:solidFill>
                <a:schemeClr val="dk1"/>
              </a:solidFill>
            </a:endParaRPr>
          </a:p>
        </p:txBody>
      </p:sp>
      <p:sp>
        <p:nvSpPr>
          <p:cNvPr id="92" name="Google Shape;92;g20e79ddc1ad_0_22"/>
          <p:cNvSpPr/>
          <p:nvPr/>
        </p:nvSpPr>
        <p:spPr>
          <a:xfrm>
            <a:off x="722373" y="758225"/>
            <a:ext cx="3541500" cy="4122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lt1"/>
                </a:solidFill>
                <a:latin typeface="Roboto"/>
                <a:ea typeface="Roboto"/>
                <a:cs typeface="Roboto"/>
                <a:sym typeface="Roboto"/>
              </a:rPr>
              <a:t>TSD- BOATS AND STREAMS</a:t>
            </a:r>
            <a:endParaRPr b="1" i="0" sz="20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10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10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10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1000"/>
                                        <p:tgtEl>
                                          <p:spTgt spid="9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nvSpPr>
        <p:spPr>
          <a:xfrm>
            <a:off x="722375" y="1435600"/>
            <a:ext cx="8092800" cy="223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man takes 20 minutes to row 12 km upstream which is a third more than the time he takes on his way downstream. What is his speed in still water?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41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36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42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45 km/hr</a:t>
            </a:r>
            <a:endParaRPr b="0" i="0" sz="1400" u="none" cap="none" strike="noStrike">
              <a:solidFill>
                <a:schemeClr val="dk1"/>
              </a:solidFill>
              <a:latin typeface="Arial"/>
              <a:ea typeface="Arial"/>
              <a:cs typeface="Arial"/>
              <a:sym typeface="Arial"/>
            </a:endParaRPr>
          </a:p>
          <a:p>
            <a:pPr indent="0" lvl="0" marL="457200" marR="0" rtl="0" algn="l">
              <a:lnSpc>
                <a:spcPct val="115000"/>
              </a:lnSpc>
              <a:spcBef>
                <a:spcPts val="800"/>
              </a:spcBef>
              <a:spcAft>
                <a:spcPts val="0"/>
              </a:spcAft>
              <a:buClr>
                <a:srgbClr val="000000"/>
              </a:buClr>
              <a:buSzPts val="16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98" name="Google Shape;98;p6"/>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Q01</a:t>
            </a:r>
            <a:endParaRPr b="1" i="0" sz="2000" u="none" cap="none" strike="noStrike">
              <a:solidFill>
                <a:srgbClr val="FFFFFF"/>
              </a:solidFill>
              <a:latin typeface="Arial"/>
              <a:ea typeface="Arial"/>
              <a:cs typeface="Arial"/>
              <a:sym typeface="Arial"/>
            </a:endParaRPr>
          </a:p>
        </p:txBody>
      </p:sp>
      <p:sp>
        <p:nvSpPr>
          <p:cNvPr id="99" name="Google Shape;99;p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10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10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10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Effect filter="fade" transition="in">
                                      <p:cBhvr>
                                        <p:cTn dur="1000"/>
                                        <p:tgtEl>
                                          <p:spTgt spid="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animEffect filter="fade" transition="in">
                                      <p:cBhvr>
                                        <p:cTn dur="1000"/>
                                        <p:tgtEl>
                                          <p:spTgt spid="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animEffect filter="fade" transition="in">
                                      <p:cBhvr>
                                        <p:cTn dur="1000"/>
                                        <p:tgtEl>
                                          <p:spTgt spid="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sp>
        <p:nvSpPr>
          <p:cNvPr id="104" name="Google Shape;104;p7"/>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Q01</a:t>
            </a:r>
            <a:endParaRPr b="1" i="0" sz="2000" u="none" cap="none" strike="noStrike">
              <a:solidFill>
                <a:srgbClr val="FFFFFF"/>
              </a:solidFill>
              <a:latin typeface="Arial"/>
              <a:ea typeface="Arial"/>
              <a:cs typeface="Arial"/>
              <a:sym typeface="Arial"/>
            </a:endParaRPr>
          </a:p>
        </p:txBody>
      </p:sp>
      <p:sp>
        <p:nvSpPr>
          <p:cNvPr id="105" name="Google Shape;105;p7"/>
          <p:cNvSpPr txBox="1"/>
          <p:nvPr/>
        </p:nvSpPr>
        <p:spPr>
          <a:xfrm>
            <a:off x="722375" y="1435601"/>
            <a:ext cx="8172600" cy="211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Let the speed in still water = x km/hr. Takes 20 min. to row 12 km upstream ⇒ speed of u/s = 36 km/hr. Also, time taken for u/s is 1/3 more than for d/s.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distance covered in d / s will be 1/3 more.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Hence distance covered by man for d / s in 20 min. = 12 × (12/3) = 16km.</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So speed of d / s = 48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x + y = 48 and x – y = 36 ⇒ x = 42 km/hr.</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8"/>
          <p:cNvSpPr txBox="1"/>
          <p:nvPr/>
        </p:nvSpPr>
        <p:spPr>
          <a:xfrm>
            <a:off x="722375" y="1435600"/>
            <a:ext cx="8092800" cy="223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How long will it take to row 20 km upstream if one can row 10 km in 10 minutes in still water and the same distance in 8 minutes with the stream?</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12 min</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13.33 min</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24 min</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26.67 min</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4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111" name="Google Shape;111;p8"/>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Q02</a:t>
            </a:r>
            <a:endParaRPr b="1" i="0" sz="2000" u="none" cap="none" strike="noStrike">
              <a:solidFill>
                <a:srgbClr val="FFFFFF"/>
              </a:solidFill>
              <a:latin typeface="Arial"/>
              <a:ea typeface="Arial"/>
              <a:cs typeface="Arial"/>
              <a:sym typeface="Arial"/>
            </a:endParaRPr>
          </a:p>
        </p:txBody>
      </p:sp>
      <p:sp>
        <p:nvSpPr>
          <p:cNvPr id="112" name="Google Shape;112;p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Answer:D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10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10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10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1000"/>
                                        <p:tgtEl>
                                          <p:spTgt spid="1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1000"/>
                                        <p:tgtEl>
                                          <p:spTgt spid="1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animEffect filter="fade" transition="in">
                                      <p:cBhvr>
                                        <p:cTn dur="1000"/>
                                        <p:tgtEl>
                                          <p:spTgt spid="1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 name="Shape 116"/>
        <p:cNvGrpSpPr/>
        <p:nvPr/>
      </p:nvGrpSpPr>
      <p:grpSpPr>
        <a:xfrm>
          <a:off x="0" y="0"/>
          <a:ext cx="0" cy="0"/>
          <a:chOff x="0" y="0"/>
          <a:chExt cx="0" cy="0"/>
        </a:xfrm>
      </p:grpSpPr>
      <p:sp>
        <p:nvSpPr>
          <p:cNvPr id="117" name="Google Shape;117;p9"/>
          <p:cNvSpPr/>
          <p:nvPr/>
        </p:nvSpPr>
        <p:spPr>
          <a:xfrm>
            <a:off x="722375" y="721025"/>
            <a:ext cx="24312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Q02</a:t>
            </a:r>
            <a:endParaRPr b="1" i="0" sz="2000" u="none" cap="none" strike="noStrike">
              <a:solidFill>
                <a:srgbClr val="FFFFFF"/>
              </a:solidFill>
              <a:latin typeface="Arial"/>
              <a:ea typeface="Arial"/>
              <a:cs typeface="Arial"/>
              <a:sym typeface="Arial"/>
            </a:endParaRPr>
          </a:p>
        </p:txBody>
      </p:sp>
      <p:sp>
        <p:nvSpPr>
          <p:cNvPr id="118" name="Google Shape;118;p9"/>
          <p:cNvSpPr txBox="1"/>
          <p:nvPr/>
        </p:nvSpPr>
        <p:spPr>
          <a:xfrm>
            <a:off x="722375" y="1435602"/>
            <a:ext cx="8172600" cy="158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Let x be the speed of man in still water and y be the speed of stream.</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Speed of man (x) = 60 km/hr and speed of downstream = 75 km/hr. ∴ Speed of stream = 15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Hence upstream speed = 60 – 15 = 45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So time taken to cover 20 km = 20/45*60 = 26.67min.</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1e9dd8e0edc_0_0"/>
          <p:cNvSpPr txBox="1"/>
          <p:nvPr/>
        </p:nvSpPr>
        <p:spPr>
          <a:xfrm>
            <a:off x="722375" y="1435600"/>
            <a:ext cx="7644300" cy="266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boat makes a return journey from point A to point B and back in 5 hours 36 minutes. One way it travels with the stream and on the return it travels against the stream. If the speed of the stream increases by 2 km/hr, the return journey takes 9 hours 20 minutes. What is the speed of the boat in still water? (The distance between A and B is 16 km.)</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5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7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9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t/>
            </a:r>
            <a:endParaRPr b="0" i="0" sz="1400" u="none" cap="none" strike="noStrike">
              <a:solidFill>
                <a:schemeClr val="dk1"/>
              </a:solidFill>
              <a:latin typeface="Arial"/>
              <a:ea typeface="Arial"/>
              <a:cs typeface="Arial"/>
              <a:sym typeface="Arial"/>
            </a:endParaRPr>
          </a:p>
        </p:txBody>
      </p:sp>
      <p:sp>
        <p:nvSpPr>
          <p:cNvPr id="124" name="Google Shape;124;g1e9dd8e0edc_0_0"/>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Q03</a:t>
            </a:r>
            <a:endParaRPr b="1" i="0" sz="2000" u="none" cap="none" strike="noStrike">
              <a:solidFill>
                <a:srgbClr val="FFFFFF"/>
              </a:solidFill>
              <a:latin typeface="Arial"/>
              <a:ea typeface="Arial"/>
              <a:cs typeface="Arial"/>
              <a:sym typeface="Arial"/>
            </a:endParaRPr>
          </a:p>
        </p:txBody>
      </p:sp>
      <p:sp>
        <p:nvSpPr>
          <p:cNvPr id="125" name="Google Shape;125;g1e9dd8e0edc_0_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Effect filter="fade" transition="in">
                                      <p:cBhvr>
                                        <p:cTn dur="1000"/>
                                        <p:tgtEl>
                                          <p:spTgt spid="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animEffect filter="fade" transition="in">
                                      <p:cBhvr>
                                        <p:cTn dur="1000"/>
                                        <p:tgtEl>
                                          <p:spTgt spid="1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animEffect filter="fade" transition="in">
                                      <p:cBhvr>
                                        <p:cTn dur="1000"/>
                                        <p:tgtEl>
                                          <p:spTgt spid="1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animEffect filter="fade" transition="in">
                                      <p:cBhvr>
                                        <p:cTn dur="1000"/>
                                        <p:tgtEl>
                                          <p:spTgt spid="1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animEffect filter="fade" transition="in">
                                      <p:cBhvr>
                                        <p:cTn dur="1000"/>
                                        <p:tgtEl>
                                          <p:spTgt spid="1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animEffect filter="fade" transition="in">
                                      <p:cBhvr>
                                        <p:cTn dur="1000"/>
                                        <p:tgtEl>
                                          <p:spTgt spid="1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 name="Shape 129"/>
        <p:cNvGrpSpPr/>
        <p:nvPr/>
      </p:nvGrpSpPr>
      <p:grpSpPr>
        <a:xfrm>
          <a:off x="0" y="0"/>
          <a:ext cx="0" cy="0"/>
          <a:chOff x="0" y="0"/>
          <a:chExt cx="0" cy="0"/>
        </a:xfrm>
      </p:grpSpPr>
      <p:sp>
        <p:nvSpPr>
          <p:cNvPr id="130" name="Google Shape;130;g1e9dd8e0edc_0_8"/>
          <p:cNvSpPr txBox="1"/>
          <p:nvPr/>
        </p:nvSpPr>
        <p:spPr>
          <a:xfrm>
            <a:off x="722375" y="1435602"/>
            <a:ext cx="8172600" cy="112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Let x be speed of u / s and y be the speed of d / 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(16/x) + (16/y) = (28/5) and 16/(y+2) + 16/(x-2) = 28/3</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Solving these 2 equations, we get x = 4km/hr and y = 10km/hr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speed of boat in still water = (4+10) / 2 = 7km/hr.</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31" name="Google Shape;131;g1e9dd8e0edc_0_8"/>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Q03</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nvSpPr>
        <p:spPr>
          <a:xfrm>
            <a:off x="722375" y="1435600"/>
            <a:ext cx="8092800" cy="245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boat travels from point A to B, a distance of 12 km. From A it travels 4 km downstream in 15 minutes and the remaining 8 km upstream to reach B. If the downstream speed is twice as high as the upstream speed, what is the average speed of the boat for the journey from A to B?</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10(2/3)km/hr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9.6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11.16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10.44 km/hr</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rgbClr val="000000"/>
              </a:buClr>
              <a:buSzPts val="16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137" name="Google Shape;137;p10"/>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04</a:t>
            </a:r>
            <a:endParaRPr b="1" i="0" sz="2000" u="none" cap="none" strike="noStrike">
              <a:solidFill>
                <a:srgbClr val="FFFFFF"/>
              </a:solidFill>
              <a:latin typeface="Arial"/>
              <a:ea typeface="Arial"/>
              <a:cs typeface="Arial"/>
              <a:sym typeface="Arial"/>
            </a:endParaRPr>
          </a:p>
        </p:txBody>
      </p:sp>
      <p:sp>
        <p:nvSpPr>
          <p:cNvPr id="138" name="Google Shape;138;p1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p11"/>
          <p:cNvSpPr txBox="1"/>
          <p:nvPr/>
        </p:nvSpPr>
        <p:spPr>
          <a:xfrm>
            <a:off x="722375" y="1435600"/>
            <a:ext cx="76443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4 km downstream is covered in 15 min. ∴ speed of downstream = 16 km/hr. So speed of upstream = 8km/hr. Total time taken for downstream journey = 15 min (given). Now total time taken for upstream journey = 8/8 = 1 hr = 60 min. Hence total time taken from A to B = 15 + 60 = 75 min. As average speed = Total distance /total time, so average speed from A to B = (12/75)*60 = 48/5 = 9.6kmph.</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144" name="Google Shape;144;p11"/>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Q04</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nvSpPr>
        <p:spPr>
          <a:xfrm>
            <a:off x="722375" y="1435600"/>
            <a:ext cx="7644300" cy="223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man rows ‘k’ km upstream and back again downstream to the same point in H hours. The speed of rowing in still water is s km/hr and the rate of stream is r km/hr. Then</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(s</a:t>
            </a:r>
            <a:r>
              <a:rPr b="0" baseline="30000" i="0" lang="en" sz="1400" u="none" cap="none" strike="noStrike">
                <a:solidFill>
                  <a:schemeClr val="dk1"/>
                </a:solidFill>
                <a:latin typeface="Arial"/>
                <a:ea typeface="Arial"/>
                <a:cs typeface="Arial"/>
                <a:sym typeface="Arial"/>
              </a:rPr>
              <a:t>2</a:t>
            </a:r>
            <a:r>
              <a:rPr b="0" i="0" lang="en" sz="1400" u="none" cap="none" strike="noStrike">
                <a:solidFill>
                  <a:schemeClr val="dk1"/>
                </a:solidFill>
                <a:latin typeface="Arial"/>
                <a:ea typeface="Arial"/>
                <a:cs typeface="Arial"/>
                <a:sym typeface="Arial"/>
              </a:rPr>
              <a:t>-r</a:t>
            </a:r>
            <a:r>
              <a:rPr b="0" baseline="30000" i="0" lang="en" sz="1400" u="none" cap="none" strike="noStrike">
                <a:solidFill>
                  <a:schemeClr val="dk1"/>
                </a:solidFill>
                <a:latin typeface="Arial"/>
                <a:ea typeface="Arial"/>
                <a:cs typeface="Arial"/>
                <a:sym typeface="Arial"/>
              </a:rPr>
              <a:t>2</a:t>
            </a:r>
            <a:r>
              <a:rPr b="0" i="0" lang="en" sz="1400" u="none" cap="none" strike="noStrike">
                <a:solidFill>
                  <a:schemeClr val="dk1"/>
                </a:solidFill>
                <a:latin typeface="Arial"/>
                <a:ea typeface="Arial"/>
                <a:cs typeface="Arial"/>
                <a:sym typeface="Arial"/>
              </a:rPr>
              <a:t>) =2sk /H</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(r + s) = kH / (r -s)</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rs = kH</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None of the above</a:t>
            </a:r>
            <a:endParaRPr b="0" i="0" sz="1400" u="none" cap="none" strike="noStrike">
              <a:solidFill>
                <a:schemeClr val="dk1"/>
              </a:solidFill>
              <a:latin typeface="Arial"/>
              <a:ea typeface="Arial"/>
              <a:cs typeface="Arial"/>
              <a:sym typeface="Arial"/>
            </a:endParaRPr>
          </a:p>
          <a:p>
            <a:pPr indent="0" lvl="0" marL="457200" marR="0" rtl="0" algn="l">
              <a:lnSpc>
                <a:spcPct val="150000"/>
              </a:lnSpc>
              <a:spcBef>
                <a:spcPts val="8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0" name="Google Shape;150;p12"/>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Q05</a:t>
            </a:r>
            <a:endParaRPr b="1" i="0" sz="2000" u="none" cap="none" strike="noStrike">
              <a:solidFill>
                <a:srgbClr val="FFFFFF"/>
              </a:solidFill>
              <a:latin typeface="Arial"/>
              <a:ea typeface="Arial"/>
              <a:cs typeface="Arial"/>
              <a:sym typeface="Arial"/>
            </a:endParaRPr>
          </a:p>
        </p:txBody>
      </p:sp>
      <p:sp>
        <p:nvSpPr>
          <p:cNvPr id="151" name="Google Shape;151;p1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10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1000"/>
                                        <p:tgtEl>
                                          <p:spTgt spid="1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1000"/>
                                        <p:tgtEl>
                                          <p:spTgt spid="1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animEffect filter="fade" transition="in">
                                      <p:cBhvr>
                                        <p:cTn dur="1000"/>
                                        <p:tgtEl>
                                          <p:spTgt spid="1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animEffect filter="fade" transition="in">
                                      <p:cBhvr>
                                        <p:cTn dur="1000"/>
                                        <p:tgtEl>
                                          <p:spTgt spid="1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animEffect filter="fade" transition="in">
                                      <p:cBhvr>
                                        <p:cTn dur="1000"/>
                                        <p:tgtEl>
                                          <p:spTgt spid="1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13"/>
          <p:cNvSpPr txBox="1"/>
          <p:nvPr/>
        </p:nvSpPr>
        <p:spPr>
          <a:xfrm>
            <a:off x="722375" y="1435600"/>
            <a:ext cx="81726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Time taken to cover total distance = H hrs.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Speed of upstream = s - r. Speed of downstream = s + 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k / (s + r) + k / (s - r) = H ⇒(s</a:t>
            </a:r>
            <a:r>
              <a:rPr b="0" baseline="30000" i="0" lang="en" sz="1400" u="none" cap="none" strike="noStrike">
                <a:solidFill>
                  <a:schemeClr val="dk1"/>
                </a:solidFill>
                <a:latin typeface="Arial"/>
                <a:ea typeface="Arial"/>
                <a:cs typeface="Arial"/>
                <a:sym typeface="Arial"/>
              </a:rPr>
              <a:t>2</a:t>
            </a:r>
            <a:r>
              <a:rPr b="0" i="0" lang="en" sz="1400" u="none" cap="none" strike="noStrike">
                <a:solidFill>
                  <a:schemeClr val="dk1"/>
                </a:solidFill>
                <a:latin typeface="Arial"/>
                <a:ea typeface="Arial"/>
                <a:cs typeface="Arial"/>
                <a:sym typeface="Arial"/>
              </a:rPr>
              <a:t>-r</a:t>
            </a:r>
            <a:r>
              <a:rPr b="0" baseline="30000" i="0" lang="en" sz="1400" u="none" cap="none" strike="noStrike">
                <a:solidFill>
                  <a:schemeClr val="dk1"/>
                </a:solidFill>
                <a:latin typeface="Arial"/>
                <a:ea typeface="Arial"/>
                <a:cs typeface="Arial"/>
                <a:sym typeface="Arial"/>
              </a:rPr>
              <a:t>2</a:t>
            </a:r>
            <a:r>
              <a:rPr b="0" i="0" lang="en" sz="1400" u="none" cap="none" strike="noStrike">
                <a:solidFill>
                  <a:schemeClr val="dk1"/>
                </a:solidFill>
                <a:latin typeface="Arial"/>
                <a:ea typeface="Arial"/>
                <a:cs typeface="Arial"/>
                <a:sym typeface="Arial"/>
              </a:rPr>
              <a:t>) =2sk /H</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157" name="Google Shape;157;p13"/>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Q05</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nvSpPr>
        <p:spPr>
          <a:xfrm>
            <a:off x="722375" y="1435600"/>
            <a:ext cx="8092800" cy="223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man rows 24 km upstream in 6 hours and a distance of 35 km downstream in 7 hours. Then the speed of the man in still water is</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4.5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5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5.5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163" name="Google Shape;163;p14"/>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Q06</a:t>
            </a:r>
            <a:endParaRPr b="1" i="0" sz="2000" u="none" cap="none" strike="noStrike">
              <a:solidFill>
                <a:srgbClr val="FFFFFF"/>
              </a:solidFill>
              <a:latin typeface="Arial"/>
              <a:ea typeface="Arial"/>
              <a:cs typeface="Arial"/>
              <a:sym typeface="Arial"/>
            </a:endParaRPr>
          </a:p>
        </p:txBody>
      </p:sp>
      <p:sp>
        <p:nvSpPr>
          <p:cNvPr id="164" name="Google Shape;164;p1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10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10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10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10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1000"/>
                                        <p:tgtEl>
                                          <p:spTgt spid="1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animEffect filter="fade" transition="in">
                                      <p:cBhvr>
                                        <p:cTn dur="1000"/>
                                        <p:tgtEl>
                                          <p:spTgt spid="1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 name="Shape 168"/>
        <p:cNvGrpSpPr/>
        <p:nvPr/>
      </p:nvGrpSpPr>
      <p:grpSpPr>
        <a:xfrm>
          <a:off x="0" y="0"/>
          <a:ext cx="0" cy="0"/>
          <a:chOff x="0" y="0"/>
          <a:chExt cx="0" cy="0"/>
        </a:xfrm>
      </p:grpSpPr>
      <p:sp>
        <p:nvSpPr>
          <p:cNvPr id="169" name="Google Shape;169;p15"/>
          <p:cNvSpPr txBox="1"/>
          <p:nvPr/>
        </p:nvSpPr>
        <p:spPr>
          <a:xfrm>
            <a:off x="722375" y="1409003"/>
            <a:ext cx="8172600" cy="84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Speed of upstream = 24 / 6 = 4 km / hr. Speed of downstream = 35 / 7 = 5km / 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Speed of man in still water = (4 + 5) / 2 = 4.5 km / hr.</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170" name="Google Shape;170;p15"/>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Q06</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nvSpPr>
        <p:spPr>
          <a:xfrm>
            <a:off x="722375" y="1435600"/>
            <a:ext cx="80928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boat goes 12 km upstream in 48 minutes. The speed of stream is 2 km/hr. The speed of boat in still water is</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15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16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17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18 km/hr</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400" u="none" cap="none" strike="noStrike">
              <a:solidFill>
                <a:schemeClr val="dk1"/>
              </a:solidFill>
              <a:latin typeface="Arial"/>
              <a:ea typeface="Arial"/>
              <a:cs typeface="Arial"/>
              <a:sym typeface="Arial"/>
            </a:endParaRPr>
          </a:p>
        </p:txBody>
      </p:sp>
      <p:sp>
        <p:nvSpPr>
          <p:cNvPr id="176" name="Google Shape;176;p16"/>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Q07</a:t>
            </a:r>
            <a:endParaRPr b="1" i="0" sz="2000" u="none" cap="none" strike="noStrike">
              <a:solidFill>
                <a:srgbClr val="FFFFFF"/>
              </a:solidFill>
              <a:latin typeface="Arial"/>
              <a:ea typeface="Arial"/>
              <a:cs typeface="Arial"/>
              <a:sym typeface="Arial"/>
            </a:endParaRPr>
          </a:p>
        </p:txBody>
      </p:sp>
      <p:sp>
        <p:nvSpPr>
          <p:cNvPr id="177" name="Google Shape;177;p1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Effect filter="fade" transition="in">
                                      <p:cBhvr>
                                        <p:cTn dur="1000"/>
                                        <p:tgtEl>
                                          <p:spTgt spid="1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Effect filter="fade" transition="in">
                                      <p:cBhvr>
                                        <p:cTn dur="1000"/>
                                        <p:tgtEl>
                                          <p:spTgt spid="1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Effect filter="fade" transition="in">
                                      <p:cBhvr>
                                        <p:cTn dur="1000"/>
                                        <p:tgtEl>
                                          <p:spTgt spid="1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animEffect filter="fade" transition="in">
                                      <p:cBhvr>
                                        <p:cTn dur="1000"/>
                                        <p:tgtEl>
                                          <p:spTgt spid="1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animEffect filter="fade" transition="in">
                                      <p:cBhvr>
                                        <p:cTn dur="1000"/>
                                        <p:tgtEl>
                                          <p:spTgt spid="1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animEffect filter="fade" transition="in">
                                      <p:cBhvr>
                                        <p:cTn dur="1000"/>
                                        <p:tgtEl>
                                          <p:spTgt spid="1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1" name="Shape 181"/>
        <p:cNvGrpSpPr/>
        <p:nvPr/>
      </p:nvGrpSpPr>
      <p:grpSpPr>
        <a:xfrm>
          <a:off x="0" y="0"/>
          <a:ext cx="0" cy="0"/>
          <a:chOff x="0" y="0"/>
          <a:chExt cx="0" cy="0"/>
        </a:xfrm>
      </p:grpSpPr>
      <p:sp>
        <p:nvSpPr>
          <p:cNvPr id="182" name="Google Shape;182;p17"/>
          <p:cNvSpPr txBox="1"/>
          <p:nvPr/>
        </p:nvSpPr>
        <p:spPr>
          <a:xfrm>
            <a:off x="722375" y="1435600"/>
            <a:ext cx="6923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12 km upstream in 48 min. ⇒ it will cover 15 km in 1 hr. Speed of stream = 2 km / 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Speed of boat in still water = 15 + 2 = 17 km / hr.</a:t>
            </a:r>
            <a:endParaRPr b="0" i="0" sz="1400" u="none" cap="none" strike="noStrike">
              <a:solidFill>
                <a:schemeClr val="dk1"/>
              </a:solidFill>
              <a:latin typeface="Arial"/>
              <a:ea typeface="Arial"/>
              <a:cs typeface="Arial"/>
              <a:sym typeface="Arial"/>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7"/>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Q07</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nvSpPr>
        <p:spPr>
          <a:xfrm>
            <a:off x="722375" y="1435600"/>
            <a:ext cx="80928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motorboat can travel at 5 km/hr in still water. It travelled 90 km downstream in a river and then returned, taking altogether 100 hours. Find the rate of flow of the river.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3.5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 km/hr</a:t>
            </a:r>
            <a:endParaRPr b="0" i="0" sz="14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9" name="Google Shape;189;p18"/>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Q08</a:t>
            </a:r>
            <a:endParaRPr b="1" i="0" sz="2000" u="none" cap="none" strike="noStrike">
              <a:solidFill>
                <a:srgbClr val="FFFFFF"/>
              </a:solidFill>
              <a:latin typeface="Arial"/>
              <a:ea typeface="Arial"/>
              <a:cs typeface="Arial"/>
              <a:sym typeface="Arial"/>
            </a:endParaRPr>
          </a:p>
        </p:txBody>
      </p:sp>
      <p:sp>
        <p:nvSpPr>
          <p:cNvPr id="190" name="Google Shape;190;p1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Answer:D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animEffect filter="fade" transition="in">
                                      <p:cBhvr>
                                        <p:cTn dur="1000"/>
                                        <p:tgtEl>
                                          <p:spTgt spid="1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1" st="1"/>
                                            </p:txEl>
                                          </p:spTgt>
                                        </p:tgtEl>
                                        <p:attrNameLst>
                                          <p:attrName>style.visibility</p:attrName>
                                        </p:attrNameLst>
                                      </p:cBhvr>
                                      <p:to>
                                        <p:strVal val="visible"/>
                                      </p:to>
                                    </p:set>
                                    <p:animEffect filter="fade" transition="in">
                                      <p:cBhvr>
                                        <p:cTn dur="1000"/>
                                        <p:tgtEl>
                                          <p:spTgt spid="1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2" st="2"/>
                                            </p:txEl>
                                          </p:spTgt>
                                        </p:tgtEl>
                                        <p:attrNameLst>
                                          <p:attrName>style.visibility</p:attrName>
                                        </p:attrNameLst>
                                      </p:cBhvr>
                                      <p:to>
                                        <p:strVal val="visible"/>
                                      </p:to>
                                    </p:set>
                                    <p:animEffect filter="fade" transition="in">
                                      <p:cBhvr>
                                        <p:cTn dur="1000"/>
                                        <p:tgtEl>
                                          <p:spTgt spid="1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3" st="3"/>
                                            </p:txEl>
                                          </p:spTgt>
                                        </p:tgtEl>
                                        <p:attrNameLst>
                                          <p:attrName>style.visibility</p:attrName>
                                        </p:attrNameLst>
                                      </p:cBhvr>
                                      <p:to>
                                        <p:strVal val="visible"/>
                                      </p:to>
                                    </p:set>
                                    <p:animEffect filter="fade" transition="in">
                                      <p:cBhvr>
                                        <p:cTn dur="1000"/>
                                        <p:tgtEl>
                                          <p:spTgt spid="1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4" st="4"/>
                                            </p:txEl>
                                          </p:spTgt>
                                        </p:tgtEl>
                                        <p:attrNameLst>
                                          <p:attrName>style.visibility</p:attrName>
                                        </p:attrNameLst>
                                      </p:cBhvr>
                                      <p:to>
                                        <p:strVal val="visible"/>
                                      </p:to>
                                    </p:set>
                                    <p:animEffect filter="fade" transition="in">
                                      <p:cBhvr>
                                        <p:cTn dur="1000"/>
                                        <p:tgtEl>
                                          <p:spTgt spid="1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5" st="5"/>
                                            </p:txEl>
                                          </p:spTgt>
                                        </p:tgtEl>
                                        <p:attrNameLst>
                                          <p:attrName>style.visibility</p:attrName>
                                        </p:attrNameLst>
                                      </p:cBhvr>
                                      <p:to>
                                        <p:strVal val="visible"/>
                                      </p:to>
                                    </p:set>
                                    <p:animEffect filter="fade" transition="in">
                                      <p:cBhvr>
                                        <p:cTn dur="1000"/>
                                        <p:tgtEl>
                                          <p:spTgt spid="1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xEl>
                                              <p:pRg end="6" st="6"/>
                                            </p:txEl>
                                          </p:spTgt>
                                        </p:tgtEl>
                                        <p:attrNameLst>
                                          <p:attrName>style.visibility</p:attrName>
                                        </p:attrNameLst>
                                      </p:cBhvr>
                                      <p:to>
                                        <p:strVal val="visible"/>
                                      </p:to>
                                    </p:set>
                                    <p:animEffect filter="fade" transition="in">
                                      <p:cBhvr>
                                        <p:cTn dur="1000"/>
                                        <p:tgtEl>
                                          <p:spTgt spid="1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19"/>
          <p:cNvSpPr txBox="1"/>
          <p:nvPr/>
        </p:nvSpPr>
        <p:spPr>
          <a:xfrm>
            <a:off x="722375" y="1435600"/>
            <a:ext cx="55968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Speed of boat in still water = x = 5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Let rate of flow of river = y km/hr. ∴ Speed of u/s = 5- y and speed of d / s = 5 + y</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90/(5+y) + 90/(5-y) = 100 ⇒ y = 4 km/hr.</a:t>
            </a:r>
            <a:endParaRPr b="0" i="0" sz="1400" u="none" cap="none" strike="noStrike">
              <a:solidFill>
                <a:schemeClr val="dk1"/>
              </a:solidFill>
              <a:latin typeface="Arial"/>
              <a:ea typeface="Arial"/>
              <a:cs typeface="Arial"/>
              <a:sym typeface="Arial"/>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9"/>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Q08</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txBox="1"/>
          <p:nvPr/>
        </p:nvSpPr>
        <p:spPr>
          <a:xfrm>
            <a:off x="722375" y="1435600"/>
            <a:ext cx="8092800" cy="223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A boatman can row 2 km against the stream in 20 minutes and return in 10 minutes. Find the rate of flow of the current.</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 km/h</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 km/h</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 km/h</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5 km/h</a:t>
            </a:r>
            <a:endParaRPr b="0" i="0" sz="1400" u="none" cap="none" strike="noStrike">
              <a:solidFill>
                <a:schemeClr val="dk1"/>
              </a:solidFill>
              <a:latin typeface="Arial"/>
              <a:ea typeface="Arial"/>
              <a:cs typeface="Arial"/>
              <a:sym typeface="Arial"/>
            </a:endParaRPr>
          </a:p>
          <a:p>
            <a:pPr indent="0" lvl="0" marL="457200" marR="0" rtl="0" algn="l">
              <a:lnSpc>
                <a:spcPct val="150000"/>
              </a:lnSpc>
              <a:spcBef>
                <a:spcPts val="8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 name="Google Shape;202;p22"/>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Q09</a:t>
            </a:r>
            <a:endParaRPr b="1" i="0" sz="2000" u="none" cap="none" strike="noStrike">
              <a:solidFill>
                <a:srgbClr val="FFFFFF"/>
              </a:solidFill>
              <a:latin typeface="Arial"/>
              <a:ea typeface="Arial"/>
              <a:cs typeface="Arial"/>
              <a:sym typeface="Arial"/>
            </a:endParaRPr>
          </a:p>
        </p:txBody>
      </p:sp>
      <p:sp>
        <p:nvSpPr>
          <p:cNvPr id="203" name="Google Shape;203;p2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animEffect filter="fade" transition="in">
                                      <p:cBhvr>
                                        <p:cTn dur="1000"/>
                                        <p:tgtEl>
                                          <p:spTgt spid="2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1" st="1"/>
                                            </p:txEl>
                                          </p:spTgt>
                                        </p:tgtEl>
                                        <p:attrNameLst>
                                          <p:attrName>style.visibility</p:attrName>
                                        </p:attrNameLst>
                                      </p:cBhvr>
                                      <p:to>
                                        <p:strVal val="visible"/>
                                      </p:to>
                                    </p:set>
                                    <p:animEffect filter="fade" transition="in">
                                      <p:cBhvr>
                                        <p:cTn dur="1000"/>
                                        <p:tgtEl>
                                          <p:spTgt spid="2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2" st="2"/>
                                            </p:txEl>
                                          </p:spTgt>
                                        </p:tgtEl>
                                        <p:attrNameLst>
                                          <p:attrName>style.visibility</p:attrName>
                                        </p:attrNameLst>
                                      </p:cBhvr>
                                      <p:to>
                                        <p:strVal val="visible"/>
                                      </p:to>
                                    </p:set>
                                    <p:animEffect filter="fade" transition="in">
                                      <p:cBhvr>
                                        <p:cTn dur="1000"/>
                                        <p:tgtEl>
                                          <p:spTgt spid="2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3" st="3"/>
                                            </p:txEl>
                                          </p:spTgt>
                                        </p:tgtEl>
                                        <p:attrNameLst>
                                          <p:attrName>style.visibility</p:attrName>
                                        </p:attrNameLst>
                                      </p:cBhvr>
                                      <p:to>
                                        <p:strVal val="visible"/>
                                      </p:to>
                                    </p:set>
                                    <p:animEffect filter="fade" transition="in">
                                      <p:cBhvr>
                                        <p:cTn dur="1000"/>
                                        <p:tgtEl>
                                          <p:spTgt spid="2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4" st="4"/>
                                            </p:txEl>
                                          </p:spTgt>
                                        </p:tgtEl>
                                        <p:attrNameLst>
                                          <p:attrName>style.visibility</p:attrName>
                                        </p:attrNameLst>
                                      </p:cBhvr>
                                      <p:to>
                                        <p:strVal val="visible"/>
                                      </p:to>
                                    </p:set>
                                    <p:animEffect filter="fade" transition="in">
                                      <p:cBhvr>
                                        <p:cTn dur="1000"/>
                                        <p:tgtEl>
                                          <p:spTgt spid="2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5" st="5"/>
                                            </p:txEl>
                                          </p:spTgt>
                                        </p:tgtEl>
                                        <p:attrNameLst>
                                          <p:attrName>style.visibility</p:attrName>
                                        </p:attrNameLst>
                                      </p:cBhvr>
                                      <p:to>
                                        <p:strVal val="visible"/>
                                      </p:to>
                                    </p:set>
                                    <p:animEffect filter="fade" transition="in">
                                      <p:cBhvr>
                                        <p:cTn dur="1000"/>
                                        <p:tgtEl>
                                          <p:spTgt spid="2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7" name="Shape 207"/>
        <p:cNvGrpSpPr/>
        <p:nvPr/>
      </p:nvGrpSpPr>
      <p:grpSpPr>
        <a:xfrm>
          <a:off x="0" y="0"/>
          <a:ext cx="0" cy="0"/>
          <a:chOff x="0" y="0"/>
          <a:chExt cx="0" cy="0"/>
        </a:xfrm>
      </p:grpSpPr>
      <p:sp>
        <p:nvSpPr>
          <p:cNvPr id="208" name="Google Shape;208;p23"/>
          <p:cNvSpPr txBox="1"/>
          <p:nvPr/>
        </p:nvSpPr>
        <p:spPr>
          <a:xfrm>
            <a:off x="722375" y="1435600"/>
            <a:ext cx="4740600" cy="143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Let x be the speed of man in still water and y be the speed of current.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Speed of d / s = (2 / 10) × 60 = 12 km / hr. Speed of u / s = (2 / 20) × 60 = 6 km / 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rate of current = (12 - 6) / 2 = 3 km/hr.</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09" name="Google Shape;209;p23"/>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Q09</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nvSpPr>
        <p:spPr>
          <a:xfrm>
            <a:off x="722375" y="1435600"/>
            <a:ext cx="80928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man can row 30 km upstream in 6 hours. If the speed of the man in still water is 6 km/hr, find how much he can row downstream in 10 hours.</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70 km</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140 km</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200 km</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250 km</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rgbClr val="000000"/>
              </a:buClr>
              <a:buSzPts val="1800"/>
              <a:buFont typeface="Arial"/>
              <a:buNone/>
            </a:pPr>
            <a:r>
              <a:t/>
            </a:r>
            <a:endParaRPr b="0" i="0" sz="1400" u="none" cap="none" strike="noStrike">
              <a:solidFill>
                <a:schemeClr val="dk1"/>
              </a:solidFill>
              <a:latin typeface="Arial"/>
              <a:ea typeface="Arial"/>
              <a:cs typeface="Arial"/>
              <a:sym typeface="Arial"/>
            </a:endParaRPr>
          </a:p>
        </p:txBody>
      </p:sp>
      <p:sp>
        <p:nvSpPr>
          <p:cNvPr id="215" name="Google Shape;215;p24"/>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Q10</a:t>
            </a:r>
            <a:endParaRPr b="1" i="0" sz="2000" u="none" cap="none" strike="noStrike">
              <a:solidFill>
                <a:srgbClr val="FFFFFF"/>
              </a:solidFill>
              <a:latin typeface="Arial"/>
              <a:ea typeface="Arial"/>
              <a:cs typeface="Arial"/>
              <a:sym typeface="Arial"/>
            </a:endParaRPr>
          </a:p>
        </p:txBody>
      </p:sp>
      <p:sp>
        <p:nvSpPr>
          <p:cNvPr id="216" name="Google Shape;216;p2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1000"/>
                                        <p:tgtEl>
                                          <p:spTgt spid="2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animEffect filter="fade" transition="in">
                                      <p:cBhvr>
                                        <p:cTn dur="1000"/>
                                        <p:tgtEl>
                                          <p:spTgt spid="2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animEffect filter="fade" transition="in">
                                      <p:cBhvr>
                                        <p:cTn dur="1000"/>
                                        <p:tgtEl>
                                          <p:spTgt spid="2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animEffect filter="fade" transition="in">
                                      <p:cBhvr>
                                        <p:cTn dur="1000"/>
                                        <p:tgtEl>
                                          <p:spTgt spid="2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4" st="4"/>
                                            </p:txEl>
                                          </p:spTgt>
                                        </p:tgtEl>
                                        <p:attrNameLst>
                                          <p:attrName>style.visibility</p:attrName>
                                        </p:attrNameLst>
                                      </p:cBhvr>
                                      <p:to>
                                        <p:strVal val="visible"/>
                                      </p:to>
                                    </p:set>
                                    <p:animEffect filter="fade" transition="in">
                                      <p:cBhvr>
                                        <p:cTn dur="1000"/>
                                        <p:tgtEl>
                                          <p:spTgt spid="2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5" st="5"/>
                                            </p:txEl>
                                          </p:spTgt>
                                        </p:tgtEl>
                                        <p:attrNameLst>
                                          <p:attrName>style.visibility</p:attrName>
                                        </p:attrNameLst>
                                      </p:cBhvr>
                                      <p:to>
                                        <p:strVal val="visible"/>
                                      </p:to>
                                    </p:set>
                                    <p:animEffect filter="fade" transition="in">
                                      <p:cBhvr>
                                        <p:cTn dur="1000"/>
                                        <p:tgtEl>
                                          <p:spTgt spid="2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6" st="6"/>
                                            </p:txEl>
                                          </p:spTgt>
                                        </p:tgtEl>
                                        <p:attrNameLst>
                                          <p:attrName>style.visibility</p:attrName>
                                        </p:attrNameLst>
                                      </p:cBhvr>
                                      <p:to>
                                        <p:strVal val="visible"/>
                                      </p:to>
                                    </p:set>
                                    <p:animEffect filter="fade" transition="in">
                                      <p:cBhvr>
                                        <p:cTn dur="1000"/>
                                        <p:tgtEl>
                                          <p:spTgt spid="2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25"/>
          <p:cNvSpPr txBox="1"/>
          <p:nvPr/>
        </p:nvSpPr>
        <p:spPr>
          <a:xfrm>
            <a:off x="722375" y="1435600"/>
            <a:ext cx="75996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Speed of upstream = 30 / 6 = 5 km / hr. Speed of man in still water = 6 km / 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Speed of current = 6 - 5 = 1 km / hr. So speed of downstream = 6 + 1 = 7 km / 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 Distance traveled in 7 hrs = 10 * 7 = 70 km.</a:t>
            </a:r>
            <a:endParaRPr b="0" i="0" sz="1400" u="none" cap="none" strike="noStrike">
              <a:solidFill>
                <a:schemeClr val="dk1"/>
              </a:solidFill>
              <a:latin typeface="Arial"/>
              <a:ea typeface="Arial"/>
              <a:cs typeface="Arial"/>
              <a:sym typeface="Arial"/>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5"/>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Q10</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6"/>
          <p:cNvSpPr txBox="1"/>
          <p:nvPr/>
        </p:nvSpPr>
        <p:spPr>
          <a:xfrm>
            <a:off x="722375" y="1435600"/>
            <a:ext cx="8092800" cy="245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boat can travel with a speed of 13 km/hr in still water. If the speed of the stream is 4 km/hr, find the time taken by the boat to go 68 km downstream.</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 hours</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 hours</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 hours</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5 hours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457200" marR="0" rtl="0" algn="l">
              <a:lnSpc>
                <a:spcPct val="150000"/>
              </a:lnSpc>
              <a:spcBef>
                <a:spcPts val="8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28" name="Google Shape;228;p26"/>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Q11</a:t>
            </a:r>
            <a:endParaRPr b="1" i="0" sz="2000" u="none" cap="none" strike="noStrike">
              <a:solidFill>
                <a:srgbClr val="FFFFFF"/>
              </a:solidFill>
              <a:latin typeface="Arial"/>
              <a:ea typeface="Arial"/>
              <a:cs typeface="Arial"/>
              <a:sym typeface="Arial"/>
            </a:endParaRPr>
          </a:p>
        </p:txBody>
      </p:sp>
      <p:sp>
        <p:nvSpPr>
          <p:cNvPr id="229" name="Google Shape;229;p2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Effect filter="fade" transition="in">
                                      <p:cBhvr>
                                        <p:cTn dur="1000"/>
                                        <p:tgtEl>
                                          <p:spTgt spid="2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animEffect filter="fade" transition="in">
                                      <p:cBhvr>
                                        <p:cTn dur="1000"/>
                                        <p:tgtEl>
                                          <p:spTgt spid="2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animEffect filter="fade" transition="in">
                                      <p:cBhvr>
                                        <p:cTn dur="1000"/>
                                        <p:tgtEl>
                                          <p:spTgt spid="2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animEffect filter="fade" transition="in">
                                      <p:cBhvr>
                                        <p:cTn dur="1000"/>
                                        <p:tgtEl>
                                          <p:spTgt spid="2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animEffect filter="fade" transition="in">
                                      <p:cBhvr>
                                        <p:cTn dur="1000"/>
                                        <p:tgtEl>
                                          <p:spTgt spid="22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5" st="5"/>
                                            </p:txEl>
                                          </p:spTgt>
                                        </p:tgtEl>
                                        <p:attrNameLst>
                                          <p:attrName>style.visibility</p:attrName>
                                        </p:attrNameLst>
                                      </p:cBhvr>
                                      <p:to>
                                        <p:strVal val="visible"/>
                                      </p:to>
                                    </p:set>
                                    <p:animEffect filter="fade" transition="in">
                                      <p:cBhvr>
                                        <p:cTn dur="1000"/>
                                        <p:tgtEl>
                                          <p:spTgt spid="22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6" st="6"/>
                                            </p:txEl>
                                          </p:spTgt>
                                        </p:tgtEl>
                                        <p:attrNameLst>
                                          <p:attrName>style.visibility</p:attrName>
                                        </p:attrNameLst>
                                      </p:cBhvr>
                                      <p:to>
                                        <p:strVal val="visible"/>
                                      </p:to>
                                    </p:set>
                                    <p:animEffect filter="fade" transition="in">
                                      <p:cBhvr>
                                        <p:cTn dur="1000"/>
                                        <p:tgtEl>
                                          <p:spTgt spid="22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 name="Shape 233"/>
        <p:cNvGrpSpPr/>
        <p:nvPr/>
      </p:nvGrpSpPr>
      <p:grpSpPr>
        <a:xfrm>
          <a:off x="0" y="0"/>
          <a:ext cx="0" cy="0"/>
          <a:chOff x="0" y="0"/>
          <a:chExt cx="0" cy="0"/>
        </a:xfrm>
      </p:grpSpPr>
      <p:sp>
        <p:nvSpPr>
          <p:cNvPr id="234" name="Google Shape;234;p27"/>
          <p:cNvSpPr txBox="1"/>
          <p:nvPr/>
        </p:nvSpPr>
        <p:spPr>
          <a:xfrm>
            <a:off x="722375" y="1435600"/>
            <a:ext cx="74769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Speed downstream = (13 + 4) km/hr = 17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Time taken to travel 68 km downstream = 68/17 = 4hrs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7"/>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Q11</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nvSpPr>
        <p:spPr>
          <a:xfrm>
            <a:off x="722375" y="1435600"/>
            <a:ext cx="8092800" cy="277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boat running upstream takes 8 hours 48 minutes to cover a certain distance, while it takes 4 hours to cover the same distance running downstream. What is the ratio between the speed of the boat and speed of the water current respectively?</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2 : 1</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 : 2</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8 : 3</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Cannot be determined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41" name="Google Shape;241;p28"/>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Q12</a:t>
            </a:r>
            <a:endParaRPr b="1" i="0" sz="2000" u="none" cap="none" strike="noStrike">
              <a:solidFill>
                <a:srgbClr val="FFFFFF"/>
              </a:solidFill>
              <a:latin typeface="Arial"/>
              <a:ea typeface="Arial"/>
              <a:cs typeface="Arial"/>
              <a:sym typeface="Arial"/>
            </a:endParaRPr>
          </a:p>
        </p:txBody>
      </p:sp>
      <p:sp>
        <p:nvSpPr>
          <p:cNvPr id="242" name="Google Shape;242;p2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1000"/>
                                        <p:tgtEl>
                                          <p:spTgt spid="2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animEffect filter="fade" transition="in">
                                      <p:cBhvr>
                                        <p:cTn dur="1000"/>
                                        <p:tgtEl>
                                          <p:spTgt spid="2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animEffect filter="fade" transition="in">
                                      <p:cBhvr>
                                        <p:cTn dur="1000"/>
                                        <p:tgtEl>
                                          <p:spTgt spid="2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animEffect filter="fade" transition="in">
                                      <p:cBhvr>
                                        <p:cTn dur="1000"/>
                                        <p:tgtEl>
                                          <p:spTgt spid="2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animEffect filter="fade" transition="in">
                                      <p:cBhvr>
                                        <p:cTn dur="1000"/>
                                        <p:tgtEl>
                                          <p:spTgt spid="2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5" st="5"/>
                                            </p:txEl>
                                          </p:spTgt>
                                        </p:tgtEl>
                                        <p:attrNameLst>
                                          <p:attrName>style.visibility</p:attrName>
                                        </p:attrNameLst>
                                      </p:cBhvr>
                                      <p:to>
                                        <p:strVal val="visible"/>
                                      </p:to>
                                    </p:set>
                                    <p:animEffect filter="fade" transition="in">
                                      <p:cBhvr>
                                        <p:cTn dur="1000"/>
                                        <p:tgtEl>
                                          <p:spTgt spid="2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6" st="6"/>
                                            </p:txEl>
                                          </p:spTgt>
                                        </p:tgtEl>
                                        <p:attrNameLst>
                                          <p:attrName>style.visibility</p:attrName>
                                        </p:attrNameLst>
                                      </p:cBhvr>
                                      <p:to>
                                        <p:strVal val="visible"/>
                                      </p:to>
                                    </p:set>
                                    <p:animEffect filter="fade" transition="in">
                                      <p:cBhvr>
                                        <p:cTn dur="1000"/>
                                        <p:tgtEl>
                                          <p:spTgt spid="24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6" name="Shape 246"/>
        <p:cNvGrpSpPr/>
        <p:nvPr/>
      </p:nvGrpSpPr>
      <p:grpSpPr>
        <a:xfrm>
          <a:off x="0" y="0"/>
          <a:ext cx="0" cy="0"/>
          <a:chOff x="0" y="0"/>
          <a:chExt cx="0" cy="0"/>
        </a:xfrm>
      </p:grpSpPr>
      <p:sp>
        <p:nvSpPr>
          <p:cNvPr id="247" name="Google Shape;247;p29"/>
          <p:cNvSpPr txBox="1"/>
          <p:nvPr/>
        </p:nvSpPr>
        <p:spPr>
          <a:xfrm>
            <a:off x="311750" y="1393450"/>
            <a:ext cx="7785000" cy="400200"/>
          </a:xfrm>
          <a:prstGeom prst="rect">
            <a:avLst/>
          </a:prstGeom>
          <a:noFill/>
          <a:ln>
            <a:noFill/>
          </a:ln>
        </p:spPr>
        <p:txBody>
          <a:bodyPr anchorCtr="0" anchor="t" bIns="91425" lIns="91425" spcFirstLastPara="1" rIns="91425" wrap="square" tIns="91425">
            <a:spAutoFit/>
          </a:bodyPr>
          <a:lstStyle/>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8" name="Google Shape;248;p29"/>
          <p:cNvPicPr preferRelativeResize="0"/>
          <p:nvPr/>
        </p:nvPicPr>
        <p:blipFill rotWithShape="1">
          <a:blip r:embed="rId3">
            <a:alphaModFix/>
          </a:blip>
          <a:srcRect b="0" l="0" r="0" t="0"/>
          <a:stretch/>
        </p:blipFill>
        <p:spPr>
          <a:xfrm>
            <a:off x="604150" y="1343025"/>
            <a:ext cx="6906325" cy="3148025"/>
          </a:xfrm>
          <a:prstGeom prst="rect">
            <a:avLst/>
          </a:prstGeom>
          <a:noFill/>
          <a:ln>
            <a:noFill/>
          </a:ln>
        </p:spPr>
      </p:pic>
      <p:sp>
        <p:nvSpPr>
          <p:cNvPr id="249" name="Google Shape;249;p29"/>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Q12</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nvSpPr>
        <p:spPr>
          <a:xfrm>
            <a:off x="722375" y="1435600"/>
            <a:ext cx="80928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Arial"/>
                <a:ea typeface="Arial"/>
                <a:cs typeface="Arial"/>
                <a:sym typeface="Arial"/>
              </a:rPr>
              <a:t>A motorboat, whose speed in 15 km/hr in still water goes 30 km downstream and comes back in a total of 4 hours 30 minutes. The speed of the stream (in km/hr) is:</a:t>
            </a:r>
            <a:endParaRPr b="0" i="0" sz="1400" u="none" cap="none" strike="noStrike">
              <a:solidFill>
                <a:schemeClr val="dk1"/>
              </a:solidFill>
              <a:highlight>
                <a:schemeClr val="lt1"/>
              </a:highlight>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highlight>
                  <a:schemeClr val="lt1"/>
                </a:highlight>
                <a:latin typeface="Arial"/>
                <a:ea typeface="Arial"/>
                <a:cs typeface="Arial"/>
                <a:sym typeface="Arial"/>
              </a:rPr>
              <a:t>4</a:t>
            </a:r>
            <a:endParaRPr b="1" i="0" sz="1400" u="none" cap="none" strike="noStrike">
              <a:solidFill>
                <a:srgbClr val="0077CC"/>
              </a:solidFill>
              <a:highlight>
                <a:schemeClr val="lt1"/>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highlight>
                  <a:schemeClr val="lt1"/>
                </a:highlight>
                <a:latin typeface="Arial"/>
                <a:ea typeface="Arial"/>
                <a:cs typeface="Arial"/>
                <a:sym typeface="Arial"/>
              </a:rPr>
              <a:t>5</a:t>
            </a:r>
            <a:endParaRPr b="1" i="0" sz="1400" u="none" cap="none" strike="noStrike">
              <a:solidFill>
                <a:srgbClr val="0077CC"/>
              </a:solidFill>
              <a:highlight>
                <a:schemeClr val="lt1"/>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highlight>
                  <a:schemeClr val="lt1"/>
                </a:highlight>
                <a:latin typeface="Arial"/>
                <a:ea typeface="Arial"/>
                <a:cs typeface="Arial"/>
                <a:sym typeface="Arial"/>
              </a:rPr>
              <a:t>6</a:t>
            </a:r>
            <a:endParaRPr b="0" i="0" sz="1400" u="none" cap="none" strike="noStrike">
              <a:solidFill>
                <a:schemeClr val="dk1"/>
              </a:solidFill>
              <a:highlight>
                <a:schemeClr val="lt1"/>
              </a:highlight>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highlight>
                  <a:schemeClr val="lt1"/>
                </a:highlight>
                <a:latin typeface="Arial"/>
                <a:ea typeface="Arial"/>
                <a:cs typeface="Arial"/>
                <a:sym typeface="Arial"/>
              </a:rPr>
              <a:t>10</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800"/>
              </a:spcBef>
              <a:spcAft>
                <a:spcPts val="0"/>
              </a:spcAft>
              <a:buClr>
                <a:schemeClr val="dk1"/>
              </a:buClr>
              <a:buSzPts val="11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50000"/>
              </a:lnSpc>
              <a:spcBef>
                <a:spcPts val="800"/>
              </a:spcBef>
              <a:spcAft>
                <a:spcPts val="0"/>
              </a:spcAft>
              <a:buClr>
                <a:srgbClr val="000000"/>
              </a:buClr>
              <a:buSzPts val="18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255" name="Google Shape;255;p30"/>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Q13</a:t>
            </a:r>
            <a:endParaRPr b="1" i="0" sz="2000" u="none" cap="none" strike="noStrike">
              <a:solidFill>
                <a:srgbClr val="FFFFFF"/>
              </a:solidFill>
              <a:latin typeface="Arial"/>
              <a:ea typeface="Arial"/>
              <a:cs typeface="Arial"/>
              <a:sym typeface="Arial"/>
            </a:endParaRPr>
          </a:p>
        </p:txBody>
      </p:sp>
      <p:sp>
        <p:nvSpPr>
          <p:cNvPr id="256" name="Google Shape;256;p3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animEffect filter="fade" transition="in">
                                      <p:cBhvr>
                                        <p:cTn dur="1000"/>
                                        <p:tgtEl>
                                          <p:spTgt spid="2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animEffect filter="fade" transition="in">
                                      <p:cBhvr>
                                        <p:cTn dur="1000"/>
                                        <p:tgtEl>
                                          <p:spTgt spid="2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animEffect filter="fade" transition="in">
                                      <p:cBhvr>
                                        <p:cTn dur="1000"/>
                                        <p:tgtEl>
                                          <p:spTgt spid="2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animEffect filter="fade" transition="in">
                                      <p:cBhvr>
                                        <p:cTn dur="1000"/>
                                        <p:tgtEl>
                                          <p:spTgt spid="2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animEffect filter="fade" transition="in">
                                      <p:cBhvr>
                                        <p:cTn dur="1000"/>
                                        <p:tgtEl>
                                          <p:spTgt spid="2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animEffect filter="fade" transition="in">
                                      <p:cBhvr>
                                        <p:cTn dur="1000"/>
                                        <p:tgtEl>
                                          <p:spTgt spid="2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6" st="6"/>
                                            </p:txEl>
                                          </p:spTgt>
                                        </p:tgtEl>
                                        <p:attrNameLst>
                                          <p:attrName>style.visibility</p:attrName>
                                        </p:attrNameLst>
                                      </p:cBhvr>
                                      <p:to>
                                        <p:strVal val="visible"/>
                                      </p:to>
                                    </p:set>
                                    <p:animEffect filter="fade" transition="in">
                                      <p:cBhvr>
                                        <p:cTn dur="1000"/>
                                        <p:tgtEl>
                                          <p:spTgt spid="2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 name="Shape 260"/>
        <p:cNvGrpSpPr/>
        <p:nvPr/>
      </p:nvGrpSpPr>
      <p:grpSpPr>
        <a:xfrm>
          <a:off x="0" y="0"/>
          <a:ext cx="0" cy="0"/>
          <a:chOff x="0" y="0"/>
          <a:chExt cx="0" cy="0"/>
        </a:xfrm>
      </p:grpSpPr>
      <p:pic>
        <p:nvPicPr>
          <p:cNvPr id="261" name="Google Shape;261;p31"/>
          <p:cNvPicPr preferRelativeResize="0"/>
          <p:nvPr/>
        </p:nvPicPr>
        <p:blipFill rotWithShape="1">
          <a:blip r:embed="rId3">
            <a:alphaModFix/>
          </a:blip>
          <a:srcRect b="0" l="0" r="53855" t="0"/>
          <a:stretch/>
        </p:blipFill>
        <p:spPr>
          <a:xfrm>
            <a:off x="8096775" y="0"/>
            <a:ext cx="1047224" cy="1102725"/>
          </a:xfrm>
          <a:prstGeom prst="rect">
            <a:avLst/>
          </a:prstGeom>
          <a:noFill/>
          <a:ln>
            <a:noFill/>
          </a:ln>
        </p:spPr>
      </p:pic>
      <p:sp>
        <p:nvSpPr>
          <p:cNvPr id="262" name="Google Shape;262;p31"/>
          <p:cNvSpPr txBox="1"/>
          <p:nvPr/>
        </p:nvSpPr>
        <p:spPr>
          <a:xfrm>
            <a:off x="422728" y="1016906"/>
            <a:ext cx="84723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t/>
            </a:r>
            <a:endParaRPr b="0" i="0" sz="1700" u="none" cap="none" strike="noStrike">
              <a:solidFill>
                <a:schemeClr val="dk1"/>
              </a:solidFill>
              <a:latin typeface="Arial"/>
              <a:ea typeface="Arial"/>
              <a:cs typeface="Arial"/>
              <a:sym typeface="Arial"/>
            </a:endParaRPr>
          </a:p>
        </p:txBody>
      </p:sp>
      <p:sp>
        <p:nvSpPr>
          <p:cNvPr id="263" name="Google Shape;263;p31"/>
          <p:cNvSpPr txBox="1"/>
          <p:nvPr/>
        </p:nvSpPr>
        <p:spPr>
          <a:xfrm>
            <a:off x="163925" y="1102725"/>
            <a:ext cx="8096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800"/>
              </a:spcAft>
              <a:buClr>
                <a:srgbClr val="000000"/>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pic>
        <p:nvPicPr>
          <p:cNvPr id="264" name="Google Shape;264;p31"/>
          <p:cNvPicPr preferRelativeResize="0"/>
          <p:nvPr/>
        </p:nvPicPr>
        <p:blipFill rotWithShape="1">
          <a:blip r:embed="rId4">
            <a:alphaModFix/>
          </a:blip>
          <a:srcRect b="0" l="0" r="0" t="0"/>
          <a:stretch/>
        </p:blipFill>
        <p:spPr>
          <a:xfrm>
            <a:off x="1083800" y="1170425"/>
            <a:ext cx="6625350" cy="3413300"/>
          </a:xfrm>
          <a:prstGeom prst="rect">
            <a:avLst/>
          </a:prstGeom>
          <a:noFill/>
          <a:ln>
            <a:noFill/>
          </a:ln>
        </p:spPr>
      </p:pic>
      <p:sp>
        <p:nvSpPr>
          <p:cNvPr id="265" name="Google Shape;265;p31"/>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Q13</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2"/>
          <p:cNvSpPr txBox="1"/>
          <p:nvPr/>
        </p:nvSpPr>
        <p:spPr>
          <a:xfrm>
            <a:off x="802175" y="1435600"/>
            <a:ext cx="8013000" cy="246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In one hour, a boat goes 11 km/hr along the stream and 5 km/hr against the stream. The speed of the boat in still water (in km/hr) is: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3 km/hr</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5 km/hr</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8 km/hr</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9 km/hr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271" name="Google Shape;271;p32"/>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Q14</a:t>
            </a:r>
            <a:endParaRPr b="1" i="0" sz="2000" u="none" cap="none" strike="noStrike">
              <a:solidFill>
                <a:srgbClr val="FFFFFF"/>
              </a:solidFill>
              <a:latin typeface="Arial"/>
              <a:ea typeface="Arial"/>
              <a:cs typeface="Arial"/>
              <a:sym typeface="Arial"/>
            </a:endParaRPr>
          </a:p>
        </p:txBody>
      </p:sp>
      <p:sp>
        <p:nvSpPr>
          <p:cNvPr id="272" name="Google Shape;272;p3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Answer:C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0" st="0"/>
                                            </p:txEl>
                                          </p:spTgt>
                                        </p:tgtEl>
                                        <p:attrNameLst>
                                          <p:attrName>style.visibility</p:attrName>
                                        </p:attrNameLst>
                                      </p:cBhvr>
                                      <p:to>
                                        <p:strVal val="visible"/>
                                      </p:to>
                                    </p:set>
                                    <p:animEffect filter="fade" transition="in">
                                      <p:cBhvr>
                                        <p:cTn dur="1000"/>
                                        <p:tgtEl>
                                          <p:spTgt spid="2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1" st="1"/>
                                            </p:txEl>
                                          </p:spTgt>
                                        </p:tgtEl>
                                        <p:attrNameLst>
                                          <p:attrName>style.visibility</p:attrName>
                                        </p:attrNameLst>
                                      </p:cBhvr>
                                      <p:to>
                                        <p:strVal val="visible"/>
                                      </p:to>
                                    </p:set>
                                    <p:animEffect filter="fade" transition="in">
                                      <p:cBhvr>
                                        <p:cTn dur="1000"/>
                                        <p:tgtEl>
                                          <p:spTgt spid="2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2" st="2"/>
                                            </p:txEl>
                                          </p:spTgt>
                                        </p:tgtEl>
                                        <p:attrNameLst>
                                          <p:attrName>style.visibility</p:attrName>
                                        </p:attrNameLst>
                                      </p:cBhvr>
                                      <p:to>
                                        <p:strVal val="visible"/>
                                      </p:to>
                                    </p:set>
                                    <p:animEffect filter="fade" transition="in">
                                      <p:cBhvr>
                                        <p:cTn dur="1000"/>
                                        <p:tgtEl>
                                          <p:spTgt spid="2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3" st="3"/>
                                            </p:txEl>
                                          </p:spTgt>
                                        </p:tgtEl>
                                        <p:attrNameLst>
                                          <p:attrName>style.visibility</p:attrName>
                                        </p:attrNameLst>
                                      </p:cBhvr>
                                      <p:to>
                                        <p:strVal val="visible"/>
                                      </p:to>
                                    </p:set>
                                    <p:animEffect filter="fade" transition="in">
                                      <p:cBhvr>
                                        <p:cTn dur="1000"/>
                                        <p:tgtEl>
                                          <p:spTgt spid="2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4" st="4"/>
                                            </p:txEl>
                                          </p:spTgt>
                                        </p:tgtEl>
                                        <p:attrNameLst>
                                          <p:attrName>style.visibility</p:attrName>
                                        </p:attrNameLst>
                                      </p:cBhvr>
                                      <p:to>
                                        <p:strVal val="visible"/>
                                      </p:to>
                                    </p:set>
                                    <p:animEffect filter="fade" transition="in">
                                      <p:cBhvr>
                                        <p:cTn dur="1000"/>
                                        <p:tgtEl>
                                          <p:spTgt spid="2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5" st="5"/>
                                            </p:txEl>
                                          </p:spTgt>
                                        </p:tgtEl>
                                        <p:attrNameLst>
                                          <p:attrName>style.visibility</p:attrName>
                                        </p:attrNameLst>
                                      </p:cBhvr>
                                      <p:to>
                                        <p:strVal val="visible"/>
                                      </p:to>
                                    </p:set>
                                    <p:animEffect filter="fade" transition="in">
                                      <p:cBhvr>
                                        <p:cTn dur="1000"/>
                                        <p:tgtEl>
                                          <p:spTgt spid="2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6" st="6"/>
                                            </p:txEl>
                                          </p:spTgt>
                                        </p:tgtEl>
                                        <p:attrNameLst>
                                          <p:attrName>style.visibility</p:attrName>
                                        </p:attrNameLst>
                                      </p:cBhvr>
                                      <p:to>
                                        <p:strVal val="visible"/>
                                      </p:to>
                                    </p:set>
                                    <p:animEffect filter="fade" transition="in">
                                      <p:cBhvr>
                                        <p:cTn dur="1000"/>
                                        <p:tgtEl>
                                          <p:spTgt spid="2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7" st="7"/>
                                            </p:txEl>
                                          </p:spTgt>
                                        </p:tgtEl>
                                        <p:attrNameLst>
                                          <p:attrName>style.visibility</p:attrName>
                                        </p:attrNameLst>
                                      </p:cBhvr>
                                      <p:to>
                                        <p:strVal val="visible"/>
                                      </p:to>
                                    </p:set>
                                    <p:animEffect filter="fade" transition="in">
                                      <p:cBhvr>
                                        <p:cTn dur="1000"/>
                                        <p:tgtEl>
                                          <p:spTgt spid="27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sp>
        <p:nvSpPr>
          <p:cNvPr id="277" name="Google Shape;277;p33"/>
          <p:cNvSpPr txBox="1"/>
          <p:nvPr/>
        </p:nvSpPr>
        <p:spPr>
          <a:xfrm>
            <a:off x="722375" y="1371525"/>
            <a:ext cx="7466400" cy="71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Arial"/>
                <a:ea typeface="Arial"/>
                <a:cs typeface="Arial"/>
                <a:sym typeface="Arial"/>
              </a:rPr>
              <a:t>Speed in still water= 0.5 (11 + 5) kmph = 8 kmph. </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800"/>
              </a:spcBef>
              <a:spcAft>
                <a:spcPts val="800"/>
              </a:spcAft>
              <a:buClr>
                <a:srgbClr val="000000"/>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278" name="Google Shape;278;p33"/>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Q14</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1e9dd8e0edc_0_52"/>
          <p:cNvSpPr txBox="1"/>
          <p:nvPr/>
        </p:nvSpPr>
        <p:spPr>
          <a:xfrm>
            <a:off x="722375" y="1506125"/>
            <a:ext cx="8092800" cy="245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 boat running downstream covers a distance of 16 km in 2 hours while for covering the same distance upstream, it takes 4 hours. What is the speed of the boat in still water?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80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4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6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8 km/hr</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lphaUcPeriod"/>
            </a:pPr>
            <a:r>
              <a:rPr b="0" i="0" lang="en" sz="1400" u="none" cap="none" strike="noStrike">
                <a:solidFill>
                  <a:schemeClr val="dk1"/>
                </a:solidFill>
                <a:latin typeface="Arial"/>
                <a:ea typeface="Arial"/>
                <a:cs typeface="Arial"/>
                <a:sym typeface="Arial"/>
              </a:rPr>
              <a:t>Data inadequate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800"/>
              </a:spcBef>
              <a:spcAft>
                <a:spcPts val="0"/>
              </a:spcAft>
              <a:buClr>
                <a:srgbClr val="000000"/>
              </a:buClr>
              <a:buSzPts val="1600"/>
              <a:buFont typeface="Arial"/>
              <a:buNone/>
            </a:pPr>
            <a:r>
              <a:t/>
            </a:r>
            <a:endParaRPr b="0" i="0" sz="1400" u="none" cap="none" strike="noStrike">
              <a:solidFill>
                <a:schemeClr val="dk1"/>
              </a:solidFill>
              <a:highlight>
                <a:schemeClr val="lt1"/>
              </a:highlight>
              <a:latin typeface="Arial"/>
              <a:ea typeface="Arial"/>
              <a:cs typeface="Arial"/>
              <a:sym typeface="Arial"/>
            </a:endParaRPr>
          </a:p>
        </p:txBody>
      </p:sp>
      <p:sp>
        <p:nvSpPr>
          <p:cNvPr id="284" name="Google Shape;284;g1e9dd8e0edc_0_52"/>
          <p:cNvSpPr/>
          <p:nvPr/>
        </p:nvSpPr>
        <p:spPr>
          <a:xfrm>
            <a:off x="722375" y="721025"/>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Question: Q15</a:t>
            </a:r>
            <a:endParaRPr b="1" i="0" sz="2000" u="none" cap="none" strike="noStrike">
              <a:solidFill>
                <a:srgbClr val="FFFFFF"/>
              </a:solidFill>
              <a:latin typeface="Arial"/>
              <a:ea typeface="Arial"/>
              <a:cs typeface="Arial"/>
              <a:sym typeface="Arial"/>
            </a:endParaRPr>
          </a:p>
        </p:txBody>
      </p:sp>
      <p:sp>
        <p:nvSpPr>
          <p:cNvPr id="285" name="Google Shape;285;g1e9dd8e0edc_0_5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Answer:B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1000"/>
                                        <p:tgtEl>
                                          <p:spTgt spid="2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1000"/>
                                        <p:tgtEl>
                                          <p:spTgt spid="2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Effect filter="fade" transition="in">
                                      <p:cBhvr>
                                        <p:cTn dur="1000"/>
                                        <p:tgtEl>
                                          <p:spTgt spid="2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Effect filter="fade" transition="in">
                                      <p:cBhvr>
                                        <p:cTn dur="1000"/>
                                        <p:tgtEl>
                                          <p:spTgt spid="2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animEffect filter="fade" transition="in">
                                      <p:cBhvr>
                                        <p:cTn dur="1000"/>
                                        <p:tgtEl>
                                          <p:spTgt spid="2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animEffect filter="fade" transition="in">
                                      <p:cBhvr>
                                        <p:cTn dur="1000"/>
                                        <p:tgtEl>
                                          <p:spTgt spid="2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animEffect filter="fade" transition="in">
                                      <p:cBhvr>
                                        <p:cTn dur="1000"/>
                                        <p:tgtEl>
                                          <p:spTgt spid="2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9" name="Shape 289"/>
        <p:cNvGrpSpPr/>
        <p:nvPr/>
      </p:nvGrpSpPr>
      <p:grpSpPr>
        <a:xfrm>
          <a:off x="0" y="0"/>
          <a:ext cx="0" cy="0"/>
          <a:chOff x="0" y="0"/>
          <a:chExt cx="0" cy="0"/>
        </a:xfrm>
      </p:grpSpPr>
      <p:sp>
        <p:nvSpPr>
          <p:cNvPr id="290" name="Google Shape;290;g1e9dd8e0edc_0_60"/>
          <p:cNvSpPr txBox="1"/>
          <p:nvPr/>
        </p:nvSpPr>
        <p:spPr>
          <a:xfrm>
            <a:off x="422728" y="1016906"/>
            <a:ext cx="847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pic>
        <p:nvPicPr>
          <p:cNvPr id="291" name="Google Shape;291;g1e9dd8e0edc_0_60"/>
          <p:cNvPicPr preferRelativeResize="0"/>
          <p:nvPr/>
        </p:nvPicPr>
        <p:blipFill rotWithShape="1">
          <a:blip r:embed="rId3">
            <a:alphaModFix/>
          </a:blip>
          <a:srcRect b="0" l="0" r="0" t="0"/>
          <a:stretch/>
        </p:blipFill>
        <p:spPr>
          <a:xfrm>
            <a:off x="1994125" y="1621800"/>
            <a:ext cx="5819100" cy="2586025"/>
          </a:xfrm>
          <a:prstGeom prst="rect">
            <a:avLst/>
          </a:prstGeom>
          <a:noFill/>
          <a:ln>
            <a:noFill/>
          </a:ln>
        </p:spPr>
      </p:pic>
      <p:sp>
        <p:nvSpPr>
          <p:cNvPr id="292" name="Google Shape;292;g1e9dd8e0edc_0_60"/>
          <p:cNvSpPr/>
          <p:nvPr/>
        </p:nvSpPr>
        <p:spPr>
          <a:xfrm>
            <a:off x="722375" y="721025"/>
            <a:ext cx="26106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Explanation: Q15</a:t>
            </a:r>
            <a:endParaRPr b="1" i="0" sz="2000" u="none" cap="none" strike="noStrike">
              <a:solidFill>
                <a:srgbClr val="FFFFFF"/>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98" name="Google Shape;298;p20"/>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99" name="Google Shape;299;p20"/>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05" name="Google Shape;305;p2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06" name="Google Shape;306;p2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7" name="Google Shape;307;p21"/>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08" name="Google Shape;308;p2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9" name="Google Shape;309;p2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10" name="Google Shape;310;p21"/>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11" name="Google Shape;311;p2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12" name="Google Shape;312;p21"/>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13" name="Google Shape;313;p2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4" name="Google Shape;314;p21"/>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15" name="Google Shape;315;p2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Megala Ekambaram</dc:creator>
</cp:coreProperties>
</file>