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Robo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7" roundtripDataSignature="AMtx7milvQLFxvFAGISU6JMHuiznirug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Roboto-bold.fntdata"/><Relationship Id="rId21" Type="http://schemas.openxmlformats.org/officeDocument/2006/relationships/slide" Target="slides/slide15.xml"/><Relationship Id="rId43" Type="http://schemas.openxmlformats.org/officeDocument/2006/relationships/font" Target="fonts/Roboto-regular.fntdata"/><Relationship Id="rId24" Type="http://schemas.openxmlformats.org/officeDocument/2006/relationships/slide" Target="slides/slide18.xml"/><Relationship Id="rId46" Type="http://schemas.openxmlformats.org/officeDocument/2006/relationships/font" Target="fonts/Roboto-boldItalic.fntdata"/><Relationship Id="rId23" Type="http://schemas.openxmlformats.org/officeDocument/2006/relationships/slide" Target="slides/slide17.xml"/><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f42ade6f5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03" name="Google Shape;103;g2f42ade6f5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40781e0cf6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400">
                <a:solidFill>
                  <a:schemeClr val="dk1"/>
                </a:solidFill>
                <a:latin typeface="Roboto"/>
                <a:ea typeface="Roboto"/>
                <a:cs typeface="Roboto"/>
                <a:sym typeface="Roboto"/>
              </a:rPr>
              <a:t>1)  Average = (Sum of observations/Number of observations)</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400">
                <a:solidFill>
                  <a:schemeClr val="dk1"/>
                </a:solidFill>
                <a:latin typeface="Roboto"/>
                <a:ea typeface="Roboto"/>
                <a:cs typeface="Roboto"/>
                <a:sym typeface="Roboto"/>
              </a:rPr>
              <a:t>2)  Average Speed:</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400">
                <a:solidFill>
                  <a:schemeClr val="dk1"/>
                </a:solidFill>
                <a:latin typeface="Roboto"/>
                <a:ea typeface="Roboto"/>
                <a:cs typeface="Roboto"/>
                <a:sym typeface="Roboto"/>
              </a:rPr>
              <a:t>             	Suppose a man covers a certain distance at X kmph and an equal distance at Y kmph. Then, the average speed during the whole journey is {2xy/(x+y)} kmph.</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400">
                <a:solidFill>
                  <a:schemeClr val="dk1"/>
                </a:solidFill>
                <a:latin typeface="Roboto"/>
                <a:ea typeface="Roboto"/>
                <a:cs typeface="Roboto"/>
                <a:sym typeface="Roboto"/>
              </a:rPr>
              <a:t>3) </a:t>
            </a:r>
            <a:r>
              <a:rPr lang="en-GB" sz="1400" u="sng">
                <a:solidFill>
                  <a:schemeClr val="dk1"/>
                </a:solidFill>
                <a:latin typeface="Roboto"/>
                <a:ea typeface="Roboto"/>
                <a:cs typeface="Roboto"/>
                <a:sym typeface="Roboto"/>
              </a:rPr>
              <a:t>Weighted average</a:t>
            </a:r>
            <a:endParaRPr sz="1400" u="sng">
              <a:solidFill>
                <a:schemeClr val="dk1"/>
              </a:solidFill>
              <a:latin typeface="Roboto"/>
              <a:ea typeface="Roboto"/>
              <a:cs typeface="Roboto"/>
              <a:sym typeface="Roboto"/>
            </a:endParaRPr>
          </a:p>
          <a:p>
            <a:pPr indent="0" lvl="0" marL="0" rtl="0" algn="l">
              <a:lnSpc>
                <a:spcPct val="115000"/>
              </a:lnSpc>
              <a:spcBef>
                <a:spcPts val="0"/>
              </a:spcBef>
              <a:spcAft>
                <a:spcPts val="0"/>
              </a:spcAft>
              <a:buSzPts val="1100"/>
              <a:buNone/>
            </a:pPr>
            <a:r>
              <a:rPr lang="en-GB" sz="1400">
                <a:solidFill>
                  <a:schemeClr val="dk1"/>
                </a:solidFill>
                <a:latin typeface="Roboto"/>
                <a:ea typeface="Roboto"/>
                <a:cs typeface="Roboto"/>
                <a:sym typeface="Roboto"/>
              </a:rPr>
              <a:t>The average between two sets of numbers is closer to the set with more numbers</a:t>
            </a:r>
            <a:r>
              <a:rPr lang="en-GB" sz="1600">
                <a:solidFill>
                  <a:schemeClr val="dk1"/>
                </a:solidFill>
                <a:latin typeface="Roboto"/>
                <a:ea typeface="Roboto"/>
                <a:cs typeface="Roboto"/>
                <a:sym typeface="Roboto"/>
              </a:rPr>
              <a:t>.</a:t>
            </a:r>
            <a:endParaRPr>
              <a:latin typeface="Roboto"/>
              <a:ea typeface="Roboto"/>
              <a:cs typeface="Roboto"/>
              <a:sym typeface="Roboto"/>
            </a:endParaRPr>
          </a:p>
        </p:txBody>
      </p:sp>
      <p:sp>
        <p:nvSpPr>
          <p:cNvPr id="118" name="Google Shape;118;g140781e0cf6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40781e0cf6_0_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140781e0cf6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40781e0cf6_0_2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140781e0cf6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GB" sz="1800">
                <a:solidFill>
                  <a:schemeClr val="dk1"/>
                </a:solidFill>
                <a:latin typeface="Roboto"/>
                <a:ea typeface="Roboto"/>
                <a:cs typeface="Roboto"/>
                <a:sym typeface="Roboto"/>
              </a:rPr>
              <a:t>The average first 7 numbers? =&gt; </a:t>
            </a:r>
            <a:r>
              <a:rPr lang="en-GB">
                <a:solidFill>
                  <a:schemeClr val="dk1"/>
                </a:solidFill>
                <a:latin typeface="Roboto"/>
                <a:ea typeface="Roboto"/>
                <a:cs typeface="Roboto"/>
                <a:sym typeface="Roboto"/>
              </a:rPr>
              <a:t>(n+1)/2</a:t>
            </a:r>
            <a:endParaRPr sz="18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average of 5+6+7+......+10?</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=&gt;(FN+LN)/2 ==&gt; applicable wen common difference</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Avg of first n even numbers = n+1</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Avg of first n odd numbers = n</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i.e. Avg of first 50 odd numbers!</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Number of odd/even numbers upto n = n/2,</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If n is odd,</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no.of odds = (n/2+1/2)</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no.of evens = (n/2-1/2)</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40781e0cf6_0_2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140781e0cf6_0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40781e0cf6_0_2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140781e0cf6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40781e0cf6_0_2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140781e0cf6_0_2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40781e0cf6_0_3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140781e0cf6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40781e0cf6_0_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140781e0cf6_0_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0781e0cf6_0_3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140781e0cf6_0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0781e0cf6_0_3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140781e0cf6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40781e0cf6_0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140781e0cf6_0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40781e0cf6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40781e0cf6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40781e0cf6_0_3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140781e0cf6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40781e0cf6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140781e0cf6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40781e0cf6_0_3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140781e0cf6_0_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40781e0cf6_0_3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140781e0cf6_0_3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40781e0cf6_0_3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140781e0cf6_0_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40781e0cf6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140781e0cf6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40781e0cf6_0_4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140781e0cf6_0_4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40781e0cf6_0_4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140781e0cf6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40781e0cf6_0_4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140781e0cf6_0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40781e0cf6_0_4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140781e0cf6_0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40781e0cf6_0_4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140781e0cf6_0_4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40781e0cf6_0_4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140781e0cf6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40781e0cf6_0_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140781e0cf6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40781e0cf6_0_5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140781e0cf6_0_5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0781e0cf6_0_1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0781e0cf6_0_19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0781e0cf6_0_1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1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g140781e0cf6_0_19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g140781e0cf6_0_1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 name="Shape 26"/>
        <p:cNvGrpSpPr/>
        <p:nvPr/>
      </p:nvGrpSpPr>
      <p:grpSpPr>
        <a:xfrm>
          <a:off x="0" y="0"/>
          <a:ext cx="0" cy="0"/>
          <a:chOff x="0" y="0"/>
          <a:chExt cx="0" cy="0"/>
        </a:xfrm>
      </p:grpSpPr>
      <p:sp>
        <p:nvSpPr>
          <p:cNvPr id="27" name="Google Shape;27;g140781e0cf6_0_20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8" name="Google Shape;28;g140781e0cf6_0_2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g140781e0cf6_0_20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1" name="Google Shape;31;g140781e0cf6_0_20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2" name="Google Shape;32;g140781e0cf6_0_20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g140781e0cf6_0_20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g140781e0cf6_0_2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g140781e0cf6_0_2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7" name="Google Shape;37;g140781e0cf6_0_2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g140781e0cf6_0_21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g140781e0cf6_0_21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1" name="Google Shape;41;g140781e0cf6_0_2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2" name="Shape 42"/>
        <p:cNvGrpSpPr/>
        <p:nvPr/>
      </p:nvGrpSpPr>
      <p:grpSpPr>
        <a:xfrm>
          <a:off x="0" y="0"/>
          <a:ext cx="0" cy="0"/>
          <a:chOff x="0" y="0"/>
          <a:chExt cx="0" cy="0"/>
        </a:xfrm>
      </p:grpSpPr>
      <p:pic>
        <p:nvPicPr>
          <p:cNvPr descr="A close up of a logo&#10;&#10;Description generated with high confidence" id="43" name="Google Shape;43;g140781e0cf6_0_218"/>
          <p:cNvPicPr preferRelativeResize="0"/>
          <p:nvPr/>
        </p:nvPicPr>
        <p:blipFill rotWithShape="1">
          <a:blip r:embed="rId2">
            <a:alphaModFix/>
          </a:blip>
          <a:srcRect b="0" l="0" r="0" t="0"/>
          <a:stretch/>
        </p:blipFill>
        <p:spPr>
          <a:xfrm>
            <a:off x="7876800" y="183600"/>
            <a:ext cx="766801" cy="766801"/>
          </a:xfrm>
          <a:prstGeom prst="rect">
            <a:avLst/>
          </a:prstGeom>
          <a:noFill/>
          <a:ln>
            <a:noFill/>
          </a:ln>
        </p:spPr>
      </p:pic>
      <p:pic>
        <p:nvPicPr>
          <p:cNvPr descr="A picture containing colorful, colored&#10;&#10;Description generated with very high confidence" id="44" name="Google Shape;44;g140781e0cf6_0_218"/>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45" name="Google Shape;45;g140781e0cf6_0_218"/>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g140781e0cf6_0_218"/>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g140781e0cf6_0_218"/>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g140781e0cf6_0_218"/>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7" name="Google Shape;5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1" name="Google Shape;61;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5" name="Google Shape;65;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6" name="Google Shape;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2" name="Google Shape;72;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3" name="Google Shape;7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 name="Shape 74"/>
        <p:cNvGrpSpPr/>
        <p:nvPr/>
      </p:nvGrpSpPr>
      <p:grpSpPr>
        <a:xfrm>
          <a:off x="0" y="0"/>
          <a:ext cx="0" cy="0"/>
          <a:chOff x="0" y="0"/>
          <a:chExt cx="0" cy="0"/>
        </a:xfrm>
      </p:grpSpPr>
      <p:sp>
        <p:nvSpPr>
          <p:cNvPr id="75" name="Google Shape;75;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6" name="Google Shape;7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9" name="Google Shape;79;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0" name="Google Shape;80;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1" name="Google Shape;81;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2" name="Google Shape;8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5" name="Google Shape;85;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sp>
        <p:nvSpPr>
          <p:cNvPr id="87" name="Google Shape;87;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8" name="Google Shape;88;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9" name="Google Shape;8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3.xml"/><Relationship Id="rId12" Type="http://schemas.openxmlformats.org/officeDocument/2006/relationships/slideLayout" Target="../slideLayouts/slideLayout20.xml"/><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2F2F2"/>
            </a:gs>
            <a:gs pos="100000">
              <a:srgbClr val="898989"/>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g140781e0cf6_0_1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0781e0cf6_0_1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0781e0cf6_0_1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0781e0cf6_0_190"/>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1" name="Google Shape;51;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2" name="Google Shape;5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4.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JcTpRi7Ms1KZ1vqSA" TargetMode="Externa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hyperlink" Target="https://learn.codemithra.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7" name="Google Shape;97;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8" name="Google Shape;98;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9" name="Google Shape;99;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0" name="Google Shape;100;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2f42ade6f5d_0_0"/>
          <p:cNvSpPr txBox="1"/>
          <p:nvPr>
            <p:ph idx="1" type="body"/>
          </p:nvPr>
        </p:nvSpPr>
        <p:spPr>
          <a:xfrm>
            <a:off x="729200" y="12319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1600">
                <a:solidFill>
                  <a:srgbClr val="373737"/>
                </a:solidFill>
                <a:highlight>
                  <a:srgbClr val="FFFFFF"/>
                </a:highlight>
              </a:rPr>
              <a:t>URL: </a:t>
            </a:r>
            <a:r>
              <a:rPr b="1" lang="en-GB" sz="1600" u="sng">
                <a:solidFill>
                  <a:schemeClr val="hlink"/>
                </a:solidFill>
                <a:highlight>
                  <a:srgbClr val="FFFFFF"/>
                </a:highlight>
                <a:hlinkClick r:id="rId3"/>
              </a:rPr>
              <a:t>https://forms.gle/JcTpRi7Ms1KZ1vqSA</a:t>
            </a:r>
            <a:endParaRPr b="1" sz="1600">
              <a:solidFill>
                <a:srgbClr val="373737"/>
              </a:solidFill>
              <a:highlight>
                <a:srgbClr val="FFFFFF"/>
              </a:highlight>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rPr>
              <a:t>QR CODE:</a:t>
            </a:r>
            <a:endParaRPr b="1" sz="1600">
              <a:solidFill>
                <a:srgbClr val="373737"/>
              </a:solidFill>
              <a:highlight>
                <a:srgbClr val="FFFFFF"/>
              </a:highlight>
            </a:endParaRPr>
          </a:p>
        </p:txBody>
      </p:sp>
      <p:sp>
        <p:nvSpPr>
          <p:cNvPr id="106" name="Google Shape;106;g2f42ade6f5d_0_0"/>
          <p:cNvSpPr txBox="1"/>
          <p:nvPr/>
        </p:nvSpPr>
        <p:spPr>
          <a:xfrm>
            <a:off x="2219093" y="651974"/>
            <a:ext cx="4572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700"/>
              <a:buFont typeface="Arial"/>
              <a:buNone/>
            </a:pPr>
            <a:r>
              <a:rPr b="1" i="0" lang="en-GB" sz="1600" u="none" cap="none" strike="noStrike">
                <a:solidFill>
                  <a:schemeClr val="dk1"/>
                </a:solidFill>
                <a:latin typeface="Roboto"/>
                <a:ea typeface="Roboto"/>
                <a:cs typeface="Roboto"/>
                <a:sym typeface="Roboto"/>
              </a:rPr>
              <a:t>TEST TIME ON </a:t>
            </a:r>
            <a:r>
              <a:rPr b="1" lang="en-GB" sz="1600">
                <a:solidFill>
                  <a:schemeClr val="dk1"/>
                </a:solidFill>
                <a:latin typeface="Roboto"/>
                <a:ea typeface="Roboto"/>
                <a:cs typeface="Roboto"/>
                <a:sym typeface="Roboto"/>
              </a:rPr>
              <a:t>PARTNERSHIP</a:t>
            </a:r>
            <a:endParaRPr b="1" i="0" sz="1600" u="none" cap="none" strike="noStrike">
              <a:solidFill>
                <a:schemeClr val="dk1"/>
              </a:solidFill>
              <a:latin typeface="Roboto"/>
              <a:ea typeface="Roboto"/>
              <a:cs typeface="Roboto"/>
              <a:sym typeface="Roboto"/>
            </a:endParaRPr>
          </a:p>
        </p:txBody>
      </p:sp>
      <p:pic>
        <p:nvPicPr>
          <p:cNvPr id="107" name="Google Shape;107;g2f42ade6f5d_0_0"/>
          <p:cNvPicPr preferRelativeResize="0"/>
          <p:nvPr/>
        </p:nvPicPr>
        <p:blipFill>
          <a:blip r:embed="rId4">
            <a:alphaModFix/>
          </a:blip>
          <a:stretch>
            <a:fillRect/>
          </a:stretch>
        </p:blipFill>
        <p:spPr>
          <a:xfrm>
            <a:off x="3335550" y="2112825"/>
            <a:ext cx="2959726" cy="2472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13" name="Google Shape;11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14" name="Google Shape;114;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15" name="Google Shape;115;p2"/>
          <p:cNvSpPr txBox="1"/>
          <p:nvPr/>
        </p:nvSpPr>
        <p:spPr>
          <a:xfrm>
            <a:off x="148264" y="1741810"/>
            <a:ext cx="4690948" cy="131725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AVERAGES, WEIGHTED AVERAGES</a:t>
            </a:r>
            <a:endParaRPr b="1" i="0" sz="24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40781e0cf6_0_154"/>
          <p:cNvSpPr txBox="1"/>
          <p:nvPr>
            <p:ph idx="1" type="body"/>
          </p:nvPr>
        </p:nvSpPr>
        <p:spPr>
          <a:xfrm>
            <a:off x="720000" y="1440000"/>
            <a:ext cx="7589400" cy="27861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Char char="●"/>
            </a:pPr>
            <a:r>
              <a:rPr lang="en-GB" sz="1400">
                <a:solidFill>
                  <a:schemeClr val="dk1"/>
                </a:solidFill>
              </a:rPr>
              <a:t>Average is an effective way of representing an entire group/set by a single value</a:t>
            </a:r>
            <a:br>
              <a:rPr lang="en-GB" sz="1400">
                <a:solidFill>
                  <a:schemeClr val="dk1"/>
                </a:solidFill>
              </a:rPr>
            </a:br>
            <a:r>
              <a:rPr lang="en-GB" sz="1400">
                <a:solidFill>
                  <a:schemeClr val="dk1"/>
                </a:solidFill>
              </a:rPr>
              <a:t>Average = (Sum of observations/Number of observations)</a:t>
            </a:r>
            <a:endParaRPr sz="1400">
              <a:solidFill>
                <a:schemeClr val="dk1"/>
              </a:solidFill>
            </a:endParaRPr>
          </a:p>
          <a:p>
            <a:pPr indent="0" lvl="0" marL="0" rtl="0" algn="l">
              <a:lnSpc>
                <a:spcPct val="150000"/>
              </a:lnSpc>
              <a:spcBef>
                <a:spcPts val="0"/>
              </a:spcBef>
              <a:spcAft>
                <a:spcPts val="0"/>
              </a:spcAft>
              <a:buSzPts val="1800"/>
              <a:buNone/>
            </a:pPr>
            <a:r>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GB" sz="1400">
                <a:solidFill>
                  <a:schemeClr val="dk1"/>
                </a:solidFill>
              </a:rPr>
              <a:t>Weighted average/Combined average (Wa or Ca)</a:t>
            </a:r>
            <a:br>
              <a:rPr lang="en-GB" sz="1400">
                <a:solidFill>
                  <a:schemeClr val="dk1"/>
                </a:solidFill>
              </a:rPr>
            </a:br>
            <a:r>
              <a:rPr lang="en-GB" sz="1400">
                <a:solidFill>
                  <a:schemeClr val="dk1"/>
                </a:solidFill>
              </a:rPr>
              <a:t>In simple terms it is average of multiple averages.</a:t>
            </a:r>
            <a:br>
              <a:rPr lang="en-GB" sz="1400">
                <a:solidFill>
                  <a:schemeClr val="dk1"/>
                </a:solidFill>
              </a:rPr>
            </a:br>
            <a:r>
              <a:rPr lang="en-GB" sz="1400">
                <a:solidFill>
                  <a:schemeClr val="dk1"/>
                </a:solidFill>
              </a:rPr>
              <a:t>Ca = (N1A1+N2A2+N3A3+..)/(N1+N2+N3+.....)</a:t>
            </a:r>
            <a:endParaRPr sz="1400">
              <a:solidFill>
                <a:schemeClr val="dk1"/>
              </a:solidFill>
            </a:endParaRPr>
          </a:p>
          <a:p>
            <a:pPr indent="0" lvl="0" marL="457200" rtl="0" algn="l">
              <a:lnSpc>
                <a:spcPct val="150000"/>
              </a:lnSpc>
              <a:spcBef>
                <a:spcPts val="0"/>
              </a:spcBef>
              <a:spcAft>
                <a:spcPts val="0"/>
              </a:spcAft>
              <a:buSzPts val="1800"/>
              <a:buNone/>
            </a:pPr>
            <a:r>
              <a:rPr lang="en-GB" sz="1400">
                <a:solidFill>
                  <a:schemeClr val="dk1"/>
                </a:solidFill>
              </a:rPr>
              <a:t>Where, </a:t>
            </a:r>
            <a:endParaRPr sz="1400">
              <a:solidFill>
                <a:schemeClr val="dk1"/>
              </a:solidFill>
            </a:endParaRPr>
          </a:p>
          <a:p>
            <a:pPr indent="0" lvl="0" marL="457200" rtl="0" algn="l">
              <a:lnSpc>
                <a:spcPct val="150000"/>
              </a:lnSpc>
              <a:spcBef>
                <a:spcPts val="0"/>
              </a:spcBef>
              <a:spcAft>
                <a:spcPts val="0"/>
              </a:spcAft>
              <a:buSzPts val="1800"/>
              <a:buNone/>
            </a:pPr>
            <a:r>
              <a:rPr lang="en-GB" sz="1400">
                <a:solidFill>
                  <a:schemeClr val="dk1"/>
                </a:solidFill>
              </a:rPr>
              <a:t>N1, N2, N3 → no.of elements in the respective set</a:t>
            </a:r>
            <a:endParaRPr sz="1400">
              <a:solidFill>
                <a:schemeClr val="dk1"/>
              </a:solidFill>
            </a:endParaRPr>
          </a:p>
          <a:p>
            <a:pPr indent="0" lvl="0" marL="457200" rtl="0" algn="l">
              <a:lnSpc>
                <a:spcPct val="150000"/>
              </a:lnSpc>
              <a:spcBef>
                <a:spcPts val="0"/>
              </a:spcBef>
              <a:spcAft>
                <a:spcPts val="0"/>
              </a:spcAft>
              <a:buSzPts val="1800"/>
              <a:buNone/>
            </a:pPr>
            <a:r>
              <a:rPr lang="en-GB" sz="1400">
                <a:solidFill>
                  <a:schemeClr val="dk1"/>
                </a:solidFill>
              </a:rPr>
              <a:t>A1, A2, A3 → Average of the respective set</a:t>
            </a:r>
            <a:endParaRPr sz="1400">
              <a:solidFill>
                <a:schemeClr val="dk1"/>
              </a:solidFill>
            </a:endParaRPr>
          </a:p>
        </p:txBody>
      </p:sp>
      <p:sp>
        <p:nvSpPr>
          <p:cNvPr id="121" name="Google Shape;121;g140781e0cf6_0_154"/>
          <p:cNvSpPr txBox="1"/>
          <p:nvPr/>
        </p:nvSpPr>
        <p:spPr>
          <a:xfrm>
            <a:off x="720000" y="630000"/>
            <a:ext cx="6234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000"/>
              <a:buFont typeface="Arial"/>
              <a:buNone/>
            </a:pPr>
            <a:r>
              <a:rPr b="1" i="0" lang="en-GB" sz="3000" u="none" cap="none" strike="noStrike">
                <a:solidFill>
                  <a:srgbClr val="8181EF"/>
                </a:solidFill>
                <a:latin typeface="Roboto"/>
                <a:ea typeface="Roboto"/>
                <a:cs typeface="Roboto"/>
                <a:sym typeface="Roboto"/>
              </a:rPr>
              <a:t>AVERAGES, WEIGHTED AVERAGES</a:t>
            </a:r>
            <a:endParaRPr b="1" i="0" sz="3000" u="none" cap="none" strike="noStrike">
              <a:solidFill>
                <a:srgbClr val="8181E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140781e0cf6_0_248"/>
          <p:cNvSpPr txBox="1"/>
          <p:nvPr/>
        </p:nvSpPr>
        <p:spPr>
          <a:xfrm>
            <a:off x="720000" y="1440000"/>
            <a:ext cx="8095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of first 10 odd numbers is?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11</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12</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13</a:t>
            </a:r>
            <a:endParaRPr i="0" sz="1600" u="none" cap="none" strike="noStrike">
              <a:solidFill>
                <a:schemeClr val="dk1"/>
              </a:solidFill>
              <a:latin typeface="Roboto"/>
              <a:ea typeface="Roboto"/>
              <a:cs typeface="Roboto"/>
              <a:sym typeface="Roboto"/>
            </a:endParaRPr>
          </a:p>
        </p:txBody>
      </p:sp>
      <p:sp>
        <p:nvSpPr>
          <p:cNvPr id="127" name="Google Shape;127;g140781e0cf6_0_24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28" name="Google Shape;128;g140781e0cf6_0_24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a:t>
            </a:r>
            <a:r>
              <a:rPr b="1" lang="en-GB" sz="2000">
                <a:solidFill>
                  <a:srgbClr val="8182EF"/>
                </a:solidFill>
                <a:latin typeface="Roboto"/>
                <a:ea typeface="Roboto"/>
                <a:cs typeface="Roboto"/>
                <a:sym typeface="Roboto"/>
              </a:rPr>
              <a:t>: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 name="Shape 132"/>
        <p:cNvGrpSpPr/>
        <p:nvPr/>
      </p:nvGrpSpPr>
      <p:grpSpPr>
        <a:xfrm>
          <a:off x="0" y="0"/>
          <a:ext cx="0" cy="0"/>
          <a:chOff x="0" y="0"/>
          <a:chExt cx="0" cy="0"/>
        </a:xfrm>
      </p:grpSpPr>
      <p:sp>
        <p:nvSpPr>
          <p:cNvPr id="133" name="Google Shape;133;g140781e0cf6_0_261"/>
          <p:cNvSpPr txBox="1"/>
          <p:nvPr/>
        </p:nvSpPr>
        <p:spPr>
          <a:xfrm>
            <a:off x="720000" y="1440001"/>
            <a:ext cx="80328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The average of first n odd number is 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Therefore answer  is 10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And The average of first n even number is n + 1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Refer Notes!</a:t>
            </a:r>
            <a:endParaRPr b="0" i="0" sz="1400" u="none" cap="none" strike="noStrike">
              <a:solidFill>
                <a:schemeClr val="dk1"/>
              </a:solidFill>
              <a:latin typeface="Roboto"/>
              <a:ea typeface="Roboto"/>
              <a:cs typeface="Roboto"/>
              <a:sym typeface="Roboto"/>
            </a:endParaRPr>
          </a:p>
        </p:txBody>
      </p:sp>
      <p:sp>
        <p:nvSpPr>
          <p:cNvPr id="134" name="Google Shape;134;g140781e0cf6_0_26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10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Effect filter="fade" transition="in">
                                      <p:cBhvr>
                                        <p:cTn dur="1000"/>
                                        <p:tgtEl>
                                          <p:spTgt spid="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Effect filter="fade" transition="in">
                                      <p:cBhvr>
                                        <p:cTn dur="1000"/>
                                        <p:tgtEl>
                                          <p:spTgt spid="1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animEffect filter="fade" transition="in">
                                      <p:cBhvr>
                                        <p:cTn dur="1000"/>
                                        <p:tgtEl>
                                          <p:spTgt spid="1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animEffect filter="fade" transition="in">
                                      <p:cBhvr>
                                        <p:cTn dur="1000"/>
                                        <p:tgtEl>
                                          <p:spTgt spid="13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140781e0cf6_0_276"/>
          <p:cNvSpPr txBox="1"/>
          <p:nvPr/>
        </p:nvSpPr>
        <p:spPr>
          <a:xfrm>
            <a:off x="720000" y="1440000"/>
            <a:ext cx="8095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i="0" lang="en-GB" sz="1600" u="none" cap="none" strike="noStrike">
                <a:solidFill>
                  <a:schemeClr val="dk1"/>
                </a:solidFill>
                <a:latin typeface="Roboto"/>
                <a:ea typeface="Roboto"/>
                <a:cs typeface="Roboto"/>
                <a:sym typeface="Roboto"/>
              </a:rPr>
              <a:t>The mean weight of 150 students in a certain class is 60kg. The mean weight of boys in the class is 70kg and that of girls if 55kg, then find the number of boys?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50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70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80</a:t>
            </a:r>
            <a:endParaRPr i="0" sz="1600" u="none" cap="none" strike="noStrike">
              <a:solidFill>
                <a:schemeClr val="dk1"/>
              </a:solidFill>
              <a:latin typeface="Roboto"/>
              <a:ea typeface="Roboto"/>
              <a:cs typeface="Roboto"/>
              <a:sym typeface="Roboto"/>
            </a:endParaRPr>
          </a:p>
        </p:txBody>
      </p:sp>
      <p:sp>
        <p:nvSpPr>
          <p:cNvPr id="140" name="Google Shape;140;g140781e0cf6_0_27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41" name="Google Shape;141;g140781e0cf6_0_27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g140781e0cf6_0_285"/>
          <p:cNvSpPr txBox="1"/>
          <p:nvPr/>
        </p:nvSpPr>
        <p:spPr>
          <a:xfrm>
            <a:off x="720000" y="1440000"/>
            <a:ext cx="8032800" cy="246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Using the weighted average concept we have,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Wa = (B*Bg+G*Ag)/(B+G)</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We have, B = 70; G = 55; B+G = 150 and (B+G)a = 60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Substituting we get,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60 = (B*70+G*55)/150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1800 = 14B+11G…………(2)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Let B+G = 150 …………(1)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From 1 and 2, we get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B = 50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GB" sz="1400" u="none" cap="none" strike="noStrike">
                <a:solidFill>
                  <a:schemeClr val="dk1"/>
                </a:solidFill>
                <a:latin typeface="Roboto"/>
                <a:ea typeface="Roboto"/>
                <a:cs typeface="Roboto"/>
                <a:sym typeface="Roboto"/>
              </a:rPr>
              <a:t>G = 100</a:t>
            </a:r>
            <a:endParaRPr b="0" i="0" sz="1400" u="none" cap="none" strike="noStrike">
              <a:solidFill>
                <a:schemeClr val="dk1"/>
              </a:solidFill>
              <a:latin typeface="Roboto"/>
              <a:ea typeface="Roboto"/>
              <a:cs typeface="Roboto"/>
              <a:sym typeface="Roboto"/>
            </a:endParaRPr>
          </a:p>
        </p:txBody>
      </p:sp>
      <p:sp>
        <p:nvSpPr>
          <p:cNvPr id="147" name="Google Shape;147;g140781e0cf6_0_28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10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10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10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10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10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10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Effect filter="fade" transition="in">
                                      <p:cBhvr>
                                        <p:cTn dur="1000"/>
                                        <p:tgtEl>
                                          <p:spTgt spid="1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7" st="7"/>
                                            </p:txEl>
                                          </p:spTgt>
                                        </p:tgtEl>
                                        <p:attrNameLst>
                                          <p:attrName>style.visibility</p:attrName>
                                        </p:attrNameLst>
                                      </p:cBhvr>
                                      <p:to>
                                        <p:strVal val="visible"/>
                                      </p:to>
                                    </p:set>
                                    <p:animEffect filter="fade" transition="in">
                                      <p:cBhvr>
                                        <p:cTn dur="1000"/>
                                        <p:tgtEl>
                                          <p:spTgt spid="1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8" st="8"/>
                                            </p:txEl>
                                          </p:spTgt>
                                        </p:tgtEl>
                                        <p:attrNameLst>
                                          <p:attrName>style.visibility</p:attrName>
                                        </p:attrNameLst>
                                      </p:cBhvr>
                                      <p:to>
                                        <p:strVal val="visible"/>
                                      </p:to>
                                    </p:set>
                                    <p:animEffect filter="fade" transition="in">
                                      <p:cBhvr>
                                        <p:cTn dur="1000"/>
                                        <p:tgtEl>
                                          <p:spTgt spid="14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9" st="9"/>
                                            </p:txEl>
                                          </p:spTgt>
                                        </p:tgtEl>
                                        <p:attrNameLst>
                                          <p:attrName>style.visibility</p:attrName>
                                        </p:attrNameLst>
                                      </p:cBhvr>
                                      <p:to>
                                        <p:strVal val="visible"/>
                                      </p:to>
                                    </p:set>
                                    <p:animEffect filter="fade" transition="in">
                                      <p:cBhvr>
                                        <p:cTn dur="1000"/>
                                        <p:tgtEl>
                                          <p:spTgt spid="14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0" st="10"/>
                                            </p:txEl>
                                          </p:spTgt>
                                        </p:tgtEl>
                                        <p:attrNameLst>
                                          <p:attrName>style.visibility</p:attrName>
                                        </p:attrNameLst>
                                      </p:cBhvr>
                                      <p:to>
                                        <p:strVal val="visible"/>
                                      </p:to>
                                    </p:set>
                                    <p:animEffect filter="fade" transition="in">
                                      <p:cBhvr>
                                        <p:cTn dur="1000"/>
                                        <p:tgtEl>
                                          <p:spTgt spid="14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40781e0cf6_0_294"/>
          <p:cNvSpPr txBox="1"/>
          <p:nvPr/>
        </p:nvSpPr>
        <p:spPr>
          <a:xfrm>
            <a:off x="720000" y="1440000"/>
            <a:ext cx="8095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of 11 numbers is 10.9. If the average of first six is 10.5 and that of the last six is 11.4 the sixth number is ?</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11.0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11.3</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11.4</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11.5</a:t>
            </a:r>
            <a:endParaRPr i="0" sz="1600" u="none" cap="none" strike="noStrike">
              <a:solidFill>
                <a:schemeClr val="dk1"/>
              </a:solidFill>
              <a:latin typeface="Roboto"/>
              <a:ea typeface="Roboto"/>
              <a:cs typeface="Roboto"/>
              <a:sym typeface="Roboto"/>
            </a:endParaRPr>
          </a:p>
        </p:txBody>
      </p:sp>
      <p:sp>
        <p:nvSpPr>
          <p:cNvPr id="153" name="Google Shape;153;g140781e0cf6_0_29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154" name="Google Shape;154;g140781e0cf6_0_2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 name="Shape 158"/>
        <p:cNvGrpSpPr/>
        <p:nvPr/>
      </p:nvGrpSpPr>
      <p:grpSpPr>
        <a:xfrm>
          <a:off x="0" y="0"/>
          <a:ext cx="0" cy="0"/>
          <a:chOff x="0" y="0"/>
          <a:chExt cx="0" cy="0"/>
        </a:xfrm>
      </p:grpSpPr>
      <p:sp>
        <p:nvSpPr>
          <p:cNvPr id="159" name="Google Shape;159;g140781e0cf6_0_302"/>
          <p:cNvSpPr txBox="1"/>
          <p:nvPr/>
        </p:nvSpPr>
        <p:spPr>
          <a:xfrm>
            <a:off x="720000" y="1440000"/>
            <a:ext cx="80328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Explanation: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 to 11 = 11 * 10.9 = 119.9</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 to 6 = 6 * 10.5 = 63</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6 to 11 = 6 * 11.4 = 68.4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63 + 68.4 = 131.4 – 119.9 = 11.5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6th number = 11.5</a:t>
            </a:r>
            <a:endParaRPr b="0" i="0" sz="1400" u="none" cap="none" strike="noStrike">
              <a:solidFill>
                <a:schemeClr val="dk1"/>
              </a:solidFill>
              <a:latin typeface="Roboto"/>
              <a:ea typeface="Roboto"/>
              <a:cs typeface="Roboto"/>
              <a:sym typeface="Roboto"/>
            </a:endParaRPr>
          </a:p>
        </p:txBody>
      </p:sp>
      <p:sp>
        <p:nvSpPr>
          <p:cNvPr id="160" name="Google Shape;160;g140781e0cf6_0_30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Effect filter="fade" transition="in">
                                      <p:cBhvr>
                                        <p:cTn dur="1000"/>
                                        <p:tgtEl>
                                          <p:spTgt spid="1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animEffect filter="fade" transition="in">
                                      <p:cBhvr>
                                        <p:cTn dur="1000"/>
                                        <p:tgtEl>
                                          <p:spTgt spid="1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animEffect filter="fade" transition="in">
                                      <p:cBhvr>
                                        <p:cTn dur="1000"/>
                                        <p:tgtEl>
                                          <p:spTgt spid="1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animEffect filter="fade" transition="in">
                                      <p:cBhvr>
                                        <p:cTn dur="1000"/>
                                        <p:tgtEl>
                                          <p:spTgt spid="1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animEffect filter="fade" transition="in">
                                      <p:cBhvr>
                                        <p:cTn dur="1000"/>
                                        <p:tgtEl>
                                          <p:spTgt spid="1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animEffect filter="fade" transition="in">
                                      <p:cBhvr>
                                        <p:cTn dur="1000"/>
                                        <p:tgtEl>
                                          <p:spTgt spid="15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140781e0cf6_0_311"/>
          <p:cNvSpPr txBox="1"/>
          <p:nvPr/>
        </p:nvSpPr>
        <p:spPr>
          <a:xfrm>
            <a:off x="720000" y="1440000"/>
            <a:ext cx="8095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of 20 numbers is zero. Of them, at the most, how many may be greater than zero?  </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0             </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           </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19</a:t>
            </a:r>
            <a:endParaRPr i="0" sz="1600" u="none" cap="none" strike="noStrike">
              <a:solidFill>
                <a:schemeClr val="dk1"/>
              </a:solidFill>
              <a:latin typeface="Roboto"/>
              <a:ea typeface="Roboto"/>
              <a:cs typeface="Roboto"/>
              <a:sym typeface="Roboto"/>
            </a:endParaRPr>
          </a:p>
        </p:txBody>
      </p:sp>
      <p:sp>
        <p:nvSpPr>
          <p:cNvPr id="166" name="Google Shape;166;g140781e0cf6_0_311"/>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167" name="Google Shape;167;g140781e0cf6_0_31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g140781e0cf6_0_320"/>
          <p:cNvSpPr txBox="1"/>
          <p:nvPr/>
        </p:nvSpPr>
        <p:spPr>
          <a:xfrm>
            <a:off x="720000" y="1440001"/>
            <a:ext cx="80328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Average of 20 numbers = 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 Sum of 20 numbers (0 x 20) = 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It is quite possible that 19 of these numbers may be positive and if their sum is a then 20th number is (-a).</a:t>
            </a:r>
            <a:endParaRPr b="0" i="0" sz="1400" u="none" cap="none" strike="noStrike">
              <a:solidFill>
                <a:schemeClr val="dk1"/>
              </a:solidFill>
              <a:latin typeface="Roboto"/>
              <a:ea typeface="Roboto"/>
              <a:cs typeface="Roboto"/>
              <a:sym typeface="Roboto"/>
            </a:endParaRPr>
          </a:p>
        </p:txBody>
      </p:sp>
      <p:sp>
        <p:nvSpPr>
          <p:cNvPr id="173" name="Google Shape;173;g140781e0cf6_0_32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10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10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1000"/>
                                        <p:tgtEl>
                                          <p:spTgt spid="17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140781e0cf6_0_329"/>
          <p:cNvSpPr txBox="1"/>
          <p:nvPr/>
        </p:nvSpPr>
        <p:spPr>
          <a:xfrm>
            <a:off x="720000" y="1440000"/>
            <a:ext cx="76500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weight of 8 person's increases by 2.5 kg when a new person comes in place of one of them weighing 65 kg. What might be the weight of the new person?</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76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76.5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85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None of these</a:t>
            </a:r>
            <a:endParaRPr i="0" sz="1600" u="none" cap="none" strike="noStrike">
              <a:solidFill>
                <a:schemeClr val="dk1"/>
              </a:solidFill>
              <a:latin typeface="Roboto"/>
              <a:ea typeface="Roboto"/>
              <a:cs typeface="Roboto"/>
              <a:sym typeface="Roboto"/>
            </a:endParaRPr>
          </a:p>
        </p:txBody>
      </p:sp>
      <p:sp>
        <p:nvSpPr>
          <p:cNvPr id="179" name="Google Shape;179;g140781e0cf6_0_329"/>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180" name="Google Shape;180;g140781e0cf6_0_32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g140781e0cf6_0_339"/>
          <p:cNvSpPr txBox="1"/>
          <p:nvPr/>
        </p:nvSpPr>
        <p:spPr>
          <a:xfrm>
            <a:off x="720000" y="1440001"/>
            <a:ext cx="80328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Total weight increased = (8 x 2.5) kg = 20 kg.</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Weight of new person = (65 + 20) kg = 85 kg.</a:t>
            </a:r>
            <a:endParaRPr b="0" i="0" sz="1400" u="none" cap="none" strike="noStrike">
              <a:solidFill>
                <a:schemeClr val="dk1"/>
              </a:solidFill>
              <a:latin typeface="Roboto"/>
              <a:ea typeface="Roboto"/>
              <a:cs typeface="Roboto"/>
              <a:sym typeface="Roboto"/>
            </a:endParaRPr>
          </a:p>
        </p:txBody>
      </p:sp>
      <p:sp>
        <p:nvSpPr>
          <p:cNvPr id="186" name="Google Shape;186;g140781e0cf6_0_3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animEffect filter="fade" transition="in">
                                      <p:cBhvr>
                                        <p:cTn dur="1000"/>
                                        <p:tgtEl>
                                          <p:spTgt spid="185">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140781e0cf6_0_348"/>
          <p:cNvSpPr txBox="1"/>
          <p:nvPr/>
        </p:nvSpPr>
        <p:spPr>
          <a:xfrm>
            <a:off x="720000" y="1440000"/>
            <a:ext cx="76500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monthly income of P and Q is Rs. 5050. The average monthly income of Q and R is Rs. 6250 and the average monthly income of P and R is Rs. 5200. The monthly income of P is: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3500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4050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5000</a:t>
            </a:r>
            <a:endParaRPr i="0" sz="1600" u="none" cap="none" strike="noStrike">
              <a:solidFill>
                <a:schemeClr val="dk1"/>
              </a:solidFill>
              <a:latin typeface="Roboto"/>
              <a:ea typeface="Roboto"/>
              <a:cs typeface="Roboto"/>
              <a:sym typeface="Roboto"/>
            </a:endParaRPr>
          </a:p>
        </p:txBody>
      </p:sp>
      <p:sp>
        <p:nvSpPr>
          <p:cNvPr id="192" name="Google Shape;192;g140781e0cf6_0_34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a:t>
            </a:r>
            <a:endParaRPr b="1" i="0" sz="1400" u="none" cap="none" strike="noStrike">
              <a:solidFill>
                <a:srgbClr val="000000"/>
              </a:solidFill>
              <a:latin typeface="Roboto"/>
              <a:ea typeface="Roboto"/>
              <a:cs typeface="Roboto"/>
              <a:sym typeface="Roboto"/>
            </a:endParaRPr>
          </a:p>
        </p:txBody>
      </p:sp>
      <p:sp>
        <p:nvSpPr>
          <p:cNvPr id="193" name="Google Shape;193;g140781e0cf6_0_34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140781e0cf6_0_357"/>
          <p:cNvSpPr txBox="1"/>
          <p:nvPr/>
        </p:nvSpPr>
        <p:spPr>
          <a:xfrm>
            <a:off x="720000" y="1440000"/>
            <a:ext cx="8032800" cy="187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Let P, Q and R represent their respective monthly incomes. Then, we have: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P + Q = (5050 x 2) = 10100 .... (i)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Q + R = (6250 x 2) = 12500 .... (ii)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P + R = (5200 x 2) = 10400 .... (iii)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Adding (i), (ii) and (iii),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we get:  2(P + Q + R) = 33000  or   P + Q + R = 16500 .... (iv)</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Subtracting (ii) from (iv), we get P = 4000.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P's monthly income = Rs. 4000</a:t>
            </a:r>
            <a:r>
              <a:rPr b="0" i="0" lang="en-GB" sz="1800" u="none" cap="none" strike="noStrike">
                <a:solidFill>
                  <a:schemeClr val="dk1"/>
                </a:solidFill>
                <a:latin typeface="Roboto"/>
                <a:ea typeface="Roboto"/>
                <a:cs typeface="Roboto"/>
                <a:sym typeface="Roboto"/>
              </a:rPr>
              <a:t>.</a:t>
            </a:r>
            <a:endParaRPr b="0" i="0" sz="1800" u="none" cap="none" strike="noStrike">
              <a:solidFill>
                <a:schemeClr val="dk1"/>
              </a:solidFill>
              <a:latin typeface="Roboto"/>
              <a:ea typeface="Roboto"/>
              <a:cs typeface="Roboto"/>
              <a:sym typeface="Roboto"/>
            </a:endParaRPr>
          </a:p>
        </p:txBody>
      </p:sp>
      <p:sp>
        <p:nvSpPr>
          <p:cNvPr id="199" name="Google Shape;199;g140781e0cf6_0_35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10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10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animEffect filter="fade" transition="in">
                                      <p:cBhvr>
                                        <p:cTn dur="1000"/>
                                        <p:tgtEl>
                                          <p:spTgt spid="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animEffect filter="fade" transition="in">
                                      <p:cBhvr>
                                        <p:cTn dur="1000"/>
                                        <p:tgtEl>
                                          <p:spTgt spid="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animEffect filter="fade" transition="in">
                                      <p:cBhvr>
                                        <p:cTn dur="1000"/>
                                        <p:tgtEl>
                                          <p:spTgt spid="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animEffect filter="fade" transition="in">
                                      <p:cBhvr>
                                        <p:cTn dur="1000"/>
                                        <p:tgtEl>
                                          <p:spTgt spid="1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animEffect filter="fade" transition="in">
                                      <p:cBhvr>
                                        <p:cTn dur="1000"/>
                                        <p:tgtEl>
                                          <p:spTgt spid="19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140781e0cf6_0_366"/>
          <p:cNvSpPr txBox="1"/>
          <p:nvPr/>
        </p:nvSpPr>
        <p:spPr>
          <a:xfrm>
            <a:off x="720000" y="1440000"/>
            <a:ext cx="76500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A class of 25 students took a science test. 10 students had an average (arithmetic mean) score of 80. The other students had an average score of 60. What is the average score of the whole class?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68</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72</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45</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98</a:t>
            </a:r>
            <a:endParaRPr i="0" sz="1600" u="none" cap="none" strike="noStrike">
              <a:solidFill>
                <a:schemeClr val="dk1"/>
              </a:solidFill>
              <a:latin typeface="Roboto"/>
              <a:ea typeface="Roboto"/>
              <a:cs typeface="Roboto"/>
              <a:sym typeface="Roboto"/>
            </a:endParaRPr>
          </a:p>
        </p:txBody>
      </p:sp>
      <p:sp>
        <p:nvSpPr>
          <p:cNvPr id="205" name="Google Shape;205;g140781e0cf6_0_36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206" name="Google Shape;206;g140781e0cf6_0_36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0" name="Shape 210"/>
        <p:cNvGrpSpPr/>
        <p:nvPr/>
      </p:nvGrpSpPr>
      <p:grpSpPr>
        <a:xfrm>
          <a:off x="0" y="0"/>
          <a:ext cx="0" cy="0"/>
          <a:chOff x="0" y="0"/>
          <a:chExt cx="0" cy="0"/>
        </a:xfrm>
      </p:grpSpPr>
      <p:sp>
        <p:nvSpPr>
          <p:cNvPr id="211" name="Google Shape;211;g140781e0cf6_0_375"/>
          <p:cNvSpPr txBox="1"/>
          <p:nvPr/>
        </p:nvSpPr>
        <p:spPr>
          <a:xfrm>
            <a:off x="720000" y="1440000"/>
            <a:ext cx="80328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●Step 1: To get the sum of weighted terms, multiply each average by the number of students that had that average and then sum them up.</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●80 × 10 + 60 × 15 = 800 + 900 = 1700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●Step 2: Total number of terms = Total number of students = 25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●Step 3: Using the formula  1700/25 = 68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●Answer: The average score of the whole class is 68.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●Be careful! You will get the wrong answer if you add the two average scores and divide the answer by two.</a:t>
            </a:r>
            <a:endParaRPr b="0" i="0" sz="1400" u="none" cap="none" strike="noStrike">
              <a:solidFill>
                <a:schemeClr val="dk1"/>
              </a:solidFill>
              <a:latin typeface="Roboto"/>
              <a:ea typeface="Roboto"/>
              <a:cs typeface="Roboto"/>
              <a:sym typeface="Roboto"/>
            </a:endParaRPr>
          </a:p>
        </p:txBody>
      </p:sp>
      <p:sp>
        <p:nvSpPr>
          <p:cNvPr id="212" name="Google Shape;212;g140781e0cf6_0_37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Effect filter="fade" transition="in">
                                      <p:cBhvr>
                                        <p:cTn dur="1000"/>
                                        <p:tgtEl>
                                          <p:spTgt spid="2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animEffect filter="fade" transition="in">
                                      <p:cBhvr>
                                        <p:cTn dur="1000"/>
                                        <p:tgtEl>
                                          <p:spTgt spid="2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animEffect filter="fade" transition="in">
                                      <p:cBhvr>
                                        <p:cTn dur="1000"/>
                                        <p:tgtEl>
                                          <p:spTgt spid="2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animEffect filter="fade" transition="in">
                                      <p:cBhvr>
                                        <p:cTn dur="1000"/>
                                        <p:tgtEl>
                                          <p:spTgt spid="2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animEffect filter="fade" transition="in">
                                      <p:cBhvr>
                                        <p:cTn dur="1000"/>
                                        <p:tgtEl>
                                          <p:spTgt spid="2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5" st="5"/>
                                            </p:txEl>
                                          </p:spTgt>
                                        </p:tgtEl>
                                        <p:attrNameLst>
                                          <p:attrName>style.visibility</p:attrName>
                                        </p:attrNameLst>
                                      </p:cBhvr>
                                      <p:to>
                                        <p:strVal val="visible"/>
                                      </p:to>
                                    </p:set>
                                    <p:animEffect filter="fade" transition="in">
                                      <p:cBhvr>
                                        <p:cTn dur="1000"/>
                                        <p:tgtEl>
                                          <p:spTgt spid="21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40781e0cf6_0_384"/>
          <p:cNvSpPr txBox="1"/>
          <p:nvPr/>
        </p:nvSpPr>
        <p:spPr>
          <a:xfrm>
            <a:off x="720000" y="1440000"/>
            <a:ext cx="8095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weight of A, B and C is 45 kg. If the average weight of A and B be 40 kg and that of B and C be 43 kg, then the weight of B is: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17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20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26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31 kg</a:t>
            </a:r>
            <a:endParaRPr i="0" sz="1600" u="none" cap="none" strike="noStrike">
              <a:solidFill>
                <a:schemeClr val="dk1"/>
              </a:solidFill>
              <a:latin typeface="Roboto"/>
              <a:ea typeface="Roboto"/>
              <a:cs typeface="Roboto"/>
              <a:sym typeface="Roboto"/>
            </a:endParaRPr>
          </a:p>
        </p:txBody>
      </p:sp>
      <p:sp>
        <p:nvSpPr>
          <p:cNvPr id="218" name="Google Shape;218;g140781e0cf6_0_38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219" name="Google Shape;219;g140781e0cf6_0_38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g140781e0cf6_0_393"/>
          <p:cNvSpPr txBox="1"/>
          <p:nvPr/>
        </p:nvSpPr>
        <p:spPr>
          <a:xfrm>
            <a:off x="720000" y="1440000"/>
            <a:ext cx="80328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Explanation: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Let A, B, C represent their respective weights. Then, we have: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 + B + C = (45 x 3) = 135 .... (i)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 + B = (40 x 2) = 80 .... (ii)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B + C = (43 x 2) = 86 ....(iii)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Adding (ii) and (iii), we get: A + 2B + C = 166 .... (iv)</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Subtracting (i) from (iv), we get : B = 31.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 B's weight = 31 kg.</a:t>
            </a:r>
            <a:endParaRPr b="0" i="0" sz="1400" u="none" cap="none" strike="noStrike">
              <a:solidFill>
                <a:schemeClr val="dk1"/>
              </a:solidFill>
              <a:latin typeface="Roboto"/>
              <a:ea typeface="Roboto"/>
              <a:cs typeface="Roboto"/>
              <a:sym typeface="Roboto"/>
            </a:endParaRPr>
          </a:p>
        </p:txBody>
      </p:sp>
      <p:sp>
        <p:nvSpPr>
          <p:cNvPr id="225" name="Google Shape;225;g140781e0cf6_0_39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0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1000"/>
                                        <p:tgtEl>
                                          <p:spTgt spid="2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7" st="7"/>
                                            </p:txEl>
                                          </p:spTgt>
                                        </p:tgtEl>
                                        <p:attrNameLst>
                                          <p:attrName>style.visibility</p:attrName>
                                        </p:attrNameLst>
                                      </p:cBhvr>
                                      <p:to>
                                        <p:strVal val="visible"/>
                                      </p:to>
                                    </p:set>
                                    <p:animEffect filter="fade" transition="in">
                                      <p:cBhvr>
                                        <p:cTn dur="1000"/>
                                        <p:tgtEl>
                                          <p:spTgt spid="22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140781e0cf6_0_404"/>
          <p:cNvSpPr txBox="1"/>
          <p:nvPr/>
        </p:nvSpPr>
        <p:spPr>
          <a:xfrm>
            <a:off x="720000" y="1440000"/>
            <a:ext cx="76500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of 5 quantities is 6. The average of 3 of them is 8. What is the average of the remaining two numbers?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6.5</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3.5</a:t>
            </a:r>
            <a:endParaRPr i="0" sz="1600" u="none" cap="none" strike="noStrike">
              <a:solidFill>
                <a:schemeClr val="dk1"/>
              </a:solidFill>
              <a:latin typeface="Roboto"/>
              <a:ea typeface="Roboto"/>
              <a:cs typeface="Roboto"/>
              <a:sym typeface="Roboto"/>
            </a:endParaRPr>
          </a:p>
        </p:txBody>
      </p:sp>
      <p:sp>
        <p:nvSpPr>
          <p:cNvPr id="231" name="Google Shape;231;g140781e0cf6_0_40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232" name="Google Shape;232;g140781e0cf6_0_40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g140781e0cf6_0_413"/>
          <p:cNvSpPr txBox="1"/>
          <p:nvPr/>
        </p:nvSpPr>
        <p:spPr>
          <a:xfrm>
            <a:off x="720000" y="1440000"/>
            <a:ext cx="8032800" cy="169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300" u="none" cap="none" strike="noStrike">
                <a:solidFill>
                  <a:schemeClr val="dk1"/>
                </a:solidFill>
                <a:latin typeface="Roboto"/>
                <a:ea typeface="Roboto"/>
                <a:cs typeface="Roboto"/>
                <a:sym typeface="Roboto"/>
              </a:rPr>
              <a:t>The average of 5 quantities is 6.</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300" u="none" cap="none" strike="noStrike">
                <a:solidFill>
                  <a:schemeClr val="dk1"/>
                </a:solidFill>
                <a:latin typeface="Roboto"/>
                <a:ea typeface="Roboto"/>
                <a:cs typeface="Roboto"/>
                <a:sym typeface="Roboto"/>
              </a:rPr>
              <a:t>Therefore, the sum of the 5 quantities is 5 * 6 = 30.</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300" u="none" cap="none" strike="noStrike">
                <a:solidFill>
                  <a:schemeClr val="dk1"/>
                </a:solidFill>
                <a:latin typeface="Roboto"/>
                <a:ea typeface="Roboto"/>
                <a:cs typeface="Roboto"/>
                <a:sym typeface="Roboto"/>
              </a:rPr>
              <a:t>The average of three of these 5 quantities is 8.</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300" u="none" cap="none" strike="noStrike">
                <a:solidFill>
                  <a:schemeClr val="dk1"/>
                </a:solidFill>
                <a:latin typeface="Roboto"/>
                <a:ea typeface="Roboto"/>
                <a:cs typeface="Roboto"/>
                <a:sym typeface="Roboto"/>
              </a:rPr>
              <a:t>Therefore, the sum of these three quantities = 3 * 8 = 24</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300" u="none" cap="none" strike="noStrike">
                <a:solidFill>
                  <a:schemeClr val="dk1"/>
                </a:solidFill>
                <a:latin typeface="Roboto"/>
                <a:ea typeface="Roboto"/>
                <a:cs typeface="Roboto"/>
                <a:sym typeface="Roboto"/>
              </a:rPr>
              <a:t>The sum of the remaining two quantities = 30 - 24 = 6.</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300" u="none" cap="none" strike="noStrike">
                <a:solidFill>
                  <a:schemeClr val="dk1"/>
                </a:solidFill>
                <a:latin typeface="Roboto"/>
                <a:ea typeface="Roboto"/>
                <a:cs typeface="Roboto"/>
                <a:sym typeface="Roboto"/>
              </a:rPr>
              <a:t>Average of these two quantities = 3</a:t>
            </a:r>
            <a:endParaRPr b="0" i="0" sz="1300" u="none" cap="none" strike="noStrike">
              <a:solidFill>
                <a:schemeClr val="dk1"/>
              </a:solidFill>
              <a:latin typeface="Roboto"/>
              <a:ea typeface="Roboto"/>
              <a:cs typeface="Roboto"/>
              <a:sym typeface="Roboto"/>
            </a:endParaRPr>
          </a:p>
        </p:txBody>
      </p:sp>
      <p:sp>
        <p:nvSpPr>
          <p:cNvPr id="238" name="Google Shape;238;g140781e0cf6_0_41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1000"/>
                                        <p:tgtEl>
                                          <p:spTgt spid="2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Effect filter="fade" transition="in">
                                      <p:cBhvr>
                                        <p:cTn dur="1000"/>
                                        <p:tgtEl>
                                          <p:spTgt spid="2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Effect filter="fade" transition="in">
                                      <p:cBhvr>
                                        <p:cTn dur="1000"/>
                                        <p:tgtEl>
                                          <p:spTgt spid="2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Effect filter="fade" transition="in">
                                      <p:cBhvr>
                                        <p:cTn dur="1000"/>
                                        <p:tgtEl>
                                          <p:spTgt spid="2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animEffect filter="fade" transition="in">
                                      <p:cBhvr>
                                        <p:cTn dur="1000"/>
                                        <p:tgtEl>
                                          <p:spTgt spid="2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animEffect filter="fade" transition="in">
                                      <p:cBhvr>
                                        <p:cTn dur="1000"/>
                                        <p:tgtEl>
                                          <p:spTgt spid="2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animEffect filter="fade" transition="in">
                                      <p:cBhvr>
                                        <p:cTn dur="1000"/>
                                        <p:tgtEl>
                                          <p:spTgt spid="2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7" st="7"/>
                                            </p:txEl>
                                          </p:spTgt>
                                        </p:tgtEl>
                                        <p:attrNameLst>
                                          <p:attrName>style.visibility</p:attrName>
                                        </p:attrNameLst>
                                      </p:cBhvr>
                                      <p:to>
                                        <p:strVal val="visible"/>
                                      </p:to>
                                    </p:set>
                                    <p:animEffect filter="fade" transition="in">
                                      <p:cBhvr>
                                        <p:cTn dur="1000"/>
                                        <p:tgtEl>
                                          <p:spTgt spid="23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140781e0cf6_0_422"/>
          <p:cNvSpPr txBox="1"/>
          <p:nvPr/>
        </p:nvSpPr>
        <p:spPr>
          <a:xfrm>
            <a:off x="720000" y="1440000"/>
            <a:ext cx="80952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A class of 25 students took a science test. 10 students had an average (arithmetic mean) score of 80. The other students had an average score of 60. What is the average score of the whole class?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68</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72</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52</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None of these</a:t>
            </a:r>
            <a:endParaRPr i="0" sz="1600" u="none" cap="none" strike="noStrike">
              <a:solidFill>
                <a:schemeClr val="dk1"/>
              </a:solidFill>
              <a:latin typeface="Roboto"/>
              <a:ea typeface="Roboto"/>
              <a:cs typeface="Roboto"/>
              <a:sym typeface="Roboto"/>
            </a:endParaRPr>
          </a:p>
        </p:txBody>
      </p:sp>
      <p:sp>
        <p:nvSpPr>
          <p:cNvPr id="244" name="Google Shape;244;g140781e0cf6_0_42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245" name="Google Shape;245;g140781e0cf6_0_42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g140781e0cf6_0_432"/>
          <p:cNvSpPr txBox="1"/>
          <p:nvPr/>
        </p:nvSpPr>
        <p:spPr>
          <a:xfrm>
            <a:off x="720000" y="1440000"/>
            <a:ext cx="80328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Solution: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Step 1: To get the sum of weighted terms, multiply each average by the number of students that had that average and then sum them up.</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80 × 10 + 60 × 15 = 800 + 900 = 1700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Step 2: Total number of terms = Total number of students = 25</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Step 3: Using the formula</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1700/25 = 68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Answer: The average score of the whole class is 68.</a:t>
            </a:r>
            <a:endParaRPr b="0" i="0" sz="1400" u="none" cap="none" strike="noStrike">
              <a:solidFill>
                <a:schemeClr val="dk1"/>
              </a:solidFill>
              <a:latin typeface="Roboto"/>
              <a:ea typeface="Roboto"/>
              <a:cs typeface="Roboto"/>
              <a:sym typeface="Roboto"/>
            </a:endParaRPr>
          </a:p>
        </p:txBody>
      </p:sp>
      <p:sp>
        <p:nvSpPr>
          <p:cNvPr id="251" name="Google Shape;251;g140781e0cf6_0_43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1000"/>
                                        <p:tgtEl>
                                          <p:spTgt spid="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animEffect filter="fade" transition="in">
                                      <p:cBhvr>
                                        <p:cTn dur="1000"/>
                                        <p:tgtEl>
                                          <p:spTgt spid="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animEffect filter="fade" transition="in">
                                      <p:cBhvr>
                                        <p:cTn dur="1000"/>
                                        <p:tgtEl>
                                          <p:spTgt spid="2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3" st="3"/>
                                            </p:txEl>
                                          </p:spTgt>
                                        </p:tgtEl>
                                        <p:attrNameLst>
                                          <p:attrName>style.visibility</p:attrName>
                                        </p:attrNameLst>
                                      </p:cBhvr>
                                      <p:to>
                                        <p:strVal val="visible"/>
                                      </p:to>
                                    </p:set>
                                    <p:animEffect filter="fade" transition="in">
                                      <p:cBhvr>
                                        <p:cTn dur="1000"/>
                                        <p:tgtEl>
                                          <p:spTgt spid="2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4" st="4"/>
                                            </p:txEl>
                                          </p:spTgt>
                                        </p:tgtEl>
                                        <p:attrNameLst>
                                          <p:attrName>style.visibility</p:attrName>
                                        </p:attrNameLst>
                                      </p:cBhvr>
                                      <p:to>
                                        <p:strVal val="visible"/>
                                      </p:to>
                                    </p:set>
                                    <p:animEffect filter="fade" transition="in">
                                      <p:cBhvr>
                                        <p:cTn dur="1000"/>
                                        <p:tgtEl>
                                          <p:spTgt spid="2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5" st="5"/>
                                            </p:txEl>
                                          </p:spTgt>
                                        </p:tgtEl>
                                        <p:attrNameLst>
                                          <p:attrName>style.visibility</p:attrName>
                                        </p:attrNameLst>
                                      </p:cBhvr>
                                      <p:to>
                                        <p:strVal val="visible"/>
                                      </p:to>
                                    </p:set>
                                    <p:animEffect filter="fade" transition="in">
                                      <p:cBhvr>
                                        <p:cTn dur="1000"/>
                                        <p:tgtEl>
                                          <p:spTgt spid="2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6" st="6"/>
                                            </p:txEl>
                                          </p:spTgt>
                                        </p:tgtEl>
                                        <p:attrNameLst>
                                          <p:attrName>style.visibility</p:attrName>
                                        </p:attrNameLst>
                                      </p:cBhvr>
                                      <p:to>
                                        <p:strVal val="visible"/>
                                      </p:to>
                                    </p:set>
                                    <p:animEffect filter="fade" transition="in">
                                      <p:cBhvr>
                                        <p:cTn dur="1000"/>
                                        <p:tgtEl>
                                          <p:spTgt spid="25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140781e0cf6_0_441"/>
          <p:cNvSpPr txBox="1"/>
          <p:nvPr/>
        </p:nvSpPr>
        <p:spPr>
          <a:xfrm>
            <a:off x="720000" y="1440000"/>
            <a:ext cx="8095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average weight of 16 boys in a class is 50.25 kg and that of the remaining 8 boys is 45.15 kg. Find the average weights of all the boys in the class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47.55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48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48.55 kg</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49.25 kg</a:t>
            </a:r>
            <a:endParaRPr i="0" sz="1600" u="none" cap="none" strike="noStrike">
              <a:solidFill>
                <a:schemeClr val="dk1"/>
              </a:solidFill>
              <a:latin typeface="Roboto"/>
              <a:ea typeface="Roboto"/>
              <a:cs typeface="Roboto"/>
              <a:sym typeface="Roboto"/>
            </a:endParaRPr>
          </a:p>
        </p:txBody>
      </p:sp>
      <p:sp>
        <p:nvSpPr>
          <p:cNvPr id="257" name="Google Shape;257;g140781e0cf6_0_441"/>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258" name="Google Shape;258;g140781e0cf6_0_44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g140781e0cf6_0_449"/>
          <p:cNvSpPr txBox="1"/>
          <p:nvPr/>
        </p:nvSpPr>
        <p:spPr>
          <a:xfrm>
            <a:off x="720003" y="1440006"/>
            <a:ext cx="847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Required average=(50.25 x 16 + 45.15 x 8) /(16 + 8)=(804 + 361.20)/24=1165.20/24= 48.55</a:t>
            </a:r>
            <a:endParaRPr b="0" i="0" sz="1400" u="none" cap="none" strike="noStrike">
              <a:solidFill>
                <a:schemeClr val="dk1"/>
              </a:solidFill>
              <a:latin typeface="Roboto"/>
              <a:ea typeface="Roboto"/>
              <a:cs typeface="Roboto"/>
              <a:sym typeface="Roboto"/>
            </a:endParaRPr>
          </a:p>
        </p:txBody>
      </p:sp>
      <p:sp>
        <p:nvSpPr>
          <p:cNvPr id="264" name="Google Shape;264;g140781e0cf6_0_44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140781e0cf6_0_458"/>
          <p:cNvSpPr txBox="1"/>
          <p:nvPr/>
        </p:nvSpPr>
        <p:spPr>
          <a:xfrm>
            <a:off x="720000" y="1440000"/>
            <a:ext cx="76500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The average age of A and B 10 years ago was 20. The average age of A, B and C today is 30, so what will be the age of C after 5 years.</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25</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55</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45</a:t>
            </a:r>
            <a:endParaRPr b="0"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35</a:t>
            </a:r>
            <a:endParaRPr b="0" i="0" sz="1600" u="none" cap="none" strike="noStrike">
              <a:solidFill>
                <a:schemeClr val="dk1"/>
              </a:solidFill>
              <a:latin typeface="Roboto"/>
              <a:ea typeface="Roboto"/>
              <a:cs typeface="Roboto"/>
              <a:sym typeface="Roboto"/>
            </a:endParaRPr>
          </a:p>
        </p:txBody>
      </p:sp>
      <p:sp>
        <p:nvSpPr>
          <p:cNvPr id="270" name="Google Shape;270;g140781e0cf6_0_45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271" name="Google Shape;271;g140781e0cf6_0_45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sp>
        <p:nvSpPr>
          <p:cNvPr id="276" name="Google Shape;276;p3"/>
          <p:cNvSpPr txBox="1"/>
          <p:nvPr/>
        </p:nvSpPr>
        <p:spPr>
          <a:xfrm>
            <a:off x="720000" y="1440001"/>
            <a:ext cx="80328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Explanation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A+B  = 60.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A,B,C = 90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so Age of C = 30+5 = 35</a:t>
            </a:r>
            <a:endParaRPr b="0" i="0" sz="1400" u="none" cap="none" strike="noStrike">
              <a:solidFill>
                <a:schemeClr val="dk1"/>
              </a:solidFill>
              <a:latin typeface="Roboto"/>
              <a:ea typeface="Roboto"/>
              <a:cs typeface="Roboto"/>
              <a:sym typeface="Roboto"/>
            </a:endParaRPr>
          </a:p>
        </p:txBody>
      </p:sp>
      <p:sp>
        <p:nvSpPr>
          <p:cNvPr id="277" name="Google Shape;277;p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Effect filter="fade" transition="in">
                                      <p:cBhvr>
                                        <p:cTn dur="1000"/>
                                        <p:tgtEl>
                                          <p:spTgt spid="2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animEffect filter="fade" transition="in">
                                      <p:cBhvr>
                                        <p:cTn dur="1000"/>
                                        <p:tgtEl>
                                          <p:spTgt spid="2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animEffect filter="fade" transition="in">
                                      <p:cBhvr>
                                        <p:cTn dur="1000"/>
                                        <p:tgtEl>
                                          <p:spTgt spid="2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animEffect filter="fade" transition="in">
                                      <p:cBhvr>
                                        <p:cTn dur="1000"/>
                                        <p:tgtEl>
                                          <p:spTgt spid="27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
          <p:cNvSpPr txBox="1"/>
          <p:nvPr/>
        </p:nvSpPr>
        <p:spPr>
          <a:xfrm>
            <a:off x="720000" y="1439999"/>
            <a:ext cx="80952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In a group of 8 boys, 2 men aged at 21 and 23 were replaced two new boys. Due to this the average cost of the group increased by 2 years. What is the average age of the 2 new boys?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17</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28</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23  </a:t>
            </a:r>
            <a:endParaRPr i="0" sz="1600" u="none" cap="none" strike="noStrike">
              <a:solidFill>
                <a:schemeClr val="dk1"/>
              </a:solidFill>
              <a:latin typeface="Roboto"/>
              <a:ea typeface="Roboto"/>
              <a:cs typeface="Roboto"/>
              <a:sym typeface="Roboto"/>
            </a:endParaRPr>
          </a:p>
        </p:txBody>
      </p:sp>
      <p:sp>
        <p:nvSpPr>
          <p:cNvPr id="283" name="Google Shape;283;p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a:t>
            </a:r>
            <a:endParaRPr b="1" i="0" sz="1400" u="none" cap="none" strike="noStrike">
              <a:solidFill>
                <a:srgbClr val="000000"/>
              </a:solidFill>
              <a:latin typeface="Roboto"/>
              <a:ea typeface="Roboto"/>
              <a:cs typeface="Roboto"/>
              <a:sym typeface="Roboto"/>
            </a:endParaRPr>
          </a:p>
        </p:txBody>
      </p:sp>
      <p:sp>
        <p:nvSpPr>
          <p:cNvPr id="284" name="Google Shape;284;p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5"/>
          <p:cNvSpPr txBox="1"/>
          <p:nvPr/>
        </p:nvSpPr>
        <p:spPr>
          <a:xfrm>
            <a:off x="737653" y="1384306"/>
            <a:ext cx="84723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Average of 8 boys increased by 2, this means the total age of boys increased by 8*2 = 16 yrs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So sum of ages of two new boys = 21+23+16 = 60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Average of these = 60/2 = 30</a:t>
            </a:r>
            <a:endParaRPr b="0" i="0" sz="1400" u="none" cap="none" strike="noStrike">
              <a:solidFill>
                <a:schemeClr val="dk1"/>
              </a:solidFill>
              <a:latin typeface="Roboto"/>
              <a:ea typeface="Roboto"/>
              <a:cs typeface="Roboto"/>
              <a:sym typeface="Roboto"/>
            </a:endParaRPr>
          </a:p>
        </p:txBody>
      </p:sp>
      <p:sp>
        <p:nvSpPr>
          <p:cNvPr id="290" name="Google Shape;290;p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animEffect filter="fade" transition="in">
                                      <p:cBhvr>
                                        <p:cTn dur="1000"/>
                                        <p:tgtEl>
                                          <p:spTgt spid="2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animEffect filter="fade" transition="in">
                                      <p:cBhvr>
                                        <p:cTn dur="1000"/>
                                        <p:tgtEl>
                                          <p:spTgt spid="2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animEffect filter="fade" transition="in">
                                      <p:cBhvr>
                                        <p:cTn dur="1000"/>
                                        <p:tgtEl>
                                          <p:spTgt spid="28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6"/>
          <p:cNvSpPr txBox="1"/>
          <p:nvPr/>
        </p:nvSpPr>
        <p:spPr>
          <a:xfrm>
            <a:off x="720000" y="1510325"/>
            <a:ext cx="8095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A batsman in his 17th  innings makes a score of 85 and their by increasing his</a:t>
            </a:r>
            <a:endParaRPr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average by 3. What is his average after the 17th  innings? </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34</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35</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36</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37</a:t>
            </a:r>
            <a:endParaRPr i="0" sz="1600" u="none" cap="none" strike="noStrike">
              <a:solidFill>
                <a:schemeClr val="dk1"/>
              </a:solidFill>
              <a:latin typeface="Roboto"/>
              <a:ea typeface="Roboto"/>
              <a:cs typeface="Roboto"/>
              <a:sym typeface="Roboto"/>
            </a:endParaRPr>
          </a:p>
        </p:txBody>
      </p:sp>
      <p:sp>
        <p:nvSpPr>
          <p:cNvPr id="296" name="Google Shape;296;p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297" name="Google Shape;297;p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7"/>
          <p:cNvSpPr txBox="1"/>
          <p:nvPr/>
        </p:nvSpPr>
        <p:spPr>
          <a:xfrm>
            <a:off x="719995" y="1556451"/>
            <a:ext cx="8472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16x + 85 = 17(x + 3)</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x = 34 + 3 = 37</a:t>
            </a:r>
            <a:endParaRPr b="0" i="0" sz="1400" u="none" cap="none" strike="noStrike">
              <a:solidFill>
                <a:schemeClr val="dk1"/>
              </a:solidFill>
              <a:latin typeface="Roboto"/>
              <a:ea typeface="Roboto"/>
              <a:cs typeface="Roboto"/>
              <a:sym typeface="Roboto"/>
            </a:endParaRPr>
          </a:p>
        </p:txBody>
      </p:sp>
      <p:sp>
        <p:nvSpPr>
          <p:cNvPr id="303" name="Google Shape;303;p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1" st="1"/>
                                            </p:txEl>
                                          </p:spTgt>
                                        </p:tgtEl>
                                        <p:attrNameLst>
                                          <p:attrName>style.visibility</p:attrName>
                                        </p:attrNameLst>
                                      </p:cBhvr>
                                      <p:to>
                                        <p:strVal val="visible"/>
                                      </p:to>
                                    </p:set>
                                    <p:animEffect filter="fade" transition="in">
                                      <p:cBhvr>
                                        <p:cTn dur="1000"/>
                                        <p:tgtEl>
                                          <p:spTgt spid="30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40781e0cf6_0_509"/>
          <p:cNvSpPr txBox="1"/>
          <p:nvPr/>
        </p:nvSpPr>
        <p:spPr>
          <a:xfrm>
            <a:off x="720000" y="1440000"/>
            <a:ext cx="80952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There are five times  the number of two wheelers as there are three wheelers. The no of four wheelers are equal to the number of two wheelers. Find the average number of wheel per vehicle ?</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5</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a:t>
            </a:r>
            <a:endParaRPr i="0" sz="1600" u="none" cap="none" strike="noStrike">
              <a:solidFill>
                <a:schemeClr val="dk1"/>
              </a:solidFill>
              <a:latin typeface="Roboto"/>
              <a:ea typeface="Roboto"/>
              <a:cs typeface="Roboto"/>
              <a:sym typeface="Roboto"/>
            </a:endParaRPr>
          </a:p>
        </p:txBody>
      </p:sp>
      <p:sp>
        <p:nvSpPr>
          <p:cNvPr id="309" name="Google Shape;309;g140781e0cf6_0_509"/>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D</a:t>
            </a:r>
            <a:endParaRPr b="1" i="0" sz="1400" u="none" cap="none" strike="noStrike">
              <a:solidFill>
                <a:srgbClr val="000000"/>
              </a:solidFill>
              <a:latin typeface="Roboto"/>
              <a:ea typeface="Roboto"/>
              <a:cs typeface="Roboto"/>
              <a:sym typeface="Roboto"/>
            </a:endParaRPr>
          </a:p>
        </p:txBody>
      </p:sp>
      <p:sp>
        <p:nvSpPr>
          <p:cNvPr id="310" name="Google Shape;310;g140781e0cf6_0_50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g140781e0cf6_0_517"/>
          <p:cNvSpPr txBox="1"/>
          <p:nvPr/>
        </p:nvSpPr>
        <p:spPr>
          <a:xfrm>
            <a:off x="727775" y="1439999"/>
            <a:ext cx="80250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No of 3 wheeler = x, no of wheels = 3x</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No of 2 wheeler = 5x, no of wheels = 10x</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No of 4 wheeler =5x, no of wheels = 20x</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chemeClr val="dk1"/>
                </a:solidFill>
                <a:latin typeface="Roboto"/>
                <a:ea typeface="Roboto"/>
                <a:cs typeface="Roboto"/>
                <a:sym typeface="Roboto"/>
              </a:rPr>
              <a:t>Avg = 3x+10x+20x/x+5x+5x = 33x/11x = 3</a:t>
            </a:r>
            <a:endParaRPr b="0" i="0" sz="1400" u="none" cap="none" strike="noStrike">
              <a:solidFill>
                <a:schemeClr val="dk1"/>
              </a:solidFill>
              <a:latin typeface="Roboto"/>
              <a:ea typeface="Roboto"/>
              <a:cs typeface="Roboto"/>
              <a:sym typeface="Roboto"/>
            </a:endParaRPr>
          </a:p>
        </p:txBody>
      </p:sp>
      <p:sp>
        <p:nvSpPr>
          <p:cNvPr id="316" name="Google Shape;316;g140781e0cf6_0_51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animEffect filter="fade" transition="in">
                                      <p:cBhvr>
                                        <p:cTn dur="1000"/>
                                        <p:tgtEl>
                                          <p:spTgt spid="3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animEffect filter="fade" transition="in">
                                      <p:cBhvr>
                                        <p:cTn dur="1000"/>
                                        <p:tgtEl>
                                          <p:spTgt spid="3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animEffect filter="fade" transition="in">
                                      <p:cBhvr>
                                        <p:cTn dur="1000"/>
                                        <p:tgtEl>
                                          <p:spTgt spid="3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animEffect filter="fade" transition="in">
                                      <p:cBhvr>
                                        <p:cTn dur="1000"/>
                                        <p:tgtEl>
                                          <p:spTgt spid="31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8"/>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22" name="Google Shape;322;p8"/>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23" name="Google Shape;323;p8"/>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29" name="Google Shape;329;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30" name="Google Shape;330;p9"/>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31" name="Google Shape;331;p9"/>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32" name="Google Shape;332;p9"/>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33" name="Google Shape;333;p9"/>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34" name="Google Shape;334;p9"/>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35" name="Google Shape;335;p9"/>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36" name="Google Shape;336;p9"/>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37" name="Google Shape;337;p9"/>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38" name="Google Shape;338;p9"/>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39" name="Google Shape;339;p9"/>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2020-08-03T03:19:00Z</dcterms:created>
  <dc:creator>pooja ram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1033-11.2.0.10233</vt:lpwstr>
  </property>
</Properties>
</file>