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1" r:id="rId5"/>
    <p:sldMasterId id="214748367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y="5143500" cx="9144000"/>
  <p:notesSz cx="6858000" cy="9144000"/>
  <p:embeddedFontLst>
    <p:embeddedFont>
      <p:font typeface="Roboto"/>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54">
          <p15:clr>
            <a:srgbClr val="FF00FF"/>
          </p15:clr>
        </p15:guide>
        <p15:guide id="2" orient="horz" pos="2835">
          <p15:clr>
            <a:srgbClr val="FF0000"/>
          </p15:clr>
        </p15:guide>
        <p15:guide id="3" orient="horz" pos="907">
          <p15:clr>
            <a:srgbClr val="FF0000"/>
          </p15:clr>
        </p15:guide>
        <p15:guide id="4" pos="5329">
          <p15:clr>
            <a:srgbClr val="FF00FF"/>
          </p15:clr>
        </p15:guide>
        <p15:guide id="5" orient="horz" pos="737">
          <p15:clr>
            <a:srgbClr val="00FF00"/>
          </p15:clr>
        </p15:guide>
        <p15:guide id="6" orient="horz" pos="397">
          <p15:clr>
            <a:srgbClr val="00FF00"/>
          </p15:clr>
        </p15:guide>
      </p15:sldGuideLst>
    </p:ext>
    <p:ext uri="GoogleSlidesCustomDataVersion2">
      <go:slidesCustomData xmlns:go="http://customooxmlschemas.google.com/" r:id="rId51" roundtripDataSignature="AMtx7miJpoxEh7A7i26AtiRfbpOqEPi76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4"/>
        <p:guide pos="2835" orient="horz"/>
        <p:guide pos="907" orient="horz"/>
        <p:guide pos="5329"/>
        <p:guide pos="737" orient="horz"/>
        <p:guide pos="397"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font" Target="fonts/Roboto-bold.fntdata"/><Relationship Id="rId47" Type="http://schemas.openxmlformats.org/officeDocument/2006/relationships/font" Target="fonts/Roboto-regular.fntdata"/><Relationship Id="rId49" Type="http://schemas.openxmlformats.org/officeDocument/2006/relationships/font" Target="fonts/Roboto-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customschemas.google.com/relationships/presentationmetadata" Target="metadata"/><Relationship Id="rId50" Type="http://schemas.openxmlformats.org/officeDocument/2006/relationships/font" Target="fonts/Roboto-bold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0TdF_yyNkZk"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0TdF_yyNkZk"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143504614d8_0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
        <p:nvSpPr>
          <p:cNvPr id="146" name="Google Shape;146;g143504614d8_0_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143504614d8_0_3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53" name="Google Shape;153;g143504614d8_0_3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43504614d8_0_3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60" name="Google Shape;160;g143504614d8_0_3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143504614d8_0_3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0"/>
              </a:spcAft>
              <a:buClr>
                <a:schemeClr val="dk1"/>
              </a:buClr>
              <a:buSzPts val="1100"/>
              <a:buFont typeface="Arial"/>
              <a:buNone/>
            </a:pPr>
            <a:r>
              <a:rPr lang="en-GB" u="sng">
                <a:solidFill>
                  <a:schemeClr val="hlink"/>
                </a:solidFill>
                <a:latin typeface="Roboto"/>
                <a:ea typeface="Roboto"/>
                <a:cs typeface="Roboto"/>
                <a:sym typeface="Roboto"/>
                <a:hlinkClick r:id="rId2"/>
              </a:rPr>
              <a:t>https://youtu.be/0TdF_yyNkZk</a:t>
            </a:r>
            <a:r>
              <a:rPr lang="en-GB">
                <a:solidFill>
                  <a:schemeClr val="dk1"/>
                </a:solidFill>
                <a:latin typeface="Roboto"/>
                <a:ea typeface="Roboto"/>
                <a:cs typeface="Roboto"/>
                <a:sym typeface="Roboto"/>
              </a:rPr>
              <a:t>  please refer this link before going to class.</a:t>
            </a:r>
            <a:endParaRPr>
              <a:solidFill>
                <a:schemeClr val="dk1"/>
              </a:solidFill>
              <a:latin typeface="Roboto"/>
              <a:ea typeface="Roboto"/>
              <a:cs typeface="Roboto"/>
              <a:sym typeface="Roboto"/>
            </a:endParaRPr>
          </a:p>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65" name="Google Shape;165;g143504614d8_0_3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43504614d8_0_3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0"/>
              </a:spcAft>
              <a:buSzPts val="1100"/>
              <a:buNone/>
            </a:pPr>
            <a:r>
              <a:rPr lang="en-GB" u="sng">
                <a:solidFill>
                  <a:schemeClr val="hlink"/>
                </a:solidFill>
                <a:latin typeface="Roboto"/>
                <a:ea typeface="Roboto"/>
                <a:cs typeface="Roboto"/>
                <a:sym typeface="Roboto"/>
                <a:hlinkClick r:id="rId2"/>
              </a:rPr>
              <a:t>https://youtu.be/0TdF_yyNkZk</a:t>
            </a:r>
            <a:r>
              <a:rPr lang="en-GB">
                <a:solidFill>
                  <a:schemeClr val="dk1"/>
                </a:solidFill>
                <a:latin typeface="Roboto"/>
                <a:ea typeface="Roboto"/>
                <a:cs typeface="Roboto"/>
                <a:sym typeface="Roboto"/>
              </a:rPr>
              <a:t>  please refer this link before going to class.</a:t>
            </a:r>
            <a:endParaRPr>
              <a:solidFill>
                <a:schemeClr val="dk1"/>
              </a:solidFill>
              <a:latin typeface="Roboto"/>
              <a:ea typeface="Roboto"/>
              <a:cs typeface="Roboto"/>
              <a:sym typeface="Roboto"/>
            </a:endParaRPr>
          </a:p>
          <a:p>
            <a:pPr indent="-457200" lvl="0" marL="457200" rtl="0" algn="l">
              <a:lnSpc>
                <a:spcPct val="100000"/>
              </a:lnSpc>
              <a:spcBef>
                <a:spcPts val="80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70" name="Google Shape;170;g143504614d8_0_3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143504614d8_0_3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g143504614d8_0_3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43504614d8_0_4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g143504614d8_0_4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43504614d8_0_5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g143504614d8_0_5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143504614d8_0_5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g143504614d8_0_5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143504614d8_0_5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g143504614d8_0_5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43504614d8_0_5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g143504614d8_0_5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43504614d8_0_5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g143504614d8_0_5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143504614d8_0_5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g143504614d8_0_5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143504614d8_0_5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g143504614d8_0_5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143504614d8_0_5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2" name="Google Shape;242;g143504614d8_0_5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143504614d8_0_5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g143504614d8_0_5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143504614d8_0_5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g143504614d8_0_5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143504614d8_0_5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g143504614d8_0_5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143504614d8_0_6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g143504614d8_0_6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143504614d8_0_6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8" name="Google Shape;278;g143504614d8_0_6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143504614d8_0_6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 name="Google Shape;286;g143504614d8_0_6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143504614d8_0_6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2" name="Google Shape;292;g143504614d8_0_6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143504614d8_0_6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0" name="Google Shape;300;g143504614d8_0_6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143504614d8_0_6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g143504614d8_0_6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143504614d8_0_6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5" name="Google Shape;315;g143504614d8_0_6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143504614d8_0_6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2" name="Google Shape;322;g143504614d8_0_6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143504614d8_0_6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9" name="Google Shape;329;g143504614d8_0_6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143504614d8_0_6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g143504614d8_0_6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143504614d8_0_6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3" name="Google Shape;343;g143504614d8_0_6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143504614d8_0_7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0" name="Google Shape;350;g143504614d8_0_7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143504614d8_0_7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7" name="Google Shape;357;g143504614d8_0_7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143504614d8_0_7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4" name="Google Shape;364;g143504614d8_0_7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143504614d8_0_7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1" name="Google Shape;371;g143504614d8_0_7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143504614d8_0_7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8" name="Google Shape;378;g143504614d8_0_7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143504614d8_0_7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5" name="Google Shape;385;g143504614d8_0_7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4: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2" name="Google Shape;392;p4: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9" name="Google Shape;39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p:spTree>
      <p:nvGrpSpPr>
        <p:cNvPr id="11" name="Shape 11"/>
        <p:cNvGrpSpPr/>
        <p:nvPr/>
      </p:nvGrpSpPr>
      <p:grpSpPr>
        <a:xfrm>
          <a:off x="0" y="0"/>
          <a:ext cx="0" cy="0"/>
          <a:chOff x="0" y="0"/>
          <a:chExt cx="0" cy="0"/>
        </a:xfrm>
      </p:grpSpPr>
      <p:sp>
        <p:nvSpPr>
          <p:cNvPr id="12" name="Google Shape;12;p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3" name="Google Shape;13;p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 name="Google Shape;14;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 name="Google Shape;17;p4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8" name="Google Shape;18;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4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1" name="Google Shape;21;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42"/>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5" name="Google Shape;25;p42"/>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6" name="Google Shape;26;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4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44"/>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3" name="Google Shape;33;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4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4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39" name="Google Shape;39;p4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4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4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2" name="Google Shape;42;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4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45" name="Google Shape;45;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4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4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9" name="Google Shape;49;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7" name="Shape 57"/>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8" name="Shape 58"/>
        <p:cNvGrpSpPr/>
        <p:nvPr/>
      </p:nvGrpSpPr>
      <p:grpSpPr>
        <a:xfrm>
          <a:off x="0" y="0"/>
          <a:ext cx="0" cy="0"/>
          <a:chOff x="0" y="0"/>
          <a:chExt cx="0" cy="0"/>
        </a:xfrm>
      </p:grpSpPr>
      <p:sp>
        <p:nvSpPr>
          <p:cNvPr id="59" name="Google Shape;59;g143504614d8_0_3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0" name="Google Shape;60;g143504614d8_0_32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61" name="Google Shape;61;g143504614d8_0_3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2" name="Shape 62"/>
        <p:cNvGrpSpPr/>
        <p:nvPr/>
      </p:nvGrpSpPr>
      <p:grpSpPr>
        <a:xfrm>
          <a:off x="0" y="0"/>
          <a:ext cx="0" cy="0"/>
          <a:chOff x="0" y="0"/>
          <a:chExt cx="0" cy="0"/>
        </a:xfrm>
      </p:grpSpPr>
      <p:sp>
        <p:nvSpPr>
          <p:cNvPr id="63" name="Google Shape;63;g143504614d8_0_3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4" name="Google Shape;64;g143504614d8_0_3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5" name="Shape 65"/>
        <p:cNvGrpSpPr/>
        <p:nvPr/>
      </p:nvGrpSpPr>
      <p:grpSpPr>
        <a:xfrm>
          <a:off x="0" y="0"/>
          <a:ext cx="0" cy="0"/>
          <a:chOff x="0" y="0"/>
          <a:chExt cx="0" cy="0"/>
        </a:xfrm>
      </p:grpSpPr>
      <p:sp>
        <p:nvSpPr>
          <p:cNvPr id="66" name="Google Shape;66;g143504614d8_0_33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67" name="Google Shape;67;g143504614d8_0_3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8" name="Shape 68"/>
        <p:cNvGrpSpPr/>
        <p:nvPr/>
      </p:nvGrpSpPr>
      <p:grpSpPr>
        <a:xfrm>
          <a:off x="0" y="0"/>
          <a:ext cx="0" cy="0"/>
          <a:chOff x="0" y="0"/>
          <a:chExt cx="0" cy="0"/>
        </a:xfrm>
      </p:grpSpPr>
      <p:sp>
        <p:nvSpPr>
          <p:cNvPr id="69" name="Google Shape;69;g143504614d8_0_33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70" name="Google Shape;70;g143504614d8_0_33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71" name="Google Shape;71;g143504614d8_0_33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72" name="Google Shape;72;g143504614d8_0_33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73" name="Google Shape;73;g143504614d8_0_3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4" name="Shape 74"/>
        <p:cNvGrpSpPr/>
        <p:nvPr/>
      </p:nvGrpSpPr>
      <p:grpSpPr>
        <a:xfrm>
          <a:off x="0" y="0"/>
          <a:ext cx="0" cy="0"/>
          <a:chOff x="0" y="0"/>
          <a:chExt cx="0" cy="0"/>
        </a:xfrm>
      </p:grpSpPr>
      <p:sp>
        <p:nvSpPr>
          <p:cNvPr id="75" name="Google Shape;75;g143504614d8_0_33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76" name="Google Shape;76;g143504614d8_0_3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7" name="Shape 77"/>
        <p:cNvGrpSpPr/>
        <p:nvPr/>
      </p:nvGrpSpPr>
      <p:grpSpPr>
        <a:xfrm>
          <a:off x="0" y="0"/>
          <a:ext cx="0" cy="0"/>
          <a:chOff x="0" y="0"/>
          <a:chExt cx="0" cy="0"/>
        </a:xfrm>
      </p:grpSpPr>
      <p:sp>
        <p:nvSpPr>
          <p:cNvPr id="78" name="Google Shape;78;g143504614d8_0_34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79" name="Google Shape;79;g143504614d8_0_34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80" name="Google Shape;80;g143504614d8_0_3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81" name="Shape 81"/>
        <p:cNvGrpSpPr/>
        <p:nvPr/>
      </p:nvGrpSpPr>
      <p:grpSpPr>
        <a:xfrm>
          <a:off x="0" y="0"/>
          <a:ext cx="0" cy="0"/>
          <a:chOff x="0" y="0"/>
          <a:chExt cx="0" cy="0"/>
        </a:xfrm>
      </p:grpSpPr>
      <p:pic>
        <p:nvPicPr>
          <p:cNvPr descr="A close up of a logo&#10;&#10;Description generated with high confidence" id="82" name="Google Shape;82;g143504614d8_0_346"/>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sp>
        <p:nvSpPr>
          <p:cNvPr id="83" name="Google Shape;83;g143504614d8_0_346"/>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84" name="Google Shape;84;g143504614d8_0_346"/>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85" name="Google Shape;85;g143504614d8_0_346"/>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86" name="Google Shape;86;g143504614d8_0_346"/>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92" name="Shape 92"/>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3" name="Shape 93"/>
        <p:cNvGrpSpPr/>
        <p:nvPr/>
      </p:nvGrpSpPr>
      <p:grpSpPr>
        <a:xfrm>
          <a:off x="0" y="0"/>
          <a:ext cx="0" cy="0"/>
          <a:chOff x="0" y="0"/>
          <a:chExt cx="0" cy="0"/>
        </a:xfrm>
      </p:grpSpPr>
      <p:sp>
        <p:nvSpPr>
          <p:cNvPr id="94" name="Google Shape;94;g143504614d8_0_47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5" name="Google Shape;95;g143504614d8_0_47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96" name="Google Shape;96;g143504614d8_0_47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7" name="Shape 97"/>
        <p:cNvGrpSpPr/>
        <p:nvPr/>
      </p:nvGrpSpPr>
      <p:grpSpPr>
        <a:xfrm>
          <a:off x="0" y="0"/>
          <a:ext cx="0" cy="0"/>
          <a:chOff x="0" y="0"/>
          <a:chExt cx="0" cy="0"/>
        </a:xfrm>
      </p:grpSpPr>
      <p:sp>
        <p:nvSpPr>
          <p:cNvPr id="98" name="Google Shape;98;g143504614d8_0_8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9" name="Google Shape;99;g143504614d8_0_842"/>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0" name="Google Shape;100;g143504614d8_0_842"/>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1" name="Google Shape;101;g143504614d8_0_8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2" name="Shape 102"/>
        <p:cNvGrpSpPr/>
        <p:nvPr/>
      </p:nvGrpSpPr>
      <p:grpSpPr>
        <a:xfrm>
          <a:off x="0" y="0"/>
          <a:ext cx="0" cy="0"/>
          <a:chOff x="0" y="0"/>
          <a:chExt cx="0" cy="0"/>
        </a:xfrm>
      </p:grpSpPr>
      <p:sp>
        <p:nvSpPr>
          <p:cNvPr id="103" name="Google Shape;103;g143504614d8_0_84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04" name="Google Shape;104;g143504614d8_0_84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05" name="Google Shape;105;g143504614d8_0_8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6" name="Shape 106"/>
        <p:cNvGrpSpPr/>
        <p:nvPr/>
      </p:nvGrpSpPr>
      <p:grpSpPr>
        <a:xfrm>
          <a:off x="0" y="0"/>
          <a:ext cx="0" cy="0"/>
          <a:chOff x="0" y="0"/>
          <a:chExt cx="0" cy="0"/>
        </a:xfrm>
      </p:grpSpPr>
      <p:sp>
        <p:nvSpPr>
          <p:cNvPr id="107" name="Google Shape;107;g143504614d8_0_48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8" name="Google Shape;108;g143504614d8_0_48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9" name="Shape 109"/>
        <p:cNvGrpSpPr/>
        <p:nvPr/>
      </p:nvGrpSpPr>
      <p:grpSpPr>
        <a:xfrm>
          <a:off x="0" y="0"/>
          <a:ext cx="0" cy="0"/>
          <a:chOff x="0" y="0"/>
          <a:chExt cx="0" cy="0"/>
        </a:xfrm>
      </p:grpSpPr>
      <p:sp>
        <p:nvSpPr>
          <p:cNvPr id="110" name="Google Shape;110;g143504614d8_0_48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11" name="Google Shape;111;g143504614d8_0_48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2" name="Shape 112"/>
        <p:cNvGrpSpPr/>
        <p:nvPr/>
      </p:nvGrpSpPr>
      <p:grpSpPr>
        <a:xfrm>
          <a:off x="0" y="0"/>
          <a:ext cx="0" cy="0"/>
          <a:chOff x="0" y="0"/>
          <a:chExt cx="0" cy="0"/>
        </a:xfrm>
      </p:grpSpPr>
      <p:sp>
        <p:nvSpPr>
          <p:cNvPr id="113" name="Google Shape;113;g143504614d8_0_48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14" name="Google Shape;114;g143504614d8_0_48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15" name="Google Shape;115;g143504614d8_0_48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16" name="Google Shape;116;g143504614d8_0_48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17" name="Google Shape;117;g143504614d8_0_48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8" name="Shape 118"/>
        <p:cNvGrpSpPr/>
        <p:nvPr/>
      </p:nvGrpSpPr>
      <p:grpSpPr>
        <a:xfrm>
          <a:off x="0" y="0"/>
          <a:ext cx="0" cy="0"/>
          <a:chOff x="0" y="0"/>
          <a:chExt cx="0" cy="0"/>
        </a:xfrm>
      </p:grpSpPr>
      <p:sp>
        <p:nvSpPr>
          <p:cNvPr id="119" name="Google Shape;119;g143504614d8_0_49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120" name="Google Shape;120;g143504614d8_0_49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1" name="Shape 121"/>
        <p:cNvGrpSpPr/>
        <p:nvPr/>
      </p:nvGrpSpPr>
      <p:grpSpPr>
        <a:xfrm>
          <a:off x="0" y="0"/>
          <a:ext cx="0" cy="0"/>
          <a:chOff x="0" y="0"/>
          <a:chExt cx="0" cy="0"/>
        </a:xfrm>
      </p:grpSpPr>
      <p:sp>
        <p:nvSpPr>
          <p:cNvPr id="122" name="Google Shape;122;g143504614d8_0_49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23" name="Google Shape;123;g143504614d8_0_49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124" name="Google Shape;124;g143504614d8_0_49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125" name="Shape 125"/>
        <p:cNvGrpSpPr/>
        <p:nvPr/>
      </p:nvGrpSpPr>
      <p:grpSpPr>
        <a:xfrm>
          <a:off x="0" y="0"/>
          <a:ext cx="0" cy="0"/>
          <a:chOff x="0" y="0"/>
          <a:chExt cx="0" cy="0"/>
        </a:xfrm>
      </p:grpSpPr>
      <p:pic>
        <p:nvPicPr>
          <p:cNvPr descr="A close up of a logo&#10;&#10;Description generated with high confidence" id="126" name="Google Shape;126;g143504614d8_0_502"/>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sp>
        <p:nvSpPr>
          <p:cNvPr id="127" name="Google Shape;127;g143504614d8_0_502"/>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128" name="Google Shape;128;g143504614d8_0_502"/>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129" name="Google Shape;129;g143504614d8_0_502"/>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130" name="Google Shape;130;g143504614d8_0_502"/>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0" Type="http://schemas.openxmlformats.org/officeDocument/2006/relationships/theme" Target="../theme/theme4.xml"/><Relationship Id="rId1" Type="http://schemas.openxmlformats.org/officeDocument/2006/relationships/image" Target="../media/image2.jpg"/><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0.xml"/><Relationship Id="rId10" Type="http://schemas.openxmlformats.org/officeDocument/2006/relationships/slideLayout" Target="../slideLayouts/slideLayout29.xml"/><Relationship Id="rId12" Type="http://schemas.openxmlformats.org/officeDocument/2006/relationships/theme" Target="../theme/theme3.xml"/><Relationship Id="rId1" Type="http://schemas.openxmlformats.org/officeDocument/2006/relationships/image" Target="../media/image2.jpg"/><Relationship Id="rId2" Type="http://schemas.openxmlformats.org/officeDocument/2006/relationships/slideLayout" Target="../slideLayouts/slideLayout21.xml"/><Relationship Id="rId3" Type="http://schemas.openxmlformats.org/officeDocument/2006/relationships/slideLayout" Target="../slideLayouts/slideLayout22.xml"/><Relationship Id="rId4" Type="http://schemas.openxmlformats.org/officeDocument/2006/relationships/slideLayout" Target="../slideLayouts/slideLayout23.xml"/><Relationship Id="rId9" Type="http://schemas.openxmlformats.org/officeDocument/2006/relationships/slideLayout" Target="../slideLayouts/slideLayout28.xml"/><Relationship Id="rId5" Type="http://schemas.openxmlformats.org/officeDocument/2006/relationships/slideLayout" Target="../slideLayouts/slideLayout24.xml"/><Relationship Id="rId6" Type="http://schemas.openxmlformats.org/officeDocument/2006/relationships/slideLayout" Target="../slideLayouts/slideLayout25.xml"/><Relationship Id="rId7" Type="http://schemas.openxmlformats.org/officeDocument/2006/relationships/slideLayout" Target="../slideLayouts/slideLayout26.xml"/><Relationship Id="rId8"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p38"/>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 name="Shape 52"/>
        <p:cNvGrpSpPr/>
        <p:nvPr/>
      </p:nvGrpSpPr>
      <p:grpSpPr>
        <a:xfrm>
          <a:off x="0" y="0"/>
          <a:ext cx="0" cy="0"/>
          <a:chOff x="0" y="0"/>
          <a:chExt cx="0" cy="0"/>
        </a:xfrm>
      </p:grpSpPr>
      <p:sp>
        <p:nvSpPr>
          <p:cNvPr id="53" name="Google Shape;53;g143504614d8_0_3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4" name="Google Shape;54;g143504614d8_0_3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5" name="Google Shape;55;g143504614d8_0_3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56" name="Google Shape;56;g143504614d8_0_318"/>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 name="Shape 87"/>
        <p:cNvGrpSpPr/>
        <p:nvPr/>
      </p:nvGrpSpPr>
      <p:grpSpPr>
        <a:xfrm>
          <a:off x="0" y="0"/>
          <a:ext cx="0" cy="0"/>
          <a:chOff x="0" y="0"/>
          <a:chExt cx="0" cy="0"/>
        </a:xfrm>
      </p:grpSpPr>
      <p:sp>
        <p:nvSpPr>
          <p:cNvPr id="88" name="Google Shape;88;g143504614d8_0_47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89" name="Google Shape;89;g143504614d8_0_47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90" name="Google Shape;90;g143504614d8_0_47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91" name="Google Shape;91;g143504614d8_0_474"/>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 Id="rId4" Type="http://schemas.openxmlformats.org/officeDocument/2006/relationships/image" Target="../media/image1.png"/><Relationship Id="rId5"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hyperlink" Target="https://forms.gle/ksD6xk9ZDJoc2NM6A" TargetMode="External"/><Relationship Id="rId4"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3.xml"/><Relationship Id="rId3" Type="http://schemas.openxmlformats.org/officeDocument/2006/relationships/image" Target="../media/image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5.xml"/><Relationship Id="rId3" Type="http://schemas.openxmlformats.org/officeDocument/2006/relationships/image" Target="../media/image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15.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1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5.xml"/><Relationship Id="rId3" Type="http://schemas.openxmlformats.org/officeDocument/2006/relationships/image" Target="../media/image1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8.xml"/><Relationship Id="rId3" Type="http://schemas.openxmlformats.org/officeDocument/2006/relationships/image" Target="../media/image13.png"/><Relationship Id="rId4" Type="http://schemas.openxmlformats.org/officeDocument/2006/relationships/hyperlink" Target="https://learn.codemithra.com/"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9.xml"/><Relationship Id="rId3" Type="http://schemas.openxmlformats.org/officeDocument/2006/relationships/image" Target="../media/image20.jpg"/><Relationship Id="rId4" Type="http://schemas.openxmlformats.org/officeDocument/2006/relationships/image" Target="../media/image18.png"/><Relationship Id="rId5" Type="http://schemas.openxmlformats.org/officeDocument/2006/relationships/image" Target="../media/image21.png"/><Relationship Id="rId6"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p2"/>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136" name="Google Shape;136;p2"/>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137" name="Google Shape;137;p2"/>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id="142" name="Google Shape;142;p3"/>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143" name="Google Shape;143;p3"/>
          <p:cNvSpPr txBox="1"/>
          <p:nvPr/>
        </p:nvSpPr>
        <p:spPr>
          <a:xfrm>
            <a:off x="111093" y="2196277"/>
            <a:ext cx="4690948" cy="750945"/>
          </a:xfrm>
          <a:prstGeom prst="rect">
            <a:avLst/>
          </a:prstGeom>
          <a:noFill/>
          <a:ln>
            <a:noFill/>
          </a:ln>
        </p:spPr>
        <p:txBody>
          <a:bodyPr anchorCtr="0" anchor="t" bIns="91425" lIns="91425" spcFirstLastPara="1" rIns="91425" wrap="square" tIns="91425">
            <a:spAutoFit/>
          </a:bodyPr>
          <a:lstStyle/>
          <a:p>
            <a:pPr indent="0" lvl="0" marL="114300" marR="0" rtl="0" algn="ctr">
              <a:lnSpc>
                <a:spcPct val="115000"/>
              </a:lnSpc>
              <a:spcBef>
                <a:spcPts val="0"/>
              </a:spcBef>
              <a:spcAft>
                <a:spcPts val="0"/>
              </a:spcAft>
              <a:buClr>
                <a:srgbClr val="000000"/>
              </a:buClr>
              <a:buSzPts val="1800"/>
              <a:buFont typeface="Arial"/>
              <a:buNone/>
            </a:pPr>
            <a:r>
              <a:rPr b="1" i="0" lang="en-GB" sz="3200" u="none" cap="none" strike="noStrike">
                <a:solidFill>
                  <a:schemeClr val="lt1"/>
                </a:solidFill>
                <a:latin typeface="Roboto"/>
                <a:ea typeface="Roboto"/>
                <a:cs typeface="Roboto"/>
                <a:sym typeface="Roboto"/>
              </a:rPr>
              <a:t>CUBES</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143504614d8_0_44"/>
          <p:cNvSpPr/>
          <p:nvPr/>
        </p:nvSpPr>
        <p:spPr>
          <a:xfrm>
            <a:off x="2203575" y="757800"/>
            <a:ext cx="5020500" cy="4122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700"/>
              <a:buFont typeface="Arial"/>
              <a:buNone/>
            </a:pPr>
            <a:r>
              <a:rPr b="0" i="0" lang="en-GB" sz="1700" u="none" cap="none" strike="noStrike">
                <a:solidFill>
                  <a:schemeClr val="dk1"/>
                </a:solidFill>
                <a:latin typeface="Roboto"/>
                <a:ea typeface="Roboto"/>
                <a:cs typeface="Roboto"/>
                <a:sym typeface="Roboto"/>
              </a:rPr>
              <a:t>TEST TIME ON DIRECTIONS</a:t>
            </a:r>
            <a:endParaRPr b="1" i="0" sz="2000" u="none" cap="none" strike="noStrike">
              <a:solidFill>
                <a:schemeClr val="dk1"/>
              </a:solidFill>
              <a:latin typeface="Roboto"/>
              <a:ea typeface="Roboto"/>
              <a:cs typeface="Roboto"/>
              <a:sym typeface="Roboto"/>
            </a:endParaRPr>
          </a:p>
        </p:txBody>
      </p:sp>
      <p:sp>
        <p:nvSpPr>
          <p:cNvPr id="149" name="Google Shape;149;g143504614d8_0_44"/>
          <p:cNvSpPr txBox="1"/>
          <p:nvPr>
            <p:ph idx="4294967295" type="body"/>
          </p:nvPr>
        </p:nvSpPr>
        <p:spPr>
          <a:xfrm>
            <a:off x="720000" y="1419325"/>
            <a:ext cx="80862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GB" sz="2500">
                <a:solidFill>
                  <a:srgbClr val="373737"/>
                </a:solidFill>
                <a:highlight>
                  <a:srgbClr val="FFFFFF"/>
                </a:highlight>
                <a:latin typeface="Roboto"/>
                <a:ea typeface="Roboto"/>
                <a:cs typeface="Roboto"/>
                <a:sym typeface="Roboto"/>
              </a:rPr>
              <a:t>URL: </a:t>
            </a:r>
            <a:r>
              <a:rPr b="1" lang="en-GB" sz="2000" u="sng">
                <a:solidFill>
                  <a:srgbClr val="FF0000"/>
                </a:solidFill>
                <a:latin typeface="Roboto"/>
                <a:ea typeface="Roboto"/>
                <a:cs typeface="Roboto"/>
                <a:sym typeface="Roboto"/>
                <a:hlinkClick r:id="rId3">
                  <a:extLst>
                    <a:ext uri="{A12FA001-AC4F-418D-AE19-62706E023703}">
                      <ahyp:hlinkClr val="tx"/>
                    </a:ext>
                  </a:extLst>
                </a:hlinkClick>
              </a:rPr>
              <a:t>https://forms.gle/ksD6xk9ZDJoc2NM6A</a:t>
            </a:r>
            <a:endParaRPr b="1" sz="1500">
              <a:solidFill>
                <a:srgbClr val="FF0000"/>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9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9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GB" sz="2400">
                <a:solidFill>
                  <a:srgbClr val="373737"/>
                </a:solidFill>
                <a:highlight>
                  <a:srgbClr val="FFFFFF"/>
                </a:highlight>
                <a:latin typeface="Roboto"/>
                <a:ea typeface="Roboto"/>
                <a:cs typeface="Roboto"/>
                <a:sym typeface="Roboto"/>
              </a:rPr>
              <a:t>QR CODE:</a:t>
            </a:r>
            <a:endParaRPr b="1" sz="2400">
              <a:solidFill>
                <a:srgbClr val="373737"/>
              </a:solidFill>
              <a:highlight>
                <a:srgbClr val="FFFFFF"/>
              </a:highlight>
              <a:latin typeface="Roboto"/>
              <a:ea typeface="Roboto"/>
              <a:cs typeface="Roboto"/>
              <a:sym typeface="Roboto"/>
            </a:endParaRPr>
          </a:p>
        </p:txBody>
      </p:sp>
      <p:pic>
        <p:nvPicPr>
          <p:cNvPr id="150" name="Google Shape;150;g143504614d8_0_44"/>
          <p:cNvPicPr preferRelativeResize="0"/>
          <p:nvPr/>
        </p:nvPicPr>
        <p:blipFill rotWithShape="1">
          <a:blip r:embed="rId4">
            <a:alphaModFix/>
          </a:blip>
          <a:srcRect b="0" l="0" r="0" t="0"/>
          <a:stretch/>
        </p:blipFill>
        <p:spPr>
          <a:xfrm>
            <a:off x="3078575" y="2234675"/>
            <a:ext cx="2462724" cy="1785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143504614d8_0_310"/>
          <p:cNvSpPr txBox="1"/>
          <p:nvPr>
            <p:ph idx="4294967295" type="body"/>
          </p:nvPr>
        </p:nvSpPr>
        <p:spPr>
          <a:xfrm>
            <a:off x="720000" y="1440000"/>
            <a:ext cx="7814100" cy="2956200"/>
          </a:xfrm>
          <a:prstGeom prst="rect">
            <a:avLst/>
          </a:prstGeom>
          <a:noFill/>
          <a:ln>
            <a:noFill/>
          </a:ln>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Clr>
                <a:schemeClr val="dk1"/>
              </a:buClr>
              <a:buSzPts val="1400"/>
              <a:buChar char="●"/>
            </a:pPr>
            <a:r>
              <a:rPr lang="en-GB" sz="1400">
                <a:solidFill>
                  <a:schemeClr val="dk1"/>
                </a:solidFill>
                <a:latin typeface="Roboto"/>
                <a:ea typeface="Roboto"/>
                <a:cs typeface="Roboto"/>
                <a:sym typeface="Roboto"/>
              </a:rPr>
              <a:t>A cube is a 3 dimensional diagram.</a:t>
            </a:r>
            <a:endParaRPr sz="1400">
              <a:solidFill>
                <a:schemeClr val="dk1"/>
              </a:solidFill>
              <a:latin typeface="Roboto"/>
              <a:ea typeface="Roboto"/>
              <a:cs typeface="Roboto"/>
              <a:sym typeface="Roboto"/>
            </a:endParaRPr>
          </a:p>
          <a:p>
            <a:pPr indent="0" lvl="0" marL="914400" rtl="0" algn="l">
              <a:lnSpc>
                <a:spcPct val="100000"/>
              </a:lnSpc>
              <a:spcBef>
                <a:spcPts val="0"/>
              </a:spcBef>
              <a:spcAft>
                <a:spcPts val="0"/>
              </a:spcAft>
              <a:buClr>
                <a:schemeClr val="dk1"/>
              </a:buClr>
              <a:buSzPts val="1400"/>
              <a:buFont typeface="Arial"/>
              <a:buNone/>
            </a:pPr>
            <a:r>
              <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latin typeface="Roboto"/>
                <a:ea typeface="Roboto"/>
                <a:cs typeface="Roboto"/>
                <a:sym typeface="Roboto"/>
              </a:rPr>
              <a:t>In a cube, there are 6 faces, 8 vertices &amp; 12 edges.</a:t>
            </a:r>
            <a:endParaRPr sz="1400">
              <a:solidFill>
                <a:schemeClr val="dk1"/>
              </a:solidFill>
              <a:latin typeface="Roboto"/>
              <a:ea typeface="Roboto"/>
              <a:cs typeface="Roboto"/>
              <a:sym typeface="Roboto"/>
            </a:endParaRPr>
          </a:p>
          <a:p>
            <a:pPr indent="0" lvl="0" marL="914400" rtl="0" algn="l">
              <a:lnSpc>
                <a:spcPct val="100000"/>
              </a:lnSpc>
              <a:spcBef>
                <a:spcPts val="0"/>
              </a:spcBef>
              <a:spcAft>
                <a:spcPts val="0"/>
              </a:spcAft>
              <a:buClr>
                <a:schemeClr val="dk1"/>
              </a:buClr>
              <a:buSzPts val="1400"/>
              <a:buFont typeface="Arial"/>
              <a:buNone/>
            </a:pPr>
            <a:r>
              <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latin typeface="Roboto"/>
                <a:ea typeface="Roboto"/>
                <a:cs typeface="Roboto"/>
                <a:sym typeface="Roboto"/>
              </a:rPr>
              <a:t>First we need to know some of the basic terminology in cubes concept:</a:t>
            </a:r>
            <a:endParaRPr sz="1400">
              <a:solidFill>
                <a:schemeClr val="dk1"/>
              </a:solidFill>
              <a:latin typeface="Roboto"/>
              <a:ea typeface="Roboto"/>
              <a:cs typeface="Roboto"/>
              <a:sym typeface="Roboto"/>
            </a:endParaRPr>
          </a:p>
          <a:p>
            <a:pPr indent="0" lvl="0" marL="914400" rtl="0" algn="l">
              <a:lnSpc>
                <a:spcPct val="100000"/>
              </a:lnSpc>
              <a:spcBef>
                <a:spcPts val="0"/>
              </a:spcBef>
              <a:spcAft>
                <a:spcPts val="0"/>
              </a:spcAft>
              <a:buClr>
                <a:schemeClr val="dk1"/>
              </a:buClr>
              <a:buSzPts val="1400"/>
              <a:buFont typeface="Arial"/>
              <a:buNone/>
            </a:pPr>
            <a:r>
              <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latin typeface="Roboto"/>
                <a:ea typeface="Roboto"/>
                <a:cs typeface="Roboto"/>
                <a:sym typeface="Roboto"/>
              </a:rPr>
              <a:t>FACES - Also called facets or sides. A cube has six faces which are all squares, so each face has four equal sides and all four interior angles are right angles.</a:t>
            </a:r>
            <a:endParaRPr sz="1400">
              <a:solidFill>
                <a:schemeClr val="dk1"/>
              </a:solidFill>
              <a:latin typeface="Roboto"/>
              <a:ea typeface="Roboto"/>
              <a:cs typeface="Roboto"/>
              <a:sym typeface="Roboto"/>
            </a:endParaRPr>
          </a:p>
          <a:p>
            <a:pPr indent="0" lvl="0" marL="914400" rtl="0" algn="l">
              <a:lnSpc>
                <a:spcPct val="100000"/>
              </a:lnSpc>
              <a:spcBef>
                <a:spcPts val="0"/>
              </a:spcBef>
              <a:spcAft>
                <a:spcPts val="0"/>
              </a:spcAft>
              <a:buClr>
                <a:schemeClr val="dk1"/>
              </a:buClr>
              <a:buSzPts val="1400"/>
              <a:buFont typeface="Arial"/>
              <a:buNone/>
            </a:pPr>
            <a:r>
              <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latin typeface="Roboto"/>
                <a:ea typeface="Roboto"/>
                <a:cs typeface="Roboto"/>
                <a:sym typeface="Roboto"/>
              </a:rPr>
              <a:t>VERTEX - A point formed where three edges meet. A cube has 8 vertices.</a:t>
            </a:r>
            <a:endParaRPr sz="1400">
              <a:solidFill>
                <a:schemeClr val="dk1"/>
              </a:solidFill>
              <a:latin typeface="Roboto"/>
              <a:ea typeface="Roboto"/>
              <a:cs typeface="Roboto"/>
              <a:sym typeface="Roboto"/>
            </a:endParaRPr>
          </a:p>
          <a:p>
            <a:pPr indent="0" lvl="0" marL="457200" rtl="0" algn="l">
              <a:lnSpc>
                <a:spcPct val="100000"/>
              </a:lnSpc>
              <a:spcBef>
                <a:spcPts val="0"/>
              </a:spcBef>
              <a:spcAft>
                <a:spcPts val="0"/>
              </a:spcAft>
              <a:buClr>
                <a:schemeClr val="dk1"/>
              </a:buClr>
              <a:buSzPts val="1400"/>
              <a:buFont typeface="Arial"/>
              <a:buNone/>
            </a:pPr>
            <a:r>
              <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latin typeface="Roboto"/>
                <a:ea typeface="Roboto"/>
                <a:cs typeface="Roboto"/>
                <a:sym typeface="Roboto"/>
              </a:rPr>
              <a:t>EDGES - A line segment formed where two edges meet. A cube has 12 edges. Because all faces are squares and congruent to each other, all 12 edges are the same.</a:t>
            </a:r>
            <a:endParaRPr sz="1400">
              <a:solidFill>
                <a:srgbClr val="333333"/>
              </a:solidFill>
              <a:highlight>
                <a:schemeClr val="lt1"/>
              </a:highlight>
              <a:latin typeface="Roboto"/>
              <a:ea typeface="Roboto"/>
              <a:cs typeface="Roboto"/>
              <a:sym typeface="Roboto"/>
            </a:endParaRPr>
          </a:p>
        </p:txBody>
      </p:sp>
      <p:pic>
        <p:nvPicPr>
          <p:cNvPr id="156" name="Google Shape;156;g143504614d8_0_310"/>
          <p:cNvPicPr preferRelativeResize="0"/>
          <p:nvPr/>
        </p:nvPicPr>
        <p:blipFill rotWithShape="1">
          <a:blip r:embed="rId3">
            <a:alphaModFix/>
          </a:blip>
          <a:srcRect b="0" l="0" r="0" t="0"/>
          <a:stretch/>
        </p:blipFill>
        <p:spPr>
          <a:xfrm>
            <a:off x="6624275" y="1343950"/>
            <a:ext cx="2253250" cy="1102725"/>
          </a:xfrm>
          <a:prstGeom prst="rect">
            <a:avLst/>
          </a:prstGeom>
          <a:noFill/>
          <a:ln>
            <a:noFill/>
          </a:ln>
        </p:spPr>
      </p:pic>
      <p:sp>
        <p:nvSpPr>
          <p:cNvPr id="157" name="Google Shape;157;g143504614d8_0_310"/>
          <p:cNvSpPr txBox="1"/>
          <p:nvPr/>
        </p:nvSpPr>
        <p:spPr>
          <a:xfrm>
            <a:off x="720000" y="579950"/>
            <a:ext cx="52203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1" i="0" lang="en-GB" sz="3500" u="none" cap="none" strike="noStrike">
                <a:solidFill>
                  <a:srgbClr val="8182EF"/>
                </a:solidFill>
                <a:latin typeface="Roboto"/>
                <a:ea typeface="Roboto"/>
                <a:cs typeface="Roboto"/>
                <a:sym typeface="Roboto"/>
              </a:rPr>
              <a:t>CUBES</a:t>
            </a:r>
            <a:endParaRPr b="1" i="0" sz="2100" u="none" cap="none" strike="noStrike">
              <a:solidFill>
                <a:srgbClr val="6D9EEB"/>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143504614d8_0_354"/>
          <p:cNvSpPr txBox="1"/>
          <p:nvPr>
            <p:ph idx="4294967295" type="body"/>
          </p:nvPr>
        </p:nvSpPr>
        <p:spPr>
          <a:xfrm>
            <a:off x="720000" y="1440000"/>
            <a:ext cx="7814100" cy="2956200"/>
          </a:xfrm>
          <a:prstGeom prst="rect">
            <a:avLst/>
          </a:prstGeom>
          <a:noFill/>
          <a:ln>
            <a:noFill/>
          </a:ln>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Clr>
                <a:schemeClr val="dk1"/>
              </a:buClr>
              <a:buSzPts val="1400"/>
              <a:buChar char="●"/>
            </a:pPr>
            <a:r>
              <a:rPr lang="en-GB" sz="1400">
                <a:solidFill>
                  <a:schemeClr val="dk1"/>
                </a:solidFill>
                <a:latin typeface="Roboto"/>
                <a:ea typeface="Roboto"/>
                <a:cs typeface="Roboto"/>
                <a:sym typeface="Roboto"/>
              </a:rPr>
              <a:t>In cube since all the sides are equal , Length = Breadth = Height = a.</a:t>
            </a:r>
            <a:endParaRPr sz="1400">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800"/>
              <a:buNone/>
            </a:pPr>
            <a:r>
              <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latin typeface="Roboto"/>
                <a:ea typeface="Roboto"/>
                <a:cs typeface="Roboto"/>
                <a:sym typeface="Roboto"/>
              </a:rPr>
              <a:t>Volume of the cube is = a^3.</a:t>
            </a:r>
            <a:endParaRPr sz="1400">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800"/>
              <a:buNone/>
            </a:pPr>
            <a:r>
              <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latin typeface="Roboto"/>
                <a:ea typeface="Roboto"/>
                <a:cs typeface="Roboto"/>
                <a:sym typeface="Roboto"/>
              </a:rPr>
              <a:t>Total surface area of the cube is = 6a^2.</a:t>
            </a:r>
            <a:endParaRPr sz="1400">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800"/>
              <a:buNone/>
            </a:pPr>
            <a:r>
              <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latin typeface="Roboto"/>
                <a:ea typeface="Roboto"/>
                <a:cs typeface="Roboto"/>
                <a:sym typeface="Roboto"/>
              </a:rPr>
              <a:t>Diagonal of a cube is √3a.</a:t>
            </a:r>
            <a:endParaRPr sz="1400">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800"/>
              <a:buNone/>
            </a:pPr>
            <a:r>
              <a:t/>
            </a:r>
            <a:endParaRPr sz="1400">
              <a:solidFill>
                <a:schemeClr val="dk1"/>
              </a:solidFill>
              <a:latin typeface="Roboto"/>
              <a:ea typeface="Roboto"/>
              <a:cs typeface="Roboto"/>
              <a:sym typeface="Roboto"/>
            </a:endParaRPr>
          </a:p>
          <a:p>
            <a:pPr indent="0" lvl="0" marL="0" rtl="0" algn="l">
              <a:lnSpc>
                <a:spcPct val="100000"/>
              </a:lnSpc>
              <a:spcBef>
                <a:spcPts val="0"/>
              </a:spcBef>
              <a:spcAft>
                <a:spcPts val="0"/>
              </a:spcAft>
              <a:buSzPts val="1800"/>
              <a:buNone/>
            </a:pPr>
            <a:r>
              <a:rPr lang="en-GB" sz="1400">
                <a:solidFill>
                  <a:schemeClr val="dk1"/>
                </a:solidFill>
                <a:latin typeface="Roboto"/>
                <a:ea typeface="Roboto"/>
                <a:cs typeface="Roboto"/>
                <a:sym typeface="Roboto"/>
              </a:rPr>
              <a:t>         Some of the types of questions you will be facing is </a:t>
            </a:r>
            <a:endParaRPr sz="1400">
              <a:solidFill>
                <a:schemeClr val="dk1"/>
              </a:solidFill>
              <a:latin typeface="Roboto"/>
              <a:ea typeface="Roboto"/>
              <a:cs typeface="Roboto"/>
              <a:sym typeface="Roboto"/>
            </a:endParaRPr>
          </a:p>
          <a:p>
            <a:pPr indent="0" lvl="0" marL="0" rtl="0" algn="l">
              <a:lnSpc>
                <a:spcPct val="100000"/>
              </a:lnSpc>
              <a:spcBef>
                <a:spcPts val="0"/>
              </a:spcBef>
              <a:spcAft>
                <a:spcPts val="0"/>
              </a:spcAft>
              <a:buSzPts val="1800"/>
              <a:buNone/>
            </a:pPr>
            <a:r>
              <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AutoNum type="arabicPeriod"/>
            </a:pPr>
            <a:r>
              <a:rPr lang="en-GB" sz="1400">
                <a:solidFill>
                  <a:schemeClr val="dk1"/>
                </a:solidFill>
                <a:latin typeface="Roboto"/>
                <a:ea typeface="Roboto"/>
                <a:cs typeface="Roboto"/>
                <a:sym typeface="Roboto"/>
              </a:rPr>
              <a:t>Cutting the cube</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AutoNum type="arabicPeriod"/>
            </a:pPr>
            <a:r>
              <a:rPr lang="en-GB" sz="1400">
                <a:solidFill>
                  <a:schemeClr val="dk1"/>
                </a:solidFill>
                <a:latin typeface="Roboto"/>
                <a:ea typeface="Roboto"/>
                <a:cs typeface="Roboto"/>
                <a:sym typeface="Roboto"/>
              </a:rPr>
              <a:t>Coloring the cube</a:t>
            </a:r>
            <a:endParaRPr sz="1400">
              <a:solidFill>
                <a:schemeClr val="dk1"/>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143504614d8_0_363"/>
          <p:cNvSpPr txBox="1"/>
          <p:nvPr>
            <p:ph idx="4294967295" type="body"/>
          </p:nvPr>
        </p:nvSpPr>
        <p:spPr>
          <a:xfrm>
            <a:off x="720000" y="1440000"/>
            <a:ext cx="8210700" cy="2956200"/>
          </a:xfrm>
          <a:prstGeom prst="rect">
            <a:avLst/>
          </a:prstGeom>
          <a:noFill/>
          <a:ln>
            <a:noFill/>
          </a:ln>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Clr>
                <a:schemeClr val="dk1"/>
              </a:buClr>
              <a:buSzPts val="1400"/>
              <a:buAutoNum type="arabicPeriod"/>
            </a:pPr>
            <a:r>
              <a:rPr lang="en-GB" sz="1400">
                <a:solidFill>
                  <a:schemeClr val="dk1"/>
                </a:solidFill>
                <a:latin typeface="Roboto"/>
                <a:ea typeface="Roboto"/>
                <a:cs typeface="Roboto"/>
                <a:sym typeface="Roboto"/>
              </a:rPr>
              <a:t>If we have to cut a cube  to the maximum of 3 cuts how many pieces will we have?</a:t>
            </a:r>
            <a:endParaRPr sz="1400">
              <a:solidFill>
                <a:schemeClr val="dk1"/>
              </a:solidFill>
              <a:latin typeface="Roboto"/>
              <a:ea typeface="Roboto"/>
              <a:cs typeface="Roboto"/>
              <a:sym typeface="Roboto"/>
            </a:endParaRPr>
          </a:p>
          <a:p>
            <a:pPr indent="0" lvl="0" marL="0" rtl="0" algn="l">
              <a:lnSpc>
                <a:spcPct val="100000"/>
              </a:lnSpc>
              <a:spcBef>
                <a:spcPts val="0"/>
              </a:spcBef>
              <a:spcAft>
                <a:spcPts val="0"/>
              </a:spcAft>
              <a:buSzPts val="1800"/>
              <a:buNone/>
            </a:pPr>
            <a:r>
              <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AutoNum type="arabicPeriod"/>
            </a:pPr>
            <a:r>
              <a:rPr lang="en-GB" sz="1400">
                <a:solidFill>
                  <a:schemeClr val="dk1"/>
                </a:solidFill>
                <a:latin typeface="Roboto"/>
                <a:ea typeface="Roboto"/>
                <a:cs typeface="Roboto"/>
                <a:sym typeface="Roboto"/>
              </a:rPr>
              <a:t>1 dimensional cube of maximum of 3 cuts will give 4 pieces.</a:t>
            </a:r>
            <a:endParaRPr sz="1400">
              <a:solidFill>
                <a:schemeClr val="dk1"/>
              </a:solidFill>
              <a:latin typeface="Roboto"/>
              <a:ea typeface="Roboto"/>
              <a:cs typeface="Roboto"/>
              <a:sym typeface="Roboto"/>
            </a:endParaRPr>
          </a:p>
          <a:p>
            <a:pPr indent="0" lvl="0" marL="0" rtl="0" algn="l">
              <a:lnSpc>
                <a:spcPct val="100000"/>
              </a:lnSpc>
              <a:spcBef>
                <a:spcPts val="0"/>
              </a:spcBef>
              <a:spcAft>
                <a:spcPts val="0"/>
              </a:spcAft>
              <a:buSzPts val="1800"/>
              <a:buNone/>
            </a:pPr>
            <a:r>
              <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AutoNum type="arabicPeriod"/>
            </a:pPr>
            <a:r>
              <a:rPr lang="en-GB" sz="1400">
                <a:solidFill>
                  <a:schemeClr val="dk1"/>
                </a:solidFill>
                <a:latin typeface="Roboto"/>
                <a:ea typeface="Roboto"/>
                <a:cs typeface="Roboto"/>
                <a:sym typeface="Roboto"/>
              </a:rPr>
              <a:t>2 dimensional cube of maximum of 3 cuts will give 6 pieces ,  2+1( cuts) -&gt; 3 * 2 = 6 ( pieces)</a:t>
            </a:r>
            <a:endParaRPr sz="1400">
              <a:solidFill>
                <a:schemeClr val="dk1"/>
              </a:solidFill>
              <a:latin typeface="Roboto"/>
              <a:ea typeface="Roboto"/>
              <a:cs typeface="Roboto"/>
              <a:sym typeface="Roboto"/>
            </a:endParaRPr>
          </a:p>
          <a:p>
            <a:pPr indent="0" lvl="0" marL="0" rtl="0" algn="l">
              <a:lnSpc>
                <a:spcPct val="100000"/>
              </a:lnSpc>
              <a:spcBef>
                <a:spcPts val="0"/>
              </a:spcBef>
              <a:spcAft>
                <a:spcPts val="0"/>
              </a:spcAft>
              <a:buSzPts val="1800"/>
              <a:buNone/>
            </a:pPr>
            <a:r>
              <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AutoNum type="arabicPeriod"/>
            </a:pPr>
            <a:r>
              <a:rPr lang="en-GB" sz="1400">
                <a:solidFill>
                  <a:schemeClr val="dk1"/>
                </a:solidFill>
                <a:latin typeface="Roboto"/>
                <a:ea typeface="Roboto"/>
                <a:cs typeface="Roboto"/>
                <a:sym typeface="Roboto"/>
              </a:rPr>
              <a:t>3 dimensional cube of maximum of 3 cuts will give 8 pieces , 1+1+1( cuts) -&gt; 2*2*2 = 8	(pieces)</a:t>
            </a:r>
            <a:endParaRPr sz="1400">
              <a:solidFill>
                <a:schemeClr val="dk1"/>
              </a:solidFill>
              <a:latin typeface="Roboto"/>
              <a:ea typeface="Roboto"/>
              <a:cs typeface="Roboto"/>
              <a:sym typeface="Roboto"/>
            </a:endParaRPr>
          </a:p>
          <a:p>
            <a:pPr indent="0" lvl="0" marL="0" rtl="0" algn="l">
              <a:lnSpc>
                <a:spcPct val="100000"/>
              </a:lnSpc>
              <a:spcBef>
                <a:spcPts val="0"/>
              </a:spcBef>
              <a:spcAft>
                <a:spcPts val="0"/>
              </a:spcAft>
              <a:buSzPts val="1800"/>
              <a:buNone/>
            </a:pPr>
            <a:r>
              <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AutoNum type="arabicPeriod"/>
            </a:pPr>
            <a:r>
              <a:rPr lang="en-GB" sz="1400">
                <a:solidFill>
                  <a:schemeClr val="dk1"/>
                </a:solidFill>
                <a:latin typeface="Roboto"/>
                <a:ea typeface="Roboto"/>
                <a:cs typeface="Roboto"/>
                <a:sym typeface="Roboto"/>
              </a:rPr>
              <a:t>While the distribution of the cuts it is always the close number of cuts possible in 3 dimensional should give maximum number of cuts.</a:t>
            </a:r>
            <a:endParaRPr sz="1400">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800"/>
              <a:buNone/>
            </a:pPr>
            <a:r>
              <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AutoNum type="arabicPeriod"/>
            </a:pPr>
            <a:r>
              <a:rPr lang="en-GB" sz="1400">
                <a:solidFill>
                  <a:schemeClr val="dk1"/>
                </a:solidFill>
                <a:latin typeface="Roboto"/>
                <a:ea typeface="Roboto"/>
                <a:cs typeface="Roboto"/>
                <a:sym typeface="Roboto"/>
              </a:rPr>
              <a:t>While cutting a cube in  3 dimensional with maximum of 6 cuts we will get 27 pieces, 2+2+2        ( cuts) -&gt; 3*3*3= 27 ( pieces).	</a:t>
            </a:r>
            <a:endParaRPr sz="1400">
              <a:solidFill>
                <a:schemeClr val="dk1"/>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143504614d8_0_371"/>
          <p:cNvSpPr txBox="1"/>
          <p:nvPr>
            <p:ph idx="4294967295" type="body"/>
          </p:nvPr>
        </p:nvSpPr>
        <p:spPr>
          <a:xfrm>
            <a:off x="720000" y="1440000"/>
            <a:ext cx="8222100" cy="2956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rPr lang="en-GB" sz="1400">
                <a:solidFill>
                  <a:schemeClr val="dk1"/>
                </a:solidFill>
                <a:latin typeface="Roboto"/>
                <a:ea typeface="Roboto"/>
                <a:cs typeface="Roboto"/>
                <a:sym typeface="Roboto"/>
              </a:rPr>
              <a:t> A cube is colored in three different colors in opposite sides, when the cube is cut in 9 pieces we   should   find the number of cubes :</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latin typeface="Roboto"/>
                <a:ea typeface="Roboto"/>
                <a:cs typeface="Roboto"/>
                <a:sym typeface="Roboto"/>
              </a:rPr>
              <a:t>In all 3 faces painted</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latin typeface="Roboto"/>
                <a:ea typeface="Roboto"/>
                <a:cs typeface="Roboto"/>
                <a:sym typeface="Roboto"/>
              </a:rPr>
              <a:t>In 2 faces painted</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latin typeface="Roboto"/>
                <a:ea typeface="Roboto"/>
                <a:cs typeface="Roboto"/>
                <a:sym typeface="Roboto"/>
              </a:rPr>
              <a:t>In 1 face painted </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latin typeface="Roboto"/>
                <a:ea typeface="Roboto"/>
                <a:cs typeface="Roboto"/>
                <a:sym typeface="Roboto"/>
              </a:rPr>
              <a:t>No face is painted</a:t>
            </a:r>
            <a:endParaRPr sz="1400">
              <a:solidFill>
                <a:schemeClr val="dk1"/>
              </a:solidFill>
              <a:latin typeface="Roboto"/>
              <a:ea typeface="Roboto"/>
              <a:cs typeface="Roboto"/>
              <a:sym typeface="Roboto"/>
            </a:endParaRPr>
          </a:p>
          <a:p>
            <a:pPr indent="0" lvl="0" marL="457200" rtl="0" algn="l">
              <a:lnSpc>
                <a:spcPct val="100000"/>
              </a:lnSpc>
              <a:spcBef>
                <a:spcPts val="0"/>
              </a:spcBef>
              <a:spcAft>
                <a:spcPts val="0"/>
              </a:spcAft>
              <a:buClr>
                <a:schemeClr val="dk1"/>
              </a:buClr>
              <a:buSzPts val="1400"/>
              <a:buFont typeface="Arial"/>
              <a:buNone/>
            </a:pPr>
            <a:r>
              <a:t/>
            </a:r>
            <a:endParaRPr sz="14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400"/>
              <a:buFont typeface="Arial"/>
              <a:buNone/>
            </a:pPr>
            <a:r>
              <a:rPr lang="en-GB" sz="1400">
                <a:solidFill>
                  <a:schemeClr val="dk1"/>
                </a:solidFill>
                <a:latin typeface="Roboto"/>
                <a:ea typeface="Roboto"/>
                <a:cs typeface="Roboto"/>
                <a:sym typeface="Roboto"/>
              </a:rPr>
              <a:t> To find this we should know this, </a:t>
            </a:r>
            <a:endParaRPr sz="14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400"/>
              <a:buFont typeface="Arial"/>
              <a:buNone/>
            </a:pPr>
            <a:r>
              <a:rPr lang="en-GB" sz="1400">
                <a:solidFill>
                  <a:schemeClr val="dk1"/>
                </a:solidFill>
                <a:latin typeface="Roboto"/>
                <a:ea typeface="Roboto"/>
                <a:cs typeface="Roboto"/>
                <a:sym typeface="Roboto"/>
              </a:rPr>
              <a:t> Where , 9 faces painted will be 64 cuts.</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latin typeface="Roboto"/>
                <a:ea typeface="Roboto"/>
                <a:cs typeface="Roboto"/>
                <a:sym typeface="Roboto"/>
              </a:rPr>
              <a:t>The number of cubes in all 3 face painted, which is the corner cubes will be 8.</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latin typeface="Roboto"/>
                <a:ea typeface="Roboto"/>
                <a:cs typeface="Roboto"/>
                <a:sym typeface="Roboto"/>
              </a:rPr>
              <a:t>The number of cubes in 2 face painted , which is the edge center cubes will be 2 *12 = 24.</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latin typeface="Roboto"/>
                <a:ea typeface="Roboto"/>
                <a:cs typeface="Roboto"/>
                <a:sym typeface="Roboto"/>
              </a:rPr>
              <a:t>The number of cubes in only	one face painted which is the face centered cube 4* 6 = 24.</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latin typeface="Roboto"/>
                <a:ea typeface="Roboto"/>
                <a:cs typeface="Roboto"/>
                <a:sym typeface="Roboto"/>
              </a:rPr>
              <a:t>The number of cubes in no face painted which will lie in the face centered middle layers will be 8.</a:t>
            </a:r>
            <a:endParaRPr sz="1400">
              <a:solidFill>
                <a:schemeClr val="dk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143504614d8_0_379"/>
          <p:cNvSpPr txBox="1"/>
          <p:nvPr/>
        </p:nvSpPr>
        <p:spPr>
          <a:xfrm>
            <a:off x="720000" y="1440000"/>
            <a:ext cx="8064000" cy="206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GB" sz="1600" u="none" cap="none" strike="noStrike">
                <a:solidFill>
                  <a:schemeClr val="dk1"/>
                </a:solidFill>
                <a:latin typeface="Roboto"/>
                <a:ea typeface="Roboto"/>
                <a:cs typeface="Roboto"/>
                <a:sym typeface="Roboto"/>
              </a:rPr>
              <a:t>A cube of each side 4 cm, has been painted black, red and green on pairs of opposite faces. It is then cut into small cubes of each side 1 cm.How many small cubes will have only two faces painted ?</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18</a:t>
            </a:r>
            <a:endParaRPr b="0"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20														                            </a:t>
            </a:r>
            <a:endParaRPr b="0"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22</a:t>
            </a:r>
            <a:endParaRPr b="0"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24</a:t>
            </a:r>
            <a:endParaRPr b="0" i="0" sz="1600" u="none" cap="none" strike="noStrike">
              <a:solidFill>
                <a:schemeClr val="dk1"/>
              </a:solidFill>
              <a:latin typeface="Roboto"/>
              <a:ea typeface="Roboto"/>
              <a:cs typeface="Roboto"/>
              <a:sym typeface="Roboto"/>
            </a:endParaRPr>
          </a:p>
        </p:txBody>
      </p:sp>
      <p:sp>
        <p:nvSpPr>
          <p:cNvPr id="178" name="Google Shape;178;g143504614d8_0_379"/>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D</a:t>
            </a:r>
            <a:endParaRPr b="0" i="0" sz="1600" u="none" cap="none" strike="noStrike">
              <a:solidFill>
                <a:schemeClr val="dk1"/>
              </a:solidFill>
              <a:latin typeface="Roboto"/>
              <a:ea typeface="Roboto"/>
              <a:cs typeface="Roboto"/>
              <a:sym typeface="Roboto"/>
            </a:endParaRPr>
          </a:p>
        </p:txBody>
      </p:sp>
      <p:pic>
        <p:nvPicPr>
          <p:cNvPr id="179" name="Google Shape;179;g143504614d8_0_379"/>
          <p:cNvPicPr preferRelativeResize="0"/>
          <p:nvPr/>
        </p:nvPicPr>
        <p:blipFill rotWithShape="1">
          <a:blip r:embed="rId3">
            <a:alphaModFix/>
          </a:blip>
          <a:srcRect b="0" l="0" r="0" t="0"/>
          <a:stretch/>
        </p:blipFill>
        <p:spPr>
          <a:xfrm>
            <a:off x="4517388" y="2540150"/>
            <a:ext cx="2200275" cy="1600200"/>
          </a:xfrm>
          <a:prstGeom prst="rect">
            <a:avLst/>
          </a:prstGeom>
          <a:noFill/>
          <a:ln>
            <a:noFill/>
          </a:ln>
        </p:spPr>
      </p:pic>
      <p:sp>
        <p:nvSpPr>
          <p:cNvPr id="180" name="Google Shape;180;g143504614d8_0_379"/>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01</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1000"/>
                                        <p:tgtEl>
                                          <p:spTgt spid="1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4" name="Shape 184"/>
        <p:cNvGrpSpPr/>
        <p:nvPr/>
      </p:nvGrpSpPr>
      <p:grpSpPr>
        <a:xfrm>
          <a:off x="0" y="0"/>
          <a:ext cx="0" cy="0"/>
          <a:chOff x="0" y="0"/>
          <a:chExt cx="0" cy="0"/>
        </a:xfrm>
      </p:grpSpPr>
      <p:sp>
        <p:nvSpPr>
          <p:cNvPr id="185" name="Google Shape;185;g143504614d8_0_466"/>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186" name="Google Shape;186;g143504614d8_0_466"/>
          <p:cNvSpPr txBox="1"/>
          <p:nvPr/>
        </p:nvSpPr>
        <p:spPr>
          <a:xfrm>
            <a:off x="720000" y="1440000"/>
            <a:ext cx="7917300" cy="1741985"/>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Each edge of the big cube 4 small cubes are connected and two out of them are situated at the corners of the big cube which have all the three faces painted. Thus, to each edge two small cubes are left which have two faces painted. As the total no. of edges in a cube are 12, </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hence the no. of small cubes with two faces coloured= 12×2</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12×2 = 24.</a:t>
            </a:r>
            <a:endParaRPr b="0" i="0" sz="1400" u="none" cap="none" strike="noStrike">
              <a:solidFill>
                <a:schemeClr val="dk1"/>
              </a:solidFill>
              <a:latin typeface="Roboto"/>
              <a:ea typeface="Roboto"/>
              <a:cs typeface="Roboto"/>
              <a:sym typeface="Roboto"/>
            </a:endParaRPr>
          </a:p>
          <a:p>
            <a:pPr indent="0" lvl="0" marL="158750" marR="0" rtl="0" algn="l">
              <a:lnSpc>
                <a:spcPct val="115000"/>
              </a:lnSpc>
              <a:spcBef>
                <a:spcPts val="0"/>
              </a:spcBef>
              <a:spcAft>
                <a:spcPts val="0"/>
              </a:spcAft>
              <a:buClr>
                <a:schemeClr val="dk1"/>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187" name="Google Shape;187;g143504614d8_0_466"/>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a:t>
            </a:r>
            <a:r>
              <a:rPr b="1" lang="en-GB" sz="2000">
                <a:solidFill>
                  <a:srgbClr val="8182EF"/>
                </a:solidFill>
                <a:latin typeface="Roboto"/>
                <a:ea typeface="Roboto"/>
                <a:cs typeface="Roboto"/>
                <a:sym typeface="Roboto"/>
              </a:rPr>
              <a:t>: 01</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xEl>
                                              <p:pRg end="0" st="0"/>
                                            </p:txEl>
                                          </p:spTgt>
                                        </p:tgtEl>
                                        <p:attrNameLst>
                                          <p:attrName>style.visibility</p:attrName>
                                        </p:attrNameLst>
                                      </p:cBhvr>
                                      <p:to>
                                        <p:strVal val="visible"/>
                                      </p:to>
                                    </p:set>
                                    <p:animEffect filter="fade" transition="in">
                                      <p:cBhvr>
                                        <p:cTn dur="1000"/>
                                        <p:tgtEl>
                                          <p:spTgt spid="185">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143504614d8_0_509"/>
          <p:cNvSpPr txBox="1"/>
          <p:nvPr/>
        </p:nvSpPr>
        <p:spPr>
          <a:xfrm>
            <a:off x="720000" y="1440000"/>
            <a:ext cx="7926000" cy="230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i="0" lang="en-GB" sz="1600" u="none" cap="none" strike="noStrike">
                <a:solidFill>
                  <a:schemeClr val="dk1"/>
                </a:solidFill>
                <a:latin typeface="Roboto"/>
                <a:ea typeface="Roboto"/>
                <a:cs typeface="Roboto"/>
                <a:sym typeface="Roboto"/>
              </a:rPr>
              <a:t>A cube of each side 4 cm, has been painted black, red and green on pairs of opposite faces. It is then cut into small cubes of each side 1 cm.</a:t>
            </a:r>
            <a:r>
              <a:rPr i="0" lang="en-GB" sz="1600" u="none" cap="none" strike="noStrike">
                <a:solidFill>
                  <a:srgbClr val="555555"/>
                </a:solidFill>
                <a:highlight>
                  <a:srgbClr val="FBFBFB"/>
                </a:highlight>
                <a:latin typeface="Roboto"/>
                <a:ea typeface="Roboto"/>
                <a:cs typeface="Roboto"/>
                <a:sym typeface="Roboto"/>
              </a:rPr>
              <a:t> </a:t>
            </a:r>
            <a:r>
              <a:rPr i="0" lang="en-GB" sz="1600" u="none" cap="none" strike="noStrike">
                <a:solidFill>
                  <a:schemeClr val="dk1"/>
                </a:solidFill>
                <a:latin typeface="Roboto"/>
                <a:ea typeface="Roboto"/>
                <a:cs typeface="Roboto"/>
                <a:sym typeface="Roboto"/>
              </a:rPr>
              <a:t>How many small cubes will be only red painted ?</a:t>
            </a:r>
            <a:endParaRPr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8</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10</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6</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16					</a:t>
            </a:r>
            <a:endParaRPr i="0" sz="1600" u="none" cap="none" strike="noStrike">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400"/>
              <a:buFont typeface="Arial"/>
              <a:buNone/>
            </a:pPr>
            <a:r>
              <a:t/>
            </a:r>
            <a:endParaRPr i="0" sz="1600" u="none" cap="none" strike="noStrike">
              <a:solidFill>
                <a:schemeClr val="dk1"/>
              </a:solidFill>
              <a:latin typeface="Roboto"/>
              <a:ea typeface="Roboto"/>
              <a:cs typeface="Roboto"/>
              <a:sym typeface="Roboto"/>
            </a:endParaRPr>
          </a:p>
        </p:txBody>
      </p:sp>
      <p:sp>
        <p:nvSpPr>
          <p:cNvPr id="193" name="Google Shape;193;g143504614d8_0_509"/>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A</a:t>
            </a:r>
            <a:endParaRPr b="0" i="0" sz="1600" u="none" cap="none" strike="noStrike">
              <a:solidFill>
                <a:schemeClr val="dk1"/>
              </a:solidFill>
              <a:latin typeface="Roboto"/>
              <a:ea typeface="Roboto"/>
              <a:cs typeface="Roboto"/>
              <a:sym typeface="Roboto"/>
            </a:endParaRPr>
          </a:p>
        </p:txBody>
      </p:sp>
      <p:sp>
        <p:nvSpPr>
          <p:cNvPr id="194" name="Google Shape;194;g143504614d8_0_509"/>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02</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
                                        </p:tgtEl>
                                        <p:attrNameLst>
                                          <p:attrName>style.visibility</p:attrName>
                                        </p:attrNameLst>
                                      </p:cBhvr>
                                      <p:to>
                                        <p:strVal val="visible"/>
                                      </p:to>
                                    </p:set>
                                    <p:animEffect filter="fade" transition="in">
                                      <p:cBhvr>
                                        <p:cTn dur="1000"/>
                                        <p:tgtEl>
                                          <p:spTgt spid="1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8" name="Shape 198"/>
        <p:cNvGrpSpPr/>
        <p:nvPr/>
      </p:nvGrpSpPr>
      <p:grpSpPr>
        <a:xfrm>
          <a:off x="0" y="0"/>
          <a:ext cx="0" cy="0"/>
          <a:chOff x="0" y="0"/>
          <a:chExt cx="0" cy="0"/>
        </a:xfrm>
      </p:grpSpPr>
      <p:sp>
        <p:nvSpPr>
          <p:cNvPr id="199" name="Google Shape;199;g143504614d8_0_518"/>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00" name="Google Shape;200;g143504614d8_0_518"/>
          <p:cNvSpPr txBox="1"/>
          <p:nvPr/>
        </p:nvSpPr>
        <p:spPr>
          <a:xfrm>
            <a:off x="720000" y="1440000"/>
            <a:ext cx="7917300" cy="150961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 No. of small cubes having only red paint</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 4 + 4 = 8</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15875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pic>
        <p:nvPicPr>
          <p:cNvPr id="201" name="Google Shape;201;g143504614d8_0_518"/>
          <p:cNvPicPr preferRelativeResize="0"/>
          <p:nvPr/>
        </p:nvPicPr>
        <p:blipFill rotWithShape="1">
          <a:blip r:embed="rId3">
            <a:alphaModFix/>
          </a:blip>
          <a:srcRect b="0" l="0" r="0" t="0"/>
          <a:stretch/>
        </p:blipFill>
        <p:spPr>
          <a:xfrm>
            <a:off x="3538538" y="2371725"/>
            <a:ext cx="2219325" cy="1771650"/>
          </a:xfrm>
          <a:prstGeom prst="rect">
            <a:avLst/>
          </a:prstGeom>
          <a:noFill/>
          <a:ln>
            <a:noFill/>
          </a:ln>
        </p:spPr>
      </p:pic>
      <p:sp>
        <p:nvSpPr>
          <p:cNvPr id="202" name="Google Shape;202;g143504614d8_0_518"/>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a:t>
            </a:r>
            <a:r>
              <a:rPr b="1" lang="en-GB" sz="2000">
                <a:solidFill>
                  <a:srgbClr val="8182EF"/>
                </a:solidFill>
                <a:latin typeface="Roboto"/>
                <a:ea typeface="Roboto"/>
                <a:cs typeface="Roboto"/>
                <a:sym typeface="Roboto"/>
              </a:rPr>
              <a:t>: 02</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0" st="0"/>
                                            </p:txEl>
                                          </p:spTgt>
                                        </p:tgtEl>
                                        <p:attrNameLst>
                                          <p:attrName>style.visibility</p:attrName>
                                        </p:attrNameLst>
                                      </p:cBhvr>
                                      <p:to>
                                        <p:strVal val="visible"/>
                                      </p:to>
                                    </p:set>
                                    <p:animEffect filter="fade" transition="in">
                                      <p:cBhvr>
                                        <p:cTn dur="1000"/>
                                        <p:tgtEl>
                                          <p:spTgt spid="199">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143504614d8_0_527"/>
          <p:cNvSpPr txBox="1"/>
          <p:nvPr/>
        </p:nvSpPr>
        <p:spPr>
          <a:xfrm>
            <a:off x="720000" y="1439999"/>
            <a:ext cx="8472300" cy="3219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i="0" lang="en-GB" sz="1600" u="none" cap="none" strike="noStrike">
                <a:solidFill>
                  <a:schemeClr val="dk1"/>
                </a:solidFill>
                <a:latin typeface="Roboto"/>
                <a:ea typeface="Roboto"/>
                <a:cs typeface="Roboto"/>
                <a:sym typeface="Roboto"/>
              </a:rPr>
              <a:t>The following questions are based on the information given below:</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Char char="●"/>
            </a:pPr>
            <a:r>
              <a:rPr i="0" lang="en-GB" sz="1600" u="none" cap="none" strike="noStrike">
                <a:solidFill>
                  <a:schemeClr val="dk1"/>
                </a:solidFill>
                <a:latin typeface="Roboto"/>
                <a:ea typeface="Roboto"/>
                <a:cs typeface="Roboto"/>
                <a:sym typeface="Roboto"/>
              </a:rPr>
              <a:t>All the faces of cubes are painted with red colour.</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Char char="●"/>
            </a:pPr>
            <a:r>
              <a:rPr i="0" lang="en-GB" sz="1600" u="none" cap="none" strike="noStrike">
                <a:solidFill>
                  <a:schemeClr val="dk1"/>
                </a:solidFill>
                <a:latin typeface="Roboto"/>
                <a:ea typeface="Roboto"/>
                <a:cs typeface="Roboto"/>
                <a:sym typeface="Roboto"/>
              </a:rPr>
              <a:t>The cubes is cut into 64 equal small cubes. </a:t>
            </a:r>
            <a:endParaRPr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i="0" lang="en-GB" sz="1600" u="none" cap="none" strike="noStrike">
                <a:solidFill>
                  <a:schemeClr val="dk1"/>
                </a:solidFill>
                <a:latin typeface="Roboto"/>
                <a:ea typeface="Roboto"/>
                <a:cs typeface="Roboto"/>
                <a:sym typeface="Roboto"/>
              </a:rPr>
              <a:t>         How many small cubes have no faces coloured ?</a:t>
            </a:r>
            <a:endParaRPr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24</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16</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8</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0</a:t>
            </a:r>
            <a:endParaRPr i="0" sz="1600" u="none" cap="none" strike="noStrike">
              <a:solidFill>
                <a:schemeClr val="dk1"/>
              </a:solidFill>
              <a:latin typeface="Roboto"/>
              <a:ea typeface="Roboto"/>
              <a:cs typeface="Roboto"/>
              <a:sym typeface="Roboto"/>
            </a:endParaRPr>
          </a:p>
          <a:p>
            <a:pPr indent="0" lvl="0" marL="0" marR="0" rtl="0" algn="l">
              <a:lnSpc>
                <a:spcPct val="170000"/>
              </a:lnSpc>
              <a:spcBef>
                <a:spcPts val="0"/>
              </a:spcBef>
              <a:spcAft>
                <a:spcPts val="0"/>
              </a:spcAft>
              <a:buClr>
                <a:schemeClr val="dk1"/>
              </a:buClr>
              <a:buSzPts val="1050"/>
              <a:buFont typeface="Arial"/>
              <a:buNone/>
            </a:pPr>
            <a:r>
              <a:t/>
            </a:r>
            <a:endParaRPr i="0" sz="1600" u="none" cap="none" strike="noStrike">
              <a:solidFill>
                <a:schemeClr val="dk1"/>
              </a:solidFill>
              <a:highlight>
                <a:schemeClr val="lt1"/>
              </a:highlight>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400"/>
              <a:buFont typeface="Arial"/>
              <a:buNone/>
            </a:pPr>
            <a:r>
              <a:t/>
            </a:r>
            <a:endParaRPr i="0" sz="1600" u="none" cap="none" strike="noStrike">
              <a:solidFill>
                <a:schemeClr val="dk1"/>
              </a:solidFill>
              <a:latin typeface="Roboto"/>
              <a:ea typeface="Roboto"/>
              <a:cs typeface="Roboto"/>
              <a:sym typeface="Roboto"/>
            </a:endParaRPr>
          </a:p>
        </p:txBody>
      </p:sp>
      <p:sp>
        <p:nvSpPr>
          <p:cNvPr id="208" name="Google Shape;208;g143504614d8_0_527"/>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sp>
        <p:nvSpPr>
          <p:cNvPr id="209" name="Google Shape;209;g143504614d8_0_527"/>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03</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1000"/>
                                        <p:tgtEl>
                                          <p:spTgt spid="2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3" name="Shape 213"/>
        <p:cNvGrpSpPr/>
        <p:nvPr/>
      </p:nvGrpSpPr>
      <p:grpSpPr>
        <a:xfrm>
          <a:off x="0" y="0"/>
          <a:ext cx="0" cy="0"/>
          <a:chOff x="0" y="0"/>
          <a:chExt cx="0" cy="0"/>
        </a:xfrm>
      </p:grpSpPr>
      <p:sp>
        <p:nvSpPr>
          <p:cNvPr id="214" name="Google Shape;214;g143504614d8_0_535"/>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15" name="Google Shape;215;g143504614d8_0_535"/>
          <p:cNvSpPr txBox="1"/>
          <p:nvPr/>
        </p:nvSpPr>
        <p:spPr>
          <a:xfrm>
            <a:off x="720000" y="1440000"/>
            <a:ext cx="7917300" cy="258683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There are 64 small cubes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One side of a big cube is 4 cm.</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Number of small cubes having only one faces coloured = (x - 2)</a:t>
            </a:r>
            <a:r>
              <a:rPr b="0" baseline="30000" i="0" lang="en-GB" sz="1400" u="none" cap="none" strike="noStrike">
                <a:solidFill>
                  <a:schemeClr val="dk1"/>
                </a:solidFill>
                <a:latin typeface="Roboto"/>
                <a:ea typeface="Roboto"/>
                <a:cs typeface="Roboto"/>
                <a:sym typeface="Roboto"/>
              </a:rPr>
              <a:t>3</a:t>
            </a:r>
            <a:endParaRPr b="0" baseline="3000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Here, x = side of big cube / side of small cube</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x = 4 /1</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x = 4</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Required number = (4 -2)</a:t>
            </a:r>
            <a:r>
              <a:rPr b="0" baseline="30000" i="0" lang="en-GB" sz="1400" u="none" cap="none" strike="noStrike">
                <a:solidFill>
                  <a:schemeClr val="dk1"/>
                </a:solidFill>
                <a:latin typeface="Roboto"/>
                <a:ea typeface="Roboto"/>
                <a:cs typeface="Roboto"/>
                <a:sym typeface="Roboto"/>
              </a:rPr>
              <a:t>3</a:t>
            </a:r>
            <a:endParaRPr b="0" baseline="3000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 8									</a:t>
            </a:r>
            <a:endParaRPr b="0" i="0" sz="105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15875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pic>
        <p:nvPicPr>
          <p:cNvPr id="216" name="Google Shape;216;g143504614d8_0_535"/>
          <p:cNvPicPr preferRelativeResize="0"/>
          <p:nvPr/>
        </p:nvPicPr>
        <p:blipFill rotWithShape="1">
          <a:blip r:embed="rId3">
            <a:alphaModFix/>
          </a:blip>
          <a:srcRect b="0" l="0" r="0" t="0"/>
          <a:stretch/>
        </p:blipFill>
        <p:spPr>
          <a:xfrm>
            <a:off x="5946563" y="1989663"/>
            <a:ext cx="2714625" cy="2505075"/>
          </a:xfrm>
          <a:prstGeom prst="rect">
            <a:avLst/>
          </a:prstGeom>
          <a:noFill/>
          <a:ln>
            <a:noFill/>
          </a:ln>
        </p:spPr>
      </p:pic>
      <p:sp>
        <p:nvSpPr>
          <p:cNvPr id="217" name="Google Shape;217;g143504614d8_0_535"/>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03</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xEl>
                                              <p:pRg end="0" st="0"/>
                                            </p:txEl>
                                          </p:spTgt>
                                        </p:tgtEl>
                                        <p:attrNameLst>
                                          <p:attrName>style.visibility</p:attrName>
                                        </p:attrNameLst>
                                      </p:cBhvr>
                                      <p:to>
                                        <p:strVal val="visible"/>
                                      </p:to>
                                    </p:set>
                                    <p:animEffect filter="fade" transition="in">
                                      <p:cBhvr>
                                        <p:cTn dur="1000"/>
                                        <p:tgtEl>
                                          <p:spTgt spid="214">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g143504614d8_0_545"/>
          <p:cNvSpPr txBox="1"/>
          <p:nvPr/>
        </p:nvSpPr>
        <p:spPr>
          <a:xfrm>
            <a:off x="720000" y="1439999"/>
            <a:ext cx="8472300" cy="2801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i="0" lang="en-GB" sz="1600" u="none" cap="none" strike="noStrike">
                <a:solidFill>
                  <a:schemeClr val="dk1"/>
                </a:solidFill>
                <a:latin typeface="Roboto"/>
                <a:ea typeface="Roboto"/>
                <a:cs typeface="Roboto"/>
                <a:sym typeface="Roboto"/>
              </a:rPr>
              <a:t>The following questions are based on the information given below:</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Char char="●"/>
            </a:pPr>
            <a:r>
              <a:rPr i="0" lang="en-GB" sz="1600" u="none" cap="none" strike="noStrike">
                <a:solidFill>
                  <a:schemeClr val="dk1"/>
                </a:solidFill>
                <a:latin typeface="Roboto"/>
                <a:ea typeface="Roboto"/>
                <a:cs typeface="Roboto"/>
                <a:sym typeface="Roboto"/>
              </a:rPr>
              <a:t>All the faces of cubes are painted with red colour.</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Char char="●"/>
            </a:pPr>
            <a:r>
              <a:rPr i="0" lang="en-GB" sz="1600" u="none" cap="none" strike="noStrike">
                <a:solidFill>
                  <a:schemeClr val="dk1"/>
                </a:solidFill>
                <a:latin typeface="Roboto"/>
                <a:ea typeface="Roboto"/>
                <a:cs typeface="Roboto"/>
                <a:sym typeface="Roboto"/>
              </a:rPr>
              <a:t>The cubes is cut into 64 equal small cubes. </a:t>
            </a:r>
            <a:endParaRPr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GB" sz="1600" u="none" cap="none" strike="noStrike">
                <a:solidFill>
                  <a:schemeClr val="dk1"/>
                </a:solidFill>
                <a:latin typeface="Roboto"/>
                <a:ea typeface="Roboto"/>
                <a:cs typeface="Roboto"/>
                <a:sym typeface="Roboto"/>
              </a:rPr>
              <a:t>     How many small cubes are there whose two adjacent faces are coloured red ?</a:t>
            </a:r>
            <a:endParaRPr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24</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16</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8</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0</a:t>
            </a:r>
            <a:endParaRPr i="0" sz="1600" u="none" cap="none" strike="noStrike">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400"/>
              <a:buFont typeface="Arial"/>
              <a:buNone/>
            </a:pPr>
            <a:r>
              <a:t/>
            </a:r>
            <a:endParaRPr i="0" sz="1600" u="none" cap="none" strike="noStrike">
              <a:solidFill>
                <a:schemeClr val="dk1"/>
              </a:solidFill>
              <a:latin typeface="Roboto"/>
              <a:ea typeface="Roboto"/>
              <a:cs typeface="Roboto"/>
              <a:sym typeface="Roboto"/>
            </a:endParaRPr>
          </a:p>
        </p:txBody>
      </p:sp>
      <p:sp>
        <p:nvSpPr>
          <p:cNvPr id="223" name="Google Shape;223;g143504614d8_0_545"/>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A</a:t>
            </a:r>
            <a:endParaRPr b="0" i="0" sz="1600" u="none" cap="none" strike="noStrike">
              <a:solidFill>
                <a:schemeClr val="dk1"/>
              </a:solidFill>
              <a:latin typeface="Roboto"/>
              <a:ea typeface="Roboto"/>
              <a:cs typeface="Roboto"/>
              <a:sym typeface="Roboto"/>
            </a:endParaRPr>
          </a:p>
        </p:txBody>
      </p:sp>
      <p:sp>
        <p:nvSpPr>
          <p:cNvPr id="224" name="Google Shape;224;g143504614d8_0_545"/>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04</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
                                        </p:tgtEl>
                                        <p:attrNameLst>
                                          <p:attrName>style.visibility</p:attrName>
                                        </p:attrNameLst>
                                      </p:cBhvr>
                                      <p:to>
                                        <p:strVal val="visible"/>
                                      </p:to>
                                    </p:set>
                                    <p:animEffect filter="fade" transition="in">
                                      <p:cBhvr>
                                        <p:cTn dur="1000"/>
                                        <p:tgtEl>
                                          <p:spTgt spid="2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8" name="Shape 228"/>
        <p:cNvGrpSpPr/>
        <p:nvPr/>
      </p:nvGrpSpPr>
      <p:grpSpPr>
        <a:xfrm>
          <a:off x="0" y="0"/>
          <a:ext cx="0" cy="0"/>
          <a:chOff x="0" y="0"/>
          <a:chExt cx="0" cy="0"/>
        </a:xfrm>
      </p:grpSpPr>
      <p:sp>
        <p:nvSpPr>
          <p:cNvPr id="229" name="Google Shape;229;g143504614d8_0_553"/>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30" name="Google Shape;230;g143504614d8_0_553"/>
          <p:cNvSpPr txBox="1"/>
          <p:nvPr/>
        </p:nvSpPr>
        <p:spPr>
          <a:xfrm>
            <a:off x="720000" y="1440000"/>
            <a:ext cx="7917300" cy="2155945"/>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There are 64 small cubes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One side of a big cube is 4 cm.</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Number of small cubes having two adjacent faces coloured red = (x - 2) x No. of edges</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 (4 - 2) x 12</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 24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 										</a:t>
            </a:r>
            <a:endParaRPr b="0" i="0" sz="1400" u="none" cap="none" strike="noStrike">
              <a:solidFill>
                <a:schemeClr val="dk1"/>
              </a:solidFill>
              <a:latin typeface="Roboto"/>
              <a:ea typeface="Roboto"/>
              <a:cs typeface="Roboto"/>
              <a:sym typeface="Roboto"/>
            </a:endParaRPr>
          </a:p>
          <a:p>
            <a:pPr indent="0" lvl="0" marL="15875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pic>
        <p:nvPicPr>
          <p:cNvPr id="231" name="Google Shape;231;g143504614d8_0_553"/>
          <p:cNvPicPr preferRelativeResize="0"/>
          <p:nvPr/>
        </p:nvPicPr>
        <p:blipFill rotWithShape="1">
          <a:blip r:embed="rId3">
            <a:alphaModFix/>
          </a:blip>
          <a:srcRect b="0" l="0" r="0" t="0"/>
          <a:stretch/>
        </p:blipFill>
        <p:spPr>
          <a:xfrm>
            <a:off x="5946563" y="2523063"/>
            <a:ext cx="2714625" cy="2505075"/>
          </a:xfrm>
          <a:prstGeom prst="rect">
            <a:avLst/>
          </a:prstGeom>
          <a:noFill/>
          <a:ln>
            <a:noFill/>
          </a:ln>
        </p:spPr>
      </p:pic>
      <p:sp>
        <p:nvSpPr>
          <p:cNvPr id="232" name="Google Shape;232;g143504614d8_0_553"/>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04</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
                                            <p:txEl>
                                              <p:pRg end="0" st="0"/>
                                            </p:txEl>
                                          </p:spTgt>
                                        </p:tgtEl>
                                        <p:attrNameLst>
                                          <p:attrName>style.visibility</p:attrName>
                                        </p:attrNameLst>
                                      </p:cBhvr>
                                      <p:to>
                                        <p:strVal val="visible"/>
                                      </p:to>
                                    </p:set>
                                    <p:animEffect filter="fade" transition="in">
                                      <p:cBhvr>
                                        <p:cTn dur="1000"/>
                                        <p:tgtEl>
                                          <p:spTgt spid="229">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g143504614d8_0_563"/>
          <p:cNvSpPr txBox="1"/>
          <p:nvPr/>
        </p:nvSpPr>
        <p:spPr>
          <a:xfrm>
            <a:off x="720000" y="1448100"/>
            <a:ext cx="7926000" cy="2801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i="0" lang="en-GB" sz="1600" u="none" cap="none" strike="noStrike">
                <a:solidFill>
                  <a:schemeClr val="dk1"/>
                </a:solidFill>
                <a:latin typeface="Roboto"/>
                <a:ea typeface="Roboto"/>
                <a:cs typeface="Roboto"/>
                <a:sym typeface="Roboto"/>
              </a:rPr>
              <a:t>A cube is cut in two equal parts along a plane parallel to one of its faces. One piece is then coloured red on the two larger faces and green on the remaining, while the other is coloured green on two smaller adjacent faces and red on the remaining. Each is then cut into 32 cubes of same size and mixed up. How many cubes have two red and one green face on each ?</a:t>
            </a:r>
            <a:endParaRPr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0</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8</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16</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4</a:t>
            </a:r>
            <a:endParaRPr i="0" sz="1600" u="none" cap="none" strike="noStrike">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400"/>
              <a:buFont typeface="Arial"/>
              <a:buNone/>
            </a:pPr>
            <a:r>
              <a:t/>
            </a:r>
            <a:endParaRPr i="0" sz="1600" u="none" cap="none" strike="noStrike">
              <a:solidFill>
                <a:schemeClr val="dk1"/>
              </a:solidFill>
              <a:latin typeface="Roboto"/>
              <a:ea typeface="Roboto"/>
              <a:cs typeface="Roboto"/>
              <a:sym typeface="Roboto"/>
            </a:endParaRPr>
          </a:p>
        </p:txBody>
      </p:sp>
      <p:sp>
        <p:nvSpPr>
          <p:cNvPr id="238" name="Google Shape;238;g143504614d8_0_563"/>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D</a:t>
            </a:r>
            <a:endParaRPr b="0" i="0" sz="1600" u="none" cap="none" strike="noStrike">
              <a:solidFill>
                <a:schemeClr val="dk1"/>
              </a:solidFill>
              <a:latin typeface="Roboto"/>
              <a:ea typeface="Roboto"/>
              <a:cs typeface="Roboto"/>
              <a:sym typeface="Roboto"/>
            </a:endParaRPr>
          </a:p>
        </p:txBody>
      </p:sp>
      <p:sp>
        <p:nvSpPr>
          <p:cNvPr id="239" name="Google Shape;239;g143504614d8_0_563"/>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05</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
                                        </p:tgtEl>
                                        <p:attrNameLst>
                                          <p:attrName>style.visibility</p:attrName>
                                        </p:attrNameLst>
                                      </p:cBhvr>
                                      <p:to>
                                        <p:strVal val="visible"/>
                                      </p:to>
                                    </p:set>
                                    <p:animEffect filter="fade" transition="in">
                                      <p:cBhvr>
                                        <p:cTn dur="1000"/>
                                        <p:tgtEl>
                                          <p:spTgt spid="2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3" name="Shape 243"/>
        <p:cNvGrpSpPr/>
        <p:nvPr/>
      </p:nvGrpSpPr>
      <p:grpSpPr>
        <a:xfrm>
          <a:off x="0" y="0"/>
          <a:ext cx="0" cy="0"/>
          <a:chOff x="0" y="0"/>
          <a:chExt cx="0" cy="0"/>
        </a:xfrm>
      </p:grpSpPr>
      <p:sp>
        <p:nvSpPr>
          <p:cNvPr id="244" name="Google Shape;244;g143504614d8_0_571"/>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45" name="Google Shape;245;g143504614d8_0_571"/>
          <p:cNvSpPr txBox="1"/>
          <p:nvPr/>
        </p:nvSpPr>
        <p:spPr>
          <a:xfrm>
            <a:off x="703438" y="1440000"/>
            <a:ext cx="7917300" cy="1078727"/>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From the second diagram we will have only 4 cubes with 2 red and 1 green face on each</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 </a:t>
            </a:r>
            <a:endParaRPr b="0" i="0" sz="1400" u="none" cap="none" strike="noStrike">
              <a:solidFill>
                <a:schemeClr val="dk1"/>
              </a:solidFill>
              <a:latin typeface="Roboto"/>
              <a:ea typeface="Roboto"/>
              <a:cs typeface="Roboto"/>
              <a:sym typeface="Roboto"/>
            </a:endParaRPr>
          </a:p>
          <a:p>
            <a:pPr indent="0" lvl="0" marL="15875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pic>
        <p:nvPicPr>
          <p:cNvPr id="246" name="Google Shape;246;g143504614d8_0_571"/>
          <p:cNvPicPr preferRelativeResize="0"/>
          <p:nvPr/>
        </p:nvPicPr>
        <p:blipFill rotWithShape="1">
          <a:blip r:embed="rId3">
            <a:alphaModFix/>
          </a:blip>
          <a:srcRect b="0" l="0" r="0" t="0"/>
          <a:stretch/>
        </p:blipFill>
        <p:spPr>
          <a:xfrm>
            <a:off x="2295113" y="2310600"/>
            <a:ext cx="4733925" cy="2114550"/>
          </a:xfrm>
          <a:prstGeom prst="rect">
            <a:avLst/>
          </a:prstGeom>
          <a:noFill/>
          <a:ln>
            <a:noFill/>
          </a:ln>
        </p:spPr>
      </p:pic>
      <p:sp>
        <p:nvSpPr>
          <p:cNvPr id="247" name="Google Shape;247;g143504614d8_0_571"/>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05</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4">
                                            <p:txEl>
                                              <p:pRg end="0" st="0"/>
                                            </p:txEl>
                                          </p:spTgt>
                                        </p:tgtEl>
                                        <p:attrNameLst>
                                          <p:attrName>style.visibility</p:attrName>
                                        </p:attrNameLst>
                                      </p:cBhvr>
                                      <p:to>
                                        <p:strVal val="visible"/>
                                      </p:to>
                                    </p:set>
                                    <p:animEffect filter="fade" transition="in">
                                      <p:cBhvr>
                                        <p:cTn dur="1000"/>
                                        <p:tgtEl>
                                          <p:spTgt spid="244">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g143504614d8_0_581"/>
          <p:cNvSpPr txBox="1"/>
          <p:nvPr/>
        </p:nvSpPr>
        <p:spPr>
          <a:xfrm>
            <a:off x="720000" y="1440000"/>
            <a:ext cx="7856400" cy="206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i="0" lang="en-GB" sz="1600" u="none" cap="none" strike="noStrike">
                <a:solidFill>
                  <a:schemeClr val="dk1"/>
                </a:solidFill>
                <a:latin typeface="Roboto"/>
                <a:ea typeface="Roboto"/>
                <a:cs typeface="Roboto"/>
                <a:sym typeface="Roboto"/>
              </a:rPr>
              <a:t>If a cube is cut 17 times , then what is the maximum number of identical pieces that can be obtained ?</a:t>
            </a:r>
            <a:endParaRPr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250</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288</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294</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275</a:t>
            </a:r>
            <a:endParaRPr i="0" sz="1600" u="none" cap="none" strike="noStrike">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400"/>
              <a:buFont typeface="Arial"/>
              <a:buNone/>
            </a:pPr>
            <a:r>
              <a:t/>
            </a:r>
            <a:endParaRPr i="0" sz="1600" u="none" cap="none" strike="noStrike">
              <a:solidFill>
                <a:schemeClr val="dk1"/>
              </a:solidFill>
              <a:latin typeface="Roboto"/>
              <a:ea typeface="Roboto"/>
              <a:cs typeface="Roboto"/>
              <a:sym typeface="Roboto"/>
            </a:endParaRPr>
          </a:p>
        </p:txBody>
      </p:sp>
      <p:sp>
        <p:nvSpPr>
          <p:cNvPr id="253" name="Google Shape;253;g143504614d8_0_581"/>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sp>
        <p:nvSpPr>
          <p:cNvPr id="254" name="Google Shape;254;g143504614d8_0_581"/>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06</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3"/>
                                        </p:tgtEl>
                                        <p:attrNameLst>
                                          <p:attrName>style.visibility</p:attrName>
                                        </p:attrNameLst>
                                      </p:cBhvr>
                                      <p:to>
                                        <p:strVal val="visible"/>
                                      </p:to>
                                    </p:set>
                                    <p:animEffect filter="fade" transition="in">
                                      <p:cBhvr>
                                        <p:cTn dur="1000"/>
                                        <p:tgtEl>
                                          <p:spTgt spid="2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8" name="Shape 258"/>
        <p:cNvGrpSpPr/>
        <p:nvPr/>
      </p:nvGrpSpPr>
      <p:grpSpPr>
        <a:xfrm>
          <a:off x="0" y="0"/>
          <a:ext cx="0" cy="0"/>
          <a:chOff x="0" y="0"/>
          <a:chExt cx="0" cy="0"/>
        </a:xfrm>
      </p:grpSpPr>
      <p:sp>
        <p:nvSpPr>
          <p:cNvPr id="259" name="Google Shape;259;g143504614d8_0_589"/>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60" name="Google Shape;260;g143504614d8_0_589"/>
          <p:cNvSpPr txBox="1"/>
          <p:nvPr/>
        </p:nvSpPr>
        <p:spPr>
          <a:xfrm>
            <a:off x="720000" y="1440000"/>
            <a:ext cx="7917300" cy="1671196"/>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Let’s make cuts parallel to the face planes of the cube. If we make a cuts parallel to 2 opposite faces, a+1 identical pieces might reveal themselves. Same with the other two pairs of opposite faces for a total of (a+1)(b+1)(c+1) pieces. So we maximize  (a+1)(b+1)(c+1) subject to a+b+c=17. Perhaps, a=5,b=6 and c=6, making 294 pieces.</a:t>
            </a:r>
            <a:endParaRPr b="0" i="0" sz="1200" u="none" cap="none" strike="noStrike">
              <a:solidFill>
                <a:srgbClr val="333333"/>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15875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261" name="Google Shape;261;g143504614d8_0_589"/>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06</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xEl>
                                              <p:pRg end="0" st="0"/>
                                            </p:txEl>
                                          </p:spTgt>
                                        </p:tgtEl>
                                        <p:attrNameLst>
                                          <p:attrName>style.visibility</p:attrName>
                                        </p:attrNameLst>
                                      </p:cBhvr>
                                      <p:to>
                                        <p:strVal val="visible"/>
                                      </p:to>
                                    </p:set>
                                    <p:animEffect filter="fade" transition="in">
                                      <p:cBhvr>
                                        <p:cTn dur="1000"/>
                                        <p:tgtEl>
                                          <p:spTgt spid="259">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g143504614d8_0_598"/>
          <p:cNvSpPr txBox="1"/>
          <p:nvPr/>
        </p:nvSpPr>
        <p:spPr>
          <a:xfrm>
            <a:off x="720000" y="1439999"/>
            <a:ext cx="8472300" cy="1816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i="0" lang="en-GB" sz="1600" u="none" cap="none" strike="noStrike">
                <a:solidFill>
                  <a:schemeClr val="dk1"/>
                </a:solidFill>
                <a:latin typeface="Roboto"/>
                <a:ea typeface="Roboto"/>
                <a:cs typeface="Roboto"/>
                <a:sym typeface="Roboto"/>
              </a:rPr>
              <a:t>What is the maximum number of identical pieces a cube can be cut into by 13 cuts?</a:t>
            </a:r>
            <a:endParaRPr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120</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150</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140</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160</a:t>
            </a:r>
            <a:endParaRPr i="0" sz="1600" u="none" cap="none" strike="noStrike">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400"/>
              <a:buFont typeface="Arial"/>
              <a:buNone/>
            </a:pPr>
            <a:r>
              <a:t/>
            </a:r>
            <a:endParaRPr i="0" sz="1600" u="none" cap="none" strike="noStrike">
              <a:solidFill>
                <a:schemeClr val="dk1"/>
              </a:solidFill>
              <a:latin typeface="Roboto"/>
              <a:ea typeface="Roboto"/>
              <a:cs typeface="Roboto"/>
              <a:sym typeface="Roboto"/>
            </a:endParaRPr>
          </a:p>
        </p:txBody>
      </p:sp>
      <p:sp>
        <p:nvSpPr>
          <p:cNvPr id="267" name="Google Shape;267;g143504614d8_0_598"/>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B</a:t>
            </a:r>
            <a:endParaRPr b="0" i="0" sz="1600" u="none" cap="none" strike="noStrike">
              <a:solidFill>
                <a:schemeClr val="dk1"/>
              </a:solidFill>
              <a:latin typeface="Roboto"/>
              <a:ea typeface="Roboto"/>
              <a:cs typeface="Roboto"/>
              <a:sym typeface="Roboto"/>
            </a:endParaRPr>
          </a:p>
        </p:txBody>
      </p:sp>
      <p:sp>
        <p:nvSpPr>
          <p:cNvPr id="268" name="Google Shape;268;g143504614d8_0_598"/>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07</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gtEl>
                                        <p:attrNameLst>
                                          <p:attrName>style.visibility</p:attrName>
                                        </p:attrNameLst>
                                      </p:cBhvr>
                                      <p:to>
                                        <p:strVal val="visible"/>
                                      </p:to>
                                    </p:set>
                                    <p:animEffect filter="fade" transition="in">
                                      <p:cBhvr>
                                        <p:cTn dur="1000"/>
                                        <p:tgtEl>
                                          <p:spTgt spid="2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2" name="Shape 272"/>
        <p:cNvGrpSpPr/>
        <p:nvPr/>
      </p:nvGrpSpPr>
      <p:grpSpPr>
        <a:xfrm>
          <a:off x="0" y="0"/>
          <a:ext cx="0" cy="0"/>
          <a:chOff x="0" y="0"/>
          <a:chExt cx="0" cy="0"/>
        </a:xfrm>
      </p:grpSpPr>
      <p:sp>
        <p:nvSpPr>
          <p:cNvPr id="273" name="Google Shape;273;g143504614d8_0_606"/>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74" name="Google Shape;274;g143504614d8_0_606"/>
          <p:cNvSpPr txBox="1"/>
          <p:nvPr/>
        </p:nvSpPr>
        <p:spPr>
          <a:xfrm>
            <a:off x="720000" y="1440000"/>
            <a:ext cx="8148300" cy="4494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First cut will divide the cube in 2 parts. The second cut along perpendicular direction will double the number of parts to 4, now the 3rd cut will also be in perpendicular direction which will double the 4 parts to 8. So totally 8 cubes can be formed with 3 cuts. All the 3 direction should be perpendicular to each other.Note that 1 cut = 2 parts of cube, 2 cut = 3 parts and so on. x cuts made along one plane results in x + 1 pieces. Logic behind this is, divide the given number of cuts in 3 equal parts and put that many cuts on each perpendicular direction.</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For obtaining identical pieces, cuts must be made parallel to 3 planes of the cube.</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Let we made x, y, z cuts along all three planes such that (x+1)(y+1)(z+1) = t is maximum &amp; x + y + z = 13.</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Different combinations can be possible but t will be maximum in (4, 4, 5) cuts.</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So maximum pieces = (4 + 1) * (4 + 1) * (5 + 1) = 5 * 5 * 6 = 150</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15875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275" name="Google Shape;275;g143504614d8_0_606"/>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07</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xEl>
                                              <p:pRg end="0" st="0"/>
                                            </p:txEl>
                                          </p:spTgt>
                                        </p:tgtEl>
                                        <p:attrNameLst>
                                          <p:attrName>style.visibility</p:attrName>
                                        </p:attrNameLst>
                                      </p:cBhvr>
                                      <p:to>
                                        <p:strVal val="visible"/>
                                      </p:to>
                                    </p:set>
                                    <p:animEffect filter="fade" transition="in">
                                      <p:cBhvr>
                                        <p:cTn dur="1000"/>
                                        <p:tgtEl>
                                          <p:spTgt spid="27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g143504614d8_0_614"/>
          <p:cNvSpPr txBox="1"/>
          <p:nvPr/>
        </p:nvSpPr>
        <p:spPr>
          <a:xfrm>
            <a:off x="720000" y="1439999"/>
            <a:ext cx="8472300" cy="378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i="0" lang="en-GB" sz="1500" u="none" cap="none" strike="noStrike">
                <a:solidFill>
                  <a:schemeClr val="dk1"/>
                </a:solidFill>
                <a:latin typeface="Roboto"/>
                <a:ea typeface="Roboto"/>
                <a:cs typeface="Roboto"/>
                <a:sym typeface="Roboto"/>
              </a:rPr>
              <a:t>Six dice with upper faces erased are as shows.</a:t>
            </a:r>
            <a:endParaRPr i="0" sz="15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i="0" sz="15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i="0" sz="15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i="0" sz="15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i="0" sz="15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i="0" sz="15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i="0" sz="15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i="0" lang="en-GB" sz="1500" u="none" cap="none" strike="noStrike">
                <a:solidFill>
                  <a:schemeClr val="dk1"/>
                </a:solidFill>
                <a:latin typeface="Roboto"/>
                <a:ea typeface="Roboto"/>
                <a:cs typeface="Roboto"/>
                <a:sym typeface="Roboto"/>
              </a:rPr>
              <a:t>The sum of the numbers of dots on the opposite face is 7.If even numbered dice have even number of dots on their top faces, then what would be the total number of dots on the top faces of their dice?</a:t>
            </a:r>
            <a:endParaRPr i="0" sz="15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i="0" sz="1500" u="none" cap="none" strike="noStrike">
              <a:solidFill>
                <a:schemeClr val="dk1"/>
              </a:solidFill>
              <a:latin typeface="Roboto"/>
              <a:ea typeface="Roboto"/>
              <a:cs typeface="Roboto"/>
              <a:sym typeface="Roboto"/>
            </a:endParaRPr>
          </a:p>
          <a:p>
            <a:pPr indent="-323850" lvl="0" marL="457200" marR="0" rtl="0" algn="l">
              <a:lnSpc>
                <a:spcPct val="100000"/>
              </a:lnSpc>
              <a:spcBef>
                <a:spcPts val="0"/>
              </a:spcBef>
              <a:spcAft>
                <a:spcPts val="0"/>
              </a:spcAft>
              <a:buClr>
                <a:schemeClr val="dk1"/>
              </a:buClr>
              <a:buSzPts val="1500"/>
              <a:buFont typeface="Roboto"/>
              <a:buAutoNum type="alphaUcPeriod"/>
            </a:pPr>
            <a:r>
              <a:rPr i="0" lang="en-GB" sz="1500" u="none" cap="none" strike="noStrike">
                <a:solidFill>
                  <a:schemeClr val="dk1"/>
                </a:solidFill>
                <a:latin typeface="Roboto"/>
                <a:ea typeface="Roboto"/>
                <a:cs typeface="Roboto"/>
                <a:sym typeface="Roboto"/>
              </a:rPr>
              <a:t>12</a:t>
            </a:r>
            <a:endParaRPr i="0" sz="1500" u="none" cap="none" strike="noStrike">
              <a:solidFill>
                <a:schemeClr val="dk1"/>
              </a:solidFill>
              <a:latin typeface="Roboto"/>
              <a:ea typeface="Roboto"/>
              <a:cs typeface="Roboto"/>
              <a:sym typeface="Roboto"/>
            </a:endParaRPr>
          </a:p>
          <a:p>
            <a:pPr indent="-323850" lvl="0" marL="457200" marR="0" rtl="0" algn="l">
              <a:lnSpc>
                <a:spcPct val="100000"/>
              </a:lnSpc>
              <a:spcBef>
                <a:spcPts val="0"/>
              </a:spcBef>
              <a:spcAft>
                <a:spcPts val="0"/>
              </a:spcAft>
              <a:buClr>
                <a:schemeClr val="dk1"/>
              </a:buClr>
              <a:buSzPts val="1500"/>
              <a:buFont typeface="Roboto"/>
              <a:buAutoNum type="alphaUcPeriod"/>
            </a:pPr>
            <a:r>
              <a:rPr i="0" lang="en-GB" sz="1500" u="none" cap="none" strike="noStrike">
                <a:solidFill>
                  <a:schemeClr val="dk1"/>
                </a:solidFill>
                <a:latin typeface="Roboto"/>
                <a:ea typeface="Roboto"/>
                <a:cs typeface="Roboto"/>
                <a:sym typeface="Roboto"/>
              </a:rPr>
              <a:t>14</a:t>
            </a:r>
            <a:endParaRPr i="0" sz="1500" u="none" cap="none" strike="noStrike">
              <a:solidFill>
                <a:schemeClr val="dk1"/>
              </a:solidFill>
              <a:latin typeface="Roboto"/>
              <a:ea typeface="Roboto"/>
              <a:cs typeface="Roboto"/>
              <a:sym typeface="Roboto"/>
            </a:endParaRPr>
          </a:p>
          <a:p>
            <a:pPr indent="-323850" lvl="0" marL="457200" marR="0" rtl="0" algn="l">
              <a:lnSpc>
                <a:spcPct val="100000"/>
              </a:lnSpc>
              <a:spcBef>
                <a:spcPts val="0"/>
              </a:spcBef>
              <a:spcAft>
                <a:spcPts val="0"/>
              </a:spcAft>
              <a:buClr>
                <a:schemeClr val="dk1"/>
              </a:buClr>
              <a:buSzPts val="1500"/>
              <a:buFont typeface="Roboto"/>
              <a:buAutoNum type="alphaUcPeriod"/>
            </a:pPr>
            <a:r>
              <a:rPr i="0" lang="en-GB" sz="1500" u="none" cap="none" strike="noStrike">
                <a:solidFill>
                  <a:schemeClr val="dk1"/>
                </a:solidFill>
                <a:latin typeface="Roboto"/>
                <a:ea typeface="Roboto"/>
                <a:cs typeface="Roboto"/>
                <a:sym typeface="Roboto"/>
              </a:rPr>
              <a:t>18</a:t>
            </a:r>
            <a:endParaRPr i="0" sz="1500" u="none" cap="none" strike="noStrike">
              <a:solidFill>
                <a:schemeClr val="dk1"/>
              </a:solidFill>
              <a:latin typeface="Roboto"/>
              <a:ea typeface="Roboto"/>
              <a:cs typeface="Roboto"/>
              <a:sym typeface="Roboto"/>
            </a:endParaRPr>
          </a:p>
          <a:p>
            <a:pPr indent="-323850" lvl="0" marL="457200" marR="0" rtl="0" algn="l">
              <a:lnSpc>
                <a:spcPct val="100000"/>
              </a:lnSpc>
              <a:spcBef>
                <a:spcPts val="0"/>
              </a:spcBef>
              <a:spcAft>
                <a:spcPts val="0"/>
              </a:spcAft>
              <a:buClr>
                <a:schemeClr val="dk1"/>
              </a:buClr>
              <a:buSzPts val="1500"/>
              <a:buFont typeface="Roboto"/>
              <a:buAutoNum type="alphaUcPeriod"/>
            </a:pPr>
            <a:r>
              <a:rPr i="0" lang="en-GB" sz="1500" u="none" cap="none" strike="noStrike">
                <a:solidFill>
                  <a:schemeClr val="dk1"/>
                </a:solidFill>
                <a:latin typeface="Roboto"/>
                <a:ea typeface="Roboto"/>
                <a:cs typeface="Roboto"/>
                <a:sym typeface="Roboto"/>
              </a:rPr>
              <a:t>24</a:t>
            </a:r>
            <a:endParaRPr i="0" sz="1500" u="none" cap="none" strike="noStrike">
              <a:solidFill>
                <a:srgbClr val="333333"/>
              </a:solidFill>
              <a:highlight>
                <a:schemeClr val="lt1"/>
              </a:highlight>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400"/>
              <a:buFont typeface="Arial"/>
              <a:buNone/>
            </a:pPr>
            <a:r>
              <a:t/>
            </a:r>
            <a:endParaRPr i="0" sz="1500" u="none" cap="none" strike="noStrike">
              <a:solidFill>
                <a:schemeClr val="dk1"/>
              </a:solidFill>
              <a:latin typeface="Roboto"/>
              <a:ea typeface="Roboto"/>
              <a:cs typeface="Roboto"/>
              <a:sym typeface="Roboto"/>
            </a:endParaRPr>
          </a:p>
        </p:txBody>
      </p:sp>
      <p:sp>
        <p:nvSpPr>
          <p:cNvPr id="281" name="Google Shape;281;g143504614d8_0_614"/>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pic>
        <p:nvPicPr>
          <p:cNvPr id="282" name="Google Shape;282;g143504614d8_0_614"/>
          <p:cNvPicPr preferRelativeResize="0"/>
          <p:nvPr/>
        </p:nvPicPr>
        <p:blipFill rotWithShape="1">
          <a:blip r:embed="rId3">
            <a:alphaModFix/>
          </a:blip>
          <a:srcRect b="0" l="0" r="0" t="0"/>
          <a:stretch/>
        </p:blipFill>
        <p:spPr>
          <a:xfrm>
            <a:off x="842800" y="1971400"/>
            <a:ext cx="2877200" cy="768825"/>
          </a:xfrm>
          <a:prstGeom prst="rect">
            <a:avLst/>
          </a:prstGeom>
          <a:noFill/>
          <a:ln>
            <a:noFill/>
          </a:ln>
        </p:spPr>
      </p:pic>
      <p:sp>
        <p:nvSpPr>
          <p:cNvPr id="283" name="Google Shape;283;g143504614d8_0_614"/>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08</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1"/>
                                        </p:tgtEl>
                                        <p:attrNameLst>
                                          <p:attrName>style.visibility</p:attrName>
                                        </p:attrNameLst>
                                      </p:cBhvr>
                                      <p:to>
                                        <p:strVal val="visible"/>
                                      </p:to>
                                    </p:set>
                                    <p:animEffect filter="fade" transition="in">
                                      <p:cBhvr>
                                        <p:cTn dur="1000"/>
                                        <p:tgtEl>
                                          <p:spTgt spid="2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7" name="Shape 287"/>
        <p:cNvGrpSpPr/>
        <p:nvPr/>
      </p:nvGrpSpPr>
      <p:grpSpPr>
        <a:xfrm>
          <a:off x="0" y="0"/>
          <a:ext cx="0" cy="0"/>
          <a:chOff x="0" y="0"/>
          <a:chExt cx="0" cy="0"/>
        </a:xfrm>
      </p:grpSpPr>
      <p:sp>
        <p:nvSpPr>
          <p:cNvPr id="288" name="Google Shape;288;g143504614d8_0_622"/>
          <p:cNvSpPr txBox="1"/>
          <p:nvPr/>
        </p:nvSpPr>
        <p:spPr>
          <a:xfrm>
            <a:off x="720000" y="1440000"/>
            <a:ext cx="8148300" cy="1859966"/>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Even numbered dice are: (II), (IV) and (VI)</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80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No. of dots on the top face of (II) dice = 6</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No. of dots on the top face of (IV) dice = 6</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and No. of dots on the top face of (VI) dice = 6</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Therefore Required total = 6 + 6 + 6 = 18</a:t>
            </a:r>
            <a:endParaRPr b="0" i="0" sz="1100" u="none" cap="none" strike="noStrike">
              <a:solidFill>
                <a:srgbClr val="333333"/>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15875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289" name="Google Shape;289;g143504614d8_0_622"/>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08</a:t>
            </a:r>
            <a:endParaRPr b="1" sz="2000">
              <a:solidFill>
                <a:srgbClr val="8182EF"/>
              </a:solidFill>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g143504614d8_0_631"/>
          <p:cNvSpPr txBox="1"/>
          <p:nvPr/>
        </p:nvSpPr>
        <p:spPr>
          <a:xfrm>
            <a:off x="720000" y="1440000"/>
            <a:ext cx="8439600" cy="3671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GB" sz="1550" u="none" cap="none" strike="noStrike">
                <a:solidFill>
                  <a:schemeClr val="dk1"/>
                </a:solidFill>
                <a:latin typeface="Roboto"/>
                <a:ea typeface="Roboto"/>
                <a:cs typeface="Roboto"/>
                <a:sym typeface="Roboto"/>
              </a:rPr>
              <a:t>Six dice with upper faces erased are as shows.</a:t>
            </a:r>
            <a:endParaRPr b="0" i="0" sz="155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55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55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55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55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55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55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550" u="none" cap="none" strike="noStrike">
                <a:solidFill>
                  <a:schemeClr val="dk1"/>
                </a:solidFill>
                <a:latin typeface="Roboto"/>
                <a:ea typeface="Roboto"/>
                <a:cs typeface="Roboto"/>
                <a:sym typeface="Roboto"/>
              </a:rPr>
              <a:t>The sum of the numbers of dots on the opposite face is 7.If even numbered dice have even number of dots on their top faces, then How many small cubes have three faces coloured ?</a:t>
            </a:r>
            <a:endParaRPr b="0" i="0" sz="155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550" u="none" cap="none" strike="noStrike">
              <a:solidFill>
                <a:schemeClr val="dk1"/>
              </a:solidFill>
              <a:latin typeface="Roboto"/>
              <a:ea typeface="Roboto"/>
              <a:cs typeface="Roboto"/>
              <a:sym typeface="Roboto"/>
            </a:endParaRPr>
          </a:p>
          <a:p>
            <a:pPr indent="-327025" lvl="0" marL="457200" marR="0" rtl="0" algn="l">
              <a:lnSpc>
                <a:spcPct val="100000"/>
              </a:lnSpc>
              <a:spcBef>
                <a:spcPts val="0"/>
              </a:spcBef>
              <a:spcAft>
                <a:spcPts val="0"/>
              </a:spcAft>
              <a:buClr>
                <a:schemeClr val="dk1"/>
              </a:buClr>
              <a:buSzPts val="1550"/>
              <a:buFont typeface="Arial"/>
              <a:buAutoNum type="alphaUcPeriod"/>
            </a:pPr>
            <a:r>
              <a:rPr b="0" i="0" lang="en-GB" sz="1550" u="none" cap="none" strike="noStrike">
                <a:solidFill>
                  <a:schemeClr val="dk1"/>
                </a:solidFill>
                <a:latin typeface="Roboto"/>
                <a:ea typeface="Roboto"/>
                <a:cs typeface="Roboto"/>
                <a:sym typeface="Roboto"/>
              </a:rPr>
              <a:t>8</a:t>
            </a:r>
            <a:endParaRPr b="0" i="0" sz="1550" u="none" cap="none" strike="noStrike">
              <a:solidFill>
                <a:schemeClr val="dk1"/>
              </a:solidFill>
              <a:latin typeface="Roboto"/>
              <a:ea typeface="Roboto"/>
              <a:cs typeface="Roboto"/>
              <a:sym typeface="Roboto"/>
            </a:endParaRPr>
          </a:p>
          <a:p>
            <a:pPr indent="-327025" lvl="0" marL="457200" marR="0" rtl="0" algn="l">
              <a:lnSpc>
                <a:spcPct val="100000"/>
              </a:lnSpc>
              <a:spcBef>
                <a:spcPts val="0"/>
              </a:spcBef>
              <a:spcAft>
                <a:spcPts val="0"/>
              </a:spcAft>
              <a:buClr>
                <a:schemeClr val="dk1"/>
              </a:buClr>
              <a:buSzPts val="1550"/>
              <a:buFont typeface="Arial"/>
              <a:buAutoNum type="alphaUcPeriod"/>
            </a:pPr>
            <a:r>
              <a:rPr b="0" i="0" lang="en-GB" sz="1550" u="none" cap="none" strike="noStrike">
                <a:solidFill>
                  <a:schemeClr val="dk1"/>
                </a:solidFill>
                <a:latin typeface="Roboto"/>
                <a:ea typeface="Roboto"/>
                <a:cs typeface="Roboto"/>
                <a:sym typeface="Roboto"/>
              </a:rPr>
              <a:t>18</a:t>
            </a:r>
            <a:endParaRPr b="0" i="0" sz="1550" u="none" cap="none" strike="noStrike">
              <a:solidFill>
                <a:schemeClr val="dk1"/>
              </a:solidFill>
              <a:latin typeface="Roboto"/>
              <a:ea typeface="Roboto"/>
              <a:cs typeface="Roboto"/>
              <a:sym typeface="Roboto"/>
            </a:endParaRPr>
          </a:p>
          <a:p>
            <a:pPr indent="-327025" lvl="0" marL="457200" marR="0" rtl="0" algn="l">
              <a:lnSpc>
                <a:spcPct val="100000"/>
              </a:lnSpc>
              <a:spcBef>
                <a:spcPts val="0"/>
              </a:spcBef>
              <a:spcAft>
                <a:spcPts val="0"/>
              </a:spcAft>
              <a:buClr>
                <a:schemeClr val="dk1"/>
              </a:buClr>
              <a:buSzPts val="1550"/>
              <a:buFont typeface="Arial"/>
              <a:buAutoNum type="alphaUcPeriod"/>
            </a:pPr>
            <a:r>
              <a:rPr b="0" i="0" lang="en-GB" sz="1550" u="none" cap="none" strike="noStrike">
                <a:solidFill>
                  <a:schemeClr val="dk1"/>
                </a:solidFill>
                <a:latin typeface="Roboto"/>
                <a:ea typeface="Roboto"/>
                <a:cs typeface="Roboto"/>
                <a:sym typeface="Roboto"/>
              </a:rPr>
              <a:t>12</a:t>
            </a:r>
            <a:endParaRPr b="0" i="0" sz="1550" u="none" cap="none" strike="noStrike">
              <a:solidFill>
                <a:schemeClr val="dk1"/>
              </a:solidFill>
              <a:latin typeface="Roboto"/>
              <a:ea typeface="Roboto"/>
              <a:cs typeface="Roboto"/>
              <a:sym typeface="Roboto"/>
            </a:endParaRPr>
          </a:p>
          <a:p>
            <a:pPr indent="-327025" lvl="0" marL="457200" marR="0" rtl="0" algn="l">
              <a:lnSpc>
                <a:spcPct val="100000"/>
              </a:lnSpc>
              <a:spcBef>
                <a:spcPts val="0"/>
              </a:spcBef>
              <a:spcAft>
                <a:spcPts val="0"/>
              </a:spcAft>
              <a:buClr>
                <a:schemeClr val="dk1"/>
              </a:buClr>
              <a:buSzPts val="1550"/>
              <a:buFont typeface="Arial"/>
              <a:buAutoNum type="alphaUcPeriod"/>
            </a:pPr>
            <a:r>
              <a:rPr b="0" i="0" lang="en-GB" sz="1550" u="none" cap="none" strike="noStrike">
                <a:solidFill>
                  <a:schemeClr val="dk1"/>
                </a:solidFill>
                <a:latin typeface="Roboto"/>
                <a:ea typeface="Roboto"/>
                <a:cs typeface="Roboto"/>
                <a:sym typeface="Roboto"/>
              </a:rPr>
              <a:t>24</a:t>
            </a:r>
            <a:endParaRPr b="0" i="0" sz="1550" u="none" cap="none" strike="noStrike">
              <a:solidFill>
                <a:srgbClr val="333333"/>
              </a:solidFill>
              <a:highlight>
                <a:schemeClr val="lt1"/>
              </a:highlight>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400"/>
              <a:buFont typeface="Arial"/>
              <a:buNone/>
            </a:pPr>
            <a:r>
              <a:t/>
            </a:r>
            <a:endParaRPr b="0" i="0" sz="1550" u="none" cap="none" strike="noStrike">
              <a:solidFill>
                <a:schemeClr val="dk1"/>
              </a:solidFill>
              <a:latin typeface="Roboto"/>
              <a:ea typeface="Roboto"/>
              <a:cs typeface="Roboto"/>
              <a:sym typeface="Roboto"/>
            </a:endParaRPr>
          </a:p>
        </p:txBody>
      </p:sp>
      <p:sp>
        <p:nvSpPr>
          <p:cNvPr id="295" name="Google Shape;295;g143504614d8_0_631"/>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A</a:t>
            </a:r>
            <a:endParaRPr b="0" i="0" sz="1600" u="none" cap="none" strike="noStrike">
              <a:solidFill>
                <a:schemeClr val="dk1"/>
              </a:solidFill>
              <a:latin typeface="Roboto"/>
              <a:ea typeface="Roboto"/>
              <a:cs typeface="Roboto"/>
              <a:sym typeface="Roboto"/>
            </a:endParaRPr>
          </a:p>
        </p:txBody>
      </p:sp>
      <p:pic>
        <p:nvPicPr>
          <p:cNvPr id="296" name="Google Shape;296;g143504614d8_0_631"/>
          <p:cNvPicPr preferRelativeResize="0"/>
          <p:nvPr/>
        </p:nvPicPr>
        <p:blipFill rotWithShape="1">
          <a:blip r:embed="rId3">
            <a:alphaModFix/>
          </a:blip>
          <a:srcRect b="0" l="0" r="0" t="0"/>
          <a:stretch/>
        </p:blipFill>
        <p:spPr>
          <a:xfrm>
            <a:off x="1118975" y="2130025"/>
            <a:ext cx="2939725" cy="734350"/>
          </a:xfrm>
          <a:prstGeom prst="rect">
            <a:avLst/>
          </a:prstGeom>
          <a:noFill/>
          <a:ln>
            <a:noFill/>
          </a:ln>
        </p:spPr>
      </p:pic>
      <p:sp>
        <p:nvSpPr>
          <p:cNvPr id="297" name="Google Shape;297;g143504614d8_0_631"/>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09</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gtEl>
                                        <p:attrNameLst>
                                          <p:attrName>style.visibility</p:attrName>
                                        </p:attrNameLst>
                                      </p:cBhvr>
                                      <p:to>
                                        <p:strVal val="visible"/>
                                      </p:to>
                                    </p:set>
                                    <p:animEffect filter="fade" transition="in">
                                      <p:cBhvr>
                                        <p:cTn dur="1000"/>
                                        <p:tgtEl>
                                          <p:spTgt spid="2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1" name="Shape 301"/>
        <p:cNvGrpSpPr/>
        <p:nvPr/>
      </p:nvGrpSpPr>
      <p:grpSpPr>
        <a:xfrm>
          <a:off x="0" y="0"/>
          <a:ext cx="0" cy="0"/>
          <a:chOff x="0" y="0"/>
          <a:chExt cx="0" cy="0"/>
        </a:xfrm>
      </p:grpSpPr>
      <p:sp>
        <p:nvSpPr>
          <p:cNvPr id="302" name="Google Shape;302;g143504614d8_0_640"/>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303" name="Google Shape;303;g143504614d8_0_640"/>
          <p:cNvSpPr txBox="1"/>
          <p:nvPr/>
        </p:nvSpPr>
        <p:spPr>
          <a:xfrm>
            <a:off x="720000" y="1440000"/>
            <a:ext cx="8148300" cy="150961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Such cubes are related to the corners of the cuboid and there are 8 corners.</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 Hence, the required number is 8.</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15875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pic>
        <p:nvPicPr>
          <p:cNvPr id="304" name="Google Shape;304;g143504614d8_0_640"/>
          <p:cNvPicPr preferRelativeResize="0"/>
          <p:nvPr/>
        </p:nvPicPr>
        <p:blipFill rotWithShape="1">
          <a:blip r:embed="rId3">
            <a:alphaModFix/>
          </a:blip>
          <a:srcRect b="0" l="0" r="0" t="0"/>
          <a:stretch/>
        </p:blipFill>
        <p:spPr>
          <a:xfrm>
            <a:off x="4014788" y="2662238"/>
            <a:ext cx="2333625" cy="1800225"/>
          </a:xfrm>
          <a:prstGeom prst="rect">
            <a:avLst/>
          </a:prstGeom>
          <a:noFill/>
          <a:ln>
            <a:noFill/>
          </a:ln>
        </p:spPr>
      </p:pic>
      <p:sp>
        <p:nvSpPr>
          <p:cNvPr id="305" name="Google Shape;305;g143504614d8_0_640"/>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09</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xEl>
                                              <p:pRg end="0" st="0"/>
                                            </p:txEl>
                                          </p:spTgt>
                                        </p:tgtEl>
                                        <p:attrNameLst>
                                          <p:attrName>style.visibility</p:attrName>
                                        </p:attrNameLst>
                                      </p:cBhvr>
                                      <p:to>
                                        <p:strVal val="visible"/>
                                      </p:to>
                                    </p:set>
                                    <p:animEffect filter="fade" transition="in">
                                      <p:cBhvr>
                                        <p:cTn dur="1000"/>
                                        <p:tgtEl>
                                          <p:spTgt spid="302">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g143504614d8_0_650"/>
          <p:cNvSpPr txBox="1"/>
          <p:nvPr/>
        </p:nvSpPr>
        <p:spPr>
          <a:xfrm>
            <a:off x="720000" y="1440000"/>
            <a:ext cx="8095200" cy="2411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i="0" lang="en-GB" sz="1600" u="none" cap="none" strike="noStrike">
                <a:solidFill>
                  <a:schemeClr val="dk1"/>
                </a:solidFill>
                <a:latin typeface="Roboto"/>
                <a:ea typeface="Roboto"/>
                <a:cs typeface="Roboto"/>
                <a:sym typeface="Roboto"/>
              </a:rPr>
              <a:t>A cube is painted with red. It is divided into 512 small cubes. How many sides are painted?</a:t>
            </a:r>
            <a:endParaRPr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144</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384</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286</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260</a:t>
            </a:r>
            <a:endParaRPr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i="0" sz="1600" u="none" cap="none" strike="noStrike">
              <a:solidFill>
                <a:schemeClr val="dk1"/>
              </a:solidFill>
              <a:latin typeface="Roboto"/>
              <a:ea typeface="Roboto"/>
              <a:cs typeface="Roboto"/>
              <a:sym typeface="Roboto"/>
            </a:endParaRPr>
          </a:p>
          <a:p>
            <a:pPr indent="0" lvl="0" marL="457200" marR="0" rtl="0" algn="l">
              <a:lnSpc>
                <a:spcPct val="100000"/>
              </a:lnSpc>
              <a:spcBef>
                <a:spcPts val="800"/>
              </a:spcBef>
              <a:spcAft>
                <a:spcPts val="0"/>
              </a:spcAft>
              <a:buClr>
                <a:srgbClr val="000000"/>
              </a:buClr>
              <a:buSzPts val="1400"/>
              <a:buFont typeface="Arial"/>
              <a:buNone/>
            </a:pPr>
            <a:r>
              <a:t/>
            </a:r>
            <a:endParaRPr i="0" sz="1600" u="none" cap="none" strike="noStrike">
              <a:solidFill>
                <a:schemeClr val="dk1"/>
              </a:solidFill>
              <a:latin typeface="Roboto"/>
              <a:ea typeface="Roboto"/>
              <a:cs typeface="Roboto"/>
              <a:sym typeface="Roboto"/>
            </a:endParaRPr>
          </a:p>
        </p:txBody>
      </p:sp>
      <p:sp>
        <p:nvSpPr>
          <p:cNvPr id="311" name="Google Shape;311;g143504614d8_0_650"/>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B</a:t>
            </a:r>
            <a:endParaRPr b="0" i="0" sz="1600" u="none" cap="none" strike="noStrike">
              <a:solidFill>
                <a:schemeClr val="dk1"/>
              </a:solidFill>
              <a:latin typeface="Roboto"/>
              <a:ea typeface="Roboto"/>
              <a:cs typeface="Roboto"/>
              <a:sym typeface="Roboto"/>
            </a:endParaRPr>
          </a:p>
        </p:txBody>
      </p:sp>
      <p:sp>
        <p:nvSpPr>
          <p:cNvPr id="312" name="Google Shape;312;g143504614d8_0_650"/>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10</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1"/>
                                        </p:tgtEl>
                                        <p:attrNameLst>
                                          <p:attrName>style.visibility</p:attrName>
                                        </p:attrNameLst>
                                      </p:cBhvr>
                                      <p:to>
                                        <p:strVal val="visible"/>
                                      </p:to>
                                    </p:set>
                                    <p:animEffect filter="fade" transition="in">
                                      <p:cBhvr>
                                        <p:cTn dur="1000"/>
                                        <p:tgtEl>
                                          <p:spTgt spid="3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6" name="Shape 316"/>
        <p:cNvGrpSpPr/>
        <p:nvPr/>
      </p:nvGrpSpPr>
      <p:grpSpPr>
        <a:xfrm>
          <a:off x="0" y="0"/>
          <a:ext cx="0" cy="0"/>
          <a:chOff x="0" y="0"/>
          <a:chExt cx="0" cy="0"/>
        </a:xfrm>
      </p:grpSpPr>
      <p:sp>
        <p:nvSpPr>
          <p:cNvPr id="317" name="Google Shape;317;g143504614d8_0_659"/>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318" name="Google Shape;318;g143504614d8_0_659"/>
          <p:cNvSpPr txBox="1"/>
          <p:nvPr/>
        </p:nvSpPr>
        <p:spPr>
          <a:xfrm>
            <a:off x="720000" y="1440000"/>
            <a:ext cx="8148300" cy="1154132"/>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400"/>
              <a:buFont typeface="Arial"/>
              <a:buNone/>
            </a:pPr>
            <a:r>
              <a:rPr b="0" i="0" lang="en-GB" sz="1400" u="none" cap="none" strike="noStrike">
                <a:solidFill>
                  <a:schemeClr val="dk1"/>
                </a:solidFill>
                <a:latin typeface="Roboto"/>
                <a:ea typeface="Roboto"/>
                <a:cs typeface="Roboto"/>
                <a:sym typeface="Roboto"/>
              </a:rPr>
              <a:t>Divided into 512 equally big cubes, right? OK. So 8 x 8 x 8. That means we have 8 x 8 = 64 minicube-sides painted on each face of the original cube that has 6 faces. So, 6 x 64 = 384 painted sides</a:t>
            </a:r>
            <a:endParaRPr b="0" i="0" sz="1400" u="none" cap="none" strike="noStrike">
              <a:solidFill>
                <a:schemeClr val="dk1"/>
              </a:solidFill>
              <a:latin typeface="Roboto"/>
              <a:ea typeface="Roboto"/>
              <a:cs typeface="Roboto"/>
              <a:sym typeface="Roboto"/>
            </a:endParaRPr>
          </a:p>
          <a:p>
            <a:pPr indent="0" lvl="0" marL="158750" marR="0" rtl="0" algn="l">
              <a:lnSpc>
                <a:spcPct val="150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319" name="Google Shape;319;g143504614d8_0_659"/>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10</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xEl>
                                              <p:pRg end="0" st="0"/>
                                            </p:txEl>
                                          </p:spTgt>
                                        </p:tgtEl>
                                        <p:attrNameLst>
                                          <p:attrName>style.visibility</p:attrName>
                                        </p:attrNameLst>
                                      </p:cBhvr>
                                      <p:to>
                                        <p:strVal val="visible"/>
                                      </p:to>
                                    </p:set>
                                    <p:animEffect filter="fade" transition="in">
                                      <p:cBhvr>
                                        <p:cTn dur="1000"/>
                                        <p:tgtEl>
                                          <p:spTgt spid="31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g143504614d8_0_668"/>
          <p:cNvSpPr txBox="1"/>
          <p:nvPr/>
        </p:nvSpPr>
        <p:spPr>
          <a:xfrm>
            <a:off x="720000" y="1439999"/>
            <a:ext cx="8472300" cy="2165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i="0" lang="en-GB" sz="1600" u="none" cap="none" strike="noStrike">
                <a:solidFill>
                  <a:schemeClr val="dk1"/>
                </a:solidFill>
                <a:latin typeface="Roboto"/>
                <a:ea typeface="Roboto"/>
                <a:cs typeface="Roboto"/>
                <a:sym typeface="Roboto"/>
              </a:rPr>
              <a:t>A cube is painted blue on all faces and it is cut into 64 small cubes of equal size. How many cubes are not painted?</a:t>
            </a:r>
            <a:endParaRPr b="1" i="0" sz="1600" u="none" cap="none" strike="noStrike">
              <a:solidFill>
                <a:srgbClr val="333333"/>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80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6</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4</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8</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2</a:t>
            </a:r>
            <a:endParaRPr i="0" sz="1600" u="none" cap="none" strike="noStrike">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400"/>
              <a:buFont typeface="Arial"/>
              <a:buNone/>
            </a:pPr>
            <a:r>
              <a:t/>
            </a:r>
            <a:endParaRPr i="0" sz="1600" u="none" cap="none" strike="noStrike">
              <a:solidFill>
                <a:schemeClr val="dk1"/>
              </a:solidFill>
              <a:latin typeface="Roboto"/>
              <a:ea typeface="Roboto"/>
              <a:cs typeface="Roboto"/>
              <a:sym typeface="Roboto"/>
            </a:endParaRPr>
          </a:p>
        </p:txBody>
      </p:sp>
      <p:sp>
        <p:nvSpPr>
          <p:cNvPr id="325" name="Google Shape;325;g143504614d8_0_668"/>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sp>
        <p:nvSpPr>
          <p:cNvPr id="326" name="Google Shape;326;g143504614d8_0_668"/>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11</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gtEl>
                                        <p:attrNameLst>
                                          <p:attrName>style.visibility</p:attrName>
                                        </p:attrNameLst>
                                      </p:cBhvr>
                                      <p:to>
                                        <p:strVal val="visible"/>
                                      </p:to>
                                    </p:set>
                                    <p:animEffect filter="fade" transition="in">
                                      <p:cBhvr>
                                        <p:cTn dur="1000"/>
                                        <p:tgtEl>
                                          <p:spTgt spid="3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0" name="Shape 330"/>
        <p:cNvGrpSpPr/>
        <p:nvPr/>
      </p:nvGrpSpPr>
      <p:grpSpPr>
        <a:xfrm>
          <a:off x="0" y="0"/>
          <a:ext cx="0" cy="0"/>
          <a:chOff x="0" y="0"/>
          <a:chExt cx="0" cy="0"/>
        </a:xfrm>
      </p:grpSpPr>
      <p:sp>
        <p:nvSpPr>
          <p:cNvPr id="331" name="Google Shape;331;g143504614d8_0_676"/>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332" name="Google Shape;332;g143504614d8_0_676"/>
          <p:cNvSpPr txBox="1"/>
          <p:nvPr/>
        </p:nvSpPr>
        <p:spPr>
          <a:xfrm>
            <a:off x="720000" y="1440000"/>
            <a:ext cx="8148300" cy="352401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Let this be the original cube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It is cut into 64 small cubes ( demarcated by lines )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Let's go layer wise ( top to bottom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There are 4 layers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1st layer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All the cubes are painted .  No. Of unpainted cubes = 0</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2nd layer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Only side cubes are painted , internal 4 cubes ( middle most ) are not painted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No. Of unpainted cubes = 4</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3rd layer:-</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Same as layer 2 , No. Of unpainted cubes= 4</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4th layer:-</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Same as layer 1 . No unpainted cubes.Total unpainted cubes= 8</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158750" marR="0" rtl="0" algn="l">
              <a:lnSpc>
                <a:spcPct val="150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333" name="Google Shape;333;g143504614d8_0_676"/>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11</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
                                            <p:txEl>
                                              <p:pRg end="0" st="0"/>
                                            </p:txEl>
                                          </p:spTgt>
                                        </p:tgtEl>
                                        <p:attrNameLst>
                                          <p:attrName>style.visibility</p:attrName>
                                        </p:attrNameLst>
                                      </p:cBhvr>
                                      <p:to>
                                        <p:strVal val="visible"/>
                                      </p:to>
                                    </p:set>
                                    <p:animEffect filter="fade" transition="in">
                                      <p:cBhvr>
                                        <p:cTn dur="1000"/>
                                        <p:tgtEl>
                                          <p:spTgt spid="331">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g143504614d8_0_684"/>
          <p:cNvSpPr txBox="1"/>
          <p:nvPr/>
        </p:nvSpPr>
        <p:spPr>
          <a:xfrm>
            <a:off x="720000" y="1445674"/>
            <a:ext cx="8472300" cy="2411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i="0" lang="en-GB" sz="1600" u="none" cap="none" strike="noStrike">
                <a:solidFill>
                  <a:schemeClr val="dk1"/>
                </a:solidFill>
                <a:latin typeface="Roboto"/>
                <a:ea typeface="Roboto"/>
                <a:cs typeface="Roboto"/>
                <a:sym typeface="Roboto"/>
              </a:rPr>
              <a:t>64 small cubes joined to form a single large cube. The outer surface of the cube is painted by red color. How many of the smaller cubes will not have a colored face?</a:t>
            </a:r>
            <a:endParaRPr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14</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12</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10</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8</a:t>
            </a:r>
            <a:endParaRPr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i="0" sz="1600" u="none" cap="none" strike="noStrike">
              <a:solidFill>
                <a:schemeClr val="dk1"/>
              </a:solidFill>
              <a:latin typeface="Roboto"/>
              <a:ea typeface="Roboto"/>
              <a:cs typeface="Roboto"/>
              <a:sym typeface="Roboto"/>
            </a:endParaRPr>
          </a:p>
          <a:p>
            <a:pPr indent="0" lvl="0" marL="457200" marR="0" rtl="0" algn="l">
              <a:lnSpc>
                <a:spcPct val="100000"/>
              </a:lnSpc>
              <a:spcBef>
                <a:spcPts val="800"/>
              </a:spcBef>
              <a:spcAft>
                <a:spcPts val="0"/>
              </a:spcAft>
              <a:buClr>
                <a:srgbClr val="000000"/>
              </a:buClr>
              <a:buSzPts val="1400"/>
              <a:buFont typeface="Arial"/>
              <a:buNone/>
            </a:pPr>
            <a:r>
              <a:t/>
            </a:r>
            <a:endParaRPr i="0" sz="1600" u="none" cap="none" strike="noStrike">
              <a:solidFill>
                <a:schemeClr val="dk1"/>
              </a:solidFill>
              <a:latin typeface="Roboto"/>
              <a:ea typeface="Roboto"/>
              <a:cs typeface="Roboto"/>
              <a:sym typeface="Roboto"/>
            </a:endParaRPr>
          </a:p>
        </p:txBody>
      </p:sp>
      <p:sp>
        <p:nvSpPr>
          <p:cNvPr id="339" name="Google Shape;339;g143504614d8_0_684"/>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D</a:t>
            </a:r>
            <a:endParaRPr b="0" i="0" sz="1600" u="none" cap="none" strike="noStrike">
              <a:solidFill>
                <a:schemeClr val="dk1"/>
              </a:solidFill>
              <a:latin typeface="Roboto"/>
              <a:ea typeface="Roboto"/>
              <a:cs typeface="Roboto"/>
              <a:sym typeface="Roboto"/>
            </a:endParaRPr>
          </a:p>
        </p:txBody>
      </p:sp>
      <p:sp>
        <p:nvSpPr>
          <p:cNvPr id="340" name="Google Shape;340;g143504614d8_0_684"/>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12</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gtEl>
                                        <p:attrNameLst>
                                          <p:attrName>style.visibility</p:attrName>
                                        </p:attrNameLst>
                                      </p:cBhvr>
                                      <p:to>
                                        <p:strVal val="visible"/>
                                      </p:to>
                                    </p:set>
                                    <p:animEffect filter="fade" transition="in">
                                      <p:cBhvr>
                                        <p:cTn dur="1000"/>
                                        <p:tgtEl>
                                          <p:spTgt spid="3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4" name="Shape 344"/>
        <p:cNvGrpSpPr/>
        <p:nvPr/>
      </p:nvGrpSpPr>
      <p:grpSpPr>
        <a:xfrm>
          <a:off x="0" y="0"/>
          <a:ext cx="0" cy="0"/>
          <a:chOff x="0" y="0"/>
          <a:chExt cx="0" cy="0"/>
        </a:xfrm>
      </p:grpSpPr>
      <p:sp>
        <p:nvSpPr>
          <p:cNvPr id="345" name="Google Shape;345;g143504614d8_0_692"/>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346" name="Google Shape;346;g143504614d8_0_692"/>
          <p:cNvSpPr txBox="1"/>
          <p:nvPr/>
        </p:nvSpPr>
        <p:spPr>
          <a:xfrm>
            <a:off x="720000" y="1440000"/>
            <a:ext cx="8639700" cy="3093124"/>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For cube we will use formula</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L×b×h=4×4×4=64</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Cubes painted on 3 sides=8</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2 sides=2×12=24</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1 side =4×6=24</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Then sum of all three=8+24+24=56</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It means that the cube with no colored face will be=64–56=8</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158750" marR="0" rtl="0" algn="l">
              <a:lnSpc>
                <a:spcPct val="150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347" name="Google Shape;347;g143504614d8_0_692"/>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12</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5">
                                            <p:txEl>
                                              <p:pRg end="0" st="0"/>
                                            </p:txEl>
                                          </p:spTgt>
                                        </p:tgtEl>
                                        <p:attrNameLst>
                                          <p:attrName>style.visibility</p:attrName>
                                        </p:attrNameLst>
                                      </p:cBhvr>
                                      <p:to>
                                        <p:strVal val="visible"/>
                                      </p:to>
                                    </p:set>
                                    <p:animEffect filter="fade" transition="in">
                                      <p:cBhvr>
                                        <p:cTn dur="1000"/>
                                        <p:tgtEl>
                                          <p:spTgt spid="345">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g143504614d8_0_704"/>
          <p:cNvSpPr txBox="1"/>
          <p:nvPr/>
        </p:nvSpPr>
        <p:spPr>
          <a:xfrm>
            <a:off x="720000" y="1440000"/>
            <a:ext cx="8095200" cy="206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i="0" lang="en-GB" sz="1600" u="none" cap="none" strike="noStrike">
                <a:solidFill>
                  <a:schemeClr val="dk1"/>
                </a:solidFill>
                <a:latin typeface="Roboto"/>
                <a:ea typeface="Roboto"/>
                <a:cs typeface="Roboto"/>
                <a:sym typeface="Roboto"/>
              </a:rPr>
              <a:t>If a cube is formed with 64 smaller cubes, how many cubes of the cube formed are hidden?</a:t>
            </a:r>
            <a:endParaRPr b="1" i="0" sz="1600" u="none" cap="none" strike="noStrike">
              <a:solidFill>
                <a:srgbClr val="333333"/>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4</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6</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8</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10</a:t>
            </a:r>
            <a:endParaRPr i="0" sz="1600" u="none" cap="none" strike="noStrike">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400"/>
              <a:buFont typeface="Arial"/>
              <a:buNone/>
            </a:pPr>
            <a:r>
              <a:t/>
            </a:r>
            <a:endParaRPr i="0" sz="1600" u="none" cap="none" strike="noStrike">
              <a:solidFill>
                <a:schemeClr val="dk1"/>
              </a:solidFill>
              <a:latin typeface="Roboto"/>
              <a:ea typeface="Roboto"/>
              <a:cs typeface="Roboto"/>
              <a:sym typeface="Roboto"/>
            </a:endParaRPr>
          </a:p>
        </p:txBody>
      </p:sp>
      <p:sp>
        <p:nvSpPr>
          <p:cNvPr id="353" name="Google Shape;353;g143504614d8_0_704"/>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sp>
        <p:nvSpPr>
          <p:cNvPr id="354" name="Google Shape;354;g143504614d8_0_704"/>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13</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
                                        </p:tgtEl>
                                        <p:attrNameLst>
                                          <p:attrName>style.visibility</p:attrName>
                                        </p:attrNameLst>
                                      </p:cBhvr>
                                      <p:to>
                                        <p:strVal val="visible"/>
                                      </p:to>
                                    </p:set>
                                    <p:animEffect filter="fade" transition="in">
                                      <p:cBhvr>
                                        <p:cTn dur="1000"/>
                                        <p:tgtEl>
                                          <p:spTgt spid="3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8" name="Shape 358"/>
        <p:cNvGrpSpPr/>
        <p:nvPr/>
      </p:nvGrpSpPr>
      <p:grpSpPr>
        <a:xfrm>
          <a:off x="0" y="0"/>
          <a:ext cx="0" cy="0"/>
          <a:chOff x="0" y="0"/>
          <a:chExt cx="0" cy="0"/>
        </a:xfrm>
      </p:grpSpPr>
      <p:sp>
        <p:nvSpPr>
          <p:cNvPr id="359" name="Google Shape;359;g143504614d8_0_712"/>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360" name="Google Shape;360;g143504614d8_0_712"/>
          <p:cNvSpPr txBox="1"/>
          <p:nvPr/>
        </p:nvSpPr>
        <p:spPr>
          <a:xfrm>
            <a:off x="720000" y="1440000"/>
            <a:ext cx="8148300" cy="2123628"/>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In a cube consisting of 64 smaller cubes, the arrangement of the smaller cubes is 4 X 4 X 4 . The outer layer of small cubes on all sides is what is seen. Since these outer layers are the thickness of one small cube, it’s pretty easy to visualize that, in each 4 X dimension, the single cubes on the ends are what are visible, and the 2 smaller cubes in the middle aren’t. Therefore, hidden within is a 2 X 2 X 2 cube which obviously contains 8 smaller cubes.</a:t>
            </a:r>
            <a:endParaRPr b="0" i="0" sz="1400" u="none" cap="none" strike="noStrike">
              <a:solidFill>
                <a:schemeClr val="dk1"/>
              </a:solidFill>
              <a:latin typeface="Roboto"/>
              <a:ea typeface="Roboto"/>
              <a:cs typeface="Roboto"/>
              <a:sym typeface="Roboto"/>
            </a:endParaRPr>
          </a:p>
          <a:p>
            <a:pPr indent="0" lvl="0" marL="158750" marR="0" rtl="0" algn="l">
              <a:lnSpc>
                <a:spcPct val="150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361" name="Google Shape;361;g143504614d8_0_712"/>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13</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
                                            <p:txEl>
                                              <p:pRg end="0" st="0"/>
                                            </p:txEl>
                                          </p:spTgt>
                                        </p:tgtEl>
                                        <p:attrNameLst>
                                          <p:attrName>style.visibility</p:attrName>
                                        </p:attrNameLst>
                                      </p:cBhvr>
                                      <p:to>
                                        <p:strVal val="visible"/>
                                      </p:to>
                                    </p:set>
                                    <p:animEffect filter="fade" transition="in">
                                      <p:cBhvr>
                                        <p:cTn dur="1000"/>
                                        <p:tgtEl>
                                          <p:spTgt spid="359">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g143504614d8_0_720"/>
          <p:cNvSpPr txBox="1"/>
          <p:nvPr/>
        </p:nvSpPr>
        <p:spPr>
          <a:xfrm>
            <a:off x="720000" y="1440000"/>
            <a:ext cx="8095200" cy="206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i="0" lang="en-GB" sz="1600" u="none" cap="none" strike="noStrike">
                <a:solidFill>
                  <a:schemeClr val="dk1"/>
                </a:solidFill>
                <a:latin typeface="Roboto"/>
                <a:ea typeface="Roboto"/>
                <a:cs typeface="Roboto"/>
                <a:sym typeface="Roboto"/>
              </a:rPr>
              <a:t> A  7 x 7 x 7 cube is painted then cut into 1 x 1 x 1 cubes. How many of the cubes is painted on exactly 2 sides?</a:t>
            </a:r>
            <a:endParaRPr b="1" i="0" sz="1600" u="none" cap="none" strike="noStrike">
              <a:solidFill>
                <a:srgbClr val="333333"/>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60</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120</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40</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80</a:t>
            </a:r>
            <a:endParaRPr i="0" sz="1600" u="none" cap="none" strike="noStrike">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400"/>
              <a:buFont typeface="Arial"/>
              <a:buNone/>
            </a:pPr>
            <a:r>
              <a:t/>
            </a:r>
            <a:endParaRPr i="0" sz="1600" u="none" cap="none" strike="noStrike">
              <a:solidFill>
                <a:schemeClr val="dk1"/>
              </a:solidFill>
              <a:latin typeface="Roboto"/>
              <a:ea typeface="Roboto"/>
              <a:cs typeface="Roboto"/>
              <a:sym typeface="Roboto"/>
            </a:endParaRPr>
          </a:p>
        </p:txBody>
      </p:sp>
      <p:sp>
        <p:nvSpPr>
          <p:cNvPr id="367" name="Google Shape;367;g143504614d8_0_720"/>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A</a:t>
            </a:r>
            <a:endParaRPr b="0" i="0" sz="1600" u="none" cap="none" strike="noStrike">
              <a:solidFill>
                <a:schemeClr val="dk1"/>
              </a:solidFill>
              <a:latin typeface="Roboto"/>
              <a:ea typeface="Roboto"/>
              <a:cs typeface="Roboto"/>
              <a:sym typeface="Roboto"/>
            </a:endParaRPr>
          </a:p>
        </p:txBody>
      </p:sp>
      <p:sp>
        <p:nvSpPr>
          <p:cNvPr id="368" name="Google Shape;368;g143504614d8_0_720"/>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14</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7"/>
                                        </p:tgtEl>
                                        <p:attrNameLst>
                                          <p:attrName>style.visibility</p:attrName>
                                        </p:attrNameLst>
                                      </p:cBhvr>
                                      <p:to>
                                        <p:strVal val="visible"/>
                                      </p:to>
                                    </p:set>
                                    <p:animEffect filter="fade" transition="in">
                                      <p:cBhvr>
                                        <p:cTn dur="1000"/>
                                        <p:tgtEl>
                                          <p:spTgt spid="3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2" name="Shape 372"/>
        <p:cNvGrpSpPr/>
        <p:nvPr/>
      </p:nvGrpSpPr>
      <p:grpSpPr>
        <a:xfrm>
          <a:off x="0" y="0"/>
          <a:ext cx="0" cy="0"/>
          <a:chOff x="0" y="0"/>
          <a:chExt cx="0" cy="0"/>
        </a:xfrm>
      </p:grpSpPr>
      <p:sp>
        <p:nvSpPr>
          <p:cNvPr id="373" name="Google Shape;373;g143504614d8_0_728"/>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374" name="Google Shape;374;g143504614d8_0_728"/>
          <p:cNvSpPr txBox="1"/>
          <p:nvPr/>
        </p:nvSpPr>
        <p:spPr>
          <a:xfrm>
            <a:off x="720000" y="1401900"/>
            <a:ext cx="7922400" cy="2339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Only the edges of the cube can be painted only on 2 sides, because egde pieces have 2 sides. The edges are the pieces located between any 2 corners of the cube, vertical and horizontal, even if its 3x3x3. In this case the cube is 7x7x7, which means that it has 12 big edges. Each edge is made of 5 small edges (pieces). And if you sum this up you will get the total number of edges.</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5(pieces) x 12(edges) = 60(pieces)</a:t>
            </a:r>
            <a:endParaRPr b="0" i="0" sz="1200" u="none" cap="none" strike="noStrike">
              <a:solidFill>
                <a:srgbClr val="333333"/>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158750" marR="0" rtl="0" algn="l">
              <a:lnSpc>
                <a:spcPct val="150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375" name="Google Shape;375;g143504614d8_0_728"/>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14</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xEl>
                                              <p:pRg end="0" st="0"/>
                                            </p:txEl>
                                          </p:spTgt>
                                        </p:tgtEl>
                                        <p:attrNameLst>
                                          <p:attrName>style.visibility</p:attrName>
                                        </p:attrNameLst>
                                      </p:cBhvr>
                                      <p:to>
                                        <p:strVal val="visible"/>
                                      </p:to>
                                    </p:set>
                                    <p:animEffect filter="fade" transition="in">
                                      <p:cBhvr>
                                        <p:cTn dur="1000"/>
                                        <p:tgtEl>
                                          <p:spTgt spid="37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g143504614d8_0_736"/>
          <p:cNvSpPr txBox="1"/>
          <p:nvPr/>
        </p:nvSpPr>
        <p:spPr>
          <a:xfrm>
            <a:off x="720000" y="1440000"/>
            <a:ext cx="8095200" cy="2165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i="0" lang="en-GB" sz="1600" u="none" cap="none" strike="noStrike">
                <a:solidFill>
                  <a:schemeClr val="dk1"/>
                </a:solidFill>
                <a:latin typeface="Roboto"/>
                <a:ea typeface="Roboto"/>
                <a:cs typeface="Roboto"/>
                <a:sym typeface="Roboto"/>
              </a:rPr>
              <a:t>A cube of edge 3 cm is painted black from all its faces. It is now cut into 1 cm cubes. How many of these shall be painted on two faces?</a:t>
            </a:r>
            <a:endParaRPr b="1" i="0" sz="1600" u="none" cap="none" strike="noStrike">
              <a:solidFill>
                <a:srgbClr val="333333"/>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80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12</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14</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16</a:t>
            </a:r>
            <a:endParaRPr i="0" sz="1600" u="none" cap="none" strike="noStrike">
              <a:solidFill>
                <a:schemeClr val="dk1"/>
              </a:solidFill>
              <a:latin typeface="Roboto"/>
              <a:ea typeface="Roboto"/>
              <a:cs typeface="Roboto"/>
              <a:sym typeface="Roboto"/>
            </a:endParaRPr>
          </a:p>
          <a:p>
            <a:pPr indent="-330200" lvl="0" marL="457200" marR="0" rtl="0" algn="l">
              <a:lnSpc>
                <a:spcPct val="100000"/>
              </a:lnSpc>
              <a:spcBef>
                <a:spcPts val="0"/>
              </a:spcBef>
              <a:spcAft>
                <a:spcPts val="0"/>
              </a:spcAft>
              <a:buClr>
                <a:schemeClr val="dk1"/>
              </a:buClr>
              <a:buSzPts val="1600"/>
              <a:buFont typeface="Roboto"/>
              <a:buAutoNum type="alphaUcPeriod"/>
            </a:pPr>
            <a:r>
              <a:rPr i="0" lang="en-GB" sz="1600" u="none" cap="none" strike="noStrike">
                <a:solidFill>
                  <a:schemeClr val="dk1"/>
                </a:solidFill>
                <a:latin typeface="Roboto"/>
                <a:ea typeface="Roboto"/>
                <a:cs typeface="Roboto"/>
                <a:sym typeface="Roboto"/>
              </a:rPr>
              <a:t>18</a:t>
            </a:r>
            <a:endParaRPr i="0" sz="1600" u="none" cap="none" strike="noStrike">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400"/>
              <a:buFont typeface="Arial"/>
              <a:buNone/>
            </a:pPr>
            <a:r>
              <a:t/>
            </a:r>
            <a:endParaRPr i="0" sz="1600" u="none" cap="none" strike="noStrike">
              <a:solidFill>
                <a:schemeClr val="dk1"/>
              </a:solidFill>
              <a:latin typeface="Roboto"/>
              <a:ea typeface="Roboto"/>
              <a:cs typeface="Roboto"/>
              <a:sym typeface="Roboto"/>
            </a:endParaRPr>
          </a:p>
        </p:txBody>
      </p:sp>
      <p:sp>
        <p:nvSpPr>
          <p:cNvPr id="381" name="Google Shape;381;g143504614d8_0_736"/>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A</a:t>
            </a:r>
            <a:endParaRPr b="0" i="0" sz="1600" u="none" cap="none" strike="noStrike">
              <a:solidFill>
                <a:schemeClr val="dk1"/>
              </a:solidFill>
              <a:latin typeface="Roboto"/>
              <a:ea typeface="Roboto"/>
              <a:cs typeface="Roboto"/>
              <a:sym typeface="Roboto"/>
            </a:endParaRPr>
          </a:p>
        </p:txBody>
      </p:sp>
      <p:sp>
        <p:nvSpPr>
          <p:cNvPr id="382" name="Google Shape;382;g143504614d8_0_736"/>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15</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
                                        </p:tgtEl>
                                        <p:attrNameLst>
                                          <p:attrName>style.visibility</p:attrName>
                                        </p:attrNameLst>
                                      </p:cBhvr>
                                      <p:to>
                                        <p:strVal val="visible"/>
                                      </p:to>
                                    </p:set>
                                    <p:animEffect filter="fade" transition="in">
                                      <p:cBhvr>
                                        <p:cTn dur="1000"/>
                                        <p:tgtEl>
                                          <p:spTgt spid="3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6" name="Shape 386"/>
        <p:cNvGrpSpPr/>
        <p:nvPr/>
      </p:nvGrpSpPr>
      <p:grpSpPr>
        <a:xfrm>
          <a:off x="0" y="0"/>
          <a:ext cx="0" cy="0"/>
          <a:chOff x="0" y="0"/>
          <a:chExt cx="0" cy="0"/>
        </a:xfrm>
      </p:grpSpPr>
      <p:sp>
        <p:nvSpPr>
          <p:cNvPr id="387" name="Google Shape;387;g143504614d8_0_744"/>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388" name="Google Shape;388;g143504614d8_0_744"/>
          <p:cNvSpPr txBox="1"/>
          <p:nvPr/>
        </p:nvSpPr>
        <p:spPr>
          <a:xfrm>
            <a:off x="720000" y="1440000"/>
            <a:ext cx="8148300" cy="3093124"/>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On cutting the cube (3×3×3), 27 cubes (1×1×1) will be formed.</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We can exclude the eight cubes at the corners, as three faces are painted.</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We can also exclude the one central cube, as it's faces are not painted.</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The middle cubes of each face can be excluded, as only one face is painted. That counts to six cubes.</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The rest of the cubes (1×1×1) will be painted on two faces.</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27 - (8+1+6) = 12</a:t>
            </a:r>
            <a:endParaRPr b="0" i="0" sz="1200" u="none" cap="none" strike="noStrike">
              <a:solidFill>
                <a:srgbClr val="333333"/>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158750" marR="0" rtl="0" algn="l">
              <a:lnSpc>
                <a:spcPct val="150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389" name="Google Shape;389;g143504614d8_0_744"/>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15</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7">
                                            <p:txEl>
                                              <p:pRg end="0" st="0"/>
                                            </p:txEl>
                                          </p:spTgt>
                                        </p:tgtEl>
                                        <p:attrNameLst>
                                          <p:attrName>style.visibility</p:attrName>
                                        </p:attrNameLst>
                                      </p:cBhvr>
                                      <p:to>
                                        <p:strVal val="visible"/>
                                      </p:to>
                                    </p:set>
                                    <p:animEffect filter="fade" transition="in">
                                      <p:cBhvr>
                                        <p:cTn dur="1000"/>
                                        <p:tgtEl>
                                          <p:spTgt spid="38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4"/>
          <p:cNvSpPr/>
          <p:nvPr/>
        </p:nvSpPr>
        <p:spPr>
          <a:xfrm>
            <a:off x="555120" y="915840"/>
            <a:ext cx="7544880" cy="8309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395" name="Google Shape;395;p4"/>
          <p:cNvPicPr preferRelativeResize="0"/>
          <p:nvPr/>
        </p:nvPicPr>
        <p:blipFill rotWithShape="1">
          <a:blip r:embed="rId3">
            <a:alphaModFix/>
          </a:blip>
          <a:srcRect b="0" l="0" r="0" t="0"/>
          <a:stretch/>
        </p:blipFill>
        <p:spPr>
          <a:xfrm>
            <a:off x="2799160" y="913210"/>
            <a:ext cx="2855119" cy="2888456"/>
          </a:xfrm>
          <a:prstGeom prst="rect">
            <a:avLst/>
          </a:prstGeom>
          <a:noFill/>
          <a:ln>
            <a:noFill/>
          </a:ln>
        </p:spPr>
      </p:pic>
      <p:sp>
        <p:nvSpPr>
          <p:cNvPr id="396" name="Google Shape;396;p4"/>
          <p:cNvSpPr/>
          <p:nvPr/>
        </p:nvSpPr>
        <p:spPr>
          <a:xfrm>
            <a:off x="1634729" y="4055269"/>
            <a:ext cx="5183981" cy="28456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GB"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pic>
        <p:nvPicPr>
          <p:cNvPr id="401" name="Google Shape;401;p5"/>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402" name="Google Shape;402;p5"/>
          <p:cNvSpPr txBox="1"/>
          <p:nvPr/>
        </p:nvSpPr>
        <p:spPr>
          <a:xfrm>
            <a:off x="3141000" y="2194650"/>
            <a:ext cx="2862000" cy="75402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GB"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403" name="Google Shape;403;p5"/>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404" name="Google Shape;404;p5"/>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405" name="Google Shape;405;p5"/>
          <p:cNvSpPr txBox="1"/>
          <p:nvPr/>
        </p:nvSpPr>
        <p:spPr>
          <a:xfrm>
            <a:off x="1980750" y="4590801"/>
            <a:ext cx="11871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406" name="Google Shape;406;p5"/>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407" name="Google Shape;407;p5"/>
          <p:cNvSpPr txBox="1"/>
          <p:nvPr/>
        </p:nvSpPr>
        <p:spPr>
          <a:xfrm>
            <a:off x="3519050"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408" name="Google Shape;408;p5"/>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409" name="Google Shape;409;p5"/>
          <p:cNvSpPr txBox="1"/>
          <p:nvPr/>
        </p:nvSpPr>
        <p:spPr>
          <a:xfrm>
            <a:off x="5457275"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410" name="Google Shape;410;p5"/>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