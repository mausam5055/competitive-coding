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embeddedFontLst>
    <p:embeddedFont>
      <p:font typeface="Roboto Black"/>
      <p:bold r:id="rId44"/>
      <p:boldItalic r:id="rId45"/>
    </p:embeddedFont>
    <p:embeddedFont>
      <p:font typeface="Roboto"/>
      <p:regular r:id="rId46"/>
      <p:bold r:id="rId47"/>
      <p:italic r:id="rId48"/>
      <p:boldItalic r:id="rId49"/>
    </p:embeddedFont>
    <p:embeddedFont>
      <p:font typeface="Roboto Medium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54">
          <p15:clr>
            <a:srgbClr val="FF00FF"/>
          </p15:clr>
        </p15:guide>
        <p15:guide id="2" orient="horz" pos="3061">
          <p15:clr>
            <a:srgbClr val="FF0000"/>
          </p15:clr>
        </p15:guide>
        <p15:guide id="3" pos="5206">
          <p15:clr>
            <a:srgbClr val="FF00FF"/>
          </p15:clr>
        </p15:guide>
        <p15:guide id="4" orient="horz" pos="1077">
          <p15:clr>
            <a:srgbClr val="FF0000"/>
          </p15:clr>
        </p15:guide>
        <p15:guide id="5" orient="horz" pos="907">
          <p15:clr>
            <a:srgbClr val="00FF00"/>
          </p15:clr>
        </p15:guide>
        <p15:guide id="6" orient="horz" pos="397">
          <p15:clr>
            <a:srgbClr val="00FF00"/>
          </p15:clr>
        </p15:guide>
        <p15:guide id="7" pos="4529">
          <p15:clr>
            <a:srgbClr val="747775"/>
          </p15:clr>
        </p15:guide>
        <p15:guide id="8" orient="horz" pos="1474">
          <p15:clr>
            <a:srgbClr val="747775"/>
          </p15:clr>
        </p15:guide>
        <p15:guide id="9" pos="397">
          <p15:clr>
            <a:srgbClr val="747775"/>
          </p15:clr>
        </p15:guide>
        <p15:guide id="10" pos="4365">
          <p15:clr>
            <a:srgbClr val="747775"/>
          </p15:clr>
        </p15:guide>
      </p15:sldGuideLst>
    </p:ext>
    <p:ext uri="GoogleSlidesCustomDataVersion2">
      <go:slidesCustomData xmlns:go="http://customooxmlschemas.google.com/" r:id="rId54" roundtripDataSignature="AMtx7mjFcYGxG8eBDiciohTIGzWgwA/Q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"/>
        <p:guide pos="3061" orient="horz"/>
        <p:guide pos="5206"/>
        <p:guide pos="1077" orient="horz"/>
        <p:guide pos="907" orient="horz"/>
        <p:guide pos="397" orient="horz"/>
        <p:guide pos="4529"/>
        <p:guide pos="1474" orient="horz"/>
        <p:guide pos="397"/>
        <p:guide pos="436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RobotoBlack-bold.fntdata"/><Relationship Id="rId43" Type="http://schemas.openxmlformats.org/officeDocument/2006/relationships/slide" Target="slides/slide38.xml"/><Relationship Id="rId46" Type="http://schemas.openxmlformats.org/officeDocument/2006/relationships/font" Target="fonts/Roboto-regular.fntdata"/><Relationship Id="rId45" Type="http://schemas.openxmlformats.org/officeDocument/2006/relationships/font" Target="fonts/RobotoBlack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Medium-bold.fntdata"/><Relationship Id="rId50" Type="http://schemas.openxmlformats.org/officeDocument/2006/relationships/font" Target="fonts/RobotoMedium-regular.fntdata"/><Relationship Id="rId53" Type="http://schemas.openxmlformats.org/officeDocument/2006/relationships/font" Target="fonts/RobotoMedium-boldItalic.fntdata"/><Relationship Id="rId52" Type="http://schemas.openxmlformats.org/officeDocument/2006/relationships/font" Target="fonts/Roboto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1b9bf173ee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1b9bf173e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ee15abed17_3_2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2ee15abed17_3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2aa3e4e9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2aa3e4e9a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cf37506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1cf37506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1cf375067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1cf375067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1cf375067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1cf375067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ee15abed17_3_2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2ee15abed17_3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ee15abed17_3_2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2ee15abed17_3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e15abed17_3_2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2ee15abed17_3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ee15abed17_3_2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2ee15abed17_3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e15abed17_3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2ee15abed17_3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ee15abed17_3_3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2ee15abed17_3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b9bf173e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1b9bf173e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ee15abed17_3_3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2ee15abed17_3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ee15abed17_3_3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2ee15abed17_3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ee15abed17_3_3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2ee15abed17_3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ee15abed17_3_3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2ee15abed17_3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ee15abed17_3_3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2ee15abed17_3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ee15abed17_3_3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2ee15abed17_3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ee15abed17_3_3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2ee15abed17_3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ee15abed17_3_3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2ee15abed17_3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ee15abed17_3_3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2ee15abed17_3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ee15abed17_3_3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2ee15abed17_3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ee15abed17_3_3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2ee15abed17_3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1cf3750678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1cf375067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ee15abed17_3_3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2ee15abed17_3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ee15abed17_3_3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ee15abed17_3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ee15abed17_3_3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2ee15abed17_3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ee15abed17_3_4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2ee15abed17_3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ee15abed17_3_4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2ee15abed17_3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ee15abed17_3_4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2ee15abed17_3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ee15abed17_3_4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2ee15abed17_3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ee15abed17_3_4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2ee15abed17_3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ee15abed17_3_4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2ee15abed17_3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ee15abed17_3_4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2ee15abed17_3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ee15abed17_3_4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2ee15abed17_3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ee15abed17_3_4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2ee15abed17_3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ee15abed17_3_5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2ee15abed17_3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" name="Google Shape;18;p5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" name="Google Shape;19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47" name="Google Shape;4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3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spd="slow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g31b9bf173ee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31b9bf173ee_0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31b9bf173ee_0_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g2ee15abed17_3_2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g2ee15abed17_3_278"/>
          <p:cNvSpPr txBox="1"/>
          <p:nvPr/>
        </p:nvSpPr>
        <p:spPr>
          <a:xfrm>
            <a:off x="178001" y="2109682"/>
            <a:ext cx="4690800" cy="12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PERCENTAGES-1</a:t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aa3e4e9af_0_0"/>
          <p:cNvSpPr txBox="1"/>
          <p:nvPr>
            <p:ph idx="1" type="body"/>
          </p:nvPr>
        </p:nvSpPr>
        <p:spPr>
          <a:xfrm>
            <a:off x="729200" y="1384300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-GB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g32aa3e4e9af_0_0"/>
          <p:cNvSpPr txBox="1"/>
          <p:nvPr/>
        </p:nvSpPr>
        <p:spPr>
          <a:xfrm>
            <a:off x="577325" y="622125"/>
            <a:ext cx="77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Test time on : Problem on ages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g32aa3e4e9af_0_0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g32aa3e4e9a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3275" y="2285775"/>
            <a:ext cx="1721200" cy="170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1cf3750678_0_0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Concepts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g31cf3750678_0_0"/>
          <p:cNvSpPr txBox="1"/>
          <p:nvPr/>
        </p:nvSpPr>
        <p:spPr>
          <a:xfrm>
            <a:off x="720725" y="1250950"/>
            <a:ext cx="7623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Percentage is a fraction whose denominator is always 100. x percentage is represented by x%.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express x% as a fraction</a:t>
            </a: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x% = x/100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Thus 10% = 10/100 (means 10 parts out of 100 parts) = 1/10 (means 1 part out of 10 parts)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express x/y as a percentage</a:t>
            </a: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x/y = (x/y× 100 )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Thus 1/4 = ( 1/4 ×100 )% = 25% and 0.8 = ( 8/10 ×100 )% = 80%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cf3750678_0_6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Concepts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g31cf3750678_0_6"/>
          <p:cNvSpPr txBox="1"/>
          <p:nvPr/>
        </p:nvSpPr>
        <p:spPr>
          <a:xfrm>
            <a:off x="720725" y="1250950"/>
            <a:ext cx="76233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the price of a commodity increases by R%, then reduction in consumption as not to increase the expenditure is: [ R/(100+R)×100 ] %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the price of a commodity decreases by R%, then the increase in consumption as not to decrease the expenditure is: [ R/(100-R)×100 ] %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Result on Population: </a:t>
            </a: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Let the population of a town be P now and suppose increases the rate of R% per annum, then: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1.Population after n years = P ( 1+ R/100 )^n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2.Population n years ago = P /( 1+ R/100 )^n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cf3750678_0_11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Concepts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g31cf3750678_0_11"/>
          <p:cNvSpPr txBox="1"/>
          <p:nvPr/>
        </p:nvSpPr>
        <p:spPr>
          <a:xfrm>
            <a:off x="720725" y="1250950"/>
            <a:ext cx="7623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Result on Depreciation</a:t>
            </a: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Let the present value of a machine be P. Suppose depreciates at the rate of R% per annum Then: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1. Value of the machine after n Years = P ( 1- R/100 )^n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2. Value of the machine n years ago = P /( 1- R/100 )^n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If A is R% more than B, then B is less than A by [ R/(100+R)×100 ]% If A is   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R% less than B, then B is more than A by [ R/(100-R)×100 ]%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Net % change = x + y + xy/100 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ee15abed17_3_283"/>
          <p:cNvSpPr txBox="1"/>
          <p:nvPr/>
        </p:nvSpPr>
        <p:spPr>
          <a:xfrm>
            <a:off x="747000" y="1446350"/>
            <a:ext cx="7650000" cy="2704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540000" spcFirstLastPara="1" rIns="15420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Two students appeared at an examination. One of them secured 9 marks more than the other and his marks was 56% of the sum of their marks. The marks obtained by them are: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A. 39, 30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B. 41, 32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C.42, 33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D.43, 34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2ee15abed17_3_283"/>
          <p:cNvSpPr txBox="1"/>
          <p:nvPr/>
        </p:nvSpPr>
        <p:spPr>
          <a:xfrm>
            <a:off x="720000" y="579950"/>
            <a:ext cx="235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7" name="Google Shape;97;g2ee15abed17_3_283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g2ee15abed17_3_283"/>
          <p:cNvSpPr txBox="1"/>
          <p:nvPr/>
        </p:nvSpPr>
        <p:spPr>
          <a:xfrm>
            <a:off x="7157600" y="4324350"/>
            <a:ext cx="12117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 : C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e15abed17_3_288"/>
          <p:cNvSpPr txBox="1"/>
          <p:nvPr/>
        </p:nvSpPr>
        <p:spPr>
          <a:xfrm>
            <a:off x="-34425" y="50220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CLOCKS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g2ee15abed17_3_288"/>
          <p:cNvSpPr txBox="1"/>
          <p:nvPr/>
        </p:nvSpPr>
        <p:spPr>
          <a:xfrm>
            <a:off x="711775" y="1439875"/>
            <a:ext cx="7657500" cy="2475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Let their marks be (</a:t>
            </a:r>
            <a:r>
              <a:rPr b="0" i="1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+ 9) and </a:t>
            </a:r>
            <a:r>
              <a:rPr b="0" i="1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Then, </a:t>
            </a:r>
            <a:r>
              <a:rPr b="0" i="1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+ 9 =56/100(</a:t>
            </a:r>
            <a:r>
              <a:rPr b="0" i="1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+ 9 + </a:t>
            </a:r>
            <a:r>
              <a:rPr b="0" i="1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25(</a:t>
            </a:r>
            <a:r>
              <a:rPr b="0" i="1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+ 9) = 14(2</a:t>
            </a:r>
            <a:r>
              <a:rPr b="0" i="1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+ 9)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1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= 99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1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= 33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So, their marks are 42 and 33</a:t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g2ee15abed17_3_288"/>
          <p:cNvSpPr txBox="1"/>
          <p:nvPr/>
        </p:nvSpPr>
        <p:spPr>
          <a:xfrm>
            <a:off x="630000" y="630250"/>
            <a:ext cx="309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e15abed17_3_293"/>
          <p:cNvSpPr txBox="1"/>
          <p:nvPr/>
        </p:nvSpPr>
        <p:spPr>
          <a:xfrm>
            <a:off x="720000" y="1439875"/>
            <a:ext cx="76494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Three candidates, Ajay, Bijoy &amp; Chandu contested an election and received 1800, 3300 and votes 3900 respectively. What percent of the total votes did A get?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 20%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 40%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 45%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 70%</a:t>
            </a:r>
            <a:endParaRPr b="0" i="0" sz="2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g2ee15abed17_3_293"/>
          <p:cNvSpPr txBox="1"/>
          <p:nvPr/>
        </p:nvSpPr>
        <p:spPr>
          <a:xfrm>
            <a:off x="630000" y="630250"/>
            <a:ext cx="309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2ee15abed17_3_293"/>
          <p:cNvSpPr txBox="1"/>
          <p:nvPr/>
        </p:nvSpPr>
        <p:spPr>
          <a:xfrm>
            <a:off x="7139600" y="4324350"/>
            <a:ext cx="12297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 : A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e15abed17_3_297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g2ee15abed17_3_297"/>
          <p:cNvSpPr txBox="1"/>
          <p:nvPr/>
        </p:nvSpPr>
        <p:spPr>
          <a:xfrm>
            <a:off x="630000" y="1309175"/>
            <a:ext cx="76671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Total no. of votes polled = (1800 + 3300 + 3900) = 9000.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Required percentage = (1800/9000 * 100)% = 20%.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2ee15abed17_3_3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2ee15abed17_3_301"/>
          <p:cNvSpPr txBox="1"/>
          <p:nvPr/>
        </p:nvSpPr>
        <p:spPr>
          <a:xfrm>
            <a:off x="720000" y="1439875"/>
            <a:ext cx="7649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8182E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25" name="Google Shape;125;g2ee15abed17_3_301"/>
          <p:cNvSpPr txBox="1"/>
          <p:nvPr/>
        </p:nvSpPr>
        <p:spPr>
          <a:xfrm>
            <a:off x="720000" y="1439875"/>
            <a:ext cx="76494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total population of a village increased from 1,80,00 to 22, 500 in a decade. The average percentage increase of population per year of that village is: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 2.37%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 2.5%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 3. 6%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 6.75%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g2ee15abed17_3_301"/>
          <p:cNvSpPr txBox="1"/>
          <p:nvPr/>
        </p:nvSpPr>
        <p:spPr>
          <a:xfrm>
            <a:off x="630000" y="630250"/>
            <a:ext cx="309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g2ee15abed17_3_301"/>
          <p:cNvSpPr txBox="1"/>
          <p:nvPr/>
        </p:nvSpPr>
        <p:spPr>
          <a:xfrm>
            <a:off x="7189450" y="4324350"/>
            <a:ext cx="1179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 : B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e15abed17_3_306"/>
          <p:cNvSpPr txBox="1"/>
          <p:nvPr/>
        </p:nvSpPr>
        <p:spPr>
          <a:xfrm>
            <a:off x="327600" y="338142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g2ee15abed17_3_306"/>
          <p:cNvSpPr txBox="1"/>
          <p:nvPr/>
        </p:nvSpPr>
        <p:spPr>
          <a:xfrm>
            <a:off x="720000" y="1440000"/>
            <a:ext cx="7384200" cy="3261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Population increase in 10 years = (22500- 18000) = 4500.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Increase% = (4500/18000 x 100)% = 25%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Required average = (25/10)% = 2. 5%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g2ee15abed17_3_306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b9bf173ee_0_17"/>
          <p:cNvSpPr txBox="1"/>
          <p:nvPr/>
        </p:nvSpPr>
        <p:spPr>
          <a:xfrm>
            <a:off x="630000" y="630250"/>
            <a:ext cx="309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g31b9bf173ee_0_17"/>
          <p:cNvSpPr txBox="1"/>
          <p:nvPr/>
        </p:nvSpPr>
        <p:spPr>
          <a:xfrm>
            <a:off x="630000" y="1354400"/>
            <a:ext cx="7739400" cy="25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percentage of numbers from 1 to 30 has 1 or 9 in the unit's digit?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 12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 15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 20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 22</a:t>
            </a:r>
            <a:endParaRPr b="0" i="0" sz="2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g31b9bf173ee_0_17"/>
          <p:cNvSpPr txBox="1"/>
          <p:nvPr/>
        </p:nvSpPr>
        <p:spPr>
          <a:xfrm>
            <a:off x="7189500" y="4230000"/>
            <a:ext cx="1179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 : C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ee15abed17_3_313"/>
          <p:cNvSpPr txBox="1"/>
          <p:nvPr/>
        </p:nvSpPr>
        <p:spPr>
          <a:xfrm>
            <a:off x="747300" y="1354400"/>
            <a:ext cx="7649400" cy="3245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Such numbers from 1 to 30 are 1, 9, 11, 19, 21, 29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such numbers =6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Required percentage is (6/20 * 100) % = 20%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2ee15abed17_3_313"/>
          <p:cNvSpPr txBox="1"/>
          <p:nvPr/>
        </p:nvSpPr>
        <p:spPr>
          <a:xfrm>
            <a:off x="630000" y="630250"/>
            <a:ext cx="309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ee15abed17_3_318"/>
          <p:cNvSpPr txBox="1"/>
          <p:nvPr/>
        </p:nvSpPr>
        <p:spPr>
          <a:xfrm>
            <a:off x="327600" y="35920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16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g2ee15abed17_3_318"/>
          <p:cNvSpPr txBox="1"/>
          <p:nvPr/>
        </p:nvSpPr>
        <p:spPr>
          <a:xfrm>
            <a:off x="720000" y="1440000"/>
            <a:ext cx="76494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the price of a commodity increases by </a:t>
            </a: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25%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then the consumption should be reduced by: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A) 20%</a:t>
            </a:r>
            <a:b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B) 25%</a:t>
            </a:r>
            <a:b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C) 16⅔%</a:t>
            </a:r>
            <a:b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D) 33⅓%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g2ee15abed17_3_318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D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g2ee15abed17_3_318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ee15abed17_3_325"/>
          <p:cNvSpPr txBox="1"/>
          <p:nvPr/>
        </p:nvSpPr>
        <p:spPr>
          <a:xfrm>
            <a:off x="327600" y="380641"/>
            <a:ext cx="2827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g2ee15abed17_3_325"/>
          <p:cNvSpPr txBox="1"/>
          <p:nvPr/>
        </p:nvSpPr>
        <p:spPr>
          <a:xfrm>
            <a:off x="720725" y="1354400"/>
            <a:ext cx="73590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Price increases by 25%</a:t>
            </a:r>
            <a:b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Reduction in consumption required: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R100+R×100=25125×100=20%\frac{R}{100+R} \times 100 = \frac{25}{125} \times 100 = 20\%100+RR​×100=12525​×100=20%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g2ee15abed17_3_32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g2ee15abed17_3_325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ee15abed17_3_332"/>
          <p:cNvSpPr txBox="1"/>
          <p:nvPr/>
        </p:nvSpPr>
        <p:spPr>
          <a:xfrm>
            <a:off x="327600" y="386576"/>
            <a:ext cx="28278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g2ee15abed17_3_332"/>
          <p:cNvSpPr txBox="1"/>
          <p:nvPr/>
        </p:nvSpPr>
        <p:spPr>
          <a:xfrm>
            <a:off x="720000" y="14242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price of sugar decreases by </a:t>
            </a: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20%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By what percent should the consumption be increased so that expenditure remains the same?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A) 20%</a:t>
            </a:r>
            <a:b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B) 25%</a:t>
            </a:r>
            <a:b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C) 30%</a:t>
            </a:r>
            <a:b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D) 33⅓%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g2ee15abed17_3_332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A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g2ee15abed17_3_332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ee15abed17_3_339"/>
          <p:cNvSpPr txBox="1"/>
          <p:nvPr/>
        </p:nvSpPr>
        <p:spPr>
          <a:xfrm>
            <a:off x="720000" y="1440000"/>
            <a:ext cx="7028100" cy="3056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Price decreases by </a:t>
            </a: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20%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Increase in consumption: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20100−20×100=2080×100=25%\frac{20}{100-20} \times 100 = \frac{20}{80} \times 100 = 25\%100−2020​×100=8020​×100=25%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g2ee15abed17_3_339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ee15abed17_3_344"/>
          <p:cNvSpPr txBox="1"/>
          <p:nvPr/>
        </p:nvSpPr>
        <p:spPr>
          <a:xfrm>
            <a:off x="720000" y="1439875"/>
            <a:ext cx="74700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Ali the barber shaved 40 % of his customers and gave a haircut to 80 % of his customers. He charged Rs. 7 for a shave and Rs. 5 for a haircut. If 20 % of customers who opted for a shave also had a haircut, what were Khan’s earnings if he had 75 customers (in Rs.)?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 410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 1,020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 510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 None of these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g2ee15abed17_3_344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Answer:C</a:t>
            </a:r>
            <a:endParaRPr b="1" i="0" sz="1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g2ee15abed17_3_344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07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ee15abed17_3_350"/>
          <p:cNvSpPr txBox="1"/>
          <p:nvPr/>
        </p:nvSpPr>
        <p:spPr>
          <a:xfrm>
            <a:off x="720000" y="1439875"/>
            <a:ext cx="74700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Explanation: Total customers = 75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Numbers of customers shaved = 75 * 40/100 = 30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customers who got hair cut = 75 * 80/100 = 60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∴ His total income= (30 * 7) + (60 * 5) = 210 + 300 = 510.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g2ee15abed17_3_350"/>
          <p:cNvSpPr txBox="1"/>
          <p:nvPr/>
        </p:nvSpPr>
        <p:spPr>
          <a:xfrm>
            <a:off x="630000" y="630250"/>
            <a:ext cx="309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07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ee15abed17_3_356"/>
          <p:cNvSpPr txBox="1"/>
          <p:nvPr/>
        </p:nvSpPr>
        <p:spPr>
          <a:xfrm>
            <a:off x="327600" y="402400"/>
            <a:ext cx="28278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g2ee15abed17_3_356"/>
          <p:cNvSpPr txBox="1"/>
          <p:nvPr/>
        </p:nvSpPr>
        <p:spPr>
          <a:xfrm>
            <a:off x="720725" y="1439875"/>
            <a:ext cx="75441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Alroy gave his sister 40 % of his pocket money and was left with Rs. 8. What is his pocket money (in Rs.)?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 20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 13.33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 11.20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 12.80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g2ee15abed17_3_356"/>
          <p:cNvSpPr txBox="1"/>
          <p:nvPr/>
        </p:nvSpPr>
        <p:spPr>
          <a:xfrm>
            <a:off x="7189500" y="4171350"/>
            <a:ext cx="16254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B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g2ee15abed17_3_356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ee15abed17_3_363"/>
          <p:cNvSpPr txBox="1"/>
          <p:nvPr/>
        </p:nvSpPr>
        <p:spPr>
          <a:xfrm>
            <a:off x="720000" y="1439875"/>
            <a:ext cx="7265400" cy="2790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 gave his sister 40 % i.e. he is left with 60 % of the total money which is Rs. 8.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Hence 60x/100 = 8 ⇒ x = 13.33.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g2ee15abed17_3_363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08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ee15abed17_3_369"/>
          <p:cNvSpPr txBox="1"/>
          <p:nvPr/>
        </p:nvSpPr>
        <p:spPr>
          <a:xfrm>
            <a:off x="327600" y="396716"/>
            <a:ext cx="28278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g2ee15abed17_3_369"/>
          <p:cNvSpPr txBox="1"/>
          <p:nvPr/>
        </p:nvSpPr>
        <p:spPr>
          <a:xfrm>
            <a:off x="746400" y="1439875"/>
            <a:ext cx="7862400" cy="3576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Class B has 50% more students than class A. Number of girls in class A is equal to number of boys in class B. The percentage of girls is the same in both classes. What percentage of the student group are boys?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 33.33%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 40%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 25%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 60%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g2ee15abed17_3_36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B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g2ee15abed17_3_369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ee15abed17_3_376"/>
          <p:cNvSpPr txBox="1"/>
          <p:nvPr/>
        </p:nvSpPr>
        <p:spPr>
          <a:xfrm>
            <a:off x="327600" y="7781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g2ee15abed17_3_376"/>
          <p:cNvSpPr txBox="1"/>
          <p:nvPr/>
        </p:nvSpPr>
        <p:spPr>
          <a:xfrm>
            <a:off x="1066875" y="1640550"/>
            <a:ext cx="722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g2ee15abed17_3_376"/>
          <p:cNvSpPr txBox="1"/>
          <p:nvPr/>
        </p:nvSpPr>
        <p:spPr>
          <a:xfrm>
            <a:off x="630000" y="1354400"/>
            <a:ext cx="74742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50% more than x is 1.5x. Simple, but very useful idea that might help you in solving these kinds of problems.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Let number of girls in class A = x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Let number of boys in class A = y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Total number of students = x + y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Proportion of girls = x/x+y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boys in class B = x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Total number of students in class B = 1.5(x + y)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g2ee15abed17_3_376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1cf3750678_0_16"/>
          <p:cNvSpPr txBox="1"/>
          <p:nvPr/>
        </p:nvSpPr>
        <p:spPr>
          <a:xfrm>
            <a:off x="327600" y="7019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g31cf3750678_0_16"/>
          <p:cNvSpPr txBox="1"/>
          <p:nvPr/>
        </p:nvSpPr>
        <p:spPr>
          <a:xfrm>
            <a:off x="1066875" y="1640550"/>
            <a:ext cx="722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g31cf3750678_0_16"/>
          <p:cNvSpPr txBox="1"/>
          <p:nvPr/>
        </p:nvSpPr>
        <p:spPr>
          <a:xfrm>
            <a:off x="630000" y="1354400"/>
            <a:ext cx="74742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g31cf3750678_0_16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g31cf3750678_0_16"/>
          <p:cNvSpPr txBox="1"/>
          <p:nvPr/>
        </p:nvSpPr>
        <p:spPr>
          <a:xfrm>
            <a:off x="630000" y="1354400"/>
            <a:ext cx="76233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Proportion of girls = 1 - x/1.5(x + y)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Percentage of boys in the overall student community = x+y/2.5 * (x + y) * 100 = 40%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question is " What percentage of the student group are boys? "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40% of the student group are boys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Hence, the answer is 40%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ee15abed17_3_383"/>
          <p:cNvSpPr txBox="1"/>
          <p:nvPr/>
        </p:nvSpPr>
        <p:spPr>
          <a:xfrm>
            <a:off x="760050" y="1439875"/>
            <a:ext cx="7623900" cy="3333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an examination, 35% of students failed in quants and 42% of students failed in verbal while 14% failed in both the topics. If 222 students passed in both the topics, how many students appeared to write the examination?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 500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 600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 700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 800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g2ee15abed17_3_38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B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g2ee15abed17_3_383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10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g2ee15abed17_3_389"/>
          <p:cNvPicPr preferRelativeResize="0"/>
          <p:nvPr/>
        </p:nvPicPr>
        <p:blipFill rotWithShape="1">
          <a:blip r:embed="rId3">
            <a:alphaModFix/>
          </a:blip>
          <a:srcRect b="0" l="0" r="57233" t="0"/>
          <a:stretch/>
        </p:blipFill>
        <p:spPr>
          <a:xfrm>
            <a:off x="8189675" y="233550"/>
            <a:ext cx="724575" cy="76679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2ee15abed17_3_389"/>
          <p:cNvSpPr txBox="1"/>
          <p:nvPr/>
        </p:nvSpPr>
        <p:spPr>
          <a:xfrm>
            <a:off x="327600" y="342645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g2ee15abed17_3_389"/>
          <p:cNvSpPr txBox="1"/>
          <p:nvPr/>
        </p:nvSpPr>
        <p:spPr>
          <a:xfrm>
            <a:off x="327600" y="842700"/>
            <a:ext cx="7384200" cy="3156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g2ee15abed17_3_389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10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g2ee15abed17_3_389"/>
          <p:cNvSpPr txBox="1"/>
          <p:nvPr/>
        </p:nvSpPr>
        <p:spPr>
          <a:xfrm>
            <a:off x="630000" y="1250950"/>
            <a:ext cx="7713900" cy="36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Finding out percent of students failing either one would help.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Percent of students failing quants = 35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Percent of students failing verbal = 42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Sum = 35 + 42 = 77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Percent of students failing both = 14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=&gt; Percent of students failing either one = 77 – 14 = 63. Thus, 37% students passed in both the topics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=&gt; 37% of x = 222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=&gt; x = 600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ee15abed17_3_39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nswer: A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g2ee15abed17_3_397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g2ee15abed17_3_397"/>
          <p:cNvSpPr txBox="1"/>
          <p:nvPr/>
        </p:nvSpPr>
        <p:spPr>
          <a:xfrm>
            <a:off x="672450" y="1316450"/>
            <a:ext cx="7799100" cy="46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An electric iron is offered at a discount of 10%. It is sold during clearance sale at 6% discount over the already discounted price at Rs. 1692/- . The original marked price of the electric iron is: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A. Rs. 2000/-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B. Rs. 1896/-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C. Rs. 1900/-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D.Rs. 1946/-                                                                                                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g2ee15abed17_3_403"/>
          <p:cNvPicPr preferRelativeResize="0"/>
          <p:nvPr/>
        </p:nvPicPr>
        <p:blipFill rotWithShape="1">
          <a:blip r:embed="rId3">
            <a:alphaModFix/>
          </a:blip>
          <a:srcRect b="0" l="0" r="57233" t="0"/>
          <a:stretch/>
        </p:blipFill>
        <p:spPr>
          <a:xfrm>
            <a:off x="8189675" y="233550"/>
            <a:ext cx="724575" cy="76679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2ee15abed17_3_403"/>
          <p:cNvSpPr txBox="1"/>
          <p:nvPr/>
        </p:nvSpPr>
        <p:spPr>
          <a:xfrm>
            <a:off x="327600" y="342645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g2ee15abed17_3_403"/>
          <p:cNvSpPr txBox="1"/>
          <p:nvPr/>
        </p:nvSpPr>
        <p:spPr>
          <a:xfrm>
            <a:off x="327600" y="918900"/>
            <a:ext cx="7384200" cy="3156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g2ee15abed17_3_403"/>
          <p:cNvSpPr txBox="1"/>
          <p:nvPr/>
        </p:nvSpPr>
        <p:spPr>
          <a:xfrm>
            <a:off x="630000" y="1250500"/>
            <a:ext cx="6995400" cy="14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SP before 6% discount = 1692 * 100/94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So, original MP = 1692 x 100/94 * 100/90 = 2000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g2ee15abed17_3_403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ee15abed17_3_411"/>
          <p:cNvSpPr txBox="1"/>
          <p:nvPr/>
        </p:nvSpPr>
        <p:spPr>
          <a:xfrm>
            <a:off x="327600" y="35920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g2ee15abed17_3_411"/>
          <p:cNvSpPr txBox="1"/>
          <p:nvPr/>
        </p:nvSpPr>
        <p:spPr>
          <a:xfrm>
            <a:off x="747000" y="1439875"/>
            <a:ext cx="7650000" cy="3130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 student took five papers in an examination, where the full marks were the same for each paper. His marks in these papers were in the proportion of 3: 4: 9: 11: 13. In all papers together, the candidate obtained 60% of the total marks. Then, the number of papers in which he got less than 70% marks is:</a:t>
            </a:r>
            <a:endParaRPr b="0" i="0" sz="17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 1</a:t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 3</a:t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 4</a:t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 5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g2ee15abed17_3_41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B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g2ee15abed17_3_411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g2ee15abed17_3_418"/>
          <p:cNvPicPr preferRelativeResize="0"/>
          <p:nvPr/>
        </p:nvPicPr>
        <p:blipFill rotWithShape="1">
          <a:blip r:embed="rId3">
            <a:alphaModFix/>
          </a:blip>
          <a:srcRect b="0" l="0" r="57233" t="0"/>
          <a:stretch/>
        </p:blipFill>
        <p:spPr>
          <a:xfrm>
            <a:off x="8189675" y="233550"/>
            <a:ext cx="724575" cy="766798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2ee15abed17_3_418"/>
          <p:cNvSpPr txBox="1"/>
          <p:nvPr/>
        </p:nvSpPr>
        <p:spPr>
          <a:xfrm>
            <a:off x="327600" y="342645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g2ee15abed17_3_418"/>
          <p:cNvSpPr txBox="1"/>
          <p:nvPr/>
        </p:nvSpPr>
        <p:spPr>
          <a:xfrm>
            <a:off x="327600" y="918900"/>
            <a:ext cx="7384200" cy="3156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g2ee15abed17_3_418"/>
          <p:cNvSpPr txBox="1"/>
          <p:nvPr/>
        </p:nvSpPr>
        <p:spPr>
          <a:xfrm>
            <a:off x="630000" y="1250950"/>
            <a:ext cx="7713900" cy="3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Let the marks scored in five subjects be 3x, 4x, 9x, 11x and 13x</a:t>
            </a:r>
            <a:endParaRPr b="0" i="0" sz="13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Total marks in all the five subjects = 40x</a:t>
            </a:r>
            <a:endParaRPr b="0" i="0" sz="13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Max marks of the five subjects = 40x/0.6</a:t>
            </a:r>
            <a:endParaRPr b="0" i="0" sz="13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(∵ 40x is 60% of total marks)</a:t>
            </a:r>
            <a:endParaRPr b="0" i="0" sz="13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∴ Max marks in each subject = 40x/(0.6 × 5) = 13.3x</a:t>
            </a:r>
            <a:endParaRPr b="0" i="0" sz="13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Hence, percentage in each subject = 3x/13.33x × 100,   </a:t>
            </a:r>
            <a:endParaRPr b="0" i="0" sz="13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4x/13.33 × 100, 9x/13.33x × 100, (11x × 100)/13.33x and (16x × 100)/13.33x </a:t>
            </a:r>
            <a:endParaRPr b="0" i="0" sz="13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Or 22.50%, 30 %, 67.51%, 82.52% and 97.52%</a:t>
            </a:r>
            <a:endParaRPr b="0" i="0" sz="13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∴ Number of papers in which he got less than 70% marks is 3.</a:t>
            </a:r>
            <a:endParaRPr b="0" i="0" sz="13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g2ee15abed17_3_418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ee15abed17_3_426"/>
          <p:cNvSpPr txBox="1"/>
          <p:nvPr/>
        </p:nvSpPr>
        <p:spPr>
          <a:xfrm>
            <a:off x="327600" y="380641"/>
            <a:ext cx="2827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g2ee15abed17_3_426"/>
          <p:cNvSpPr txBox="1"/>
          <p:nvPr/>
        </p:nvSpPr>
        <p:spPr>
          <a:xfrm>
            <a:off x="720725" y="1250950"/>
            <a:ext cx="7663500" cy="3519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2/5 of the voters promise to vote for A and the rest promised to vote for B. Of these, on the last day 15% of the voters went back their promise to vote for A and 25% of voters went back of their promise to vote for B, and A lost by 4 votes. Then, the total number of voters is: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A. 200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B. 210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C. 190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D. 195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g2ee15abed17_3_426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A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g2ee15abed17_3_426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ee15abed17_3_433"/>
          <p:cNvSpPr txBox="1"/>
          <p:nvPr/>
        </p:nvSpPr>
        <p:spPr>
          <a:xfrm>
            <a:off x="327600" y="380641"/>
            <a:ext cx="2827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g2ee15abed17_3_433"/>
          <p:cNvSpPr txBox="1"/>
          <p:nvPr/>
        </p:nvSpPr>
        <p:spPr>
          <a:xfrm>
            <a:off x="720725" y="1250950"/>
            <a:ext cx="76233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Let total number of votes polled by 100%, then votes polled in favour of P = 40 - 6 + 15 = 49%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Voters polled in favour of Q = 60 -15 + 6 = 51%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Difference = 51 - 49 = 2%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It is already given that a lost by 4 votes, hence total number of votes polled = 200.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g2ee15abed17_3_433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ee15abed17_3_440"/>
          <p:cNvSpPr txBox="1"/>
          <p:nvPr/>
        </p:nvSpPr>
        <p:spPr>
          <a:xfrm>
            <a:off x="720000" y="1250950"/>
            <a:ext cx="7623900" cy="2787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 man bought two books for Rs. 250 each. If he sells one at a profit of 5%, then how much should he sell the other so that he makes a profit of 20% on the whole?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A. 32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B. 29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C. 35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D. 24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66666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g2ee15abed17_3_440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C 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g2ee15abed17_3_440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g2ee15abed17_3_447"/>
          <p:cNvPicPr preferRelativeResize="0"/>
          <p:nvPr/>
        </p:nvPicPr>
        <p:blipFill rotWithShape="1">
          <a:blip r:embed="rId3">
            <a:alphaModFix/>
          </a:blip>
          <a:srcRect b="0" l="0" r="57233" t="0"/>
          <a:stretch/>
        </p:blipFill>
        <p:spPr>
          <a:xfrm>
            <a:off x="8189675" y="233550"/>
            <a:ext cx="724575" cy="766798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2ee15abed17_3_447"/>
          <p:cNvSpPr txBox="1"/>
          <p:nvPr/>
        </p:nvSpPr>
        <p:spPr>
          <a:xfrm>
            <a:off x="327600" y="342645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g2ee15abed17_3_447"/>
          <p:cNvSpPr txBox="1"/>
          <p:nvPr/>
        </p:nvSpPr>
        <p:spPr>
          <a:xfrm>
            <a:off x="327600" y="1071300"/>
            <a:ext cx="7384200" cy="3156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g2ee15abed17_3_447"/>
          <p:cNvSpPr txBox="1"/>
          <p:nvPr/>
        </p:nvSpPr>
        <p:spPr>
          <a:xfrm>
            <a:off x="720725" y="1250950"/>
            <a:ext cx="7623300" cy="43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Before we start, it’s important to note here that it is not 15% to be added to 5% to make it a total of 20%.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Let the other profit percent be x.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Then, our equation looks like this.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105/100 * 250 + [(100+x)/100] * 250 = 120/100 * 500 → x= 35.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Hence, if he makes a profit of 35% on the second, it comes to a total of 20% profit on the whole.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g2ee15abed17_3_447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ee15abed17_3_455"/>
          <p:cNvSpPr txBox="1"/>
          <p:nvPr/>
        </p:nvSpPr>
        <p:spPr>
          <a:xfrm>
            <a:off x="327600" y="35920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g2ee15abed17_3_455"/>
          <p:cNvSpPr txBox="1"/>
          <p:nvPr/>
        </p:nvSpPr>
        <p:spPr>
          <a:xfrm>
            <a:off x="720725" y="1250950"/>
            <a:ext cx="76233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In an examination it is required to get 40% of the aggregate marks to pass. A student gets 522 marks and is declared failed by 4% marks. What are the maximum aggregate marks a student can get?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A. 1700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B. 1730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C. 1450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D. 1765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g2ee15abed17_3_45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C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g2ee15abed17_3_455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ee15abed17_3_462"/>
          <p:cNvSpPr txBox="1"/>
          <p:nvPr/>
        </p:nvSpPr>
        <p:spPr>
          <a:xfrm>
            <a:off x="327600" y="380641"/>
            <a:ext cx="2827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g2ee15abed17_3_462"/>
          <p:cNvSpPr txBox="1"/>
          <p:nvPr/>
        </p:nvSpPr>
        <p:spPr>
          <a:xfrm>
            <a:off x="720725" y="1250950"/>
            <a:ext cx="7623300" cy="3519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Let the total marks be x.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4% less than 40% is 522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So, 36% of the total marks = 522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36/100 × x = 522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x = 522 × 100/36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x = 1450</a:t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g2ee15abed17_3_462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g2ee15abed17_3_462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g2ee15abed17_3_5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2ee15abed17_3_531"/>
          <p:cNvSpPr txBox="1"/>
          <p:nvPr/>
        </p:nvSpPr>
        <p:spPr>
          <a:xfrm>
            <a:off x="3141000" y="2194650"/>
            <a:ext cx="2862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GB" sz="37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32" name="Google Shape;332;g2ee15abed17_3_5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2ee15abed17_3_5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g2ee15abed17_3_531"/>
          <p:cNvSpPr txBox="1"/>
          <p:nvPr/>
        </p:nvSpPr>
        <p:spPr>
          <a:xfrm>
            <a:off x="1980750" y="4590801"/>
            <a:ext cx="118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335" name="Google Shape;335;g2ee15abed17_3_531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g2ee15abed17_3_531"/>
          <p:cNvSpPr txBox="1"/>
          <p:nvPr/>
        </p:nvSpPr>
        <p:spPr>
          <a:xfrm>
            <a:off x="3519050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37" name="Google Shape;337;g2ee15abed17_3_5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2ee15abed17_3_531"/>
          <p:cNvSpPr txBox="1"/>
          <p:nvPr/>
        </p:nvSpPr>
        <p:spPr>
          <a:xfrm>
            <a:off x="5457275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339" name="Google Shape;339;g2ee15abed17_3_531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