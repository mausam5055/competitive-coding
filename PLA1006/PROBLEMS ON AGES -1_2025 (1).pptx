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oboto Black"/>
      <p:bold r:id="rId41"/>
      <p:boldItalic r:id="rId42"/>
    </p:embeddedFont>
    <p:embeddedFont>
      <p:font typeface="Roboto"/>
      <p:regular r:id="rId43"/>
      <p:bold r:id="rId44"/>
      <p:italic r:id="rId45"/>
      <p:boldItalic r:id="rId46"/>
    </p:embeddedFont>
    <p:embeddedFont>
      <p:font typeface="Roboto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3005">
          <p15:clr>
            <a:srgbClr val="FF0000"/>
          </p15:clr>
        </p15:guide>
        <p15:guide id="3" pos="5256">
          <p15:clr>
            <a:srgbClr val="FF00FF"/>
          </p15:clr>
        </p15:guide>
        <p15:guide id="4" orient="horz" pos="1077">
          <p15:clr>
            <a:srgbClr val="FF0000"/>
          </p15:clr>
        </p15:guide>
        <p15:guide id="5" orient="horz" pos="788">
          <p15:clr>
            <a:srgbClr val="00FF00"/>
          </p15:clr>
        </p15:guide>
        <p15:guide id="6" orient="horz" pos="397">
          <p15:clr>
            <a:srgbClr val="00FF00"/>
          </p15:clr>
        </p15:guide>
        <p15:guide id="7" pos="4529">
          <p15:clr>
            <a:srgbClr val="747775"/>
          </p15:clr>
        </p15:guide>
        <p15:guide id="8" orient="horz" pos="1460">
          <p15:clr>
            <a:srgbClr val="747775"/>
          </p15:clr>
        </p15:guide>
        <p15:guide id="9" pos="454">
          <p15:clr>
            <a:srgbClr val="747775"/>
          </p15:clr>
        </p15:guide>
        <p15:guide id="10" pos="4365">
          <p15:clr>
            <a:srgbClr val="747775"/>
          </p15:clr>
        </p15:guide>
      </p15:sldGuideLst>
    </p:ext>
    <p:ext uri="GoogleSlidesCustomDataVersion2">
      <go:slidesCustomData xmlns:go="http://customooxmlschemas.google.com/" r:id="rId51" roundtripDataSignature="AMtx7mge5je32kERZYovovzURL3SCFGi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3005" orient="horz"/>
        <p:guide pos="5256"/>
        <p:guide pos="1077" orient="horz"/>
        <p:guide pos="788" orient="horz"/>
        <p:guide pos="397" orient="horz"/>
        <p:guide pos="4529"/>
        <p:guide pos="1460" orient="horz"/>
        <p:guide pos="454"/>
        <p:guide pos="436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Black-boldItalic.fntdata"/><Relationship Id="rId41" Type="http://schemas.openxmlformats.org/officeDocument/2006/relationships/font" Target="fonts/RobotoBlack-bold.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bold.fntdata"/><Relationship Id="rId47" Type="http://schemas.openxmlformats.org/officeDocument/2006/relationships/font" Target="fonts/RobotoMedium-regular.fntdata"/><Relationship Id="rId49" Type="http://schemas.openxmlformats.org/officeDocument/2006/relationships/font" Target="fonts/Roboto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Roboto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b9bf173e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31b9bf173e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e15abed17_3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2ee15abed17_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aa3f00b5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2aa3f00b5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ecf70bd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1ecf70bd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ee15abed17_3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ee15abed17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ee15abed17_3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ee15abed17_3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e15abed17_3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ee15abed17_3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ee15abed17_3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ee15abed17_3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ee15abed17_3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2ee15abed17_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ee15abed17_3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2ee15abed17_3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b9bf173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1b9bf173e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e15abed17_3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ee15abed17_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e15abed17_3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2ee15abed17_3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e15abed17_3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ee15abed17_3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ee15abed17_3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ee15abed17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ee15abed17_3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2ee15abed17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ee15abed17_3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ee15abed17_3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e15abed17_3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ee15abed17_3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e15abed17_3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ee15abed17_3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ee15abed17_3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2ee15abed17_3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ee15abed17_3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2ee15abed17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e15abed17_3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2ee15abed17_3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e15abed17_3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ee15abed17_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ee15abed17_3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ee15abed17_3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e15abed17_3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ee15abed17_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ee15abed17_3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ee15abed17_3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e15abed17_3_4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2ee15abed17_3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ee15abed17_3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ee15abed17_3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ee15abed17_3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2ee15abed17_3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ee15abed17_3_4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ee15abed17_3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ee15abed17_3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2ee15abed17_3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ee15abed17_3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2ee15abed17_3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ee15abed17_3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2ee15abed17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ee15abed17_3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ee15abed17_3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ee15abed17_3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2ee15abed17_3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5" name="Google Shape;15;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 name="Google Shape;18;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 name="Google Shape;19;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1" name="Google Shape;4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7.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PROBLEMS ON AGES</a:t>
            </a:r>
            <a:endParaRPr b="1" i="0" sz="32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200"/>
              <a:buFont typeface="Arial"/>
              <a:buNone/>
            </a:pPr>
            <a:r>
              <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2aa3f00b54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0" name="Google Shape;70;g32aa3f00b54_0_0"/>
          <p:cNvSpPr txBox="1"/>
          <p:nvPr/>
        </p:nvSpPr>
        <p:spPr>
          <a:xfrm>
            <a:off x="1339325" y="622125"/>
            <a:ext cx="7786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rgbClr val="000000"/>
                </a:solidFill>
                <a:latin typeface="Roboto"/>
                <a:ea typeface="Roboto"/>
                <a:cs typeface="Roboto"/>
                <a:sym typeface="Roboto"/>
              </a:rPr>
              <a:t>                                    Test time on : </a:t>
            </a:r>
            <a:r>
              <a:rPr b="1" i="0" lang="en-GB" sz="1500" u="none" cap="none" strike="noStrike">
                <a:solidFill>
                  <a:srgbClr val="202124"/>
                </a:solidFill>
                <a:highlight>
                  <a:srgbClr val="FFFFFF"/>
                </a:highlight>
                <a:latin typeface="Arial"/>
                <a:ea typeface="Arial"/>
                <a:cs typeface="Arial"/>
                <a:sym typeface="Arial"/>
              </a:rPr>
              <a:t>Blood Relations </a:t>
            </a:r>
            <a:endParaRPr b="1" i="0" sz="1500" u="none" cap="none" strike="noStrike">
              <a:solidFill>
                <a:srgbClr val="000000"/>
              </a:solidFill>
              <a:latin typeface="Roboto"/>
              <a:ea typeface="Roboto"/>
              <a:cs typeface="Roboto"/>
              <a:sym typeface="Roboto"/>
            </a:endParaRPr>
          </a:p>
        </p:txBody>
      </p:sp>
      <p:sp>
        <p:nvSpPr>
          <p:cNvPr id="71" name="Google Shape;71;g32aa3f00b54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2" name="Google Shape;72;g32aa3f00b54_0_0"/>
          <p:cNvPicPr preferRelativeResize="0"/>
          <p:nvPr/>
        </p:nvPicPr>
        <p:blipFill rotWithShape="1">
          <a:blip r:embed="rId3">
            <a:alphaModFix/>
          </a:blip>
          <a:srcRect b="0" l="0" r="0" t="0"/>
          <a:stretch/>
        </p:blipFill>
        <p:spPr>
          <a:xfrm>
            <a:off x="3693825" y="2362300"/>
            <a:ext cx="1756350" cy="1838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1ecf70bd7e_0_0"/>
          <p:cNvSpPr txBox="1"/>
          <p:nvPr/>
        </p:nvSpPr>
        <p:spPr>
          <a:xfrm>
            <a:off x="900000" y="1170000"/>
            <a:ext cx="7275900" cy="2642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Important Statements and Equations for "Problems based on Ages: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If the present age is y, then n times the present age = ny.</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If the present age is x, then age  n years later/hence = x + n.</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If the present age is x, then age  n years ago = x – n.</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The ages in a ratio a: b will be ax and bx.</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If the current age is y, then 1/n of the age is y/n.</a:t>
            </a:r>
            <a:endParaRPr b="0" i="0" sz="2400" u="none" cap="none" strike="noStrike">
              <a:solidFill>
                <a:srgbClr val="000000"/>
              </a:solidFill>
              <a:latin typeface="Arial"/>
              <a:ea typeface="Arial"/>
              <a:cs typeface="Arial"/>
              <a:sym typeface="Arial"/>
            </a:endParaRPr>
          </a:p>
        </p:txBody>
      </p:sp>
      <p:sp>
        <p:nvSpPr>
          <p:cNvPr id="78" name="Google Shape;78;g31ecf70bd7e_0_0"/>
          <p:cNvSpPr txBox="1"/>
          <p:nvPr/>
        </p:nvSpPr>
        <p:spPr>
          <a:xfrm>
            <a:off x="2234050" y="630250"/>
            <a:ext cx="45045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AGES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2ee15abed17_3_283"/>
          <p:cNvSpPr txBox="1"/>
          <p:nvPr/>
        </p:nvSpPr>
        <p:spPr>
          <a:xfrm>
            <a:off x="747000" y="1446350"/>
            <a:ext cx="7650000" cy="2704200"/>
          </a:xfrm>
          <a:prstGeom prst="rect">
            <a:avLst/>
          </a:prstGeom>
          <a:noFill/>
          <a:ln cap="flat" cmpd="sng" w="9525">
            <a:solidFill>
              <a:schemeClr val="lt1"/>
            </a:solidFill>
            <a:prstDash val="solid"/>
            <a:round/>
            <a:headEnd len="sm" w="sm" type="none"/>
            <a:tailEnd len="sm" w="sm" type="none"/>
          </a:ln>
        </p:spPr>
        <p:txBody>
          <a:bodyPr anchorCtr="0" anchor="t" bIns="0" lIns="540000" spcFirstLastPara="1" rIns="15420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Father is aged three times more than his son Ronit. After 8 years, he would be two and a half times of Ronit's age. After further 8 years, how many times would he be of Ronit's age?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 times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 ½ times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 ¾ times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3 times</a:t>
            </a:r>
            <a:endParaRPr b="0" i="0" sz="1400" u="none" cap="none" strike="noStrike">
              <a:solidFill>
                <a:srgbClr val="000000"/>
              </a:solidFill>
              <a:latin typeface="Arial"/>
              <a:ea typeface="Arial"/>
              <a:cs typeface="Arial"/>
              <a:sym typeface="Arial"/>
            </a:endParaRPr>
          </a:p>
        </p:txBody>
      </p:sp>
      <p:sp>
        <p:nvSpPr>
          <p:cNvPr id="84" name="Google Shape;84;g2ee15abed17_3_283"/>
          <p:cNvSpPr txBox="1"/>
          <p:nvPr/>
        </p:nvSpPr>
        <p:spPr>
          <a:xfrm>
            <a:off x="720000" y="579950"/>
            <a:ext cx="2351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t/>
            </a:r>
            <a:endParaRPr b="0" i="0" sz="2100" u="none" cap="none" strike="noStrike">
              <a:solidFill>
                <a:srgbClr val="6D9EEB"/>
              </a:solidFill>
              <a:latin typeface="Roboto Black"/>
              <a:ea typeface="Roboto Black"/>
              <a:cs typeface="Roboto Black"/>
              <a:sym typeface="Roboto Black"/>
            </a:endParaRPr>
          </a:p>
        </p:txBody>
      </p:sp>
      <p:sp>
        <p:nvSpPr>
          <p:cNvPr id="85" name="Google Shape;85;g2ee15abed17_3_2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86" name="Google Shape;86;g2ee15abed17_3_283"/>
          <p:cNvSpPr txBox="1"/>
          <p:nvPr/>
        </p:nvSpPr>
        <p:spPr>
          <a:xfrm>
            <a:off x="7157600" y="4324350"/>
            <a:ext cx="1211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animEffect filter="fade" transition="in">
                                      <p:cBhvr>
                                        <p:cTn dur="1000"/>
                                        <p:tgtEl>
                                          <p:spTgt spid="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animEffect filter="fade" transition="in">
                                      <p:cBhvr>
                                        <p:cTn dur="1000"/>
                                        <p:tgtEl>
                                          <p:spTgt spid="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animEffect filter="fade" transition="in">
                                      <p:cBhvr>
                                        <p:cTn dur="1000"/>
                                        <p:tgtEl>
                                          <p:spTgt spid="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animEffect filter="fade" transition="in">
                                      <p:cBhvr>
                                        <p:cTn dur="1000"/>
                                        <p:tgtEl>
                                          <p:spTgt spid="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animEffect filter="fade" transition="in">
                                      <p:cBhvr>
                                        <p:cTn dur="1000"/>
                                        <p:tgtEl>
                                          <p:spTgt spid="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 name="Shape 90"/>
        <p:cNvGrpSpPr/>
        <p:nvPr/>
      </p:nvGrpSpPr>
      <p:grpSpPr>
        <a:xfrm>
          <a:off x="0" y="0"/>
          <a:ext cx="0" cy="0"/>
          <a:chOff x="0" y="0"/>
          <a:chExt cx="0" cy="0"/>
        </a:xfrm>
      </p:grpSpPr>
      <p:sp>
        <p:nvSpPr>
          <p:cNvPr id="91" name="Google Shape;91;g2ee15abed17_3_288"/>
          <p:cNvSpPr txBox="1"/>
          <p:nvPr/>
        </p:nvSpPr>
        <p:spPr>
          <a:xfrm>
            <a:off x="-34425" y="502200"/>
            <a:ext cx="4457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a:t>
            </a:r>
            <a:r>
              <a:rPr b="1" i="0" lang="en-GB" sz="2000" u="none" cap="none" strike="noStrike">
                <a:solidFill>
                  <a:schemeClr val="lt1"/>
                </a:solidFill>
                <a:latin typeface="Roboto"/>
                <a:ea typeface="Roboto"/>
                <a:cs typeface="Roboto"/>
                <a:sym typeface="Roboto"/>
              </a:rPr>
              <a:t> CLOCKS</a:t>
            </a:r>
            <a:endParaRPr b="1" i="0" sz="2000" u="none" cap="none" strike="noStrike">
              <a:solidFill>
                <a:schemeClr val="lt1"/>
              </a:solidFill>
              <a:latin typeface="Roboto"/>
              <a:ea typeface="Roboto"/>
              <a:cs typeface="Roboto"/>
              <a:sym typeface="Roboto"/>
            </a:endParaRPr>
          </a:p>
        </p:txBody>
      </p:sp>
      <p:sp>
        <p:nvSpPr>
          <p:cNvPr id="92" name="Google Shape;92;g2ee15abed17_3_288"/>
          <p:cNvSpPr txBox="1"/>
          <p:nvPr/>
        </p:nvSpPr>
        <p:spPr>
          <a:xfrm>
            <a:off x="711775" y="1439875"/>
            <a:ext cx="7657500" cy="2475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Ronit's present age be x years. Then, father's present age =(x + 3x) years = 4x years.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(4x + 8) = 	5/2(x + 8)</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8x + 16 = 5x + 40</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3x = 24</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x = 8.</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Hence, required ratio = (4x + 16)/(x + 16)= 48/24 = 2.</a:t>
            </a:r>
            <a:endParaRPr b="0" i="0" sz="1800" u="none" cap="none" strike="noStrike">
              <a:solidFill>
                <a:schemeClr val="dk1"/>
              </a:solidFill>
              <a:latin typeface="Roboto"/>
              <a:ea typeface="Roboto"/>
              <a:cs typeface="Roboto"/>
              <a:sym typeface="Roboto"/>
            </a:endParaRPr>
          </a:p>
        </p:txBody>
      </p:sp>
      <p:sp>
        <p:nvSpPr>
          <p:cNvPr id="93" name="Google Shape;93;g2ee15abed17_3_288"/>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1000"/>
                                        <p:tgtEl>
                                          <p:spTgt spid="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1000"/>
                                        <p:tgtEl>
                                          <p:spTgt spid="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animEffect filter="fade" transition="in">
                                      <p:cBhvr>
                                        <p:cTn dur="1000"/>
                                        <p:tgtEl>
                                          <p:spTgt spid="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animEffect filter="fade" transition="in">
                                      <p:cBhvr>
                                        <p:cTn dur="1000"/>
                                        <p:tgtEl>
                                          <p:spTgt spid="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animEffect filter="fade" transition="in">
                                      <p:cBhvr>
                                        <p:cTn dur="1000"/>
                                        <p:tgtEl>
                                          <p:spTgt spid="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animEffect filter="fade" transition="in">
                                      <p:cBhvr>
                                        <p:cTn dur="1000"/>
                                        <p:tgtEl>
                                          <p:spTgt spid="9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ee15abed17_3_293"/>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highlight>
                  <a:schemeClr val="lt1"/>
                </a:highlight>
                <a:latin typeface="Arial"/>
                <a:ea typeface="Arial"/>
                <a:cs typeface="Arial"/>
                <a:sym typeface="Arial"/>
              </a:rPr>
              <a:t>The sum of ages of 5 children born at the intervals of 3 years each is 50 years. What is the age of the youngest child? </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just">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4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8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10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None of these</a:t>
            </a:r>
            <a:endParaRPr b="0" i="0" sz="1800" u="none" cap="none" strike="noStrike">
              <a:solidFill>
                <a:schemeClr val="dk1"/>
              </a:solidFill>
              <a:latin typeface="Roboto"/>
              <a:ea typeface="Roboto"/>
              <a:cs typeface="Roboto"/>
              <a:sym typeface="Roboto"/>
            </a:endParaRPr>
          </a:p>
        </p:txBody>
      </p:sp>
      <p:sp>
        <p:nvSpPr>
          <p:cNvPr id="99" name="Google Shape;99;g2ee15abed17_3_29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0" i="0" sz="1400" u="none" cap="none" strike="noStrike">
              <a:solidFill>
                <a:srgbClr val="000000"/>
              </a:solidFill>
              <a:latin typeface="Arial"/>
              <a:ea typeface="Arial"/>
              <a:cs typeface="Arial"/>
              <a:sym typeface="Arial"/>
            </a:endParaRPr>
          </a:p>
        </p:txBody>
      </p:sp>
      <p:sp>
        <p:nvSpPr>
          <p:cNvPr id="100" name="Google Shape;100;g2ee15abed17_3_293"/>
          <p:cNvSpPr txBox="1"/>
          <p:nvPr/>
        </p:nvSpPr>
        <p:spPr>
          <a:xfrm>
            <a:off x="7139600" y="4324350"/>
            <a:ext cx="1229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animEffect filter="fade" transition="in">
                                      <p:cBhvr>
                                        <p:cTn dur="1000"/>
                                        <p:tgtEl>
                                          <p:spTgt spid="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animEffect filter="fade" transition="in">
                                      <p:cBhvr>
                                        <p:cTn dur="1000"/>
                                        <p:tgtEl>
                                          <p:spTgt spid="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animEffect filter="fade" transition="in">
                                      <p:cBhvr>
                                        <p:cTn dur="1000"/>
                                        <p:tgtEl>
                                          <p:spTgt spid="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animEffect filter="fade" transition="in">
                                      <p:cBhvr>
                                        <p:cTn dur="1000"/>
                                        <p:tgtEl>
                                          <p:spTgt spid="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animEffect filter="fade" transition="in">
                                      <p:cBhvr>
                                        <p:cTn dur="1000"/>
                                        <p:tgtEl>
                                          <p:spTgt spid="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 name="Shape 104"/>
        <p:cNvGrpSpPr/>
        <p:nvPr/>
      </p:nvGrpSpPr>
      <p:grpSpPr>
        <a:xfrm>
          <a:off x="0" y="0"/>
          <a:ext cx="0" cy="0"/>
          <a:chOff x="0" y="0"/>
          <a:chExt cx="0" cy="0"/>
        </a:xfrm>
      </p:grpSpPr>
      <p:sp>
        <p:nvSpPr>
          <p:cNvPr id="105" name="Google Shape;105;g2ee15abed17_3_2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106" name="Google Shape;106;g2ee15abed17_3_297"/>
          <p:cNvSpPr txBox="1"/>
          <p:nvPr/>
        </p:nvSpPr>
        <p:spPr>
          <a:xfrm>
            <a:off x="630000" y="1309175"/>
            <a:ext cx="7667100" cy="2352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ages of children be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+ 9) and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+ 12) years.</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Then,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+ 9)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+ 12) = 50</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20</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Age of the youngest child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 years.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g2ee15abed17_3_30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12" name="Google Shape;112;g2ee15abed17_3_301"/>
          <p:cNvSpPr txBox="1"/>
          <p:nvPr/>
        </p:nvSpPr>
        <p:spPr>
          <a:xfrm>
            <a:off x="720000" y="1439875"/>
            <a:ext cx="76494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sp>
        <p:nvSpPr>
          <p:cNvPr id="113" name="Google Shape;113;g2ee15abed17_3_301"/>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highlight>
                  <a:schemeClr val="lt1"/>
                </a:highlight>
                <a:latin typeface="Arial"/>
                <a:ea typeface="Arial"/>
                <a:cs typeface="Arial"/>
                <a:sym typeface="Arial"/>
              </a:rPr>
              <a:t>A father said to his son, "I was as old as you are at the present at the time of your birth". If the father's age is 38 years now, the son's age five years back was: </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14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19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33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38 years </a:t>
            </a:r>
            <a:endParaRPr b="0" i="0" sz="1800" u="none" cap="none" strike="noStrike">
              <a:solidFill>
                <a:schemeClr val="dk1"/>
              </a:solidFill>
              <a:latin typeface="Roboto"/>
              <a:ea typeface="Roboto"/>
              <a:cs typeface="Roboto"/>
              <a:sym typeface="Roboto"/>
            </a:endParaRPr>
          </a:p>
        </p:txBody>
      </p:sp>
      <p:sp>
        <p:nvSpPr>
          <p:cNvPr id="114" name="Google Shape;114;g2ee15abed17_3_301"/>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15" name="Google Shape;115;g2ee15abed17_3_301"/>
          <p:cNvSpPr txBox="1"/>
          <p:nvPr/>
        </p:nvSpPr>
        <p:spPr>
          <a:xfrm>
            <a:off x="7189450" y="432435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sp>
        <p:nvSpPr>
          <p:cNvPr id="120" name="Google Shape;120;g2ee15abed17_3_306"/>
          <p:cNvSpPr txBox="1"/>
          <p:nvPr/>
        </p:nvSpPr>
        <p:spPr>
          <a:xfrm>
            <a:off x="327600" y="338142"/>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21" name="Google Shape;121;g2ee15abed17_3_306"/>
          <p:cNvSpPr txBox="1"/>
          <p:nvPr/>
        </p:nvSpPr>
        <p:spPr>
          <a:xfrm>
            <a:off x="720000" y="1440000"/>
            <a:ext cx="7384200" cy="326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son's present age be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Then, (38 -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a:t>
            </a:r>
            <a:r>
              <a:rPr b="0" i="1" lang="en-GB" sz="1800" u="none" cap="none" strike="noStrike">
                <a:solidFill>
                  <a:schemeClr val="dk1"/>
                </a:solidFill>
                <a:latin typeface="Arial"/>
                <a:ea typeface="Arial"/>
                <a:cs typeface="Arial"/>
                <a:sym typeface="Arial"/>
              </a:rPr>
              <a:t>x</a:t>
            </a:r>
            <a:endParaRPr b="0" i="1"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38.</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19.</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Son's age 5 years back (19 - 5) = 14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22" name="Google Shape;122;g2ee15abed17_3_30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10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1000"/>
                                        <p:tgtEl>
                                          <p:spTgt spid="1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Effect filter="fade" transition="in">
                                      <p:cBhvr>
                                        <p:cTn dur="1000"/>
                                        <p:tgtEl>
                                          <p:spTgt spid="1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Effect filter="fade" transition="in">
                                      <p:cBhvr>
                                        <p:cTn dur="1000"/>
                                        <p:tgtEl>
                                          <p:spTgt spid="1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Effect filter="fade" transition="in">
                                      <p:cBhvr>
                                        <p:cTn dur="1000"/>
                                        <p:tgtEl>
                                          <p:spTgt spid="12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1b9bf173ee_0_17"/>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28" name="Google Shape;128;g31b9bf173ee_0_17"/>
          <p:cNvSpPr txBox="1"/>
          <p:nvPr/>
        </p:nvSpPr>
        <p:spPr>
          <a:xfrm>
            <a:off x="630000" y="1354400"/>
            <a:ext cx="7739400" cy="2642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 is two years older than B who is twice as old as C. If the total of the ages of A, B and C be 27, then how old is B?</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7</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8</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9</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10</a:t>
            </a:r>
            <a:endParaRPr b="0" i="0" sz="1800" u="none" cap="none" strike="noStrike">
              <a:solidFill>
                <a:schemeClr val="dk1"/>
              </a:solidFill>
              <a:latin typeface="Roboto"/>
              <a:ea typeface="Roboto"/>
              <a:cs typeface="Roboto"/>
              <a:sym typeface="Roboto"/>
            </a:endParaRPr>
          </a:p>
        </p:txBody>
      </p:sp>
      <p:sp>
        <p:nvSpPr>
          <p:cNvPr id="129" name="Google Shape;129;g31b9bf173ee_0_17"/>
          <p:cNvSpPr txBox="1"/>
          <p:nvPr/>
        </p:nvSpPr>
        <p:spPr>
          <a:xfrm>
            <a:off x="7189500" y="423000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D</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g2ee15abed17_3_313"/>
          <p:cNvSpPr txBox="1"/>
          <p:nvPr/>
        </p:nvSpPr>
        <p:spPr>
          <a:xfrm>
            <a:off x="720000" y="1439875"/>
            <a:ext cx="76494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C's age be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Then, B's age = 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A's age = (2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 years.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 + 2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27</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25</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5.</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Hence, B's age = 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10 years.</a:t>
            </a:r>
            <a:endParaRPr b="0" i="0" sz="1800" u="none" cap="none" strike="noStrike">
              <a:solidFill>
                <a:schemeClr val="dk1"/>
              </a:solidFill>
              <a:latin typeface="Roboto"/>
              <a:ea typeface="Roboto"/>
              <a:cs typeface="Roboto"/>
              <a:sym typeface="Roboto"/>
            </a:endParaRPr>
          </a:p>
        </p:txBody>
      </p:sp>
      <p:sp>
        <p:nvSpPr>
          <p:cNvPr id="135" name="Google Shape;135;g2ee15abed17_3_31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ee15abed17_3_318"/>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16</a:t>
            </a:r>
            <a:endParaRPr b="0" i="0" sz="2000" u="none" cap="none" strike="noStrike">
              <a:solidFill>
                <a:schemeClr val="lt1"/>
              </a:solidFill>
              <a:latin typeface="Roboto"/>
              <a:ea typeface="Roboto"/>
              <a:cs typeface="Roboto"/>
              <a:sym typeface="Roboto"/>
            </a:endParaRPr>
          </a:p>
        </p:txBody>
      </p:sp>
      <p:sp>
        <p:nvSpPr>
          <p:cNvPr id="141" name="Google Shape;141;g2ee15abed17_3_318"/>
          <p:cNvSpPr txBox="1"/>
          <p:nvPr/>
        </p:nvSpPr>
        <p:spPr>
          <a:xfrm>
            <a:off x="720000" y="144000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Present ages of Sameer and Anand are in the ratio of 5 : 4 respectively. Three years hence, the ratio of their ages will become 11 : 9 respectively. What is Anand's present age in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24</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27</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30</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None of these</a:t>
            </a:r>
            <a:endParaRPr b="0" i="0" sz="1400" u="none" cap="none" strike="noStrike">
              <a:solidFill>
                <a:srgbClr val="000000"/>
              </a:solidFill>
              <a:latin typeface="Arial"/>
              <a:ea typeface="Arial"/>
              <a:cs typeface="Arial"/>
              <a:sym typeface="Arial"/>
            </a:endParaRPr>
          </a:p>
        </p:txBody>
      </p:sp>
      <p:sp>
        <p:nvSpPr>
          <p:cNvPr id="142" name="Google Shape;142;g2ee15abed17_3_3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a:t>
            </a:r>
            <a:endParaRPr b="1" i="0" sz="1600" u="none" cap="none" strike="noStrike">
              <a:solidFill>
                <a:srgbClr val="000000"/>
              </a:solidFill>
              <a:latin typeface="Roboto"/>
              <a:ea typeface="Roboto"/>
              <a:cs typeface="Roboto"/>
              <a:sym typeface="Roboto"/>
            </a:endParaRPr>
          </a:p>
        </p:txBody>
      </p:sp>
      <p:sp>
        <p:nvSpPr>
          <p:cNvPr id="143" name="Google Shape;143;g2ee15abed17_3_3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10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10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10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1000"/>
                                        <p:tgtEl>
                                          <p:spTgt spid="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animEffect filter="fade" transition="in">
                                      <p:cBhvr>
                                        <p:cTn dur="1000"/>
                                        <p:tgtEl>
                                          <p:spTgt spid="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 name="Shape 147"/>
        <p:cNvGrpSpPr/>
        <p:nvPr/>
      </p:nvGrpSpPr>
      <p:grpSpPr>
        <a:xfrm>
          <a:off x="0" y="0"/>
          <a:ext cx="0" cy="0"/>
          <a:chOff x="0" y="0"/>
          <a:chExt cx="0" cy="0"/>
        </a:xfrm>
      </p:grpSpPr>
      <p:sp>
        <p:nvSpPr>
          <p:cNvPr id="148" name="Google Shape;148;g2ee15abed17_3_325"/>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149" name="Google Shape;149;g2ee15abed17_3_32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present ages of Sameer and Anand be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and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respectively.</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Then,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 = 11/ 9</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9(5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 = 11(4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45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+ 27 = 44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+ 33</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45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- 44 x = 33 - 27</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Anand's present age =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24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333333"/>
              </a:solidFill>
              <a:highlight>
                <a:schemeClr val="lt1"/>
              </a:highlight>
              <a:latin typeface="Roboto"/>
              <a:ea typeface="Roboto"/>
              <a:cs typeface="Roboto"/>
              <a:sym typeface="Roboto"/>
            </a:endParaRPr>
          </a:p>
        </p:txBody>
      </p:sp>
      <p:sp>
        <p:nvSpPr>
          <p:cNvPr id="150" name="Google Shape;150;g2ee15abed17_3_3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151" name="Google Shape;151;g2ee15abed17_3_32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10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10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1000"/>
                                        <p:tgtEl>
                                          <p:spTgt spid="1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1000"/>
                                        <p:tgtEl>
                                          <p:spTgt spid="1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1000"/>
                                        <p:tgtEl>
                                          <p:spTgt spid="1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animEffect filter="fade" transition="in">
                                      <p:cBhvr>
                                        <p:cTn dur="1000"/>
                                        <p:tgtEl>
                                          <p:spTgt spid="1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animEffect filter="fade" transition="in">
                                      <p:cBhvr>
                                        <p:cTn dur="1000"/>
                                        <p:tgtEl>
                                          <p:spTgt spid="1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7" st="7"/>
                                            </p:txEl>
                                          </p:spTgt>
                                        </p:tgtEl>
                                        <p:attrNameLst>
                                          <p:attrName>style.visibility</p:attrName>
                                        </p:attrNameLst>
                                      </p:cBhvr>
                                      <p:to>
                                        <p:strVal val="visible"/>
                                      </p:to>
                                    </p:set>
                                    <p:animEffect filter="fade" transition="in">
                                      <p:cBhvr>
                                        <p:cTn dur="1000"/>
                                        <p:tgtEl>
                                          <p:spTgt spid="1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8" st="8"/>
                                            </p:txEl>
                                          </p:spTgt>
                                        </p:tgtEl>
                                        <p:attrNameLst>
                                          <p:attrName>style.visibility</p:attrName>
                                        </p:attrNameLst>
                                      </p:cBhvr>
                                      <p:to>
                                        <p:strVal val="visible"/>
                                      </p:to>
                                    </p:set>
                                    <p:animEffect filter="fade" transition="in">
                                      <p:cBhvr>
                                        <p:cTn dur="1000"/>
                                        <p:tgtEl>
                                          <p:spTgt spid="1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9" st="9"/>
                                            </p:txEl>
                                          </p:spTgt>
                                        </p:tgtEl>
                                        <p:attrNameLst>
                                          <p:attrName>style.visibility</p:attrName>
                                        </p:attrNameLst>
                                      </p:cBhvr>
                                      <p:to>
                                        <p:strVal val="visible"/>
                                      </p:to>
                                    </p:set>
                                    <p:animEffect filter="fade" transition="in">
                                      <p:cBhvr>
                                        <p:cTn dur="1000"/>
                                        <p:tgtEl>
                                          <p:spTgt spid="1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ee15abed17_3_332"/>
          <p:cNvSpPr txBox="1"/>
          <p:nvPr/>
        </p:nvSpPr>
        <p:spPr>
          <a:xfrm>
            <a:off x="327600" y="386576"/>
            <a:ext cx="2827800" cy="4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57" name="Google Shape;157;g2ee15abed17_3_332"/>
          <p:cNvSpPr txBox="1"/>
          <p:nvPr/>
        </p:nvSpPr>
        <p:spPr>
          <a:xfrm>
            <a:off x="720000" y="14242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 man is 24 years older than his son. In two years, his age will be twice the age of his son. The present age of his son is: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14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18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20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22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58" name="Google Shape;158;g2ee15abed17_3_33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a:t>
            </a:r>
            <a:endParaRPr b="1" i="0" sz="1600" u="none" cap="none" strike="noStrike">
              <a:solidFill>
                <a:srgbClr val="000000"/>
              </a:solidFill>
              <a:latin typeface="Roboto"/>
              <a:ea typeface="Roboto"/>
              <a:cs typeface="Roboto"/>
              <a:sym typeface="Roboto"/>
            </a:endParaRPr>
          </a:p>
        </p:txBody>
      </p:sp>
      <p:sp>
        <p:nvSpPr>
          <p:cNvPr id="159" name="Google Shape;159;g2ee15abed17_3_33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10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10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1000"/>
                                        <p:tgtEl>
                                          <p:spTgt spid="1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1000"/>
                                        <p:tgtEl>
                                          <p:spTgt spid="1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animEffect filter="fade" transition="in">
                                      <p:cBhvr>
                                        <p:cTn dur="1000"/>
                                        <p:tgtEl>
                                          <p:spTgt spid="1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animEffect filter="fade" transition="in">
                                      <p:cBhvr>
                                        <p:cTn dur="1000"/>
                                        <p:tgtEl>
                                          <p:spTgt spid="1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1000"/>
                                        <p:tgtEl>
                                          <p:spTgt spid="15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sp>
        <p:nvSpPr>
          <p:cNvPr id="164" name="Google Shape;164;g2ee15abed17_3_339"/>
          <p:cNvSpPr txBox="1"/>
          <p:nvPr/>
        </p:nvSpPr>
        <p:spPr>
          <a:xfrm>
            <a:off x="720000" y="1440000"/>
            <a:ext cx="70281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son's present age be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Then, man's present age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+ 24) years.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+ 24) + 2 = 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+ 26 = 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22.</a:t>
            </a:r>
            <a:endParaRPr b="0" i="0" sz="1800" u="none" cap="none" strike="noStrike">
              <a:solidFill>
                <a:schemeClr val="dk1"/>
              </a:solidFill>
              <a:latin typeface="Roboto"/>
              <a:ea typeface="Roboto"/>
              <a:cs typeface="Roboto"/>
              <a:sym typeface="Roboto"/>
            </a:endParaRPr>
          </a:p>
        </p:txBody>
      </p:sp>
      <p:sp>
        <p:nvSpPr>
          <p:cNvPr id="165" name="Google Shape;165;g2ee15abed17_3_33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ee15abed17_3_344"/>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Six years ago, the ratio of the ages of Kunal and Sagar was 6 : 5. Four years hence, the ratio of their ages will be 11 : 10. What is Sagar's age at present?</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16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18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20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None of these</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71" name="Google Shape;171;g2ee15abed17_3_34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Answer:A</a:t>
            </a:r>
            <a:endParaRPr b="1" i="0" sz="1700" u="none" cap="none" strike="noStrike">
              <a:solidFill>
                <a:srgbClr val="000000"/>
              </a:solidFill>
              <a:latin typeface="Roboto"/>
              <a:ea typeface="Roboto"/>
              <a:cs typeface="Roboto"/>
              <a:sym typeface="Roboto"/>
            </a:endParaRPr>
          </a:p>
        </p:txBody>
      </p:sp>
      <p:sp>
        <p:nvSpPr>
          <p:cNvPr id="172" name="Google Shape;172;g2ee15abed17_3_344"/>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10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10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10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1000"/>
                                        <p:tgtEl>
                                          <p:spTgt spid="1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Effect filter="fade" transition="in">
                                      <p:cBhvr>
                                        <p:cTn dur="1000"/>
                                        <p:tgtEl>
                                          <p:spTgt spid="1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Effect filter="fade" transition="in">
                                      <p:cBhvr>
                                        <p:cTn dur="1000"/>
                                        <p:tgtEl>
                                          <p:spTgt spid="1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g2ee15abed17_3_350"/>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ages of Kunal and Sagar 6 years ago be 6</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and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respectively.</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Then, ((6</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+ 4 ) /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+ 4) = 11/10</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10(6</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+ 10) = 11(5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+ 10)</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10</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Sagar's present age =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 16 years.</a:t>
            </a:r>
            <a:endParaRPr b="0" i="0" sz="1800" u="none" cap="none" strike="noStrike">
              <a:solidFill>
                <a:schemeClr val="dk1"/>
              </a:solidFill>
              <a:latin typeface="Roboto"/>
              <a:ea typeface="Roboto"/>
              <a:cs typeface="Roboto"/>
              <a:sym typeface="Roboto"/>
            </a:endParaRPr>
          </a:p>
        </p:txBody>
      </p:sp>
      <p:sp>
        <p:nvSpPr>
          <p:cNvPr id="178" name="Google Shape;178;g2ee15abed17_3_350"/>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ee15abed17_3_356"/>
          <p:cNvSpPr txBox="1"/>
          <p:nvPr/>
        </p:nvSpPr>
        <p:spPr>
          <a:xfrm>
            <a:off x="327600" y="402400"/>
            <a:ext cx="28278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84" name="Google Shape;184;g2ee15abed17_3_356"/>
          <p:cNvSpPr txBox="1"/>
          <p:nvPr/>
        </p:nvSpPr>
        <p:spPr>
          <a:xfrm>
            <a:off x="720000" y="1440000"/>
            <a:ext cx="75441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highlight>
                  <a:schemeClr val="lt1"/>
                </a:highlight>
                <a:latin typeface="Arial"/>
                <a:ea typeface="Arial"/>
                <a:cs typeface="Arial"/>
                <a:sym typeface="Arial"/>
              </a:rPr>
              <a:t>The sum of the present ages of a father and his son is 60 years. Six years ago, father's age was five times the age of the son. After 6 years, son's age will be:</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12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14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18 years</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highlight>
                  <a:schemeClr val="lt1"/>
                </a:highlight>
                <a:latin typeface="Arial"/>
                <a:ea typeface="Arial"/>
                <a:cs typeface="Arial"/>
                <a:sym typeface="Arial"/>
              </a:rPr>
              <a:t>20 years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05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85" name="Google Shape;185;g2ee15abed17_3_356"/>
          <p:cNvSpPr txBox="1"/>
          <p:nvPr/>
        </p:nvSpPr>
        <p:spPr>
          <a:xfrm>
            <a:off x="7189500" y="4171350"/>
            <a:ext cx="16254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a:t>
            </a:r>
            <a:endParaRPr b="1" i="0" sz="1600" u="none" cap="none" strike="noStrike">
              <a:solidFill>
                <a:srgbClr val="000000"/>
              </a:solidFill>
              <a:latin typeface="Roboto"/>
              <a:ea typeface="Roboto"/>
              <a:cs typeface="Roboto"/>
              <a:sym typeface="Roboto"/>
            </a:endParaRPr>
          </a:p>
        </p:txBody>
      </p:sp>
      <p:sp>
        <p:nvSpPr>
          <p:cNvPr id="186" name="Google Shape;186;g2ee15abed17_3_35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10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10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1000"/>
                                        <p:tgtEl>
                                          <p:spTgt spid="1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animEffect filter="fade" transition="in">
                                      <p:cBhvr>
                                        <p:cTn dur="1000"/>
                                        <p:tgtEl>
                                          <p:spTgt spid="1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animEffect filter="fade" transition="in">
                                      <p:cBhvr>
                                        <p:cTn dur="1000"/>
                                        <p:tgtEl>
                                          <p:spTgt spid="1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animEffect filter="fade" transition="in">
                                      <p:cBhvr>
                                        <p:cTn dur="1000"/>
                                        <p:tgtEl>
                                          <p:spTgt spid="1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animEffect filter="fade" transition="in">
                                      <p:cBhvr>
                                        <p:cTn dur="1000"/>
                                        <p:tgtEl>
                                          <p:spTgt spid="1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g2ee15abed17_3_363"/>
          <p:cNvSpPr txBox="1"/>
          <p:nvPr/>
        </p:nvSpPr>
        <p:spPr>
          <a:xfrm>
            <a:off x="720000" y="1439875"/>
            <a:ext cx="7265400" cy="279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Let the present ages of son and father be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and (60 -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respectively.</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Then, (60 -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54 -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- 30</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6</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84</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14.</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Son's age after 6 years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+ 6) = 20 years.</a:t>
            </a:r>
            <a:endParaRPr b="0" i="0" sz="1800" u="none" cap="none" strike="noStrike">
              <a:solidFill>
                <a:schemeClr val="dk1"/>
              </a:solidFill>
              <a:latin typeface="Roboto"/>
              <a:ea typeface="Roboto"/>
              <a:cs typeface="Roboto"/>
              <a:sym typeface="Roboto"/>
            </a:endParaRPr>
          </a:p>
        </p:txBody>
      </p:sp>
      <p:sp>
        <p:nvSpPr>
          <p:cNvPr id="192" name="Google Shape;192;g2ee15abed17_3_36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ee15abed17_3_369"/>
          <p:cNvSpPr txBox="1"/>
          <p:nvPr/>
        </p:nvSpPr>
        <p:spPr>
          <a:xfrm>
            <a:off x="327600" y="396716"/>
            <a:ext cx="2827800" cy="43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98" name="Google Shape;198;g2ee15abed17_3_369"/>
          <p:cNvSpPr txBox="1"/>
          <p:nvPr/>
        </p:nvSpPr>
        <p:spPr>
          <a:xfrm>
            <a:off x="746400" y="1439875"/>
            <a:ext cx="7862400" cy="357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At present, the ratio between the ages of Arun and Deepak is 4 : 3. After 6 years, Arun's age will be 26 years. What is the age of Deepak at present ? </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12 years</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15 years</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19 and half</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21 years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199" name="Google Shape;199;g2ee15abed17_3_36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B</a:t>
            </a:r>
            <a:endParaRPr b="1" i="0" sz="1600" u="none" cap="none" strike="noStrike">
              <a:solidFill>
                <a:srgbClr val="000000"/>
              </a:solidFill>
              <a:latin typeface="Roboto"/>
              <a:ea typeface="Roboto"/>
              <a:cs typeface="Roboto"/>
              <a:sym typeface="Roboto"/>
            </a:endParaRPr>
          </a:p>
        </p:txBody>
      </p:sp>
      <p:sp>
        <p:nvSpPr>
          <p:cNvPr id="200" name="Google Shape;200;g2ee15abed17_3_36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10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10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animEffect filter="fade" transition="in">
                                      <p:cBhvr>
                                        <p:cTn dur="1000"/>
                                        <p:tgtEl>
                                          <p:spTgt spid="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animEffect filter="fade" transition="in">
                                      <p:cBhvr>
                                        <p:cTn dur="1000"/>
                                        <p:tgtEl>
                                          <p:spTgt spid="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animEffect filter="fade" transition="in">
                                      <p:cBhvr>
                                        <p:cTn dur="1000"/>
                                        <p:tgtEl>
                                          <p:spTgt spid="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g2ee15abed17_3_376"/>
          <p:cNvSpPr txBox="1"/>
          <p:nvPr/>
        </p:nvSpPr>
        <p:spPr>
          <a:xfrm>
            <a:off x="327600" y="7781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6" name="Google Shape;206;g2ee15abed17_3_376"/>
          <p:cNvSpPr txBox="1"/>
          <p:nvPr/>
        </p:nvSpPr>
        <p:spPr>
          <a:xfrm>
            <a:off x="1066875" y="1640550"/>
            <a:ext cx="72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7" name="Google Shape;207;g2ee15abed17_3_376"/>
          <p:cNvSpPr txBox="1"/>
          <p:nvPr/>
        </p:nvSpPr>
        <p:spPr>
          <a:xfrm>
            <a:off x="630000" y="1354400"/>
            <a:ext cx="7474200" cy="25398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present ages of Arun and Deepak be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and 3</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respectively. Then,</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 = 26 </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20</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5.</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Deepak's age = 3</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15 years.</a:t>
            </a:r>
            <a:endParaRPr b="0" i="0" sz="1800" u="none" cap="none" strike="noStrike">
              <a:solidFill>
                <a:schemeClr val="dk1"/>
              </a:solidFill>
              <a:latin typeface="Roboto"/>
              <a:ea typeface="Roboto"/>
              <a:cs typeface="Roboto"/>
              <a:sym typeface="Roboto"/>
            </a:endParaRPr>
          </a:p>
        </p:txBody>
      </p:sp>
      <p:sp>
        <p:nvSpPr>
          <p:cNvPr id="208" name="Google Shape;208;g2ee15abed17_3_37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ee15abed17_3_38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Sachin is younger than Rahul by 7 years. If their ages are in the respective ratio of 7 : 9, how old is Sachin?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16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18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28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24.5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14" name="Google Shape;214;g2ee15abed17_3_38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a:t>
            </a:r>
            <a:endParaRPr b="1" i="0" sz="1600" u="none" cap="none" strike="noStrike">
              <a:solidFill>
                <a:srgbClr val="000000"/>
              </a:solidFill>
              <a:latin typeface="Roboto"/>
              <a:ea typeface="Roboto"/>
              <a:cs typeface="Roboto"/>
              <a:sym typeface="Roboto"/>
            </a:endParaRPr>
          </a:p>
        </p:txBody>
      </p:sp>
      <p:sp>
        <p:nvSpPr>
          <p:cNvPr id="215" name="Google Shape;215;g2ee15abed17_3_3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Effect filter="fade" transition="in">
                                      <p:cBhvr>
                                        <p:cTn dur="1000"/>
                                        <p:tgtEl>
                                          <p:spTgt spid="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Effect filter="fade" transition="in">
                                      <p:cBhvr>
                                        <p:cTn dur="1000"/>
                                        <p:tgtEl>
                                          <p:spTgt spid="2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Effect filter="fade" transition="in">
                                      <p:cBhvr>
                                        <p:cTn dur="1000"/>
                                        <p:tgtEl>
                                          <p:spTgt spid="2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Effect filter="fade" transition="in">
                                      <p:cBhvr>
                                        <p:cTn dur="1000"/>
                                        <p:tgtEl>
                                          <p:spTgt spid="2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Effect filter="fade" transition="in">
                                      <p:cBhvr>
                                        <p:cTn dur="1000"/>
                                        <p:tgtEl>
                                          <p:spTgt spid="2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animEffect filter="fade" transition="in">
                                      <p:cBhvr>
                                        <p:cTn dur="1000"/>
                                        <p:tgtEl>
                                          <p:spTgt spid="2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1000"/>
                                        <p:tgtEl>
                                          <p:spTgt spid="2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9" name="Shape 219"/>
        <p:cNvGrpSpPr/>
        <p:nvPr/>
      </p:nvGrpSpPr>
      <p:grpSpPr>
        <a:xfrm>
          <a:off x="0" y="0"/>
          <a:ext cx="0" cy="0"/>
          <a:chOff x="0" y="0"/>
          <a:chExt cx="0" cy="0"/>
        </a:xfrm>
      </p:grpSpPr>
      <p:pic>
        <p:nvPicPr>
          <p:cNvPr id="220" name="Google Shape;220;g2ee15abed17_3_389"/>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21" name="Google Shape;221;g2ee15abed17_3_389"/>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22" name="Google Shape;222;g2ee15abed17_3_389"/>
          <p:cNvSpPr txBox="1"/>
          <p:nvPr/>
        </p:nvSpPr>
        <p:spPr>
          <a:xfrm>
            <a:off x="327600" y="8427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23" name="Google Shape;223;g2ee15abed17_3_38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
        <p:nvSpPr>
          <p:cNvPr id="224" name="Google Shape;224;g2ee15abed17_3_389"/>
          <p:cNvSpPr txBox="1"/>
          <p:nvPr/>
        </p:nvSpPr>
        <p:spPr>
          <a:xfrm>
            <a:off x="630000" y="1354400"/>
            <a:ext cx="7474200" cy="35709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Let Rahul's age be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Then, Sachin's age =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- 7) years.</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120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- 7/x=7</a:t>
            </a:r>
            <a:r>
              <a:rPr b="0" i="1" lang="en-GB" sz="1800" u="none" cap="none" strike="noStrike">
                <a:solidFill>
                  <a:schemeClr val="dk1"/>
                </a:solidFill>
                <a:latin typeface="Arial"/>
                <a:ea typeface="Arial"/>
                <a:cs typeface="Arial"/>
                <a:sym typeface="Arial"/>
              </a:rPr>
              <a:t>/ </a:t>
            </a:r>
            <a:r>
              <a:rPr b="0" i="0" lang="en-GB" sz="1800" u="none" cap="none" strike="noStrike">
                <a:solidFill>
                  <a:schemeClr val="dk1"/>
                </a:solidFill>
                <a:latin typeface="Arial"/>
                <a:ea typeface="Arial"/>
                <a:cs typeface="Arial"/>
                <a:sym typeface="Arial"/>
              </a:rPr>
              <a:t>9</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9</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- 63 = 7</a:t>
            </a:r>
            <a:r>
              <a:rPr b="0" i="1" lang="en-GB" sz="1800" u="none" cap="none" strike="noStrike">
                <a:solidFill>
                  <a:schemeClr val="dk1"/>
                </a:solidFill>
                <a:latin typeface="Arial"/>
                <a:ea typeface="Arial"/>
                <a:cs typeface="Arial"/>
                <a:sym typeface="Arial"/>
              </a:rPr>
              <a:t>x</a:t>
            </a:r>
            <a:endParaRPr b="0" i="1" sz="1800" u="none" cap="none" strike="noStrike">
              <a:solidFill>
                <a:schemeClr val="dk1"/>
              </a:solidFill>
              <a:latin typeface="Arial"/>
              <a:ea typeface="Arial"/>
              <a:cs typeface="Arial"/>
              <a:sym typeface="Arial"/>
            </a:endParaRPr>
          </a:p>
          <a:p>
            <a:pPr indent="0" lvl="0" marL="0" marR="0" rtl="0" algn="just">
              <a:lnSpc>
                <a:spcPct val="150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63</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31.5</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Hence, Sachin's age =(</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- 7) = 24.5 years.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ee15abed17_3_39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700" u="none" cap="none" strike="noStrike">
                <a:solidFill>
                  <a:srgbClr val="000000"/>
                </a:solidFill>
                <a:latin typeface="Roboto"/>
                <a:ea typeface="Roboto"/>
                <a:cs typeface="Roboto"/>
                <a:sym typeface="Roboto"/>
              </a:rPr>
              <a:t>A</a:t>
            </a:r>
            <a:r>
              <a:rPr b="1" i="0" lang="en-GB" sz="1600" u="none" cap="none" strike="noStrike">
                <a:solidFill>
                  <a:srgbClr val="000000"/>
                </a:solidFill>
                <a:latin typeface="Roboto"/>
                <a:ea typeface="Roboto"/>
                <a:cs typeface="Roboto"/>
                <a:sym typeface="Roboto"/>
              </a:rPr>
              <a:t>nswer: B</a:t>
            </a:r>
            <a:endParaRPr b="1" i="0" sz="1600" u="none" cap="none" strike="noStrike">
              <a:solidFill>
                <a:srgbClr val="000000"/>
              </a:solidFill>
              <a:latin typeface="Roboto"/>
              <a:ea typeface="Roboto"/>
              <a:cs typeface="Roboto"/>
              <a:sym typeface="Roboto"/>
            </a:endParaRPr>
          </a:p>
        </p:txBody>
      </p:sp>
      <p:sp>
        <p:nvSpPr>
          <p:cNvPr id="230" name="Google Shape;230;g2ee15abed17_3_3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231" name="Google Shape;231;g2ee15abed17_3_397"/>
          <p:cNvSpPr txBox="1"/>
          <p:nvPr/>
        </p:nvSpPr>
        <p:spPr>
          <a:xfrm>
            <a:off x="630000" y="1354400"/>
            <a:ext cx="7338000" cy="2693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 present ages of three persons in proportions 4 : 7 : 9. Eight years ago, the sum of their ages was 56. Find their present ages (in years).</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12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8, 20, 28</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16, 28, 36</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20, 35, 45</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None of these</a:t>
            </a:r>
            <a:endParaRPr b="0" i="0" sz="18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 name="Shape 235"/>
        <p:cNvGrpSpPr/>
        <p:nvPr/>
      </p:nvGrpSpPr>
      <p:grpSpPr>
        <a:xfrm>
          <a:off x="0" y="0"/>
          <a:ext cx="0" cy="0"/>
          <a:chOff x="0" y="0"/>
          <a:chExt cx="0" cy="0"/>
        </a:xfrm>
      </p:grpSpPr>
      <p:pic>
        <p:nvPicPr>
          <p:cNvPr id="236" name="Google Shape;236;g2ee15abed17_3_403"/>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37" name="Google Shape;237;g2ee15abed17_3_403"/>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38" name="Google Shape;238;g2ee15abed17_3_403"/>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39" name="Google Shape;239;g2ee15abed17_3_403"/>
          <p:cNvSpPr txBox="1"/>
          <p:nvPr/>
        </p:nvSpPr>
        <p:spPr>
          <a:xfrm>
            <a:off x="630000" y="1250500"/>
            <a:ext cx="6995400" cy="3382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Let their present ages be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7</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and 9</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years respectively.</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Then,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- 8) + (7</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- 8) + (9</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- 8) = 56</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20</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80</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Their present ages are 4</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16 years, 7</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28 years and 9</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36 years respectively.</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240" name="Google Shape;240;g2ee15abed17_3_40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2ee15abed17_3_411"/>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46" name="Google Shape;246;g2ee15abed17_3_411"/>
          <p:cNvSpPr txBox="1"/>
          <p:nvPr/>
        </p:nvSpPr>
        <p:spPr>
          <a:xfrm>
            <a:off x="720000" y="1439875"/>
            <a:ext cx="7650000" cy="3130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Ayesha's father was 38 years of age when she was born while her mother was 36 years old when her brother four years younger to her was born. What is the difference between the ages of her parents?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80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2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4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6 years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lphaUcPeriod"/>
            </a:pPr>
            <a:r>
              <a:rPr b="0" i="0" lang="en-GB" sz="1800" u="none" cap="none" strike="noStrike">
                <a:solidFill>
                  <a:schemeClr val="dk1"/>
                </a:solidFill>
                <a:latin typeface="Arial"/>
                <a:ea typeface="Arial"/>
                <a:cs typeface="Arial"/>
                <a:sym typeface="Arial"/>
              </a:rPr>
              <a:t>8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p:txBody>
      </p:sp>
      <p:sp>
        <p:nvSpPr>
          <p:cNvPr id="247" name="Google Shape;247;g2ee15abed17_3_4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a:t>
            </a:r>
            <a:endParaRPr b="1" i="0" sz="1600" u="none" cap="none" strike="noStrike">
              <a:solidFill>
                <a:srgbClr val="000000"/>
              </a:solidFill>
              <a:latin typeface="Roboto"/>
              <a:ea typeface="Roboto"/>
              <a:cs typeface="Roboto"/>
              <a:sym typeface="Roboto"/>
            </a:endParaRPr>
          </a:p>
        </p:txBody>
      </p:sp>
      <p:sp>
        <p:nvSpPr>
          <p:cNvPr id="248" name="Google Shape;248;g2ee15abed17_3_411"/>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animEffect filter="fade" transition="in">
                                      <p:cBhvr>
                                        <p:cTn dur="1000"/>
                                        <p:tgtEl>
                                          <p:spTgt spid="2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animEffect filter="fade" transition="in">
                                      <p:cBhvr>
                                        <p:cTn dur="1000"/>
                                        <p:tgtEl>
                                          <p:spTgt spid="2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animEffect filter="fade" transition="in">
                                      <p:cBhvr>
                                        <p:cTn dur="1000"/>
                                        <p:tgtEl>
                                          <p:spTgt spid="2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animEffect filter="fade" transition="in">
                                      <p:cBhvr>
                                        <p:cTn dur="1000"/>
                                        <p:tgtEl>
                                          <p:spTgt spid="2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4" st="4"/>
                                            </p:txEl>
                                          </p:spTgt>
                                        </p:tgtEl>
                                        <p:attrNameLst>
                                          <p:attrName>style.visibility</p:attrName>
                                        </p:attrNameLst>
                                      </p:cBhvr>
                                      <p:to>
                                        <p:strVal val="visible"/>
                                      </p:to>
                                    </p:set>
                                    <p:animEffect filter="fade" transition="in">
                                      <p:cBhvr>
                                        <p:cTn dur="1000"/>
                                        <p:tgtEl>
                                          <p:spTgt spid="2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5" st="5"/>
                                            </p:txEl>
                                          </p:spTgt>
                                        </p:tgtEl>
                                        <p:attrNameLst>
                                          <p:attrName>style.visibility</p:attrName>
                                        </p:attrNameLst>
                                      </p:cBhvr>
                                      <p:to>
                                        <p:strVal val="visible"/>
                                      </p:to>
                                    </p:set>
                                    <p:animEffect filter="fade" transition="in">
                                      <p:cBhvr>
                                        <p:cTn dur="1000"/>
                                        <p:tgtEl>
                                          <p:spTgt spid="2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 name="Shape 252"/>
        <p:cNvGrpSpPr/>
        <p:nvPr/>
      </p:nvGrpSpPr>
      <p:grpSpPr>
        <a:xfrm>
          <a:off x="0" y="0"/>
          <a:ext cx="0" cy="0"/>
          <a:chOff x="0" y="0"/>
          <a:chExt cx="0" cy="0"/>
        </a:xfrm>
      </p:grpSpPr>
      <p:pic>
        <p:nvPicPr>
          <p:cNvPr id="253" name="Google Shape;253;g2ee15abed17_3_418"/>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54" name="Google Shape;254;g2ee15abed17_3_418"/>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55" name="Google Shape;255;g2ee15abed17_3_418"/>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56" name="Google Shape;256;g2ee15abed17_3_418"/>
          <p:cNvSpPr txBox="1"/>
          <p:nvPr/>
        </p:nvSpPr>
        <p:spPr>
          <a:xfrm>
            <a:off x="630000" y="1354400"/>
            <a:ext cx="7303500" cy="2541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Mother's age when Ayesha's brother was born = 36 years.</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Arial"/>
                <a:ea typeface="Arial"/>
                <a:cs typeface="Arial"/>
                <a:sym typeface="Arial"/>
              </a:rPr>
              <a:t>Father's age when Ayesha's brother was born = (38 + 4) years = 42 years.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120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Required difference = (42 - 36) years = 6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7" name="Google Shape;257;g2ee15abed17_3_4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2ee15abed17_3_426"/>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63" name="Google Shape;263;g2ee15abed17_3_426"/>
          <p:cNvSpPr txBox="1"/>
          <p:nvPr/>
        </p:nvSpPr>
        <p:spPr>
          <a:xfrm>
            <a:off x="720000" y="138805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50000"/>
              </a:lnSpc>
              <a:spcBef>
                <a:spcPts val="120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A person's present age is two-fifth of the age of his mother. After 8 years, he will be one-half of the age of his mother. How old is the mother at present?</a:t>
            </a:r>
            <a:endParaRPr b="0" i="0" sz="1800" u="none" cap="none" strike="noStrike">
              <a:solidFill>
                <a:schemeClr val="dk1"/>
              </a:solidFill>
              <a:latin typeface="Roboto"/>
              <a:ea typeface="Roboto"/>
              <a:cs typeface="Roboto"/>
              <a:sym typeface="Roboto"/>
            </a:endParaRPr>
          </a:p>
          <a:p>
            <a:pPr indent="-342900" lvl="0" marL="457200" marR="0" rtl="0" algn="just">
              <a:lnSpc>
                <a:spcPct val="150000"/>
              </a:lnSpc>
              <a:spcBef>
                <a:spcPts val="120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32 years</a:t>
            </a:r>
            <a:endParaRPr b="0" i="0" sz="1800" u="none" cap="none" strike="noStrike">
              <a:solidFill>
                <a:schemeClr val="dk1"/>
              </a:solidFill>
              <a:latin typeface="Roboto"/>
              <a:ea typeface="Roboto"/>
              <a:cs typeface="Roboto"/>
              <a:sym typeface="Roboto"/>
            </a:endParaRPr>
          </a:p>
          <a:p>
            <a:pPr indent="-342900" lvl="0" marL="457200" marR="0" rtl="0" algn="just">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36 years</a:t>
            </a:r>
            <a:endParaRPr b="0" i="0" sz="1800" u="none" cap="none" strike="noStrike">
              <a:solidFill>
                <a:schemeClr val="dk1"/>
              </a:solidFill>
              <a:latin typeface="Roboto"/>
              <a:ea typeface="Roboto"/>
              <a:cs typeface="Roboto"/>
              <a:sym typeface="Roboto"/>
            </a:endParaRPr>
          </a:p>
          <a:p>
            <a:pPr indent="-342900" lvl="0" marL="457200" marR="0" rtl="0" algn="just">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40 years </a:t>
            </a:r>
            <a:endParaRPr b="0" i="0" sz="1800" u="none" cap="none" strike="noStrike">
              <a:solidFill>
                <a:schemeClr val="dk1"/>
              </a:solidFill>
              <a:latin typeface="Roboto"/>
              <a:ea typeface="Roboto"/>
              <a:cs typeface="Roboto"/>
              <a:sym typeface="Roboto"/>
            </a:endParaRPr>
          </a:p>
          <a:p>
            <a:pPr indent="-342900" lvl="0" marL="457200" marR="0" rtl="0" algn="just">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48 years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800" u="none" cap="none" strike="noStrike">
              <a:solidFill>
                <a:schemeClr val="dk1"/>
              </a:solidFill>
              <a:latin typeface="Roboto"/>
              <a:ea typeface="Roboto"/>
              <a:cs typeface="Roboto"/>
              <a:sym typeface="Roboto"/>
            </a:endParaRPr>
          </a:p>
        </p:txBody>
      </p:sp>
      <p:sp>
        <p:nvSpPr>
          <p:cNvPr id="264" name="Google Shape;264;g2ee15abed17_3_42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a:t>
            </a:r>
            <a:endParaRPr b="1" i="0" sz="1600" u="none" cap="none" strike="noStrike">
              <a:solidFill>
                <a:srgbClr val="000000"/>
              </a:solidFill>
              <a:latin typeface="Roboto"/>
              <a:ea typeface="Roboto"/>
              <a:cs typeface="Roboto"/>
              <a:sym typeface="Roboto"/>
            </a:endParaRPr>
          </a:p>
        </p:txBody>
      </p:sp>
      <p:sp>
        <p:nvSpPr>
          <p:cNvPr id="265" name="Google Shape;265;g2ee15abed17_3_42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animEffect filter="fade" transition="in">
                                      <p:cBhvr>
                                        <p:cTn dur="1000"/>
                                        <p:tgtEl>
                                          <p:spTgt spid="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animEffect filter="fade" transition="in">
                                      <p:cBhvr>
                                        <p:cTn dur="1000"/>
                                        <p:tgtEl>
                                          <p:spTgt spid="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9" name="Shape 269"/>
        <p:cNvGrpSpPr/>
        <p:nvPr/>
      </p:nvGrpSpPr>
      <p:grpSpPr>
        <a:xfrm>
          <a:off x="0" y="0"/>
          <a:ext cx="0" cy="0"/>
          <a:chOff x="0" y="0"/>
          <a:chExt cx="0" cy="0"/>
        </a:xfrm>
      </p:grpSpPr>
      <p:sp>
        <p:nvSpPr>
          <p:cNvPr id="270" name="Google Shape;270;g2ee15abed17_3_433"/>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71" name="Google Shape;271;g2ee15abed17_3_43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Let the mother's present age be x years.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Then, the person's present age = 2/5x years.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{2/5x+8} = ½{x+8}</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Arial"/>
                <a:ea typeface="Arial"/>
                <a:cs typeface="Arial"/>
                <a:sym typeface="Arial"/>
              </a:rPr>
              <a:t>2(2</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+ 40) = 5(</a:t>
            </a: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+ 8)</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1" lang="en-GB" sz="1800" u="none" cap="none" strike="noStrike">
                <a:solidFill>
                  <a:schemeClr val="dk1"/>
                </a:solidFill>
                <a:latin typeface="Arial"/>
                <a:ea typeface="Arial"/>
                <a:cs typeface="Arial"/>
                <a:sym typeface="Arial"/>
              </a:rPr>
              <a:t>x</a:t>
            </a:r>
            <a:r>
              <a:rPr b="0" i="0" lang="en-GB" sz="1800" u="none" cap="none" strike="noStrike">
                <a:solidFill>
                  <a:schemeClr val="dk1"/>
                </a:solidFill>
                <a:latin typeface="Arial"/>
                <a:ea typeface="Arial"/>
                <a:cs typeface="Arial"/>
                <a:sym typeface="Arial"/>
              </a:rPr>
              <a:t> = 40.</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72" name="Google Shape;272;g2ee15abed17_3_43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10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10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animEffect filter="fade" transition="in">
                                      <p:cBhvr>
                                        <p:cTn dur="1000"/>
                                        <p:tgtEl>
                                          <p:spTgt spid="2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7" st="7"/>
                                            </p:txEl>
                                          </p:spTgt>
                                        </p:tgtEl>
                                        <p:attrNameLst>
                                          <p:attrName>style.visibility</p:attrName>
                                        </p:attrNameLst>
                                      </p:cBhvr>
                                      <p:to>
                                        <p:strVal val="visible"/>
                                      </p:to>
                                    </p:set>
                                    <p:animEffect filter="fade" transition="in">
                                      <p:cBhvr>
                                        <p:cTn dur="1000"/>
                                        <p:tgtEl>
                                          <p:spTgt spid="2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8" st="8"/>
                                            </p:txEl>
                                          </p:spTgt>
                                        </p:tgtEl>
                                        <p:attrNameLst>
                                          <p:attrName>style.visibility</p:attrName>
                                        </p:attrNameLst>
                                      </p:cBhvr>
                                      <p:to>
                                        <p:strVal val="visible"/>
                                      </p:to>
                                    </p:set>
                                    <p:animEffect filter="fade" transition="in">
                                      <p:cBhvr>
                                        <p:cTn dur="1000"/>
                                        <p:tgtEl>
                                          <p:spTgt spid="2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9" st="9"/>
                                            </p:txEl>
                                          </p:spTgt>
                                        </p:tgtEl>
                                        <p:attrNameLst>
                                          <p:attrName>style.visibility</p:attrName>
                                        </p:attrNameLst>
                                      </p:cBhvr>
                                      <p:to>
                                        <p:strVal val="visible"/>
                                      </p:to>
                                    </p:set>
                                    <p:animEffect filter="fade" transition="in">
                                      <p:cBhvr>
                                        <p:cTn dur="1000"/>
                                        <p:tgtEl>
                                          <p:spTgt spid="27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0" st="10"/>
                                            </p:txEl>
                                          </p:spTgt>
                                        </p:tgtEl>
                                        <p:attrNameLst>
                                          <p:attrName>style.visibility</p:attrName>
                                        </p:attrNameLst>
                                      </p:cBhvr>
                                      <p:to>
                                        <p:strVal val="visible"/>
                                      </p:to>
                                    </p:set>
                                    <p:animEffect filter="fade" transition="in">
                                      <p:cBhvr>
                                        <p:cTn dur="1000"/>
                                        <p:tgtEl>
                                          <p:spTgt spid="27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2ee15abed17_3_440"/>
          <p:cNvSpPr txBox="1"/>
          <p:nvPr/>
        </p:nvSpPr>
        <p:spPr>
          <a:xfrm>
            <a:off x="720000" y="1440004"/>
            <a:ext cx="7384200" cy="2598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Q is as much younger than R as he is older than T. If the sum of the ages of R and T is 50 years, what is definitely the difference between R and Q's age?</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1 year</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2 years</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25 years</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Data inadequate</a:t>
            </a:r>
            <a:endParaRPr b="0" i="0" sz="18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78" name="Google Shape;278;g2ee15abed17_3_44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 </a:t>
            </a:r>
            <a:endParaRPr b="1" i="0" sz="1600" u="none" cap="none" strike="noStrike">
              <a:solidFill>
                <a:srgbClr val="000000"/>
              </a:solidFill>
              <a:latin typeface="Roboto"/>
              <a:ea typeface="Roboto"/>
              <a:cs typeface="Roboto"/>
              <a:sym typeface="Roboto"/>
            </a:endParaRPr>
          </a:p>
        </p:txBody>
      </p:sp>
      <p:sp>
        <p:nvSpPr>
          <p:cNvPr id="279" name="Google Shape;279;g2ee15abed17_3_44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10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10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10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10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10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1000"/>
                                        <p:tgtEl>
                                          <p:spTgt spid="2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Effect filter="fade" transition="in">
                                      <p:cBhvr>
                                        <p:cTn dur="1000"/>
                                        <p:tgtEl>
                                          <p:spTgt spid="2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7" st="7"/>
                                            </p:txEl>
                                          </p:spTgt>
                                        </p:tgtEl>
                                        <p:attrNameLst>
                                          <p:attrName>style.visibility</p:attrName>
                                        </p:attrNameLst>
                                      </p:cBhvr>
                                      <p:to>
                                        <p:strVal val="visible"/>
                                      </p:to>
                                    </p:set>
                                    <p:animEffect filter="fade" transition="in">
                                      <p:cBhvr>
                                        <p:cTn dur="1000"/>
                                        <p:tgtEl>
                                          <p:spTgt spid="27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8" st="8"/>
                                            </p:txEl>
                                          </p:spTgt>
                                        </p:tgtEl>
                                        <p:attrNameLst>
                                          <p:attrName>style.visibility</p:attrName>
                                        </p:attrNameLst>
                                      </p:cBhvr>
                                      <p:to>
                                        <p:strVal val="visible"/>
                                      </p:to>
                                    </p:set>
                                    <p:animEffect filter="fade" transition="in">
                                      <p:cBhvr>
                                        <p:cTn dur="1000"/>
                                        <p:tgtEl>
                                          <p:spTgt spid="27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pic>
        <p:nvPicPr>
          <p:cNvPr id="284" name="Google Shape;284;g2ee15abed17_3_447"/>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85" name="Google Shape;285;g2ee15abed17_3_447"/>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86" name="Google Shape;286;g2ee15abed17_3_447"/>
          <p:cNvSpPr txBox="1"/>
          <p:nvPr/>
        </p:nvSpPr>
        <p:spPr>
          <a:xfrm>
            <a:off x="327600" y="10713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87" name="Google Shape;287;g2ee15abed17_3_447"/>
          <p:cNvSpPr txBox="1"/>
          <p:nvPr/>
        </p:nvSpPr>
        <p:spPr>
          <a:xfrm>
            <a:off x="630000" y="1337100"/>
            <a:ext cx="6974400" cy="381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500" u="none" cap="none" strike="noStrike">
                <a:solidFill>
                  <a:schemeClr val="dk1"/>
                </a:solidFill>
                <a:latin typeface="Roboto"/>
                <a:ea typeface="Roboto"/>
                <a:cs typeface="Roboto"/>
                <a:sym typeface="Roboto"/>
              </a:rPr>
              <a:t>1. The difference of age b/w R and Q = The difference of age b/w Q and T.</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500" u="none" cap="none" strike="noStrike">
                <a:solidFill>
                  <a:schemeClr val="dk1"/>
                </a:solidFill>
                <a:latin typeface="Roboto"/>
                <a:ea typeface="Roboto"/>
                <a:cs typeface="Roboto"/>
                <a:sym typeface="Roboto"/>
              </a:rPr>
              <a:t>2. Sum of age of R and T is 50 i.e. (R + T) = 50.</a:t>
            </a:r>
            <a:endParaRPr b="1"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500" u="none" cap="none" strike="noStrike">
                <a:solidFill>
                  <a:schemeClr val="dk1"/>
                </a:solidFill>
                <a:latin typeface="Roboto"/>
                <a:ea typeface="Roboto"/>
                <a:cs typeface="Roboto"/>
                <a:sym typeface="Roboto"/>
              </a:rPr>
              <a:t>R - Q = Q - T</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500" u="none" cap="none" strike="noStrike">
                <a:solidFill>
                  <a:schemeClr val="dk1"/>
                </a:solidFill>
                <a:latin typeface="Roboto"/>
                <a:ea typeface="Roboto"/>
                <a:cs typeface="Roboto"/>
                <a:sym typeface="Roboto"/>
              </a:rPr>
              <a:t>(R + T) = 2Q</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500" u="none" cap="none" strike="noStrike">
                <a:solidFill>
                  <a:schemeClr val="dk1"/>
                </a:solidFill>
                <a:latin typeface="Roboto"/>
                <a:ea typeface="Roboto"/>
                <a:cs typeface="Roboto"/>
                <a:sym typeface="Roboto"/>
              </a:rPr>
              <a:t>Now given that, (R + T) = 50</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500" u="none" cap="none" strike="noStrike">
                <a:solidFill>
                  <a:schemeClr val="dk1"/>
                </a:solidFill>
                <a:latin typeface="Roboto"/>
                <a:ea typeface="Roboto"/>
                <a:cs typeface="Roboto"/>
                <a:sym typeface="Roboto"/>
              </a:rPr>
              <a:t>So, 50 = 2Q and therefore Q = 25.</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dk1"/>
                </a:solidFill>
                <a:latin typeface="Roboto"/>
                <a:ea typeface="Roboto"/>
                <a:cs typeface="Roboto"/>
                <a:sym typeface="Roboto"/>
              </a:rPr>
              <a:t>Here we know the value(age) of Q (25), but we don't know the age of R.Therefore, (R-Q) cannot be determine</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chemeClr val="dk1"/>
              </a:solidFill>
              <a:latin typeface="Roboto"/>
              <a:ea typeface="Roboto"/>
              <a:cs typeface="Roboto"/>
              <a:sym typeface="Roboto"/>
            </a:endParaRPr>
          </a:p>
        </p:txBody>
      </p:sp>
      <p:sp>
        <p:nvSpPr>
          <p:cNvPr id="288" name="Google Shape;288;g2ee15abed17_3_44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2ee15abed17_3_455"/>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94" name="Google Shape;294;g2ee15abed17_3_45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800" u="none" cap="none" strike="noStrike">
                <a:solidFill>
                  <a:schemeClr val="dk1"/>
                </a:solidFill>
                <a:latin typeface="Roboto"/>
                <a:ea typeface="Roboto"/>
                <a:cs typeface="Roboto"/>
                <a:sym typeface="Roboto"/>
              </a:rPr>
              <a:t>The age of father 10 years ago was thrice the age of his son. Ten years hence, father's age will be twice that of his son. The ratio of their present ages is:</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80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5 : 2</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7 : 3</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9 : 2</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13 : 4</a:t>
            </a:r>
            <a:endParaRPr b="0" i="0" sz="1800" u="none" cap="none" strike="noStrike">
              <a:solidFill>
                <a:schemeClr val="dk1"/>
              </a:solidFill>
              <a:latin typeface="Roboto"/>
              <a:ea typeface="Roboto"/>
              <a:cs typeface="Roboto"/>
              <a:sym typeface="Roboto"/>
            </a:endParaRPr>
          </a:p>
        </p:txBody>
      </p:sp>
      <p:sp>
        <p:nvSpPr>
          <p:cNvPr id="295" name="Google Shape;295;g2ee15abed17_3_45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B</a:t>
            </a:r>
            <a:endParaRPr b="1" i="0" sz="1600" u="none" cap="none" strike="noStrike">
              <a:solidFill>
                <a:srgbClr val="000000"/>
              </a:solidFill>
              <a:latin typeface="Roboto"/>
              <a:ea typeface="Roboto"/>
              <a:cs typeface="Roboto"/>
              <a:sym typeface="Roboto"/>
            </a:endParaRPr>
          </a:p>
        </p:txBody>
      </p:sp>
      <p:sp>
        <p:nvSpPr>
          <p:cNvPr id="296" name="Google Shape;296;g2ee15abed17_3_45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animEffect filter="fade" transition="in">
                                      <p:cBhvr>
                                        <p:cTn dur="1000"/>
                                        <p:tgtEl>
                                          <p:spTgt spid="2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animEffect filter="fade" transition="in">
                                      <p:cBhvr>
                                        <p:cTn dur="1000"/>
                                        <p:tgtEl>
                                          <p:spTgt spid="2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animEffect filter="fade" transition="in">
                                      <p:cBhvr>
                                        <p:cTn dur="1000"/>
                                        <p:tgtEl>
                                          <p:spTgt spid="2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animEffect filter="fade" transition="in">
                                      <p:cBhvr>
                                        <p:cTn dur="1000"/>
                                        <p:tgtEl>
                                          <p:spTgt spid="2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animEffect filter="fade" transition="in">
                                      <p:cBhvr>
                                        <p:cTn dur="1000"/>
                                        <p:tgtEl>
                                          <p:spTgt spid="2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g2ee15abed17_3_462"/>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302" name="Google Shape;302;g2ee15abed17_3_462"/>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Let the ages of father and son 10 years ago be 3</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and </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years respectively.</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Then, (3</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+ 10) + 10 = 2[(</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+ 10) + 10]</a:t>
            </a:r>
            <a:endParaRPr b="0" i="0" sz="18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400"/>
              <a:buFont typeface="Arial"/>
              <a:buNone/>
            </a:pPr>
            <a:r>
              <a:rPr b="0" i="0" lang="en-GB" sz="1800" u="none" cap="none" strike="noStrike">
                <a:solidFill>
                  <a:schemeClr val="dk1"/>
                </a:solidFill>
                <a:latin typeface="Roboto"/>
                <a:ea typeface="Roboto"/>
                <a:cs typeface="Roboto"/>
                <a:sym typeface="Roboto"/>
              </a:rPr>
              <a:t>3</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+ 20 = 2</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+ 40</a:t>
            </a:r>
            <a:endParaRPr b="0" i="0" sz="18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400"/>
              <a:buFont typeface="Arial"/>
              <a:buNone/>
            </a:pP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20.</a:t>
            </a:r>
            <a:endParaRPr b="0" i="0" sz="18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400"/>
              <a:buFont typeface="Arial"/>
              <a:buNone/>
            </a:pPr>
            <a:r>
              <a:rPr b="0" i="0" lang="en-GB" sz="1800" u="none" cap="none" strike="noStrike">
                <a:solidFill>
                  <a:schemeClr val="dk1"/>
                </a:solidFill>
                <a:latin typeface="Roboto"/>
                <a:ea typeface="Roboto"/>
                <a:cs typeface="Roboto"/>
                <a:sym typeface="Roboto"/>
              </a:rPr>
              <a:t>Required ratio = (3</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+ 10) : (</a:t>
            </a:r>
            <a:r>
              <a:rPr b="0" i="1" lang="en-GB" sz="1800" u="none" cap="none" strike="noStrike">
                <a:solidFill>
                  <a:schemeClr val="dk1"/>
                </a:solidFill>
                <a:latin typeface="Roboto"/>
                <a:ea typeface="Roboto"/>
                <a:cs typeface="Roboto"/>
                <a:sym typeface="Roboto"/>
              </a:rPr>
              <a:t>x</a:t>
            </a:r>
            <a:r>
              <a:rPr b="0" i="0" lang="en-GB" sz="1800" u="none" cap="none" strike="noStrike">
                <a:solidFill>
                  <a:schemeClr val="dk1"/>
                </a:solidFill>
                <a:latin typeface="Roboto"/>
                <a:ea typeface="Roboto"/>
                <a:cs typeface="Roboto"/>
                <a:sym typeface="Roboto"/>
              </a:rPr>
              <a:t> + 10) = 70 : 30 = 7 : 3</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303" name="Google Shape;303;g2ee15abed17_3_46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304" name="Google Shape;304;g2ee15abed17_3_46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1" st="1"/>
                                            </p:txEl>
                                          </p:spTgt>
                                        </p:tgtEl>
                                        <p:attrNameLst>
                                          <p:attrName>style.visibility</p:attrName>
                                        </p:attrNameLst>
                                      </p:cBhvr>
                                      <p:to>
                                        <p:strVal val="visible"/>
                                      </p:to>
                                    </p:set>
                                    <p:animEffect filter="fade" transition="in">
                                      <p:cBhvr>
                                        <p:cTn dur="1000"/>
                                        <p:tgtEl>
                                          <p:spTgt spid="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2" st="2"/>
                                            </p:txEl>
                                          </p:spTgt>
                                        </p:tgtEl>
                                        <p:attrNameLst>
                                          <p:attrName>style.visibility</p:attrName>
                                        </p:attrNameLst>
                                      </p:cBhvr>
                                      <p:to>
                                        <p:strVal val="visible"/>
                                      </p:to>
                                    </p:set>
                                    <p:animEffect filter="fade" transition="in">
                                      <p:cBhvr>
                                        <p:cTn dur="1000"/>
                                        <p:tgtEl>
                                          <p:spTgt spid="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3" st="3"/>
                                            </p:txEl>
                                          </p:spTgt>
                                        </p:tgtEl>
                                        <p:attrNameLst>
                                          <p:attrName>style.visibility</p:attrName>
                                        </p:attrNameLst>
                                      </p:cBhvr>
                                      <p:to>
                                        <p:strVal val="visible"/>
                                      </p:to>
                                    </p:set>
                                    <p:animEffect filter="fade" transition="in">
                                      <p:cBhvr>
                                        <p:cTn dur="1000"/>
                                        <p:tgtEl>
                                          <p:spTgt spid="3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4" st="4"/>
                                            </p:txEl>
                                          </p:spTgt>
                                        </p:tgtEl>
                                        <p:attrNameLst>
                                          <p:attrName>style.visibility</p:attrName>
                                        </p:attrNameLst>
                                      </p:cBhvr>
                                      <p:to>
                                        <p:strVal val="visible"/>
                                      </p:to>
                                    </p:set>
                                    <p:animEffect filter="fade" transition="in">
                                      <p:cBhvr>
                                        <p:cTn dur="1000"/>
                                        <p:tgtEl>
                                          <p:spTgt spid="3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5" st="5"/>
                                            </p:txEl>
                                          </p:spTgt>
                                        </p:tgtEl>
                                        <p:attrNameLst>
                                          <p:attrName>style.visibility</p:attrName>
                                        </p:attrNameLst>
                                      </p:cBhvr>
                                      <p:to>
                                        <p:strVal val="visible"/>
                                      </p:to>
                                    </p:set>
                                    <p:animEffect filter="fade" transition="in">
                                      <p:cBhvr>
                                        <p:cTn dur="1000"/>
                                        <p:tgtEl>
                                          <p:spTgt spid="3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6" st="6"/>
                                            </p:txEl>
                                          </p:spTgt>
                                        </p:tgtEl>
                                        <p:attrNameLst>
                                          <p:attrName>style.visibility</p:attrName>
                                        </p:attrNameLst>
                                      </p:cBhvr>
                                      <p:to>
                                        <p:strVal val="visible"/>
                                      </p:to>
                                    </p:set>
                                    <p:animEffect filter="fade" transition="in">
                                      <p:cBhvr>
                                        <p:cTn dur="1000"/>
                                        <p:tgtEl>
                                          <p:spTgt spid="3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7" st="7"/>
                                            </p:txEl>
                                          </p:spTgt>
                                        </p:tgtEl>
                                        <p:attrNameLst>
                                          <p:attrName>style.visibility</p:attrName>
                                        </p:attrNameLst>
                                      </p:cBhvr>
                                      <p:to>
                                        <p:strVal val="visible"/>
                                      </p:to>
                                    </p:set>
                                    <p:animEffect filter="fade" transition="in">
                                      <p:cBhvr>
                                        <p:cTn dur="1000"/>
                                        <p:tgtEl>
                                          <p:spTgt spid="3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8" st="8"/>
                                            </p:txEl>
                                          </p:spTgt>
                                        </p:tgtEl>
                                        <p:attrNameLst>
                                          <p:attrName>style.visibility</p:attrName>
                                        </p:attrNameLst>
                                      </p:cBhvr>
                                      <p:to>
                                        <p:strVal val="visible"/>
                                      </p:to>
                                    </p:set>
                                    <p:animEffect filter="fade" transition="in">
                                      <p:cBhvr>
                                        <p:cTn dur="1000"/>
                                        <p:tgtEl>
                                          <p:spTgt spid="3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9" st="9"/>
                                            </p:txEl>
                                          </p:spTgt>
                                        </p:tgtEl>
                                        <p:attrNameLst>
                                          <p:attrName>style.visibility</p:attrName>
                                        </p:attrNameLst>
                                      </p:cBhvr>
                                      <p:to>
                                        <p:strVal val="visible"/>
                                      </p:to>
                                    </p:set>
                                    <p:animEffect filter="fade" transition="in">
                                      <p:cBhvr>
                                        <p:cTn dur="1000"/>
                                        <p:tgtEl>
                                          <p:spTgt spid="30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1000"/>
                                        <p:tgtEl>
                                          <p:spTgt spid="30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g2ee15abed17_3_53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10" name="Google Shape;310;g2ee15abed17_3_53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11" name="Google Shape;311;g2ee15abed17_3_53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12" name="Google Shape;312;g2ee15abed17_3_53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13" name="Google Shape;313;g2ee15abed17_3_53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14" name="Google Shape;314;g2ee15abed17_3_53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15" name="Google Shape;315;g2ee15abed17_3_53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16" name="Google Shape;316;g2ee15abed17_3_53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7" name="Google Shape;317;g2ee15abed17_3_53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18" name="Google Shape;318;g2ee15abed17_3_53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