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5143500" cx="9144000"/>
  <p:notesSz cx="6858000" cy="9144000"/>
  <p:embeddedFontLst>
    <p:embeddedFont>
      <p:font typeface="Robot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80">
          <p15:clr>
            <a:srgbClr val="FF00FF"/>
          </p15:clr>
        </p15:guide>
        <p15:guide id="2" orient="horz" pos="2755">
          <p15:clr>
            <a:srgbClr val="FF0000"/>
          </p15:clr>
        </p15:guide>
        <p15:guide id="3" orient="horz" pos="907">
          <p15:clr>
            <a:srgbClr val="FF0000"/>
          </p15:clr>
        </p15:guide>
        <p15:guide id="4" pos="5329">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3" roundtripDataSignature="AMtx7migiX2MmxAuQBuP/Mc8f2M/VDu5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80"/>
        <p:guide pos="2755" orient="horz"/>
        <p:guide pos="907" orient="horz"/>
        <p:guide pos="5329"/>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italic.fntdata"/><Relationship Id="rId50" Type="http://schemas.openxmlformats.org/officeDocument/2006/relationships/font" Target="fonts/Roboto-bold.fntdata"/><Relationship Id="rId53" Type="http://customschemas.google.com/relationships/presentationmetadata" Target="metadata"/><Relationship Id="rId52"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5dab58096a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15dab58096a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5dab58096a_0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15dab58096a_0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5dab58096a_0_2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15dab58096a_0_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5dab58096a_0_3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15dab58096a_0_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dab58096a_0_3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15dab58096a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5dab58096a_0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15dab58096a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5dab58096a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15dab58096a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5dab58096a_0_3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15dab58096a_0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5dab58096a_0_3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15dab58096a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5dab58096a_0_3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15dab58096a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5dab58096a_0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15dab58096a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5dab58096a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15dab58096a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5dab58096a_0_4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15dab58096a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5dab58096a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15dab58096a_0_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5dab58096a_0_4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15dab58096a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5dab58096a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15dab58096a_0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5dab58096a_0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15dab58096a_0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5dab58096a_0_4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15dab58096a_0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5dab58096a_0_4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15dab58096a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5dab58096a_0_4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15dab58096a_0_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5dab58096a_0_4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15dab58096a_0_4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5dab58096a_0_4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15dab58096a_0_4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5dab58096a_0_4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15dab58096a_0_4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5dab58096a_0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15dab58096a_0_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5dab58096a_0_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15dab58096a_0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5dab58096a_0_5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15dab58096a_0_5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5dab58096a_0_5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15dab58096a_0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5dab58096a_0_5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15dab58096a_0_5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5dab58096a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15dab58096a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5dab58096a_0_5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15dab58096a_0_5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5dab58096a_0_5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15dab58096a_0_5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g15dab58096a_0_1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g15dab58096a_0_1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g15dab58096a_0_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5dab58096a_0_1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5dab58096a_0_1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g15dab58096a_0_1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g15dab58096a_0_1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g15dab58096a_0_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g15dab58096a_0_1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g15dab58096a_0_13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15dab58096a_0_13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g15dab58096a_0_1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g15dab58096a_0_1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g15dab58096a_0_1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g15dab58096a_0_14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g15dab58096a_0_14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g15dab58096a_0_1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g15dab58096a_0_15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g15dab58096a_0_1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g15dab58096a_0_1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8" name="Google Shape;38;g15dab58096a_0_1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g15dab58096a_0_1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g15dab58096a_0_1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g15dab58096a_0_1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g15dab58096a_0_1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4" name="Google Shape;44;g15dab58096a_0_1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g15dab58096a_0_16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g15dab58096a_0_16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g15dab58096a_0_1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g15dab58096a_0_1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15dab58096a_0_3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g15dab58096a_0_3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g15dab58096a_0_3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2" name="Google Shape;62;p1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1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7" name="Google Shape;67;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8" name="Google Shape;6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9" name="Shape 69"/>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g15dab58096a_0_3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g15dab58096a_0_3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sp>
        <p:nvSpPr>
          <p:cNvPr id="74" name="Google Shape;74;g15dab58096a_0_3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5" name="Google Shape;75;g15dab58096a_0_3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 name="Shape 76"/>
        <p:cNvGrpSpPr/>
        <p:nvPr/>
      </p:nvGrpSpPr>
      <p:grpSpPr>
        <a:xfrm>
          <a:off x="0" y="0"/>
          <a:ext cx="0" cy="0"/>
          <a:chOff x="0" y="0"/>
          <a:chExt cx="0" cy="0"/>
        </a:xfrm>
      </p:grpSpPr>
      <p:sp>
        <p:nvSpPr>
          <p:cNvPr id="77" name="Google Shape;77;g15dab58096a_0_3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8" name="Google Shape;78;g15dab58096a_0_3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9" name="Google Shape;79;g15dab58096a_0_3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0" name="Google Shape;80;g15dab58096a_0_3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1" name="Google Shape;81;g15dab58096a_0_3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2" name="Shape 82"/>
        <p:cNvGrpSpPr/>
        <p:nvPr/>
      </p:nvGrpSpPr>
      <p:grpSpPr>
        <a:xfrm>
          <a:off x="0" y="0"/>
          <a:ext cx="0" cy="0"/>
          <a:chOff x="0" y="0"/>
          <a:chExt cx="0" cy="0"/>
        </a:xfrm>
      </p:grpSpPr>
      <p:sp>
        <p:nvSpPr>
          <p:cNvPr id="83" name="Google Shape;83;g15dab58096a_0_3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4" name="Google Shape;84;g15dab58096a_0_3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5" name="Shape 85"/>
        <p:cNvGrpSpPr/>
        <p:nvPr/>
      </p:nvGrpSpPr>
      <p:grpSpPr>
        <a:xfrm>
          <a:off x="0" y="0"/>
          <a:ext cx="0" cy="0"/>
          <a:chOff x="0" y="0"/>
          <a:chExt cx="0" cy="0"/>
        </a:xfrm>
      </p:grpSpPr>
      <p:sp>
        <p:nvSpPr>
          <p:cNvPr id="86" name="Google Shape;86;g15dab58096a_0_3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7" name="Google Shape;87;g15dab58096a_0_3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8" name="Google Shape;88;g15dab58096a_0_3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89" name="Shape 89"/>
        <p:cNvGrpSpPr/>
        <p:nvPr/>
      </p:nvGrpSpPr>
      <p:grpSpPr>
        <a:xfrm>
          <a:off x="0" y="0"/>
          <a:ext cx="0" cy="0"/>
          <a:chOff x="0" y="0"/>
          <a:chExt cx="0" cy="0"/>
        </a:xfrm>
      </p:grpSpPr>
      <p:pic>
        <p:nvPicPr>
          <p:cNvPr descr="A close up of a logo&#10;&#10;Description generated with high confidence" id="90" name="Google Shape;90;g15dab58096a_0_33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91" name="Google Shape;91;g15dab58096a_0_333"/>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92" name="Google Shape;92;g15dab58096a_0_33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93" name="Google Shape;93;g15dab58096a_0_33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94" name="Google Shape;94;g15dab58096a_0_33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95" name="Google Shape;95;g15dab58096a_0_33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1" name="Shape 101"/>
        <p:cNvGrpSpPr/>
        <p:nvPr/>
      </p:nvGrpSpPr>
      <p:grpSpPr>
        <a:xfrm>
          <a:off x="0" y="0"/>
          <a:ext cx="0" cy="0"/>
          <a:chOff x="0" y="0"/>
          <a:chExt cx="0" cy="0"/>
        </a:xfrm>
      </p:grpSpPr>
      <p:sp>
        <p:nvSpPr>
          <p:cNvPr id="102" name="Google Shape;102;g15dab58096a_0_2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3" name="Google Shape;103;g15dab58096a_0_27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04" name="Google Shape;104;g15dab58096a_0_2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5" name="Shape 105"/>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g15dab58096a_0_2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8" name="Google Shape;108;g15dab58096a_0_2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15dab58096a_0_28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1" name="Google Shape;111;g15dab58096a_0_2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15dab58096a_0_28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4" name="Google Shape;114;g15dab58096a_0_28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5" name="Google Shape;115;g15dab58096a_0_28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6" name="Google Shape;116;g15dab58096a_0_28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7" name="Google Shape;117;g15dab58096a_0_2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15dab58096a_0_29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20" name="Google Shape;120;g15dab58096a_0_2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15dab58096a_0_29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3" name="Google Shape;123;g15dab58096a_0_29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4" name="Google Shape;124;g15dab58096a_0_2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125" name="Shape 125"/>
        <p:cNvGrpSpPr/>
        <p:nvPr/>
      </p:nvGrpSpPr>
      <p:grpSpPr>
        <a:xfrm>
          <a:off x="0" y="0"/>
          <a:ext cx="0" cy="0"/>
          <a:chOff x="0" y="0"/>
          <a:chExt cx="0" cy="0"/>
        </a:xfrm>
      </p:grpSpPr>
      <p:pic>
        <p:nvPicPr>
          <p:cNvPr descr="A close up of a logo&#10;&#10;Description generated with high confidence" id="126" name="Google Shape;126;g15dab58096a_0_298"/>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127" name="Google Shape;127;g15dab58096a_0_298"/>
          <p:cNvPicPr preferRelativeResize="0"/>
          <p:nvPr/>
        </p:nvPicPr>
        <p:blipFill rotWithShape="1">
          <a:blip r:embed="rId3">
            <a:alphaModFix/>
          </a:blip>
          <a:srcRect b="37530" l="0" r="0" t="55601"/>
          <a:stretch/>
        </p:blipFill>
        <p:spPr>
          <a:xfrm>
            <a:off x="0" y="4849200"/>
            <a:ext cx="9144000" cy="294300"/>
          </a:xfrm>
          <a:prstGeom prst="rect">
            <a:avLst/>
          </a:prstGeom>
          <a:noFill/>
          <a:ln>
            <a:noFill/>
          </a:ln>
        </p:spPr>
      </p:pic>
      <p:sp>
        <p:nvSpPr>
          <p:cNvPr id="128" name="Google Shape;128;g15dab58096a_0_298"/>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29" name="Google Shape;129;g15dab58096a_0_298"/>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30" name="Google Shape;130;g15dab58096a_0_298"/>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131" name="Google Shape;131;g15dab58096a_0_298"/>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1.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0" Type="http://schemas.openxmlformats.org/officeDocument/2006/relationships/theme" Target="../theme/theme2.xml"/><Relationship Id="rId1" Type="http://schemas.openxmlformats.org/officeDocument/2006/relationships/image" Target="../media/image1.jpg"/><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15dab58096a_0_1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5dab58096a_0_1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5dab58096a_0_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5dab58096a_0_123"/>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g15dab58096a_0_3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3" name="Google Shape;53;g15dab58096a_0_30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4" name="Google Shape;54;g15dab58096a_0_3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5" name="Google Shape;55;g15dab58096a_0_30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g15dab58096a_0_2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8" name="Google Shape;98;g15dab58096a_0_2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9" name="Google Shape;99;g15dab58096a_0_2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100" name="Google Shape;100;g15dab58096a_0_270"/>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4.png"/><Relationship Id="rId4" Type="http://schemas.openxmlformats.org/officeDocument/2006/relationships/hyperlink" Target="https://learn.codemithra.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0.jp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37" name="Google Shape;137;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38" name="Google Shape;138;p7"/>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9" name="Google Shape;139;p7"/>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40" name="Google Shape;140;p7"/>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46" name="Google Shape;146;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47" name="Google Shape;147;p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48" name="Google Shape;148;p8"/>
          <p:cNvSpPr txBox="1"/>
          <p:nvPr/>
        </p:nvSpPr>
        <p:spPr>
          <a:xfrm>
            <a:off x="148264" y="1741810"/>
            <a:ext cx="4690948" cy="750945"/>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PROFIT AND LOSS 2</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5dab58096a_0_116"/>
          <p:cNvSpPr txBox="1"/>
          <p:nvPr/>
        </p:nvSpPr>
        <p:spPr>
          <a:xfrm>
            <a:off x="1080000" y="1440000"/>
            <a:ext cx="7563900" cy="27738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We all are eager about availing discounts, but we barely know how we get these discounts. </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There is a proper way to calculate discount and that we do by using a discount formula.</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Discount = Marked Price – Selling Price</a:t>
            </a:r>
            <a:endParaRPr b="0" i="0" sz="1400" u="none" cap="none" strike="noStrike">
              <a:solidFill>
                <a:srgbClr val="000000"/>
              </a:solidFill>
              <a:latin typeface="Roboto"/>
              <a:ea typeface="Roboto"/>
              <a:cs typeface="Roboto"/>
              <a:sym typeface="Roboto"/>
            </a:endParaRPr>
          </a:p>
          <a:p>
            <a:pPr indent="457200" lvl="0" marL="182880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OR</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Discount Percentage Formula = Marked Price × Discount Rate</a:t>
            </a:r>
            <a:endParaRPr b="0" i="0" sz="1400" u="none" cap="none" strike="noStrike">
              <a:solidFill>
                <a:srgbClr val="000000"/>
              </a:solidFill>
              <a:latin typeface="Roboto"/>
              <a:ea typeface="Roboto"/>
              <a:cs typeface="Roboto"/>
              <a:sym typeface="Roboto"/>
            </a:endParaRPr>
          </a:p>
        </p:txBody>
      </p:sp>
      <p:sp>
        <p:nvSpPr>
          <p:cNvPr id="154" name="Google Shape;154;g15dab58096a_0_11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Discounts</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
          <p:cNvSpPr txBox="1"/>
          <p:nvPr/>
        </p:nvSpPr>
        <p:spPr>
          <a:xfrm>
            <a:off x="1080001" y="1439999"/>
            <a:ext cx="3261300" cy="1809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Discount = List Price - Selling Price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br>
              <a:rPr b="0" i="0" lang="en-GB" sz="1400" u="none" cap="none" strike="noStrike">
                <a:solidFill>
                  <a:srgbClr val="000000"/>
                </a:solidFill>
                <a:latin typeface="Roboto"/>
                <a:ea typeface="Roboto"/>
                <a:cs typeface="Roboto"/>
                <a:sym typeface="Roboto"/>
              </a:rPr>
            </a:br>
            <a:r>
              <a:rPr b="0" i="0" lang="en-GB" sz="1400" u="none" cap="none" strike="noStrike">
                <a:solidFill>
                  <a:srgbClr val="000000"/>
                </a:solidFill>
                <a:latin typeface="Roboto"/>
                <a:ea typeface="Roboto"/>
                <a:cs typeface="Roboto"/>
                <a:sym typeface="Roboto"/>
              </a:rPr>
              <a:t>Therefore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Selling Price = List Price – Discount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List Price = Selling Price + Discount</a:t>
            </a:r>
            <a:endParaRPr b="0" i="0" sz="1400" u="none" cap="none" strike="noStrike">
              <a:solidFill>
                <a:srgbClr val="000000"/>
              </a:solidFill>
              <a:latin typeface="Roboto"/>
              <a:ea typeface="Roboto"/>
              <a:cs typeface="Roboto"/>
              <a:sym typeface="Roboto"/>
            </a:endParaRPr>
          </a:p>
        </p:txBody>
      </p:sp>
      <p:sp>
        <p:nvSpPr>
          <p:cNvPr id="160" name="Google Shape;160;p1"/>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Discounts</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
          <p:cNvSpPr txBox="1"/>
          <p:nvPr/>
        </p:nvSpPr>
        <p:spPr>
          <a:xfrm>
            <a:off x="1080000" y="1440000"/>
            <a:ext cx="7024200" cy="2570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Discount % = (Discount/List Price) times; 100</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SellingPrice = ListPrice−Discount </a:t>
            </a:r>
            <a:endParaRPr b="0" i="0" sz="1400" u="none" cap="none" strike="noStrike">
              <a:solidFill>
                <a:srgbClr val="000000"/>
              </a:solidFill>
              <a:latin typeface="Roboto"/>
              <a:ea typeface="Roboto"/>
              <a:cs typeface="Roboto"/>
              <a:sym typeface="Roboto"/>
            </a:endParaRPr>
          </a:p>
          <a:p>
            <a:pPr indent="0" lvl="0" marL="0" marR="0" rtl="0" algn="just">
              <a:lnSpc>
                <a:spcPct val="200000"/>
              </a:lnSpc>
              <a:spcBef>
                <a:spcPts val="0"/>
              </a:spcBef>
              <a:spcAft>
                <a:spcPts val="0"/>
              </a:spcAft>
              <a:buClr>
                <a:srgbClr val="000000"/>
              </a:buClr>
              <a:buSzPts val="1400"/>
              <a:buFont typeface="Arial"/>
              <a:buNone/>
            </a:pPr>
            <a:br>
              <a:rPr b="0" i="0" lang="en-GB" sz="1400" u="none" cap="none" strike="noStrike">
                <a:solidFill>
                  <a:srgbClr val="000000"/>
                </a:solidFill>
                <a:latin typeface="Roboto"/>
                <a:ea typeface="Roboto"/>
                <a:cs typeface="Roboto"/>
                <a:sym typeface="Roboto"/>
              </a:rPr>
            </a:br>
            <a:r>
              <a:rPr b="0" i="0" lang="en-GB" sz="1400" u="none" cap="none" strike="noStrike">
                <a:solidFill>
                  <a:srgbClr val="000000"/>
                </a:solidFill>
                <a:latin typeface="Roboto"/>
                <a:ea typeface="Roboto"/>
                <a:cs typeface="Roboto"/>
                <a:sym typeface="Roboto"/>
              </a:rPr>
              <a:t>ListPrice = SellingPrice+Discount</a:t>
            </a:r>
            <a:endParaRPr b="0" i="0" sz="1400" u="none" cap="none" strike="noStrike">
              <a:solidFill>
                <a:srgbClr val="000000"/>
              </a:solidFill>
              <a:latin typeface="Roboto"/>
              <a:ea typeface="Roboto"/>
              <a:cs typeface="Roboto"/>
              <a:sym typeface="Roboto"/>
            </a:endParaRPr>
          </a:p>
          <a:p>
            <a:pPr indent="0" lvl="0" marL="0" marR="0" rtl="0" algn="just">
              <a:lnSpc>
                <a:spcPct val="2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Rate of Discount=Discount%= Discount/ListPrice×100</a:t>
            </a:r>
            <a:endParaRPr b="0" i="0" sz="1400" u="none" cap="none" strike="noStrike">
              <a:solidFill>
                <a:srgbClr val="000000"/>
              </a:solidFill>
              <a:latin typeface="Roboto"/>
              <a:ea typeface="Roboto"/>
              <a:cs typeface="Roboto"/>
              <a:sym typeface="Roboto"/>
            </a:endParaRPr>
          </a:p>
          <a:p>
            <a:pPr indent="0" lvl="0" marL="0" marR="0" rtl="0" algn="just">
              <a:lnSpc>
                <a:spcPct val="2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ListPrice = SellingPrice (100/100−discount%)</a:t>
            </a:r>
            <a:endParaRPr b="0" i="0" sz="1400" u="none" cap="none" strike="noStrike">
              <a:solidFill>
                <a:srgbClr val="000000"/>
              </a:solidFill>
              <a:latin typeface="Roboto"/>
              <a:ea typeface="Roboto"/>
              <a:cs typeface="Roboto"/>
              <a:sym typeface="Roboto"/>
            </a:endParaRPr>
          </a:p>
        </p:txBody>
      </p:sp>
      <p:sp>
        <p:nvSpPr>
          <p:cNvPr id="166" name="Google Shape;166;p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Discounts</a:t>
            </a:r>
            <a:endParaRPr b="1" sz="2000">
              <a:solidFill>
                <a:srgbClr val="8182E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nvSpPr>
        <p:spPr>
          <a:xfrm>
            <a:off x="1080000" y="1440000"/>
            <a:ext cx="7803600" cy="2247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The term "discount percentage" or "discount rate" refers to the price reduction represented as a percentage. The discount rate is calculated using the following formula:</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br>
              <a:rPr b="0" i="0" lang="en-GB" sz="1400" u="none" cap="none" strike="noStrike">
                <a:solidFill>
                  <a:srgbClr val="000000"/>
                </a:solidFill>
                <a:latin typeface="Roboto"/>
                <a:ea typeface="Roboto"/>
                <a:cs typeface="Roboto"/>
                <a:sym typeface="Roboto"/>
              </a:rPr>
            </a:b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a:t>
            </a:r>
            <a:r>
              <a:rPr b="1" i="0" lang="en-GB" sz="1400" u="none" cap="none" strike="noStrike">
                <a:solidFill>
                  <a:srgbClr val="000000"/>
                </a:solidFill>
                <a:latin typeface="Roboto"/>
                <a:ea typeface="Roboto"/>
                <a:cs typeface="Roboto"/>
                <a:sym typeface="Roboto"/>
              </a:rPr>
              <a:t>Discount (percentage) = (List Price - Selling Price) / List Price x 100</a:t>
            </a:r>
            <a:endParaRPr b="1"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72" name="Google Shape;172;p3"/>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Rate of Discount</a:t>
            </a:r>
            <a:endParaRPr b="1" sz="2000">
              <a:solidFill>
                <a:srgbClr val="8182E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
          <p:cNvSpPr txBox="1"/>
          <p:nvPr/>
        </p:nvSpPr>
        <p:spPr>
          <a:xfrm>
            <a:off x="1080000" y="1440000"/>
            <a:ext cx="7657800" cy="2893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If two or more discounts are offered one after the other then such discounts are called the successive discounts or we also call them discounts in series.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Assume a discount of 15 % is provided on an item. Then on the reduced price of the product, another discount of 12% is given. In such a case, we say that successive discounts of 15% and 12% are given.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For example, find a single discount equivalent to two successive discounts of 15% and 12% on an article.</a:t>
            </a:r>
            <a:endParaRPr b="1" i="0" sz="1400" u="none" cap="none" strike="noStrike">
              <a:solidFill>
                <a:srgbClr val="000000"/>
              </a:solidFill>
              <a:latin typeface="Roboto"/>
              <a:ea typeface="Roboto"/>
              <a:cs typeface="Roboto"/>
              <a:sym typeface="Roboto"/>
            </a:endParaRPr>
          </a:p>
        </p:txBody>
      </p:sp>
      <p:sp>
        <p:nvSpPr>
          <p:cNvPr id="178" name="Google Shape;178;p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Successive Discount</a:t>
            </a:r>
            <a:endParaRPr b="1" sz="2000">
              <a:solidFill>
                <a:srgbClr val="8182E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2" name="Shape 182"/>
        <p:cNvGrpSpPr/>
        <p:nvPr/>
      </p:nvGrpSpPr>
      <p:grpSpPr>
        <a:xfrm>
          <a:off x="0" y="0"/>
          <a:ext cx="0" cy="0"/>
          <a:chOff x="0" y="0"/>
          <a:chExt cx="0" cy="0"/>
        </a:xfrm>
      </p:grpSpPr>
      <p:sp>
        <p:nvSpPr>
          <p:cNvPr id="183" name="Google Shape;183;g15dab58096a_0_262"/>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184" name="Google Shape;184;g15dab58096a_0_262"/>
          <p:cNvSpPr txBox="1"/>
          <p:nvPr/>
        </p:nvSpPr>
        <p:spPr>
          <a:xfrm>
            <a:off x="1080000" y="1440000"/>
            <a:ext cx="7560000" cy="3047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Roboto"/>
                <a:ea typeface="Roboto"/>
                <a:cs typeface="Roboto"/>
                <a:sym typeface="Roboto"/>
              </a:rPr>
              <a:t>Let the listed price of an article be Rs 100.</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br>
              <a:rPr b="0" i="0" lang="en-GB" sz="1200" u="none" cap="none" strike="noStrike">
                <a:solidFill>
                  <a:srgbClr val="000000"/>
                </a:solidFill>
                <a:latin typeface="Roboto"/>
                <a:ea typeface="Roboto"/>
                <a:cs typeface="Roboto"/>
                <a:sym typeface="Roboto"/>
              </a:rPr>
            </a:br>
            <a:r>
              <a:rPr b="0" i="0" lang="en-GB" sz="1200" u="none" cap="none" strike="noStrike">
                <a:solidFill>
                  <a:srgbClr val="000000"/>
                </a:solidFill>
                <a:latin typeface="Roboto"/>
                <a:ea typeface="Roboto"/>
                <a:cs typeface="Roboto"/>
                <a:sym typeface="Roboto"/>
              </a:rPr>
              <a:t>Then, first discount on it = 15%</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br>
              <a:rPr b="0" i="0" lang="en-GB" sz="1200" u="none" cap="none" strike="noStrike">
                <a:solidFill>
                  <a:srgbClr val="000000"/>
                </a:solidFill>
                <a:latin typeface="Roboto"/>
                <a:ea typeface="Roboto"/>
                <a:cs typeface="Roboto"/>
                <a:sym typeface="Roboto"/>
              </a:rPr>
            </a:br>
            <a:r>
              <a:rPr b="0" i="0" lang="en-GB" sz="1200" u="none" cap="none" strike="noStrike">
                <a:solidFill>
                  <a:srgbClr val="000000"/>
                </a:solidFill>
                <a:latin typeface="Roboto"/>
                <a:ea typeface="Roboto"/>
                <a:cs typeface="Roboto"/>
                <a:sym typeface="Roboto"/>
              </a:rPr>
              <a:t>Price after the 1st discount = Rs (100 - 15) = Rs.85</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br>
              <a:rPr b="0" i="0" lang="en-GB" sz="1200" u="none" cap="none" strike="noStrike">
                <a:solidFill>
                  <a:srgbClr val="000000"/>
                </a:solidFill>
                <a:latin typeface="Roboto"/>
                <a:ea typeface="Roboto"/>
                <a:cs typeface="Roboto"/>
                <a:sym typeface="Roboto"/>
              </a:rPr>
            </a:br>
            <a:r>
              <a:rPr b="0" i="0" lang="en-GB" sz="1200" u="none" cap="none" strike="noStrike">
                <a:solidFill>
                  <a:srgbClr val="000000"/>
                </a:solidFill>
                <a:latin typeface="Roboto"/>
                <a:ea typeface="Roboto"/>
                <a:cs typeface="Roboto"/>
                <a:sym typeface="Roboto"/>
              </a:rPr>
              <a:t>2nd discount on the updated price i.e. = 12% of Rs.85</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Roboto"/>
                <a:ea typeface="Roboto"/>
                <a:cs typeface="Roboto"/>
                <a:sym typeface="Roboto"/>
              </a:rPr>
              <a:t>Thus, Price after 2nd discount = Rs (85 – 10.2) = Rs. 74.8</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br>
              <a:rPr b="0" i="0" lang="en-GB" sz="1200" u="none" cap="none" strike="noStrike">
                <a:solidFill>
                  <a:srgbClr val="000000"/>
                </a:solidFill>
                <a:latin typeface="Roboto"/>
                <a:ea typeface="Roboto"/>
                <a:cs typeface="Roboto"/>
                <a:sym typeface="Roboto"/>
              </a:rPr>
            </a:br>
            <a:r>
              <a:rPr b="0" i="0" lang="en-GB" sz="1200" u="none" cap="none" strike="noStrike">
                <a:solidFill>
                  <a:srgbClr val="000000"/>
                </a:solidFill>
                <a:latin typeface="Roboto"/>
                <a:ea typeface="Roboto"/>
                <a:cs typeface="Roboto"/>
                <a:sym typeface="Roboto"/>
              </a:rPr>
              <a:t>Net selling price = 74.8</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br>
              <a:rPr b="0" i="0" lang="en-GB" sz="1200" u="none" cap="none" strike="noStrike">
                <a:solidFill>
                  <a:srgbClr val="000000"/>
                </a:solidFill>
                <a:latin typeface="Roboto"/>
                <a:ea typeface="Roboto"/>
                <a:cs typeface="Roboto"/>
                <a:sym typeface="Roboto"/>
              </a:rPr>
            </a:br>
            <a:r>
              <a:rPr b="0" i="0" lang="en-GB" sz="1200" u="none" cap="none" strike="noStrike">
                <a:solidFill>
                  <a:srgbClr val="000000"/>
                </a:solidFill>
                <a:latin typeface="Roboto"/>
                <a:ea typeface="Roboto"/>
                <a:cs typeface="Roboto"/>
                <a:sym typeface="Roboto"/>
              </a:rPr>
              <a:t>Single discount equivalent to offered successive discounts = (100 – 74.80) % = 25.2%.</a:t>
            </a:r>
            <a:endParaRPr b="0" i="0" sz="14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5" name="Google Shape;185;g15dab58096a_0_26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a:t>
            </a:r>
            <a:endParaRPr b="1" sz="2000">
              <a:solidFill>
                <a:srgbClr val="8182EF"/>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5"/>
          <p:cNvSpPr txBox="1"/>
          <p:nvPr/>
        </p:nvSpPr>
        <p:spPr>
          <a:xfrm>
            <a:off x="1080000" y="1440000"/>
            <a:ext cx="6631800" cy="9864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50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Here is an </a:t>
            </a:r>
            <a:r>
              <a:rPr b="1" i="0" lang="en-GB" sz="1400" u="none" cap="none" strike="noStrike">
                <a:solidFill>
                  <a:srgbClr val="000000"/>
                </a:solidFill>
                <a:latin typeface="Roboto"/>
                <a:ea typeface="Roboto"/>
                <a:cs typeface="Roboto"/>
                <a:sym typeface="Roboto"/>
              </a:rPr>
              <a:t>important shortcut to solve profit and loss problems</a:t>
            </a:r>
            <a:r>
              <a:rPr b="0" i="0" lang="en-GB" sz="1400" u="none" cap="none" strike="noStrike">
                <a:solidFill>
                  <a:srgbClr val="000000"/>
                </a:solidFill>
                <a:latin typeface="Roboto"/>
                <a:ea typeface="Roboto"/>
                <a:cs typeface="Roboto"/>
                <a:sym typeface="Roboto"/>
              </a:rPr>
              <a:t> when it is based on Successive discounts.</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80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If the first discount is a% and the second discount is b% then,</a:t>
            </a:r>
            <a:endParaRPr b="0" i="0" sz="1400" u="none" cap="none" strike="noStrike">
              <a:solidFill>
                <a:srgbClr val="000000"/>
              </a:solidFill>
              <a:latin typeface="Roboto"/>
              <a:ea typeface="Roboto"/>
              <a:cs typeface="Roboto"/>
              <a:sym typeface="Roboto"/>
            </a:endParaRPr>
          </a:p>
          <a:p>
            <a:pPr indent="0" lvl="0" marL="0" marR="0" rtl="0" algn="just">
              <a:lnSpc>
                <a:spcPct val="150000"/>
              </a:lnSpc>
              <a:spcBef>
                <a:spcPts val="800"/>
              </a:spcBef>
              <a:spcAft>
                <a:spcPts val="800"/>
              </a:spcAft>
              <a:buClr>
                <a:srgbClr val="000000"/>
              </a:buClr>
              <a:buSzPts val="1400"/>
              <a:buFont typeface="Arial"/>
              <a:buNone/>
            </a:pPr>
            <a:r>
              <a:rPr b="1" i="0" lang="en-GB" sz="1400" u="none" cap="none" strike="noStrike">
                <a:solidFill>
                  <a:srgbClr val="000000"/>
                </a:solidFill>
                <a:latin typeface="Roboto"/>
                <a:ea typeface="Roboto"/>
                <a:cs typeface="Roboto"/>
                <a:sym typeface="Roboto"/>
              </a:rPr>
              <a:t>Total discount = (a + b - ab / 100) %</a:t>
            </a:r>
            <a:endParaRPr b="0" i="0" sz="1400" u="none" cap="none" strike="noStrike">
              <a:solidFill>
                <a:srgbClr val="000000"/>
              </a:solidFill>
              <a:latin typeface="Roboto"/>
              <a:ea typeface="Roboto"/>
              <a:cs typeface="Roboto"/>
              <a:sym typeface="Roboto"/>
            </a:endParaRPr>
          </a:p>
        </p:txBody>
      </p:sp>
      <p:pic>
        <p:nvPicPr>
          <p:cNvPr id="191" name="Google Shape;191;p5"/>
          <p:cNvPicPr preferRelativeResize="0"/>
          <p:nvPr/>
        </p:nvPicPr>
        <p:blipFill rotWithShape="1">
          <a:blip r:embed="rId3">
            <a:alphaModFix/>
          </a:blip>
          <a:srcRect b="0" l="0" r="0" t="0"/>
          <a:stretch/>
        </p:blipFill>
        <p:spPr>
          <a:xfrm>
            <a:off x="5217973" y="2884928"/>
            <a:ext cx="3596801" cy="1669172"/>
          </a:xfrm>
          <a:prstGeom prst="rect">
            <a:avLst/>
          </a:prstGeom>
          <a:noFill/>
          <a:ln>
            <a:noFill/>
          </a:ln>
        </p:spPr>
      </p:pic>
      <p:sp>
        <p:nvSpPr>
          <p:cNvPr id="192" name="Google Shape;192;p5"/>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Shortcut</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15dab58096a_0_254"/>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198" name="Google Shape;198;g15dab58096a_0_25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A trader mixes 26 kg of rice at Rs. 20 per kg with 30 kg of rice of other variety at Rs. 36 per kg and sells the mixture at Rs. 30 per kg. His profit percent is:</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No profit, no loss</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7%</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15%</a:t>
            </a:r>
            <a:endParaRPr i="0" sz="1600" u="none" cap="none" strike="noStrike">
              <a:solidFill>
                <a:srgbClr val="000000"/>
              </a:solidFill>
              <a:latin typeface="Roboto"/>
              <a:ea typeface="Roboto"/>
              <a:cs typeface="Roboto"/>
              <a:sym typeface="Roboto"/>
            </a:endParaRPr>
          </a:p>
        </p:txBody>
      </p:sp>
      <p:sp>
        <p:nvSpPr>
          <p:cNvPr id="199" name="Google Shape;199;g15dab58096a_0_25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 name="Shape 203"/>
        <p:cNvGrpSpPr/>
        <p:nvPr/>
      </p:nvGrpSpPr>
      <p:grpSpPr>
        <a:xfrm>
          <a:off x="0" y="0"/>
          <a:ext cx="0" cy="0"/>
          <a:chOff x="0" y="0"/>
          <a:chExt cx="0" cy="0"/>
        </a:xfrm>
      </p:grpSpPr>
      <p:sp>
        <p:nvSpPr>
          <p:cNvPr id="204" name="Google Shape;204;p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05" name="Google Shape;205;p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41666"/>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C.P. of 56 kg rice = Rs. (26 x 20 + 30 x 36) = Rs. (520 + 1080) = Rs. 1600.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S.P. of 56 kg rice = Rs. (56 x 30) = Rs. 1680.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Gain =(80/1600*100) % = 5%</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06" name="Google Shape;206;p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a:t>
            </a:r>
            <a:r>
              <a:rPr b="1" lang="en-GB" sz="2000">
                <a:solidFill>
                  <a:srgbClr val="8182EF"/>
                </a:solidFill>
                <a:latin typeface="Roboto"/>
                <a:ea typeface="Roboto"/>
                <a:cs typeface="Roboto"/>
                <a:sym typeface="Roboto"/>
              </a:rPr>
              <a:t>: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15dab58096a_0_34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12" name="Google Shape;212;g15dab58096a_0_340"/>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If selling price is doubled, the profit triples. Find the profit percent?</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80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100%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200%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300%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400%</a:t>
            </a:r>
            <a:endParaRPr i="0" sz="1600" u="none" cap="none" strike="noStrike">
              <a:solidFill>
                <a:srgbClr val="222222"/>
              </a:solidFill>
              <a:highlight>
                <a:srgbClr val="FFFFFF"/>
              </a:highlight>
              <a:latin typeface="Roboto"/>
              <a:ea typeface="Roboto"/>
              <a:cs typeface="Roboto"/>
              <a:sym typeface="Roboto"/>
            </a:endParaRPr>
          </a:p>
        </p:txBody>
      </p:sp>
      <p:sp>
        <p:nvSpPr>
          <p:cNvPr id="213" name="Google Shape;213;g15dab58096a_0_34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 name="Shape 217"/>
        <p:cNvGrpSpPr/>
        <p:nvPr/>
      </p:nvGrpSpPr>
      <p:grpSpPr>
        <a:xfrm>
          <a:off x="0" y="0"/>
          <a:ext cx="0" cy="0"/>
          <a:chOff x="0" y="0"/>
          <a:chExt cx="0" cy="0"/>
        </a:xfrm>
      </p:grpSpPr>
      <p:sp>
        <p:nvSpPr>
          <p:cNvPr id="218" name="Google Shape;218;g15dab58096a_0_34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19" name="Google Shape;219;g15dab58096a_0_34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Let the C.P be Rs.100 and S.P be Rs.x, Then</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The profit is (x-100)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Now the S.P is doubled, then the new S.P is 2x</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New profit is (2x-100)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Now as per the given condition;</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=&gt; 3(x-100) = 2x-100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By solving, we get</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x = 200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Then the Profit percent = (200-100)/100 = 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Hence the profit percentage is 100%</a:t>
            </a:r>
            <a:endParaRPr b="0" i="0" sz="1400" u="none" cap="none" strike="noStrike">
              <a:solidFill>
                <a:srgbClr val="000000"/>
              </a:solidFill>
              <a:latin typeface="Roboto"/>
              <a:ea typeface="Roboto"/>
              <a:cs typeface="Roboto"/>
              <a:sym typeface="Roboto"/>
            </a:endParaRPr>
          </a:p>
        </p:txBody>
      </p:sp>
      <p:sp>
        <p:nvSpPr>
          <p:cNvPr id="220" name="Google Shape;220;g15dab58096a_0_34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15dab58096a_0_356"/>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26" name="Google Shape;226;g15dab58096a_0_356"/>
          <p:cNvSpPr txBox="1"/>
          <p:nvPr/>
        </p:nvSpPr>
        <p:spPr>
          <a:xfrm>
            <a:off x="1080000" y="1440000"/>
            <a:ext cx="67065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If the cost price of 12 pens is equal to the selling price of 8 pens, the gain percent is ?</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80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12%</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60%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50%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18%</a:t>
            </a:r>
            <a:endParaRPr i="0" sz="1600" u="none" cap="none" strike="noStrike">
              <a:solidFill>
                <a:srgbClr val="222222"/>
              </a:solidFill>
              <a:highlight>
                <a:srgbClr val="FFFFFF"/>
              </a:highlight>
              <a:latin typeface="Roboto"/>
              <a:ea typeface="Roboto"/>
              <a:cs typeface="Roboto"/>
              <a:sym typeface="Roboto"/>
            </a:endParaRPr>
          </a:p>
        </p:txBody>
      </p:sp>
      <p:sp>
        <p:nvSpPr>
          <p:cNvPr id="227" name="Google Shape;227;g15dab58096a_0_35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1" name="Shape 231"/>
        <p:cNvGrpSpPr/>
        <p:nvPr/>
      </p:nvGrpSpPr>
      <p:grpSpPr>
        <a:xfrm>
          <a:off x="0" y="0"/>
          <a:ext cx="0" cy="0"/>
          <a:chOff x="0" y="0"/>
          <a:chExt cx="0" cy="0"/>
        </a:xfrm>
      </p:grpSpPr>
      <p:sp>
        <p:nvSpPr>
          <p:cNvPr id="232" name="Google Shape;232;g15dab58096a_0_36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Friends, we know we will need gain amount to get gain percent, right.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So lets get gain first.</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Let the cost price of 1 pen is Re 1</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Cost of 8 pens = Rs 8</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Selling price of 8 pens = 12</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Gain = 12 - 8 = 4</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Gain% =(gain/cost*100)%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            =((4/8)*100)%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            =50%</a:t>
            </a:r>
            <a:endParaRPr b="0" i="0" sz="1400" u="none" cap="none" strike="noStrike">
              <a:solidFill>
                <a:srgbClr val="2A2A2A"/>
              </a:solidFill>
              <a:highlight>
                <a:srgbClr val="FFFFFF"/>
              </a:highlight>
              <a:latin typeface="Roboto"/>
              <a:ea typeface="Roboto"/>
              <a:cs typeface="Roboto"/>
              <a:sym typeface="Roboto"/>
            </a:endParaRPr>
          </a:p>
        </p:txBody>
      </p:sp>
      <p:sp>
        <p:nvSpPr>
          <p:cNvPr id="233" name="Google Shape;233;g15dab58096a_0_36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15dab58096a_0_372"/>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39" name="Google Shape;239;g15dab58096a_0_372"/>
          <p:cNvSpPr txBox="1"/>
          <p:nvPr/>
        </p:nvSpPr>
        <p:spPr>
          <a:xfrm>
            <a:off x="1080000" y="1440000"/>
            <a:ext cx="73797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If books bought at prices ranging from Rs. 200 to Rs. 350 are sold at prices ranging from Rs. 300 to Rs. 425, what is the greatest possible profit that might be made in selling eight books ?</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80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600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1200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1800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none of these</a:t>
            </a:r>
            <a:endParaRPr i="0" sz="1600" u="none" cap="none" strike="noStrike">
              <a:solidFill>
                <a:srgbClr val="222222"/>
              </a:solidFill>
              <a:highlight>
                <a:srgbClr val="FFFFFF"/>
              </a:highlight>
              <a:latin typeface="Roboto"/>
              <a:ea typeface="Roboto"/>
              <a:cs typeface="Roboto"/>
              <a:sym typeface="Roboto"/>
            </a:endParaRPr>
          </a:p>
        </p:txBody>
      </p:sp>
      <p:sp>
        <p:nvSpPr>
          <p:cNvPr id="240" name="Google Shape;240;g15dab58096a_0_37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g15dab58096a_0_38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46" name="Google Shape;246;g15dab58096a_0_380"/>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Least Cost Price = Rs. (200 * 8) = Rs. 1600.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Greatest Selling Price = Rs. (425 * 8) = Rs. 3400.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Required profit = Rs. (3400 - 1600) = Rs. 1800.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7" name="Google Shape;247;g15dab58096a_0_38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15dab58096a_0_388"/>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53" name="Google Shape;253;g15dab58096a_0_388"/>
          <p:cNvSpPr txBox="1"/>
          <p:nvPr/>
        </p:nvSpPr>
        <p:spPr>
          <a:xfrm>
            <a:off x="1079999" y="1440000"/>
            <a:ext cx="67524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A man buys oranges at Rs 5 a dozen and an equal number at Rs 4 a dozen. He sells them at Rs 5.50 a dozen and makes a profit of Rs 50. How many oranges does he buy?</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80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30 dozens</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40 dozens</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50 dozens</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70 dozens</a:t>
            </a:r>
            <a:endParaRPr i="0" sz="1600" u="none" cap="none" strike="noStrike">
              <a:solidFill>
                <a:srgbClr val="222222"/>
              </a:solidFill>
              <a:highlight>
                <a:srgbClr val="FFFFFF"/>
              </a:highlight>
              <a:latin typeface="Roboto"/>
              <a:ea typeface="Roboto"/>
              <a:cs typeface="Roboto"/>
              <a:sym typeface="Roboto"/>
            </a:endParaRPr>
          </a:p>
        </p:txBody>
      </p:sp>
      <p:sp>
        <p:nvSpPr>
          <p:cNvPr id="254" name="Google Shape;254;g15dab58096a_0_38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 name="Shape 258"/>
        <p:cNvGrpSpPr/>
        <p:nvPr/>
      </p:nvGrpSpPr>
      <p:grpSpPr>
        <a:xfrm>
          <a:off x="0" y="0"/>
          <a:ext cx="0" cy="0"/>
          <a:chOff x="0" y="0"/>
          <a:chExt cx="0" cy="0"/>
        </a:xfrm>
      </p:grpSpPr>
      <p:sp>
        <p:nvSpPr>
          <p:cNvPr id="259" name="Google Shape;259;g15dab58096a_0_39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60" name="Google Shape;260;g15dab58096a_0_39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Cost Price of 2 dozen oranges Rs. (5 + 4) = Rs. 9.</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Sell price of 2 dozen oranges = Rs. 11.</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If profit is Rs 2, oranges bought = 2 dozen.</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If profit is Rs. 50, oranges bought = (2/2) * 50 dozens = 50 dozens.</a:t>
            </a:r>
            <a:endParaRPr b="0" i="0" sz="1400" u="none" cap="none" strike="noStrike">
              <a:solidFill>
                <a:srgbClr val="000000"/>
              </a:solidFill>
              <a:latin typeface="Roboto"/>
              <a:ea typeface="Roboto"/>
              <a:cs typeface="Roboto"/>
              <a:sym typeface="Roboto"/>
            </a:endParaRPr>
          </a:p>
        </p:txBody>
      </p:sp>
      <p:sp>
        <p:nvSpPr>
          <p:cNvPr id="261" name="Google Shape;261;g15dab58096a_0_39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15dab58096a_0_404"/>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67" name="Google Shape;267;g15dab58096a_0_404"/>
          <p:cNvSpPr txBox="1"/>
          <p:nvPr/>
        </p:nvSpPr>
        <p:spPr>
          <a:xfrm>
            <a:off x="1080000" y="1440000"/>
            <a:ext cx="75660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Bhajan Singh purchased 120 reams of paper at Rs 80 per ream. He spent Rs 280 on transportation, paid octroi at the rate of 40 paise per ream and paid Rs 72 to the coolie. If he wants to have a gain of 8 %, what must be the selling price per ream?</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80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90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89</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87.48</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86</a:t>
            </a:r>
            <a:endParaRPr i="0" sz="1600" u="none" cap="none" strike="noStrike">
              <a:solidFill>
                <a:srgbClr val="222222"/>
              </a:solidFill>
              <a:highlight>
                <a:srgbClr val="FFFFFF"/>
              </a:highlight>
              <a:latin typeface="Roboto"/>
              <a:ea typeface="Roboto"/>
              <a:cs typeface="Roboto"/>
              <a:sym typeface="Roboto"/>
            </a:endParaRPr>
          </a:p>
        </p:txBody>
      </p:sp>
      <p:sp>
        <p:nvSpPr>
          <p:cNvPr id="268" name="Google Shape;268;g15dab58096a_0_40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15dab58096a_0_412"/>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74" name="Google Shape;274;g15dab58096a_0_412"/>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Total investment = Rs. (120 * 80 + 280 + (40/100) * 120 + 72).</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 Rs. (9600 + 280+48 + 72) = Rs, 10000.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2A2A2A"/>
                </a:solidFill>
                <a:highlight>
                  <a:srgbClr val="FFFFFF"/>
                </a:highlight>
                <a:latin typeface="Roboto"/>
                <a:ea typeface="Roboto"/>
                <a:cs typeface="Roboto"/>
                <a:sym typeface="Roboto"/>
              </a:rPr>
              <a:t>Sell price of 120 reams = 108% of Rs. 10000 = Rs. 10800.</a:t>
            </a:r>
            <a:endParaRPr b="0" i="0" sz="14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2A2A2A"/>
                </a:solidFill>
                <a:highlight>
                  <a:srgbClr val="FFFFFF"/>
                </a:highlight>
                <a:latin typeface="Roboto"/>
                <a:ea typeface="Roboto"/>
                <a:cs typeface="Roboto"/>
                <a:sym typeface="Roboto"/>
              </a:rPr>
              <a:t>Sell Price per ream = Rs. [10800/120] = Rs. 90.</a:t>
            </a:r>
            <a:endParaRPr b="0" i="0" sz="1400" u="none" cap="none" strike="noStrike">
              <a:solidFill>
                <a:srgbClr val="000000"/>
              </a:solidFill>
              <a:latin typeface="Roboto"/>
              <a:ea typeface="Roboto"/>
              <a:cs typeface="Roboto"/>
              <a:sym typeface="Roboto"/>
            </a:endParaRPr>
          </a:p>
        </p:txBody>
      </p:sp>
      <p:sp>
        <p:nvSpPr>
          <p:cNvPr id="275" name="Google Shape;275;g15dab58096a_0_41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15dab58096a_0_42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281" name="Google Shape;281;g15dab58096a_0_420"/>
          <p:cNvSpPr txBox="1"/>
          <p:nvPr/>
        </p:nvSpPr>
        <p:spPr>
          <a:xfrm>
            <a:off x="1080000" y="1440000"/>
            <a:ext cx="71097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Every year before the festive season,a shopkeeper increases the price of the product by 35% and then introduce two successive discount of 10% and 15% respectively.what is percentage loss and percentage gain ?</a:t>
            </a:r>
            <a:endParaRPr i="0" sz="16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3.27 % loss</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4.15 % loss</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3.27 % gain</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4.15 % gain</a:t>
            </a:r>
            <a:endParaRPr i="0" sz="1600" u="none" cap="none" strike="noStrike">
              <a:solidFill>
                <a:srgbClr val="222222"/>
              </a:solidFill>
              <a:highlight>
                <a:srgbClr val="FFFFFF"/>
              </a:highlight>
              <a:latin typeface="Roboto"/>
              <a:ea typeface="Roboto"/>
              <a:cs typeface="Roboto"/>
              <a:sym typeface="Roboto"/>
            </a:endParaRPr>
          </a:p>
        </p:txBody>
      </p:sp>
      <p:sp>
        <p:nvSpPr>
          <p:cNvPr id="282" name="Google Shape;282;g15dab58096a_0_42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sp>
        <p:nvSpPr>
          <p:cNvPr id="287" name="Google Shape;287;g15dab58096a_0_42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88" name="Google Shape;288;g15dab58096a_0_42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625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Let cp= 100,</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35 % increase in sp=135</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10 % discount in 135((135*10)/100)=13.5</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so 1st sp=(135-13.5)=121.5, again 15 % discount in 1st sp((121.5*15)/100)=18.225</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2nd sp=(121.5-18.225)=103.275,</a:t>
            </a:r>
            <a:endParaRPr b="0" i="0" sz="1400" u="none" cap="none" strike="noStrike">
              <a:solidFill>
                <a:srgbClr val="000000"/>
              </a:solidFill>
              <a:latin typeface="Roboto"/>
              <a:ea typeface="Roboto"/>
              <a:cs typeface="Roboto"/>
              <a:sym typeface="Roboto"/>
            </a:endParaRPr>
          </a:p>
          <a:p>
            <a:pPr indent="0" lvl="0" marL="0" marR="0" rtl="0" algn="l">
              <a:lnSpc>
                <a:spcPct val="15625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so finally cp=100,sp=103.275 ,gain by 3.27%</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9" name="Google Shape;289;g15dab58096a_0_42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15dab58096a_0_436"/>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295" name="Google Shape;295;g15dab58096a_0_436"/>
          <p:cNvSpPr txBox="1"/>
          <p:nvPr/>
        </p:nvSpPr>
        <p:spPr>
          <a:xfrm>
            <a:off x="1080000" y="1440000"/>
            <a:ext cx="70305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A man bought an article and sold it at a gain of 5 %. If he had bought it at 5% less and sold it for Re 1 less, he would have made a profit of 10%. The C.P. of the article was</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Rs 100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Rs 150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Rs 200</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Rs 250</a:t>
            </a:r>
            <a:endParaRPr i="0" sz="1600" u="none" cap="none" strike="noStrike">
              <a:solidFill>
                <a:srgbClr val="222222"/>
              </a:solidFill>
              <a:highlight>
                <a:srgbClr val="FFFFFF"/>
              </a:highlight>
              <a:latin typeface="Roboto"/>
              <a:ea typeface="Roboto"/>
              <a:cs typeface="Roboto"/>
              <a:sym typeface="Roboto"/>
            </a:endParaRPr>
          </a:p>
        </p:txBody>
      </p:sp>
      <p:sp>
        <p:nvSpPr>
          <p:cNvPr id="296" name="Google Shape;296;g15dab58096a_0_43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0" name="Shape 300"/>
        <p:cNvGrpSpPr/>
        <p:nvPr/>
      </p:nvGrpSpPr>
      <p:grpSpPr>
        <a:xfrm>
          <a:off x="0" y="0"/>
          <a:ext cx="0" cy="0"/>
          <a:chOff x="0" y="0"/>
          <a:chExt cx="0" cy="0"/>
        </a:xfrm>
      </p:grpSpPr>
      <p:sp>
        <p:nvSpPr>
          <p:cNvPr id="301" name="Google Shape;301;g15dab58096a_0_444"/>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02" name="Google Shape;302;g15dab58096a_0_44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Let original Cost price is x</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Its Selling price = (105/100) * x = 21x/20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New Cost price  = (95/100) * x  = 19x/20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New Selling price = (110/100 )* (19x/20 )= 209x/200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[(21x/20) - (209x/200)] = 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=&gt; x = 200</a:t>
            </a:r>
            <a:endParaRPr b="0" i="0" sz="1400" u="none" cap="none" strike="noStrike">
              <a:solidFill>
                <a:srgbClr val="000000"/>
              </a:solidFill>
              <a:latin typeface="Roboto"/>
              <a:ea typeface="Roboto"/>
              <a:cs typeface="Roboto"/>
              <a:sym typeface="Roboto"/>
            </a:endParaRPr>
          </a:p>
        </p:txBody>
      </p:sp>
      <p:sp>
        <p:nvSpPr>
          <p:cNvPr id="303" name="Google Shape;303;g15dab58096a_0_44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5dab58096a_0_452"/>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09" name="Google Shape;309;g15dab58096a_0_452"/>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A shopkeeper sells one-third of his goods at a profit of 10%, another one-third at a profit of 20%, and the rest at a loss of 6%.What is his overall profit percentage ?</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6%</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8%</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12%</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10%</a:t>
            </a:r>
            <a:endParaRPr i="0" sz="1600" u="none" cap="none" strike="noStrike">
              <a:solidFill>
                <a:srgbClr val="000000"/>
              </a:solidFill>
              <a:latin typeface="Roboto"/>
              <a:ea typeface="Roboto"/>
              <a:cs typeface="Roboto"/>
              <a:sym typeface="Roboto"/>
            </a:endParaRPr>
          </a:p>
        </p:txBody>
      </p:sp>
      <p:sp>
        <p:nvSpPr>
          <p:cNvPr id="310" name="Google Shape;310;g15dab58096a_0_45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sp>
        <p:nvSpPr>
          <p:cNvPr id="315" name="Google Shape;315;g15dab58096a_0_46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16" name="Google Shape;316;g15dab58096a_0_460"/>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Let the shopkeeper buy 300g for Rs.300. Now he sells 100g for Rs.110, another 100g for Rs120, and the rest 100g for Rs94. </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Therefore, the total amount he receives = Rs.110 + Rs.120 + Rs.94 = 324. </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Therefore, the shopkeeper spends Rs.300 and gets back Rs.324.</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Therefore, his profit percentage =(24/300)*100%</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=8%</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317" name="Google Shape;317;g15dab58096a_0_46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15dab58096a_0_468"/>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23" name="Google Shape;323;g15dab58096a_0_46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rgbClr val="2A2A2A"/>
                </a:solidFill>
                <a:highlight>
                  <a:srgbClr val="FFFFFF"/>
                </a:highlight>
                <a:latin typeface="Roboto"/>
                <a:ea typeface="Roboto"/>
                <a:cs typeface="Roboto"/>
                <a:sym typeface="Roboto"/>
              </a:rPr>
              <a:t>Cost of 3 cricket balls = cost of 2 pairs of leg pads. </a:t>
            </a:r>
            <a:endParaRPr i="0" sz="16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rgbClr val="2A2A2A"/>
                </a:solidFill>
                <a:highlight>
                  <a:srgbClr val="FFFFFF"/>
                </a:highlight>
                <a:latin typeface="Roboto"/>
                <a:ea typeface="Roboto"/>
                <a:cs typeface="Roboto"/>
                <a:sym typeface="Roboto"/>
              </a:rPr>
              <a:t>Cost of 3 pairs of leg pads = cost of 2 pairs of gloves.</a:t>
            </a:r>
            <a:endParaRPr i="0" sz="16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i="0" lang="en-GB" sz="1600" u="none" cap="none" strike="noStrike">
                <a:solidFill>
                  <a:srgbClr val="2A2A2A"/>
                </a:solidFill>
                <a:highlight>
                  <a:srgbClr val="FFFFFF"/>
                </a:highlight>
                <a:latin typeface="Roboto"/>
                <a:ea typeface="Roboto"/>
                <a:cs typeface="Roboto"/>
                <a:sym typeface="Roboto"/>
              </a:rPr>
              <a:t>Cost of 3 pairs of gloves = cost of 2 cricket bats.</a:t>
            </a:r>
            <a:endParaRPr i="0" sz="1600" u="none" cap="none" strike="noStrike">
              <a:solidFill>
                <a:srgbClr val="2A2A2A"/>
              </a:solidFill>
              <a:highlight>
                <a:srgbClr val="FFFFFF"/>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2A2A2A"/>
                </a:solidFill>
                <a:highlight>
                  <a:srgbClr val="FFFFFF"/>
                </a:highlight>
                <a:latin typeface="Roboto"/>
                <a:ea typeface="Roboto"/>
                <a:cs typeface="Roboto"/>
                <a:sym typeface="Roboto"/>
              </a:rPr>
              <a:t>If a cricket bat costs Rs 54, what is the cost of a cricket ball. </a:t>
            </a:r>
            <a:endParaRPr i="0" sz="1600" u="none" cap="none" strike="noStrike">
              <a:solidFill>
                <a:srgbClr val="2A2A2A"/>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Rs 12</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Rs 14</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Rs 16</a:t>
            </a:r>
            <a:endParaRPr i="0" sz="1600" u="none" cap="none" strike="noStrike">
              <a:solidFill>
                <a:srgbClr val="222222"/>
              </a:solidFill>
              <a:highlight>
                <a:srgbClr val="FFFFFF"/>
              </a:highlight>
              <a:latin typeface="Roboto"/>
              <a:ea typeface="Roboto"/>
              <a:cs typeface="Roboto"/>
              <a:sym typeface="Roboto"/>
            </a:endParaRPr>
          </a:p>
          <a:p>
            <a:pPr indent="-330200" lvl="0" marL="457200" marR="0" rtl="0" algn="l">
              <a:lnSpc>
                <a:spcPct val="150000"/>
              </a:lnSpc>
              <a:spcBef>
                <a:spcPts val="0"/>
              </a:spcBef>
              <a:spcAft>
                <a:spcPts val="0"/>
              </a:spcAft>
              <a:buClr>
                <a:srgbClr val="222222"/>
              </a:buClr>
              <a:buSzPts val="1600"/>
              <a:buFont typeface="Roboto"/>
              <a:buAutoNum type="alphaUcPeriod"/>
            </a:pPr>
            <a:r>
              <a:rPr i="0" lang="en-GB" sz="1600" u="none" cap="none" strike="noStrike">
                <a:solidFill>
                  <a:srgbClr val="222222"/>
                </a:solidFill>
                <a:highlight>
                  <a:srgbClr val="FFFFFF"/>
                </a:highlight>
                <a:latin typeface="Roboto"/>
                <a:ea typeface="Roboto"/>
                <a:cs typeface="Roboto"/>
                <a:sym typeface="Roboto"/>
              </a:rPr>
              <a:t> Rs 18</a:t>
            </a:r>
            <a:endParaRPr i="0" sz="1600" u="none" cap="none" strike="noStrike">
              <a:solidFill>
                <a:srgbClr val="222222"/>
              </a:solidFill>
              <a:highlight>
                <a:srgbClr val="FFFFFF"/>
              </a:highlight>
              <a:latin typeface="Roboto"/>
              <a:ea typeface="Roboto"/>
              <a:cs typeface="Roboto"/>
              <a:sym typeface="Roboto"/>
            </a:endParaRPr>
          </a:p>
        </p:txBody>
      </p:sp>
      <p:sp>
        <p:nvSpPr>
          <p:cNvPr id="324" name="Google Shape;324;g15dab58096a_0_46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g15dab58096a_0_47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30" name="Google Shape;330;g15dab58096a_0_47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3 pairs of gloves = 2 x 54 = 108 ; 1 pairs of gloves = 36</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3 pairs of leg pads = 2 x 36 = 1 pairs of leg pads = 24</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3 cricket balls = 2 x 24 = 48</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cost of 1 cricket ball = 16;</a:t>
            </a:r>
            <a:endParaRPr b="0" i="0" sz="1400" u="none" cap="none" strike="noStrike">
              <a:solidFill>
                <a:srgbClr val="000000"/>
              </a:solidFill>
              <a:latin typeface="Roboto"/>
              <a:ea typeface="Roboto"/>
              <a:cs typeface="Roboto"/>
              <a:sym typeface="Roboto"/>
            </a:endParaRPr>
          </a:p>
        </p:txBody>
      </p:sp>
      <p:sp>
        <p:nvSpPr>
          <p:cNvPr id="331" name="Google Shape;331;g15dab58096a_0_47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15dab58096a_0_484"/>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37" name="Google Shape;337;g15dab58096a_0_48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A' sold an article to 'B' at a profit of 20%. 'B' sold the same article to 'C' at a loss of 25% and 'C' sold the same article to 'D' at a profit of 40%. If 'D' paid Rs 252 for the article, then find how much did 'A' pay for it?</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Rs.196</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Rs.210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Rs.200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Rs.235</a:t>
            </a:r>
            <a:endParaRPr i="0" sz="1600" u="none" cap="none" strike="noStrike">
              <a:solidFill>
                <a:srgbClr val="000000"/>
              </a:solidFill>
              <a:latin typeface="Roboto"/>
              <a:ea typeface="Roboto"/>
              <a:cs typeface="Roboto"/>
              <a:sym typeface="Roboto"/>
            </a:endParaRPr>
          </a:p>
          <a:p>
            <a:pPr indent="0" lvl="0" marL="457200" marR="0" rtl="0" algn="l">
              <a:lnSpc>
                <a:spcPct val="150000"/>
              </a:lnSpc>
              <a:spcBef>
                <a:spcPts val="800"/>
              </a:spcBef>
              <a:spcAft>
                <a:spcPts val="800"/>
              </a:spcAft>
              <a:buClr>
                <a:srgbClr val="000000"/>
              </a:buClr>
              <a:buSzPts val="1400"/>
              <a:buFont typeface="Arial"/>
              <a:buNone/>
            </a:pPr>
            <a:r>
              <a:t/>
            </a:r>
            <a:endParaRPr i="0" sz="1600" u="none" cap="none" strike="noStrike">
              <a:solidFill>
                <a:srgbClr val="000000"/>
              </a:solidFill>
              <a:latin typeface="Roboto"/>
              <a:ea typeface="Roboto"/>
              <a:cs typeface="Roboto"/>
              <a:sym typeface="Roboto"/>
            </a:endParaRPr>
          </a:p>
        </p:txBody>
      </p:sp>
      <p:sp>
        <p:nvSpPr>
          <p:cNvPr id="338" name="Google Shape;338;g15dab58096a_0_48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2" name="Shape 342"/>
        <p:cNvGrpSpPr/>
        <p:nvPr/>
      </p:nvGrpSpPr>
      <p:grpSpPr>
        <a:xfrm>
          <a:off x="0" y="0"/>
          <a:ext cx="0" cy="0"/>
          <a:chOff x="0" y="0"/>
          <a:chExt cx="0" cy="0"/>
        </a:xfrm>
      </p:grpSpPr>
      <p:sp>
        <p:nvSpPr>
          <p:cNvPr id="343" name="Google Shape;343;g15dab58096a_0_492"/>
          <p:cNvSpPr txBox="1"/>
          <p:nvPr/>
        </p:nvSpPr>
        <p:spPr>
          <a:xfrm>
            <a:off x="1080000" y="1440000"/>
            <a:ext cx="66321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Let the article costs 'X' to A</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Cost price of B = 1.2X</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Cost price of C = 0.75(1.2X) = 0.9X</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Cost price of D = 1.4(0.9X) = 1.26X = 252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Amount paid by A for the article = Rs. 200.</a:t>
            </a:r>
            <a:endParaRPr b="0" i="0" sz="1400" u="none" cap="none" strike="noStrike">
              <a:solidFill>
                <a:srgbClr val="000000"/>
              </a:solidFill>
              <a:latin typeface="Roboto"/>
              <a:ea typeface="Roboto"/>
              <a:cs typeface="Roboto"/>
              <a:sym typeface="Roboto"/>
            </a:endParaRPr>
          </a:p>
        </p:txBody>
      </p:sp>
      <p:sp>
        <p:nvSpPr>
          <p:cNvPr id="344" name="Google Shape;344;g15dab58096a_0_49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15dab58096a_0_50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B</a:t>
            </a:r>
            <a:endParaRPr b="0" i="0" sz="1600" u="none" cap="none" strike="noStrike">
              <a:solidFill>
                <a:schemeClr val="dk1"/>
              </a:solidFill>
              <a:latin typeface="Roboto"/>
              <a:ea typeface="Roboto"/>
              <a:cs typeface="Roboto"/>
              <a:sym typeface="Roboto"/>
            </a:endParaRPr>
          </a:p>
        </p:txBody>
      </p:sp>
      <p:sp>
        <p:nvSpPr>
          <p:cNvPr id="350" name="Google Shape;350;g15dab58096a_0_500"/>
          <p:cNvSpPr txBox="1"/>
          <p:nvPr/>
        </p:nvSpPr>
        <p:spPr>
          <a:xfrm>
            <a:off x="1079999" y="1440000"/>
            <a:ext cx="69510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A, B and C invest in the ratio of 3 : 4: 5. The percentage of return on their investments are in the ratio of  6 : 5 : 4. Find the total earnings, If B earns Rs. 250 more than A :</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6000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7250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5000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None of these</a:t>
            </a:r>
            <a:endParaRPr i="0" sz="1600" u="none" cap="none" strike="noStrike">
              <a:solidFill>
                <a:srgbClr val="000000"/>
              </a:solidFill>
              <a:latin typeface="Roboto"/>
              <a:ea typeface="Roboto"/>
              <a:cs typeface="Roboto"/>
              <a:sym typeface="Roboto"/>
            </a:endParaRPr>
          </a:p>
        </p:txBody>
      </p:sp>
      <p:sp>
        <p:nvSpPr>
          <p:cNvPr id="351" name="Google Shape;351;g15dab58096a_0_50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5" name="Shape 355"/>
        <p:cNvGrpSpPr/>
        <p:nvPr/>
      </p:nvGrpSpPr>
      <p:grpSpPr>
        <a:xfrm>
          <a:off x="0" y="0"/>
          <a:ext cx="0" cy="0"/>
          <a:chOff x="0" y="0"/>
          <a:chExt cx="0" cy="0"/>
        </a:xfrm>
      </p:grpSpPr>
      <p:sp>
        <p:nvSpPr>
          <p:cNvPr id="356" name="Google Shape;356;g15dab58096a_0_508"/>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57" name="Google Shape;357;g15dab58096a_0_50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A                  B                   C</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investment                    3x                 4x                  5x</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Rate of return              6y%              5y%                4y%</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Return                         18xy/100         20xy/100          20xy/100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                               Total = (18+20+20) = 58xy/100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B's earnings - A's earnings  = 2xy/100=250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Total earning =58xy/100=7250</a:t>
            </a:r>
            <a:endParaRPr b="0" i="0" sz="1400" u="none" cap="none" strike="noStrike">
              <a:solidFill>
                <a:srgbClr val="000000"/>
              </a:solidFill>
              <a:latin typeface="Roboto"/>
              <a:ea typeface="Roboto"/>
              <a:cs typeface="Roboto"/>
              <a:sym typeface="Roboto"/>
            </a:endParaRPr>
          </a:p>
        </p:txBody>
      </p:sp>
      <p:sp>
        <p:nvSpPr>
          <p:cNvPr id="358" name="Google Shape;358;g15dab58096a_0_50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15dab58096a_0_516"/>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64" name="Google Shape;364;g15dab58096a_0_516"/>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By mixing two qualities of pulses in the ratio 2: 3 and selling the mixture at the rate of Rs 22 per kilogram, a shopkeeper makes a profit of 10 %. If the cost of the smaller quantity be Rs 14 per kg, the cost per kg of the larger quantity is:</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23</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25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Rs 24</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 None of these</a:t>
            </a:r>
            <a:endParaRPr i="0" sz="1600" u="none" cap="none" strike="noStrike">
              <a:solidFill>
                <a:srgbClr val="000000"/>
              </a:solidFill>
              <a:latin typeface="Roboto"/>
              <a:ea typeface="Roboto"/>
              <a:cs typeface="Roboto"/>
              <a:sym typeface="Roboto"/>
            </a:endParaRPr>
          </a:p>
        </p:txBody>
      </p:sp>
      <p:sp>
        <p:nvSpPr>
          <p:cNvPr id="365" name="Google Shape;365;g15dab58096a_0_51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9" name="Shape 369"/>
        <p:cNvGrpSpPr/>
        <p:nvPr/>
      </p:nvGrpSpPr>
      <p:grpSpPr>
        <a:xfrm>
          <a:off x="0" y="0"/>
          <a:ext cx="0" cy="0"/>
          <a:chOff x="0" y="0"/>
          <a:chExt cx="0" cy="0"/>
        </a:xfrm>
      </p:grpSpPr>
      <p:sp>
        <p:nvSpPr>
          <p:cNvPr id="370" name="Google Shape;370;g15dab58096a_0_524"/>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71" name="Google Shape;371;g15dab58096a_0_524"/>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Cost Price of 5 kg = Rs.(14*2 + x*3) = (28 + 3x).</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Sell price of 5 kg = Rs. (22x5) = Rs. 110.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[{110 - (28 + 3x)}/(28 + 3x) ]* 100 =10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[82-3x/28 + 3x]= 1 / 10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820 - 30x = 28 +3x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33x = 792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x = 24</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72" name="Google Shape;372;g15dab58096a_0_524"/>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15dab58096a_0_532"/>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C</a:t>
            </a:r>
            <a:endParaRPr b="0" i="0" sz="1600" u="none" cap="none" strike="noStrike">
              <a:solidFill>
                <a:schemeClr val="dk1"/>
              </a:solidFill>
              <a:latin typeface="Roboto"/>
              <a:ea typeface="Roboto"/>
              <a:cs typeface="Roboto"/>
              <a:sym typeface="Roboto"/>
            </a:endParaRPr>
          </a:p>
        </p:txBody>
      </p:sp>
      <p:sp>
        <p:nvSpPr>
          <p:cNvPr id="378" name="Google Shape;378;g15dab58096a_0_532"/>
          <p:cNvSpPr txBox="1"/>
          <p:nvPr/>
        </p:nvSpPr>
        <p:spPr>
          <a:xfrm>
            <a:off x="1080000" y="1440000"/>
            <a:ext cx="75552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Rahul went to purchase a Nokia mobile handset, the shopkeeper told him to pay 20% tax if he asked the bill. Rahul manages to get the discount of 5% on the actual sale price of the mobile and he paid the shopkeeper Rs. 3325 without tax. Besides he manages to avoid to pay 20% tax on the already  discounted price, what is the amount of discount that he has gotten?</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750</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375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875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445</a:t>
            </a:r>
            <a:endParaRPr i="0" sz="1600" u="none" cap="none" strike="noStrike">
              <a:solidFill>
                <a:srgbClr val="000000"/>
              </a:solidFill>
              <a:latin typeface="Roboto"/>
              <a:ea typeface="Roboto"/>
              <a:cs typeface="Roboto"/>
              <a:sym typeface="Roboto"/>
            </a:endParaRPr>
          </a:p>
        </p:txBody>
      </p:sp>
      <p:sp>
        <p:nvSpPr>
          <p:cNvPr id="379" name="Google Shape;379;g15dab58096a_0_532"/>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sp>
        <p:nvSpPr>
          <p:cNvPr id="384" name="Google Shape;384;g15dab58096a_0_540"/>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85" name="Google Shape;385;g15dab58096a_0_540"/>
          <p:cNvSpPr txBox="1"/>
          <p:nvPr/>
        </p:nvSpPr>
        <p:spPr>
          <a:xfrm>
            <a:off x="1080000" y="1440000"/>
            <a:ext cx="7641600" cy="2704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CP = 100, SP (with tax) =120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New   SP = 100 - 5 = 95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Effective discount = 120 - 95 = 25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So, at SP of 95 ----&gt; discount = 25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and   at SP of 3325 -----&gt; discount = 25/95*3325=875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86" name="Google Shape;386;g15dab58096a_0_540"/>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15dab58096a_0_548"/>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Answer : </a:t>
            </a:r>
            <a:r>
              <a:rPr b="1" i="0" lang="en-GB" sz="1600" u="none" cap="none" strike="noStrike">
                <a:solidFill>
                  <a:schemeClr val="dk1"/>
                </a:solidFill>
                <a:latin typeface="Roboto"/>
                <a:ea typeface="Roboto"/>
                <a:cs typeface="Roboto"/>
                <a:sym typeface="Roboto"/>
              </a:rPr>
              <a:t>A</a:t>
            </a:r>
            <a:endParaRPr b="0" i="0" sz="1600" u="none" cap="none" strike="noStrike">
              <a:solidFill>
                <a:schemeClr val="dk1"/>
              </a:solidFill>
              <a:latin typeface="Roboto"/>
              <a:ea typeface="Roboto"/>
              <a:cs typeface="Roboto"/>
              <a:sym typeface="Roboto"/>
            </a:endParaRPr>
          </a:p>
        </p:txBody>
      </p:sp>
      <p:sp>
        <p:nvSpPr>
          <p:cNvPr id="392" name="Google Shape;392;g15dab58096a_0_548"/>
          <p:cNvSpPr txBox="1"/>
          <p:nvPr/>
        </p:nvSpPr>
        <p:spPr>
          <a:xfrm>
            <a:off x="1080000" y="1440000"/>
            <a:ext cx="6631800" cy="2635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400"/>
              <a:buFont typeface="Arial"/>
              <a:buNone/>
            </a:pPr>
            <a:r>
              <a:rPr i="0" lang="en-GB" sz="1600" u="none" cap="none" strike="noStrike">
                <a:solidFill>
                  <a:srgbClr val="000000"/>
                </a:solidFill>
                <a:latin typeface="Roboto"/>
                <a:ea typeface="Roboto"/>
                <a:cs typeface="Roboto"/>
                <a:sym typeface="Roboto"/>
              </a:rPr>
              <a:t>If goods be purchased for Rs.450 and 1/3 is sold at a loss of 10%. At what gain % should the remainder is sold to has to gain 20% on the whole transaction?</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80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35%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38%</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25%</a:t>
            </a:r>
            <a:endParaRPr i="0" sz="1600" u="none" cap="none" strike="noStrike">
              <a:solidFill>
                <a:srgbClr val="000000"/>
              </a:solidFill>
              <a:latin typeface="Roboto"/>
              <a:ea typeface="Roboto"/>
              <a:cs typeface="Roboto"/>
              <a:sym typeface="Roboto"/>
            </a:endParaRPr>
          </a:p>
          <a:p>
            <a:pPr indent="-330200" lvl="0" marL="457200" marR="0" rtl="0" algn="l">
              <a:lnSpc>
                <a:spcPct val="150000"/>
              </a:lnSpc>
              <a:spcBef>
                <a:spcPts val="0"/>
              </a:spcBef>
              <a:spcAft>
                <a:spcPts val="0"/>
              </a:spcAft>
              <a:buClr>
                <a:srgbClr val="000000"/>
              </a:buClr>
              <a:buSzPts val="1600"/>
              <a:buFont typeface="Roboto"/>
              <a:buAutoNum type="alphaUcPeriod"/>
            </a:pPr>
            <a:r>
              <a:rPr i="0" lang="en-GB" sz="1600" u="none" cap="none" strike="noStrike">
                <a:solidFill>
                  <a:srgbClr val="000000"/>
                </a:solidFill>
                <a:latin typeface="Roboto"/>
                <a:ea typeface="Roboto"/>
                <a:cs typeface="Roboto"/>
                <a:sym typeface="Roboto"/>
              </a:rPr>
              <a:t>28%</a:t>
            </a:r>
            <a:endParaRPr i="0" sz="1600" u="none" cap="none" strike="noStrike">
              <a:solidFill>
                <a:srgbClr val="000000"/>
              </a:solidFill>
              <a:latin typeface="Roboto"/>
              <a:ea typeface="Roboto"/>
              <a:cs typeface="Roboto"/>
              <a:sym typeface="Roboto"/>
            </a:endParaRPr>
          </a:p>
        </p:txBody>
      </p:sp>
      <p:sp>
        <p:nvSpPr>
          <p:cNvPr id="393" name="Google Shape;393;g15dab58096a_0_548"/>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id="398" name="Google Shape;398;g15dab58096a_0_556"/>
          <p:cNvSpPr txBox="1"/>
          <p:nvPr/>
        </p:nvSpPr>
        <p:spPr>
          <a:xfrm>
            <a:off x="342900" y="1009649"/>
            <a:ext cx="8472300" cy="3078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399" name="Google Shape;399;g15dab58096a_0_556"/>
          <p:cNvSpPr txBox="1"/>
          <p:nvPr/>
        </p:nvSpPr>
        <p:spPr>
          <a:xfrm>
            <a:off x="1079500" y="1439875"/>
            <a:ext cx="7380000" cy="34572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Given the cost price of the articles = Rs. 450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To get overall 20% gain,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Total Selling Price = (20/100) x 450 = 540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One third of the CP = 1/3 x 450 = Rs. 150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But given 1/3 of articles are sold at 10% loss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S.P of 1/3 of articles = 90% of 150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90 x 150/100 = 135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 Then, S.P on remaining 2/3 goods must be = 450 - 135 = 405 ...........(1)</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CP on remaining goods = 2/3 x 450 = 300 ............(2)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GB" sz="1400" u="none" cap="none" strike="noStrike">
                <a:solidFill>
                  <a:srgbClr val="000000"/>
                </a:solidFill>
                <a:latin typeface="Roboto"/>
                <a:ea typeface="Roboto"/>
                <a:cs typeface="Roboto"/>
                <a:sym typeface="Roboto"/>
              </a:rPr>
              <a:t>Profit = SP - CP = 405 - 300 = 105</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latin typeface="Roboto"/>
                <a:ea typeface="Roboto"/>
                <a:cs typeface="Roboto"/>
                <a:sym typeface="Roboto"/>
              </a:rPr>
              <a:t>Profit %  = (105/300) x 100</a:t>
            </a:r>
            <a:endParaRPr b="0" i="0" sz="1400" u="none" cap="none" strike="noStrike">
              <a:solidFill>
                <a:srgbClr val="000000"/>
              </a:solidFill>
              <a:latin typeface="Roboto"/>
              <a:ea typeface="Roboto"/>
              <a:cs typeface="Roboto"/>
              <a:sym typeface="Roboto"/>
            </a:endParaRPr>
          </a:p>
        </p:txBody>
      </p:sp>
      <p:sp>
        <p:nvSpPr>
          <p:cNvPr id="400" name="Google Shape;400;g15dab58096a_0_556"/>
          <p:cNvSpPr txBox="1"/>
          <p:nvPr/>
        </p:nvSpPr>
        <p:spPr>
          <a:xfrm>
            <a:off x="978425" y="8298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9"/>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406" name="Google Shape;406;p9"/>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407" name="Google Shape;407;p9"/>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413" name="Google Shape;413;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414" name="Google Shape;414;p10"/>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415" name="Google Shape;415;p10"/>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416" name="Google Shape;416;p10"/>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417" name="Google Shape;417;p10"/>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18" name="Google Shape;418;p10"/>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19" name="Google Shape;419;p10"/>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20" name="Google Shape;420;p10"/>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21" name="Google Shape;421;p10"/>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22" name="Google Shape;422;p10"/>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23" name="Google Shape;423;p10"/>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dc:creator>
</cp:coreProperties>
</file>