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Black"/>
      <p:bold r:id="rId44"/>
      <p:boldItalic r:id="rId45"/>
    </p:embeddedFont>
    <p:embeddedFont>
      <p:font typeface="Roboto"/>
      <p:regular r:id="rId46"/>
      <p:bold r:id="rId47"/>
      <p:italic r:id="rId48"/>
      <p:boldItalic r:id="rId49"/>
    </p:embeddedFont>
    <p:embeddedFont>
      <p:font typeface="Roboto Medium"/>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3005">
          <p15:clr>
            <a:srgbClr val="FF0000"/>
          </p15:clr>
        </p15:guide>
        <p15:guide id="3" pos="5256">
          <p15:clr>
            <a:srgbClr val="FF00FF"/>
          </p15:clr>
        </p15:guide>
        <p15:guide id="4" orient="horz" pos="907">
          <p15:clr>
            <a:srgbClr val="FF0000"/>
          </p15:clr>
        </p15:guide>
        <p15:guide id="5" orient="horz" pos="737">
          <p15:clr>
            <a:srgbClr val="00FF00"/>
          </p15:clr>
        </p15:guide>
        <p15:guide id="6" orient="horz" pos="397">
          <p15:clr>
            <a:srgbClr val="00FF00"/>
          </p15:clr>
        </p15:guide>
        <p15:guide id="7" pos="4529">
          <p15:clr>
            <a:srgbClr val="747775"/>
          </p15:clr>
        </p15:guide>
        <p15:guide id="8" orient="horz" pos="1304">
          <p15:clr>
            <a:srgbClr val="747775"/>
          </p15:clr>
        </p15:guide>
        <p15:guide id="9" pos="850">
          <p15:clr>
            <a:srgbClr val="747775"/>
          </p15:clr>
        </p15:guide>
      </p15:sldGuideLst>
    </p:ext>
    <p:ext uri="GoogleSlidesCustomDataVersion2">
      <go:slidesCustomData xmlns:go="http://customooxmlschemas.google.com/" r:id="rId54" roundtripDataSignature="AMtx7miwULcKLe4cB//HNG2LofNiF9G+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3005" orient="horz"/>
        <p:guide pos="5256"/>
        <p:guide pos="907" orient="horz"/>
        <p:guide pos="737" orient="horz"/>
        <p:guide pos="397" orient="horz"/>
        <p:guide pos="4529"/>
        <p:guide pos="1304" orient="horz"/>
        <p:guide pos="85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lack-bold.fntdata"/><Relationship Id="rId43" Type="http://schemas.openxmlformats.org/officeDocument/2006/relationships/slide" Target="slides/slide38.xml"/><Relationship Id="rId46" Type="http://schemas.openxmlformats.org/officeDocument/2006/relationships/font" Target="fonts/Roboto-regular.fntdata"/><Relationship Id="rId45" Type="http://schemas.openxmlformats.org/officeDocument/2006/relationships/font" Target="fonts/RobotoBlac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bold.fntdata"/><Relationship Id="rId50" Type="http://schemas.openxmlformats.org/officeDocument/2006/relationships/font" Target="fonts/RobotoMedium-regular.fntdata"/><Relationship Id="rId53" Type="http://schemas.openxmlformats.org/officeDocument/2006/relationships/font" Target="fonts/RobotoMedium-boldItalic.fntdata"/><Relationship Id="rId52" Type="http://schemas.openxmlformats.org/officeDocument/2006/relationships/font" Target="fonts/RobotoMedium-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b9bf173e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31b9bf173e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e15abed17_3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2ee15abed17_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4bc4217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24bc4217c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ecf70bd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1ecf70bd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ecf70bd7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1ecf70bd7e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ecf70bd7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31ecf70bd7e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ecf70bd7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1ecf70bd7e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ee15abed17_3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2ee15abed17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ee15abed17_3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2ee15abed17_3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ee15abed17_3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ee15abed17_3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ee15abed17_3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ee15abed17_3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e15abed17_3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ee15abed17_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ee15abed17_3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ee15abed17_3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b9bf173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1b9bf173e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e15abed17_3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ee15abed17_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e15abed17_3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ee15abed17_3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e15abed17_3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2ee15abed17_3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e15abed17_3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ee15abed17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e15abed17_3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ee15abed17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e15abed17_3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2ee15abed17_3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ee15abed17_3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ee15abed17_3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ee15abed17_3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2ee15abed17_3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ee15abed17_3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2ee15abed17_3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ee15abed17_3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2ee15abed17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ee15abed17_3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2ee15abed17_3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ee15abed17_3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2ee15abed17_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ee15abed17_3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2ee15abed17_3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ee15abed17_3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2ee15abed17_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ee15abed17_3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ee15abed17_3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ee15abed17_3_4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2ee15abed17_3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ee15abed17_3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2ee15abed17_3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ee15abed17_3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2ee15abed17_3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ee15abed17_3_4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2ee15abed17_3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ee15abed17_3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2ee15abed17_3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ee15abed17_3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2ee15abed17_3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ee15abed17_3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2ee15abed17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ee15abed17_3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2ee15abed17_3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ee15abed17_3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2ee15abed17_3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5" name="Google Shape;15;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 name="Google Shape;18;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 name="Google Shape;19;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1" name="Google Shape;4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jpg"/><Relationship Id="rId4"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BLOOD RELATIONS</a:t>
            </a:r>
            <a:endParaRPr b="1" i="0" sz="2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24bc4217ca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0" name="Google Shape;70;g324bc4217ca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800" u="none" cap="none" strike="noStrike">
                <a:solidFill>
                  <a:srgbClr val="000000"/>
                </a:solidFill>
                <a:latin typeface="Roboto"/>
                <a:ea typeface="Roboto"/>
                <a:cs typeface="Roboto"/>
                <a:sym typeface="Roboto"/>
              </a:rPr>
              <a:t>                                    Test time on : Articles </a:t>
            </a:r>
            <a:endParaRPr b="1" i="0" sz="1800" u="none" cap="none" strike="noStrike">
              <a:solidFill>
                <a:srgbClr val="000000"/>
              </a:solidFill>
              <a:latin typeface="Roboto"/>
              <a:ea typeface="Roboto"/>
              <a:cs typeface="Roboto"/>
              <a:sym typeface="Roboto"/>
            </a:endParaRPr>
          </a:p>
        </p:txBody>
      </p:sp>
      <p:sp>
        <p:nvSpPr>
          <p:cNvPr id="71" name="Google Shape;71;g324bc4217ca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2" name="Google Shape;72;g324bc4217ca_0_0"/>
          <p:cNvPicPr preferRelativeResize="0"/>
          <p:nvPr/>
        </p:nvPicPr>
        <p:blipFill rotWithShape="1">
          <a:blip r:embed="rId3">
            <a:alphaModFix/>
          </a:blip>
          <a:srcRect b="0" l="0" r="0" t="0"/>
          <a:stretch/>
        </p:blipFill>
        <p:spPr>
          <a:xfrm>
            <a:off x="3117513" y="1406413"/>
            <a:ext cx="3095625" cy="3038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descr="blood 1.jpg" id="77" name="Google Shape;77;g31ecf70bd7e_0_0"/>
          <p:cNvPicPr preferRelativeResize="0"/>
          <p:nvPr/>
        </p:nvPicPr>
        <p:blipFill rotWithShape="1">
          <a:blip r:embed="rId3">
            <a:alphaModFix/>
          </a:blip>
          <a:srcRect b="0" l="0" r="0" t="0"/>
          <a:stretch/>
        </p:blipFill>
        <p:spPr>
          <a:xfrm>
            <a:off x="630250" y="630250"/>
            <a:ext cx="7407101" cy="39945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1ecf70bd7e_0_4"/>
          <p:cNvSpPr txBox="1"/>
          <p:nvPr/>
        </p:nvSpPr>
        <p:spPr>
          <a:xfrm>
            <a:off x="630000" y="630250"/>
            <a:ext cx="373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Concept of Blood Relation</a:t>
            </a:r>
            <a:endParaRPr b="1" i="0" sz="2000" u="none" cap="none" strike="noStrike">
              <a:solidFill>
                <a:srgbClr val="8182EF"/>
              </a:solidFill>
              <a:latin typeface="Roboto"/>
              <a:ea typeface="Roboto"/>
              <a:cs typeface="Roboto"/>
              <a:sym typeface="Roboto"/>
            </a:endParaRPr>
          </a:p>
        </p:txBody>
      </p:sp>
      <p:sp>
        <p:nvSpPr>
          <p:cNvPr id="83" name="Google Shape;83;g31ecf70bd7e_0_4"/>
          <p:cNvSpPr txBox="1"/>
          <p:nvPr/>
        </p:nvSpPr>
        <p:spPr>
          <a:xfrm>
            <a:off x="509025" y="1122850"/>
            <a:ext cx="7348200" cy="37866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000000"/>
              </a:buClr>
              <a:buSzPts val="1800"/>
              <a:buFont typeface="Arial"/>
              <a:buNone/>
            </a:pPr>
            <a:r>
              <a:rPr b="1" i="0" lang="en-GB" sz="1800" u="none" cap="none" strike="noStrike">
                <a:solidFill>
                  <a:schemeClr val="dk1"/>
                </a:solidFill>
                <a:latin typeface="Roboto"/>
                <a:ea typeface="Roboto"/>
                <a:cs typeface="Roboto"/>
                <a:sym typeface="Roboto"/>
              </a:rPr>
              <a:t>1. Relations of Paternal side:</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Father's father → Grandfather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Father's mother → Grandmother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Father's brother → Uncle</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Father's sister → Aunt</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Children of uncle → Cousin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Wife of uncle → Aunt</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Children of aunt → Cousin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Husband of aunt → Uncle</a:t>
            </a:r>
            <a:endParaRPr b="0" i="0" sz="1400" u="none" cap="none" strike="noStrike">
              <a:solidFill>
                <a:srgbClr val="000000"/>
              </a:solidFill>
              <a:latin typeface="Roboto"/>
              <a:ea typeface="Roboto"/>
              <a:cs typeface="Roboto"/>
              <a:sym typeface="Roboto"/>
            </a:endParaRPr>
          </a:p>
        </p:txBody>
      </p:sp>
      <p:pic>
        <p:nvPicPr>
          <p:cNvPr descr="0-6730_big-family-clipart-clipart-family.png" id="84" name="Google Shape;84;g31ecf70bd7e_0_4"/>
          <p:cNvPicPr preferRelativeResize="0"/>
          <p:nvPr/>
        </p:nvPicPr>
        <p:blipFill rotWithShape="1">
          <a:blip r:embed="rId3">
            <a:alphaModFix/>
          </a:blip>
          <a:srcRect b="0" l="0" r="0" t="0"/>
          <a:stretch/>
        </p:blipFill>
        <p:spPr>
          <a:xfrm>
            <a:off x="4365900" y="1170000"/>
            <a:ext cx="3978349" cy="360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1ecf70bd7e_0_11"/>
          <p:cNvSpPr txBox="1"/>
          <p:nvPr/>
        </p:nvSpPr>
        <p:spPr>
          <a:xfrm>
            <a:off x="630000" y="630250"/>
            <a:ext cx="373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Concept of Blood Relation</a:t>
            </a:r>
            <a:endParaRPr b="1" i="0" sz="2000" u="none" cap="none" strike="noStrike">
              <a:solidFill>
                <a:srgbClr val="8182EF"/>
              </a:solidFill>
              <a:latin typeface="Roboto"/>
              <a:ea typeface="Roboto"/>
              <a:cs typeface="Roboto"/>
              <a:sym typeface="Roboto"/>
            </a:endParaRPr>
          </a:p>
        </p:txBody>
      </p:sp>
      <p:sp>
        <p:nvSpPr>
          <p:cNvPr id="90" name="Google Shape;90;g31ecf70bd7e_0_11"/>
          <p:cNvSpPr txBox="1"/>
          <p:nvPr/>
        </p:nvSpPr>
        <p:spPr>
          <a:xfrm>
            <a:off x="526350" y="1094100"/>
            <a:ext cx="7417500" cy="2955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50000"/>
              </a:lnSpc>
              <a:spcBef>
                <a:spcPts val="0"/>
              </a:spcBef>
              <a:spcAft>
                <a:spcPts val="0"/>
              </a:spcAft>
              <a:buClr>
                <a:srgbClr val="000000"/>
              </a:buClr>
              <a:buSzPts val="1800"/>
              <a:buFont typeface="Arial"/>
              <a:buNone/>
            </a:pPr>
            <a:r>
              <a:rPr b="1" i="0" lang="en-GB" sz="1800" u="none" cap="none" strike="noStrike">
                <a:solidFill>
                  <a:schemeClr val="dk1"/>
                </a:solidFill>
                <a:latin typeface="Roboto"/>
                <a:ea typeface="Roboto"/>
                <a:cs typeface="Roboto"/>
                <a:sym typeface="Roboto"/>
              </a:rPr>
              <a:t>2. Relations of Maternal side:</a:t>
            </a:r>
            <a:endParaRPr b="0" i="0" sz="1800" u="none" cap="none" strike="noStrike">
              <a:solidFill>
                <a:schemeClr val="dk1"/>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Mother's father → Maternal grandfather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Mother's mother → Maternal grandmother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Mother's brother Maternal uncle</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Mother's sister → Aunt</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Children of maternal uncle → Cousin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Roboto"/>
                <a:ea typeface="Roboto"/>
                <a:cs typeface="Roboto"/>
                <a:sym typeface="Roboto"/>
              </a:rPr>
              <a:t>Wife of maternal uncle → Maternal aunt</a:t>
            </a:r>
            <a:endParaRPr b="0" i="0" sz="1800" u="none" cap="none" strike="noStrike">
              <a:solidFill>
                <a:schemeClr val="dk2"/>
              </a:solidFill>
              <a:latin typeface="Roboto"/>
              <a:ea typeface="Roboto"/>
              <a:cs typeface="Roboto"/>
              <a:sym typeface="Roboto"/>
            </a:endParaRPr>
          </a:p>
        </p:txBody>
      </p:sp>
      <p:pic>
        <p:nvPicPr>
          <p:cNvPr descr="maxresdefault.jpg" id="91" name="Google Shape;91;g31ecf70bd7e_0_11"/>
          <p:cNvPicPr preferRelativeResize="0"/>
          <p:nvPr/>
        </p:nvPicPr>
        <p:blipFill rotWithShape="1">
          <a:blip r:embed="rId3">
            <a:alphaModFix/>
          </a:blip>
          <a:srcRect b="8408" l="0" r="0" t="0"/>
          <a:stretch/>
        </p:blipFill>
        <p:spPr>
          <a:xfrm>
            <a:off x="5179850" y="1094100"/>
            <a:ext cx="3164400" cy="284107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1ecf70bd7e_0_18"/>
          <p:cNvSpPr txBox="1"/>
          <p:nvPr/>
        </p:nvSpPr>
        <p:spPr>
          <a:xfrm>
            <a:off x="630000" y="630250"/>
            <a:ext cx="373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Concept of Blood Relation</a:t>
            </a:r>
            <a:endParaRPr b="1" i="0" sz="2000" u="none" cap="none" strike="noStrike">
              <a:solidFill>
                <a:srgbClr val="8182EF"/>
              </a:solidFill>
              <a:latin typeface="Roboto"/>
              <a:ea typeface="Roboto"/>
              <a:cs typeface="Roboto"/>
              <a:sym typeface="Roboto"/>
            </a:endParaRPr>
          </a:p>
        </p:txBody>
      </p:sp>
      <p:pic>
        <p:nvPicPr>
          <p:cNvPr descr="Blood-Relation-Flow-Chart.png" id="97" name="Google Shape;97;g31ecf70bd7e_0_18"/>
          <p:cNvPicPr preferRelativeResize="0"/>
          <p:nvPr/>
        </p:nvPicPr>
        <p:blipFill rotWithShape="1">
          <a:blip r:embed="rId3">
            <a:alphaModFix/>
          </a:blip>
          <a:srcRect b="0" l="0" r="0" t="0"/>
          <a:stretch/>
        </p:blipFill>
        <p:spPr>
          <a:xfrm>
            <a:off x="630000" y="1439875"/>
            <a:ext cx="7714251" cy="3330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2ee15abed17_3_283"/>
          <p:cNvSpPr txBox="1"/>
          <p:nvPr/>
        </p:nvSpPr>
        <p:spPr>
          <a:xfrm>
            <a:off x="720000" y="1440000"/>
            <a:ext cx="7650000" cy="2704200"/>
          </a:xfrm>
          <a:prstGeom prst="rect">
            <a:avLst/>
          </a:prstGeom>
          <a:noFill/>
          <a:ln cap="flat" cmpd="sng" w="9525">
            <a:solidFill>
              <a:schemeClr val="lt1"/>
            </a:solidFill>
            <a:prstDash val="solid"/>
            <a:round/>
            <a:headEnd len="sm" w="sm" type="none"/>
            <a:tailEnd len="sm" w="sm" type="none"/>
          </a:ln>
        </p:spPr>
        <p:txBody>
          <a:bodyPr anchorCtr="0" anchor="t" bIns="0" lIns="540000" spcFirstLastPara="1" rIns="15420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Pointing to an old man, Kailas said, "His son is my son's uncle." How is the old man related to Kailas?</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Uncle</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Grandfather</a:t>
            </a:r>
            <a:endParaRPr b="0" i="0" sz="1800" u="none" cap="none" strike="noStrike">
              <a:solidFill>
                <a:schemeClr val="dk2"/>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4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g2ee15abed17_3_283"/>
          <p:cNvSpPr txBox="1"/>
          <p:nvPr/>
        </p:nvSpPr>
        <p:spPr>
          <a:xfrm>
            <a:off x="720000" y="579950"/>
            <a:ext cx="2351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t/>
            </a:r>
            <a:endParaRPr b="0" i="0" sz="2100" u="none" cap="none" strike="noStrike">
              <a:solidFill>
                <a:srgbClr val="6D9EEB"/>
              </a:solidFill>
              <a:latin typeface="Roboto Black"/>
              <a:ea typeface="Roboto Black"/>
              <a:cs typeface="Roboto Black"/>
              <a:sym typeface="Roboto Black"/>
            </a:endParaRPr>
          </a:p>
        </p:txBody>
      </p:sp>
      <p:sp>
        <p:nvSpPr>
          <p:cNvPr id="104" name="Google Shape;104;g2ee15abed17_3_2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105" name="Google Shape;105;g2ee15abed17_3_283"/>
          <p:cNvSpPr txBox="1"/>
          <p:nvPr/>
        </p:nvSpPr>
        <p:spPr>
          <a:xfrm>
            <a:off x="7157600" y="4324350"/>
            <a:ext cx="1211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C</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10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animEffect filter="fade" transition="in">
                                      <p:cBhvr>
                                        <p:cTn dur="1000"/>
                                        <p:tgtEl>
                                          <p:spTgt spid="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animEffect filter="fade" transition="in">
                                      <p:cBhvr>
                                        <p:cTn dur="1000"/>
                                        <p:tgtEl>
                                          <p:spTgt spid="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animEffect filter="fade" transition="in">
                                      <p:cBhvr>
                                        <p:cTn dur="1000"/>
                                        <p:tgtEl>
                                          <p:spTgt spid="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animEffect filter="fade" transition="in">
                                      <p:cBhvr>
                                        <p:cTn dur="1000"/>
                                        <p:tgtEl>
                                          <p:spTgt spid="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animEffect filter="fade" transition="in">
                                      <p:cBhvr>
                                        <p:cTn dur="1000"/>
                                        <p:tgtEl>
                                          <p:spTgt spid="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ee15abed17_3_288"/>
          <p:cNvSpPr txBox="1"/>
          <p:nvPr/>
        </p:nvSpPr>
        <p:spPr>
          <a:xfrm>
            <a:off x="-34425" y="502200"/>
            <a:ext cx="4457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a:t>
            </a:r>
            <a:r>
              <a:rPr b="1" i="0" lang="en-GB" sz="2000" u="none" cap="none" strike="noStrike">
                <a:solidFill>
                  <a:schemeClr val="lt1"/>
                </a:solidFill>
                <a:latin typeface="Roboto"/>
                <a:ea typeface="Roboto"/>
                <a:cs typeface="Roboto"/>
                <a:sym typeface="Roboto"/>
              </a:rPr>
              <a:t> CLOCKS</a:t>
            </a:r>
            <a:endParaRPr b="1" i="0" sz="2000" u="none" cap="none" strike="noStrike">
              <a:solidFill>
                <a:schemeClr val="lt1"/>
              </a:solidFill>
              <a:latin typeface="Roboto"/>
              <a:ea typeface="Roboto"/>
              <a:cs typeface="Roboto"/>
              <a:sym typeface="Roboto"/>
            </a:endParaRPr>
          </a:p>
        </p:txBody>
      </p:sp>
      <p:sp>
        <p:nvSpPr>
          <p:cNvPr id="111" name="Google Shape;111;g2ee15abed17_3_288"/>
          <p:cNvSpPr txBox="1"/>
          <p:nvPr/>
        </p:nvSpPr>
        <p:spPr>
          <a:xfrm>
            <a:off x="711775" y="1439875"/>
            <a:ext cx="7657500" cy="2475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Kailas's son's uncle - Kailas's brother. So, the old man's son is Kailas's brother i.e., the old man is Kailas's father.</a:t>
            </a:r>
            <a:endParaRPr b="0" i="0" sz="1800" u="none" cap="none" strike="noStrike">
              <a:solidFill>
                <a:schemeClr val="dk1"/>
              </a:solidFill>
              <a:latin typeface="Roboto"/>
              <a:ea typeface="Roboto"/>
              <a:cs typeface="Roboto"/>
              <a:sym typeface="Roboto"/>
            </a:endParaRPr>
          </a:p>
        </p:txBody>
      </p:sp>
      <p:sp>
        <p:nvSpPr>
          <p:cNvPr id="112" name="Google Shape;112;g2ee15abed17_3_288"/>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animEffect filter="fade" transition="in">
                                      <p:cBhvr>
                                        <p:cTn dur="1000"/>
                                        <p:tgtEl>
                                          <p:spTgt spid="11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ee15abed17_3_293"/>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Pointing to a man in a photograph. Asha said. "His mother's only daughter is my mother." How is Asha related to that man ? </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Nephew</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Sister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Wife</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Niece</a:t>
            </a:r>
            <a:endParaRPr b="0" i="0" sz="1800" u="none" cap="none" strike="noStrike">
              <a:solidFill>
                <a:schemeClr val="dk1"/>
              </a:solidFill>
              <a:latin typeface="Roboto"/>
              <a:ea typeface="Roboto"/>
              <a:cs typeface="Roboto"/>
              <a:sym typeface="Roboto"/>
            </a:endParaRPr>
          </a:p>
        </p:txBody>
      </p:sp>
      <p:sp>
        <p:nvSpPr>
          <p:cNvPr id="118" name="Google Shape;118;g2ee15abed17_3_29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0" i="0" sz="1400" u="none" cap="none" strike="noStrike">
              <a:solidFill>
                <a:srgbClr val="000000"/>
              </a:solidFill>
              <a:latin typeface="Arial"/>
              <a:ea typeface="Arial"/>
              <a:cs typeface="Arial"/>
              <a:sym typeface="Arial"/>
            </a:endParaRPr>
          </a:p>
        </p:txBody>
      </p:sp>
      <p:sp>
        <p:nvSpPr>
          <p:cNvPr id="119" name="Google Shape;119;g2ee15abed17_3_293"/>
          <p:cNvSpPr txBox="1"/>
          <p:nvPr/>
        </p:nvSpPr>
        <p:spPr>
          <a:xfrm>
            <a:off x="7139600" y="4324350"/>
            <a:ext cx="1229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Effect filter="fade" transition="in">
                                      <p:cBhvr>
                                        <p:cTn dur="1000"/>
                                        <p:tgtEl>
                                          <p:spTgt spid="1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Effect filter="fade" transition="in">
                                      <p:cBhvr>
                                        <p:cTn dur="1000"/>
                                        <p:tgtEl>
                                          <p:spTgt spid="1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Effect filter="fade" transition="in">
                                      <p:cBhvr>
                                        <p:cTn dur="1000"/>
                                        <p:tgtEl>
                                          <p:spTgt spid="1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animEffect filter="fade" transition="in">
                                      <p:cBhvr>
                                        <p:cTn dur="1000"/>
                                        <p:tgtEl>
                                          <p:spTgt spid="1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animEffect filter="fade" transition="in">
                                      <p:cBhvr>
                                        <p:cTn dur="1000"/>
                                        <p:tgtEl>
                                          <p:spTgt spid="1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ee15abed17_3_2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125" name="Google Shape;125;g2ee15abed17_3_297"/>
          <p:cNvSpPr txBox="1"/>
          <p:nvPr/>
        </p:nvSpPr>
        <p:spPr>
          <a:xfrm>
            <a:off x="630000" y="1439875"/>
            <a:ext cx="76671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Asha's mother's mother is man's mother i.e.. Asha's mother is man's sister or Asita is</a:t>
            </a:r>
            <a:r>
              <a:rPr b="0" i="0" lang="en-GB" sz="1800" u="none" cap="none" strike="noStrike">
                <a:solidFill>
                  <a:schemeClr val="dk2"/>
                </a:solidFill>
                <a:latin typeface="Roboto"/>
                <a:ea typeface="Roboto"/>
                <a:cs typeface="Roboto"/>
                <a:sym typeface="Roboto"/>
              </a:rPr>
              <a:t> </a:t>
            </a:r>
            <a:r>
              <a:rPr b="0" i="0" lang="en-GB" sz="1800" u="none" cap="none" strike="noStrike">
                <a:solidFill>
                  <a:schemeClr val="dk1"/>
                </a:solidFill>
                <a:latin typeface="Roboto"/>
                <a:ea typeface="Roboto"/>
                <a:cs typeface="Roboto"/>
                <a:sym typeface="Roboto"/>
              </a:rPr>
              <a:t>man's niece.</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g2ee15abed17_3_30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31" name="Google Shape;131;g2ee15abed17_3_301"/>
          <p:cNvSpPr txBox="1"/>
          <p:nvPr/>
        </p:nvSpPr>
        <p:spPr>
          <a:xfrm>
            <a:off x="720000" y="1439875"/>
            <a:ext cx="76494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sp>
        <p:nvSpPr>
          <p:cNvPr id="132" name="Google Shape;132;g2ee15abed17_3_301"/>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Pointing to a person, a man said to a woman, "His mother is the only daughter of your father." How was the woman related to the person?</a:t>
            </a:r>
            <a:endParaRPr b="0" i="0" sz="1800" u="none" cap="none" strike="noStrike">
              <a:solidFill>
                <a:schemeClr val="dk2"/>
              </a:solidFill>
              <a:latin typeface="Roboto"/>
              <a:ea typeface="Roboto"/>
              <a:cs typeface="Roboto"/>
              <a:sym typeface="Roboto"/>
            </a:endParaRPr>
          </a:p>
          <a:p>
            <a:pPr indent="-114300" lvl="0" marL="269999"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Aunt</a:t>
            </a:r>
            <a:endParaRPr b="0" i="0" sz="1800" u="none" cap="none" strike="noStrike">
              <a:solidFill>
                <a:schemeClr val="dk2"/>
              </a:solidFill>
              <a:latin typeface="Roboto"/>
              <a:ea typeface="Roboto"/>
              <a:cs typeface="Roboto"/>
              <a:sym typeface="Roboto"/>
            </a:endParaRPr>
          </a:p>
          <a:p>
            <a:pPr indent="-114300" lvl="0" marL="269999"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Mother</a:t>
            </a:r>
            <a:endParaRPr b="0" i="0" sz="1800" u="none" cap="none" strike="noStrike">
              <a:solidFill>
                <a:schemeClr val="dk2"/>
              </a:solidFill>
              <a:latin typeface="Roboto"/>
              <a:ea typeface="Roboto"/>
              <a:cs typeface="Roboto"/>
              <a:sym typeface="Roboto"/>
            </a:endParaRPr>
          </a:p>
          <a:p>
            <a:pPr indent="-114300" lvl="0" marL="269999"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Wife</a:t>
            </a:r>
            <a:endParaRPr b="0" i="0" sz="1800" u="none" cap="none" strike="noStrike">
              <a:solidFill>
                <a:schemeClr val="dk2"/>
              </a:solidFill>
              <a:latin typeface="Roboto"/>
              <a:ea typeface="Roboto"/>
              <a:cs typeface="Roboto"/>
              <a:sym typeface="Roboto"/>
            </a:endParaRPr>
          </a:p>
          <a:p>
            <a:pPr indent="-114300" lvl="0" marL="269999"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Daughter</a:t>
            </a:r>
            <a:endParaRPr b="0" i="0" sz="1800" u="none" cap="none" strike="noStrike">
              <a:solidFill>
                <a:schemeClr val="dk1"/>
              </a:solidFill>
              <a:latin typeface="Roboto"/>
              <a:ea typeface="Roboto"/>
              <a:cs typeface="Roboto"/>
              <a:sym typeface="Roboto"/>
            </a:endParaRPr>
          </a:p>
        </p:txBody>
      </p:sp>
      <p:sp>
        <p:nvSpPr>
          <p:cNvPr id="133" name="Google Shape;133;g2ee15abed17_3_301"/>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34" name="Google Shape;134;g2ee15abed17_3_301"/>
          <p:cNvSpPr txBox="1"/>
          <p:nvPr/>
        </p:nvSpPr>
        <p:spPr>
          <a:xfrm>
            <a:off x="7189450" y="432435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B</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ee15abed17_3_306"/>
          <p:cNvSpPr txBox="1"/>
          <p:nvPr/>
        </p:nvSpPr>
        <p:spPr>
          <a:xfrm>
            <a:off x="327600" y="338142"/>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40" name="Google Shape;140;g2ee15abed17_3_306"/>
          <p:cNvSpPr txBox="1"/>
          <p:nvPr/>
        </p:nvSpPr>
        <p:spPr>
          <a:xfrm>
            <a:off x="720000" y="1440000"/>
            <a:ext cx="7384200" cy="326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Daughter of your father - Your sister.</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So, the person's mother is woman's sister or the woman is person's aunt</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800" u="none" cap="none" strike="noStrike">
              <a:solidFill>
                <a:schemeClr val="dk1"/>
              </a:solidFill>
              <a:highlight>
                <a:srgbClr val="FFFFFF"/>
              </a:highlight>
              <a:latin typeface="Roboto"/>
              <a:ea typeface="Roboto"/>
              <a:cs typeface="Roboto"/>
              <a:sym typeface="Roboto"/>
            </a:endParaRPr>
          </a:p>
        </p:txBody>
      </p:sp>
      <p:sp>
        <p:nvSpPr>
          <p:cNvPr id="141" name="Google Shape;141;g2ee15abed17_3_30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animEffect filter="fade" transition="in">
                                      <p:cBhvr>
                                        <p:cTn dur="1000"/>
                                        <p:tgtEl>
                                          <p:spTgt spid="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animEffect filter="fade" transition="in">
                                      <p:cBhvr>
                                        <p:cTn dur="1000"/>
                                        <p:tgtEl>
                                          <p:spTgt spid="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animEffect filter="fade" transition="in">
                                      <p:cBhvr>
                                        <p:cTn dur="1000"/>
                                        <p:tgtEl>
                                          <p:spTgt spid="14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1b9bf173ee_0_17"/>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47" name="Google Shape;147;g31b9bf173ee_0_17"/>
          <p:cNvSpPr txBox="1"/>
          <p:nvPr/>
        </p:nvSpPr>
        <p:spPr>
          <a:xfrm>
            <a:off x="630000" y="1354400"/>
            <a:ext cx="77394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Deepak said to Nitin, "That boy playing with the football is the younger of the two brothers of the daughter of my father's wife." How is the boy playing football related to Deepak?</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Son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Cousin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Nephew</a:t>
            </a:r>
            <a:endParaRPr b="0" i="0" sz="1800" u="none" cap="none" strike="noStrike">
              <a:solidFill>
                <a:schemeClr val="dk1"/>
              </a:solidFill>
              <a:latin typeface="Roboto"/>
              <a:ea typeface="Roboto"/>
              <a:cs typeface="Roboto"/>
              <a:sym typeface="Roboto"/>
            </a:endParaRPr>
          </a:p>
        </p:txBody>
      </p:sp>
      <p:sp>
        <p:nvSpPr>
          <p:cNvPr id="148" name="Google Shape;148;g31b9bf173ee_0_17"/>
          <p:cNvSpPr txBox="1"/>
          <p:nvPr/>
        </p:nvSpPr>
        <p:spPr>
          <a:xfrm>
            <a:off x="7189500" y="423000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B</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g2ee15abed17_3_313"/>
          <p:cNvSpPr txBox="1"/>
          <p:nvPr/>
        </p:nvSpPr>
        <p:spPr>
          <a:xfrm>
            <a:off x="720000" y="1439875"/>
            <a:ext cx="76494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Father's wife - Mother; Mother's daughter - Sister; Sister's younger brother - My younger brother. So, the boy is Deepak's brother..</a:t>
            </a:r>
            <a:endParaRPr b="0" i="0" sz="1400" u="none" cap="none" strike="noStrike">
              <a:solidFill>
                <a:schemeClr val="dk1"/>
              </a:solidFill>
              <a:highlight>
                <a:srgbClr val="FFFFFF"/>
              </a:highlight>
              <a:latin typeface="Roboto"/>
              <a:ea typeface="Roboto"/>
              <a:cs typeface="Roboto"/>
              <a:sym typeface="Roboto"/>
            </a:endParaRPr>
          </a:p>
        </p:txBody>
      </p:sp>
      <p:sp>
        <p:nvSpPr>
          <p:cNvPr id="154" name="Google Shape;154;g2ee15abed17_3_31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ee15abed17_3_318"/>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16</a:t>
            </a:r>
            <a:endParaRPr b="0" i="0" sz="2000" u="none" cap="none" strike="noStrike">
              <a:solidFill>
                <a:schemeClr val="lt1"/>
              </a:solidFill>
              <a:latin typeface="Roboto"/>
              <a:ea typeface="Roboto"/>
              <a:cs typeface="Roboto"/>
              <a:sym typeface="Roboto"/>
            </a:endParaRPr>
          </a:p>
        </p:txBody>
      </p:sp>
      <p:sp>
        <p:nvSpPr>
          <p:cNvPr id="160" name="Google Shape;160;g2ee15abed17_3_318"/>
          <p:cNvSpPr txBox="1"/>
          <p:nvPr/>
        </p:nvSpPr>
        <p:spPr>
          <a:xfrm>
            <a:off x="720000" y="144000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Pointing out to a lady, a girl said, "She is the daughter-in-law of the grandmother</a:t>
            </a:r>
            <a:r>
              <a:rPr b="0" i="0" lang="en-GB" sz="1800" u="none" cap="none" strike="noStrike">
                <a:solidFill>
                  <a:schemeClr val="dk2"/>
                </a:solidFill>
                <a:latin typeface="Roboto"/>
                <a:ea typeface="Roboto"/>
                <a:cs typeface="Roboto"/>
                <a:sym typeface="Roboto"/>
              </a:rPr>
              <a:t> </a:t>
            </a:r>
            <a:r>
              <a:rPr b="0" i="0" lang="en-GB" sz="1800" u="none" cap="none" strike="noStrike">
                <a:solidFill>
                  <a:schemeClr val="dk1"/>
                </a:solidFill>
                <a:latin typeface="Roboto"/>
                <a:ea typeface="Roboto"/>
                <a:cs typeface="Roboto"/>
                <a:sym typeface="Roboto"/>
              </a:rPr>
              <a:t>of my father's only son." How is the lady related to the girl ?</a:t>
            </a:r>
            <a:endParaRPr b="0" i="0" sz="1800" u="none" cap="none" strike="noStrike">
              <a:solidFill>
                <a:schemeClr val="dk2"/>
              </a:solidFill>
              <a:latin typeface="Roboto"/>
              <a:ea typeface="Roboto"/>
              <a:cs typeface="Roboto"/>
              <a:sym typeface="Roboto"/>
            </a:endParaRPr>
          </a:p>
          <a:p>
            <a:pPr indent="-342900" lvl="0" marL="4500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Sister-in-law</a:t>
            </a:r>
            <a:endParaRPr b="0" i="0" sz="1800" u="none" cap="none" strike="noStrike">
              <a:solidFill>
                <a:schemeClr val="dk2"/>
              </a:solidFill>
              <a:latin typeface="Roboto"/>
              <a:ea typeface="Roboto"/>
              <a:cs typeface="Roboto"/>
              <a:sym typeface="Roboto"/>
            </a:endParaRPr>
          </a:p>
          <a:p>
            <a:pPr indent="-342900" lvl="0" marL="4500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Mother</a:t>
            </a:r>
            <a:endParaRPr b="0" i="0" sz="1800" u="none" cap="none" strike="noStrike">
              <a:solidFill>
                <a:schemeClr val="dk2"/>
              </a:solidFill>
              <a:latin typeface="Roboto"/>
              <a:ea typeface="Roboto"/>
              <a:cs typeface="Roboto"/>
              <a:sym typeface="Roboto"/>
            </a:endParaRPr>
          </a:p>
          <a:p>
            <a:pPr indent="-342900" lvl="0" marL="4500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Aunt</a:t>
            </a:r>
            <a:endParaRPr b="0" i="0" sz="1800" u="none" cap="none" strike="noStrike">
              <a:solidFill>
                <a:schemeClr val="dk2"/>
              </a:solidFill>
              <a:latin typeface="Roboto"/>
              <a:ea typeface="Roboto"/>
              <a:cs typeface="Roboto"/>
              <a:sym typeface="Roboto"/>
            </a:endParaRPr>
          </a:p>
          <a:p>
            <a:pPr indent="-342900" lvl="0" marL="4500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Can't be determined</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p:txBody>
      </p:sp>
      <p:sp>
        <p:nvSpPr>
          <p:cNvPr id="161" name="Google Shape;161;g2ee15abed17_3_3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B</a:t>
            </a:r>
            <a:endParaRPr b="1" i="0" sz="1600" u="none" cap="none" strike="noStrike">
              <a:solidFill>
                <a:srgbClr val="000000"/>
              </a:solidFill>
              <a:latin typeface="Roboto"/>
              <a:ea typeface="Roboto"/>
              <a:cs typeface="Roboto"/>
              <a:sym typeface="Roboto"/>
            </a:endParaRPr>
          </a:p>
        </p:txBody>
      </p:sp>
      <p:sp>
        <p:nvSpPr>
          <p:cNvPr id="162" name="Google Shape;162;g2ee15abed17_3_3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Effect filter="fade" transition="in">
                                      <p:cBhvr>
                                        <p:cTn dur="1000"/>
                                        <p:tgtEl>
                                          <p:spTgt spid="1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animEffect filter="fade" transition="in">
                                      <p:cBhvr>
                                        <p:cTn dur="1000"/>
                                        <p:tgtEl>
                                          <p:spTgt spid="1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animEffect filter="fade" transition="in">
                                      <p:cBhvr>
                                        <p:cTn dur="1000"/>
                                        <p:tgtEl>
                                          <p:spTgt spid="1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animEffect filter="fade" transition="in">
                                      <p:cBhvr>
                                        <p:cTn dur="1000"/>
                                        <p:tgtEl>
                                          <p:spTgt spid="1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animEffect filter="fade" transition="in">
                                      <p:cBhvr>
                                        <p:cTn dur="1000"/>
                                        <p:tgtEl>
                                          <p:spTgt spid="1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animEffect filter="fade" transition="in">
                                      <p:cBhvr>
                                        <p:cTn dur="1000"/>
                                        <p:tgtEl>
                                          <p:spTgt spid="1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 name="Shape 166"/>
        <p:cNvGrpSpPr/>
        <p:nvPr/>
      </p:nvGrpSpPr>
      <p:grpSpPr>
        <a:xfrm>
          <a:off x="0" y="0"/>
          <a:ext cx="0" cy="0"/>
          <a:chOff x="0" y="0"/>
          <a:chExt cx="0" cy="0"/>
        </a:xfrm>
      </p:grpSpPr>
      <p:sp>
        <p:nvSpPr>
          <p:cNvPr id="167" name="Google Shape;167;g2ee15abed17_3_325"/>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168" name="Google Shape;168;g2ee15abed17_3_32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Girls's father's only son— Girl's brother. Daughter in law of girl’s grandmother can be their mother, or maternal uncle’s wife, i.e. aunt. So relation cannot be determined.</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333333"/>
              </a:solidFill>
              <a:highlight>
                <a:schemeClr val="lt1"/>
              </a:highlight>
              <a:latin typeface="Roboto"/>
              <a:ea typeface="Roboto"/>
              <a:cs typeface="Roboto"/>
              <a:sym typeface="Roboto"/>
            </a:endParaRPr>
          </a:p>
        </p:txBody>
      </p:sp>
      <p:sp>
        <p:nvSpPr>
          <p:cNvPr id="169" name="Google Shape;169;g2ee15abed17_3_3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170" name="Google Shape;170;g2ee15abed17_3_32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10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Effect filter="fade" transition="in">
                                      <p:cBhvr>
                                        <p:cTn dur="1000"/>
                                        <p:tgtEl>
                                          <p:spTgt spid="1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animEffect filter="fade" transition="in">
                                      <p:cBhvr>
                                        <p:cTn dur="1000"/>
                                        <p:tgtEl>
                                          <p:spTgt spid="1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animEffect filter="fade" transition="in">
                                      <p:cBhvr>
                                        <p:cTn dur="1000"/>
                                        <p:tgtEl>
                                          <p:spTgt spid="1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1000"/>
                                        <p:tgtEl>
                                          <p:spTgt spid="16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ee15abed17_3_332"/>
          <p:cNvSpPr txBox="1"/>
          <p:nvPr/>
        </p:nvSpPr>
        <p:spPr>
          <a:xfrm>
            <a:off x="327600" y="386576"/>
            <a:ext cx="2827800" cy="4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76" name="Google Shape;176;g2ee15abed17_3_332"/>
          <p:cNvSpPr txBox="1"/>
          <p:nvPr/>
        </p:nvSpPr>
        <p:spPr>
          <a:xfrm>
            <a:off x="720000" y="14242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Pointing to a girl in the photograph, Amar said, "Her mother's brother is the only son of my mother's father." How is the girl's mother related to Amar ? </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Mother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Sister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Aunt</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Grandmother</a:t>
            </a:r>
            <a:endParaRPr b="0" i="0" sz="16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77" name="Google Shape;177;g2ee15abed17_3_33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a:t>
            </a:r>
            <a:endParaRPr b="1" i="0" sz="1600" u="none" cap="none" strike="noStrike">
              <a:solidFill>
                <a:srgbClr val="000000"/>
              </a:solidFill>
              <a:latin typeface="Roboto"/>
              <a:ea typeface="Roboto"/>
              <a:cs typeface="Roboto"/>
              <a:sym typeface="Roboto"/>
            </a:endParaRPr>
          </a:p>
        </p:txBody>
      </p:sp>
      <p:sp>
        <p:nvSpPr>
          <p:cNvPr id="178" name="Google Shape;178;g2ee15abed17_3_33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1000"/>
                                        <p:tgtEl>
                                          <p:spTgt spid="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Effect filter="fade" transition="in">
                                      <p:cBhvr>
                                        <p:cTn dur="1000"/>
                                        <p:tgtEl>
                                          <p:spTgt spid="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animEffect filter="fade" transition="in">
                                      <p:cBhvr>
                                        <p:cTn dur="1000"/>
                                        <p:tgtEl>
                                          <p:spTgt spid="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animEffect filter="fade" transition="in">
                                      <p:cBhvr>
                                        <p:cTn dur="1000"/>
                                        <p:tgtEl>
                                          <p:spTgt spid="1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animEffect filter="fade" transition="in">
                                      <p:cBhvr>
                                        <p:cTn dur="1000"/>
                                        <p:tgtEl>
                                          <p:spTgt spid="1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animEffect filter="fade" transition="in">
                                      <p:cBhvr>
                                        <p:cTn dur="1000"/>
                                        <p:tgtEl>
                                          <p:spTgt spid="1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Effect filter="fade" transition="in">
                                      <p:cBhvr>
                                        <p:cTn dur="1000"/>
                                        <p:tgtEl>
                                          <p:spTgt spid="17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g2ee15abed17_3_339"/>
          <p:cNvSpPr txBox="1"/>
          <p:nvPr/>
        </p:nvSpPr>
        <p:spPr>
          <a:xfrm>
            <a:off x="720000" y="1440000"/>
            <a:ext cx="70281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Only son of Amir's mother's father — Amir's maternal uncle. </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So, the girl's maternal uncle is Arnar's maternal uncle. Thus, the girl's mother is Amir's aunt.</a:t>
            </a:r>
            <a:endParaRPr b="0" i="0" sz="1800" u="none" cap="none" strike="noStrike">
              <a:solidFill>
                <a:schemeClr val="dk1"/>
              </a:solidFill>
              <a:latin typeface="Roboto"/>
              <a:ea typeface="Roboto"/>
              <a:cs typeface="Roboto"/>
              <a:sym typeface="Roboto"/>
            </a:endParaRPr>
          </a:p>
        </p:txBody>
      </p:sp>
      <p:sp>
        <p:nvSpPr>
          <p:cNvPr id="184" name="Google Shape;184;g2ee15abed17_3_33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ee15abed17_3_344"/>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Amit said, "This girl is the wife of the grandson of my mother". How is Amit related to the girl?</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Grandfather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Father-in-law</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Husband</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90" name="Google Shape;190;g2ee15abed17_3_34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Answer:C</a:t>
            </a:r>
            <a:endParaRPr b="1" i="0" sz="1700" u="none" cap="none" strike="noStrike">
              <a:solidFill>
                <a:srgbClr val="000000"/>
              </a:solidFill>
              <a:latin typeface="Roboto"/>
              <a:ea typeface="Roboto"/>
              <a:cs typeface="Roboto"/>
              <a:sym typeface="Roboto"/>
            </a:endParaRPr>
          </a:p>
        </p:txBody>
      </p:sp>
      <p:sp>
        <p:nvSpPr>
          <p:cNvPr id="191" name="Google Shape;191;g2ee15abed17_3_344"/>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animEffect filter="fade" transition="in">
                                      <p:cBhvr>
                                        <p:cTn dur="1000"/>
                                        <p:tgtEl>
                                          <p:spTgt spid="1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animEffect filter="fade" transition="in">
                                      <p:cBhvr>
                                        <p:cTn dur="1000"/>
                                        <p:tgtEl>
                                          <p:spTgt spid="1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animEffect filter="fade" transition="in">
                                      <p:cBhvr>
                                        <p:cTn dur="1000"/>
                                        <p:tgtEl>
                                          <p:spTgt spid="1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animEffect filter="fade" transition="in">
                                      <p:cBhvr>
                                        <p:cTn dur="1000"/>
                                        <p:tgtEl>
                                          <p:spTgt spid="1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animEffect filter="fade" transition="in">
                                      <p:cBhvr>
                                        <p:cTn dur="1000"/>
                                        <p:tgtEl>
                                          <p:spTgt spid="1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5" st="5"/>
                                            </p:txEl>
                                          </p:spTgt>
                                        </p:tgtEl>
                                        <p:attrNameLst>
                                          <p:attrName>style.visibility</p:attrName>
                                        </p:attrNameLst>
                                      </p:cBhvr>
                                      <p:to>
                                        <p:strVal val="visible"/>
                                      </p:to>
                                    </p:set>
                                    <p:animEffect filter="fade" transition="in">
                                      <p:cBhvr>
                                        <p:cTn dur="1000"/>
                                        <p:tgtEl>
                                          <p:spTgt spid="1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g2ee15abed17_3_350"/>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The girl is the wife of grandson of Amit’s mother i.e., the girl is the wife of the son of Amit. Hence, Amit is the father-in-law of the girl.</a:t>
            </a:r>
            <a:endParaRPr b="0" i="0" sz="1800" u="none" cap="none" strike="noStrike">
              <a:solidFill>
                <a:schemeClr val="dk1"/>
              </a:solidFill>
              <a:latin typeface="Roboto"/>
              <a:ea typeface="Roboto"/>
              <a:cs typeface="Roboto"/>
              <a:sym typeface="Roboto"/>
            </a:endParaRPr>
          </a:p>
        </p:txBody>
      </p:sp>
      <p:sp>
        <p:nvSpPr>
          <p:cNvPr id="197" name="Google Shape;197;g2ee15abed17_3_350"/>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ee15abed17_3_356"/>
          <p:cNvSpPr txBox="1"/>
          <p:nvPr/>
        </p:nvSpPr>
        <p:spPr>
          <a:xfrm>
            <a:off x="327600" y="402400"/>
            <a:ext cx="28278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203" name="Google Shape;203;g2ee15abed17_3_356"/>
          <p:cNvSpPr txBox="1"/>
          <p:nvPr/>
        </p:nvSpPr>
        <p:spPr>
          <a:xfrm>
            <a:off x="720000" y="1440000"/>
            <a:ext cx="75441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Introducing Salma, Aamir says, "She is the wife of only nephew of only brother of my mother." How is Salma is related to Aamir?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Wife</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Sister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Sister-in-law</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Data inadequate</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05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04" name="Google Shape;204;g2ee15abed17_3_356"/>
          <p:cNvSpPr txBox="1"/>
          <p:nvPr/>
        </p:nvSpPr>
        <p:spPr>
          <a:xfrm>
            <a:off x="7189500" y="4171350"/>
            <a:ext cx="16254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a:t>
            </a:r>
            <a:endParaRPr b="1" i="0" sz="1600" u="none" cap="none" strike="noStrike">
              <a:solidFill>
                <a:srgbClr val="000000"/>
              </a:solidFill>
              <a:latin typeface="Roboto"/>
              <a:ea typeface="Roboto"/>
              <a:cs typeface="Roboto"/>
              <a:sym typeface="Roboto"/>
            </a:endParaRPr>
          </a:p>
        </p:txBody>
      </p:sp>
      <p:sp>
        <p:nvSpPr>
          <p:cNvPr id="205" name="Google Shape;205;g2ee15abed17_3_35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10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10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10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10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1000"/>
                                        <p:tgtEl>
                                          <p:spTgt spid="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animEffect filter="fade" transition="in">
                                      <p:cBhvr>
                                        <p:cTn dur="1000"/>
                                        <p:tgtEl>
                                          <p:spTgt spid="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animEffect filter="fade" transition="in">
                                      <p:cBhvr>
                                        <p:cTn dur="1000"/>
                                        <p:tgtEl>
                                          <p:spTgt spid="2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9" name="Shape 209"/>
        <p:cNvGrpSpPr/>
        <p:nvPr/>
      </p:nvGrpSpPr>
      <p:grpSpPr>
        <a:xfrm>
          <a:off x="0" y="0"/>
          <a:ext cx="0" cy="0"/>
          <a:chOff x="0" y="0"/>
          <a:chExt cx="0" cy="0"/>
        </a:xfrm>
      </p:grpSpPr>
      <p:sp>
        <p:nvSpPr>
          <p:cNvPr id="210" name="Google Shape;210;g2ee15abed17_3_363"/>
          <p:cNvSpPr txBox="1"/>
          <p:nvPr/>
        </p:nvSpPr>
        <p:spPr>
          <a:xfrm>
            <a:off x="720000" y="1439875"/>
            <a:ext cx="7265400" cy="279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Brother of mother means maternal uncle. Hence only nephew of Aamir’s maternal uncle means Aamir himself. Therefore Salma is the wife of Aamir.</a:t>
            </a:r>
            <a:endParaRPr b="0" i="0" sz="1800" u="none" cap="none" strike="noStrike">
              <a:solidFill>
                <a:schemeClr val="dk1"/>
              </a:solidFill>
              <a:latin typeface="Roboto"/>
              <a:ea typeface="Roboto"/>
              <a:cs typeface="Roboto"/>
              <a:sym typeface="Roboto"/>
            </a:endParaRPr>
          </a:p>
        </p:txBody>
      </p:sp>
      <p:sp>
        <p:nvSpPr>
          <p:cNvPr id="211" name="Google Shape;211;g2ee15abed17_3_36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2ee15abed17_3_369"/>
          <p:cNvSpPr txBox="1"/>
          <p:nvPr/>
        </p:nvSpPr>
        <p:spPr>
          <a:xfrm>
            <a:off x="327600" y="396716"/>
            <a:ext cx="2827800" cy="43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217" name="Google Shape;217;g2ee15abed17_3_369"/>
          <p:cNvSpPr txBox="1"/>
          <p:nvPr/>
        </p:nvSpPr>
        <p:spPr>
          <a:xfrm>
            <a:off x="746400" y="1439875"/>
            <a:ext cx="7862400" cy="357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A lady pointing to a man in a photograph says, "The sister of the son of this man</a:t>
            </a:r>
            <a:r>
              <a:rPr b="0" i="0" lang="en-GB" sz="1800" u="none" cap="none" strike="noStrike">
                <a:solidFill>
                  <a:schemeClr val="dk2"/>
                </a:solidFill>
                <a:latin typeface="Roboto"/>
                <a:ea typeface="Roboto"/>
                <a:cs typeface="Roboto"/>
                <a:sym typeface="Roboto"/>
              </a:rPr>
              <a:t> </a:t>
            </a:r>
            <a:r>
              <a:rPr b="0" i="0" lang="en-GB" sz="1800" u="none" cap="none" strike="noStrike">
                <a:solidFill>
                  <a:schemeClr val="dk1"/>
                </a:solidFill>
                <a:latin typeface="Roboto"/>
                <a:ea typeface="Roboto"/>
                <a:cs typeface="Roboto"/>
                <a:sym typeface="Roboto"/>
              </a:rPr>
              <a:t>is my mother-in-law." How is the husband of the lady related to the man in the photograph?</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Son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Maternal Grandson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Maternal Grandfather</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18" name="Google Shape;218;g2ee15abed17_3_36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19" name="Google Shape;219;g2ee15abed17_3_36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10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10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10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10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1000"/>
                                        <p:tgtEl>
                                          <p:spTgt spid="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Effect filter="fade" transition="in">
                                      <p:cBhvr>
                                        <p:cTn dur="1000"/>
                                        <p:tgtEl>
                                          <p:spTgt spid="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1000"/>
                                        <p:tgtEl>
                                          <p:spTgt spid="21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g2ee15abed17_3_376"/>
          <p:cNvSpPr txBox="1"/>
          <p:nvPr/>
        </p:nvSpPr>
        <p:spPr>
          <a:xfrm>
            <a:off x="327600" y="7781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25" name="Google Shape;225;g2ee15abed17_3_376"/>
          <p:cNvSpPr txBox="1"/>
          <p:nvPr/>
        </p:nvSpPr>
        <p:spPr>
          <a:xfrm>
            <a:off x="1066875" y="1640550"/>
            <a:ext cx="72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26" name="Google Shape;226;g2ee15abed17_3_376"/>
          <p:cNvSpPr txBox="1"/>
          <p:nvPr/>
        </p:nvSpPr>
        <p:spPr>
          <a:xfrm>
            <a:off x="630000" y="1354400"/>
            <a:ext cx="7474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lang="en-GB" sz="1800">
                <a:solidFill>
                  <a:srgbClr val="001D35"/>
                </a:solidFill>
                <a:highlight>
                  <a:srgbClr val="FFFFFF"/>
                </a:highlight>
              </a:rPr>
              <a:t>A "maternal grandfather" is the father of a person's mother, making a "maternal grandson" the son of that person's daughter, and therefore, the "son" would be the father of the "maternal grandson" in this family dynamic. </a:t>
            </a:r>
            <a:endParaRPr sz="1800">
              <a:solidFill>
                <a:srgbClr val="001D35"/>
              </a:solidFill>
              <a:highlight>
                <a:srgbClr val="FFFFFF"/>
              </a:highlight>
            </a:endParaRPr>
          </a:p>
          <a:p>
            <a:pPr indent="0" lvl="0" marL="0" marR="0" rtl="0" algn="l">
              <a:lnSpc>
                <a:spcPct val="150000"/>
              </a:lnSpc>
              <a:spcBef>
                <a:spcPts val="0"/>
              </a:spcBef>
              <a:spcAft>
                <a:spcPts val="0"/>
              </a:spcAft>
              <a:buClr>
                <a:schemeClr val="dk1"/>
              </a:buClr>
              <a:buSzPts val="1800"/>
              <a:buFont typeface="Arial"/>
              <a:buNone/>
            </a:pPr>
            <a:r>
              <a:rPr lang="en-GB" sz="1800">
                <a:solidFill>
                  <a:srgbClr val="001D35"/>
                </a:solidFill>
                <a:highlight>
                  <a:srgbClr val="FFFFFF"/>
                </a:highlight>
              </a:rPr>
              <a:t>ANS : grand son</a:t>
            </a:r>
            <a:endParaRPr sz="1800">
              <a:solidFill>
                <a:srgbClr val="001D35"/>
              </a:solidFill>
              <a:highlight>
                <a:srgbClr val="FFFFFF"/>
              </a:highlight>
            </a:endParaRPr>
          </a:p>
        </p:txBody>
      </p:sp>
      <p:sp>
        <p:nvSpPr>
          <p:cNvPr id="227" name="Google Shape;227;g2ee15abed17_3_37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ee15abed17_3_38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Muthu said, “This girl is the wife of the grandson of my mother who has only one</a:t>
            </a:r>
            <a:r>
              <a:rPr b="0" i="0" lang="en-GB" sz="1800" u="none" cap="none" strike="noStrike">
                <a:solidFill>
                  <a:schemeClr val="dk2"/>
                </a:solidFill>
                <a:latin typeface="Roboto"/>
                <a:ea typeface="Roboto"/>
                <a:cs typeface="Roboto"/>
                <a:sym typeface="Roboto"/>
              </a:rPr>
              <a:t> </a:t>
            </a:r>
            <a:r>
              <a:rPr b="0" i="0" lang="en-GB" sz="1800" u="none" cap="none" strike="noStrike">
                <a:solidFill>
                  <a:schemeClr val="dk1"/>
                </a:solidFill>
                <a:latin typeface="Roboto"/>
                <a:ea typeface="Roboto"/>
                <a:cs typeface="Roboto"/>
                <a:sym typeface="Roboto"/>
              </a:rPr>
              <a:t>son.” Who is Muthu to the girl?</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Grandfather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Husband</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Father-in-law</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33" name="Google Shape;233;g2ee15abed17_3_38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234" name="Google Shape;234;g2ee15abed17_3_3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1000"/>
                                        <p:tgtEl>
                                          <p:spTgt spid="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animEffect filter="fade" transition="in">
                                      <p:cBhvr>
                                        <p:cTn dur="1000"/>
                                        <p:tgtEl>
                                          <p:spTgt spid="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animEffect filter="fade" transition="in">
                                      <p:cBhvr>
                                        <p:cTn dur="1000"/>
                                        <p:tgtEl>
                                          <p:spTgt spid="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animEffect filter="fade" transition="in">
                                      <p:cBhvr>
                                        <p:cTn dur="1000"/>
                                        <p:tgtEl>
                                          <p:spTgt spid="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animEffect filter="fade" transition="in">
                                      <p:cBhvr>
                                        <p:cTn dur="1000"/>
                                        <p:tgtEl>
                                          <p:spTgt spid="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5" st="5"/>
                                            </p:txEl>
                                          </p:spTgt>
                                        </p:tgtEl>
                                        <p:attrNameLst>
                                          <p:attrName>style.visibility</p:attrName>
                                        </p:attrNameLst>
                                      </p:cBhvr>
                                      <p:to>
                                        <p:strVal val="visible"/>
                                      </p:to>
                                    </p:set>
                                    <p:animEffect filter="fade" transition="in">
                                      <p:cBhvr>
                                        <p:cTn dur="1000"/>
                                        <p:tgtEl>
                                          <p:spTgt spid="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Effect filter="fade" transition="in">
                                      <p:cBhvr>
                                        <p:cTn dur="1000"/>
                                        <p:tgtEl>
                                          <p:spTgt spid="23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pic>
        <p:nvPicPr>
          <p:cNvPr id="239" name="Google Shape;239;g2ee15abed17_3_389"/>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40" name="Google Shape;240;g2ee15abed17_3_389"/>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41" name="Google Shape;241;g2ee15abed17_3_389"/>
          <p:cNvSpPr txBox="1"/>
          <p:nvPr/>
        </p:nvSpPr>
        <p:spPr>
          <a:xfrm>
            <a:off x="327600" y="8427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42" name="Google Shape;242;g2ee15abed17_3_38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
        <p:nvSpPr>
          <p:cNvPr id="243" name="Google Shape;243;g2ee15abed17_3_389"/>
          <p:cNvSpPr txBox="1"/>
          <p:nvPr/>
        </p:nvSpPr>
        <p:spPr>
          <a:xfrm>
            <a:off x="630000" y="1354400"/>
            <a:ext cx="7474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FATHER IN LAW IS MUTHU TO THAT GIRL</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ee15abed17_3_39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700" u="none" cap="none" strike="noStrike">
                <a:solidFill>
                  <a:srgbClr val="000000"/>
                </a:solidFill>
                <a:latin typeface="Roboto"/>
                <a:ea typeface="Roboto"/>
                <a:cs typeface="Roboto"/>
                <a:sym typeface="Roboto"/>
              </a:rPr>
              <a:t>A</a:t>
            </a:r>
            <a:r>
              <a:rPr b="1" i="0" lang="en-GB" sz="1600" u="none" cap="none" strike="noStrike">
                <a:solidFill>
                  <a:srgbClr val="000000"/>
                </a:solidFill>
                <a:latin typeface="Roboto"/>
                <a:ea typeface="Roboto"/>
                <a:cs typeface="Roboto"/>
                <a:sym typeface="Roboto"/>
              </a:rPr>
              <a:t>nswer: D</a:t>
            </a:r>
            <a:endParaRPr b="1" i="0" sz="1600" u="none" cap="none" strike="noStrike">
              <a:solidFill>
                <a:srgbClr val="000000"/>
              </a:solidFill>
              <a:latin typeface="Roboto"/>
              <a:ea typeface="Roboto"/>
              <a:cs typeface="Roboto"/>
              <a:sym typeface="Roboto"/>
            </a:endParaRPr>
          </a:p>
        </p:txBody>
      </p:sp>
      <p:sp>
        <p:nvSpPr>
          <p:cNvPr id="249" name="Google Shape;249;g2ee15abed17_3_3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250" name="Google Shape;250;g2ee15abed17_3_397"/>
          <p:cNvSpPr txBox="1"/>
          <p:nvPr/>
        </p:nvSpPr>
        <p:spPr>
          <a:xfrm>
            <a:off x="630000" y="1354400"/>
            <a:ext cx="73380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B is father of Q. B has only two children. Q is the brother of R. R is the daughter of P. A is the granddaughter of P. S is the father of A. How is S related to Q?</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Son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Son-in-law</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Brother-in-law</a:t>
            </a:r>
            <a:endParaRPr b="0" i="0" sz="18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pic>
        <p:nvPicPr>
          <p:cNvPr id="255" name="Google Shape;255;g2ee15abed17_3_403"/>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56" name="Google Shape;256;g2ee15abed17_3_403"/>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57" name="Google Shape;257;g2ee15abed17_3_403"/>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58" name="Google Shape;258;g2ee15abed17_3_403"/>
          <p:cNvSpPr txBox="1"/>
          <p:nvPr/>
        </p:nvSpPr>
        <p:spPr>
          <a:xfrm>
            <a:off x="630000" y="1439875"/>
            <a:ext cx="6995400" cy="7752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2"/>
              </a:buClr>
              <a:buSzPts val="1800"/>
              <a:buFont typeface="Roboto"/>
              <a:buChar char="●"/>
            </a:pPr>
            <a:r>
              <a:rPr b="0" i="0" lang="en-GB" sz="1800" u="none" cap="none" strike="noStrike">
                <a:solidFill>
                  <a:schemeClr val="dk1"/>
                </a:solidFill>
                <a:latin typeface="Roboto"/>
                <a:ea typeface="Roboto"/>
                <a:cs typeface="Roboto"/>
                <a:sym typeface="Roboto"/>
              </a:rPr>
              <a:t>Correct Option: D</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259" name="Google Shape;259;g2ee15abed17_3_40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ee15abed17_3_411"/>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65" name="Google Shape;265;g2ee15abed17_3_411"/>
          <p:cNvSpPr txBox="1"/>
          <p:nvPr/>
        </p:nvSpPr>
        <p:spPr>
          <a:xfrm>
            <a:off x="720000" y="1439875"/>
            <a:ext cx="7650000" cy="3130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Showing the man receiving the prize Seema said, “He is the brother of </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my uncle’s daughter”. What is the man to Seema?</a:t>
            </a:r>
            <a:endParaRPr b="0" i="0" sz="1800" u="none" cap="none" strike="noStrike">
              <a:solidFill>
                <a:schemeClr val="dk2"/>
              </a:solidFill>
              <a:latin typeface="Roboto"/>
              <a:ea typeface="Roboto"/>
              <a:cs typeface="Roboto"/>
              <a:sym typeface="Roboto"/>
            </a:endParaRPr>
          </a:p>
          <a:p>
            <a:pPr indent="-457200" lvl="0" marL="5715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Son</a:t>
            </a:r>
            <a:endParaRPr b="0" i="0" sz="1800" u="none" cap="none" strike="noStrike">
              <a:solidFill>
                <a:schemeClr val="dk2"/>
              </a:solidFill>
              <a:latin typeface="Roboto"/>
              <a:ea typeface="Roboto"/>
              <a:cs typeface="Roboto"/>
              <a:sym typeface="Roboto"/>
            </a:endParaRPr>
          </a:p>
          <a:p>
            <a:pPr indent="-457200" lvl="0" marL="5715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Brother-in-law</a:t>
            </a:r>
            <a:endParaRPr b="0" i="0" sz="1800" u="none" cap="none" strike="noStrike">
              <a:solidFill>
                <a:schemeClr val="dk2"/>
              </a:solidFill>
              <a:latin typeface="Roboto"/>
              <a:ea typeface="Roboto"/>
              <a:cs typeface="Roboto"/>
              <a:sym typeface="Roboto"/>
            </a:endParaRPr>
          </a:p>
          <a:p>
            <a:pPr indent="-457200" lvl="0" marL="5715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Nephew</a:t>
            </a:r>
            <a:endParaRPr b="0" i="0" sz="1800" u="none" cap="none" strike="noStrike">
              <a:solidFill>
                <a:schemeClr val="dk2"/>
              </a:solidFill>
              <a:latin typeface="Roboto"/>
              <a:ea typeface="Roboto"/>
              <a:cs typeface="Roboto"/>
              <a:sym typeface="Roboto"/>
            </a:endParaRPr>
          </a:p>
          <a:p>
            <a:pPr indent="-457200" lvl="0" marL="5715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Cousin</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p:txBody>
      </p:sp>
      <p:sp>
        <p:nvSpPr>
          <p:cNvPr id="266" name="Google Shape;266;g2ee15abed17_3_4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a:t>
            </a:r>
            <a:endParaRPr b="1" i="0" sz="1600" u="none" cap="none" strike="noStrike">
              <a:solidFill>
                <a:srgbClr val="000000"/>
              </a:solidFill>
              <a:latin typeface="Roboto"/>
              <a:ea typeface="Roboto"/>
              <a:cs typeface="Roboto"/>
              <a:sym typeface="Roboto"/>
            </a:endParaRPr>
          </a:p>
        </p:txBody>
      </p:sp>
      <p:sp>
        <p:nvSpPr>
          <p:cNvPr id="267" name="Google Shape;267;g2ee15abed17_3_411"/>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10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Effect filter="fade" transition="in">
                                      <p:cBhvr>
                                        <p:cTn dur="1000"/>
                                        <p:tgtEl>
                                          <p:spTgt spid="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Effect filter="fade" transition="in">
                                      <p:cBhvr>
                                        <p:cTn dur="1000"/>
                                        <p:tgtEl>
                                          <p:spTgt spid="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Effect filter="fade" transition="in">
                                      <p:cBhvr>
                                        <p:cTn dur="1000"/>
                                        <p:tgtEl>
                                          <p:spTgt spid="2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animEffect filter="fade" transition="in">
                                      <p:cBhvr>
                                        <p:cTn dur="1000"/>
                                        <p:tgtEl>
                                          <p:spTgt spid="2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5" st="5"/>
                                            </p:txEl>
                                          </p:spTgt>
                                        </p:tgtEl>
                                        <p:attrNameLst>
                                          <p:attrName>style.visibility</p:attrName>
                                        </p:attrNameLst>
                                      </p:cBhvr>
                                      <p:to>
                                        <p:strVal val="visible"/>
                                      </p:to>
                                    </p:set>
                                    <p:animEffect filter="fade" transition="in">
                                      <p:cBhvr>
                                        <p:cTn dur="1000"/>
                                        <p:tgtEl>
                                          <p:spTgt spid="2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6" st="6"/>
                                            </p:txEl>
                                          </p:spTgt>
                                        </p:tgtEl>
                                        <p:attrNameLst>
                                          <p:attrName>style.visibility</p:attrName>
                                        </p:attrNameLst>
                                      </p:cBhvr>
                                      <p:to>
                                        <p:strVal val="visible"/>
                                      </p:to>
                                    </p:set>
                                    <p:animEffect filter="fade" transition="in">
                                      <p:cBhvr>
                                        <p:cTn dur="1000"/>
                                        <p:tgtEl>
                                          <p:spTgt spid="2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1000"/>
                                        <p:tgtEl>
                                          <p:spTgt spid="26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1" name="Shape 271"/>
        <p:cNvGrpSpPr/>
        <p:nvPr/>
      </p:nvGrpSpPr>
      <p:grpSpPr>
        <a:xfrm>
          <a:off x="0" y="0"/>
          <a:ext cx="0" cy="0"/>
          <a:chOff x="0" y="0"/>
          <a:chExt cx="0" cy="0"/>
        </a:xfrm>
      </p:grpSpPr>
      <p:pic>
        <p:nvPicPr>
          <p:cNvPr id="272" name="Google Shape;272;g2ee15abed17_3_418"/>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73" name="Google Shape;273;g2ee15abed17_3_418"/>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74" name="Google Shape;274;g2ee15abed17_3_418"/>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5" name="Google Shape;275;g2ee15abed17_3_418"/>
          <p:cNvSpPr txBox="1"/>
          <p:nvPr/>
        </p:nvSpPr>
        <p:spPr>
          <a:xfrm>
            <a:off x="630000" y="1354400"/>
            <a:ext cx="7303500" cy="1831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Brother of my uncle’s daughter is my uncle’s son, who is my cousin. i.e. The man</a:t>
            </a:r>
            <a:r>
              <a:rPr b="0" i="0" lang="en-GB" sz="1800" u="none" cap="none" strike="noStrike">
                <a:solidFill>
                  <a:schemeClr val="dk2"/>
                </a:solidFill>
                <a:latin typeface="Roboto"/>
                <a:ea typeface="Roboto"/>
                <a:cs typeface="Roboto"/>
                <a:sym typeface="Roboto"/>
              </a:rPr>
              <a:t> </a:t>
            </a:r>
            <a:r>
              <a:rPr b="0" i="0" lang="en-GB" sz="1800" u="none" cap="none" strike="noStrike">
                <a:solidFill>
                  <a:schemeClr val="dk1"/>
                </a:solidFill>
                <a:latin typeface="Roboto"/>
                <a:ea typeface="Roboto"/>
                <a:cs typeface="Roboto"/>
                <a:sym typeface="Roboto"/>
              </a:rPr>
              <a:t>is Seema’s cousin</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76" name="Google Shape;276;g2ee15abed17_3_4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2ee15abed17_3_426"/>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82" name="Google Shape;282;g2ee15abed17_3_426"/>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Pointing to a photograph, Vipul said, "She is the daughter of my grandfather’s only son". How is Vipul related to the girl in the photograph?</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Cousin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Data inadequate</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83" name="Google Shape;283;g2ee15abed17_3_42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a:t>
            </a:r>
            <a:endParaRPr b="1" i="0" sz="1600" u="none" cap="none" strike="noStrike">
              <a:solidFill>
                <a:srgbClr val="000000"/>
              </a:solidFill>
              <a:latin typeface="Roboto"/>
              <a:ea typeface="Roboto"/>
              <a:cs typeface="Roboto"/>
              <a:sym typeface="Roboto"/>
            </a:endParaRPr>
          </a:p>
        </p:txBody>
      </p:sp>
      <p:sp>
        <p:nvSpPr>
          <p:cNvPr id="284" name="Google Shape;284;g2ee15abed17_3_42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1000"/>
                                        <p:tgtEl>
                                          <p:spTgt spid="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1000"/>
                                        <p:tgtEl>
                                          <p:spTgt spid="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1000"/>
                                        <p:tgtEl>
                                          <p:spTgt spid="2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animEffect filter="fade" transition="in">
                                      <p:cBhvr>
                                        <p:cTn dur="1000"/>
                                        <p:tgtEl>
                                          <p:spTgt spid="2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animEffect filter="fade" transition="in">
                                      <p:cBhvr>
                                        <p:cTn dur="1000"/>
                                        <p:tgtEl>
                                          <p:spTgt spid="2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5" st="5"/>
                                            </p:txEl>
                                          </p:spTgt>
                                        </p:tgtEl>
                                        <p:attrNameLst>
                                          <p:attrName>style.visibility</p:attrName>
                                        </p:attrNameLst>
                                      </p:cBhvr>
                                      <p:to>
                                        <p:strVal val="visible"/>
                                      </p:to>
                                    </p:set>
                                    <p:animEffect filter="fade" transition="in">
                                      <p:cBhvr>
                                        <p:cTn dur="1000"/>
                                        <p:tgtEl>
                                          <p:spTgt spid="2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1000"/>
                                        <p:tgtEl>
                                          <p:spTgt spid="28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g2ee15abed17_3_433"/>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90" name="Google Shape;290;g2ee15abed17_3_43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My Grandfather’s only son is My Father.</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So the girl is the daughter of Vipul’s father. i.e. Vipul is the girl’s brother.</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91" name="Google Shape;291;g2ee15abed17_3_43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1000"/>
                                        <p:tgtEl>
                                          <p:spTgt spid="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animEffect filter="fade" transition="in">
                                      <p:cBhvr>
                                        <p:cTn dur="1000"/>
                                        <p:tgtEl>
                                          <p:spTgt spid="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animEffect filter="fade" transition="in">
                                      <p:cBhvr>
                                        <p:cTn dur="1000"/>
                                        <p:tgtEl>
                                          <p:spTgt spid="2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animEffect filter="fade" transition="in">
                                      <p:cBhvr>
                                        <p:cTn dur="1000"/>
                                        <p:tgtEl>
                                          <p:spTgt spid="29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2ee15abed17_3_440"/>
          <p:cNvSpPr txBox="1"/>
          <p:nvPr/>
        </p:nvSpPr>
        <p:spPr>
          <a:xfrm>
            <a:off x="350100" y="420585"/>
            <a:ext cx="2827800" cy="392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297" name="Google Shape;297;g2ee15abed17_3_440"/>
          <p:cNvSpPr txBox="1"/>
          <p:nvPr/>
        </p:nvSpPr>
        <p:spPr>
          <a:xfrm>
            <a:off x="720000" y="1440004"/>
            <a:ext cx="7384200" cy="2598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If  (A) P + Q means P is the brother of Q ;</a:t>
            </a:r>
            <a:br>
              <a:rPr b="0" i="0" lang="en-GB" sz="1800" u="none" cap="none" strike="noStrike">
                <a:solidFill>
                  <a:schemeClr val="dk1"/>
                </a:solidFill>
                <a:latin typeface="Roboto"/>
                <a:ea typeface="Roboto"/>
                <a:cs typeface="Roboto"/>
                <a:sym typeface="Roboto"/>
              </a:rPr>
            </a:br>
            <a:r>
              <a:rPr b="0" i="0" lang="en-GB" sz="1800" u="none" cap="none" strike="noStrike">
                <a:solidFill>
                  <a:schemeClr val="dk1"/>
                </a:solidFill>
                <a:latin typeface="Roboto"/>
                <a:ea typeface="Roboto"/>
                <a:cs typeface="Roboto"/>
                <a:sym typeface="Roboto"/>
              </a:rPr>
              <a:t>    (B) P x Q means P is the father of Q ;</a:t>
            </a:r>
            <a:br>
              <a:rPr b="0" i="0" lang="en-GB" sz="1800" u="none" cap="none" strike="noStrike">
                <a:solidFill>
                  <a:schemeClr val="dk1"/>
                </a:solidFill>
                <a:latin typeface="Roboto"/>
                <a:ea typeface="Roboto"/>
                <a:cs typeface="Roboto"/>
                <a:sym typeface="Roboto"/>
              </a:rPr>
            </a:br>
            <a:r>
              <a:rPr b="0" i="0" lang="en-GB" sz="1800" u="none" cap="none" strike="noStrike">
                <a:solidFill>
                  <a:schemeClr val="dk1"/>
                </a:solidFill>
                <a:latin typeface="Roboto"/>
                <a:ea typeface="Roboto"/>
                <a:cs typeface="Roboto"/>
                <a:sym typeface="Roboto"/>
              </a:rPr>
              <a:t>    (C) P - Q means P is the sister of Q ;</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which of the following represents S is the niece of T ?</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T x M + S – K</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K - S x M + T</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T + M x S – K</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T x S + M - K</a:t>
            </a:r>
            <a:endParaRPr b="0" i="0" sz="1800" u="none" cap="none" strike="noStrike">
              <a:solidFill>
                <a:schemeClr val="dk2"/>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98" name="Google Shape;298;g2ee15abed17_3_44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C </a:t>
            </a:r>
            <a:endParaRPr b="1" i="0" sz="1600" u="none" cap="none" strike="noStrike">
              <a:solidFill>
                <a:srgbClr val="000000"/>
              </a:solidFill>
              <a:latin typeface="Roboto"/>
              <a:ea typeface="Roboto"/>
              <a:cs typeface="Roboto"/>
              <a:sym typeface="Roboto"/>
            </a:endParaRPr>
          </a:p>
        </p:txBody>
      </p:sp>
      <p:sp>
        <p:nvSpPr>
          <p:cNvPr id="299" name="Google Shape;299;g2ee15abed17_3_44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animEffect filter="fade" transition="in">
                                      <p:cBhvr>
                                        <p:cTn dur="1000"/>
                                        <p:tgtEl>
                                          <p:spTgt spid="2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animEffect filter="fade" transition="in">
                                      <p:cBhvr>
                                        <p:cTn dur="1000"/>
                                        <p:tgtEl>
                                          <p:spTgt spid="2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animEffect filter="fade" transition="in">
                                      <p:cBhvr>
                                        <p:cTn dur="1000"/>
                                        <p:tgtEl>
                                          <p:spTgt spid="2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animEffect filter="fade" transition="in">
                                      <p:cBhvr>
                                        <p:cTn dur="1000"/>
                                        <p:tgtEl>
                                          <p:spTgt spid="2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4" st="4"/>
                                            </p:txEl>
                                          </p:spTgt>
                                        </p:tgtEl>
                                        <p:attrNameLst>
                                          <p:attrName>style.visibility</p:attrName>
                                        </p:attrNameLst>
                                      </p:cBhvr>
                                      <p:to>
                                        <p:strVal val="visible"/>
                                      </p:to>
                                    </p:set>
                                    <p:animEffect filter="fade" transition="in">
                                      <p:cBhvr>
                                        <p:cTn dur="1000"/>
                                        <p:tgtEl>
                                          <p:spTgt spid="2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5" st="5"/>
                                            </p:txEl>
                                          </p:spTgt>
                                        </p:tgtEl>
                                        <p:attrNameLst>
                                          <p:attrName>style.visibility</p:attrName>
                                        </p:attrNameLst>
                                      </p:cBhvr>
                                      <p:to>
                                        <p:strVal val="visible"/>
                                      </p:to>
                                    </p:set>
                                    <p:animEffect filter="fade" transition="in">
                                      <p:cBhvr>
                                        <p:cTn dur="1000"/>
                                        <p:tgtEl>
                                          <p:spTgt spid="2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6" st="6"/>
                                            </p:txEl>
                                          </p:spTgt>
                                        </p:tgtEl>
                                        <p:attrNameLst>
                                          <p:attrName>style.visibility</p:attrName>
                                        </p:attrNameLst>
                                      </p:cBhvr>
                                      <p:to>
                                        <p:strVal val="visible"/>
                                      </p:to>
                                    </p:set>
                                    <p:animEffect filter="fade" transition="in">
                                      <p:cBhvr>
                                        <p:cTn dur="1000"/>
                                        <p:tgtEl>
                                          <p:spTgt spid="29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7" st="7"/>
                                            </p:txEl>
                                          </p:spTgt>
                                        </p:tgtEl>
                                        <p:attrNameLst>
                                          <p:attrName>style.visibility</p:attrName>
                                        </p:attrNameLst>
                                      </p:cBhvr>
                                      <p:to>
                                        <p:strVal val="visible"/>
                                      </p:to>
                                    </p:set>
                                    <p:animEffect filter="fade" transition="in">
                                      <p:cBhvr>
                                        <p:cTn dur="1000"/>
                                        <p:tgtEl>
                                          <p:spTgt spid="29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xEl>
                                              <p:pRg end="8" st="8"/>
                                            </p:txEl>
                                          </p:spTgt>
                                        </p:tgtEl>
                                        <p:attrNameLst>
                                          <p:attrName>style.visibility</p:attrName>
                                        </p:attrNameLst>
                                      </p:cBhvr>
                                      <p:to>
                                        <p:strVal val="visible"/>
                                      </p:to>
                                    </p:set>
                                    <p:animEffect filter="fade" transition="in">
                                      <p:cBhvr>
                                        <p:cTn dur="1000"/>
                                        <p:tgtEl>
                                          <p:spTgt spid="29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animEffect filter="fade" transition="in">
                                      <p:cBhvr>
                                        <p:cTn dur="1000"/>
                                        <p:tgtEl>
                                          <p:spTgt spid="29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pic>
        <p:nvPicPr>
          <p:cNvPr id="304" name="Google Shape;304;g2ee15abed17_3_447"/>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305" name="Google Shape;305;g2ee15abed17_3_447"/>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06" name="Google Shape;306;g2ee15abed17_3_447"/>
          <p:cNvSpPr txBox="1"/>
          <p:nvPr/>
        </p:nvSpPr>
        <p:spPr>
          <a:xfrm>
            <a:off x="327600" y="10713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07" name="Google Shape;307;g2ee15abed17_3_447"/>
          <p:cNvSpPr txBox="1"/>
          <p:nvPr/>
        </p:nvSpPr>
        <p:spPr>
          <a:xfrm>
            <a:off x="630000" y="1337100"/>
            <a:ext cx="7559700" cy="1446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 is the niece of T means T is the brother of the father (say M) of S</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 i.e. T + M x S.</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308" name="Google Shape;308;g2ee15abed17_3_44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2ee15abed17_3_455"/>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314" name="Google Shape;314;g2ee15abed17_3_45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Showing a lady in the park, Balu said, “She is the daughter of my grandmother’s only son”. How is Balu related to that lady?</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Brother  </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Cousin</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Father</a:t>
            </a:r>
            <a:endParaRPr b="0" i="0" sz="1800" u="none" cap="none" strike="noStrike">
              <a:solidFill>
                <a:schemeClr val="dk2"/>
              </a:solidFill>
              <a:latin typeface="Roboto"/>
              <a:ea typeface="Roboto"/>
              <a:cs typeface="Roboto"/>
              <a:sym typeface="Roboto"/>
            </a:endParaRPr>
          </a:p>
          <a:p>
            <a:pPr indent="-342900" lvl="0" marL="457200" marR="0" rtl="0" algn="l">
              <a:lnSpc>
                <a:spcPct val="150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Uncle</a:t>
            </a:r>
            <a:endParaRPr b="0" i="0" sz="1800" u="none" cap="none" strike="noStrike">
              <a:solidFill>
                <a:schemeClr val="dk1"/>
              </a:solidFill>
              <a:latin typeface="Roboto"/>
              <a:ea typeface="Roboto"/>
              <a:cs typeface="Roboto"/>
              <a:sym typeface="Roboto"/>
            </a:endParaRPr>
          </a:p>
        </p:txBody>
      </p:sp>
      <p:sp>
        <p:nvSpPr>
          <p:cNvPr id="315" name="Google Shape;315;g2ee15abed17_3_45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a:t>
            </a:r>
            <a:endParaRPr b="1" i="0" sz="1600" u="none" cap="none" strike="noStrike">
              <a:solidFill>
                <a:srgbClr val="000000"/>
              </a:solidFill>
              <a:latin typeface="Roboto"/>
              <a:ea typeface="Roboto"/>
              <a:cs typeface="Roboto"/>
              <a:sym typeface="Roboto"/>
            </a:endParaRPr>
          </a:p>
        </p:txBody>
      </p:sp>
      <p:sp>
        <p:nvSpPr>
          <p:cNvPr id="316" name="Google Shape;316;g2ee15abed17_3_45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Effect filter="fade" transition="in">
                                      <p:cBhvr>
                                        <p:cTn dur="1000"/>
                                        <p:tgtEl>
                                          <p:spTgt spid="3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animEffect filter="fade" transition="in">
                                      <p:cBhvr>
                                        <p:cTn dur="1000"/>
                                        <p:tgtEl>
                                          <p:spTgt spid="3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animEffect filter="fade" transition="in">
                                      <p:cBhvr>
                                        <p:cTn dur="1000"/>
                                        <p:tgtEl>
                                          <p:spTgt spid="3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animEffect filter="fade" transition="in">
                                      <p:cBhvr>
                                        <p:cTn dur="1000"/>
                                        <p:tgtEl>
                                          <p:spTgt spid="3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4" st="4"/>
                                            </p:txEl>
                                          </p:spTgt>
                                        </p:tgtEl>
                                        <p:attrNameLst>
                                          <p:attrName>style.visibility</p:attrName>
                                        </p:attrNameLst>
                                      </p:cBhvr>
                                      <p:to>
                                        <p:strVal val="visible"/>
                                      </p:to>
                                    </p:set>
                                    <p:animEffect filter="fade" transition="in">
                                      <p:cBhvr>
                                        <p:cTn dur="1000"/>
                                        <p:tgtEl>
                                          <p:spTgt spid="3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 name="Shape 320"/>
        <p:cNvGrpSpPr/>
        <p:nvPr/>
      </p:nvGrpSpPr>
      <p:grpSpPr>
        <a:xfrm>
          <a:off x="0" y="0"/>
          <a:ext cx="0" cy="0"/>
          <a:chOff x="0" y="0"/>
          <a:chExt cx="0" cy="0"/>
        </a:xfrm>
      </p:grpSpPr>
      <p:sp>
        <p:nvSpPr>
          <p:cNvPr id="321" name="Google Shape;321;g2ee15abed17_3_462"/>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322" name="Google Shape;322;g2ee15abed17_3_462"/>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Grandfather’s only son is my father.</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Daughter of father is my sister.</a:t>
            </a:r>
            <a:endParaRPr b="0" i="0" sz="1800" u="none" cap="none" strike="noStrike">
              <a:solidFill>
                <a:schemeClr val="dk2"/>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So Balu is the lady’s brother.</a:t>
            </a:r>
            <a:endParaRPr b="0"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323" name="Google Shape;323;g2ee15abed17_3_46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324" name="Google Shape;324;g2ee15abed17_3_46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10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10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animEffect filter="fade" transition="in">
                                      <p:cBhvr>
                                        <p:cTn dur="1000"/>
                                        <p:tgtEl>
                                          <p:spTgt spid="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3" st="3"/>
                                            </p:txEl>
                                          </p:spTgt>
                                        </p:tgtEl>
                                        <p:attrNameLst>
                                          <p:attrName>style.visibility</p:attrName>
                                        </p:attrNameLst>
                                      </p:cBhvr>
                                      <p:to>
                                        <p:strVal val="visible"/>
                                      </p:to>
                                    </p:set>
                                    <p:animEffect filter="fade" transition="in">
                                      <p:cBhvr>
                                        <p:cTn dur="1000"/>
                                        <p:tgtEl>
                                          <p:spTgt spid="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4" st="4"/>
                                            </p:txEl>
                                          </p:spTgt>
                                        </p:tgtEl>
                                        <p:attrNameLst>
                                          <p:attrName>style.visibility</p:attrName>
                                        </p:attrNameLst>
                                      </p:cBhvr>
                                      <p:to>
                                        <p:strVal val="visible"/>
                                      </p:to>
                                    </p:set>
                                    <p:animEffect filter="fade" transition="in">
                                      <p:cBhvr>
                                        <p:cTn dur="1000"/>
                                        <p:tgtEl>
                                          <p:spTgt spid="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5" st="5"/>
                                            </p:txEl>
                                          </p:spTgt>
                                        </p:tgtEl>
                                        <p:attrNameLst>
                                          <p:attrName>style.visibility</p:attrName>
                                        </p:attrNameLst>
                                      </p:cBhvr>
                                      <p:to>
                                        <p:strVal val="visible"/>
                                      </p:to>
                                    </p:set>
                                    <p:animEffect filter="fade" transition="in">
                                      <p:cBhvr>
                                        <p:cTn dur="1000"/>
                                        <p:tgtEl>
                                          <p:spTgt spid="3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1000"/>
                                        <p:tgtEl>
                                          <p:spTgt spid="32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g2ee15abed17_3_53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30" name="Google Shape;330;g2ee15abed17_3_53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31" name="Google Shape;331;g2ee15abed17_3_53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32" name="Google Shape;332;g2ee15abed17_3_53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33" name="Google Shape;333;g2ee15abed17_3_53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34" name="Google Shape;334;g2ee15abed17_3_53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35" name="Google Shape;335;g2ee15abed17_3_53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36" name="Google Shape;336;g2ee15abed17_3_53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37" name="Google Shape;337;g2ee15abed17_3_53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38" name="Google Shape;338;g2ee15abed17_3_53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