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y="5143500" cx="9144000"/>
  <p:notesSz cx="6858000" cy="9144000"/>
  <p:embeddedFontLst>
    <p:embeddedFont>
      <p:font typeface="Robo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80">
          <p15:clr>
            <a:srgbClr val="FF00FF"/>
          </p15:clr>
        </p15:guide>
        <p15:guide id="2" orient="horz" pos="2755">
          <p15:clr>
            <a:srgbClr val="FF0000"/>
          </p15:clr>
        </p15:guide>
        <p15:guide id="3" orient="horz" pos="907">
          <p15:clr>
            <a:srgbClr val="FF0000"/>
          </p15:clr>
        </p15:guide>
        <p15:guide id="4" pos="5329">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2" roundtripDataSignature="AMtx7mgEBmFFYKnTohc3y8lkacXPF+Iq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49CEB3-5DA2-47D0-81F5-E895CFABE2A4}">
  <a:tblStyle styleId="{1649CEB3-5DA2-47D0-81F5-E895CFABE2A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80"/>
        <p:guide pos="2755" orient="horz"/>
        <p:guide pos="907" orient="horz"/>
        <p:guide pos="5329"/>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regular.fntdata"/><Relationship Id="rId47" Type="http://schemas.openxmlformats.org/officeDocument/2006/relationships/slide" Target="slides/slide39.xml"/><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boldItalic.fntdata"/><Relationship Id="rId50" Type="http://schemas.openxmlformats.org/officeDocument/2006/relationships/font" Target="fonts/Roboto-italic.fntdata"/><Relationship Id="rId52" Type="http://customschemas.google.com/relationships/presentationmetadata" Target="meta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f459cfb2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55" name="Google Shape;155;g2f459cfb21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5dab58096a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15dab58096a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07a436f1fa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07a436f1fa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5dab58096a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5dab58096a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7a436f1fa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07a436f1fa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Add questions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5dab58096a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15dab58096a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a1bbbd45d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0a1bbbd45d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Add questions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5dab58096a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15dab58096a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07a436f1fa_0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07a436f1fa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Add questions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5dab58096a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15dab58096a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07a436f1fa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07a436f1fa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Add questions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5dab58096a_0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5dab58096a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07a436f1fa_0_2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07a436f1fa_0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Add questions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5dab58096a_0_4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15dab58096a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07a436f1fa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07a436f1fa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5dab58096a_0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15dab58096a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07a436f1fa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07a436f1fa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5dab58096a_0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15dab58096a_0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7a436f1fa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307a436f1fa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5dab58096a_0_4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15dab58096a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07a436f1fa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307a436f1fa_0_3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5dab58096a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15dab58096a_0_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07a436f1fa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07a436f1fa_0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5dab58096a_0_4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15dab58096a_0_4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07a436f1fa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07a436f1fa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5dab58096a_0_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15dab58096a_0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07a436f1fa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07a436f1fa_0_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5dab58096a_0_5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15dab58096a_0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07a436f1f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g307a436f1fa_0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5dab58096a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15dab58096a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07a436f1fa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307a436f1fa_0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5dab58096a_0_5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15dab58096a_0_5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 name="Google Shape;1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9" name="Shape 1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3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4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4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4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4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4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4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3" name="Google Shape;43;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4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4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4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0" name="Google Shape;5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g15dab58096a_0_1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0" name="Google Shape;60;g15dab58096a_0_1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1" name="Google Shape;61;g15dab58096a_0_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g15dab58096a_0_1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5dab58096a_0_1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g15dab58096a_0_1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g15dab58096a_0_1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 name="Google Shape;68;g15dab58096a_0_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g15dab58096a_0_1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g15dab58096a_0_1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g15dab58096a_0_1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3" name="Google Shape;73;g15dab58096a_0_1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g15dab58096a_0_1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g15dab58096a_0_1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g15dab58096a_0_14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9" name="Google Shape;79;g15dab58096a_0_14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0" name="Google Shape;80;g15dab58096a_0_1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 name="Shape 81"/>
        <p:cNvGrpSpPr/>
        <p:nvPr/>
      </p:nvGrpSpPr>
      <p:grpSpPr>
        <a:xfrm>
          <a:off x="0" y="0"/>
          <a:ext cx="0" cy="0"/>
          <a:chOff x="0" y="0"/>
          <a:chExt cx="0" cy="0"/>
        </a:xfrm>
      </p:grpSpPr>
      <p:sp>
        <p:nvSpPr>
          <p:cNvPr id="82" name="Google Shape;82;g15dab58096a_0_15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3" name="Google Shape;83;g15dab58096a_0_1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g15dab58096a_0_1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6" name="Google Shape;86;g15dab58096a_0_1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7" name="Google Shape;87;g15dab58096a_0_1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8" name="Google Shape;88;g15dab58096a_0_1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9" name="Google Shape;89;g15dab58096a_0_1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g15dab58096a_0_1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92" name="Google Shape;92;g15dab58096a_0_1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g15dab58096a_0_16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g15dab58096a_0_16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g15dab58096a_0_1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g15dab58096a_0_1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4" name="Shape 104"/>
        <p:cNvGrpSpPr/>
        <p:nvPr/>
      </p:nvGrpSpPr>
      <p:grpSpPr>
        <a:xfrm>
          <a:off x="0" y="0"/>
          <a:ext cx="0" cy="0"/>
          <a:chOff x="0" y="0"/>
          <a:chExt cx="0" cy="0"/>
        </a:xfrm>
      </p:grpSpPr>
      <p:sp>
        <p:nvSpPr>
          <p:cNvPr id="105" name="Google Shape;105;g15dab58096a_0_3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g15dab58096a_0_3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07" name="Google Shape;107;g15dab58096a_0_3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1" name="Google Shape;11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2" name="Google Shape;1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5" name="Google Shape;115;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17" name="Shape 117"/>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 name="Shape 118"/>
        <p:cNvGrpSpPr/>
        <p:nvPr/>
      </p:nvGrpSpPr>
      <p:grpSpPr>
        <a:xfrm>
          <a:off x="0" y="0"/>
          <a:ext cx="0" cy="0"/>
          <a:chOff x="0" y="0"/>
          <a:chExt cx="0" cy="0"/>
        </a:xfrm>
      </p:grpSpPr>
      <p:sp>
        <p:nvSpPr>
          <p:cNvPr id="119" name="Google Shape;119;g15dab58096a_0_3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g15dab58096a_0_3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g15dab58096a_0_3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g15dab58096a_0_3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4" name="Shape 124"/>
        <p:cNvGrpSpPr/>
        <p:nvPr/>
      </p:nvGrpSpPr>
      <p:grpSpPr>
        <a:xfrm>
          <a:off x="0" y="0"/>
          <a:ext cx="0" cy="0"/>
          <a:chOff x="0" y="0"/>
          <a:chExt cx="0" cy="0"/>
        </a:xfrm>
      </p:grpSpPr>
      <p:sp>
        <p:nvSpPr>
          <p:cNvPr id="125" name="Google Shape;125;g15dab58096a_0_3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26" name="Google Shape;126;g15dab58096a_0_3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7" name="Google Shape;127;g15dab58096a_0_3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8" name="Google Shape;128;g15dab58096a_0_3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9" name="Google Shape;129;g15dab58096a_0_3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0" name="Shape 130"/>
        <p:cNvGrpSpPr/>
        <p:nvPr/>
      </p:nvGrpSpPr>
      <p:grpSpPr>
        <a:xfrm>
          <a:off x="0" y="0"/>
          <a:ext cx="0" cy="0"/>
          <a:chOff x="0" y="0"/>
          <a:chExt cx="0" cy="0"/>
        </a:xfrm>
      </p:grpSpPr>
      <p:sp>
        <p:nvSpPr>
          <p:cNvPr id="131" name="Google Shape;131;g15dab58096a_0_3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32" name="Google Shape;132;g15dab58096a_0_3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3" name="Shape 133"/>
        <p:cNvGrpSpPr/>
        <p:nvPr/>
      </p:nvGrpSpPr>
      <p:grpSpPr>
        <a:xfrm>
          <a:off x="0" y="0"/>
          <a:ext cx="0" cy="0"/>
          <a:chOff x="0" y="0"/>
          <a:chExt cx="0" cy="0"/>
        </a:xfrm>
      </p:grpSpPr>
      <p:sp>
        <p:nvSpPr>
          <p:cNvPr id="134" name="Google Shape;134;g15dab58096a_0_3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5" name="Google Shape;135;g15dab58096a_0_3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36" name="Google Shape;136;g15dab58096a_0_3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137" name="Shape 137"/>
        <p:cNvGrpSpPr/>
        <p:nvPr/>
      </p:nvGrpSpPr>
      <p:grpSpPr>
        <a:xfrm>
          <a:off x="0" y="0"/>
          <a:ext cx="0" cy="0"/>
          <a:chOff x="0" y="0"/>
          <a:chExt cx="0" cy="0"/>
        </a:xfrm>
      </p:grpSpPr>
      <p:pic>
        <p:nvPicPr>
          <p:cNvPr descr="A close up of a logo&#10;&#10;Description generated with high confidence" id="138" name="Google Shape;138;g15dab58096a_0_33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139" name="Google Shape;139;g15dab58096a_0_333"/>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140" name="Google Shape;140;g15dab58096a_0_33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41" name="Google Shape;141;g15dab58096a_0_33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42" name="Google Shape;142;g15dab58096a_0_33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43" name="Google Shape;143;g15dab58096a_0_33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image" Target="../media/image4.jp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1.xml"/><Relationship Id="rId1" Type="http://schemas.openxmlformats.org/officeDocument/2006/relationships/image" Target="../media/image4.jp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g15dab58096a_0_1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5" name="Google Shape;55;g15dab58096a_0_1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6" name="Google Shape;56;g15dab58096a_0_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7" name="Google Shape;57;g15dab58096a_0_123"/>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g15dab58096a_0_3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g15dab58096a_0_30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g15dab58096a_0_3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103" name="Google Shape;103;g15dab58096a_0_30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0.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25nkkDdf13fd1eGt5"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 Id="rId3" Type="http://schemas.openxmlformats.org/officeDocument/2006/relationships/image" Target="../media/image9.jp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50" name="Google Shape;150;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51" name="Google Shape;151;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52" name="Google Shape;152;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f459cfb21c_0_0"/>
          <p:cNvSpPr/>
          <p:nvPr/>
        </p:nvSpPr>
        <p:spPr>
          <a:xfrm>
            <a:off x="1980450" y="828250"/>
            <a:ext cx="5020500" cy="412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700"/>
              <a:buFont typeface="Arial"/>
              <a:buNone/>
            </a:pPr>
            <a:r>
              <a:rPr b="1" i="0" lang="en-GB" sz="1600" u="none" cap="none" strike="noStrike">
                <a:solidFill>
                  <a:schemeClr val="dk1"/>
                </a:solidFill>
                <a:latin typeface="Roboto"/>
                <a:ea typeface="Roboto"/>
                <a:cs typeface="Roboto"/>
                <a:sym typeface="Roboto"/>
              </a:rPr>
              <a:t>TEST TIME ON RACES </a:t>
            </a:r>
            <a:endParaRPr b="1" i="0" sz="1600" u="none" cap="none" strike="noStrike">
              <a:solidFill>
                <a:schemeClr val="dk1"/>
              </a:solidFill>
              <a:latin typeface="Roboto"/>
              <a:ea typeface="Roboto"/>
              <a:cs typeface="Roboto"/>
              <a:sym typeface="Roboto"/>
            </a:endParaRPr>
          </a:p>
        </p:txBody>
      </p:sp>
      <p:sp>
        <p:nvSpPr>
          <p:cNvPr id="158" name="Google Shape;158;g2f459cfb21c_0_0"/>
          <p:cNvSpPr txBox="1"/>
          <p:nvPr>
            <p:ph idx="4294967295" type="body"/>
          </p:nvPr>
        </p:nvSpPr>
        <p:spPr>
          <a:xfrm>
            <a:off x="720000" y="1419325"/>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URL: </a:t>
            </a:r>
            <a:r>
              <a:rPr b="1" lang="en-GB" sz="1600" u="sng">
                <a:solidFill>
                  <a:schemeClr val="hlink"/>
                </a:solidFill>
                <a:highlight>
                  <a:srgbClr val="FFFFFF"/>
                </a:highlight>
                <a:latin typeface="Roboto"/>
                <a:ea typeface="Roboto"/>
                <a:cs typeface="Roboto"/>
                <a:sym typeface="Roboto"/>
                <a:hlinkClick r:id="rId3"/>
              </a:rPr>
              <a:t>https://forms.gle/25nkkDdf13fd1eGt5</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QR CODE:</a:t>
            </a:r>
            <a:endParaRPr b="1" sz="1600">
              <a:solidFill>
                <a:srgbClr val="373737"/>
              </a:solidFill>
              <a:highlight>
                <a:srgbClr val="FFFFFF"/>
              </a:highlight>
              <a:latin typeface="Roboto"/>
              <a:ea typeface="Roboto"/>
              <a:cs typeface="Roboto"/>
              <a:sym typeface="Roboto"/>
            </a:endParaRPr>
          </a:p>
        </p:txBody>
      </p:sp>
      <p:pic>
        <p:nvPicPr>
          <p:cNvPr id="159" name="Google Shape;159;g2f459cfb21c_0_0"/>
          <p:cNvPicPr preferRelativeResize="0"/>
          <p:nvPr/>
        </p:nvPicPr>
        <p:blipFill rotWithShape="1">
          <a:blip r:embed="rId4">
            <a:alphaModFix/>
          </a:blip>
          <a:srcRect b="0" l="0" r="0" t="0"/>
          <a:stretch/>
        </p:blipFill>
        <p:spPr>
          <a:xfrm>
            <a:off x="3335550" y="2334525"/>
            <a:ext cx="2959726" cy="2261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5" name="Google Shape;165;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66" name="Google Shape;166;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67" name="Google Shape;167;p5"/>
          <p:cNvSpPr txBox="1"/>
          <p:nvPr/>
        </p:nvSpPr>
        <p:spPr>
          <a:xfrm>
            <a:off x="105514" y="2196285"/>
            <a:ext cx="46908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PROFIT AND LOSS 1</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5dab58096a_0_116"/>
          <p:cNvSpPr txBox="1"/>
          <p:nvPr/>
        </p:nvSpPr>
        <p:spPr>
          <a:xfrm>
            <a:off x="1080000" y="1439999"/>
            <a:ext cx="7324500" cy="2745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813588"/>
                </a:solidFill>
                <a:latin typeface="Roboto"/>
                <a:ea typeface="Roboto"/>
                <a:cs typeface="Roboto"/>
                <a:sym typeface="Roboto"/>
              </a:rPr>
              <a:t>Profit(P)</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33333"/>
                </a:solidFill>
                <a:latin typeface="Roboto"/>
                <a:ea typeface="Roboto"/>
                <a:cs typeface="Roboto"/>
                <a:sym typeface="Roboto"/>
              </a:rPr>
              <a:t>	The amount gained by selling a product with more than its cost price.</a:t>
            </a:r>
            <a:br>
              <a:rPr b="0" i="0" lang="en-GB" sz="1400" u="none" cap="none" strike="noStrike">
                <a:solidFill>
                  <a:srgbClr val="333333"/>
                </a:solidFill>
                <a:latin typeface="Roboto"/>
                <a:ea typeface="Roboto"/>
                <a:cs typeface="Roboto"/>
                <a:sym typeface="Roboto"/>
              </a:rPr>
            </a:br>
            <a:endParaRPr b="0" i="0" sz="14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813588"/>
                </a:solidFill>
                <a:latin typeface="Roboto"/>
                <a:ea typeface="Roboto"/>
                <a:cs typeface="Roboto"/>
                <a:sym typeface="Roboto"/>
              </a:rPr>
              <a:t>Loss(L)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33333"/>
                </a:solidFill>
                <a:latin typeface="Roboto"/>
                <a:ea typeface="Roboto"/>
                <a:cs typeface="Roboto"/>
                <a:sym typeface="Roboto"/>
              </a:rPr>
              <a:t>	The amount the seller incurs after selling the product less than its cost price is mentioned as a loss.</a:t>
            </a:r>
            <a:br>
              <a:rPr b="0" i="0" lang="en-GB" sz="1400" u="none" cap="none" strike="noStrike">
                <a:solidFill>
                  <a:srgbClr val="333333"/>
                </a:solidFill>
                <a:latin typeface="Roboto"/>
                <a:ea typeface="Roboto"/>
                <a:cs typeface="Roboto"/>
                <a:sym typeface="Roboto"/>
              </a:rPr>
            </a:br>
            <a:endParaRPr b="0" i="0" sz="14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813588"/>
                </a:solidFill>
                <a:latin typeface="Roboto"/>
                <a:ea typeface="Roboto"/>
                <a:cs typeface="Roboto"/>
                <a:sym typeface="Roboto"/>
              </a:rPr>
              <a:t>Cost Price (CP)</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33333"/>
                </a:solidFill>
                <a:latin typeface="Roboto"/>
                <a:ea typeface="Roboto"/>
                <a:cs typeface="Roboto"/>
                <a:sym typeface="Roboto"/>
              </a:rPr>
              <a:t>	The amount paid for a product or commodity to purchase is called a cost price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813588"/>
                </a:solidFill>
                <a:latin typeface="Roboto"/>
                <a:ea typeface="Roboto"/>
                <a:cs typeface="Roboto"/>
                <a:sym typeface="Roboto"/>
              </a:rPr>
              <a:t>Selling Price (SP)</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813588"/>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33333"/>
                </a:solidFill>
                <a:latin typeface="Roboto"/>
                <a:ea typeface="Roboto"/>
                <a:cs typeface="Roboto"/>
                <a:sym typeface="Roboto"/>
              </a:rPr>
              <a:t>	The amount for which the product is sold is called the Selling Price. It is usually denoted as SP. Also, sometimes called a sale price.</a:t>
            </a:r>
            <a:endParaRPr b="0" i="0" sz="1400" u="none" cap="none" strike="noStrike">
              <a:solidFill>
                <a:srgbClr val="000000"/>
              </a:solidFill>
              <a:latin typeface="Roboto"/>
              <a:ea typeface="Roboto"/>
              <a:cs typeface="Roboto"/>
              <a:sym typeface="Roboto"/>
            </a:endParaRPr>
          </a:p>
          <a:p>
            <a:pPr indent="0" lvl="0" marL="0" marR="0" rtl="0" algn="l">
              <a:lnSpc>
                <a:spcPct val="110000"/>
              </a:lnSpc>
              <a:spcBef>
                <a:spcPts val="16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Roboto"/>
              <a:ea typeface="Roboto"/>
              <a:cs typeface="Roboto"/>
              <a:sym typeface="Roboto"/>
            </a:endParaRPr>
          </a:p>
        </p:txBody>
      </p:sp>
      <p:sp>
        <p:nvSpPr>
          <p:cNvPr id="173" name="Google Shape;173;g15dab58096a_0_116"/>
          <p:cNvSpPr txBox="1"/>
          <p:nvPr/>
        </p:nvSpPr>
        <p:spPr>
          <a:xfrm>
            <a:off x="1080000" y="579950"/>
            <a:ext cx="4860300" cy="71169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3500" u="none" cap="none" strike="noStrike">
                <a:solidFill>
                  <a:srgbClr val="8182EF"/>
                </a:solidFill>
                <a:latin typeface="Roboto"/>
                <a:ea typeface="Roboto"/>
                <a:cs typeface="Roboto"/>
                <a:sym typeface="Roboto"/>
              </a:rPr>
              <a:t>PROFIT AND LOSS</a:t>
            </a:r>
            <a:endParaRPr b="0" i="0" sz="2100" u="none" cap="none" strike="noStrike">
              <a:solidFill>
                <a:srgbClr val="6D9EEB"/>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graphicFrame>
        <p:nvGraphicFramePr>
          <p:cNvPr id="178" name="Google Shape;178;p1"/>
          <p:cNvGraphicFramePr/>
          <p:nvPr/>
        </p:nvGraphicFramePr>
        <p:xfrm>
          <a:off x="1080000" y="1467338"/>
          <a:ext cx="3000000" cy="3000000"/>
        </p:xfrm>
        <a:graphic>
          <a:graphicData uri="http://schemas.openxmlformats.org/drawingml/2006/table">
            <a:tbl>
              <a:tblPr>
                <a:noFill/>
                <a:tableStyleId>{1649CEB3-5DA2-47D0-81F5-E895CFABE2A4}</a:tableStyleId>
              </a:tblPr>
              <a:tblGrid>
                <a:gridCol w="5072575"/>
              </a:tblGrid>
              <a:tr h="412200">
                <a:tc>
                  <a:txBody>
                    <a:bodyPr/>
                    <a:lstStyle/>
                    <a:p>
                      <a:pPr indent="0" lvl="0" marL="0" marR="0" rtl="0" algn="l">
                        <a:lnSpc>
                          <a:spcPct val="150000"/>
                        </a:lnSpc>
                        <a:spcBef>
                          <a:spcPts val="0"/>
                        </a:spcBef>
                        <a:spcAft>
                          <a:spcPts val="0"/>
                        </a:spcAft>
                        <a:buClr>
                          <a:srgbClr val="000000"/>
                        </a:buClr>
                        <a:buSzPts val="1400"/>
                        <a:buFont typeface="Arial"/>
                        <a:buNone/>
                      </a:pPr>
                      <a:r>
                        <a:rPr b="1" lang="en-GB" sz="1400" u="none" cap="none" strike="noStrike">
                          <a:latin typeface="Roboto"/>
                          <a:ea typeface="Roboto"/>
                          <a:cs typeface="Roboto"/>
                          <a:sym typeface="Roboto"/>
                        </a:rPr>
                        <a:t>Profit or Gain = Selling price – Cost Price</a:t>
                      </a:r>
                      <a:endParaRPr sz="1400" u="none" cap="none" strike="noStrike">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lang="en-GB" sz="1400" u="none" cap="none" strike="noStrike">
                          <a:latin typeface="Roboto"/>
                          <a:ea typeface="Roboto"/>
                          <a:cs typeface="Roboto"/>
                          <a:sym typeface="Roboto"/>
                        </a:rPr>
                        <a:t>Loss = Cost Price – Selling Price</a:t>
                      </a:r>
                      <a:endParaRPr sz="1400" u="none" cap="none" strike="noStrike">
                        <a:latin typeface="Roboto"/>
                        <a:ea typeface="Roboto"/>
                        <a:cs typeface="Roboto"/>
                        <a:sym typeface="Roboto"/>
                      </a:endParaRPr>
                    </a:p>
                  </a:txBody>
                  <a:tcPr marT="50800" marB="50800" marR="50800" marL="508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179" name="Google Shape;179;p1"/>
          <p:cNvSpPr/>
          <p:nvPr/>
        </p:nvSpPr>
        <p:spPr>
          <a:xfrm>
            <a:off x="1080000" y="2208250"/>
            <a:ext cx="4307100" cy="584735"/>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333333"/>
              </a:buClr>
              <a:buSzPts val="1400"/>
              <a:buFont typeface="Arial"/>
              <a:buNone/>
            </a:pPr>
            <a:r>
              <a:rPr b="0" i="0" lang="en-GB" sz="1400" u="none" cap="none" strike="noStrike">
                <a:solidFill>
                  <a:srgbClr val="333333"/>
                </a:solidFill>
                <a:latin typeface="Roboto"/>
                <a:ea typeface="Roboto"/>
                <a:cs typeface="Roboto"/>
                <a:sym typeface="Roboto"/>
              </a:rPr>
              <a:t>The formula for the profit and loss percentage is: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p:txBody>
      </p:sp>
      <p:graphicFrame>
        <p:nvGraphicFramePr>
          <p:cNvPr id="180" name="Google Shape;180;p1"/>
          <p:cNvGraphicFramePr/>
          <p:nvPr/>
        </p:nvGraphicFramePr>
        <p:xfrm>
          <a:off x="1080000" y="3063251"/>
          <a:ext cx="3000000" cy="3000000"/>
        </p:xfrm>
        <a:graphic>
          <a:graphicData uri="http://schemas.openxmlformats.org/drawingml/2006/table">
            <a:tbl>
              <a:tblPr>
                <a:noFill/>
                <a:tableStyleId>{1649CEB3-5DA2-47D0-81F5-E895CFABE2A4}</a:tableStyleId>
              </a:tblPr>
              <a:tblGrid>
                <a:gridCol w="5325550"/>
              </a:tblGrid>
              <a:tr h="501525">
                <a:tc>
                  <a:txBody>
                    <a:bodyPr/>
                    <a:lstStyle/>
                    <a:p>
                      <a:pPr indent="0" lvl="0" marL="0" marR="0" rtl="0" algn="l">
                        <a:lnSpc>
                          <a:spcPct val="150000"/>
                        </a:lnSpc>
                        <a:spcBef>
                          <a:spcPts val="0"/>
                        </a:spcBef>
                        <a:spcAft>
                          <a:spcPts val="0"/>
                        </a:spcAft>
                        <a:buClr>
                          <a:srgbClr val="000000"/>
                        </a:buClr>
                        <a:buSzPts val="1400"/>
                        <a:buFont typeface="Arial"/>
                        <a:buNone/>
                      </a:pPr>
                      <a:r>
                        <a:rPr b="1" lang="en-GB" sz="1400" u="none" cap="none" strike="noStrike">
                          <a:latin typeface="Roboto"/>
                          <a:ea typeface="Roboto"/>
                          <a:cs typeface="Roboto"/>
                          <a:sym typeface="Roboto"/>
                        </a:rPr>
                        <a:t>Profit percentage (P%) = (Profit /Cost Price) x 100</a:t>
                      </a:r>
                      <a:endParaRPr sz="1400" u="none" cap="none" strike="noStrike">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lang="en-GB" sz="1400" u="none" cap="none" strike="noStrike">
                          <a:latin typeface="Roboto"/>
                          <a:ea typeface="Roboto"/>
                          <a:cs typeface="Roboto"/>
                          <a:sym typeface="Roboto"/>
                        </a:rPr>
                        <a:t>Loss percentage (L%) = (Loss / Cost price) x 100</a:t>
                      </a:r>
                      <a:endParaRPr sz="1400" u="none" cap="none" strike="noStrike">
                        <a:latin typeface="Roboto"/>
                        <a:ea typeface="Roboto"/>
                        <a:cs typeface="Roboto"/>
                        <a:sym typeface="Roboto"/>
                      </a:endParaRPr>
                    </a:p>
                  </a:txBody>
                  <a:tcPr marT="50800" marB="50800" marR="50800" marL="508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181" name="Google Shape;181;p1"/>
          <p:cNvSpPr txBox="1"/>
          <p:nvPr/>
        </p:nvSpPr>
        <p:spPr>
          <a:xfrm>
            <a:off x="10017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Formula</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
          <p:cNvSpPr/>
          <p:nvPr/>
        </p:nvSpPr>
        <p:spPr>
          <a:xfrm>
            <a:off x="1243050" y="1677370"/>
            <a:ext cx="6436800" cy="898631"/>
          </a:xfrm>
          <a:prstGeom prst="rect">
            <a:avLst/>
          </a:prstGeom>
          <a:solidFill>
            <a:srgbClr val="FFFFFF"/>
          </a:solidFill>
          <a:ln>
            <a:noFill/>
          </a:ln>
        </p:spPr>
        <p:txBody>
          <a:bodyPr anchorCtr="0" anchor="ctr" bIns="36500" lIns="91425" spcFirstLastPara="1" rIns="91425" wrap="square" tIns="0">
            <a:spAutoFit/>
          </a:bodyPr>
          <a:lstStyle/>
          <a:p>
            <a:pPr indent="0" lvl="0" marL="0" marR="0" rtl="0" algn="l">
              <a:lnSpc>
                <a:spcPct val="150000"/>
              </a:lnSpc>
              <a:spcBef>
                <a:spcPts val="0"/>
              </a:spcBef>
              <a:spcAft>
                <a:spcPts val="0"/>
              </a:spcAft>
              <a:buClr>
                <a:srgbClr val="333333"/>
              </a:buClr>
              <a:buSzPts val="1400"/>
              <a:buFont typeface="Arial"/>
              <a:buNone/>
            </a:pPr>
            <a:r>
              <a:rPr b="0" i="0" lang="en-GB" sz="1400" u="none" cap="none" strike="noStrike">
                <a:solidFill>
                  <a:srgbClr val="333333"/>
                </a:solidFill>
                <a:latin typeface="Roboto"/>
                <a:ea typeface="Roboto"/>
                <a:cs typeface="Roboto"/>
                <a:sym typeface="Roboto"/>
              </a:rPr>
              <a:t>This is basically labelled by shopkeepers to offer a discount to the customers in such a way that,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p:txBody>
      </p:sp>
      <p:graphicFrame>
        <p:nvGraphicFramePr>
          <p:cNvPr id="187" name="Google Shape;187;p2"/>
          <p:cNvGraphicFramePr/>
          <p:nvPr/>
        </p:nvGraphicFramePr>
        <p:xfrm>
          <a:off x="1782454" y="3191314"/>
          <a:ext cx="3000000" cy="3000000"/>
        </p:xfrm>
        <a:graphic>
          <a:graphicData uri="http://schemas.openxmlformats.org/drawingml/2006/table">
            <a:tbl>
              <a:tblPr>
                <a:noFill/>
                <a:tableStyleId>{1649CEB3-5DA2-47D0-81F5-E895CFABE2A4}</a:tableStyleId>
              </a:tblPr>
              <a:tblGrid>
                <a:gridCol w="5579075"/>
              </a:tblGrid>
              <a:tr h="177800">
                <a:tc>
                  <a:txBody>
                    <a:bodyPr/>
                    <a:lstStyle/>
                    <a:p>
                      <a:pPr indent="-88900" lvl="0" marL="0" marR="0" rtl="0" algn="l">
                        <a:lnSpc>
                          <a:spcPct val="150000"/>
                        </a:lnSpc>
                        <a:spcBef>
                          <a:spcPts val="0"/>
                        </a:spcBef>
                        <a:spcAft>
                          <a:spcPts val="0"/>
                        </a:spcAft>
                        <a:buClr>
                          <a:srgbClr val="000000"/>
                        </a:buClr>
                        <a:buSzPts val="1400"/>
                        <a:buFont typeface="Arial"/>
                        <a:buChar char="•"/>
                      </a:pPr>
                      <a:r>
                        <a:rPr b="1" lang="en-GB" sz="1400" u="none" cap="none" strike="noStrike">
                          <a:latin typeface="Roboto"/>
                          <a:ea typeface="Roboto"/>
                          <a:cs typeface="Roboto"/>
                          <a:sym typeface="Roboto"/>
                        </a:rPr>
                        <a:t>Discount = Marked Price – Selling Price</a:t>
                      </a:r>
                      <a:endParaRPr sz="1400" u="none" cap="none" strike="noStrike">
                        <a:latin typeface="Roboto"/>
                        <a:ea typeface="Roboto"/>
                        <a:cs typeface="Roboto"/>
                        <a:sym typeface="Roboto"/>
                      </a:endParaRPr>
                    </a:p>
                    <a:p>
                      <a:pPr indent="-88900" lvl="0" marL="0" marR="0" rtl="0" algn="l">
                        <a:lnSpc>
                          <a:spcPct val="150000"/>
                        </a:lnSpc>
                        <a:spcBef>
                          <a:spcPts val="0"/>
                        </a:spcBef>
                        <a:spcAft>
                          <a:spcPts val="0"/>
                        </a:spcAft>
                        <a:buClr>
                          <a:srgbClr val="000000"/>
                        </a:buClr>
                        <a:buSzPts val="1400"/>
                        <a:buFont typeface="Arial"/>
                        <a:buChar char="•"/>
                      </a:pPr>
                      <a:r>
                        <a:rPr b="1" lang="en-GB" sz="1400" u="none" cap="none" strike="noStrike">
                          <a:latin typeface="Roboto"/>
                          <a:ea typeface="Roboto"/>
                          <a:cs typeface="Roboto"/>
                          <a:sym typeface="Roboto"/>
                        </a:rPr>
                        <a:t>And Discount Percentage = (Discount/Marked price) x 100</a:t>
                      </a:r>
                      <a:endParaRPr sz="1400" u="none" cap="none" strike="noStrike">
                        <a:latin typeface="Roboto"/>
                        <a:ea typeface="Roboto"/>
                        <a:cs typeface="Roboto"/>
                        <a:sym typeface="Roboto"/>
                      </a:endParaRPr>
                    </a:p>
                  </a:txBody>
                  <a:tcPr marT="50800" marB="50800" marR="69850" marL="698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188" name="Google Shape;188;p2"/>
          <p:cNvSpPr txBox="1"/>
          <p:nvPr/>
        </p:nvSpPr>
        <p:spPr>
          <a:xfrm>
            <a:off x="10017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Tips to Solve</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txBox="1"/>
          <p:nvPr/>
        </p:nvSpPr>
        <p:spPr>
          <a:xfrm>
            <a:off x="1080000" y="1440000"/>
            <a:ext cx="7165200" cy="235445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rgbClr val="343434"/>
                </a:solidFill>
                <a:latin typeface="Roboto"/>
                <a:ea typeface="Roboto"/>
                <a:cs typeface="Roboto"/>
                <a:sym typeface="Roboto"/>
              </a:rPr>
              <a:t>If you sell two items at same selling price “s” first at x% profit and 2nd one at x% loss. Then a </a:t>
            </a:r>
            <a:endParaRPr b="1" i="0" sz="1400" u="none" cap="none" strike="noStrike">
              <a:solidFill>
                <a:srgbClr val="343434"/>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rgbClr val="343434"/>
                </a:solidFill>
                <a:latin typeface="Roboto"/>
                <a:ea typeface="Roboto"/>
                <a:cs typeface="Roboto"/>
                <a:sym typeface="Roboto"/>
              </a:rPr>
              <a:t>loss is incurred always, which is given by</a:t>
            </a:r>
            <a:endParaRPr b="1" i="0" sz="1400" u="none" cap="none" strike="noStrike">
              <a:solidFill>
                <a:srgbClr val="343434"/>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rgbClr val="343434"/>
                </a:solidFill>
                <a:latin typeface="Roboto"/>
                <a:ea typeface="Roboto"/>
                <a:cs typeface="Roboto"/>
                <a:sym typeface="Roboto"/>
              </a:rPr>
              <a:t>Discount Percentage : </a:t>
            </a:r>
            <a:endParaRPr b="1" i="0" sz="1400" u="none" cap="none" strike="noStrike">
              <a:solidFill>
                <a:srgbClr val="34343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343434"/>
                </a:solidFill>
                <a:latin typeface="Roboto"/>
                <a:ea typeface="Roboto"/>
                <a:cs typeface="Roboto"/>
                <a:sym typeface="Roboto"/>
              </a:rPr>
              <a:t>Successive discounts:</a:t>
            </a:r>
            <a:endParaRPr b="0" i="0" sz="1400" u="none" cap="none" strike="noStrike">
              <a:solidFill>
                <a:srgbClr val="34343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4343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43434"/>
                </a:solidFill>
                <a:latin typeface="Roboto"/>
                <a:ea typeface="Roboto"/>
                <a:cs typeface="Roboto"/>
                <a:sym typeface="Roboto"/>
              </a:rPr>
              <a:t>If d1% , d2% d3%are successive discounts on marked price,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194" name="Google Shape;194;p3"/>
          <p:cNvPicPr preferRelativeResize="0"/>
          <p:nvPr/>
        </p:nvPicPr>
        <p:blipFill rotWithShape="1">
          <a:blip r:embed="rId3">
            <a:alphaModFix/>
          </a:blip>
          <a:srcRect b="0" l="0" r="0" t="0"/>
          <a:stretch/>
        </p:blipFill>
        <p:spPr>
          <a:xfrm>
            <a:off x="2301763" y="3858304"/>
            <a:ext cx="4506809" cy="429491"/>
          </a:xfrm>
          <a:prstGeom prst="rect">
            <a:avLst/>
          </a:prstGeom>
          <a:noFill/>
          <a:ln>
            <a:noFill/>
          </a:ln>
        </p:spPr>
      </p:pic>
      <p:sp>
        <p:nvSpPr>
          <p:cNvPr id="195" name="Google Shape;195;p3"/>
          <p:cNvSpPr txBox="1"/>
          <p:nvPr/>
        </p:nvSpPr>
        <p:spPr>
          <a:xfrm>
            <a:off x="10017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Tips to Solve</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07a436f1fa_0_45"/>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01" name="Google Shape;201;g307a436f1fa_0_45"/>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A real estate agent sells two sites for Rs. 18000 each. On one he gains 25% and on the other he loses 25 %. What is his loss or gain percent?</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highlight>
                  <a:schemeClr val="lt1"/>
                </a:highlight>
                <a:latin typeface="Roboto"/>
                <a:ea typeface="Roboto"/>
                <a:cs typeface="Roboto"/>
                <a:sym typeface="Roboto"/>
              </a:rPr>
              <a:t>A. 6.25 % gain</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highlight>
                  <a:schemeClr val="lt1"/>
                </a:highlight>
                <a:latin typeface="Roboto"/>
                <a:ea typeface="Roboto"/>
                <a:cs typeface="Roboto"/>
                <a:sym typeface="Roboto"/>
              </a:rPr>
              <a:t>B. 6.25% loss</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highlight>
                  <a:schemeClr val="lt1"/>
                </a:highlight>
                <a:latin typeface="Roboto"/>
                <a:ea typeface="Roboto"/>
                <a:cs typeface="Roboto"/>
                <a:sym typeface="Roboto"/>
              </a:rPr>
              <a:t>C. No profit no loss</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highlight>
                  <a:schemeClr val="lt1"/>
                </a:highlight>
                <a:latin typeface="Roboto"/>
                <a:ea typeface="Roboto"/>
                <a:cs typeface="Roboto"/>
                <a:sym typeface="Roboto"/>
              </a:rPr>
              <a:t>D. 4% loss</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
        <p:nvSpPr>
          <p:cNvPr id="202" name="Google Shape;202;g307a436f1fa_0_45"/>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g15dab58096a_0_262"/>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08" name="Google Shape;208;g15dab58096a_0_262"/>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Roboto"/>
                <a:ea typeface="Roboto"/>
                <a:cs typeface="Roboto"/>
                <a:sym typeface="Roboto"/>
              </a:rPr>
              <a:t>Profit and loss formula</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rgbClr val="000000"/>
                </a:solidFill>
                <a:highlight>
                  <a:srgbClr val="FFFFFF"/>
                </a:highlight>
                <a:latin typeface="Roboto"/>
                <a:ea typeface="Roboto"/>
                <a:cs typeface="Roboto"/>
                <a:sym typeface="Roboto"/>
              </a:rPr>
              <a:t>Loss % = x^2/100 = 625/100 = 6.25%</a:t>
            </a:r>
            <a:endParaRPr b="0" i="0" sz="1400" u="none" cap="none" strike="noStrike">
              <a:solidFill>
                <a:srgbClr val="000000"/>
              </a:solidFill>
              <a:highlight>
                <a:srgbClr val="FFFFFF"/>
              </a:highlight>
              <a:latin typeface="Roboto"/>
              <a:ea typeface="Roboto"/>
              <a:cs typeface="Roboto"/>
              <a:sym typeface="Roboto"/>
            </a:endParaRPr>
          </a:p>
        </p:txBody>
      </p:sp>
      <p:sp>
        <p:nvSpPr>
          <p:cNvPr id="209" name="Google Shape;209;g15dab58096a_0_262"/>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07a436f1fa_0_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15" name="Google Shape;215;g307a436f1fa_0_9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16" name="Google Shape;216;g307a436f1fa_0_93"/>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17" name="Google Shape;217;g307a436f1fa_0_93"/>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218" name="Google Shape;218;g307a436f1fa_0_93"/>
          <p:cNvSpPr txBox="1"/>
          <p:nvPr/>
        </p:nvSpPr>
        <p:spPr>
          <a:xfrm>
            <a:off x="1080000" y="1440001"/>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A tradesman marks his goods 25% above the cost price and allows his customers 12 % reduction on their bills. What percent profit does he make?</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A. 14 %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B. 10%</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C. 18%</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80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D. 12.5%</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g15dab58096a_0_34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24" name="Google Shape;224;g15dab58096a_0_34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Roboto"/>
                <a:ea typeface="Roboto"/>
                <a:cs typeface="Roboto"/>
                <a:sym typeface="Roboto"/>
              </a:rPr>
              <a:t>Let CP= Rs. 100, therefore, MP= Rs. 125, Discount% = 12%</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SP = 88% of MP = 88% of 125 = Rs. 110. Profit = 110 – 100 = Rs. 10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Profit = 10%.</a:t>
            </a:r>
            <a:endParaRPr b="0" i="0" sz="1400" u="none" cap="none" strike="noStrike">
              <a:solidFill>
                <a:srgbClr val="000000"/>
              </a:solidFill>
              <a:latin typeface="Roboto"/>
              <a:ea typeface="Roboto"/>
              <a:cs typeface="Roboto"/>
              <a:sym typeface="Roboto"/>
            </a:endParaRPr>
          </a:p>
        </p:txBody>
      </p:sp>
      <p:sp>
        <p:nvSpPr>
          <p:cNvPr id="225" name="Google Shape;225;g15dab58096a_0_348"/>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0a1bbbd45d_0_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31" name="Google Shape;231;g30a1bbbd45d_0_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32" name="Google Shape;232;g30a1bbbd45d_0_19"/>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33" name="Google Shape;233;g30a1bbbd45d_0_19"/>
          <p:cNvSpPr txBox="1"/>
          <p:nvPr/>
        </p:nvSpPr>
        <p:spPr>
          <a:xfrm>
            <a:off x="1080000" y="1440001"/>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In order to maintain the price line, a trader allows a discount of 12 % on the marked price of goods in his ship. However, he still makes a gross profit of 32 % on the cost price. Find the profit percent he would have made on the selling price if he had sold at the marked price.</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28.07 %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31.21 %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50 %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40%</a:t>
            </a:r>
            <a:endParaRPr b="0" i="0" sz="1600" u="none" cap="none" strike="noStrike">
              <a:solidFill>
                <a:srgbClr val="000000"/>
              </a:solidFill>
              <a:latin typeface="Roboto"/>
              <a:ea typeface="Roboto"/>
              <a:cs typeface="Roboto"/>
              <a:sym typeface="Roboto"/>
            </a:endParaRPr>
          </a:p>
        </p:txBody>
      </p:sp>
      <p:sp>
        <p:nvSpPr>
          <p:cNvPr id="234" name="Google Shape;234;g30a1bbbd45d_0_19"/>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235" name="Google Shape;235;g30a1bbbd45d_0_19"/>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g15dab58096a_0_36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Let CP = 100. SP = 132. This is after a discount of 12%, thus the marked price must be 132/0.88 = 150. Thus he is marking the product 50% above the cost price. Hence the profit will be 50%.</a:t>
            </a:r>
            <a:endParaRPr b="0" i="0" sz="1400" u="none" cap="none" strike="noStrike">
              <a:solidFill>
                <a:srgbClr val="000000"/>
              </a:solidFill>
              <a:latin typeface="Roboto"/>
              <a:ea typeface="Roboto"/>
              <a:cs typeface="Roboto"/>
              <a:sym typeface="Roboto"/>
            </a:endParaRPr>
          </a:p>
        </p:txBody>
      </p:sp>
      <p:sp>
        <p:nvSpPr>
          <p:cNvPr id="241" name="Google Shape;241;g15dab58096a_0_364"/>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07a436f1fa_0_1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47" name="Google Shape;247;g307a436f1fa_0_1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48" name="Google Shape;248;g307a436f1fa_0_148"/>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49" name="Google Shape;249;g307a436f1fa_0_148"/>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250" name="Google Shape;250;g307a436f1fa_0_148"/>
          <p:cNvSpPr txBox="1"/>
          <p:nvPr/>
        </p:nvSpPr>
        <p:spPr>
          <a:xfrm>
            <a:off x="1080000" y="1462650"/>
            <a:ext cx="6631800" cy="26124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What profit percent is made by selling an article at a certain price if by selling at four-fifth of that price there may be a loss of 12 %?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10 %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25 %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42 %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20 %</a:t>
            </a:r>
            <a:endParaRPr b="0" i="0" sz="1600" u="none" cap="none" strike="noStrike">
              <a:solidFill>
                <a:srgbClr val="000000"/>
              </a:solidFill>
              <a:latin typeface="Roboto"/>
              <a:ea typeface="Roboto"/>
              <a:cs typeface="Roboto"/>
              <a:sym typeface="Roboto"/>
            </a:endParaRPr>
          </a:p>
        </p:txBody>
      </p:sp>
      <p:sp>
        <p:nvSpPr>
          <p:cNvPr id="251" name="Google Shape;251;g307a436f1fa_0_148"/>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g15dab58096a_0_38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57" name="Google Shape;257;g15dab58096a_0_380"/>
          <p:cNvSpPr txBox="1"/>
          <p:nvPr/>
        </p:nvSpPr>
        <p:spPr>
          <a:xfrm>
            <a:off x="1080000" y="15924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Such question can be better answered by thinking in the reverse order. Let the CP = 100, there is a loss of 12% in the final case i.e. SP = 100 – 12 = Rs 88. Now this Rs. 88 is the four-fifth of the selling price as per the question. The original selling price will be 88 × 5/4 = Rs. 110. CP =100. There is a profit of Rs. 10, which is nothing but 10%, as the CP is taken to be Rs. 100</a:t>
            </a:r>
            <a:endParaRPr b="0" i="0" sz="1400" u="none" cap="none" strike="noStrike">
              <a:solidFill>
                <a:srgbClr val="000000"/>
              </a:solidFill>
              <a:latin typeface="Roboto"/>
              <a:ea typeface="Roboto"/>
              <a:cs typeface="Roboto"/>
              <a:sym typeface="Roboto"/>
            </a:endParaRPr>
          </a:p>
        </p:txBody>
      </p:sp>
      <p:sp>
        <p:nvSpPr>
          <p:cNvPr id="258" name="Google Shape;258;g15dab58096a_0_380"/>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07a436f1fa_0_2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64" name="Google Shape;264;g307a436f1fa_0_20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65" name="Google Shape;265;g307a436f1fa_0_204"/>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66" name="Google Shape;266;g307a436f1fa_0_204"/>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
        <p:nvSpPr>
          <p:cNvPr id="267" name="Google Shape;267;g307a436f1fa_0_20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man purchases two pens for Rs. 740. He sells one at 12 % profit and the other at a 8 % loss. Then he neither gains nor loses. Find the cost price of each pen (in Rs.).</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324, 416</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296, 444</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288, 452</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365, 375</a:t>
            </a:r>
            <a:endParaRPr b="0" i="0" sz="1600" u="none" cap="none" strike="noStrike">
              <a:solidFill>
                <a:srgbClr val="000000"/>
              </a:solidFill>
              <a:latin typeface="Roboto"/>
              <a:ea typeface="Roboto"/>
              <a:cs typeface="Roboto"/>
              <a:sym typeface="Roboto"/>
            </a:endParaRPr>
          </a:p>
        </p:txBody>
      </p:sp>
      <p:sp>
        <p:nvSpPr>
          <p:cNvPr id="268" name="Google Shape;268;g307a436f1fa_0_204"/>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15dab58096a_0_39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74" name="Google Shape;274;g15dab58096a_0_396"/>
          <p:cNvSpPr txBox="1"/>
          <p:nvPr/>
        </p:nvSpPr>
        <p:spPr>
          <a:xfrm>
            <a:off x="1340575" y="1439875"/>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CP of 2 pens = 740. Let CP of 1st pen is x and CP of 2nd pen is y.</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Since there is no profit and loss in the whole transaction, so 12% of x = 8% of y</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⇒x: y = 2: 3</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Hence the cost of first pen = (2/3)×740 = Rs 296 and that of the second pen = (3/5)×740 = Rs 444</a:t>
            </a:r>
            <a:endParaRPr b="0" i="0" sz="1400" u="none" cap="none" strike="noStrike">
              <a:solidFill>
                <a:srgbClr val="000000"/>
              </a:solidFill>
              <a:latin typeface="Roboto"/>
              <a:ea typeface="Roboto"/>
              <a:cs typeface="Roboto"/>
              <a:sym typeface="Roboto"/>
            </a:endParaRPr>
          </a:p>
        </p:txBody>
      </p:sp>
      <p:sp>
        <p:nvSpPr>
          <p:cNvPr id="275" name="Google Shape;275;g15dab58096a_0_396"/>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07a436f1fa_0_2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81" name="Google Shape;281;g307a436f1fa_0_2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82" name="Google Shape;282;g307a436f1fa_0_260"/>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83" name="Google Shape;283;g307a436f1fa_0_260"/>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
        <p:nvSpPr>
          <p:cNvPr id="284" name="Google Shape;284;g307a436f1fa_0_260"/>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After selling a watch, Mihir found that he had made a loss of 12 %. He also found that had he sold it for Rs. 45 more, he would have made a profit of 8 %. The actual initial loss was what percentage of the profit earned, had he sold the watch for 8 % profit?</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66.67 %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145 %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150 %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160 %</a:t>
            </a:r>
            <a:endParaRPr b="0" i="0" sz="1600" u="none" cap="none" strike="noStrike">
              <a:solidFill>
                <a:srgbClr val="000000"/>
              </a:solidFill>
              <a:latin typeface="Roboto"/>
              <a:ea typeface="Roboto"/>
              <a:cs typeface="Roboto"/>
              <a:sym typeface="Roboto"/>
            </a:endParaRPr>
          </a:p>
        </p:txBody>
      </p:sp>
      <p:sp>
        <p:nvSpPr>
          <p:cNvPr id="285" name="Google Shape;285;g307a436f1fa_0_26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g15dab58096a_0_412"/>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91" name="Google Shape;291;g15dab58096a_0_412"/>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As profit and loss are calculated of the same figure i.e. the cost price.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Hence you can straightaway find 12% is what percent of 8% i.e. 100 × 12/8 =150%.</a:t>
            </a:r>
            <a:endParaRPr b="0" i="0" sz="1400" u="none" cap="none" strike="noStrike">
              <a:solidFill>
                <a:srgbClr val="000000"/>
              </a:solidFill>
              <a:latin typeface="Roboto"/>
              <a:ea typeface="Roboto"/>
              <a:cs typeface="Roboto"/>
              <a:sym typeface="Roboto"/>
            </a:endParaRPr>
          </a:p>
        </p:txBody>
      </p:sp>
      <p:sp>
        <p:nvSpPr>
          <p:cNvPr id="292" name="Google Shape;292;g15dab58096a_0_412"/>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07a436f1fa_0_321"/>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
        <p:nvSpPr>
          <p:cNvPr id="298" name="Google Shape;298;g307a436f1fa_0_321"/>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dishonest dealer professes to sell his goods at a profit of 15 percent and also weighs 833.33 grams in place of a kg. Find his actual gain percent.</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A. 32 % gain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B. 38 % gain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C. 42 % gain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D. No gain no loss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99" name="Google Shape;299;g307a436f1fa_0_321"/>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
        <p:nvSpPr>
          <p:cNvPr id="304" name="Google Shape;304;g15dab58096a_0_42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05" name="Google Shape;305;g15dab58096a_0_42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Uses 833.33 gms instead of 1000 gms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 profit = (1000-833.33/833.33) × 100 = 20%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Shopkeeper also states that he makes a gain of 15%. There will be a mutual impact of the two as well. So the formula that can be applied is x + y + xy/100. Applying that you get the answer as 20 + 15 + (20)(15)/100 = 38%</a:t>
            </a:r>
            <a:endParaRPr b="0" i="0" sz="1400" u="none" cap="none" strike="noStrike">
              <a:solidFill>
                <a:srgbClr val="000000"/>
              </a:solidFill>
              <a:latin typeface="Roboto"/>
              <a:ea typeface="Roboto"/>
              <a:cs typeface="Roboto"/>
              <a:sym typeface="Roboto"/>
            </a:endParaRPr>
          </a:p>
        </p:txBody>
      </p:sp>
      <p:sp>
        <p:nvSpPr>
          <p:cNvPr id="306" name="Google Shape;306;g15dab58096a_0_428"/>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07a436f1fa_0_329"/>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
        <p:nvSpPr>
          <p:cNvPr id="312" name="Google Shape;312;g307a436f1fa_0_329"/>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tradesman sells his goods at a price 20 % above what they cost him. If his overhead expenses are Rs. 33,200 per annum, what must be his annual receipts on the goods sold, so that 10 % of his receipts may be net profit?</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Rs. 4,32,000</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Rs. 4,50,000</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Rs. 4,98,000</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Rs. 6,62,000</a:t>
            </a:r>
            <a:endParaRPr b="0" i="0" sz="1600" u="none" cap="none" strike="noStrike">
              <a:solidFill>
                <a:srgbClr val="000000"/>
              </a:solidFill>
              <a:latin typeface="Roboto"/>
              <a:ea typeface="Roboto"/>
              <a:cs typeface="Roboto"/>
              <a:sym typeface="Roboto"/>
            </a:endParaRPr>
          </a:p>
        </p:txBody>
      </p:sp>
      <p:sp>
        <p:nvSpPr>
          <p:cNvPr id="313" name="Google Shape;313;g307a436f1fa_0_329"/>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g15dab58096a_0_444"/>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19" name="Google Shape;319;g15dab58096a_0_444"/>
          <p:cNvSpPr txBox="1"/>
          <p:nvPr/>
        </p:nvSpPr>
        <p:spPr>
          <a:xfrm>
            <a:off x="1080000" y="1439999"/>
            <a:ext cx="6631800" cy="2642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Let CP = 100 ∴ SP = 120. 10% of 120 = 120 × (10/100) = Rs 12</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Real CP = 120 – 12 = 108. Here the difference between the CP and real CP can be taken as overheads = 108 – 100 = Rs 8. Now apply unitary method to find the answer i.e. If overheads is 8 then SP = 120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If overheads is 33200, then SP = (120/8) × 33200 = Rs 498000</a:t>
            </a:r>
            <a:endParaRPr b="0" i="0" sz="1400" u="none" cap="none" strike="noStrike">
              <a:solidFill>
                <a:srgbClr val="000000"/>
              </a:solidFill>
              <a:latin typeface="Roboto"/>
              <a:ea typeface="Roboto"/>
              <a:cs typeface="Roboto"/>
              <a:sym typeface="Roboto"/>
            </a:endParaRPr>
          </a:p>
        </p:txBody>
      </p:sp>
      <p:sp>
        <p:nvSpPr>
          <p:cNvPr id="320" name="Google Shape;320;g15dab58096a_0_444"/>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07a436f1fa_0_337"/>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
        <p:nvSpPr>
          <p:cNvPr id="326" name="Google Shape;326;g307a436f1fa_0_337"/>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milkman has 20 liters of milk. If he mixes 5 liters of water, which is freely available, in 20 liters of pure milk.If the cost of pure milk is Rs.18 per liter,then the profit of the milkman, when he sells all the mixture at cost price is:</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20%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B. 25%</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C. 33.33%</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D. 18%</a:t>
            </a:r>
            <a:endParaRPr b="0" i="0" sz="1600" u="none" cap="none" strike="noStrike">
              <a:solidFill>
                <a:srgbClr val="000000"/>
              </a:solidFill>
              <a:highlight>
                <a:srgbClr val="FFFFFF"/>
              </a:highlight>
              <a:latin typeface="Roboto"/>
              <a:ea typeface="Roboto"/>
              <a:cs typeface="Roboto"/>
              <a:sym typeface="Roboto"/>
            </a:endParaRPr>
          </a:p>
        </p:txBody>
      </p:sp>
      <p:sp>
        <p:nvSpPr>
          <p:cNvPr id="327" name="Google Shape;327;g307a436f1fa_0_337"/>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g15dab58096a_0_46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33" name="Google Shape;333;g15dab58096a_0_460"/>
          <p:cNvSpPr txBox="1"/>
          <p:nvPr/>
        </p:nvSpPr>
        <p:spPr>
          <a:xfrm>
            <a:off x="1080000" y="13638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6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when the water is freely available and all the water is sold at the price of the milk, then the water gives the profit on the cost of 20 liters of milk.</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Therefore, profit percentage = (5/20) x 100 =25 %       [ Profit %= (Profit/C.P)*100]</a:t>
            </a:r>
            <a:endParaRPr b="0" i="0" sz="1400" u="none" cap="none" strike="noStrike">
              <a:solidFill>
                <a:srgbClr val="000000"/>
              </a:solidFill>
              <a:highlight>
                <a:srgbClr val="FFFFFF"/>
              </a:highlight>
              <a:latin typeface="Roboto"/>
              <a:ea typeface="Roboto"/>
              <a:cs typeface="Roboto"/>
              <a:sym typeface="Roboto"/>
            </a:endParaRPr>
          </a:p>
        </p:txBody>
      </p:sp>
      <p:sp>
        <p:nvSpPr>
          <p:cNvPr id="334" name="Google Shape;334;g15dab58096a_0_460"/>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07a436f1fa_0_345"/>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
        <p:nvSpPr>
          <p:cNvPr id="340" name="Google Shape;340;g307a436f1fa_0_345"/>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sold an article to 'B' at a profit of 20%. 'B' sold the same article to 'C' at a loss of 25% and 'C' sold the same article to 'D' at a profit of 40%. If 'D' paid Rs 252 for the article, then find how much did 'A' pay for it?</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Rs.196</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B. Rs.210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C. Rs.200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D. Rs.235</a:t>
            </a:r>
            <a:endParaRPr b="0" i="0" sz="1600" u="none" cap="none" strike="noStrike">
              <a:solidFill>
                <a:srgbClr val="000000"/>
              </a:solidFill>
              <a:highlight>
                <a:srgbClr val="FFFFFF"/>
              </a:highlight>
              <a:latin typeface="Roboto"/>
              <a:ea typeface="Roboto"/>
              <a:cs typeface="Roboto"/>
              <a:sym typeface="Roboto"/>
            </a:endParaRPr>
          </a:p>
        </p:txBody>
      </p:sp>
      <p:sp>
        <p:nvSpPr>
          <p:cNvPr id="341" name="Google Shape;341;g307a436f1fa_0_345"/>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5" name="Shape 345"/>
        <p:cNvGrpSpPr/>
        <p:nvPr/>
      </p:nvGrpSpPr>
      <p:grpSpPr>
        <a:xfrm>
          <a:off x="0" y="0"/>
          <a:ext cx="0" cy="0"/>
          <a:chOff x="0" y="0"/>
          <a:chExt cx="0" cy="0"/>
        </a:xfrm>
      </p:grpSpPr>
      <p:sp>
        <p:nvSpPr>
          <p:cNvPr id="346" name="Google Shape;346;g15dab58096a_0_47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47" name="Google Shape;347;g15dab58096a_0_47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Let the article costs 'X' to A</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Cost price of B = 1.2X</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Cost price of C = 0.75(1.2X) = 0.9X</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Cost price of D = 1.4(0.9X) = 1.26X = 252</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Roboto"/>
                <a:ea typeface="Roboto"/>
                <a:cs typeface="Roboto"/>
                <a:sym typeface="Roboto"/>
              </a:rPr>
              <a:t>Amount paid by A for the article = Rs. 200.</a:t>
            </a:r>
            <a:endParaRPr b="0" i="0" sz="1400" u="none" cap="none" strike="noStrike">
              <a:solidFill>
                <a:srgbClr val="000000"/>
              </a:solidFill>
              <a:highlight>
                <a:srgbClr val="FFFFFF"/>
              </a:highlight>
              <a:latin typeface="Roboto"/>
              <a:ea typeface="Roboto"/>
              <a:cs typeface="Roboto"/>
              <a:sym typeface="Roboto"/>
            </a:endParaRPr>
          </a:p>
        </p:txBody>
      </p:sp>
      <p:sp>
        <p:nvSpPr>
          <p:cNvPr id="348" name="Google Shape;348;g15dab58096a_0_476"/>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07a436f1fa_0_353"/>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354" name="Google Shape;354;g307a436f1fa_0_353"/>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By mixing two qualities of pulses in the ratio 2: 3 and selling the mixture at the rate of Rs 22 per kilogram, a shopkeeper makes a profit of 10 %. If the cost of the smaller quantity be Rs 14 per kg, the cost per kg of the larger quantity is:</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Rs 23</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B. Rs 25</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C. Rs 24</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D. None of these</a:t>
            </a:r>
            <a:endParaRPr b="0" i="0" sz="1600" u="none" cap="none" strike="noStrike">
              <a:solidFill>
                <a:srgbClr val="000000"/>
              </a:solidFill>
              <a:highlight>
                <a:srgbClr val="FFFFFF"/>
              </a:highlight>
              <a:latin typeface="Roboto"/>
              <a:ea typeface="Roboto"/>
              <a:cs typeface="Roboto"/>
              <a:sym typeface="Roboto"/>
            </a:endParaRPr>
          </a:p>
        </p:txBody>
      </p:sp>
      <p:sp>
        <p:nvSpPr>
          <p:cNvPr id="355" name="Google Shape;355;g307a436f1fa_0_353"/>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g15dab58096a_0_492"/>
          <p:cNvSpPr txBox="1"/>
          <p:nvPr/>
        </p:nvSpPr>
        <p:spPr>
          <a:xfrm>
            <a:off x="1080000" y="16686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Cost Price of 5 kg = Rs.(14*2 + x*3) = (28 + 3x).</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Sell price of 5 kg = Rs. (22x5) = Rs. 110.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[{110 - (28 + 3x)}/(28 + 3x) ]* 100 =10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[82-3x/28 + 3x]= 1 / 10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820 - 30x = 28 +3x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33x = 792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x = 24</a:t>
            </a:r>
            <a:endParaRPr b="0" i="0" sz="1400" u="none" cap="none" strike="noStrike">
              <a:solidFill>
                <a:srgbClr val="000000"/>
              </a:solidFill>
              <a:highlight>
                <a:srgbClr val="FFFFFF"/>
              </a:highlight>
              <a:latin typeface="Roboto"/>
              <a:ea typeface="Roboto"/>
              <a:cs typeface="Roboto"/>
              <a:sym typeface="Roboto"/>
            </a:endParaRPr>
          </a:p>
        </p:txBody>
      </p:sp>
      <p:sp>
        <p:nvSpPr>
          <p:cNvPr id="361" name="Google Shape;361;g15dab58096a_0_492"/>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07a436f1fa_0_366"/>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
        <p:nvSpPr>
          <p:cNvPr id="367" name="Google Shape;367;g307a436f1fa_0_366"/>
          <p:cNvSpPr txBox="1"/>
          <p:nvPr/>
        </p:nvSpPr>
        <p:spPr>
          <a:xfrm>
            <a:off x="1079500" y="117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rPr b="0" i="0" lang="en-GB" sz="1500" u="none" cap="none" strike="noStrike">
                <a:solidFill>
                  <a:schemeClr val="dk1"/>
                </a:solidFill>
                <a:highlight>
                  <a:schemeClr val="lt1"/>
                </a:highlight>
                <a:latin typeface="Roboto"/>
                <a:ea typeface="Roboto"/>
                <a:cs typeface="Roboto"/>
                <a:sym typeface="Roboto"/>
              </a:rPr>
              <a:t>Rahul went to purchase a Nokia mobile handset, the shopkeeper told him to pay 20% tax if he asked the bill. Rahul manages to get the discount of 5% on the actual </a:t>
            </a:r>
            <a:r>
              <a:rPr lang="en-GB" sz="1500">
                <a:solidFill>
                  <a:schemeClr val="dk1"/>
                </a:solidFill>
                <a:highlight>
                  <a:schemeClr val="lt1"/>
                </a:highlight>
                <a:latin typeface="Roboto"/>
                <a:ea typeface="Roboto"/>
                <a:cs typeface="Roboto"/>
                <a:sym typeface="Roboto"/>
              </a:rPr>
              <a:t>sale price</a:t>
            </a:r>
            <a:r>
              <a:rPr b="0" i="0" lang="en-GB" sz="1500" u="none" cap="none" strike="noStrike">
                <a:solidFill>
                  <a:schemeClr val="dk1"/>
                </a:solidFill>
                <a:highlight>
                  <a:schemeClr val="lt1"/>
                </a:highlight>
                <a:latin typeface="Roboto"/>
                <a:ea typeface="Roboto"/>
                <a:cs typeface="Roboto"/>
                <a:sym typeface="Roboto"/>
              </a:rPr>
              <a:t> of the mobile and he paid the shopkeeper Rs. 3325 without tax. Besides he manages to avoid to pay 20% tax on the already  discounted price, what is the amount of discount that he has gotten?</a:t>
            </a:r>
            <a:endParaRPr b="0" i="0" sz="15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500" u="none" cap="none" strike="noStrike">
                <a:solidFill>
                  <a:schemeClr val="dk1"/>
                </a:solidFill>
                <a:highlight>
                  <a:schemeClr val="lt1"/>
                </a:highlight>
                <a:latin typeface="Roboto"/>
                <a:ea typeface="Roboto"/>
                <a:cs typeface="Roboto"/>
                <a:sym typeface="Roboto"/>
              </a:rPr>
              <a:t>A. 750</a:t>
            </a:r>
            <a:endParaRPr b="0" i="0" sz="15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500" u="none" cap="none" strike="noStrike">
                <a:solidFill>
                  <a:schemeClr val="dk1"/>
                </a:solidFill>
                <a:highlight>
                  <a:schemeClr val="lt1"/>
                </a:highlight>
                <a:latin typeface="Roboto"/>
                <a:ea typeface="Roboto"/>
                <a:cs typeface="Roboto"/>
                <a:sym typeface="Roboto"/>
              </a:rPr>
              <a:t>B. 375</a:t>
            </a:r>
            <a:endParaRPr b="0" i="0" sz="15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500" u="none" cap="none" strike="noStrike">
                <a:solidFill>
                  <a:schemeClr val="dk1"/>
                </a:solidFill>
                <a:highlight>
                  <a:schemeClr val="lt1"/>
                </a:highlight>
                <a:latin typeface="Roboto"/>
                <a:ea typeface="Roboto"/>
                <a:cs typeface="Roboto"/>
                <a:sym typeface="Roboto"/>
              </a:rPr>
              <a:t>C. 875</a:t>
            </a:r>
            <a:endParaRPr b="0" i="0" sz="15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800"/>
              </a:spcAft>
              <a:buClr>
                <a:schemeClr val="dk1"/>
              </a:buClr>
              <a:buSzPts val="1400"/>
              <a:buFont typeface="Arial"/>
              <a:buNone/>
            </a:pPr>
            <a:r>
              <a:rPr b="0" i="0" lang="en-GB" sz="1500" u="none" cap="none" strike="noStrike">
                <a:solidFill>
                  <a:schemeClr val="dk1"/>
                </a:solidFill>
                <a:highlight>
                  <a:schemeClr val="lt1"/>
                </a:highlight>
                <a:latin typeface="Roboto"/>
                <a:ea typeface="Roboto"/>
                <a:cs typeface="Roboto"/>
                <a:sym typeface="Roboto"/>
              </a:rPr>
              <a:t>D. 525</a:t>
            </a:r>
            <a:endParaRPr b="0" i="0" sz="1500" u="none" cap="none" strike="noStrike">
              <a:solidFill>
                <a:srgbClr val="000000"/>
              </a:solidFill>
              <a:highlight>
                <a:srgbClr val="FFFFFF"/>
              </a:highlight>
              <a:latin typeface="Roboto"/>
              <a:ea typeface="Roboto"/>
              <a:cs typeface="Roboto"/>
              <a:sym typeface="Roboto"/>
            </a:endParaRPr>
          </a:p>
        </p:txBody>
      </p:sp>
      <p:sp>
        <p:nvSpPr>
          <p:cNvPr id="368" name="Google Shape;368;g307a436f1fa_0_366"/>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g15dab58096a_0_50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74" name="Google Shape;374;g15dab58096a_0_50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CP = 100, SP (with tax) =120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New   SP = 100 - 5 = 95</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Effective discount = 120 - 95 = 25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So, at SP of 95 ----&gt; discount = 25</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and at SP of 3325 -----&gt; discount = 25/95×3325 = 875</a:t>
            </a:r>
            <a:endParaRPr b="0" i="0" sz="1400" u="none" cap="none" strike="noStrike">
              <a:solidFill>
                <a:srgbClr val="000000"/>
              </a:solidFill>
              <a:highlight>
                <a:srgbClr val="FFFFFF"/>
              </a:highlight>
              <a:latin typeface="Roboto"/>
              <a:ea typeface="Roboto"/>
              <a:cs typeface="Roboto"/>
              <a:sym typeface="Roboto"/>
            </a:endParaRPr>
          </a:p>
          <a:p>
            <a:pPr indent="0" lvl="0" marL="0" marR="2540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Roboto"/>
              <a:ea typeface="Roboto"/>
              <a:cs typeface="Roboto"/>
              <a:sym typeface="Roboto"/>
            </a:endParaRPr>
          </a:p>
        </p:txBody>
      </p:sp>
      <p:sp>
        <p:nvSpPr>
          <p:cNvPr id="375" name="Google Shape;375;g15dab58096a_0_508"/>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07a436f1fa_0_374"/>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
        <p:nvSpPr>
          <p:cNvPr id="381" name="Google Shape;381;g307a436f1fa_0_374"/>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82" name="Google Shape;382;g307a436f1fa_0_37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man saves 20% of his monthly salary. If an account of dearness of things he is to increase his monthly expenses by 15%, he is only able to save Rs. 400 per month. What is his monthly salary ?</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Rs. 6000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B. Rs. 4500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C. Rs. 5000</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50000"/>
              </a:lnSpc>
              <a:spcBef>
                <a:spcPts val="800"/>
              </a:spcBef>
              <a:spcAft>
                <a:spcPts val="80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D. Rs. 6500</a:t>
            </a:r>
            <a:endParaRPr b="0" i="0" sz="1600" u="none" cap="none" strike="noStrike">
              <a:solidFill>
                <a:srgbClr val="000000"/>
              </a:solidFill>
              <a:highlight>
                <a:srgbClr val="FFFFFF"/>
              </a:highlight>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g15dab58096a_0_524"/>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88" name="Google Shape;388;g15dab58096a_0_52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6000"/>
              </a:lnSpc>
              <a:spcBef>
                <a:spcPts val="0"/>
              </a:spcBef>
              <a:spcAft>
                <a:spcPts val="0"/>
              </a:spcAft>
              <a:buClr>
                <a:schemeClr val="dk1"/>
              </a:buClr>
              <a:buSzPts val="1100"/>
              <a:buFont typeface="Arial"/>
              <a:buNone/>
            </a:pPr>
            <a:r>
              <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Income = Rs. 100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Expenditure = Rs. 80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Savings = Rs. 20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Present Expenditure 80x(15/100) = Rs. 12 = 80 + 12 = Rs. 92</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Present Savings = 100 – 92 = Rs. 8</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100 ------ 8</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 --------- 400 =&gt; 5000</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56000"/>
              </a:lnSpc>
              <a:spcBef>
                <a:spcPts val="0"/>
              </a:spcBef>
              <a:spcAft>
                <a:spcPts val="0"/>
              </a:spcAft>
              <a:buClr>
                <a:schemeClr val="dk1"/>
              </a:buClr>
              <a:buSzPts val="1100"/>
              <a:buFont typeface="Arial"/>
              <a:buNone/>
            </a:pPr>
            <a:r>
              <a:rPr b="0" i="0" lang="en-GB" sz="1400" u="none" cap="none" strike="noStrike">
                <a:solidFill>
                  <a:srgbClr val="000000"/>
                </a:solidFill>
                <a:highlight>
                  <a:srgbClr val="FFFFFF"/>
                </a:highlight>
                <a:latin typeface="Roboto"/>
                <a:ea typeface="Roboto"/>
                <a:cs typeface="Roboto"/>
                <a:sym typeface="Roboto"/>
              </a:rPr>
              <a:t>His salary = Rs. 5000</a:t>
            </a:r>
            <a:endParaRPr b="0" i="0" sz="1400" u="none" cap="none" strike="noStrike">
              <a:solidFill>
                <a:srgbClr val="000000"/>
              </a:solidFill>
              <a:highlight>
                <a:srgbClr val="FFFFFF"/>
              </a:highlight>
              <a:latin typeface="Roboto"/>
              <a:ea typeface="Roboto"/>
              <a:cs typeface="Roboto"/>
              <a:sym typeface="Roboto"/>
            </a:endParaRPr>
          </a:p>
        </p:txBody>
      </p:sp>
      <p:sp>
        <p:nvSpPr>
          <p:cNvPr id="389" name="Google Shape;389;g15dab58096a_0_524"/>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07a436f1fa_0_382"/>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395" name="Google Shape;395;g307a436f1fa_0_382"/>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During a sale, a retailer reduced the advertised selling price of a mixer grinder by offering 30% discount. In this process he incurred a loss of 2%. What would have been his profit percentage, if he had instead offered 15% discount?</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A. 12%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B. 15%</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C. 17%</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600" u="none" cap="none" strike="noStrike">
                <a:solidFill>
                  <a:srgbClr val="000000"/>
                </a:solidFill>
                <a:latin typeface="Roboto"/>
                <a:ea typeface="Roboto"/>
                <a:cs typeface="Roboto"/>
                <a:sym typeface="Roboto"/>
              </a:rPr>
              <a:t>D. 19%</a:t>
            </a:r>
            <a:endParaRPr b="0" i="0" sz="1600" u="none" cap="none" strike="noStrike">
              <a:solidFill>
                <a:srgbClr val="000000"/>
              </a:solidFill>
              <a:latin typeface="Roboto"/>
              <a:ea typeface="Roboto"/>
              <a:cs typeface="Roboto"/>
              <a:sym typeface="Roboto"/>
            </a:endParaRPr>
          </a:p>
        </p:txBody>
      </p:sp>
      <p:sp>
        <p:nvSpPr>
          <p:cNvPr id="396" name="Google Shape;396;g307a436f1fa_0_382"/>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0" name="Shape 400"/>
        <p:cNvGrpSpPr/>
        <p:nvPr/>
      </p:nvGrpSpPr>
      <p:grpSpPr>
        <a:xfrm>
          <a:off x="0" y="0"/>
          <a:ext cx="0" cy="0"/>
          <a:chOff x="0" y="0"/>
          <a:chExt cx="0" cy="0"/>
        </a:xfrm>
      </p:grpSpPr>
      <p:sp>
        <p:nvSpPr>
          <p:cNvPr id="401" name="Google Shape;401;g15dab58096a_0_54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402" name="Google Shape;402;g15dab58096a_0_540"/>
          <p:cNvSpPr txBox="1"/>
          <p:nvPr/>
        </p:nvSpPr>
        <p:spPr>
          <a:xfrm>
            <a:off x="1080000" y="1440000"/>
            <a:ext cx="7641600" cy="2704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Let the cost price of the item be Rs. 100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After giving a discount of 30% he sold it at 2% loss, that is, at Rs. 98</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Let the marked price be 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We get,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0.7M = 98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=&gt; M = Rs. 140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If the retailer had instead offered only 15% discount, then the selling price would be,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0.85*140 = Rs. 119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In this case profit % would be 19%</a:t>
            </a:r>
            <a:endParaRPr b="0" i="0" sz="1400" u="none" cap="none" strike="noStrike">
              <a:solidFill>
                <a:srgbClr val="000000"/>
              </a:solidFill>
              <a:latin typeface="Roboto"/>
              <a:ea typeface="Roboto"/>
              <a:cs typeface="Roboto"/>
              <a:sym typeface="Roboto"/>
            </a:endParaRPr>
          </a:p>
        </p:txBody>
      </p:sp>
      <p:sp>
        <p:nvSpPr>
          <p:cNvPr id="403" name="Google Shape;403;g15dab58096a_0_540"/>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07a436f1fa_0_39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409" name="Google Shape;409;g307a436f1fa_0_390"/>
          <p:cNvSpPr txBox="1"/>
          <p:nvPr/>
        </p:nvSpPr>
        <p:spPr>
          <a:xfrm>
            <a:off x="1080000" y="1010550"/>
            <a:ext cx="6631800" cy="3064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Arial"/>
              <a:buNone/>
            </a:pPr>
            <a:r>
              <a:t/>
            </a:r>
            <a:endParaRPr b="0" i="0" sz="145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rPr b="0" i="0" lang="en-GB" sz="1450" u="none" cap="none" strike="noStrike">
                <a:solidFill>
                  <a:schemeClr val="dk1"/>
                </a:solidFill>
                <a:latin typeface="Roboto"/>
                <a:ea typeface="Roboto"/>
                <a:cs typeface="Roboto"/>
                <a:sym typeface="Roboto"/>
              </a:rPr>
              <a:t>X goes to the shopkeeper P to purchase a plant for Rs 350 and gives him a 1000- rupee note. P does not have the change and hence goes to shopkeeper Q to get the change. He then gives X Rs 650. Later, Q realizes that the 1000-rupee note is a duplicate note and asks P to return his money. P returns the money. What is the loss incurred by P if it is given that P sold the plant at a profit of 25%?</a:t>
            </a:r>
            <a:endParaRPr b="0" i="0" sz="145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450" u="none" cap="none" strike="noStrike">
                <a:solidFill>
                  <a:schemeClr val="dk1"/>
                </a:solidFill>
                <a:latin typeface="Roboto"/>
                <a:ea typeface="Roboto"/>
                <a:cs typeface="Roboto"/>
                <a:sym typeface="Roboto"/>
              </a:rPr>
              <a:t>A. Rs 930</a:t>
            </a:r>
            <a:endParaRPr b="0" i="0" sz="145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450" u="none" cap="none" strike="noStrike">
                <a:solidFill>
                  <a:schemeClr val="dk1"/>
                </a:solidFill>
                <a:latin typeface="Roboto"/>
                <a:ea typeface="Roboto"/>
                <a:cs typeface="Roboto"/>
                <a:sym typeface="Roboto"/>
              </a:rPr>
              <a:t>B. Rs 1000 </a:t>
            </a:r>
            <a:endParaRPr b="0" i="0" sz="145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rPr b="0" i="0" lang="en-GB" sz="1450" u="none" cap="none" strike="noStrike">
                <a:solidFill>
                  <a:schemeClr val="dk1"/>
                </a:solidFill>
                <a:latin typeface="Roboto"/>
                <a:ea typeface="Roboto"/>
                <a:cs typeface="Roboto"/>
                <a:sym typeface="Roboto"/>
              </a:rPr>
              <a:t>C. Rs 1070</a:t>
            </a:r>
            <a:endParaRPr b="0" i="0" sz="145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800"/>
              </a:spcAft>
              <a:buClr>
                <a:schemeClr val="dk1"/>
              </a:buClr>
              <a:buSzPts val="1400"/>
              <a:buFont typeface="Arial"/>
              <a:buNone/>
            </a:pPr>
            <a:r>
              <a:rPr b="0" i="0" lang="en-GB" sz="1450" u="none" cap="none" strike="noStrike">
                <a:solidFill>
                  <a:schemeClr val="dk1"/>
                </a:solidFill>
                <a:latin typeface="Roboto"/>
                <a:ea typeface="Roboto"/>
                <a:cs typeface="Roboto"/>
                <a:sym typeface="Roboto"/>
              </a:rPr>
              <a:t>D. Rs 1200</a:t>
            </a:r>
            <a:endParaRPr b="0" i="0" sz="1450" u="none" cap="none" strike="noStrike">
              <a:solidFill>
                <a:srgbClr val="000000"/>
              </a:solidFill>
              <a:latin typeface="Roboto"/>
              <a:ea typeface="Roboto"/>
              <a:cs typeface="Roboto"/>
              <a:sym typeface="Roboto"/>
            </a:endParaRPr>
          </a:p>
        </p:txBody>
      </p:sp>
      <p:sp>
        <p:nvSpPr>
          <p:cNvPr id="410" name="Google Shape;410;g307a436f1fa_0_390"/>
          <p:cNvSpPr txBox="1"/>
          <p:nvPr/>
        </p:nvSpPr>
        <p:spPr>
          <a:xfrm>
            <a:off x="9634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4" name="Shape 414"/>
        <p:cNvGrpSpPr/>
        <p:nvPr/>
      </p:nvGrpSpPr>
      <p:grpSpPr>
        <a:xfrm>
          <a:off x="0" y="0"/>
          <a:ext cx="0" cy="0"/>
          <a:chOff x="0" y="0"/>
          <a:chExt cx="0" cy="0"/>
        </a:xfrm>
      </p:grpSpPr>
      <p:sp>
        <p:nvSpPr>
          <p:cNvPr id="415" name="Google Shape;415;g15dab58096a_0_55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416" name="Google Shape;416;g15dab58096a_0_55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Assume that initially, P does not have any money. He only has the plant whose selling price is Rs 350.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Cost Price = 350/1.25 = Rs.280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X gives Rs 1000 to P and P gives that money to Q, in exchange for a change of Rs 1000.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He then gives Rs 650 to X.</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=&gt; P is left with Rs 350.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Now, Q asks his Rs 1000 back. P gives Rs 350 and is in debt of Rs 650.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So, his total loss is Rs 650 and the cost price of the plant, which is Rs 280.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Hence, the total loss = 650 + 280 = Rs 930.</a:t>
            </a:r>
            <a:endParaRPr b="0" i="0" sz="1400" u="none" cap="none" strike="noStrike">
              <a:solidFill>
                <a:srgbClr val="000000"/>
              </a:solidFill>
              <a:latin typeface="Roboto"/>
              <a:ea typeface="Roboto"/>
              <a:cs typeface="Roboto"/>
              <a:sym typeface="Roboto"/>
            </a:endParaRPr>
          </a:p>
        </p:txBody>
      </p:sp>
      <p:sp>
        <p:nvSpPr>
          <p:cNvPr id="417" name="Google Shape;417;g15dab58096a_0_556"/>
          <p:cNvSpPr txBox="1"/>
          <p:nvPr/>
        </p:nvSpPr>
        <p:spPr>
          <a:xfrm>
            <a:off x="95045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423" name="Google Shape;423;p6"/>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424" name="Google Shape;424;p6"/>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430" name="Google Shape;430;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431" name="Google Shape;431;p7"/>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32" name="Google Shape;432;p7"/>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33" name="Google Shape;433;p7"/>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34" name="Google Shape;434;p7"/>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35" name="Google Shape;435;p7"/>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36" name="Google Shape;436;p7"/>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37" name="Google Shape;437;p7"/>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38" name="Google Shape;438;p7"/>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39" name="Google Shape;439;p7"/>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40" name="Google Shape;440;p7"/>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dc:creator>
</cp:coreProperties>
</file>