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Roboto Black"/>
      <p:bold r:id="rId40"/>
      <p:boldItalic r:id="rId41"/>
    </p:embeddedFont>
    <p:embeddedFont>
      <p:font typeface="Roboto"/>
      <p:regular r:id="rId42"/>
      <p:bold r:id="rId43"/>
      <p:italic r:id="rId44"/>
      <p:boldItalic r:id="rId45"/>
    </p:embeddedFont>
    <p:embeddedFont>
      <p:font typeface="Roboto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97">
          <p15:clr>
            <a:srgbClr val="FF00FF"/>
          </p15:clr>
        </p15:guide>
        <p15:guide id="2" orient="horz" pos="2665">
          <p15:clr>
            <a:srgbClr val="FF0000"/>
          </p15:clr>
        </p15:guide>
        <p15:guide id="3" pos="5272">
          <p15:clr>
            <a:srgbClr val="FF00FF"/>
          </p15:clr>
        </p15:guide>
        <p15:guide id="4" orient="horz" pos="907">
          <p15:clr>
            <a:srgbClr val="FF0000"/>
          </p15:clr>
        </p15:guide>
        <p15:guide id="5" orient="horz" pos="737">
          <p15:clr>
            <a:srgbClr val="00FF00"/>
          </p15:clr>
        </p15:guide>
        <p15:guide id="6" orient="horz" pos="397">
          <p15:clr>
            <a:srgbClr val="00FF00"/>
          </p15:clr>
        </p15:guide>
        <p15:guide id="7" pos="4529">
          <p15:clr>
            <a:srgbClr val="747775"/>
          </p15:clr>
        </p15:guide>
      </p15:sldGuideLst>
    </p:ext>
    <p:ext uri="GoogleSlidesCustomDataVersion2">
      <go:slidesCustomData xmlns:go="http://customooxmlschemas.google.com/" r:id="rId50" roundtripDataSignature="AMtx7miyPCEBjIQ4Zi5srmBNaEOHsXWt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7"/>
        <p:guide pos="2665" orient="horz"/>
        <p:guide pos="5272"/>
        <p:guide pos="907" orient="horz"/>
        <p:guide pos="737" orient="horz"/>
        <p:guide pos="397" orient="horz"/>
        <p:guide pos="452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lack-bold.fntdata"/><Relationship Id="rId42" Type="http://schemas.openxmlformats.org/officeDocument/2006/relationships/font" Target="fonts/Roboto-regular.fntdata"/><Relationship Id="rId41" Type="http://schemas.openxmlformats.org/officeDocument/2006/relationships/font" Target="fonts/RobotoBlack-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RobotoMedium-regular.fntdata"/><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edium-italic.fntdata"/><Relationship Id="rId47" Type="http://schemas.openxmlformats.org/officeDocument/2006/relationships/font" Target="fonts/RobotoMedium-bold.fntdata"/><Relationship Id="rId49" Type="http://schemas.openxmlformats.org/officeDocument/2006/relationships/font" Target="fonts/Roboto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b9bf173ee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31b9bf173e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ee15abed17_3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2ee15abed17_3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aa413c9f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2aa413c9f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ee15abed17_3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2ee15abed17_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ee15abed17_3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2ee15abed17_3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ee15abed17_3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ee15abed17_3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e15abed17_3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2ee15abed17_3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ee15abed17_3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ee15abed17_3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ee15abed17_3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2ee15abed17_3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b9bf173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b9bf173e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ee15abed17_3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ee15abed17_3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ee15abed17_3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ee15abed17_3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e15abed17_3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ee15abed17_3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ee15abed17_3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2ee15abed17_3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e15abed17_3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2ee15abed17_3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e15abed17_3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ee15abed17_3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ee15abed17_3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ee15abed17_3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e15abed17_3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ee15abed17_3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ee15abed17_3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ee15abed17_3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ee15abed17_3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2ee15abed17_3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ee15abed17_3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2ee15abed17_3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ee15abed17_3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ee15abed17_3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e15abed17_3_3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2ee15abed17_3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ee15abed17_3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2ee15abed17_3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e15abed17_3_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ee15abed17_3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ee15abed17_3_4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2ee15abed17_3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ee15abed17_3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2ee15abed17_3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ee15abed17_3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2ee15abed17_3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ee15abed17_3_4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2ee15abed17_3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ee15abed17_3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2ee15abed17_3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ee15abed17_3_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2ee15abed17_3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ee15abed17_3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2ee15abed17_3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ee15abed17_3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2ee15abed17_3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ee15abed17_3_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2ee15abed17_3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1" name="Google Shape;4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7" name="Google Shape;4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jp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31b9bf173ee_0_28"/>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7" name="Google Shape;57;g31b9bf173ee_0_28"/>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8" name="Google Shape;58;g31b9bf173ee_0_28"/>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g2ee15abed17_3_27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4" name="Google Shape;64;g2ee15abed17_3_278"/>
          <p:cNvSpPr txBox="1"/>
          <p:nvPr/>
        </p:nvSpPr>
        <p:spPr>
          <a:xfrm>
            <a:off x="178001" y="2109682"/>
            <a:ext cx="46908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lang="en-GB" sz="3200">
                <a:solidFill>
                  <a:schemeClr val="lt1"/>
                </a:solidFill>
                <a:latin typeface="Roboto"/>
                <a:ea typeface="Roboto"/>
                <a:cs typeface="Roboto"/>
                <a:sym typeface="Roboto"/>
              </a:rPr>
              <a:t>BLOOD RELATIONS</a:t>
            </a:r>
            <a:endParaRPr b="1" i="0" sz="2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2aa413c9fd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0" name="Google Shape;70;g32aa413c9fd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GB" sz="1800">
                <a:latin typeface="Roboto"/>
                <a:ea typeface="Roboto"/>
                <a:cs typeface="Roboto"/>
                <a:sym typeface="Roboto"/>
              </a:rPr>
              <a:t>                                    Test time on :</a:t>
            </a:r>
            <a:r>
              <a:rPr b="1" i="0" lang="en-GB" sz="1800" u="none" cap="none" strike="noStrike">
                <a:solidFill>
                  <a:srgbClr val="000000"/>
                </a:solidFill>
                <a:latin typeface="Roboto"/>
                <a:ea typeface="Roboto"/>
                <a:cs typeface="Roboto"/>
                <a:sym typeface="Roboto"/>
              </a:rPr>
              <a:t> </a:t>
            </a:r>
            <a:endParaRPr b="1" i="0" sz="1800" u="none" cap="none" strike="noStrike">
              <a:solidFill>
                <a:srgbClr val="000000"/>
              </a:solidFill>
              <a:latin typeface="Roboto"/>
              <a:ea typeface="Roboto"/>
              <a:cs typeface="Roboto"/>
              <a:sym typeface="Roboto"/>
            </a:endParaRPr>
          </a:p>
        </p:txBody>
      </p:sp>
      <p:sp>
        <p:nvSpPr>
          <p:cNvPr id="71" name="Google Shape;71;g32aa413c9fd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2ee15abed17_3_283"/>
          <p:cNvSpPr txBox="1"/>
          <p:nvPr/>
        </p:nvSpPr>
        <p:spPr>
          <a:xfrm>
            <a:off x="720000" y="1440000"/>
            <a:ext cx="7650000" cy="2704200"/>
          </a:xfrm>
          <a:prstGeom prst="rect">
            <a:avLst/>
          </a:prstGeom>
          <a:noFill/>
          <a:ln cap="flat" cmpd="sng" w="9525">
            <a:solidFill>
              <a:schemeClr val="lt1"/>
            </a:solidFill>
            <a:prstDash val="solid"/>
            <a:round/>
            <a:headEnd len="sm" w="sm" type="none"/>
            <a:tailEnd len="sm" w="sm" type="none"/>
          </a:ln>
        </p:spPr>
        <p:txBody>
          <a:bodyPr anchorCtr="0" anchor="t" bIns="0" lIns="540000" spcFirstLastPara="1" rIns="15420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I</a:t>
            </a:r>
            <a:r>
              <a:rPr lang="en-GB" sz="1800">
                <a:solidFill>
                  <a:schemeClr val="dk1"/>
                </a:solidFill>
                <a:latin typeface="Roboto"/>
                <a:ea typeface="Roboto"/>
                <a:cs typeface="Roboto"/>
                <a:sym typeface="Roboto"/>
              </a:rPr>
              <a:t>ntroducing a woman, Shashank said, "She is the mother of the only daughter of my son." How that woman is related to Shashank?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A.Daughter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B.Sister-in-law</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C.Wife</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D.Daughter-in-law</a:t>
            </a:r>
            <a:endParaRPr sz="1800">
              <a:solidFill>
                <a:schemeClr val="dk1"/>
              </a:solidFill>
              <a:latin typeface="Roboto"/>
              <a:ea typeface="Roboto"/>
              <a:cs typeface="Roboto"/>
              <a:sym typeface="Roboto"/>
            </a:endParaRPr>
          </a:p>
        </p:txBody>
      </p:sp>
      <p:sp>
        <p:nvSpPr>
          <p:cNvPr id="77" name="Google Shape;77;g2ee15abed17_3_283"/>
          <p:cNvSpPr txBox="1"/>
          <p:nvPr/>
        </p:nvSpPr>
        <p:spPr>
          <a:xfrm>
            <a:off x="720000" y="579950"/>
            <a:ext cx="2351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t/>
            </a:r>
            <a:endParaRPr b="0" i="0" sz="2100" u="none" cap="none" strike="noStrike">
              <a:solidFill>
                <a:srgbClr val="6D9EEB"/>
              </a:solidFill>
              <a:latin typeface="Roboto Black"/>
              <a:ea typeface="Roboto Black"/>
              <a:cs typeface="Roboto Black"/>
              <a:sym typeface="Roboto Black"/>
            </a:endParaRPr>
          </a:p>
        </p:txBody>
      </p:sp>
      <p:sp>
        <p:nvSpPr>
          <p:cNvPr id="78" name="Google Shape;78;g2ee15abed17_3_2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a:t>
            </a:r>
            <a:r>
              <a:rPr b="1" lang="en-GB" sz="2000">
                <a:solidFill>
                  <a:srgbClr val="8182EF"/>
                </a:solidFill>
                <a:latin typeface="Roboto"/>
                <a:ea typeface="Roboto"/>
                <a:cs typeface="Roboto"/>
                <a:sym typeface="Roboto"/>
              </a:rPr>
              <a:t> </a:t>
            </a:r>
            <a:r>
              <a:rPr b="1" i="0" lang="en-GB" sz="2000" u="none" cap="none" strike="noStrike">
                <a:solidFill>
                  <a:srgbClr val="8182EF"/>
                </a:solidFill>
                <a:latin typeface="Roboto"/>
                <a:ea typeface="Roboto"/>
                <a:cs typeface="Roboto"/>
                <a:sym typeface="Roboto"/>
              </a:rPr>
              <a:t>01</a:t>
            </a:r>
            <a:endParaRPr b="1" i="0" sz="2000" u="none" cap="none" strike="noStrike">
              <a:solidFill>
                <a:srgbClr val="8182EF"/>
              </a:solidFill>
              <a:latin typeface="Roboto"/>
              <a:ea typeface="Roboto"/>
              <a:cs typeface="Roboto"/>
              <a:sym typeface="Roboto"/>
            </a:endParaRPr>
          </a:p>
        </p:txBody>
      </p:sp>
      <p:sp>
        <p:nvSpPr>
          <p:cNvPr id="79" name="Google Shape;79;g2ee15abed17_3_283"/>
          <p:cNvSpPr txBox="1"/>
          <p:nvPr/>
        </p:nvSpPr>
        <p:spPr>
          <a:xfrm>
            <a:off x="7157600" y="4324350"/>
            <a:ext cx="1211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Answer : </a:t>
            </a:r>
            <a:r>
              <a:rPr b="1" i="0" lang="en-GB" sz="1600" u="none" cap="none" strike="noStrike">
                <a:solidFill>
                  <a:srgbClr val="000000"/>
                </a:solidFill>
                <a:latin typeface="Arial"/>
                <a:ea typeface="Arial"/>
                <a:cs typeface="Arial"/>
                <a:sym typeface="Arial"/>
              </a:rPr>
              <a:t>D</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Effect filter="fade" transition="in">
                                      <p:cBhvr>
                                        <p:cTn dur="1000"/>
                                        <p:tgtEl>
                                          <p:spTgt spid="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animEffect filter="fade" transition="in">
                                      <p:cBhvr>
                                        <p:cTn dur="1000"/>
                                        <p:tgtEl>
                                          <p:spTgt spid="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animEffect filter="fade" transition="in">
                                      <p:cBhvr>
                                        <p:cTn dur="1000"/>
                                        <p:tgtEl>
                                          <p:spTgt spid="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animEffect filter="fade" transition="in">
                                      <p:cBhvr>
                                        <p:cTn dur="1000"/>
                                        <p:tgtEl>
                                          <p:spTgt spid="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animEffect filter="fade" transition="in">
                                      <p:cBhvr>
                                        <p:cTn dur="1000"/>
                                        <p:tgtEl>
                                          <p:spTgt spid="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ee15abed17_3_288"/>
          <p:cNvSpPr txBox="1"/>
          <p:nvPr/>
        </p:nvSpPr>
        <p:spPr>
          <a:xfrm>
            <a:off x="-34425" y="502200"/>
            <a:ext cx="4457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 </a:t>
            </a:r>
            <a:r>
              <a:rPr b="1" i="0" lang="en-GB" sz="2000" u="none" cap="none" strike="noStrike">
                <a:solidFill>
                  <a:schemeClr val="lt1"/>
                </a:solidFill>
                <a:latin typeface="Roboto"/>
                <a:ea typeface="Roboto"/>
                <a:cs typeface="Roboto"/>
                <a:sym typeface="Roboto"/>
              </a:rPr>
              <a:t> CLOCKS</a:t>
            </a:r>
            <a:endParaRPr b="1" i="0" sz="2000" u="none" cap="none" strike="noStrike">
              <a:solidFill>
                <a:schemeClr val="lt1"/>
              </a:solidFill>
              <a:latin typeface="Roboto"/>
              <a:ea typeface="Roboto"/>
              <a:cs typeface="Roboto"/>
              <a:sym typeface="Roboto"/>
            </a:endParaRPr>
          </a:p>
        </p:txBody>
      </p:sp>
      <p:sp>
        <p:nvSpPr>
          <p:cNvPr id="85" name="Google Shape;85;g2ee15abed17_3_288"/>
          <p:cNvSpPr txBox="1"/>
          <p:nvPr/>
        </p:nvSpPr>
        <p:spPr>
          <a:xfrm>
            <a:off x="711775" y="1439875"/>
            <a:ext cx="7657500" cy="2475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The woman is the mother of Shashank's granddaughter. Hence, the woman is the daughter-in-law of Shashank.</a:t>
            </a:r>
            <a:endParaRPr>
              <a:latin typeface="Roboto"/>
              <a:ea typeface="Roboto"/>
              <a:cs typeface="Roboto"/>
              <a:sym typeface="Roboto"/>
            </a:endParaRPr>
          </a:p>
        </p:txBody>
      </p:sp>
      <p:sp>
        <p:nvSpPr>
          <p:cNvPr id="86" name="Google Shape;86;g2ee15abed17_3_288"/>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animEffect filter="fade" transition="in">
                                      <p:cBhvr>
                                        <p:cTn dur="1000"/>
                                        <p:tgtEl>
                                          <p:spTgt spid="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2ee15abed17_3_293"/>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rPr>
              <a:t>I</a:t>
            </a:r>
            <a:r>
              <a:rPr lang="en-GB" sz="1800">
                <a:solidFill>
                  <a:schemeClr val="dk1"/>
                </a:solidFill>
                <a:latin typeface="Roboto"/>
                <a:ea typeface="Roboto"/>
                <a:cs typeface="Roboto"/>
                <a:sym typeface="Roboto"/>
              </a:rPr>
              <a:t>f A $ B means A is the brother of B; A @ B means A is the wife of B; A # B means A is the daughter of B and A * B means A is the father of B, which of the following indicates that U is the father-in-law of P?</a:t>
            </a:r>
            <a:endParaRPr sz="1800">
              <a:solidFill>
                <a:schemeClr val="dk1"/>
              </a:solidFill>
              <a:latin typeface="Roboto"/>
              <a:ea typeface="Roboto"/>
              <a:cs typeface="Roboto"/>
              <a:sym typeface="Roboto"/>
            </a:endParaRPr>
          </a:p>
          <a:p>
            <a:pPr indent="-342900" lvl="0" marL="457200" rtl="0" algn="just">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P @ Q $ T # U * W</a:t>
            </a:r>
            <a:endParaRPr sz="1800">
              <a:solidFill>
                <a:schemeClr val="dk1"/>
              </a:solidFill>
              <a:latin typeface="Roboto"/>
              <a:ea typeface="Roboto"/>
              <a:cs typeface="Roboto"/>
              <a:sym typeface="Roboto"/>
            </a:endParaRPr>
          </a:p>
          <a:p>
            <a:pPr indent="-342900" lvl="0" marL="457200" rtl="0" algn="just">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P @ W $ Q * T # U</a:t>
            </a:r>
            <a:endParaRPr sz="1800">
              <a:solidFill>
                <a:schemeClr val="dk1"/>
              </a:solidFill>
              <a:latin typeface="Roboto"/>
              <a:ea typeface="Roboto"/>
              <a:cs typeface="Roboto"/>
              <a:sym typeface="Roboto"/>
            </a:endParaRPr>
          </a:p>
          <a:p>
            <a:pPr indent="-342900" lvl="0" marL="457200" rtl="0" algn="just">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P @ Q $ W * T # U</a:t>
            </a:r>
            <a:endParaRPr sz="1800">
              <a:solidFill>
                <a:schemeClr val="dk1"/>
              </a:solidFill>
              <a:latin typeface="Roboto"/>
              <a:ea typeface="Roboto"/>
              <a:cs typeface="Roboto"/>
              <a:sym typeface="Roboto"/>
            </a:endParaRPr>
          </a:p>
          <a:p>
            <a:pPr indent="-342900" lvl="0" marL="457200" rtl="0" algn="just">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P @ Q $ T # W * U</a:t>
            </a:r>
            <a:endParaRPr>
              <a:solidFill>
                <a:schemeClr val="dk1"/>
              </a:solidFill>
              <a:highlight>
                <a:srgbClr val="FFFFFF"/>
              </a:highlight>
              <a:latin typeface="Roboto"/>
              <a:ea typeface="Roboto"/>
              <a:cs typeface="Roboto"/>
              <a:sym typeface="Roboto"/>
            </a:endParaRPr>
          </a:p>
        </p:txBody>
      </p:sp>
      <p:sp>
        <p:nvSpPr>
          <p:cNvPr id="92" name="Google Shape;92;g2ee15abed17_3_29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02</a:t>
            </a:r>
            <a:endParaRPr/>
          </a:p>
        </p:txBody>
      </p:sp>
      <p:sp>
        <p:nvSpPr>
          <p:cNvPr id="93" name="Google Shape;93;g2ee15abed17_3_293"/>
          <p:cNvSpPr txBox="1"/>
          <p:nvPr/>
        </p:nvSpPr>
        <p:spPr>
          <a:xfrm>
            <a:off x="7139600" y="4324350"/>
            <a:ext cx="1229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Answer : </a:t>
            </a:r>
            <a:r>
              <a:rPr b="1" i="0" lang="en-GB" sz="1600" u="none" cap="none" strike="noStrike">
                <a:solidFill>
                  <a:srgbClr val="000000"/>
                </a:solidFill>
                <a:latin typeface="Arial"/>
                <a:ea typeface="Arial"/>
                <a:cs typeface="Arial"/>
                <a:sym typeface="Arial"/>
              </a:rPr>
              <a:t>A</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10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10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10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1000"/>
                                        <p:tgtEl>
                                          <p:spTgt spid="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animEffect filter="fade" transition="in">
                                      <p:cBhvr>
                                        <p:cTn dur="1000"/>
                                        <p:tgtEl>
                                          <p:spTgt spid="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ee15abed17_3_2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99" name="Google Shape;99;g2ee15abed17_3_297"/>
          <p:cNvSpPr txBox="1"/>
          <p:nvPr/>
        </p:nvSpPr>
        <p:spPr>
          <a:xfrm>
            <a:off x="630000" y="1439875"/>
            <a:ext cx="7667100" cy="2055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GB" sz="1800">
                <a:solidFill>
                  <a:schemeClr val="dk1"/>
                </a:solidFill>
                <a:latin typeface="Roboto"/>
                <a:ea typeface="Roboto"/>
                <a:cs typeface="Roboto"/>
                <a:sym typeface="Roboto"/>
              </a:rPr>
              <a:t>Daughter P @ Q → P is the wife of Q ...(1)</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GB" sz="1800">
                <a:solidFill>
                  <a:schemeClr val="dk1"/>
                </a:solidFill>
                <a:latin typeface="Roboto"/>
                <a:ea typeface="Roboto"/>
                <a:cs typeface="Roboto"/>
                <a:sym typeface="Roboto"/>
              </a:rPr>
              <a:t>Q $ T → Q is the brother of T ...(2)</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GB" sz="1800">
                <a:solidFill>
                  <a:schemeClr val="dk1"/>
                </a:solidFill>
                <a:latin typeface="Roboto"/>
                <a:ea typeface="Roboto"/>
                <a:cs typeface="Roboto"/>
                <a:sym typeface="Roboto"/>
              </a:rPr>
              <a:t>T # U → T is the daughter of U</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GB" sz="1800">
                <a:solidFill>
                  <a:schemeClr val="dk1"/>
                </a:solidFill>
                <a:latin typeface="Roboto"/>
                <a:ea typeface="Roboto"/>
                <a:cs typeface="Roboto"/>
                <a:sym typeface="Roboto"/>
              </a:rPr>
              <a:t>Hence, → Q is the son of U ...(3)</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GB" sz="1800">
                <a:solidFill>
                  <a:schemeClr val="dk1"/>
                </a:solidFill>
                <a:latin typeface="Roboto"/>
                <a:ea typeface="Roboto"/>
                <a:cs typeface="Roboto"/>
                <a:sym typeface="Roboto"/>
              </a:rPr>
              <a:t>U * W → U is the father of W.</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GB" sz="1800">
                <a:solidFill>
                  <a:schemeClr val="dk1"/>
                </a:solidFill>
                <a:latin typeface="Roboto"/>
                <a:ea typeface="Roboto"/>
                <a:cs typeface="Roboto"/>
                <a:sym typeface="Roboto"/>
              </a:rPr>
              <a:t>From (1) and (3), U is the father-in-law of P.</a:t>
            </a:r>
            <a:endParaRPr sz="18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2ee15abed17_3_301"/>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05" name="Google Shape;105;g2ee15abed17_3_301"/>
          <p:cNvSpPr txBox="1"/>
          <p:nvPr/>
        </p:nvSpPr>
        <p:spPr>
          <a:xfrm>
            <a:off x="720000" y="1439875"/>
            <a:ext cx="76494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t/>
            </a:r>
            <a:endParaRPr b="0" i="0" sz="3500" u="none" cap="none" strike="noStrike">
              <a:solidFill>
                <a:srgbClr val="8182EF"/>
              </a:solidFill>
              <a:latin typeface="Roboto Black"/>
              <a:ea typeface="Roboto Black"/>
              <a:cs typeface="Roboto Black"/>
              <a:sym typeface="Roboto Black"/>
            </a:endParaRPr>
          </a:p>
        </p:txBody>
      </p:sp>
      <p:sp>
        <p:nvSpPr>
          <p:cNvPr id="106" name="Google Shape;106;g2ee15abed17_3_301"/>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If B5D means B is the father of D; B9D means B is the sister of D;B4D means B is the brother of D; B3D means B is the wife of D. Which of the following means F is the mother of 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A.F3M5K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B.F5M3K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C.F9M4N3K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D.F10M43</a:t>
            </a:r>
            <a:endParaRPr sz="1800">
              <a:solidFill>
                <a:schemeClr val="dk1"/>
              </a:solidFill>
              <a:latin typeface="Roboto"/>
              <a:ea typeface="Roboto"/>
              <a:cs typeface="Roboto"/>
              <a:sym typeface="Roboto"/>
            </a:endParaRPr>
          </a:p>
        </p:txBody>
      </p:sp>
      <p:sp>
        <p:nvSpPr>
          <p:cNvPr id="107" name="Google Shape;107;g2ee15abed17_3_301"/>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08" name="Google Shape;108;g2ee15abed17_3_301"/>
          <p:cNvSpPr txBox="1"/>
          <p:nvPr/>
        </p:nvSpPr>
        <p:spPr>
          <a:xfrm>
            <a:off x="7189450" y="432435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Answer : </a:t>
            </a:r>
            <a:r>
              <a:rPr b="1" i="0" lang="en-GB" sz="1600" u="none" cap="none" strike="noStrike">
                <a:solidFill>
                  <a:srgbClr val="000000"/>
                </a:solidFill>
                <a:latin typeface="Arial"/>
                <a:ea typeface="Arial"/>
                <a:cs typeface="Arial"/>
                <a:sym typeface="Arial"/>
              </a:rPr>
              <a:t>A</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2ee15abed17_3_306"/>
          <p:cNvSpPr txBox="1"/>
          <p:nvPr/>
        </p:nvSpPr>
        <p:spPr>
          <a:xfrm>
            <a:off x="327600" y="338142"/>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14" name="Google Shape;114;g2ee15abed17_3_306"/>
          <p:cNvSpPr txBox="1"/>
          <p:nvPr/>
        </p:nvSpPr>
        <p:spPr>
          <a:xfrm>
            <a:off x="720000" y="1440000"/>
            <a:ext cx="7384200" cy="3261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F3M → F is the wife of M</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M5K → M is the father of 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Therefore, F is the mother of K.</a:t>
            </a:r>
            <a:endParaRPr sz="1800">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sz="1600">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15" name="Google Shape;115;g2ee15abed17_3_30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a:t>
            </a:r>
            <a:r>
              <a:rPr b="1" lang="en-GB" sz="2000">
                <a:solidFill>
                  <a:srgbClr val="8182EF"/>
                </a:solidFill>
                <a:latin typeface="Roboto"/>
                <a:ea typeface="Roboto"/>
                <a:cs typeface="Roboto"/>
                <a:sym typeface="Roboto"/>
              </a:rPr>
              <a:t>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1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1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1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1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1000"/>
                                        <p:tgtEl>
                                          <p:spTgt spid="11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1b9bf173ee_0_17"/>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a:t>
            </a:r>
            <a:r>
              <a:rPr b="1" lang="en-GB" sz="2000">
                <a:solidFill>
                  <a:srgbClr val="8182EF"/>
                </a:solidFill>
                <a:latin typeface="Roboto"/>
                <a:ea typeface="Roboto"/>
                <a:cs typeface="Roboto"/>
                <a:sym typeface="Roboto"/>
              </a:rPr>
              <a:t>4</a:t>
            </a:r>
            <a:endParaRPr b="1" i="0" sz="2000" u="none" cap="none" strike="noStrike">
              <a:solidFill>
                <a:srgbClr val="8182EF"/>
              </a:solidFill>
              <a:latin typeface="Roboto"/>
              <a:ea typeface="Roboto"/>
              <a:cs typeface="Roboto"/>
              <a:sym typeface="Roboto"/>
            </a:endParaRPr>
          </a:p>
        </p:txBody>
      </p:sp>
      <p:sp>
        <p:nvSpPr>
          <p:cNvPr id="121" name="Google Shape;121;g31b9bf173ee_0_17"/>
          <p:cNvSpPr txBox="1"/>
          <p:nvPr/>
        </p:nvSpPr>
        <p:spPr>
          <a:xfrm>
            <a:off x="630000" y="1439875"/>
            <a:ext cx="7739400" cy="3370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I</a:t>
            </a:r>
            <a:r>
              <a:rPr lang="en-GB" sz="1800">
                <a:solidFill>
                  <a:schemeClr val="dk1"/>
                </a:solidFill>
                <a:latin typeface="Roboto"/>
                <a:ea typeface="Roboto"/>
                <a:cs typeface="Roboto"/>
                <a:sym typeface="Roboto"/>
              </a:rPr>
              <a:t>n a family, there are six members A, B, C, D, E and F. A and B are married couple, A being the male member. D is the only son of C, who is the brother of A. E is the sister of D. B is the daughter-in law of F, whose husband has died. How is E related to C ?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A.Sister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B.Daughter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C.Cousin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D.Mother</a:t>
            </a:r>
            <a:r>
              <a:rPr lang="en-GB">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p:txBody>
      </p:sp>
      <p:sp>
        <p:nvSpPr>
          <p:cNvPr id="122" name="Google Shape;122;g31b9bf173ee_0_17"/>
          <p:cNvSpPr txBox="1"/>
          <p:nvPr/>
        </p:nvSpPr>
        <p:spPr>
          <a:xfrm>
            <a:off x="7189500" y="423000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B</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g2ee15abed17_3_313"/>
          <p:cNvSpPr txBox="1"/>
          <p:nvPr/>
        </p:nvSpPr>
        <p:spPr>
          <a:xfrm>
            <a:off x="720000" y="1439875"/>
            <a:ext cx="76494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A is a male and married to B. So, A is the husband and B is the wife. C is the brother of A. D is the son of C. E. who is the sister of D will be the daughter of C. B is the daughter-in-law of F whose husband has died means F is the mother of A. Clearly. E is the daughter of C</a:t>
            </a:r>
            <a:r>
              <a:rPr lang="en-GB" sz="1800">
                <a:solidFill>
                  <a:schemeClr val="dk1"/>
                </a:solidFill>
              </a:rPr>
              <a:t>.</a:t>
            </a:r>
            <a:endParaRPr b="0" i="0" sz="1400" u="none" cap="none" strike="noStrike">
              <a:solidFill>
                <a:schemeClr val="dk1"/>
              </a:solidFill>
              <a:highlight>
                <a:srgbClr val="FFFFFF"/>
              </a:highlight>
              <a:latin typeface="Roboto"/>
              <a:ea typeface="Roboto"/>
              <a:cs typeface="Roboto"/>
              <a:sym typeface="Roboto"/>
            </a:endParaRPr>
          </a:p>
        </p:txBody>
      </p:sp>
      <p:sp>
        <p:nvSpPr>
          <p:cNvPr id="128" name="Google Shape;128;g2ee15abed17_3_31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a:t>
            </a:r>
            <a:r>
              <a:rPr b="1" lang="en-GB" sz="2000">
                <a:solidFill>
                  <a:srgbClr val="8182EF"/>
                </a:solidFill>
                <a:latin typeface="Roboto"/>
                <a:ea typeface="Roboto"/>
                <a:cs typeface="Roboto"/>
                <a:sym typeface="Roboto"/>
              </a:rPr>
              <a:t>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2ee15abed17_3_318"/>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16</a:t>
            </a:r>
            <a:endParaRPr b="0" i="0" sz="2000" u="none" cap="none" strike="noStrike">
              <a:solidFill>
                <a:schemeClr val="lt1"/>
              </a:solidFill>
              <a:latin typeface="Roboto"/>
              <a:ea typeface="Roboto"/>
              <a:cs typeface="Roboto"/>
              <a:sym typeface="Roboto"/>
            </a:endParaRPr>
          </a:p>
        </p:txBody>
      </p:sp>
      <p:sp>
        <p:nvSpPr>
          <p:cNvPr id="134" name="Google Shape;134;g2ee15abed17_3_318"/>
          <p:cNvSpPr txBox="1"/>
          <p:nvPr/>
        </p:nvSpPr>
        <p:spPr>
          <a:xfrm>
            <a:off x="720000" y="144000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There are six persons A. B, C, D, E and F. C is the sister of F. B is the brother of E's husband. D is the father of A and grandfather of F. There are two fathers, three brothers and a mother in the group. Who is the mother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A.A</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B.B</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C.C</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D.E</a:t>
            </a:r>
            <a:endParaRPr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None/>
            </a:pPr>
            <a:r>
              <a:t/>
            </a:r>
            <a:endParaRPr sz="1600">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p:txBody>
      </p:sp>
      <p:sp>
        <p:nvSpPr>
          <p:cNvPr id="135" name="Google Shape;135;g2ee15abed17_3_31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136" name="Google Shape;136;g2ee15abed17_3_3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a:t>
            </a:r>
            <a:r>
              <a:rPr b="1" lang="en-GB"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10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10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10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1000"/>
                                        <p:tgtEl>
                                          <p:spTgt spid="1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1000"/>
                                        <p:tgtEl>
                                          <p:spTgt spid="1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1000"/>
                                        <p:tgtEl>
                                          <p:spTgt spid="1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animEffect filter="fade" transition="in">
                                      <p:cBhvr>
                                        <p:cTn dur="1000"/>
                                        <p:tgtEl>
                                          <p:spTgt spid="1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1000"/>
                                        <p:tgtEl>
                                          <p:spTgt spid="13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0" name="Shape 140"/>
        <p:cNvGrpSpPr/>
        <p:nvPr/>
      </p:nvGrpSpPr>
      <p:grpSpPr>
        <a:xfrm>
          <a:off x="0" y="0"/>
          <a:ext cx="0" cy="0"/>
          <a:chOff x="0" y="0"/>
          <a:chExt cx="0" cy="0"/>
        </a:xfrm>
      </p:grpSpPr>
      <p:sp>
        <p:nvSpPr>
          <p:cNvPr id="141" name="Google Shape;141;g2ee15abed17_3_325"/>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142" name="Google Shape;142;g2ee15abed17_3_32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D is father of A and grandfather of F. So, A is father of F.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Thus. D and A are the two fathers. C is the sister of F So. C is the daughter of A.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Since there is only one mother, it is evident that E is the wife of A and hence the mother of C and F.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So, B is brother of A There are three brothers. So. F is the brother of C.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Clearly, A is E's Husband</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333333"/>
              </a:solidFill>
              <a:highlight>
                <a:schemeClr val="lt1"/>
              </a:highlight>
              <a:latin typeface="Roboto"/>
              <a:ea typeface="Roboto"/>
              <a:cs typeface="Roboto"/>
              <a:sym typeface="Roboto"/>
            </a:endParaRPr>
          </a:p>
        </p:txBody>
      </p:sp>
      <p:sp>
        <p:nvSpPr>
          <p:cNvPr id="143" name="Google Shape;143;g2ee15abed17_3_3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144" name="Google Shape;144;g2ee15abed17_3_32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a:t>
            </a:r>
            <a:r>
              <a:rPr b="1" lang="en-GB"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Effect filter="fade" transition="in">
                                      <p:cBhvr>
                                        <p:cTn dur="1000"/>
                                        <p:tgtEl>
                                          <p:spTgt spid="1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Effect filter="fade" transition="in">
                                      <p:cBhvr>
                                        <p:cTn dur="1000"/>
                                        <p:tgtEl>
                                          <p:spTgt spid="1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Effect filter="fade" transition="in">
                                      <p:cBhvr>
                                        <p:cTn dur="1000"/>
                                        <p:tgtEl>
                                          <p:spTgt spid="1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Effect filter="fade" transition="in">
                                      <p:cBhvr>
                                        <p:cTn dur="1000"/>
                                        <p:tgtEl>
                                          <p:spTgt spid="1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Effect filter="fade" transition="in">
                                      <p:cBhvr>
                                        <p:cTn dur="1000"/>
                                        <p:tgtEl>
                                          <p:spTgt spid="1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animEffect filter="fade" transition="in">
                                      <p:cBhvr>
                                        <p:cTn dur="1000"/>
                                        <p:tgtEl>
                                          <p:spTgt spid="14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animEffect filter="fade" transition="in">
                                      <p:cBhvr>
                                        <p:cTn dur="1000"/>
                                        <p:tgtEl>
                                          <p:spTgt spid="14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1000"/>
                                        <p:tgtEl>
                                          <p:spTgt spid="1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2ee15abed17_3_332"/>
          <p:cNvSpPr txBox="1"/>
          <p:nvPr/>
        </p:nvSpPr>
        <p:spPr>
          <a:xfrm>
            <a:off x="327600" y="386576"/>
            <a:ext cx="2827800" cy="44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50" name="Google Shape;150;g2ee15abed17_3_332"/>
          <p:cNvSpPr txBox="1"/>
          <p:nvPr/>
        </p:nvSpPr>
        <p:spPr>
          <a:xfrm>
            <a:off x="720000" y="14242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Looking at a portrait of a man, Harsh said, "His mother is the wife of my father's son. Brothers and sisters I have none." At whose portrait was Harsh looking?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A.His son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B.His cousin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C.His uncle</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D.His nephew</a:t>
            </a:r>
            <a:endParaRPr sz="1600">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51" name="Google Shape;151;g2ee15abed17_3_33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A</a:t>
            </a:r>
            <a:endParaRPr b="1" i="0" sz="1600" u="none" cap="none" strike="noStrike">
              <a:solidFill>
                <a:srgbClr val="000000"/>
              </a:solidFill>
              <a:latin typeface="Roboto"/>
              <a:ea typeface="Roboto"/>
              <a:cs typeface="Roboto"/>
              <a:sym typeface="Roboto"/>
            </a:endParaRPr>
          </a:p>
        </p:txBody>
      </p:sp>
      <p:sp>
        <p:nvSpPr>
          <p:cNvPr id="152" name="Google Shape;152;g2ee15abed17_3_33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a:t>
            </a:r>
            <a:r>
              <a:rPr b="1" lang="en-GB" sz="2000">
                <a:solidFill>
                  <a:srgbClr val="8182EF"/>
                </a:solidFill>
                <a:latin typeface="Roboto"/>
                <a:ea typeface="Roboto"/>
                <a:cs typeface="Roboto"/>
                <a:sym typeface="Roboto"/>
              </a:rPr>
              <a:t>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10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10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10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1000"/>
                                        <p:tgtEl>
                                          <p:spTgt spid="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1000"/>
                                        <p:tgtEl>
                                          <p:spTgt spid="1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1000"/>
                                        <p:tgtEl>
                                          <p:spTgt spid="15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 name="Shape 156"/>
        <p:cNvGrpSpPr/>
        <p:nvPr/>
      </p:nvGrpSpPr>
      <p:grpSpPr>
        <a:xfrm>
          <a:off x="0" y="0"/>
          <a:ext cx="0" cy="0"/>
          <a:chOff x="0" y="0"/>
          <a:chExt cx="0" cy="0"/>
        </a:xfrm>
      </p:grpSpPr>
      <p:sp>
        <p:nvSpPr>
          <p:cNvPr id="157" name="Google Shape;157;g2ee15abed17_3_339"/>
          <p:cNvSpPr txBox="1"/>
          <p:nvPr/>
        </p:nvSpPr>
        <p:spPr>
          <a:xfrm>
            <a:off x="720000" y="1440000"/>
            <a:ext cx="70281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Since Harsh has no brother or sister, so he is his father's only son. Now, wife</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Of my father's son — my wife.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So, Harsh's wife is the man's mother or the man is Harsh's son</a:t>
            </a:r>
            <a:endParaRPr>
              <a:solidFill>
                <a:schemeClr val="dk1"/>
              </a:solidFill>
              <a:latin typeface="Roboto"/>
              <a:ea typeface="Roboto"/>
              <a:cs typeface="Roboto"/>
              <a:sym typeface="Roboto"/>
            </a:endParaRPr>
          </a:p>
        </p:txBody>
      </p:sp>
      <p:sp>
        <p:nvSpPr>
          <p:cNvPr id="158" name="Google Shape;158;g2ee15abed17_3_33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a:t>
            </a:r>
            <a:r>
              <a:rPr b="1" lang="en-GB" sz="2000">
                <a:solidFill>
                  <a:srgbClr val="8182EF"/>
                </a:solidFill>
                <a:latin typeface="Roboto"/>
                <a:ea typeface="Roboto"/>
                <a:cs typeface="Roboto"/>
                <a:sym typeface="Roboto"/>
              </a:rPr>
              <a:t>6</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ee15abed17_3_344"/>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 B, C, D, E, F and G are members of a family consisting of four adults and three children, two of whom, F and G are girls. A and D are brothers and A is a doctor. E is an engineer married to one of the brothers and has two children. if is married to D and G is their child. Who is C ?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A.A's son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B.E's daughter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C.F's father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D.G's brother</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600">
              <a:solidFill>
                <a:schemeClr val="dk1"/>
              </a:solidFill>
              <a:highlight>
                <a:srgbClr val="FFFFFF"/>
              </a:highlight>
              <a:latin typeface="Roboto"/>
              <a:ea typeface="Roboto"/>
              <a:cs typeface="Roboto"/>
              <a:sym typeface="Roboto"/>
            </a:endParaRPr>
          </a:p>
        </p:txBody>
      </p:sp>
      <p:sp>
        <p:nvSpPr>
          <p:cNvPr id="164" name="Google Shape;164;g2ee15abed17_3_34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A</a:t>
            </a:r>
            <a:endParaRPr b="1" i="0" sz="1700" u="none" cap="none" strike="noStrike">
              <a:solidFill>
                <a:srgbClr val="000000"/>
              </a:solidFill>
              <a:latin typeface="Roboto"/>
              <a:ea typeface="Roboto"/>
              <a:cs typeface="Roboto"/>
              <a:sym typeface="Roboto"/>
            </a:endParaRPr>
          </a:p>
        </p:txBody>
      </p:sp>
      <p:sp>
        <p:nvSpPr>
          <p:cNvPr id="165" name="Google Shape;165;g2ee15abed17_3_344"/>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a:t>
            </a:r>
            <a:r>
              <a:rPr b="1" lang="en-GB" sz="2000">
                <a:solidFill>
                  <a:srgbClr val="8182EF"/>
                </a:solidFill>
                <a:latin typeface="Roboto"/>
                <a:ea typeface="Roboto"/>
                <a:cs typeface="Roboto"/>
                <a:sym typeface="Roboto"/>
              </a:rPr>
              <a:t>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animEffect filter="fade" transition="in">
                                      <p:cBhvr>
                                        <p:cTn dur="1000"/>
                                        <p:tgtEl>
                                          <p:spTgt spid="1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animEffect filter="fade" transition="in">
                                      <p:cBhvr>
                                        <p:cTn dur="1000"/>
                                        <p:tgtEl>
                                          <p:spTgt spid="1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2" st="2"/>
                                            </p:txEl>
                                          </p:spTgt>
                                        </p:tgtEl>
                                        <p:attrNameLst>
                                          <p:attrName>style.visibility</p:attrName>
                                        </p:attrNameLst>
                                      </p:cBhvr>
                                      <p:to>
                                        <p:strVal val="visible"/>
                                      </p:to>
                                    </p:set>
                                    <p:animEffect filter="fade" transition="in">
                                      <p:cBhvr>
                                        <p:cTn dur="1000"/>
                                        <p:tgtEl>
                                          <p:spTgt spid="1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3" st="3"/>
                                            </p:txEl>
                                          </p:spTgt>
                                        </p:tgtEl>
                                        <p:attrNameLst>
                                          <p:attrName>style.visibility</p:attrName>
                                        </p:attrNameLst>
                                      </p:cBhvr>
                                      <p:to>
                                        <p:strVal val="visible"/>
                                      </p:to>
                                    </p:set>
                                    <p:animEffect filter="fade" transition="in">
                                      <p:cBhvr>
                                        <p:cTn dur="1000"/>
                                        <p:tgtEl>
                                          <p:spTgt spid="1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4" st="4"/>
                                            </p:txEl>
                                          </p:spTgt>
                                        </p:tgtEl>
                                        <p:attrNameLst>
                                          <p:attrName>style.visibility</p:attrName>
                                        </p:attrNameLst>
                                      </p:cBhvr>
                                      <p:to>
                                        <p:strVal val="visible"/>
                                      </p:to>
                                    </p:set>
                                    <p:animEffect filter="fade" transition="in">
                                      <p:cBhvr>
                                        <p:cTn dur="1000"/>
                                        <p:tgtEl>
                                          <p:spTgt spid="1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5" st="5"/>
                                            </p:txEl>
                                          </p:spTgt>
                                        </p:tgtEl>
                                        <p:attrNameLst>
                                          <p:attrName>style.visibility</p:attrName>
                                        </p:attrNameLst>
                                      </p:cBhvr>
                                      <p:to>
                                        <p:strVal val="visible"/>
                                      </p:to>
                                    </p:set>
                                    <p:animEffect filter="fade" transition="in">
                                      <p:cBhvr>
                                        <p:cTn dur="1000"/>
                                        <p:tgtEl>
                                          <p:spTgt spid="1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 name="Shape 169"/>
        <p:cNvGrpSpPr/>
        <p:nvPr/>
      </p:nvGrpSpPr>
      <p:grpSpPr>
        <a:xfrm>
          <a:off x="0" y="0"/>
          <a:ext cx="0" cy="0"/>
          <a:chOff x="0" y="0"/>
          <a:chExt cx="0" cy="0"/>
        </a:xfrm>
      </p:grpSpPr>
      <p:sp>
        <p:nvSpPr>
          <p:cNvPr id="170" name="Google Shape;170;g2ee15abed17_3_350"/>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E is named to A or D. But B is married to D. Thus, E is married to A.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Thus, A, B, C, D, E are the four adults and C, F, G are the three children in the</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family. B and D have a child G. A and E have two children. They are C and F</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Now. only F and G are girls.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So, C is a boy. Thus, C is A's or E's son</a:t>
            </a:r>
            <a:endParaRPr>
              <a:latin typeface="Roboto"/>
              <a:ea typeface="Roboto"/>
              <a:cs typeface="Roboto"/>
              <a:sym typeface="Roboto"/>
            </a:endParaRPr>
          </a:p>
        </p:txBody>
      </p:sp>
      <p:sp>
        <p:nvSpPr>
          <p:cNvPr id="171" name="Google Shape;171;g2ee15abed17_3_350"/>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r>
              <a:rPr b="1" lang="en-GB" sz="2000">
                <a:solidFill>
                  <a:srgbClr val="8182EF"/>
                </a:solidFill>
                <a:latin typeface="Roboto"/>
                <a:ea typeface="Roboto"/>
                <a:cs typeface="Roboto"/>
                <a:sym typeface="Roboto"/>
              </a:rPr>
              <a:t> </a:t>
            </a:r>
            <a:r>
              <a:rPr b="1" i="0" lang="en-GB" sz="2000" u="none" cap="none" strike="noStrike">
                <a:solidFill>
                  <a:srgbClr val="8182EF"/>
                </a:solidFill>
                <a:latin typeface="Roboto"/>
                <a:ea typeface="Roboto"/>
                <a:cs typeface="Roboto"/>
                <a:sym typeface="Roboto"/>
              </a:rPr>
              <a:t>0</a:t>
            </a:r>
            <a:r>
              <a:rPr b="1" lang="en-GB" sz="2000">
                <a:solidFill>
                  <a:srgbClr val="8182EF"/>
                </a:solidFill>
                <a:latin typeface="Roboto"/>
                <a:ea typeface="Roboto"/>
                <a:cs typeface="Roboto"/>
                <a:sym typeface="Roboto"/>
              </a:rPr>
              <a:t>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ee15abed17_3_356"/>
          <p:cNvSpPr txBox="1"/>
          <p:nvPr/>
        </p:nvSpPr>
        <p:spPr>
          <a:xfrm>
            <a:off x="327600" y="402400"/>
            <a:ext cx="28278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77" name="Google Shape;177;g2ee15abed17_3_356"/>
          <p:cNvSpPr txBox="1"/>
          <p:nvPr/>
        </p:nvSpPr>
        <p:spPr>
          <a:xfrm>
            <a:off x="720000" y="1440000"/>
            <a:ext cx="75441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Pointing to a girl in the photograph, Amar said, "Her mother's brother is the only son of my mother's father." How is the girl's mother related to Amar ?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A.Mother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B.Sister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C.Aunt</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D.Grandmother</a:t>
            </a:r>
            <a:endParaRPr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None/>
            </a:pPr>
            <a:r>
              <a:t/>
            </a:r>
            <a:endParaRPr sz="1600">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05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78" name="Google Shape;178;g2ee15abed17_3_356"/>
          <p:cNvSpPr txBox="1"/>
          <p:nvPr/>
        </p:nvSpPr>
        <p:spPr>
          <a:xfrm>
            <a:off x="7189500" y="4171350"/>
            <a:ext cx="16254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C</a:t>
            </a:r>
            <a:endParaRPr b="1" i="0" sz="1600" u="none" cap="none" strike="noStrike">
              <a:solidFill>
                <a:srgbClr val="000000"/>
              </a:solidFill>
              <a:latin typeface="Roboto"/>
              <a:ea typeface="Roboto"/>
              <a:cs typeface="Roboto"/>
              <a:sym typeface="Roboto"/>
            </a:endParaRPr>
          </a:p>
        </p:txBody>
      </p:sp>
      <p:sp>
        <p:nvSpPr>
          <p:cNvPr id="179" name="Google Shape;179;g2ee15abed17_3_35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a:t>
            </a:r>
            <a:r>
              <a:rPr b="1" lang="en-GB" sz="2000">
                <a:solidFill>
                  <a:srgbClr val="8182EF"/>
                </a:solidFill>
                <a:latin typeface="Roboto"/>
                <a:ea typeface="Roboto"/>
                <a:cs typeface="Roboto"/>
                <a:sym typeface="Roboto"/>
              </a:rPr>
              <a:t>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animEffect filter="fade" transition="in">
                                      <p:cBhvr>
                                        <p:cTn dur="1000"/>
                                        <p:tgtEl>
                                          <p:spTgt spid="1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animEffect filter="fade" transition="in">
                                      <p:cBhvr>
                                        <p:cTn dur="1000"/>
                                        <p:tgtEl>
                                          <p:spTgt spid="1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animEffect filter="fade" transition="in">
                                      <p:cBhvr>
                                        <p:cTn dur="1000"/>
                                        <p:tgtEl>
                                          <p:spTgt spid="1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animEffect filter="fade" transition="in">
                                      <p:cBhvr>
                                        <p:cTn dur="1000"/>
                                        <p:tgtEl>
                                          <p:spTgt spid="1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animEffect filter="fade" transition="in">
                                      <p:cBhvr>
                                        <p:cTn dur="1000"/>
                                        <p:tgtEl>
                                          <p:spTgt spid="1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animEffect filter="fade" transition="in">
                                      <p:cBhvr>
                                        <p:cTn dur="1000"/>
                                        <p:tgtEl>
                                          <p:spTgt spid="1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6" st="6"/>
                                            </p:txEl>
                                          </p:spTgt>
                                        </p:tgtEl>
                                        <p:attrNameLst>
                                          <p:attrName>style.visibility</p:attrName>
                                        </p:attrNameLst>
                                      </p:cBhvr>
                                      <p:to>
                                        <p:strVal val="visible"/>
                                      </p:to>
                                    </p:set>
                                    <p:animEffect filter="fade" transition="in">
                                      <p:cBhvr>
                                        <p:cTn dur="1000"/>
                                        <p:tgtEl>
                                          <p:spTgt spid="17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1000"/>
                                        <p:tgtEl>
                                          <p:spTgt spid="1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3" name="Shape 183"/>
        <p:cNvGrpSpPr/>
        <p:nvPr/>
      </p:nvGrpSpPr>
      <p:grpSpPr>
        <a:xfrm>
          <a:off x="0" y="0"/>
          <a:ext cx="0" cy="0"/>
          <a:chOff x="0" y="0"/>
          <a:chExt cx="0" cy="0"/>
        </a:xfrm>
      </p:grpSpPr>
      <p:sp>
        <p:nvSpPr>
          <p:cNvPr id="184" name="Google Shape;184;g2ee15abed17_3_363"/>
          <p:cNvSpPr txBox="1"/>
          <p:nvPr/>
        </p:nvSpPr>
        <p:spPr>
          <a:xfrm>
            <a:off x="720000" y="1439875"/>
            <a:ext cx="7265400" cy="2790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Only son of Amar's mother's father — Amar's maternal uncle.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So, the girl's maternal uncle is Arnar's maternal uncle. Thus, the girl's mother is Amar's aunt.</a:t>
            </a:r>
            <a:endParaRPr sz="1800">
              <a:solidFill>
                <a:schemeClr val="dk1"/>
              </a:solidFill>
              <a:latin typeface="Roboto"/>
              <a:ea typeface="Roboto"/>
              <a:cs typeface="Roboto"/>
              <a:sym typeface="Roboto"/>
            </a:endParaRPr>
          </a:p>
        </p:txBody>
      </p:sp>
      <p:sp>
        <p:nvSpPr>
          <p:cNvPr id="185" name="Google Shape;185;g2ee15abed17_3_36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a:t>
            </a:r>
            <a:r>
              <a:rPr b="1" lang="en-GB" sz="2000">
                <a:solidFill>
                  <a:srgbClr val="8182EF"/>
                </a:solidFill>
                <a:latin typeface="Roboto"/>
                <a:ea typeface="Roboto"/>
                <a:cs typeface="Roboto"/>
                <a:sym typeface="Roboto"/>
              </a:rPr>
              <a:t>8</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ee15abed17_3_369"/>
          <p:cNvSpPr txBox="1"/>
          <p:nvPr/>
        </p:nvSpPr>
        <p:spPr>
          <a:xfrm>
            <a:off x="327600" y="396716"/>
            <a:ext cx="2827800" cy="43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91" name="Google Shape;191;g2ee15abed17_3_369"/>
          <p:cNvSpPr txBox="1"/>
          <p:nvPr/>
        </p:nvSpPr>
        <p:spPr>
          <a:xfrm>
            <a:off x="746400" y="1439875"/>
            <a:ext cx="7862400" cy="357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There is a family of six persons A, B, C, D, E and F. They are Lawyer, Doctor, Teacher, Salesman, Engineer and Accountant There are two married couples in the family. D, the Salesman is married to the Lady Teacher. The Doctor is married to the Lawyer. F, the Accountant is the son of B and brother of E. C, the Lawyer is the daughter-in-law of  E is the unmarried Engineer. A is the grandmother of F. How is E related to F?</a:t>
            </a:r>
            <a:endParaRPr sz="1600">
              <a:solidFill>
                <a:schemeClr val="dk1"/>
              </a:solidFill>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Brother</a:t>
            </a:r>
            <a:endParaRPr sz="1600">
              <a:solidFill>
                <a:schemeClr val="dk1"/>
              </a:solidFill>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Father</a:t>
            </a:r>
            <a:endParaRPr sz="1600">
              <a:solidFill>
                <a:schemeClr val="dk1"/>
              </a:solidFill>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Mother </a:t>
            </a:r>
            <a:endParaRPr sz="1600">
              <a:solidFill>
                <a:schemeClr val="dk1"/>
              </a:solidFill>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Cannot  to determined</a:t>
            </a:r>
            <a:endParaRPr sz="16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p:txBody>
      </p:sp>
      <p:sp>
        <p:nvSpPr>
          <p:cNvPr id="192" name="Google Shape;192;g2ee15abed17_3_36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a:t>
            </a:r>
            <a:endParaRPr b="1" i="0" sz="1600" u="none" cap="none" strike="noStrike">
              <a:solidFill>
                <a:srgbClr val="000000"/>
              </a:solidFill>
              <a:latin typeface="Roboto"/>
              <a:ea typeface="Roboto"/>
              <a:cs typeface="Roboto"/>
              <a:sym typeface="Roboto"/>
            </a:endParaRPr>
          </a:p>
        </p:txBody>
      </p:sp>
      <p:sp>
        <p:nvSpPr>
          <p:cNvPr id="193" name="Google Shape;193;g2ee15abed17_3_36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a:t>
            </a:r>
            <a:r>
              <a:rPr b="1" lang="en-GB" sz="2000">
                <a:solidFill>
                  <a:srgbClr val="8182EF"/>
                </a:solidFill>
                <a:latin typeface="Roboto"/>
                <a:ea typeface="Roboto"/>
                <a:cs typeface="Roboto"/>
                <a:sym typeface="Roboto"/>
              </a:rPr>
              <a:t>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10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Effect filter="fade" transition="in">
                                      <p:cBhvr>
                                        <p:cTn dur="1000"/>
                                        <p:tgtEl>
                                          <p:spTgt spid="1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animEffect filter="fade" transition="in">
                                      <p:cBhvr>
                                        <p:cTn dur="1000"/>
                                        <p:tgtEl>
                                          <p:spTgt spid="1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animEffect filter="fade" transition="in">
                                      <p:cBhvr>
                                        <p:cTn dur="1000"/>
                                        <p:tgtEl>
                                          <p:spTgt spid="1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Effect filter="fade" transition="in">
                                      <p:cBhvr>
                                        <p:cTn dur="1000"/>
                                        <p:tgtEl>
                                          <p:spTgt spid="19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g2ee15abed17_3_376"/>
          <p:cNvSpPr txBox="1"/>
          <p:nvPr/>
        </p:nvSpPr>
        <p:spPr>
          <a:xfrm>
            <a:off x="327600" y="7781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99" name="Google Shape;199;g2ee15abed17_3_376"/>
          <p:cNvSpPr txBox="1"/>
          <p:nvPr/>
        </p:nvSpPr>
        <p:spPr>
          <a:xfrm>
            <a:off x="1066875" y="1640550"/>
            <a:ext cx="722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0" name="Google Shape;200;g2ee15abed17_3_376"/>
          <p:cNvSpPr txBox="1"/>
          <p:nvPr/>
        </p:nvSpPr>
        <p:spPr>
          <a:xfrm>
            <a:off x="630000" y="1489200"/>
            <a:ext cx="7474200" cy="3193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400"/>
              <a:buFont typeface="Arial"/>
              <a:buNone/>
            </a:pPr>
            <a:r>
              <a:rPr lang="en-GB" sz="1700">
                <a:solidFill>
                  <a:schemeClr val="dk1"/>
                </a:solidFill>
                <a:latin typeface="Roboto"/>
                <a:ea typeface="Roboto"/>
                <a:cs typeface="Roboto"/>
                <a:sym typeface="Roboto"/>
              </a:rPr>
              <a:t>C is the daughter-in-law of A who is the grandmother of F means C is the mother of F. But F is the son of B. So. B is C's husband. But C, the lawyer is married to the Doctor So. B is the Doctor. F, the Accountant  will be the son of B and C. E is the unmarried Engineer So. the other mamed couple can be that of grandmother of F i.e, A and D.  But D, the Salesman, is married to the Lady Teacher. So. D, the Salesman, is the grandfather of F. father of B and the husband of A, the Lady Teacher. Clearly, from the given data, the relation between E and F cannot be determined.</a:t>
            </a:r>
            <a:endParaRPr i="0" sz="1300" u="none" cap="none" strike="noStrike">
              <a:solidFill>
                <a:srgbClr val="000000"/>
              </a:solidFill>
              <a:latin typeface="Roboto"/>
              <a:ea typeface="Roboto"/>
              <a:cs typeface="Roboto"/>
              <a:sym typeface="Roboto"/>
            </a:endParaRPr>
          </a:p>
        </p:txBody>
      </p:sp>
      <p:sp>
        <p:nvSpPr>
          <p:cNvPr id="201" name="Google Shape;201;g2ee15abed17_3_37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a:t>
            </a:r>
            <a:r>
              <a:rPr b="1" lang="en-GB" sz="2000">
                <a:solidFill>
                  <a:srgbClr val="8182EF"/>
                </a:solidFill>
                <a:latin typeface="Roboto"/>
                <a:ea typeface="Roboto"/>
                <a:cs typeface="Roboto"/>
                <a:sym typeface="Roboto"/>
              </a:rPr>
              <a:t>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2ee15abed17_3_38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 is the brother of B. B is the brother of C. D is the father of A. Based on these three statements, which of the following statements cannot be definitely true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A.B is the brother of A.</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B.B is the son of D.</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C.A is the brother of C.</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D.C is the brother of A.</a:t>
            </a:r>
            <a:endParaRPr sz="1600">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207" name="Google Shape;207;g2ee15abed17_3_38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208" name="Google Shape;208;g2ee15abed17_3_3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a:t>
            </a:r>
            <a:r>
              <a:rPr b="1" lang="en-GB" sz="2000">
                <a:solidFill>
                  <a:srgbClr val="8182EF"/>
                </a:solidFill>
                <a:latin typeface="Roboto"/>
                <a:ea typeface="Roboto"/>
                <a:cs typeface="Roboto"/>
                <a:sym typeface="Roboto"/>
              </a:rPr>
              <a:t>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Effect filter="fade" transition="in">
                                      <p:cBhvr>
                                        <p:cTn dur="1000"/>
                                        <p:tgtEl>
                                          <p:spTgt spid="2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Effect filter="fade" transition="in">
                                      <p:cBhvr>
                                        <p:cTn dur="1000"/>
                                        <p:tgtEl>
                                          <p:spTgt spid="2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Effect filter="fade" transition="in">
                                      <p:cBhvr>
                                        <p:cTn dur="1000"/>
                                        <p:tgtEl>
                                          <p:spTgt spid="2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animEffect filter="fade" transition="in">
                                      <p:cBhvr>
                                        <p:cTn dur="1000"/>
                                        <p:tgtEl>
                                          <p:spTgt spid="2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animEffect filter="fade" transition="in">
                                      <p:cBhvr>
                                        <p:cTn dur="1000"/>
                                        <p:tgtEl>
                                          <p:spTgt spid="2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Effect filter="fade" transition="in">
                                      <p:cBhvr>
                                        <p:cTn dur="1000"/>
                                        <p:tgtEl>
                                          <p:spTgt spid="20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 name="Shape 212"/>
        <p:cNvGrpSpPr/>
        <p:nvPr/>
      </p:nvGrpSpPr>
      <p:grpSpPr>
        <a:xfrm>
          <a:off x="0" y="0"/>
          <a:ext cx="0" cy="0"/>
          <a:chOff x="0" y="0"/>
          <a:chExt cx="0" cy="0"/>
        </a:xfrm>
      </p:grpSpPr>
      <p:pic>
        <p:nvPicPr>
          <p:cNvPr id="213" name="Google Shape;213;g2ee15abed17_3_389"/>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14" name="Google Shape;214;g2ee15abed17_3_389"/>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15" name="Google Shape;215;g2ee15abed17_3_389"/>
          <p:cNvSpPr txBox="1"/>
          <p:nvPr/>
        </p:nvSpPr>
        <p:spPr>
          <a:xfrm>
            <a:off x="327600" y="8427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16" name="Google Shape;216;g2ee15abed17_3_38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a:t>
            </a:r>
            <a:r>
              <a:rPr b="1" lang="en-GB" sz="2000">
                <a:solidFill>
                  <a:srgbClr val="8182EF"/>
                </a:solidFill>
                <a:latin typeface="Roboto"/>
                <a:ea typeface="Roboto"/>
                <a:cs typeface="Roboto"/>
                <a:sym typeface="Roboto"/>
              </a:rPr>
              <a:t>10</a:t>
            </a:r>
            <a:endParaRPr b="1" i="0" sz="2000" u="none" cap="none" strike="noStrike">
              <a:solidFill>
                <a:srgbClr val="8182EF"/>
              </a:solidFill>
              <a:latin typeface="Roboto"/>
              <a:ea typeface="Roboto"/>
              <a:cs typeface="Roboto"/>
              <a:sym typeface="Roboto"/>
            </a:endParaRPr>
          </a:p>
        </p:txBody>
      </p:sp>
      <p:sp>
        <p:nvSpPr>
          <p:cNvPr id="217" name="Google Shape;217;g2ee15abed17_3_389"/>
          <p:cNvSpPr txBox="1"/>
          <p:nvPr/>
        </p:nvSpPr>
        <p:spPr>
          <a:xfrm>
            <a:off x="630000" y="1439875"/>
            <a:ext cx="7474200" cy="877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A is the brother of B and B is the brother of C. So, C may be the brother or sister of A.</a:t>
            </a:r>
            <a:endParaRPr sz="1800">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2ee15abed17_3_39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GB" sz="1700">
                <a:latin typeface="Roboto"/>
                <a:ea typeface="Roboto"/>
                <a:cs typeface="Roboto"/>
                <a:sym typeface="Roboto"/>
              </a:rPr>
              <a:t>A</a:t>
            </a:r>
            <a:r>
              <a:rPr b="1" i="0" lang="en-GB" sz="1600" u="none" cap="none" strike="noStrike">
                <a:solidFill>
                  <a:srgbClr val="000000"/>
                </a:solidFill>
                <a:latin typeface="Roboto"/>
                <a:ea typeface="Roboto"/>
                <a:cs typeface="Roboto"/>
                <a:sym typeface="Roboto"/>
              </a:rPr>
              <a:t>nswer: A</a:t>
            </a:r>
            <a:endParaRPr b="1" i="0" sz="1600" u="none" cap="none" strike="noStrike">
              <a:solidFill>
                <a:srgbClr val="000000"/>
              </a:solidFill>
              <a:latin typeface="Roboto"/>
              <a:ea typeface="Roboto"/>
              <a:cs typeface="Roboto"/>
              <a:sym typeface="Roboto"/>
            </a:endParaRPr>
          </a:p>
        </p:txBody>
      </p:sp>
      <p:sp>
        <p:nvSpPr>
          <p:cNvPr id="223" name="Google Shape;223;g2ee15abed17_3_3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a:t>
            </a:r>
            <a:r>
              <a:rPr b="1" lang="en-GB" sz="2000">
                <a:solidFill>
                  <a:srgbClr val="8182EF"/>
                </a:solidFill>
                <a:latin typeface="Roboto"/>
                <a:ea typeface="Roboto"/>
                <a:cs typeface="Roboto"/>
                <a:sym typeface="Roboto"/>
              </a:rPr>
              <a:t>11</a:t>
            </a:r>
            <a:endParaRPr b="1" i="0" sz="2000" u="none" cap="none" strike="noStrike">
              <a:solidFill>
                <a:srgbClr val="8182EF"/>
              </a:solidFill>
              <a:latin typeface="Roboto"/>
              <a:ea typeface="Roboto"/>
              <a:cs typeface="Roboto"/>
              <a:sym typeface="Roboto"/>
            </a:endParaRPr>
          </a:p>
        </p:txBody>
      </p:sp>
      <p:sp>
        <p:nvSpPr>
          <p:cNvPr id="224" name="Google Shape;224;g2ee15abed17_3_397"/>
          <p:cNvSpPr txBox="1"/>
          <p:nvPr/>
        </p:nvSpPr>
        <p:spPr>
          <a:xfrm>
            <a:off x="630000" y="1439875"/>
            <a:ext cx="7338000" cy="2955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Rita told Mani, "The girl I met yesterday at the beach was the youngest daughter of the brother-in-law of my friend's mother." How is the girl related to Rita's friend?</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A.Cousin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B</a:t>
            </a:r>
            <a:r>
              <a:rPr lang="en-GB" sz="1800">
                <a:solidFill>
                  <a:schemeClr val="dk1"/>
                </a:solidFill>
                <a:latin typeface="Roboto"/>
                <a:ea typeface="Roboto"/>
                <a:cs typeface="Roboto"/>
                <a:sym typeface="Roboto"/>
              </a:rPr>
              <a:t>.Daughter</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C.Niece</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None/>
            </a:pPr>
            <a:r>
              <a:rPr lang="en-GB" sz="1800">
                <a:solidFill>
                  <a:schemeClr val="dk1"/>
                </a:solidFill>
                <a:latin typeface="Roboto"/>
                <a:ea typeface="Roboto"/>
                <a:cs typeface="Roboto"/>
                <a:sym typeface="Roboto"/>
              </a:rPr>
              <a:t>D.Friend</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pic>
        <p:nvPicPr>
          <p:cNvPr id="229" name="Google Shape;229;g2ee15abed17_3_403"/>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30" name="Google Shape;230;g2ee15abed17_3_403"/>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31" name="Google Shape;231;g2ee15abed17_3_403"/>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32" name="Google Shape;232;g2ee15abed17_3_403"/>
          <p:cNvSpPr txBox="1"/>
          <p:nvPr/>
        </p:nvSpPr>
        <p:spPr>
          <a:xfrm>
            <a:off x="630000" y="1439875"/>
            <a:ext cx="6995400" cy="1703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Daughter of brother-in-law — Niece;</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Mother's niece — Cousin.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So, the girl is the cousin of Rita's friend.</a:t>
            </a:r>
            <a:r>
              <a:rPr lang="en-GB" sz="1800">
                <a:solidFill>
                  <a:schemeClr val="dk1"/>
                </a:solidFill>
              </a:rPr>
              <a:t> </a:t>
            </a:r>
            <a:endParaRPr>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233" name="Google Shape;233;g2ee15abed17_3_40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a:t>
            </a:r>
            <a:r>
              <a:rPr b="1" lang="en-GB" sz="2000">
                <a:solidFill>
                  <a:srgbClr val="8182EF"/>
                </a:solidFill>
                <a:latin typeface="Roboto"/>
                <a:ea typeface="Roboto"/>
                <a:cs typeface="Roboto"/>
                <a:sym typeface="Roboto"/>
              </a:rPr>
              <a:t>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2ee15abed17_3_411"/>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39" name="Google Shape;239;g2ee15abed17_3_411"/>
          <p:cNvSpPr txBox="1"/>
          <p:nvPr/>
        </p:nvSpPr>
        <p:spPr>
          <a:xfrm>
            <a:off x="720000" y="1439875"/>
            <a:ext cx="7650000" cy="3130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 family of six persons A, B, C, D, E and F, there are two married couples. If D is   grandmother of A and mother of B;C is wife of B and mother of F;F is granddaughter of E. Who among the following is one of the couples ?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A.CD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B.EB</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C.DE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D.None of these</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sz="1600">
              <a:latin typeface="Roboto"/>
              <a:ea typeface="Roboto"/>
              <a:cs typeface="Roboto"/>
              <a:sym typeface="Roboto"/>
            </a:endParaRPr>
          </a:p>
        </p:txBody>
      </p:sp>
      <p:sp>
        <p:nvSpPr>
          <p:cNvPr id="240" name="Google Shape;240;g2ee15abed17_3_4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241" name="Google Shape;241;g2ee15abed17_3_411"/>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a:t>
            </a:r>
            <a:r>
              <a:rPr b="1" lang="en-GB" sz="2000">
                <a:solidFill>
                  <a:srgbClr val="8182EF"/>
                </a:solidFill>
                <a:latin typeface="Roboto"/>
                <a:ea typeface="Roboto"/>
                <a:cs typeface="Roboto"/>
                <a:sym typeface="Roboto"/>
              </a:rPr>
              <a:t>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Effect filter="fade" transition="in">
                                      <p:cBhvr>
                                        <p:cTn dur="1000"/>
                                        <p:tgtEl>
                                          <p:spTgt spid="2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Effect filter="fade" transition="in">
                                      <p:cBhvr>
                                        <p:cTn dur="1000"/>
                                        <p:tgtEl>
                                          <p:spTgt spid="2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Effect filter="fade" transition="in">
                                      <p:cBhvr>
                                        <p:cTn dur="1000"/>
                                        <p:tgtEl>
                                          <p:spTgt spid="2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Effect filter="fade" transition="in">
                                      <p:cBhvr>
                                        <p:cTn dur="1000"/>
                                        <p:tgtEl>
                                          <p:spTgt spid="2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animEffect filter="fade" transition="in">
                                      <p:cBhvr>
                                        <p:cTn dur="1000"/>
                                        <p:tgtEl>
                                          <p:spTgt spid="2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1000"/>
                                        <p:tgtEl>
                                          <p:spTgt spid="24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pic>
        <p:nvPicPr>
          <p:cNvPr id="246" name="Google Shape;246;g2ee15abed17_3_418"/>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47" name="Google Shape;247;g2ee15abed17_3_418"/>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48" name="Google Shape;248;g2ee15abed17_3_418"/>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49" name="Google Shape;249;g2ee15abed17_3_418"/>
          <p:cNvSpPr txBox="1"/>
          <p:nvPr/>
        </p:nvSpPr>
        <p:spPr>
          <a:xfrm>
            <a:off x="630000" y="1439875"/>
            <a:ext cx="7303500" cy="3078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C is wife of B. So, one couple is BC. Now, D in grandmother of A, B is the son of D and his wife C is the mother of F. SO, D is also the grandmother of F But F is the granddaughter of E.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So, E is the grandfather of F and the husband of D. Thus, DF is another couple</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0" name="Google Shape;250;g2ee15abed17_3_4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a:t>
            </a:r>
            <a:r>
              <a:rPr b="1" lang="en-GB" sz="2000">
                <a:solidFill>
                  <a:srgbClr val="8182EF"/>
                </a:solidFill>
                <a:latin typeface="Roboto"/>
                <a:ea typeface="Roboto"/>
                <a:cs typeface="Roboto"/>
                <a:sym typeface="Roboto"/>
              </a:rPr>
              <a:t>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ee15abed17_3_426"/>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56" name="Google Shape;256;g2ee15abed17_3_426"/>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 woman going with a boy is asked by another woman about their relationship between them. The woman replied, "My maternal Uncle and the uncle of his maternal uncle is the same". How is the lady related with that boy?</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A.Grandmother and Grandson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B.Mother and Son</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C.Aunt and Nephew</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D.None of these</a:t>
            </a:r>
            <a:endParaRPr sz="1600">
              <a:solidFill>
                <a:srgbClr val="666666"/>
              </a:solidFill>
              <a:highlight>
                <a:srgbClr val="F8F8F8"/>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666666"/>
              </a:solidFill>
              <a:highlight>
                <a:srgbClr val="F8F8F8"/>
              </a:highlight>
              <a:latin typeface="Roboto"/>
              <a:ea typeface="Roboto"/>
              <a:cs typeface="Roboto"/>
              <a:sym typeface="Roboto"/>
            </a:endParaRPr>
          </a:p>
        </p:txBody>
      </p:sp>
      <p:sp>
        <p:nvSpPr>
          <p:cNvPr id="257" name="Google Shape;257;g2ee15abed17_3_42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258" name="Google Shape;258;g2ee15abed17_3_42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a:t>
            </a:r>
            <a:r>
              <a:rPr b="1" lang="en-GB" sz="2000">
                <a:solidFill>
                  <a:srgbClr val="8182EF"/>
                </a:solidFill>
                <a:latin typeface="Roboto"/>
                <a:ea typeface="Roboto"/>
                <a:cs typeface="Roboto"/>
                <a:sym typeface="Roboto"/>
              </a:rPr>
              <a:t>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10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10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10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10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animEffect filter="fade" transition="in">
                                      <p:cBhvr>
                                        <p:cTn dur="1000"/>
                                        <p:tgtEl>
                                          <p:spTgt spid="25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sp>
        <p:nvSpPr>
          <p:cNvPr id="263" name="Google Shape;263;g2ee15abed17_3_433"/>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64" name="Google Shape;264;g2ee15abed17_3_43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Clearly, the brother of woman's mother is the same as the brother of the father of boy's maternal uncle. So, the woman's mother's brother is the boy's maternal uncle's father. Thus the woman's mother's brother's son is boy's maternal uncle, i.e woman's mother's  brother's daughter is boy's mother</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65" name="Google Shape;265;g2ee15abed17_3_43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a:t>
            </a:r>
            <a:r>
              <a:rPr b="1" lang="en-GB" sz="2000">
                <a:solidFill>
                  <a:srgbClr val="8182EF"/>
                </a:solidFill>
                <a:latin typeface="Roboto"/>
                <a:ea typeface="Roboto"/>
                <a:cs typeface="Roboto"/>
                <a:sym typeface="Roboto"/>
              </a:rPr>
              <a:t>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Effect filter="fade" transition="in">
                                      <p:cBhvr>
                                        <p:cTn dur="1000"/>
                                        <p:tgtEl>
                                          <p:spTgt spid="2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Effect filter="fade" transition="in">
                                      <p:cBhvr>
                                        <p:cTn dur="1000"/>
                                        <p:tgtEl>
                                          <p:spTgt spid="2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Effect filter="fade" transition="in">
                                      <p:cBhvr>
                                        <p:cTn dur="1000"/>
                                        <p:tgtEl>
                                          <p:spTgt spid="26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2ee15abed17_3_440"/>
          <p:cNvSpPr txBox="1"/>
          <p:nvPr/>
        </p:nvSpPr>
        <p:spPr>
          <a:xfrm>
            <a:off x="350100" y="420585"/>
            <a:ext cx="2827800" cy="39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10</a:t>
            </a:r>
            <a:endParaRPr b="0" i="0" sz="2000" u="none" cap="none" strike="noStrike">
              <a:solidFill>
                <a:schemeClr val="lt1"/>
              </a:solidFill>
              <a:latin typeface="Roboto"/>
              <a:ea typeface="Roboto"/>
              <a:cs typeface="Roboto"/>
              <a:sym typeface="Roboto"/>
            </a:endParaRPr>
          </a:p>
        </p:txBody>
      </p:sp>
      <p:sp>
        <p:nvSpPr>
          <p:cNvPr id="271" name="Google Shape;271;g2ee15abed17_3_440"/>
          <p:cNvSpPr txBox="1"/>
          <p:nvPr/>
        </p:nvSpPr>
        <p:spPr>
          <a:xfrm>
            <a:off x="720000" y="1440004"/>
            <a:ext cx="7384200" cy="2598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rPr>
              <a:t>All the six members of a family A, B, C, D, E and F are travelling together.B is the son of C but C is not the mother of B. A and C are a married couple. E is the brother of C. D is the daughter of A. F is the brother of B. Who is the mother of B ? </a:t>
            </a:r>
            <a:endParaRPr sz="1800">
              <a:solidFill>
                <a:schemeClr val="dk1"/>
              </a:solidFill>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rPr>
              <a:t>A.D</a:t>
            </a:r>
            <a:endParaRPr sz="1800">
              <a:solidFill>
                <a:schemeClr val="dk1"/>
              </a:solidFill>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rPr>
              <a:t>B.F</a:t>
            </a:r>
            <a:endParaRPr sz="1800">
              <a:solidFill>
                <a:schemeClr val="dk1"/>
              </a:solidFill>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rPr>
              <a:t>C.B</a:t>
            </a:r>
            <a:endParaRPr sz="1800">
              <a:solidFill>
                <a:schemeClr val="dk1"/>
              </a:solidFill>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rPr>
              <a:t>D.A</a:t>
            </a:r>
            <a:endParaRPr sz="1800">
              <a:solidFill>
                <a:schemeClr val="dk1"/>
              </a:solidFill>
            </a:endParaRPr>
          </a:p>
          <a:p>
            <a:pPr indent="0" lvl="0" marL="0" marR="0" rtl="0" algn="l">
              <a:lnSpc>
                <a:spcPct val="115000"/>
              </a:lnSpc>
              <a:spcBef>
                <a:spcPts val="0"/>
              </a:spcBef>
              <a:spcAft>
                <a:spcPts val="0"/>
              </a:spcAft>
              <a:buNone/>
            </a:pPr>
            <a:r>
              <a:t/>
            </a:r>
            <a:endParaRPr sz="1600">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200"/>
              <a:buFont typeface="Arial"/>
              <a:buNone/>
            </a:pPr>
            <a:r>
              <a:t/>
            </a:r>
            <a:endParaRPr b="0" i="0" sz="1600" u="none" cap="none" strike="noStrike">
              <a:solidFill>
                <a:srgbClr val="666666"/>
              </a:solidFill>
              <a:highlight>
                <a:srgbClr val="F8F8F8"/>
              </a:highlight>
              <a:latin typeface="Roboto"/>
              <a:ea typeface="Roboto"/>
              <a:cs typeface="Roboto"/>
              <a:sym typeface="Roboto"/>
            </a:endParaRPr>
          </a:p>
        </p:txBody>
      </p:sp>
      <p:sp>
        <p:nvSpPr>
          <p:cNvPr id="272" name="Google Shape;272;g2ee15abed17_3_44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 </a:t>
            </a:r>
            <a:endParaRPr b="1" i="0" sz="1600" u="none" cap="none" strike="noStrike">
              <a:solidFill>
                <a:srgbClr val="000000"/>
              </a:solidFill>
              <a:latin typeface="Roboto"/>
              <a:ea typeface="Roboto"/>
              <a:cs typeface="Roboto"/>
              <a:sym typeface="Roboto"/>
            </a:endParaRPr>
          </a:p>
        </p:txBody>
      </p:sp>
      <p:sp>
        <p:nvSpPr>
          <p:cNvPr id="273" name="Google Shape;273;g2ee15abed17_3_440"/>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a:t>
            </a:r>
            <a:r>
              <a:rPr b="1" lang="en-GB" sz="2000">
                <a:solidFill>
                  <a:srgbClr val="8182EF"/>
                </a:solidFill>
                <a:latin typeface="Roboto"/>
                <a:ea typeface="Roboto"/>
                <a:cs typeface="Roboto"/>
                <a:sym typeface="Roboto"/>
              </a:rPr>
              <a:t>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10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10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1000"/>
                                        <p:tgtEl>
                                          <p:spTgt spid="2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animEffect filter="fade" transition="in">
                                      <p:cBhvr>
                                        <p:cTn dur="1000"/>
                                        <p:tgtEl>
                                          <p:spTgt spid="2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animEffect filter="fade" transition="in">
                                      <p:cBhvr>
                                        <p:cTn dur="1000"/>
                                        <p:tgtEl>
                                          <p:spTgt spid="2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6" st="6"/>
                                            </p:txEl>
                                          </p:spTgt>
                                        </p:tgtEl>
                                        <p:attrNameLst>
                                          <p:attrName>style.visibility</p:attrName>
                                        </p:attrNameLst>
                                      </p:cBhvr>
                                      <p:to>
                                        <p:strVal val="visible"/>
                                      </p:to>
                                    </p:set>
                                    <p:animEffect filter="fade" transition="in">
                                      <p:cBhvr>
                                        <p:cTn dur="1000"/>
                                        <p:tgtEl>
                                          <p:spTgt spid="2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1000"/>
                                        <p:tgtEl>
                                          <p:spTgt spid="27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pic>
        <p:nvPicPr>
          <p:cNvPr id="278" name="Google Shape;278;g2ee15abed17_3_447"/>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79" name="Google Shape;279;g2ee15abed17_3_447"/>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80" name="Google Shape;280;g2ee15abed17_3_447"/>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81" name="Google Shape;281;g2ee15abed17_3_447"/>
          <p:cNvSpPr txBox="1"/>
          <p:nvPr/>
        </p:nvSpPr>
        <p:spPr>
          <a:xfrm>
            <a:off x="630000" y="1439875"/>
            <a:ext cx="7559700" cy="2277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B is the son of C but C is not the mother of B means C is the father of B. A is marned to C means A is the mother of B. F is brother of B means F is son of A and C. D is daughter of A means D is daughter of A and C</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Clearly. A is the mother of B. </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82" name="Google Shape;282;g2ee15abed17_3_44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a:t>
            </a:r>
            <a:r>
              <a:rPr b="1" lang="en-GB" sz="2000">
                <a:solidFill>
                  <a:srgbClr val="8182EF"/>
                </a:solidFill>
                <a:latin typeface="Roboto"/>
                <a:ea typeface="Roboto"/>
                <a:cs typeface="Roboto"/>
                <a:sym typeface="Roboto"/>
              </a:rPr>
              <a:t>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2ee15abed17_3_455"/>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288" name="Google Shape;288;g2ee15abed17_3_45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If 'A $ B' means 'A is brother of B', 'A @ B' means 'A is wife of B', 'A # B' means 'A is daughter of B' and 'A &amp; B 'means 'A is father of B', then which of the following expressions indicates the relationship 'K' is father-in-law of H'? </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A.H @ J $ L # P &amp; 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B.H @ J $ P &amp; L # K</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C.H @ J $ L # K &amp; P</a:t>
            </a:r>
            <a:endParaRPr sz="18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D.H @ P $ J &amp; L # K</a:t>
            </a:r>
            <a:endParaRPr sz="1600">
              <a:latin typeface="Roboto"/>
              <a:ea typeface="Roboto"/>
              <a:cs typeface="Roboto"/>
              <a:sym typeface="Roboto"/>
            </a:endParaRPr>
          </a:p>
        </p:txBody>
      </p:sp>
      <p:sp>
        <p:nvSpPr>
          <p:cNvPr id="289" name="Google Shape;289;g2ee15abed17_3_45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290" name="Google Shape;290;g2ee15abed17_3_45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a:t>
            </a:r>
            <a:r>
              <a:rPr b="1" lang="en-GB"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animEffect filter="fade" transition="in">
                                      <p:cBhvr>
                                        <p:cTn dur="1000"/>
                                        <p:tgtEl>
                                          <p:spTgt spid="2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animEffect filter="fade" transition="in">
                                      <p:cBhvr>
                                        <p:cTn dur="1000"/>
                                        <p:tgtEl>
                                          <p:spTgt spid="2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2" st="2"/>
                                            </p:txEl>
                                          </p:spTgt>
                                        </p:tgtEl>
                                        <p:attrNameLst>
                                          <p:attrName>style.visibility</p:attrName>
                                        </p:attrNameLst>
                                      </p:cBhvr>
                                      <p:to>
                                        <p:strVal val="visible"/>
                                      </p:to>
                                    </p:set>
                                    <p:animEffect filter="fade" transition="in">
                                      <p:cBhvr>
                                        <p:cTn dur="1000"/>
                                        <p:tgtEl>
                                          <p:spTgt spid="2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3" st="3"/>
                                            </p:txEl>
                                          </p:spTgt>
                                        </p:tgtEl>
                                        <p:attrNameLst>
                                          <p:attrName>style.visibility</p:attrName>
                                        </p:attrNameLst>
                                      </p:cBhvr>
                                      <p:to>
                                        <p:strVal val="visible"/>
                                      </p:to>
                                    </p:set>
                                    <p:animEffect filter="fade" transition="in">
                                      <p:cBhvr>
                                        <p:cTn dur="1000"/>
                                        <p:tgtEl>
                                          <p:spTgt spid="2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4" st="4"/>
                                            </p:txEl>
                                          </p:spTgt>
                                        </p:tgtEl>
                                        <p:attrNameLst>
                                          <p:attrName>style.visibility</p:attrName>
                                        </p:attrNameLst>
                                      </p:cBhvr>
                                      <p:to>
                                        <p:strVal val="visible"/>
                                      </p:to>
                                    </p:set>
                                    <p:animEffect filter="fade" transition="in">
                                      <p:cBhvr>
                                        <p:cTn dur="1000"/>
                                        <p:tgtEl>
                                          <p:spTgt spid="2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g2ee15abed17_3_462"/>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96" name="Google Shape;296;g2ee15abed17_3_462"/>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rgbClr val="000000"/>
              </a:buClr>
              <a:buSzPts val="1400"/>
              <a:buFont typeface="Arial"/>
              <a:buNone/>
            </a:pPr>
            <a:r>
              <a:rPr lang="en-GB" sz="1800">
                <a:latin typeface="Roboto"/>
                <a:ea typeface="Roboto"/>
                <a:cs typeface="Roboto"/>
                <a:sym typeface="Roboto"/>
              </a:rPr>
              <a:t>K is the father-in-law of H means H is the wife of the brother (say, J) of the</a:t>
            </a:r>
            <a:endParaRPr sz="1800">
              <a:latin typeface="Roboto"/>
              <a:ea typeface="Roboto"/>
              <a:cs typeface="Roboto"/>
              <a:sym typeface="Roboto"/>
            </a:endParaRPr>
          </a:p>
          <a:p>
            <a:pPr indent="0" lvl="0" marL="0" rtl="0" algn="just">
              <a:lnSpc>
                <a:spcPct val="150000"/>
              </a:lnSpc>
              <a:spcBef>
                <a:spcPts val="0"/>
              </a:spcBef>
              <a:spcAft>
                <a:spcPts val="0"/>
              </a:spcAft>
              <a:buClr>
                <a:srgbClr val="000000"/>
              </a:buClr>
              <a:buSzPts val="1400"/>
              <a:buFont typeface="Arial"/>
              <a:buNone/>
            </a:pPr>
            <a:r>
              <a:rPr lang="en-GB" sz="1800">
                <a:latin typeface="Roboto"/>
                <a:ea typeface="Roboto"/>
                <a:cs typeface="Roboto"/>
                <a:sym typeface="Roboto"/>
              </a:rPr>
              <a:t>daughter (say, L) of K and K is a male (brother or father of some person, say P)</a:t>
            </a:r>
            <a:endParaRPr sz="1800">
              <a:latin typeface="Roboto"/>
              <a:ea typeface="Roboto"/>
              <a:cs typeface="Roboto"/>
              <a:sym typeface="Roboto"/>
            </a:endParaRPr>
          </a:p>
          <a:p>
            <a:pPr indent="0" lvl="0" marL="0" rtl="0" algn="just">
              <a:lnSpc>
                <a:spcPct val="150000"/>
              </a:lnSpc>
              <a:spcBef>
                <a:spcPts val="0"/>
              </a:spcBef>
              <a:spcAft>
                <a:spcPts val="0"/>
              </a:spcAft>
              <a:buClr>
                <a:srgbClr val="000000"/>
              </a:buClr>
              <a:buSzPts val="1400"/>
              <a:buFont typeface="Arial"/>
              <a:buNone/>
            </a:pPr>
            <a:r>
              <a:rPr lang="en-GB" sz="1800">
                <a:latin typeface="Roboto"/>
                <a:ea typeface="Roboto"/>
                <a:cs typeface="Roboto"/>
                <a:sym typeface="Roboto"/>
              </a:rPr>
              <a:t>i.e H @ J $ L # K $ P or H @ J $ L # K &amp; P.</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297" name="Google Shape;297;g2ee15abed17_3_46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298" name="Google Shape;298;g2ee15abed17_3_46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a:t>
            </a:r>
            <a:r>
              <a:rPr b="1" lang="en-GB"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0" st="0"/>
                                            </p:txEl>
                                          </p:spTgt>
                                        </p:tgtEl>
                                        <p:attrNameLst>
                                          <p:attrName>style.visibility</p:attrName>
                                        </p:attrNameLst>
                                      </p:cBhvr>
                                      <p:to>
                                        <p:strVal val="visible"/>
                                      </p:to>
                                    </p:set>
                                    <p:animEffect filter="fade" transition="in">
                                      <p:cBhvr>
                                        <p:cTn dur="1000"/>
                                        <p:tgtEl>
                                          <p:spTgt spid="2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1" st="1"/>
                                            </p:txEl>
                                          </p:spTgt>
                                        </p:tgtEl>
                                        <p:attrNameLst>
                                          <p:attrName>style.visibility</p:attrName>
                                        </p:attrNameLst>
                                      </p:cBhvr>
                                      <p:to>
                                        <p:strVal val="visible"/>
                                      </p:to>
                                    </p:set>
                                    <p:animEffect filter="fade" transition="in">
                                      <p:cBhvr>
                                        <p:cTn dur="1000"/>
                                        <p:tgtEl>
                                          <p:spTgt spid="2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2" st="2"/>
                                            </p:txEl>
                                          </p:spTgt>
                                        </p:tgtEl>
                                        <p:attrNameLst>
                                          <p:attrName>style.visibility</p:attrName>
                                        </p:attrNameLst>
                                      </p:cBhvr>
                                      <p:to>
                                        <p:strVal val="visible"/>
                                      </p:to>
                                    </p:set>
                                    <p:animEffect filter="fade" transition="in">
                                      <p:cBhvr>
                                        <p:cTn dur="1000"/>
                                        <p:tgtEl>
                                          <p:spTgt spid="2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3" st="3"/>
                                            </p:txEl>
                                          </p:spTgt>
                                        </p:tgtEl>
                                        <p:attrNameLst>
                                          <p:attrName>style.visibility</p:attrName>
                                        </p:attrNameLst>
                                      </p:cBhvr>
                                      <p:to>
                                        <p:strVal val="visible"/>
                                      </p:to>
                                    </p:set>
                                    <p:animEffect filter="fade" transition="in">
                                      <p:cBhvr>
                                        <p:cTn dur="1000"/>
                                        <p:tgtEl>
                                          <p:spTgt spid="2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4" st="4"/>
                                            </p:txEl>
                                          </p:spTgt>
                                        </p:tgtEl>
                                        <p:attrNameLst>
                                          <p:attrName>style.visibility</p:attrName>
                                        </p:attrNameLst>
                                      </p:cBhvr>
                                      <p:to>
                                        <p:strVal val="visible"/>
                                      </p:to>
                                    </p:set>
                                    <p:animEffect filter="fade" transition="in">
                                      <p:cBhvr>
                                        <p:cTn dur="1000"/>
                                        <p:tgtEl>
                                          <p:spTgt spid="2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5" st="5"/>
                                            </p:txEl>
                                          </p:spTgt>
                                        </p:tgtEl>
                                        <p:attrNameLst>
                                          <p:attrName>style.visibility</p:attrName>
                                        </p:attrNameLst>
                                      </p:cBhvr>
                                      <p:to>
                                        <p:strVal val="visible"/>
                                      </p:to>
                                    </p:set>
                                    <p:animEffect filter="fade" transition="in">
                                      <p:cBhvr>
                                        <p:cTn dur="1000"/>
                                        <p:tgtEl>
                                          <p:spTgt spid="2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animEffect filter="fade" transition="in">
                                      <p:cBhvr>
                                        <p:cTn dur="1000"/>
                                        <p:tgtEl>
                                          <p:spTgt spid="29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g2ee15abed17_3_53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4" name="Google Shape;304;g2ee15abed17_3_531"/>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05" name="Google Shape;305;g2ee15abed17_3_53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6" name="Google Shape;306;g2ee15abed17_3_53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07" name="Google Shape;307;g2ee15abed17_3_531"/>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08" name="Google Shape;308;g2ee15abed17_3_53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09" name="Google Shape;309;g2ee15abed17_3_531"/>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10" name="Google Shape;310;g2ee15abed17_3_53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1" name="Google Shape;311;g2ee15abed17_3_531"/>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12" name="Google Shape;312;g2ee15abed17_3_53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