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embeddedFontLst>
    <p:embeddedFont>
      <p:font typeface="Roboto Black"/>
      <p:bold r:id="rId47"/>
      <p:boldItalic r:id="rId48"/>
    </p:embeddedFont>
    <p:embeddedFont>
      <p:font typeface="Roboto"/>
      <p:regular r:id="rId49"/>
      <p:bold r:id="rId50"/>
      <p:italic r:id="rId51"/>
      <p:boldItalic r:id="rId52"/>
    </p:embeddedFont>
    <p:embeddedFont>
      <p:font typeface="Roboto Medium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pos="5272">
          <p15:clr>
            <a:srgbClr val="FF00FF"/>
          </p15:clr>
        </p15:guide>
        <p15:guide id="4" orient="horz" pos="907">
          <p15:clr>
            <a:srgbClr val="FF0000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  <p15:guide id="7" pos="907">
          <p15:clr>
            <a:srgbClr val="747775"/>
          </p15:clr>
        </p15:guide>
      </p15:sldGuideLst>
    </p:ext>
    <p:ext uri="GoogleSlidesCustomDataVersion2">
      <go:slidesCustomData xmlns:go="http://customooxmlschemas.google.com/" r:id="rId57" roundtripDataSignature="AMtx7mhKwHAi2iMzN7I1JENycNRgwyC3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"/>
        <p:guide pos="2755" orient="horz"/>
        <p:guide pos="5272"/>
        <p:guide pos="907" orient="horz"/>
        <p:guide pos="737" orient="horz"/>
        <p:guide pos="397" orient="horz"/>
        <p:guide pos="90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Black-boldItalic.fntdata"/><Relationship Id="rId47" Type="http://schemas.openxmlformats.org/officeDocument/2006/relationships/font" Target="fonts/RobotoBlack-bold.fntdata"/><Relationship Id="rId49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italic.fntdata"/><Relationship Id="rId50" Type="http://schemas.openxmlformats.org/officeDocument/2006/relationships/font" Target="fonts/Roboto-bold.fntdata"/><Relationship Id="rId53" Type="http://schemas.openxmlformats.org/officeDocument/2006/relationships/font" Target="fonts/RobotoMedium-regular.fntdata"/><Relationship Id="rId52" Type="http://schemas.openxmlformats.org/officeDocument/2006/relationships/font" Target="fonts/Roboto-boldItalic.fntdata"/><Relationship Id="rId11" Type="http://schemas.openxmlformats.org/officeDocument/2006/relationships/slide" Target="slides/slide6.xml"/><Relationship Id="rId55" Type="http://schemas.openxmlformats.org/officeDocument/2006/relationships/font" Target="fonts/RobotoMedium-italic.fntdata"/><Relationship Id="rId10" Type="http://schemas.openxmlformats.org/officeDocument/2006/relationships/slide" Target="slides/slide5.xml"/><Relationship Id="rId54" Type="http://schemas.openxmlformats.org/officeDocument/2006/relationships/font" Target="fonts/RobotoMedium-bold.fntdata"/><Relationship Id="rId13" Type="http://schemas.openxmlformats.org/officeDocument/2006/relationships/slide" Target="slides/slide8.xml"/><Relationship Id="rId57" Type="http://customschemas.google.com/relationships/presentationmetadata" Target="metadata"/><Relationship Id="rId12" Type="http://schemas.openxmlformats.org/officeDocument/2006/relationships/slide" Target="slides/slide7.xml"/><Relationship Id="rId56" Type="http://schemas.openxmlformats.org/officeDocument/2006/relationships/font" Target="fonts/RobotoMedium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9d04df441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19d04df44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9d04df4417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19d04df441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9d04df4417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19d04df441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50">
                <a:solidFill>
                  <a:srgbClr val="2326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answer you link to says the minute hand gains </a:t>
            </a:r>
            <a:endParaRPr sz="1150">
              <a:solidFill>
                <a:srgbClr val="23262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50">
                <a:solidFill>
                  <a:srgbClr val="2326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55</a:t>
            </a:r>
            <a:endParaRPr sz="1250">
              <a:solidFill>
                <a:srgbClr val="23262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50">
                <a:solidFill>
                  <a:srgbClr val="2326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55 minutes on the hour hand, not the other way around. As you say, in one hour the minute hand moves</a:t>
            </a:r>
            <a:endParaRPr sz="900">
              <a:solidFill>
                <a:srgbClr val="23262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50">
                <a:solidFill>
                  <a:srgbClr val="2326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360∘, which the answer calls </a:t>
            </a:r>
            <a:endParaRPr sz="1250">
              <a:solidFill>
                <a:srgbClr val="23262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50">
                <a:solidFill>
                  <a:srgbClr val="2326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60 minutes. In one hour, the hour hand moves </a:t>
            </a:r>
            <a:endParaRPr sz="1150">
              <a:solidFill>
                <a:srgbClr val="23262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23262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50">
                <a:solidFill>
                  <a:srgbClr val="2326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30∘, so the minute hand gains </a:t>
            </a:r>
            <a:endParaRPr sz="1250">
              <a:solidFill>
                <a:srgbClr val="23262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50">
                <a:solidFill>
                  <a:srgbClr val="2326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330∘=55 minutes.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cd34265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2ecd34265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ee153bae1d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2ee153bae1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e153bae1d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2ee153bae1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9d04df4417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19d04df441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cfead3591_1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2ecfead3591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ecfead3591_1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2ecfead3591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ecfead3591_1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2ecfead3591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ecfead3591_1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2ecfead3591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ecfead3591_1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2ecfead3591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ee153bae1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2ee153bae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ee153bae1d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2ee153bae1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a span of 12 hrs, the hands of a clock are at right angles exactly 22 times. So, in a span of 24 hrs, they are at right angles exactly 44 times.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ecfead3591_1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2ecfead3591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ecfead3591_1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2ecfead3591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a span of 12 hrs, the hands of a clock are at right angles exactly 22 times. So, in a span of 24 hrs, they are at right angles exactly 44 times.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ecfead3591_1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2ecfead3591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ecfead3591_1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2ecfead3591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ecfead3591_1_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2ecfead3591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ecfead3591_1_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2ecfead3591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9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49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5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47" name="Google Shape;4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3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spd="slow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3.png"/><Relationship Id="rId4" Type="http://schemas.openxmlformats.org/officeDocument/2006/relationships/hyperlink" Target="https://learn.codemithra.com/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jp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8"/>
          <p:cNvSpPr txBox="1"/>
          <p:nvPr/>
        </p:nvSpPr>
        <p:spPr>
          <a:xfrm>
            <a:off x="178001" y="2109682"/>
            <a:ext cx="4690948" cy="7509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CLOCKS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/>
        </p:nvSpPr>
        <p:spPr>
          <a:xfrm>
            <a:off x="436850" y="1440000"/>
            <a:ext cx="7933200" cy="2704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540000" spcFirstLastPara="1" rIns="15420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5555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Minute Spaces:</a:t>
            </a:r>
            <a:endParaRPr b="1" i="0" sz="1800" u="none" cap="none" strike="noStrike">
              <a:solidFill>
                <a:srgbClr val="5555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face or dial of watch is a circle whose circumference is divided into 60 equal parts, called minute spaces.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800" u="none" cap="none" strike="noStrike">
                <a:solidFill>
                  <a:srgbClr val="5555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Hour Hand and Minute Hand:</a:t>
            </a:r>
            <a:endParaRPr b="1" i="0" sz="1800" u="none" cap="none" strike="noStrike">
              <a:solidFill>
                <a:srgbClr val="5555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 clock has two hands, the smaller one is called the </a:t>
            </a:r>
            <a:r>
              <a:rPr b="1" i="0" lang="en-GB" sz="1400" u="none" cap="none" strike="noStrike">
                <a:solidFill>
                  <a:srgbClr val="5555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hour hand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b="1" i="0" lang="en-GB" sz="1400" u="none" cap="none" strike="noStrike">
                <a:solidFill>
                  <a:srgbClr val="5555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short hand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while the larger one is called </a:t>
            </a:r>
            <a:r>
              <a:rPr b="1" i="0" lang="en-GB" sz="1400" u="none" cap="none" strike="noStrike">
                <a:solidFill>
                  <a:srgbClr val="5555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minute hand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b="1" i="0" lang="en-GB" sz="1400" u="none" cap="none" strike="noStrike">
                <a:solidFill>
                  <a:srgbClr val="5555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long hand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720000" y="579950"/>
            <a:ext cx="23511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35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CLOCKS</a:t>
            </a:r>
            <a:endParaRPr b="0" i="0" sz="21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9d04df4417_0_0"/>
          <p:cNvSpPr txBox="1"/>
          <p:nvPr/>
        </p:nvSpPr>
        <p:spPr>
          <a:xfrm>
            <a:off x="-34425" y="50220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CLOCKS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g19d04df4417_0_0"/>
          <p:cNvSpPr txBox="1"/>
          <p:nvPr/>
        </p:nvSpPr>
        <p:spPr>
          <a:xfrm>
            <a:off x="384825" y="770850"/>
            <a:ext cx="80769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 60 minutes, the minute hand gains 55 minutes on the hour on the hour hand.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 every hour, both the hands coincide once.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hands are in the same straight line when they are coincident or opposite to each other.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When the two hands are at right angles, they are 15 minute spaces apart.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When the hands are in opposite directions, they are 30 minute spaces apart.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Angle traced by hour hand in 12 hrs = 360°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Angle traced by minute hand in 60 min. = 360°.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If a watch or a clock indicates 8.15, when the correct time is 8, it is said to be 15 minutes </a:t>
            </a:r>
            <a:r>
              <a:rPr b="1" i="0" lang="en-GB" sz="1400" u="none" cap="none" strike="noStrike">
                <a:solidFill>
                  <a:srgbClr val="5555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too fast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 the other hand, if it indicates 7.45, when the correct time is 8, it is said to be 15 minutes </a:t>
            </a:r>
            <a:r>
              <a:rPr b="1" i="0" lang="en-GB" sz="1400" u="none" cap="none" strike="noStrike">
                <a:solidFill>
                  <a:srgbClr val="55555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too slow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55555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9d04df4417_0_9"/>
          <p:cNvSpPr txBox="1"/>
          <p:nvPr/>
        </p:nvSpPr>
        <p:spPr>
          <a:xfrm>
            <a:off x="384825" y="770850"/>
            <a:ext cx="80769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 clock is a complete circle having 360 degrees. It is divided into 12 equal parts i.e. each part is 360/12 = 30°. 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As the minute hand(M.H) takes a complete round in one hour, it covers 360° in 60 minutes.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          In 1 minute it covers 360/60 = 6°/ minute.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Also, as the hour hand(H.H) covers just one part out of the given 12 parts in one hour. This implies it covers 30° in 60 minutes i.e. ½° per minute. 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This implies that the relative speed of the M.H is 6 - ½ = 5 ½ degrees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9d04df4417_0_17"/>
          <p:cNvSpPr txBox="1"/>
          <p:nvPr/>
        </p:nvSpPr>
        <p:spPr>
          <a:xfrm>
            <a:off x="384825" y="770850"/>
            <a:ext cx="80769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hands clocks will be perpendicular in 15-minute spaces apart.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hands of the clock are in a straight line and opposite to each other in 30-minutes spaces apart.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M.H gains 55-minutes over H.H per hour</a:t>
            </a:r>
            <a:r>
              <a:rPr b="0" i="0" lang="en-GB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If Ɵ is the angle between the M.H and the H.H, then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Ɵ = | 11(M)/2 ~ 30(H) |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2ecd34265b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2ecd34265b5_0_0"/>
          <p:cNvSpPr txBox="1"/>
          <p:nvPr/>
        </p:nvSpPr>
        <p:spPr>
          <a:xfrm>
            <a:off x="615175" y="2210100"/>
            <a:ext cx="7821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35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CLOCKS- Exercise</a:t>
            </a:r>
            <a:endParaRPr b="0" i="0" sz="3500" u="none" cap="none" strike="noStrike">
              <a:solidFill>
                <a:srgbClr val="8182E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/>
          <p:nvPr/>
        </p:nvSpPr>
        <p:spPr>
          <a:xfrm>
            <a:off x="327600" y="338142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262800" y="1135200"/>
            <a:ext cx="7384200" cy="3261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is the angle between hands of the clock at 8:40?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 degree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 degree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25 degree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 degree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D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01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/>
          <p:nvPr/>
        </p:nvSpPr>
        <p:spPr>
          <a:xfrm>
            <a:off x="720000" y="1440000"/>
            <a:ext cx="7073100" cy="3056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Substitute the minute and hour values in the expression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Ɵ = | 11(M)/2 - 30(H) |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Ɵ = | 11(40)/2 - 30(8) |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Ɵ = | 240 -220 |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Ɵ = 20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ee153bae1d_0_14"/>
          <p:cNvSpPr txBox="1"/>
          <p:nvPr/>
        </p:nvSpPr>
        <p:spPr>
          <a:xfrm>
            <a:off x="327600" y="35920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16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g2ee153bae1d_0_14"/>
          <p:cNvSpPr txBox="1"/>
          <p:nvPr/>
        </p:nvSpPr>
        <p:spPr>
          <a:xfrm>
            <a:off x="262800" y="1135200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At what time between 2 and 3 o’clock will the hands of a clock be together?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10(10/11)min. past 2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 min. past 2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20(10/11)min. past 2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12 min. past 2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g2ee153bae1d_0_14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A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g2ee153bae1d_0_14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0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2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ee153bae1d_0_21"/>
          <p:cNvSpPr txBox="1"/>
          <p:nvPr/>
        </p:nvSpPr>
        <p:spPr>
          <a:xfrm>
            <a:off x="327600" y="380641"/>
            <a:ext cx="2827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g2ee153bae1d_0_21"/>
          <p:cNvSpPr txBox="1"/>
          <p:nvPr/>
        </p:nvSpPr>
        <p:spPr>
          <a:xfrm>
            <a:off x="720000" y="1440000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 2 o’ clock, the hour hand is at 2 and the minute hand is at 12. So, they are 10 min. spaces apart. To be together, the minute hand must gain 10 minutes over the hour hand.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Now, 55 minutes are gained by it in 60 min. So, 10 minutes will be gained in (60/55)×10 min.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10(10/11) min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hands will coincide at 10(10/11) min. past 2.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3333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g2ee153bae1d_0_2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B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g2ee153bae1d_0_21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9d04df4417_0_26"/>
          <p:cNvSpPr txBox="1"/>
          <p:nvPr/>
        </p:nvSpPr>
        <p:spPr>
          <a:xfrm>
            <a:off x="327600" y="386576"/>
            <a:ext cx="2827800" cy="44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g19d04df4417_0_26"/>
          <p:cNvSpPr txBox="1"/>
          <p:nvPr/>
        </p:nvSpPr>
        <p:spPr>
          <a:xfrm>
            <a:off x="262800" y="11194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An accurate clock shows 8 o'clock in the morning. Through how many degrees will the hour hand rotate when the clock shows 2 o'clock in the afternoon?</a:t>
            </a:r>
            <a:endParaRPr b="0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144°</a:t>
            </a:r>
            <a:endParaRPr b="1" i="0" sz="1600" u="none" cap="none" strike="noStrike">
              <a:solidFill>
                <a:srgbClr val="0077CC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150°</a:t>
            </a:r>
            <a:endParaRPr b="1" i="0" sz="1600" u="none" cap="none" strike="noStrike">
              <a:solidFill>
                <a:srgbClr val="0077CC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168°</a:t>
            </a:r>
            <a:endParaRPr b="1" i="0" sz="1600" u="none" cap="none" strike="noStrike">
              <a:solidFill>
                <a:srgbClr val="0077CC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180°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g19d04df4417_0_26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D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g19d04df4417_0_26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0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3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ecfead3591_1_12"/>
          <p:cNvSpPr txBox="1"/>
          <p:nvPr/>
        </p:nvSpPr>
        <p:spPr>
          <a:xfrm>
            <a:off x="675075" y="1440000"/>
            <a:ext cx="7073100" cy="3056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Angle traced by hour hand in 12 hrs = 360°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Angle traced by hour hand in 5 hrs 10 min. </a:t>
            </a:r>
            <a:r>
              <a:rPr b="0" i="1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I.e., 31/6 hrs = ((360/12) * (31/6)) = 155</a:t>
            </a:r>
            <a:r>
              <a:rPr b="0" baseline="30000" i="1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0</a:t>
            </a:r>
            <a:endParaRPr b="0" baseline="30000" i="1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g2ecfead3591_1_12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/>
        </p:nvSpPr>
        <p:spPr>
          <a:xfrm>
            <a:off x="262800" y="11194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reflex angle between the hands of a clock at 10.25 is:</a:t>
            </a:r>
            <a:endParaRPr b="0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180°</a:t>
            </a:r>
            <a:endParaRPr b="1" i="0" sz="1600" u="none" cap="none" strike="noStrike">
              <a:solidFill>
                <a:srgbClr val="0077CC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195°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197 (½)</a:t>
            </a:r>
            <a:r>
              <a:rPr b="0" baseline="30000" i="0" lang="en-GB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0</a:t>
            </a:r>
            <a:endParaRPr b="0" baseline="3000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199</a:t>
            </a:r>
            <a:r>
              <a:rPr b="0" baseline="30000" i="0" lang="en-GB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0</a:t>
            </a:r>
            <a:endParaRPr b="0" baseline="30000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C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0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4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9" name="Google Shape;1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7350" y="1450978"/>
            <a:ext cx="5629303" cy="186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/>
          <p:nvPr/>
        </p:nvSpPr>
        <p:spPr>
          <a:xfrm>
            <a:off x="327600" y="402400"/>
            <a:ext cx="28278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262800" y="1135200"/>
            <a:ext cx="75441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 clock is started at noon. By 10 minutes past 5, the hour hand has turned through:</a:t>
            </a:r>
            <a:endParaRPr b="0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145°</a:t>
            </a:r>
            <a:endParaRPr b="1" i="0" sz="1600" u="none" cap="none" strike="noStrike">
              <a:solidFill>
                <a:srgbClr val="0077CC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150°</a:t>
            </a:r>
            <a:endParaRPr b="1" i="0" sz="1600" u="none" cap="none" strike="noStrike">
              <a:solidFill>
                <a:srgbClr val="0077CC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155°</a:t>
            </a:r>
            <a:endParaRPr b="1" i="0" sz="1600" u="none" cap="none" strike="noStrike">
              <a:solidFill>
                <a:srgbClr val="0077CC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160°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 C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0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5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ecfead3591_1_17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g2ecfead3591_1_17"/>
          <p:cNvSpPr txBox="1"/>
          <p:nvPr/>
        </p:nvSpPr>
        <p:spPr>
          <a:xfrm>
            <a:off x="720000" y="1640550"/>
            <a:ext cx="75681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Sunday noon to the following Sunday at 2 PM there are 7 days 2 hours or 170 hours. 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watch gains 2 + 44/ 5 minute in 170 hours. 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Therefore, the watch gains 2 minute in 2 *170 × 5 34 hours, i.e. 50 hours. 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Now 50 hours = 2 days 2 hours. 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Therefore, 2 days 2 hours from Sunday noon = 2 PM on Tuesday.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g2ecfead3591_1_17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 txBox="1"/>
          <p:nvPr/>
        </p:nvSpPr>
        <p:spPr>
          <a:xfrm>
            <a:off x="327600" y="396716"/>
            <a:ext cx="2827800" cy="437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262800" y="1135200"/>
            <a:ext cx="7544100" cy="2538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watch, which gains uniformly, is 2 min, slow at noon on Sunday, and is 4 min 48 seconds fast at 2 PM on the following Sunday when was it correct?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2:00 PM on Tuesday 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12 noon on Monday 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2:00 AM on Tuesday 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None of these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1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 A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0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6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cfead3591_1_25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g2ecfead3591_1_25"/>
          <p:cNvSpPr txBox="1"/>
          <p:nvPr/>
        </p:nvSpPr>
        <p:spPr>
          <a:xfrm>
            <a:off x="1066875" y="1640550"/>
            <a:ext cx="722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g2ecfead3591_1_25"/>
          <p:cNvSpPr txBox="1"/>
          <p:nvPr/>
        </p:nvSpPr>
        <p:spPr>
          <a:xfrm>
            <a:off x="720000" y="1440000"/>
            <a:ext cx="6871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1. The watch gains 6.8 minutes over 170 hours, so it gains 0.04 minutes per hour.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2. To correct the initial 2-minute loss, it takes 2/0.04= 50  hours.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3. Therefore, the watch was correct at 2:00 PM on Tuesday.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g2ecfead3591_1_25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/>
          <p:cNvSpPr txBox="1"/>
          <p:nvPr/>
        </p:nvSpPr>
        <p:spPr>
          <a:xfrm>
            <a:off x="262800" y="1135200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angle between the minute hand and the hour hand of a clock when the time is 4.20, is:</a:t>
            </a:r>
            <a:endParaRPr b="0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0°</a:t>
            </a:r>
            <a:endParaRPr b="1" i="0" sz="1600" u="none" cap="none" strike="noStrike">
              <a:solidFill>
                <a:srgbClr val="0077CC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10°</a:t>
            </a:r>
            <a:endParaRPr b="1" i="0" sz="1600" u="none" cap="none" strike="noStrike">
              <a:solidFill>
                <a:srgbClr val="0077CC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5°</a:t>
            </a:r>
            <a:endParaRPr b="1" i="0" sz="1600" u="none" cap="none" strike="noStrike">
              <a:solidFill>
                <a:srgbClr val="0077CC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20°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1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B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0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7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4"/>
          <p:cNvPicPr preferRelativeResize="0"/>
          <p:nvPr/>
        </p:nvPicPr>
        <p:blipFill rotWithShape="1">
          <a:blip r:embed="rId3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4"/>
          <p:cNvSpPr txBox="1"/>
          <p:nvPr/>
        </p:nvSpPr>
        <p:spPr>
          <a:xfrm>
            <a:off x="327600" y="342645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327600" y="918900"/>
            <a:ext cx="7384200" cy="3156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6" name="Google Shape;1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52688" y="1905000"/>
            <a:ext cx="4238625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4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 txBox="1"/>
          <p:nvPr/>
        </p:nvSpPr>
        <p:spPr>
          <a:xfrm>
            <a:off x="262800" y="1135200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 what time between 10  O’clock and 11 O'clock the hands of the clock be 20 minutes apart from each other?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32 (8/11) past 10 O'clock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33 (2/11) past 10 O'clock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32 (2/11) past 10 O'clock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33 (8/11) past 10 O'clock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1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A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0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8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2ecfead3591_1_35"/>
          <p:cNvPicPr preferRelativeResize="0"/>
          <p:nvPr/>
        </p:nvPicPr>
        <p:blipFill rotWithShape="1">
          <a:blip r:embed="rId3">
            <a:alphaModFix/>
          </a:blip>
          <a:srcRect b="0" l="0" r="57233" t="0"/>
          <a:stretch/>
        </p:blipFill>
        <p:spPr>
          <a:xfrm>
            <a:off x="8189675" y="233550"/>
            <a:ext cx="724575" cy="76679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2ecfead3591_1_35"/>
          <p:cNvSpPr txBox="1"/>
          <p:nvPr/>
        </p:nvSpPr>
        <p:spPr>
          <a:xfrm>
            <a:off x="327600" y="342645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g2ecfead3591_1_35"/>
          <p:cNvSpPr txBox="1"/>
          <p:nvPr/>
        </p:nvSpPr>
        <p:spPr>
          <a:xfrm>
            <a:off x="327600" y="918900"/>
            <a:ext cx="7384200" cy="3156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g2ecfead3591_1_35"/>
          <p:cNvSpPr txBox="1"/>
          <p:nvPr/>
        </p:nvSpPr>
        <p:spPr>
          <a:xfrm>
            <a:off x="720000" y="1572250"/>
            <a:ext cx="6905400" cy="23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T20 minutes apart from each other indicates that the angle between the hands of the clock is 120 degree.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Now substitute in the expression and get the minute value.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Ɵ = | 11/2(M) – 30(H) |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120= | 11/2(M) -  300) |  ( since the hour value should be 10)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get the L.H.S as 120, the value of 11/2(M) should be 180.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⇒11M= 360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M= 360/11= 32 (8/11) 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g2ecfead3591_1_35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/>
          <p:nvPr/>
        </p:nvSpPr>
        <p:spPr>
          <a:xfrm>
            <a:off x="327600" y="35920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240825" y="1120950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 the mirror image when the exact time shown in a clock was 7:44 ?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3:16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4:16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5:16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5:44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1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B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0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9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g2ecfead3591_1_45"/>
          <p:cNvPicPr preferRelativeResize="0"/>
          <p:nvPr/>
        </p:nvPicPr>
        <p:blipFill rotWithShape="1">
          <a:blip r:embed="rId3">
            <a:alphaModFix/>
          </a:blip>
          <a:srcRect b="0" l="0" r="57233" t="0"/>
          <a:stretch/>
        </p:blipFill>
        <p:spPr>
          <a:xfrm>
            <a:off x="8189675" y="233550"/>
            <a:ext cx="724575" cy="76679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2ecfead3591_1_45"/>
          <p:cNvSpPr txBox="1"/>
          <p:nvPr/>
        </p:nvSpPr>
        <p:spPr>
          <a:xfrm>
            <a:off x="327600" y="342645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g2ecfead3591_1_45"/>
          <p:cNvSpPr txBox="1"/>
          <p:nvPr/>
        </p:nvSpPr>
        <p:spPr>
          <a:xfrm>
            <a:off x="327600" y="918900"/>
            <a:ext cx="7384200" cy="3156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g2ecfead3591_1_45"/>
          <p:cNvSpPr txBox="1"/>
          <p:nvPr/>
        </p:nvSpPr>
        <p:spPr>
          <a:xfrm>
            <a:off x="720000" y="1572250"/>
            <a:ext cx="6905400" cy="1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mirror image problem, always subtract the given time by 11:60 to get the answer.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11:60 – 07:44= 4:16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g2ecfead3591_1_45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ee153bae1d_0_0"/>
          <p:cNvSpPr txBox="1"/>
          <p:nvPr/>
        </p:nvSpPr>
        <p:spPr>
          <a:xfrm>
            <a:off x="327600" y="380641"/>
            <a:ext cx="2827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g2ee153bae1d_0_0"/>
          <p:cNvSpPr txBox="1"/>
          <p:nvPr/>
        </p:nvSpPr>
        <p:spPr>
          <a:xfrm>
            <a:off x="262800" y="1135200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many times are the hands of a clock at right angles in a span of twenty four hours?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48 times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44 times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46 times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22 times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66666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g2ee153bae1d_0_0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B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g2ee153bae1d_0_0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10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ee153bae1d_0_7"/>
          <p:cNvSpPr txBox="1"/>
          <p:nvPr/>
        </p:nvSpPr>
        <p:spPr>
          <a:xfrm>
            <a:off x="327600" y="380641"/>
            <a:ext cx="2827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g2ee153bae1d_0_7"/>
          <p:cNvSpPr txBox="1"/>
          <p:nvPr/>
        </p:nvSpPr>
        <p:spPr>
          <a:xfrm>
            <a:off x="720000" y="1440000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a span of 12 hrs, the hands of a clock are at right angles exactly 22 times. So, in a span of 24 hrs, they are at right angles exactly 44 times.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g2ee153bae1d_0_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B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g2ee153bae1d_0_7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 txBox="1"/>
          <p:nvPr/>
        </p:nvSpPr>
        <p:spPr>
          <a:xfrm>
            <a:off x="350100" y="420585"/>
            <a:ext cx="2827800" cy="392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10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262800" y="1135204"/>
            <a:ext cx="7384200" cy="2598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many times in a span of 24 hours are the hands of a clock straight (that is either overlap or exactly opposite to each other) ?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43 times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46 times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45 times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44 times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666666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D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11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g2ecfead3591_1_53"/>
          <p:cNvPicPr preferRelativeResize="0"/>
          <p:nvPr/>
        </p:nvPicPr>
        <p:blipFill rotWithShape="1">
          <a:blip r:embed="rId3">
            <a:alphaModFix/>
          </a:blip>
          <a:srcRect b="0" l="0" r="57233" t="0"/>
          <a:stretch/>
        </p:blipFill>
        <p:spPr>
          <a:xfrm>
            <a:off x="8189675" y="233550"/>
            <a:ext cx="724575" cy="76679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2ecfead3591_1_53"/>
          <p:cNvSpPr txBox="1"/>
          <p:nvPr/>
        </p:nvSpPr>
        <p:spPr>
          <a:xfrm>
            <a:off x="327600" y="342645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g2ecfead3591_1_53"/>
          <p:cNvSpPr txBox="1"/>
          <p:nvPr/>
        </p:nvSpPr>
        <p:spPr>
          <a:xfrm>
            <a:off x="327600" y="918900"/>
            <a:ext cx="7384200" cy="3156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g2ecfead3591_1_53"/>
          <p:cNvSpPr txBox="1"/>
          <p:nvPr/>
        </p:nvSpPr>
        <p:spPr>
          <a:xfrm>
            <a:off x="720000" y="1572250"/>
            <a:ext cx="69054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a span of 24 hours, the hands of a clock are in opposite directions exactly 22 times &amp; hands of a clock coincide exactly 22 times in a span of 24 hours. Therefore, they are straight 22 + 22 i.e. 44 times in a span of 24 hours.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g2ecfead3591_1_53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 txBox="1"/>
          <p:nvPr/>
        </p:nvSpPr>
        <p:spPr>
          <a:xfrm>
            <a:off x="327600" y="35920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262800" y="1135200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Find at what time between 7 o’clock and 8 o’clock will the hands of a clock be in the same straight line but not overlap each other.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10(9/11) min past 8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5(5/11) min past 7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10(8/11) min past 8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10(7/11) min past 8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D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12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ecfead3591_1_68"/>
          <p:cNvSpPr txBox="1"/>
          <p:nvPr/>
        </p:nvSpPr>
        <p:spPr>
          <a:xfrm>
            <a:off x="327600" y="380641"/>
            <a:ext cx="2827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g2ecfead3591_1_68"/>
          <p:cNvSpPr txBox="1"/>
          <p:nvPr/>
        </p:nvSpPr>
        <p:spPr>
          <a:xfrm>
            <a:off x="720000" y="1440000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Between 7 and 8, the hands will be in opposite directions at (5 7 – 30)(12/11) = 60/11 min. i.e.5(5/11) min past 7.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g2ecfead3591_1_68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B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g2ecfead3591_1_68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 txBox="1"/>
          <p:nvPr/>
        </p:nvSpPr>
        <p:spPr>
          <a:xfrm>
            <a:off x="327600" y="35920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12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262800" y="1135200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 the water image when the exact time shown in a clock was 4:30?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2:30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3:30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1:30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10:30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C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13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ecfead3591_1_75"/>
          <p:cNvSpPr txBox="1"/>
          <p:nvPr/>
        </p:nvSpPr>
        <p:spPr>
          <a:xfrm>
            <a:off x="327600" y="380641"/>
            <a:ext cx="2827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g2ecfead3591_1_75"/>
          <p:cNvSpPr txBox="1"/>
          <p:nvPr/>
        </p:nvSpPr>
        <p:spPr>
          <a:xfrm>
            <a:off x="720000" y="1440000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water image problem, always subtract the given time by 18:30 to get the answer.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18:30 – 4:30= 13:30 =&gt; 1:30 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ecfead3591_1_7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B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g2ecfead3591_1_75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"/>
          <p:cNvSpPr txBox="1"/>
          <p:nvPr/>
        </p:nvSpPr>
        <p:spPr>
          <a:xfrm>
            <a:off x="327600" y="233550"/>
            <a:ext cx="2827800" cy="600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13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27"/>
          <p:cNvSpPr txBox="1"/>
          <p:nvPr/>
        </p:nvSpPr>
        <p:spPr>
          <a:xfrm>
            <a:off x="262800" y="1135200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 one and half hours, the minute hand of a clock rotates through an angle of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720°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540°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600°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420°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2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B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27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14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ecfead3591_1_82"/>
          <p:cNvSpPr txBox="1"/>
          <p:nvPr/>
        </p:nvSpPr>
        <p:spPr>
          <a:xfrm>
            <a:off x="327600" y="380641"/>
            <a:ext cx="2827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g2ecfead3591_1_82"/>
          <p:cNvSpPr txBox="1"/>
          <p:nvPr/>
        </p:nvSpPr>
        <p:spPr>
          <a:xfrm>
            <a:off x="720000" y="1440000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one and half hours, the minute hand of a clock rotates through an angle of 1.5*360 = 540.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g2ecfead3591_1_82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B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g2ecfead3591_1_82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"/>
          <p:cNvSpPr txBox="1"/>
          <p:nvPr/>
        </p:nvSpPr>
        <p:spPr>
          <a:xfrm>
            <a:off x="327600" y="35920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14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29"/>
          <p:cNvSpPr txBox="1"/>
          <p:nvPr/>
        </p:nvSpPr>
        <p:spPr>
          <a:xfrm>
            <a:off x="262800" y="1135200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clock is set right at 10 a.m. on Monday. The clock loses 15 min. in 24 hrs. What will be the true time when the clock indicates 4 am on the following Saturday?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5:12 am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5:32 am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6:32 am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5:48 am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2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A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29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15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ecfead3591_1_89"/>
          <p:cNvSpPr txBox="1"/>
          <p:nvPr/>
        </p:nvSpPr>
        <p:spPr>
          <a:xfrm>
            <a:off x="327600" y="380641"/>
            <a:ext cx="2827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g2ecfead3591_1_89"/>
          <p:cNvSpPr txBox="1"/>
          <p:nvPr/>
        </p:nvSpPr>
        <p:spPr>
          <a:xfrm>
            <a:off x="720000" y="1440000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10 am on 1st day to 4 am on 5th day is total 114 hours. When a clock loses 15 min, then 23 hours 45 min of this clock are the same as 24 hours of correct clock i.e. 95/4 hours of this clock = 24 hours of correct clock. 95/4 hours of this clock =((24×4/95)×114) hours of correct clock = 115.2 hours of correct clock which is equal to 115 hours 12 minThe correct time is 5:12 am.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g2ecfead3591_1_8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B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g2ecfead3591_1_89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"/>
          <p:cNvSpPr txBox="1"/>
          <p:nvPr/>
        </p:nvSpPr>
        <p:spPr>
          <a:xfrm>
            <a:off x="327600" y="300457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15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262800" y="1135200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 clock is set comfortable  at 5 am. The check loses 16 minutes in 24 hours. What will be the genuine time when the clock shows 10 pm on fourth day?</a:t>
            </a:r>
            <a:endParaRPr b="0" i="0" sz="1600" u="none" cap="none" strike="noStrike">
              <a:solidFill>
                <a:schemeClr val="dk1"/>
              </a:solidFill>
              <a:highlight>
                <a:srgbClr val="F5E25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1016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11 pm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2413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12 pm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2413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11 am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2413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12 am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3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A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31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8181E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Question : </a:t>
            </a: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16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ecfead3591_1_96"/>
          <p:cNvSpPr txBox="1"/>
          <p:nvPr/>
        </p:nvSpPr>
        <p:spPr>
          <a:xfrm>
            <a:off x="327600" y="380641"/>
            <a:ext cx="2827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g2ecfead3591_1_96"/>
          <p:cNvSpPr txBox="1"/>
          <p:nvPr/>
        </p:nvSpPr>
        <p:spPr>
          <a:xfrm>
            <a:off x="720000" y="1440000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333333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Time from 5am on a day to 10 pm on fourth day= 89 hours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Presently 23hrs. 44min. of this clock= 24 hours of right clock.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∴ 356/15 hrs of this clock= (24*15/356*89) hrs. Of right clock.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= 90 hrs of right clock.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Along these lines, the right time is 11 pm.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g2ecfead3591_1_96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B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g2ecfead3591_1_96"/>
          <p:cNvSpPr/>
          <p:nvPr/>
        </p:nvSpPr>
        <p:spPr>
          <a:xfrm>
            <a:off x="174350" y="408875"/>
            <a:ext cx="2198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8181EF"/>
                </a:solidFill>
                <a:highlight>
                  <a:srgbClr val="FFFFFF"/>
                </a:highlight>
              </a:rPr>
              <a:t>Explanation</a:t>
            </a:r>
            <a:endParaRPr b="1" i="0" sz="2400" u="none" cap="none" strike="noStrike">
              <a:solidFill>
                <a:srgbClr val="8181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9"/>
          <p:cNvSpPr/>
          <p:nvPr/>
        </p:nvSpPr>
        <p:spPr>
          <a:xfrm>
            <a:off x="555120" y="915840"/>
            <a:ext cx="754488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9" name="Google Shape;3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160" y="91321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9"/>
          <p:cNvSpPr/>
          <p:nvPr/>
        </p:nvSpPr>
        <p:spPr>
          <a:xfrm>
            <a:off x="1634729" y="4055269"/>
            <a:ext cx="5183981" cy="28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50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GB" sz="37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57" name="Google Shape;357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50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360" name="Google Shape;360;p50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50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62" name="Google Shape;362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50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364" name="Google Shape;364;p50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