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8" r:id="rId6"/>
    <p:sldMasterId id="214748366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</p:sldIdLst>
  <p:sldSz cy="5143500" cx="9144000"/>
  <p:notesSz cx="6858000" cy="9144000"/>
  <p:embeddedFontLst>
    <p:embeddedFont>
      <p:font typeface="Roboto Black"/>
      <p:bold r:id="rId53"/>
      <p:boldItalic r:id="rId54"/>
    </p:embeddedFont>
    <p:embeddedFont>
      <p:font typeface="Robot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59" roundtripDataSignature="AMtx7mgLuLQ8fSCetrg+dvaqtC1NAwY4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18F3E0-CB88-435C-A4E2-F6857084E1F4}">
  <a:tblStyle styleId="{CC18F3E0-CB88-435C-A4E2-F6857084E1F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Black-bold.fntdata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font" Target="fonts/Roboto-regular.fntdata"/><Relationship Id="rId10" Type="http://schemas.openxmlformats.org/officeDocument/2006/relationships/slide" Target="slides/slide2.xml"/><Relationship Id="rId54" Type="http://schemas.openxmlformats.org/officeDocument/2006/relationships/font" Target="fonts/RobotoBlack-boldItalic.fntdata"/><Relationship Id="rId13" Type="http://schemas.openxmlformats.org/officeDocument/2006/relationships/slide" Target="slides/slide5.xml"/><Relationship Id="rId57" Type="http://schemas.openxmlformats.org/officeDocument/2006/relationships/font" Target="fonts/Roboto-italic.fntdata"/><Relationship Id="rId12" Type="http://schemas.openxmlformats.org/officeDocument/2006/relationships/slide" Target="slides/slide4.xml"/><Relationship Id="rId56" Type="http://schemas.openxmlformats.org/officeDocument/2006/relationships/font" Target="fonts/Roboto-bold.fntdata"/><Relationship Id="rId15" Type="http://schemas.openxmlformats.org/officeDocument/2006/relationships/slide" Target="slides/slide7.xml"/><Relationship Id="rId59" Type="http://customschemas.google.com/relationships/presentationmetadata" Target="metadata"/><Relationship Id="rId14" Type="http://schemas.openxmlformats.org/officeDocument/2006/relationships/slide" Target="slides/slide6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4337fc5d2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14337fc5d25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4337fc5d2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g14337fc5d25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337fc5d2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14337fc5d25_0_3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337fc5d25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14337fc5d25_0_3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337fc5d25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g14337fc5d25_0_3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337fc5d25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g14337fc5d25_0_3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337fc5d25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14337fc5d25_0_3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337fc5d25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14337fc5d25_0_3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4337fc5d25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14337fc5d25_0_3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88b76c4c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g3088b76c4c4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337fc5d25_0_3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14337fc5d25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337fc5d25_0_4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14337fc5d25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4337fc5d25_0_5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14337fc5d25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4337fc5d25_0_5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14337fc5d25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337fc5d25_0_5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14337fc5d25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337fc5d25_0_5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14337fc5d25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4337fc5d25_0_5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14337fc5d25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337fc5d25_0_5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14337fc5d25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4337fc5d25_0_5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14337fc5d25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337fc5d25_0_5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14337fc5d25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337fc5d25_0_5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14337fc5d25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337fc5d25_0_5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14337fc5d25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337fc5d25_0_6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14337fc5d25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4337fc5d25_0_6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14337fc5d25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337fc5d25_0_6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14337fc5d25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4337fc5d25_0_6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14337fc5d25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4337fc5d25_0_6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14337fc5d25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337fc5d25_0_6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14337fc5d25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4337fc5d25_0_6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14337fc5d25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4337fc5d25_0_6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14337fc5d25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4337fc5d25_0_6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14337fc5d25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4337fc5d25_0_6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14337fc5d25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337fc5d25_0_6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14337fc5d25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4337fc5d25_0_6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14337fc5d25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4337fc5d25_0_7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14337fc5d25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4337fc5d25_0_7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14337fc5d25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4337fc5d25_0_7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14337fc5d25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4337fc5d25_0_7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14337fc5d25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4337fc5d25_0_7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14337fc5d25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4337fc5d25_0_7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14337fc5d25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showMasterSp="0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4337fc5d25_0_4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14337fc5d25_0_4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14337fc5d25_0_4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" name="Google Shape;53;g14337fc5d25_0_4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337fc5d25_0_4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14337fc5d25_0_4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4337fc5d25_0_49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g14337fc5d25_0_4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4337fc5d25_0_50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g14337fc5d25_0_50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g14337fc5d25_0_50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g14337fc5d25_0_50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g14337fc5d25_0_5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4337fc5d25_0_50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69" name="Google Shape;69;g14337fc5d25_0_5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4337fc5d25_0_50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" name="Google Shape;72;g14337fc5d25_0_50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g14337fc5d25_0_5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75" name="Google Shape;75;g14337fc5d25_0_5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14337fc5d25_0_513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g14337fc5d25_0_513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g14337fc5d25_0_513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g14337fc5d25_0_513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116" name="Google Shape;116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4337fc5d25_0_4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14337fc5d25_0_4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14337fc5d25_0_4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" name="Google Shape;48;g14337fc5d25_0_48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4" name="Google Shape;84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orms.gle/V6TAkgRbVKuENi1b9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sawaal.com/calendar-questions-and-answers/what-was-the-day-of-the-week-on-17th-june-1998-_11031" TargetMode="External"/><Relationship Id="rId4" Type="http://schemas.openxmlformats.org/officeDocument/2006/relationships/hyperlink" Target="https://www.sawaal.com/data-sufficiency-questions-and-answers/first-day-of-the-month-is-tuesday-and-last-day-of-the-same-month-is-monday-then-which-one-will-be-th_10821" TargetMode="External"/><Relationship Id="rId5" Type="http://schemas.openxmlformats.org/officeDocument/2006/relationships/hyperlink" Target="https://www.sawaal.com/probability-questions-and-answers/what-is-the-probability-that-a-leap-year-has-53-saturdays-and-52-sundays-_12030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Relationship Id="rId4" Type="http://schemas.openxmlformats.org/officeDocument/2006/relationships/hyperlink" Target="https://learn.codemithra.com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9" name="Google Shape;1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8" name="Google Shape;1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178001" y="2109682"/>
            <a:ext cx="4690948" cy="750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CALENDARS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337fc5d25_0_44"/>
          <p:cNvSpPr txBox="1"/>
          <p:nvPr>
            <p:ph idx="1" type="body"/>
          </p:nvPr>
        </p:nvSpPr>
        <p:spPr>
          <a:xfrm>
            <a:off x="729200" y="12319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500">
                <a:solidFill>
                  <a:srgbClr val="373737"/>
                </a:solidFill>
                <a:highlight>
                  <a:srgbClr val="FFFFFF"/>
                </a:highlight>
              </a:rPr>
              <a:t>URL: </a:t>
            </a:r>
            <a:r>
              <a:rPr lang="en-GB" sz="2000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https://forms.gle/V6TAkgRbVKuENi1b9</a:t>
            </a:r>
            <a:endParaRPr b="1" sz="25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900">
              <a:solidFill>
                <a:srgbClr val="373737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900">
              <a:solidFill>
                <a:srgbClr val="373737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>
                <a:solidFill>
                  <a:srgbClr val="373737"/>
                </a:solidFill>
                <a:highlight>
                  <a:srgbClr val="FFFFFF"/>
                </a:highlight>
              </a:rPr>
              <a:t>QR CODE:</a:t>
            </a:r>
            <a:endParaRPr b="1" sz="2400">
              <a:solidFill>
                <a:srgbClr val="373737"/>
              </a:solidFill>
              <a:highlight>
                <a:srgbClr val="FFFFFF"/>
              </a:highlight>
            </a:endParaRPr>
          </a:p>
        </p:txBody>
      </p:sp>
      <p:pic>
        <p:nvPicPr>
          <p:cNvPr id="145" name="Google Shape;145;g14337fc5d25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0650" y="1947000"/>
            <a:ext cx="2827800" cy="254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14337fc5d25_0_44"/>
          <p:cNvSpPr txBox="1"/>
          <p:nvPr/>
        </p:nvSpPr>
        <p:spPr>
          <a:xfrm>
            <a:off x="2219093" y="651974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TIME ON CLOCKS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4337fc5d25_0_216"/>
          <p:cNvSpPr txBox="1"/>
          <p:nvPr>
            <p:ph idx="1" type="body"/>
          </p:nvPr>
        </p:nvSpPr>
        <p:spPr>
          <a:xfrm>
            <a:off x="720000" y="1440000"/>
            <a:ext cx="7814100" cy="29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The day of the week repeats after every seven days.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 For any time period, the no. of days in excess over complete weeks are called </a:t>
            </a:r>
            <a:r>
              <a:rPr b="1" lang="en-GB" sz="1400">
                <a:solidFill>
                  <a:srgbClr val="333333"/>
                </a:solidFill>
                <a:highlight>
                  <a:schemeClr val="lt1"/>
                </a:highlight>
              </a:rPr>
              <a:t>odd days</a:t>
            </a: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.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400">
                <a:solidFill>
                  <a:srgbClr val="333333"/>
                </a:solidFill>
                <a:highlight>
                  <a:schemeClr val="lt1"/>
                </a:highlight>
              </a:rPr>
              <a:t>The non leap  year- 365 days-52 weeks +1 odd day</a:t>
            </a:r>
            <a:endParaRPr b="1"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400">
                <a:solidFill>
                  <a:srgbClr val="333333"/>
                </a:solidFill>
                <a:highlight>
                  <a:schemeClr val="lt1"/>
                </a:highlight>
              </a:rPr>
              <a:t>Leap year- 366 days-52 weeks+2 odd days</a:t>
            </a:r>
            <a:endParaRPr b="1"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400" u="sng">
                <a:solidFill>
                  <a:srgbClr val="333333"/>
                </a:solidFill>
                <a:highlight>
                  <a:schemeClr val="lt1"/>
                </a:highlight>
              </a:rPr>
              <a:t> A year is considered to be a leap year if:</a:t>
            </a:r>
            <a:endParaRPr b="1" sz="1400" u="sng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a)    The year can be evenly divided by 4;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b)    If the year can be evenly divided by 100, it is NOT a leap year, unless;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c)    The year is also evenly divisible by 400. Then it is a leap year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Leap years have 366 days. The extra day is added to February which has 29 days in a leap year.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2" name="Google Shape;152;g14337fc5d25_0_216"/>
          <p:cNvSpPr txBox="1"/>
          <p:nvPr/>
        </p:nvSpPr>
        <p:spPr>
          <a:xfrm>
            <a:off x="720000" y="579950"/>
            <a:ext cx="5220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35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CALENDAR</a:t>
            </a:r>
            <a:endParaRPr b="0" i="0" sz="21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337fc5d25_0_307"/>
          <p:cNvSpPr txBox="1"/>
          <p:nvPr/>
        </p:nvSpPr>
        <p:spPr>
          <a:xfrm>
            <a:off x="720000" y="1136875"/>
            <a:ext cx="8076900" cy="32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sng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sng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number of days per month in a normal year are:</a:t>
            </a:r>
            <a:endParaRPr b="1" i="0" sz="1800" u="sng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sng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Code for days:</a:t>
            </a:r>
            <a:endParaRPr b="1" i="0" sz="1800" u="sng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58;g14337fc5d25_0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00" y="1936650"/>
            <a:ext cx="7650025" cy="955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g14337fc5d25_0_307"/>
          <p:cNvGraphicFramePr/>
          <p:nvPr/>
        </p:nvGraphicFramePr>
        <p:xfrm>
          <a:off x="765400" y="347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{CC18F3E0-CB88-435C-A4E2-F6857084E1F4}</a:tableStyleId>
              </a:tblPr>
              <a:tblGrid>
                <a:gridCol w="1038075"/>
                <a:gridCol w="1038075"/>
                <a:gridCol w="1038075"/>
                <a:gridCol w="1378150"/>
                <a:gridCol w="1223550"/>
                <a:gridCol w="842600"/>
                <a:gridCol w="1046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SUNDAY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MONDAY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TUESDAY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WEDNESDAY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THURSDAY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FRIDAY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SATURDAY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337fc5d25_0_329"/>
          <p:cNvSpPr txBox="1"/>
          <p:nvPr/>
        </p:nvSpPr>
        <p:spPr>
          <a:xfrm>
            <a:off x="292400" y="570375"/>
            <a:ext cx="8076900" cy="32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sng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month code</a:t>
            </a:r>
            <a:endParaRPr b="1" i="0" sz="2400" u="sng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g14337fc5d25_0_3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150" y="1170000"/>
            <a:ext cx="4926000" cy="31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14337fc5d25_0_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75" y="1265750"/>
            <a:ext cx="4915150" cy="31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337fc5d25_0_317"/>
          <p:cNvSpPr txBox="1"/>
          <p:nvPr/>
        </p:nvSpPr>
        <p:spPr>
          <a:xfrm>
            <a:off x="292400" y="570375"/>
            <a:ext cx="8076900" cy="32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sng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1" lang="en-GB" sz="2400" u="sng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year</a:t>
            </a:r>
            <a:r>
              <a:rPr b="1" i="0" lang="en-GB" sz="2400" u="sng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code</a:t>
            </a:r>
            <a:endParaRPr b="1" i="0" sz="2400" u="sng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337fc5d25_0_342"/>
          <p:cNvSpPr txBox="1"/>
          <p:nvPr>
            <p:ph idx="1" type="body"/>
          </p:nvPr>
        </p:nvSpPr>
        <p:spPr>
          <a:xfrm>
            <a:off x="720000" y="1287600"/>
            <a:ext cx="7814100" cy="29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Step 1: Add the day digits to last two digits of the year.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Step 2: Divide the last two digits of the year by four and add it to the result in step 1.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Step 3: Add Month Code and year codes to the result obtain in</a:t>
            </a:r>
            <a:r>
              <a:rPr i="1" lang="en-GB" sz="1400">
                <a:solidFill>
                  <a:srgbClr val="333333"/>
                </a:solidFill>
                <a:highlight>
                  <a:schemeClr val="lt1"/>
                </a:highlight>
              </a:rPr>
              <a:t> step 3</a:t>
            </a: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.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Step 4: Divide the result of </a:t>
            </a:r>
            <a:r>
              <a:rPr i="1" lang="en-GB" sz="1400">
                <a:solidFill>
                  <a:srgbClr val="333333"/>
                </a:solidFill>
                <a:highlight>
                  <a:schemeClr val="lt1"/>
                </a:highlight>
              </a:rPr>
              <a:t>step 4</a:t>
            </a: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 by seven.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rgbClr val="333333"/>
                </a:solidFill>
                <a:highlight>
                  <a:schemeClr val="lt1"/>
                </a:highlight>
              </a:rPr>
              <a:t>Step 5: Obtain the remainder and match with the day code.</a:t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 u="sng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337fc5d25_0_358"/>
          <p:cNvSpPr txBox="1"/>
          <p:nvPr>
            <p:ph idx="1" type="body"/>
          </p:nvPr>
        </p:nvSpPr>
        <p:spPr>
          <a:xfrm>
            <a:off x="720000" y="1211400"/>
            <a:ext cx="7589400" cy="25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chemeClr val="lt1"/>
                </a:highlight>
              </a:rPr>
              <a:t>Concept of ‘odd-days’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The concept of odd days is very important in determining the days of the week. Let us look at how many odd days will there be in a century – i.e. 100 years. There will be 24 leap years and 76 non–leap years. As studied earlier each leap year and 2 odd days and each non-leap year has 1 odd day. Therefore, there will be 24 × 2 + 76 × 1 = 124 total odd days. Since 7 odd days make a week, to find out the net odd days, divide 124 by 7. The remainder is 5 – this is the number of odd days in a century.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 u="sng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337fc5d25_0_350"/>
          <p:cNvSpPr txBox="1"/>
          <p:nvPr>
            <p:ph idx="1" type="body"/>
          </p:nvPr>
        </p:nvSpPr>
        <p:spPr>
          <a:xfrm>
            <a:off x="720000" y="1135200"/>
            <a:ext cx="7589400" cy="25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15 August 1947 came on which day of the week?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Step-1: Take the last two digits of the year given i.e. 47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Step-2:Add it to the code of year and given date i.e 47+0+15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Step-3:Divide 47 by 4 i.e 11 and ADD 11 to the result i.e 47+0+15+11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Step-4:Now ADD the month code to the result i.e. 47+0+15+11+2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Step-5:Divide the sum by 7 i.e 75/7 ;we get remainder 5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Step-6:Check the code for 5 i.e Friday!!!    So 15 august 1947 was a Friday..!!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337fc5d25_0_366"/>
          <p:cNvSpPr txBox="1"/>
          <p:nvPr/>
        </p:nvSpPr>
        <p:spPr>
          <a:xfrm>
            <a:off x="1502763" y="968625"/>
            <a:ext cx="8076900" cy="32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g14337fc5d25_0_366"/>
          <p:cNvSpPr txBox="1"/>
          <p:nvPr/>
        </p:nvSpPr>
        <p:spPr>
          <a:xfrm>
            <a:off x="327600" y="2998063"/>
            <a:ext cx="7342500" cy="85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3" name="Google Shape;193;g14337fc5d25_0_366"/>
          <p:cNvGraphicFramePr/>
          <p:nvPr/>
        </p:nvGraphicFramePr>
        <p:xfrm>
          <a:off x="1608950" y="1306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{CC18F3E0-CB88-435C-A4E2-F6857084E1F4}</a:tableStyleId>
              </a:tblPr>
              <a:tblGrid>
                <a:gridCol w="2052625"/>
                <a:gridCol w="4087525"/>
              </a:tblGrid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Month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Odd days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january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Roboto"/>
                          <a:ea typeface="Roboto"/>
                          <a:cs typeface="Roboto"/>
                          <a:sym typeface="Roboto"/>
                        </a:rPr>
                        <a:t>february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march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april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may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june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jully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88b76c4c4_0_16"/>
          <p:cNvSpPr txBox="1"/>
          <p:nvPr/>
        </p:nvSpPr>
        <p:spPr>
          <a:xfrm>
            <a:off x="1502763" y="968625"/>
            <a:ext cx="8076900" cy="32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g3088b76c4c4_0_16"/>
          <p:cNvSpPr txBox="1"/>
          <p:nvPr/>
        </p:nvSpPr>
        <p:spPr>
          <a:xfrm>
            <a:off x="327600" y="2998063"/>
            <a:ext cx="7342500" cy="85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0" name="Google Shape;200;g3088b76c4c4_0_16"/>
          <p:cNvGraphicFramePr/>
          <p:nvPr/>
        </p:nvGraphicFramePr>
        <p:xfrm>
          <a:off x="1608950" y="1306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{CC18F3E0-CB88-435C-A4E2-F6857084E1F4}</a:tableStyleId>
              </a:tblPr>
              <a:tblGrid>
                <a:gridCol w="2052625"/>
                <a:gridCol w="4087525"/>
              </a:tblGrid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Month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Odd days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Roboto"/>
                          <a:ea typeface="Roboto"/>
                          <a:cs typeface="Roboto"/>
                          <a:sym typeface="Roboto"/>
                        </a:rPr>
                        <a:t>august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Roboto"/>
                          <a:ea typeface="Roboto"/>
                          <a:cs typeface="Roboto"/>
                          <a:sym typeface="Roboto"/>
                        </a:rPr>
                        <a:t>september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october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november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december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4337fc5d25_0_391"/>
          <p:cNvSpPr txBox="1"/>
          <p:nvPr/>
        </p:nvSpPr>
        <p:spPr>
          <a:xfrm>
            <a:off x="186600" y="1440000"/>
            <a:ext cx="8424000" cy="27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was the day on 15th august 1947 ?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Sunday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Monday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Friday 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tuesday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g14337fc5d25_0_391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g14337fc5d25_0_391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01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337fc5d25_0_47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g14337fc5d25_0_477"/>
          <p:cNvSpPr txBox="1"/>
          <p:nvPr/>
        </p:nvSpPr>
        <p:spPr>
          <a:xfrm>
            <a:off x="186600" y="685800"/>
            <a:ext cx="68271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15 Aug, 1947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= (1946 years + Period from 1.1.1947 to 15.8.1947)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Odd days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in 1600 years = 0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Odd days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in 300 years = 1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46 years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= (35 ordinary years + 11 leap years) = (35 x 1 + 11 x 2)= 57 (8 weeks + 1 day) = </a:t>
            </a: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 odd day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Jan.   Feb.   Mar.   Apr.   May.   Jun.   Jul.   Aug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 </a:t>
            </a: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31 + 28 + 31 + 30 + 31 + 30 + 31 + 15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) = 227 days = (32 weeks + 3 days) = </a:t>
            </a: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 odd days.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Total number of odd days = (0 + 1 + 1 + 3) = 5 odd days.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Hence, as the number of </a:t>
            </a: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odd days = 5 , given day is Friday.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g14337fc5d25_0_47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337fc5d25_0_522"/>
          <p:cNvSpPr txBox="1"/>
          <p:nvPr/>
        </p:nvSpPr>
        <p:spPr>
          <a:xfrm>
            <a:off x="186600" y="1440000"/>
            <a:ext cx="8095200" cy="3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Today is Monday. After 61 days, it will be :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Sunday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Monday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Wednesday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Saturday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810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g14337fc5d25_0_522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g14337fc5d25_0_522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2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337fc5d25_0_530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g14337fc5d25_0_530"/>
          <p:cNvSpPr txBox="1"/>
          <p:nvPr/>
        </p:nvSpPr>
        <p:spPr>
          <a:xfrm>
            <a:off x="186600" y="1135200"/>
            <a:ext cx="6827100" cy="17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Each 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day of the week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is repeated after 7 days. So, after 63 days, it will be 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Monday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After 61 days, it will be 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Saturday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31800" marR="50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14337fc5d25_0_530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4337fc5d25_0_538"/>
          <p:cNvSpPr txBox="1"/>
          <p:nvPr/>
        </p:nvSpPr>
        <p:spPr>
          <a:xfrm>
            <a:off x="186600" y="1440000"/>
            <a:ext cx="8095200" cy="30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It was Sunday on Jan 1, 2006. What was the day of the week Jan 1, 2010?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Monday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Tueday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Friday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saturday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810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14337fc5d25_0_538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g14337fc5d25_0_538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3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337fc5d25_0_546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g14337fc5d25_0_546"/>
          <p:cNvSpPr txBox="1"/>
          <p:nvPr/>
        </p:nvSpPr>
        <p:spPr>
          <a:xfrm>
            <a:off x="186600" y="1135200"/>
            <a:ext cx="7166100" cy="22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On 31st December, 2005 it was Saturday.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Number of odd days from 2006 to 2009 = (1 + 1 + 2 + 1) = 5 days.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On 31st December 2009, it was Thursday.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Thus, on 1st Jan, 2010 it is Friday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g14337fc5d25_0_546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4337fc5d25_0_554"/>
          <p:cNvSpPr txBox="1"/>
          <p:nvPr/>
        </p:nvSpPr>
        <p:spPr>
          <a:xfrm>
            <a:off x="214500" y="1439999"/>
            <a:ext cx="84723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was the day of the week on, 16th July, 1776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Tuesday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Wednesday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Sunday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monday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g14337fc5d25_0_554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g14337fc5d25_0_554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4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337fc5d25_0_562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g14337fc5d25_0_562"/>
          <p:cNvSpPr txBox="1"/>
          <p:nvPr/>
        </p:nvSpPr>
        <p:spPr>
          <a:xfrm>
            <a:off x="213600" y="953525"/>
            <a:ext cx="7650000" cy="4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16th July, 1776 = (1775 years + Period from 1st Jan, 1776 to 16th July, 1776)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Counting of odd days :</a:t>
            </a:r>
            <a:endParaRPr b="1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1600 years have 0 odd day.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100 years have 5 odd days.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75 years = (18 leap years + 57 ordinary years) =  [(18 x 2) + (57 x 1)] = 93 (13 weeks + 2 days) = 2 odd days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1775 years have (0 + 5 + 2) odd days = 7 odd days = 0 odd day. 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Jan   Feb   Mar   Apr   May   Jun   Jul  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31 + 29 + 31 + 30 + 31 + 30 + 16 = 198 days= (28 weeks + 2 days) 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Total number of odd days = (0 + 2) = 2.  Required day was 'Tuesday'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14337fc5d25_0_562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337fc5d25_0_570"/>
          <p:cNvSpPr txBox="1"/>
          <p:nvPr/>
        </p:nvSpPr>
        <p:spPr>
          <a:xfrm>
            <a:off x="186600" y="1440000"/>
            <a:ext cx="80952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January 1, 2007 was Monday. What day of the week lies on Jan. 1, 2008?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Monday 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Tuesday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Wednesday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thursday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810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g14337fc5d25_0_570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g14337fc5d25_0_570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5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337fc5d25_0_578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g14337fc5d25_0_578"/>
          <p:cNvSpPr txBox="1"/>
          <p:nvPr/>
        </p:nvSpPr>
        <p:spPr>
          <a:xfrm>
            <a:off x="186600" y="1211400"/>
            <a:ext cx="71661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year 2007 is an ordinary year. So, it has 1 odd day.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1st day of the year 2007 was Monday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1st day of the year 2008 will be 1 day beyond Monday 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Hence, It will be Tuesday.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31800" marR="50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g14337fc5d25_0_578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4337fc5d25_0_586"/>
          <p:cNvSpPr txBox="1"/>
          <p:nvPr/>
        </p:nvSpPr>
        <p:spPr>
          <a:xfrm>
            <a:off x="186600" y="1440000"/>
            <a:ext cx="80952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year next to 2005 will have the same calendar as that of the year 2005?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2016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2022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2011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2018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g14337fc5d25_0_586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14337fc5d25_0_586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6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4337fc5d25_0_594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g14337fc5d25_0_594"/>
          <p:cNvSpPr txBox="1"/>
          <p:nvPr/>
        </p:nvSpPr>
        <p:spPr>
          <a:xfrm>
            <a:off x="186600" y="1093800"/>
            <a:ext cx="7291200" cy="3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Repetition of leap year ===&gt;</a:t>
            </a: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Add +28 to the Given Year.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Repetition of non leap year</a:t>
            </a:r>
            <a:endParaRPr b="1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Step 1 : Add +11 to the Given Year. If Result is a leap year, Go to step 2.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Step 2:  Add +6 to the Given Year.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Solution :</a:t>
            </a: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Given Year is 2005, Which is a non leap year.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Step 1 : Add +11 to the given year (i.e 2005 + 11) = 2016, Which is a leap year. 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Step 2 : Add +6 to the given year (i.e 2005 + 6) = 2011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Therfore, The calendar for the year 2005 will be same for the year 2011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g14337fc5d25_0_594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337fc5d25_0_607"/>
          <p:cNvSpPr txBox="1"/>
          <p:nvPr/>
        </p:nvSpPr>
        <p:spPr>
          <a:xfrm>
            <a:off x="186600" y="1439999"/>
            <a:ext cx="84723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every second Saturday and all Sundays are holidays in a 30 days month beginning on Saturday, then how many working days are there in that month?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15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18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23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25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g14337fc5d25_0_607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g14337fc5d25_0_60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7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4337fc5d25_0_615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g14337fc5d25_0_615"/>
          <p:cNvSpPr txBox="1"/>
          <p:nvPr/>
        </p:nvSpPr>
        <p:spPr>
          <a:xfrm>
            <a:off x="186600" y="1211288"/>
            <a:ext cx="7166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Since the month begins on Saturday, so 2nd, 9th, 16th, 23rd, 30th days are Sundays.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While 8th and 22nd days are second Saturdays.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Thus, there are 7 holidays in all.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Therefore number of working days = 30 – 7 = 23.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g14337fc5d25_0_61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4337fc5d25_0_623"/>
          <p:cNvSpPr txBox="1"/>
          <p:nvPr/>
        </p:nvSpPr>
        <p:spPr>
          <a:xfrm>
            <a:off x="186600" y="1439999"/>
            <a:ext cx="8472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was the day of the week on 17th June, 1998?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Sunday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wednesday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Tuesday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thursday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g14337fc5d25_0_623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g14337fc5d25_0_623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8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4337fc5d25_0_631"/>
          <p:cNvSpPr txBox="1"/>
          <p:nvPr/>
        </p:nvSpPr>
        <p:spPr>
          <a:xfrm>
            <a:off x="270328" y="6622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g14337fc5d25_0_631"/>
          <p:cNvSpPr txBox="1"/>
          <p:nvPr/>
        </p:nvSpPr>
        <p:spPr>
          <a:xfrm>
            <a:off x="186600" y="1211400"/>
            <a:ext cx="7166100" cy="29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Year Code: 0, Month Code: 4, Day digits = 17, Last 2 digits of the year = 98.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1.    17 + 98 = 115.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2.    Quotient of 98 / 4 = 24, 115 + 24 = 139.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3.    139 + 4 + 0 = 143.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4.    Remainder of 143 / 7 = 3.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5.    Day code 3 = Wednesday.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14337fc5d25_0_631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4337fc5d25_0_639"/>
          <p:cNvSpPr txBox="1"/>
          <p:nvPr/>
        </p:nvSpPr>
        <p:spPr>
          <a:xfrm>
            <a:off x="186600" y="1439999"/>
            <a:ext cx="84723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X was born on March 6, 1993. The same year Independence Day was celebrated on Friday. On which day was X born?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Monday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Wednesday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Thursday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Friday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g14337fc5d25_0_639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g14337fc5d25_0_639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9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337fc5d25_0_64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g14337fc5d25_0_647"/>
          <p:cNvSpPr txBox="1"/>
          <p:nvPr/>
        </p:nvSpPr>
        <p:spPr>
          <a:xfrm>
            <a:off x="180150" y="1193750"/>
            <a:ext cx="7166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Number of days from March 6, 1993 to August 15, 1993.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Mar   Apr   May   June   July   August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 25 +  30 +  31  + 30  +   31  +   15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 162 days = 23 weeks + 1 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Clearly, the day on March 6 will be the same as on August 14, i.e., Thursday.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g14337fc5d25_0_64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337fc5d25_0_655"/>
          <p:cNvSpPr txBox="1"/>
          <p:nvPr/>
        </p:nvSpPr>
        <p:spPr>
          <a:xfrm>
            <a:off x="186600" y="1439999"/>
            <a:ext cx="84723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Thursday was the day after the day before yesterday five days ago, What is the least number of days ago when Sunday was three days before the day after tomorrow?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Two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Three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Four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Five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g14337fc5d25_0_65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g14337fc5d25_0_65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10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4337fc5d25_0_663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g14337fc5d25_0_663"/>
          <p:cNvSpPr txBox="1"/>
          <p:nvPr/>
        </p:nvSpPr>
        <p:spPr>
          <a:xfrm>
            <a:off x="186600" y="1135200"/>
            <a:ext cx="71661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Day after the day before yesterday is yesterday.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Now, five days ago, yesterday was thursday.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So, five days ago, it was Friday.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Therefore today is wednesday.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Now, three days before the day after tomorrow is yesterday.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Now, it is on Monday that we say Yesterday was Sunday.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g14337fc5d25_0_663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337fc5d25_0_671"/>
          <p:cNvSpPr txBox="1"/>
          <p:nvPr/>
        </p:nvSpPr>
        <p:spPr>
          <a:xfrm>
            <a:off x="186600" y="1439999"/>
            <a:ext cx="84723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the second day of a month is a Friday, which of the following would be the last day of the next month which has 31 days?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Sunday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Monday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Wednesday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Data inadequate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g14337fc5d25_0_671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g14337fc5d25_0_671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11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4337fc5d25_0_679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g14337fc5d25_0_679"/>
          <p:cNvSpPr txBox="1"/>
          <p:nvPr/>
        </p:nvSpPr>
        <p:spPr>
          <a:xfrm>
            <a:off x="186600" y="1135200"/>
            <a:ext cx="7166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65656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number of days in the current month is not mentioned.</a:t>
            </a:r>
            <a:endParaRPr b="1" i="0" sz="1400" u="none" cap="none" strike="noStrike">
              <a:solidFill>
                <a:srgbClr val="65656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65656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g14337fc5d25_0_679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4337fc5d25_0_687"/>
          <p:cNvSpPr txBox="1"/>
          <p:nvPr/>
        </p:nvSpPr>
        <p:spPr>
          <a:xfrm>
            <a:off x="186600" y="1439999"/>
            <a:ext cx="8472300" cy="30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calendar of the year 2024 can be used again in the year?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2030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2040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2052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2048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810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g14337fc5d25_0_687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g14337fc5d25_0_68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12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4337fc5d25_0_695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g14337fc5d25_0_695"/>
          <p:cNvSpPr txBox="1"/>
          <p:nvPr/>
        </p:nvSpPr>
        <p:spPr>
          <a:xfrm>
            <a:off x="186600" y="1162450"/>
            <a:ext cx="71661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Repetition of leap year ===&gt;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Add +28 to the Given Year.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Repetition of non leap year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Step 1 : Add +11 to the Given Year. If Result is a leap year, Go to step 2.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Step 2:  Add +6 to the Given Year.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Solution :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Given Year is 2024, Which is a leap year.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So, Add +28 to the given year (i.e 2024 + 28) = 2052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Therfore, The calendar of the year 2024 can be used again in the year 2052.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65656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g14337fc5d25_0_69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4337fc5d25_0_703"/>
          <p:cNvSpPr txBox="1"/>
          <p:nvPr/>
        </p:nvSpPr>
        <p:spPr>
          <a:xfrm>
            <a:off x="186600" y="1439999"/>
            <a:ext cx="8472300" cy="3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8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Mr. Khan has celebrated his birthday on Tuesday 30th, September 1997. When will he celebrate his birthday on the same day again?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48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30 Sept 2004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30 Sept 2002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30 Sept 2001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30 Sept 2003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14337fc5d25_0_703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g14337fc5d25_0_703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13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4337fc5d25_0_711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g14337fc5d25_0_711"/>
          <p:cNvSpPr txBox="1"/>
          <p:nvPr/>
        </p:nvSpPr>
        <p:spPr>
          <a:xfrm>
            <a:off x="161225" y="1143000"/>
            <a:ext cx="6776400" cy="3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8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name day will be repeated after every 7 days. 1997 is an ordinary so it will have 1 odd day and thus 1998 will also gain 1 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8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Thus on 30th September 2003, Mr Khan will celebrate his birthday again on Tuesday.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g14337fc5d25_0_711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4337fc5d25_0_719"/>
          <p:cNvSpPr txBox="1"/>
          <p:nvPr/>
        </p:nvSpPr>
        <p:spPr>
          <a:xfrm>
            <a:off x="186600" y="1439999"/>
            <a:ext cx="84723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calendar for the year 1988 is same as which upcoming year ?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2014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2016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2012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2010</a:t>
            </a:r>
            <a:endParaRPr b="0" i="0" sz="16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810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g14337fc5d25_0_719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g14337fc5d25_0_719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14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4337fc5d25_0_72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g14337fc5d25_0_727"/>
          <p:cNvSpPr txBox="1"/>
          <p:nvPr/>
        </p:nvSpPr>
        <p:spPr>
          <a:xfrm>
            <a:off x="186600" y="1135200"/>
            <a:ext cx="7166100" cy="1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We already know that the calendar after a leap year repeats again after 28 years.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Here 1988 is a Leap year, then the same calendar will be in the year = 1988 + 28 = 2016.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31800" marR="50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g14337fc5d25_0_72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4337fc5d25_0_735"/>
          <p:cNvSpPr txBox="1"/>
          <p:nvPr/>
        </p:nvSpPr>
        <p:spPr>
          <a:xfrm>
            <a:off x="186600" y="1422449"/>
            <a:ext cx="8472300" cy="2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every seconds Saturday and all Sundays are holidays in a 30 days month beginning on Saturday, then how many working days are there in that month ? (Month starts from Saturday)</a:t>
            </a:r>
            <a:endParaRPr b="0" i="0" sz="15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lphaUcPeriod"/>
            </a:pPr>
            <a:r>
              <a:rPr b="0" i="0" lang="en-GB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lphaUcPeriod"/>
            </a:pPr>
            <a:r>
              <a:rPr b="0" i="0" lang="en-GB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lphaUcPeriod"/>
            </a:pPr>
            <a:r>
              <a:rPr b="0" i="0" lang="en-GB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lphaUcPeriod"/>
            </a:pPr>
            <a:r>
              <a:rPr b="0" i="0" lang="en-GB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g14337fc5d25_0_73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g14337fc5d25_0_73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15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4337fc5d25_0_743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g14337fc5d25_0_743"/>
          <p:cNvSpPr txBox="1"/>
          <p:nvPr/>
        </p:nvSpPr>
        <p:spPr>
          <a:xfrm>
            <a:off x="186600" y="1135200"/>
            <a:ext cx="71661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As month begins on Saturday, so 2nd, 9th, 16th, 23rd, 30th days will be Sundays. While 8th and 22nd days are second Saturdays. Thus, there are 7 holidays in all.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5625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A2A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Hence, no. of working days = 30 – 7 =23</a:t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31800" marR="50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g14337fc5d25_0_743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6" name="Google Shape;4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423" name="Google Shape;423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24" name="Google Shape;4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6" name="Google Shape;4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" name="Google Shape;429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1" name="Google Shape;43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3" name="Google Shape;433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