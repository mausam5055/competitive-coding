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Roboto Black"/>
      <p:bold r:id="rId50"/>
      <p:boldItalic r:id="rId51"/>
    </p:embeddedFont>
    <p:embeddedFont>
      <p:font typeface="Robot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3">
          <p15:clr>
            <a:srgbClr val="FF0000"/>
          </p15:clr>
        </p15:guide>
        <p15:guide id="2" pos="455">
          <p15:clr>
            <a:srgbClr val="FF00FF"/>
          </p15:clr>
        </p15:guide>
        <p15:guide id="3" pos="5270">
          <p15:clr>
            <a:srgbClr val="FF00FF"/>
          </p15:clr>
        </p15:guide>
        <p15:guide id="4" orient="horz" pos="904">
          <p15:clr>
            <a:srgbClr val="FF0000"/>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6" roundtripDataSignature="AMtx7mg3aEMh314JNCoeKlJdaSJ3IcIV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3" orient="horz"/>
        <p:guide pos="455"/>
        <p:guide pos="5270"/>
        <p:guide pos="904" orient="horz"/>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Black-boldItalic.fntdata"/><Relationship Id="rId50" Type="http://schemas.openxmlformats.org/officeDocument/2006/relationships/font" Target="fonts/RobotoBlack-bold.fntdata"/><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5.xml"/><Relationship Id="rId55" Type="http://schemas.openxmlformats.org/officeDocument/2006/relationships/font" Target="fonts/Roboto-boldItalic.fntdata"/><Relationship Id="rId10" Type="http://schemas.openxmlformats.org/officeDocument/2006/relationships/slide" Target="slides/slide4.xml"/><Relationship Id="rId54" Type="http://schemas.openxmlformats.org/officeDocument/2006/relationships/font" Target="fonts/Roboto-italic.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453527d8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06" name="Google Shape;106;g2f453527d80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22" name="Google Shape;12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281bcd144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28" name="Google Shape;128;g25281bcd144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281bcd144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33" name="Google Shape;133;g25281bcd144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5281bcd144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38" name="Google Shape;138;g25281bcd144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5281bcd144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43" name="Google Shape;143;g25281bcd144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281bcd144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48" name="Google Shape;148;g25281bcd144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5281bcd144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53" name="Google Shape;153;g25281bcd144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5281bcd144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58" name="Google Shape;158;g25281bcd144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b="1" lang="en" sz="1200">
                <a:solidFill>
                  <a:srgbClr val="333333"/>
                </a:solidFill>
                <a:highlight>
                  <a:srgbClr val="FFFFFF"/>
                </a:highlight>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e9dd8e0ed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1e9dd8e0e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e9dd8e0edc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1e9dd8e0ed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Solution: The nth term of GP is given by:</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2, 4, 8,….</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Here, a = 2 and r = 4/2 = 2</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a</a:t>
            </a:r>
            <a:r>
              <a:rPr lang="en" sz="800">
                <a:solidFill>
                  <a:srgbClr val="333333"/>
                </a:solidFill>
                <a:highlight>
                  <a:srgbClr val="FFFFFF"/>
                </a:highlight>
                <a:latin typeface="Roboto"/>
                <a:ea typeface="Roboto"/>
                <a:cs typeface="Roboto"/>
                <a:sym typeface="Roboto"/>
              </a:rPr>
              <a:t>n</a:t>
            </a:r>
            <a:r>
              <a:rPr lang="en" sz="1050">
                <a:solidFill>
                  <a:srgbClr val="333333"/>
                </a:solidFill>
                <a:highlight>
                  <a:srgbClr val="FFFFFF"/>
                </a:highlight>
                <a:latin typeface="Roboto"/>
                <a:ea typeface="Roboto"/>
                <a:cs typeface="Roboto"/>
                <a:sym typeface="Roboto"/>
              </a:rPr>
              <a:t> = ar</a:t>
            </a:r>
            <a:r>
              <a:rPr lang="en" sz="800">
                <a:solidFill>
                  <a:srgbClr val="333333"/>
                </a:solidFill>
                <a:highlight>
                  <a:srgbClr val="FFFFFF"/>
                </a:highlight>
                <a:latin typeface="Roboto"/>
                <a:ea typeface="Roboto"/>
                <a:cs typeface="Roboto"/>
                <a:sym typeface="Roboto"/>
              </a:rPr>
              <a:t>n-1</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Therefore,</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a</a:t>
            </a:r>
            <a:r>
              <a:rPr lang="en" sz="800">
                <a:solidFill>
                  <a:srgbClr val="333333"/>
                </a:solidFill>
                <a:highlight>
                  <a:srgbClr val="FFFFFF"/>
                </a:highlight>
                <a:latin typeface="Roboto"/>
                <a:ea typeface="Roboto"/>
                <a:cs typeface="Roboto"/>
                <a:sym typeface="Roboto"/>
              </a:rPr>
              <a:t>10</a:t>
            </a:r>
            <a:r>
              <a:rPr lang="en" sz="1050">
                <a:solidFill>
                  <a:srgbClr val="333333"/>
                </a:solidFill>
                <a:highlight>
                  <a:srgbClr val="FFFFFF"/>
                </a:highlight>
                <a:latin typeface="Roboto"/>
                <a:ea typeface="Roboto"/>
                <a:cs typeface="Roboto"/>
                <a:sym typeface="Roboto"/>
              </a:rPr>
              <a:t> = 2 x 2</a:t>
            </a:r>
            <a:r>
              <a:rPr lang="en" sz="800">
                <a:solidFill>
                  <a:srgbClr val="333333"/>
                </a:solidFill>
                <a:highlight>
                  <a:srgbClr val="FFFFFF"/>
                </a:highlight>
                <a:latin typeface="Roboto"/>
                <a:ea typeface="Roboto"/>
                <a:cs typeface="Roboto"/>
                <a:sym typeface="Roboto"/>
              </a:rPr>
              <a:t>10 – 1</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 2 × 2</a:t>
            </a:r>
            <a:r>
              <a:rPr lang="en" sz="800">
                <a:solidFill>
                  <a:srgbClr val="333333"/>
                </a:solidFill>
                <a:highlight>
                  <a:srgbClr val="FFFFFF"/>
                </a:highlight>
                <a:latin typeface="Roboto"/>
                <a:ea typeface="Roboto"/>
                <a:cs typeface="Roboto"/>
                <a:sym typeface="Roboto"/>
              </a:rPr>
              <a:t>9</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 1024</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e9dd8e0edc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1e9dd8e0edc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e9dd8e0edc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1e9dd8e0edc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ed78ac9a6a_0_0: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g2ed78ac9a6a_0_0: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ed7a73e797_1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2ed7a73e797_1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4"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8" name="Google Shape;1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g2ed78ac9a6a_0_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2ed78ac9a6a_0_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g2ed78ac9a6a_0_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g2ed78ac9a6a_0_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 name="Shape 27"/>
        <p:cNvGrpSpPr/>
        <p:nvPr/>
      </p:nvGrpSpPr>
      <p:grpSpPr>
        <a:xfrm>
          <a:off x="0" y="0"/>
          <a:ext cx="0" cy="0"/>
          <a:chOff x="0" y="0"/>
          <a:chExt cx="0" cy="0"/>
        </a:xfrm>
      </p:grpSpPr>
      <p:sp>
        <p:nvSpPr>
          <p:cNvPr id="28" name="Google Shape;28;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9" name="Google Shape;2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2" name="Google Shape;32;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3" name="Google Shape;33;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 name="Google Shape;34;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5" name="Google Shape;35;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8" name="Google Shape;3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 name="Shape 39"/>
        <p:cNvGrpSpPr/>
        <p:nvPr/>
      </p:nvGrpSpPr>
      <p:grpSpPr>
        <a:xfrm>
          <a:off x="0" y="0"/>
          <a:ext cx="0" cy="0"/>
          <a:chOff x="0" y="0"/>
          <a:chExt cx="0" cy="0"/>
        </a:xfrm>
      </p:grpSpPr>
      <p:sp>
        <p:nvSpPr>
          <p:cNvPr id="40" name="Google Shape;40;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1" name="Google Shape;41;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2" name="Google Shape;4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3" name="Shape 43"/>
        <p:cNvGrpSpPr/>
        <p:nvPr/>
      </p:nvGrpSpPr>
      <p:grpSpPr>
        <a:xfrm>
          <a:off x="0" y="0"/>
          <a:ext cx="0" cy="0"/>
          <a:chOff x="0" y="0"/>
          <a:chExt cx="0" cy="0"/>
        </a:xfrm>
      </p:grpSpPr>
      <p:pic>
        <p:nvPicPr>
          <p:cNvPr descr="A close up of a logo&#10;&#10;Description generated with high confidence" id="44" name="Google Shape;44;p47"/>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45" name="Google Shape;45;p47"/>
          <p:cNvPicPr preferRelativeResize="0"/>
          <p:nvPr/>
        </p:nvPicPr>
        <p:blipFill rotWithShape="1">
          <a:blip r:embed="rId3">
            <a:alphaModFix/>
          </a:blip>
          <a:srcRect b="37530" l="0" r="0" t="55602"/>
          <a:stretch/>
        </p:blipFill>
        <p:spPr>
          <a:xfrm>
            <a:off x="0" y="4849200"/>
            <a:ext cx="9144000" cy="294300"/>
          </a:xfrm>
          <a:prstGeom prst="rect">
            <a:avLst/>
          </a:prstGeom>
          <a:noFill/>
          <a:ln>
            <a:noFill/>
          </a:ln>
        </p:spPr>
      </p:pic>
      <p:sp>
        <p:nvSpPr>
          <p:cNvPr id="46" name="Google Shape;46;p47"/>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47"/>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47"/>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9" name="Google Shape;49;p47"/>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 name="Shape 55"/>
        <p:cNvGrpSpPr/>
        <p:nvPr/>
      </p:nvGrpSpPr>
      <p:grpSpPr>
        <a:xfrm>
          <a:off x="0" y="0"/>
          <a:ext cx="0" cy="0"/>
          <a:chOff x="0" y="0"/>
          <a:chExt cx="0" cy="0"/>
        </a:xfrm>
      </p:grpSpPr>
      <p:sp>
        <p:nvSpPr>
          <p:cNvPr id="56" name="Google Shape;56;g2ed7a73e797_1_10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7" name="Google Shape;57;g2ed7a73e797_1_10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8" name="Google Shape;58;g2ed7a73e797_1_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g2ed7a73e797_1_9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1" name="Google Shape;61;g2ed7a73e797_1_9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2" name="Google Shape;62;g2ed7a73e797_1_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g2ed7a73e797_1_9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g2ed7a73e797_1_9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6" name="Google Shape;66;g2ed7a73e797_1_9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7" name="Google Shape;67;g2ed7a73e797_1_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8" name="Shape 6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g2ed7a73e797_1_1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g2ed7a73e797_1_1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2" name="Shape 72"/>
        <p:cNvGrpSpPr/>
        <p:nvPr/>
      </p:nvGrpSpPr>
      <p:grpSpPr>
        <a:xfrm>
          <a:off x="0" y="0"/>
          <a:ext cx="0" cy="0"/>
          <a:chOff x="0" y="0"/>
          <a:chExt cx="0" cy="0"/>
        </a:xfrm>
      </p:grpSpPr>
      <p:sp>
        <p:nvSpPr>
          <p:cNvPr id="73" name="Google Shape;73;g2ed7a73e797_1_10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4" name="Google Shape;74;g2ed7a73e797_1_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 name="Shape 75"/>
        <p:cNvGrpSpPr/>
        <p:nvPr/>
      </p:nvGrpSpPr>
      <p:grpSpPr>
        <a:xfrm>
          <a:off x="0" y="0"/>
          <a:ext cx="0" cy="0"/>
          <a:chOff x="0" y="0"/>
          <a:chExt cx="0" cy="0"/>
        </a:xfrm>
      </p:grpSpPr>
      <p:sp>
        <p:nvSpPr>
          <p:cNvPr id="76" name="Google Shape;76;g2ed7a73e797_1_1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ed7a73e797_1_1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8" name="Google Shape;78;g2ed7a73e797_1_1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9" name="Google Shape;79;g2ed7a73e797_1_1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0" name="Google Shape;80;g2ed7a73e797_1_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 name="Shape 81"/>
        <p:cNvGrpSpPr/>
        <p:nvPr/>
      </p:nvGrpSpPr>
      <p:grpSpPr>
        <a:xfrm>
          <a:off x="0" y="0"/>
          <a:ext cx="0" cy="0"/>
          <a:chOff x="0" y="0"/>
          <a:chExt cx="0" cy="0"/>
        </a:xfrm>
      </p:grpSpPr>
      <p:sp>
        <p:nvSpPr>
          <p:cNvPr id="82" name="Google Shape;82;g2ed7a73e797_1_1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83" name="Google Shape;83;g2ed7a73e797_1_1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g2ed7a73e797_1_1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6" name="Google Shape;86;g2ed7a73e797_1_1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7" name="Google Shape;87;g2ed7a73e797_1_1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88" name="Shape 88"/>
        <p:cNvGrpSpPr/>
        <p:nvPr/>
      </p:nvGrpSpPr>
      <p:grpSpPr>
        <a:xfrm>
          <a:off x="0" y="0"/>
          <a:ext cx="0" cy="0"/>
          <a:chOff x="0" y="0"/>
          <a:chExt cx="0" cy="0"/>
        </a:xfrm>
      </p:grpSpPr>
      <p:pic>
        <p:nvPicPr>
          <p:cNvPr descr="A close up of a logo&#10;&#10;Description generated with high confidence" id="89" name="Google Shape;89;g2ed7a73e797_1_124"/>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90" name="Google Shape;90;g2ed7a73e797_1_124"/>
          <p:cNvPicPr preferRelativeResize="0"/>
          <p:nvPr/>
        </p:nvPicPr>
        <p:blipFill rotWithShape="1">
          <a:blip r:embed="rId3">
            <a:alphaModFix/>
          </a:blip>
          <a:srcRect b="37530" l="0" r="0" t="55602"/>
          <a:stretch/>
        </p:blipFill>
        <p:spPr>
          <a:xfrm>
            <a:off x="0" y="4849200"/>
            <a:ext cx="9144000" cy="294300"/>
          </a:xfrm>
          <a:prstGeom prst="rect">
            <a:avLst/>
          </a:prstGeom>
          <a:noFill/>
          <a:ln>
            <a:noFill/>
          </a:ln>
        </p:spPr>
      </p:pic>
      <p:sp>
        <p:nvSpPr>
          <p:cNvPr id="91" name="Google Shape;91;g2ed7a73e797_1_124"/>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92" name="Google Shape;92;g2ed7a73e797_1_124"/>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93" name="Google Shape;93;g2ed7a73e797_1_124"/>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94" name="Google Shape;94;g2ed7a73e797_1_124"/>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2.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g2ed7a73e797_1_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2ed7a73e797_1_8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2ed7a73e797_1_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g2ed7a73e797_1_86"/>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sRZnaJJmUNbXvyyN8" TargetMode="Externa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hyperlink" Target="https://learn.codemithra.co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8.jp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00" name="Google Shape;100;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01" name="Google Shape;101;p4"/>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2" name="Google Shape;102;p4"/>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3" name="Google Shape;103;p4"/>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2f453527d80_1_0"/>
          <p:cNvSpPr/>
          <p:nvPr/>
        </p:nvSpPr>
        <p:spPr>
          <a:xfrm>
            <a:off x="2203575" y="757800"/>
            <a:ext cx="5020500" cy="4122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700"/>
              <a:buFont typeface="Arial"/>
              <a:buNone/>
            </a:pPr>
            <a:r>
              <a:rPr b="1" i="0" lang="en" sz="1600" u="none" cap="none" strike="noStrike">
                <a:solidFill>
                  <a:schemeClr val="dk1"/>
                </a:solidFill>
                <a:latin typeface="Roboto"/>
                <a:ea typeface="Roboto"/>
                <a:cs typeface="Roboto"/>
                <a:sym typeface="Roboto"/>
              </a:rPr>
              <a:t>TEST TIME ON DIVISION OF WAGES</a:t>
            </a:r>
            <a:endParaRPr b="1" i="0" sz="1600" u="none" cap="none" strike="noStrike">
              <a:solidFill>
                <a:schemeClr val="dk1"/>
              </a:solidFill>
              <a:latin typeface="Roboto"/>
              <a:ea typeface="Roboto"/>
              <a:cs typeface="Roboto"/>
              <a:sym typeface="Roboto"/>
            </a:endParaRPr>
          </a:p>
        </p:txBody>
      </p:sp>
      <p:sp>
        <p:nvSpPr>
          <p:cNvPr id="109" name="Google Shape;109;g2f453527d80_1_0"/>
          <p:cNvSpPr txBox="1"/>
          <p:nvPr>
            <p:ph idx="4294967295" type="body"/>
          </p:nvPr>
        </p:nvSpPr>
        <p:spPr>
          <a:xfrm>
            <a:off x="720000" y="1419325"/>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a:solidFill>
                  <a:srgbClr val="373737"/>
                </a:solidFill>
                <a:highlight>
                  <a:srgbClr val="FFFFFF"/>
                </a:highlight>
                <a:latin typeface="Roboto"/>
                <a:ea typeface="Roboto"/>
                <a:cs typeface="Roboto"/>
                <a:sym typeface="Roboto"/>
              </a:rPr>
              <a:t>URL: </a:t>
            </a:r>
            <a:r>
              <a:rPr b="1" lang="en" sz="1600" u="sng">
                <a:solidFill>
                  <a:schemeClr val="hlink"/>
                </a:solidFill>
                <a:highlight>
                  <a:srgbClr val="FFFFFF"/>
                </a:highlight>
                <a:latin typeface="Roboto"/>
                <a:ea typeface="Roboto"/>
                <a:cs typeface="Roboto"/>
                <a:sym typeface="Roboto"/>
                <a:hlinkClick r:id="rId3"/>
              </a:rPr>
              <a:t>https://forms.gle/sRZnaJJmUNbXvyyN8</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 sz="1600">
                <a:solidFill>
                  <a:srgbClr val="373737"/>
                </a:solidFill>
                <a:highlight>
                  <a:srgbClr val="FFFFFF"/>
                </a:highlight>
                <a:latin typeface="Roboto"/>
                <a:ea typeface="Roboto"/>
                <a:cs typeface="Roboto"/>
                <a:sym typeface="Roboto"/>
              </a:rPr>
              <a:t>QR CODE:</a:t>
            </a:r>
            <a:endParaRPr b="1" sz="1600">
              <a:solidFill>
                <a:srgbClr val="373737"/>
              </a:solidFill>
              <a:highlight>
                <a:srgbClr val="FFFFFF"/>
              </a:highlight>
              <a:latin typeface="Roboto"/>
              <a:ea typeface="Roboto"/>
              <a:cs typeface="Roboto"/>
              <a:sym typeface="Roboto"/>
            </a:endParaRPr>
          </a:p>
        </p:txBody>
      </p:sp>
      <p:pic>
        <p:nvPicPr>
          <p:cNvPr id="110" name="Google Shape;110;g2f453527d80_1_0"/>
          <p:cNvPicPr preferRelativeResize="0"/>
          <p:nvPr/>
        </p:nvPicPr>
        <p:blipFill rotWithShape="1">
          <a:blip r:embed="rId4">
            <a:alphaModFix/>
          </a:blip>
          <a:srcRect b="0" l="0" r="0" t="0"/>
          <a:stretch/>
        </p:blipFill>
        <p:spPr>
          <a:xfrm>
            <a:off x="3346350" y="2279100"/>
            <a:ext cx="2959999" cy="2316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16" name="Google Shape;116;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17" name="Google Shape;117;p5"/>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18" name="Google Shape;118;p5"/>
          <p:cNvPicPr preferRelativeResize="0"/>
          <p:nvPr/>
        </p:nvPicPr>
        <p:blipFill rotWithShape="1">
          <a:blip r:embed="rId3">
            <a:alphaModFix/>
          </a:blip>
          <a:srcRect b="0" l="0" r="0" t="0"/>
          <a:stretch/>
        </p:blipFill>
        <p:spPr>
          <a:xfrm>
            <a:off x="0" y="-5"/>
            <a:ext cx="9144003" cy="5143501"/>
          </a:xfrm>
          <a:prstGeom prst="rect">
            <a:avLst/>
          </a:prstGeom>
          <a:noFill/>
          <a:ln>
            <a:noFill/>
          </a:ln>
        </p:spPr>
      </p:pic>
      <p:sp>
        <p:nvSpPr>
          <p:cNvPr id="119" name="Google Shape;119;p5"/>
          <p:cNvSpPr txBox="1"/>
          <p:nvPr/>
        </p:nvSpPr>
        <p:spPr>
          <a:xfrm>
            <a:off x="473525" y="1971585"/>
            <a:ext cx="46314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100"/>
              <a:buFont typeface="Arial"/>
              <a:buNone/>
            </a:pPr>
            <a:r>
              <a:rPr b="1" i="0" lang="en" sz="3600" u="none" cap="none" strike="noStrike">
                <a:solidFill>
                  <a:schemeClr val="lt1"/>
                </a:solidFill>
                <a:latin typeface="Roboto"/>
                <a:ea typeface="Roboto"/>
                <a:cs typeface="Roboto"/>
                <a:sym typeface="Roboto"/>
              </a:rPr>
              <a:t>TIME, SPEED AND DISTANCE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idx="1" type="body"/>
          </p:nvPr>
        </p:nvSpPr>
        <p:spPr>
          <a:xfrm>
            <a:off x="722375" y="1435600"/>
            <a:ext cx="7644300" cy="2857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solidFill>
                  <a:srgbClr val="222222"/>
                </a:solidFill>
                <a:highlight>
                  <a:srgbClr val="FFFFFF"/>
                </a:highlight>
              </a:rPr>
              <a:t>Time Speed and Distance – Definition</a:t>
            </a:r>
            <a:endParaRPr b="1" sz="1400">
              <a:solidFill>
                <a:srgbClr val="222222"/>
              </a:solidFill>
              <a:highlight>
                <a:srgbClr val="FFFFFF"/>
              </a:highlight>
            </a:endParaRPr>
          </a:p>
          <a:p>
            <a:pPr indent="0" lvl="0" marL="457200" rtl="0" algn="l">
              <a:lnSpc>
                <a:spcPct val="150000"/>
              </a:lnSpc>
              <a:spcBef>
                <a:spcPts val="0"/>
              </a:spcBef>
              <a:spcAft>
                <a:spcPts val="0"/>
              </a:spcAft>
              <a:buSzPts val="1800"/>
              <a:buNone/>
            </a:pPr>
            <a:r>
              <a:rPr lang="en" sz="1400">
                <a:solidFill>
                  <a:srgbClr val="222222"/>
                </a:solidFill>
                <a:highlight>
                  <a:srgbClr val="FFFFFF"/>
                </a:highlight>
                <a:latin typeface="Roboto"/>
                <a:ea typeface="Roboto"/>
                <a:cs typeface="Roboto"/>
                <a:sym typeface="Roboto"/>
              </a:rPr>
              <a:t>Speed is a concept in motion that is all about how slow or fast an object travels. Speed is defined as the distance divided by Time. Speed, distance, and time are given to solve for one of the three variables when a piece of certain information is known.</a:t>
            </a:r>
            <a:endParaRPr sz="1400">
              <a:solidFill>
                <a:srgbClr val="222222"/>
              </a:solidFill>
              <a:highlight>
                <a:srgbClr val="FFFFFF"/>
              </a:highlight>
              <a:latin typeface="Roboto"/>
              <a:ea typeface="Roboto"/>
              <a:cs typeface="Roboto"/>
              <a:sym typeface="Roboto"/>
            </a:endParaRPr>
          </a:p>
          <a:p>
            <a:pPr indent="0" lvl="0" marL="0" rtl="0" algn="l">
              <a:lnSpc>
                <a:spcPct val="150000"/>
              </a:lnSpc>
              <a:spcBef>
                <a:spcPts val="0"/>
              </a:spcBef>
              <a:spcAft>
                <a:spcPts val="0"/>
              </a:spcAft>
              <a:buSzPts val="1800"/>
              <a:buNone/>
            </a:pPr>
            <a:r>
              <a:rPr b="1" lang="en" sz="1400">
                <a:solidFill>
                  <a:srgbClr val="222222"/>
                </a:solidFill>
                <a:highlight>
                  <a:srgbClr val="FFFFFF"/>
                </a:highlight>
              </a:rPr>
              <a:t>Relationship between Time Speed and Distance</a:t>
            </a:r>
            <a:endParaRPr b="1" sz="1400">
              <a:solidFill>
                <a:srgbClr val="222222"/>
              </a:solidFill>
              <a:highlight>
                <a:srgbClr val="FFFFFF"/>
              </a:highlight>
            </a:endParaRPr>
          </a:p>
          <a:p>
            <a:pPr indent="0" lvl="0" marL="457200" rtl="0" algn="l">
              <a:lnSpc>
                <a:spcPct val="150000"/>
              </a:lnSpc>
              <a:spcBef>
                <a:spcPts val="0"/>
              </a:spcBef>
              <a:spcAft>
                <a:spcPts val="0"/>
              </a:spcAft>
              <a:buSzPts val="1800"/>
              <a:buNone/>
            </a:pPr>
            <a:r>
              <a:rPr lang="en" sz="1400">
                <a:solidFill>
                  <a:srgbClr val="222222"/>
                </a:solidFill>
                <a:highlight>
                  <a:srgbClr val="FFFFFF"/>
                </a:highlight>
                <a:latin typeface="Roboto"/>
                <a:ea typeface="Roboto"/>
                <a:cs typeface="Roboto"/>
                <a:sym typeface="Roboto"/>
              </a:rPr>
              <a:t>Speed = Distance/Time</a:t>
            </a:r>
            <a:endParaRPr sz="1400">
              <a:solidFill>
                <a:srgbClr val="222222"/>
              </a:solidFill>
              <a:highlight>
                <a:srgbClr val="FFFFFF"/>
              </a:highlight>
              <a:latin typeface="Roboto"/>
              <a:ea typeface="Roboto"/>
              <a:cs typeface="Roboto"/>
              <a:sym typeface="Roboto"/>
            </a:endParaRPr>
          </a:p>
          <a:p>
            <a:pPr indent="0" lvl="0" marL="457200" rtl="0" algn="l">
              <a:lnSpc>
                <a:spcPct val="150000"/>
              </a:lnSpc>
              <a:spcBef>
                <a:spcPts val="0"/>
              </a:spcBef>
              <a:spcAft>
                <a:spcPts val="0"/>
              </a:spcAft>
              <a:buSzPts val="1800"/>
              <a:buNone/>
            </a:pPr>
            <a:r>
              <a:rPr lang="en" sz="1400">
                <a:solidFill>
                  <a:srgbClr val="222222"/>
                </a:solidFill>
                <a:highlight>
                  <a:srgbClr val="FFFFFF"/>
                </a:highlight>
                <a:latin typeface="Roboto"/>
                <a:ea typeface="Roboto"/>
                <a:cs typeface="Roboto"/>
                <a:sym typeface="Roboto"/>
              </a:rPr>
              <a:t>Speed tells us how fast or slow an object travels and describes the distance traveled divided by the time taken to cover the distance.</a:t>
            </a:r>
            <a:endParaRPr sz="1400">
              <a:solidFill>
                <a:srgbClr val="222222"/>
              </a:solidFill>
              <a:highlight>
                <a:srgbClr val="FFFFFF"/>
              </a:highlight>
              <a:latin typeface="Roboto"/>
              <a:ea typeface="Roboto"/>
              <a:cs typeface="Roboto"/>
              <a:sym typeface="Roboto"/>
            </a:endParaRPr>
          </a:p>
          <a:p>
            <a:pPr indent="0" lvl="0" marL="457200" rtl="0" algn="l">
              <a:lnSpc>
                <a:spcPct val="150000"/>
              </a:lnSpc>
              <a:spcBef>
                <a:spcPts val="0"/>
              </a:spcBef>
              <a:spcAft>
                <a:spcPts val="0"/>
              </a:spcAft>
              <a:buSzPts val="1800"/>
              <a:buNone/>
            </a:pPr>
            <a:r>
              <a:t/>
            </a:r>
            <a:endParaRPr sz="1400">
              <a:solidFill>
                <a:schemeClr val="dk1"/>
              </a:solidFill>
            </a:endParaRPr>
          </a:p>
          <a:p>
            <a:pPr indent="0" lvl="0" marL="0" rtl="0" algn="just">
              <a:lnSpc>
                <a:spcPct val="150000"/>
              </a:lnSpc>
              <a:spcBef>
                <a:spcPts val="0"/>
              </a:spcBef>
              <a:spcAft>
                <a:spcPts val="0"/>
              </a:spcAft>
              <a:buSzPts val="1800"/>
              <a:buNone/>
            </a:pPr>
            <a:r>
              <a:t/>
            </a:r>
            <a:endParaRPr sz="1400">
              <a:solidFill>
                <a:schemeClr val="dk1"/>
              </a:solidFill>
            </a:endParaRPr>
          </a:p>
        </p:txBody>
      </p:sp>
      <p:sp>
        <p:nvSpPr>
          <p:cNvPr id="125" name="Google Shape;125;p3"/>
          <p:cNvSpPr txBox="1"/>
          <p:nvPr/>
        </p:nvSpPr>
        <p:spPr>
          <a:xfrm>
            <a:off x="720000" y="579950"/>
            <a:ext cx="52203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 sz="3500" u="none" cap="none" strike="noStrike">
                <a:solidFill>
                  <a:srgbClr val="8182EF"/>
                </a:solidFill>
                <a:latin typeface="Roboto Black"/>
                <a:ea typeface="Roboto Black"/>
                <a:cs typeface="Roboto Black"/>
                <a:sym typeface="Roboto Black"/>
              </a:rPr>
              <a:t>TIME SPEED DISTANCE</a:t>
            </a:r>
            <a:endParaRPr b="0" i="0" sz="2100" u="none" cap="none" strike="noStrike">
              <a:solidFill>
                <a:srgbClr val="6D9EEB"/>
              </a:solidFill>
              <a:latin typeface="Roboto Black"/>
              <a:ea typeface="Roboto Black"/>
              <a:cs typeface="Roboto Black"/>
              <a:sym typeface="Roboto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1000"/>
                                        <p:tgtEl>
                                          <p:spTgt spid="1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1000"/>
                                        <p:tgtEl>
                                          <p:spTgt spid="1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animEffect filter="fade" transition="in">
                                      <p:cBhvr>
                                        <p:cTn dur="1000"/>
                                        <p:tgtEl>
                                          <p:spTgt spid="1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animEffect filter="fade" transition="in">
                                      <p:cBhvr>
                                        <p:cTn dur="1000"/>
                                        <p:tgtEl>
                                          <p:spTgt spid="1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animEffect filter="fade" transition="in">
                                      <p:cBhvr>
                                        <p:cTn dur="1000"/>
                                        <p:tgtEl>
                                          <p:spTgt spid="1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animEffect filter="fade" transition="in">
                                      <p:cBhvr>
                                        <p:cTn dur="1000"/>
                                        <p:tgtEl>
                                          <p:spTgt spid="1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animEffect filter="fade" transition="in">
                                      <p:cBhvr>
                                        <p:cTn dur="1000"/>
                                        <p:tgtEl>
                                          <p:spTgt spid="1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25281bcd144_0_2"/>
          <p:cNvSpPr txBox="1"/>
          <p:nvPr>
            <p:ph idx="1" type="body"/>
          </p:nvPr>
        </p:nvSpPr>
        <p:spPr>
          <a:xfrm>
            <a:off x="722375" y="1435600"/>
            <a:ext cx="8495400" cy="2718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400">
                <a:solidFill>
                  <a:srgbClr val="222222"/>
                </a:solidFill>
                <a:highlight>
                  <a:srgbClr val="FFFFFF"/>
                </a:highlight>
              </a:rPr>
              <a:t>Units of Time Speed and Distance</a:t>
            </a:r>
            <a:endParaRPr b="1"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 Speed Distance and Time has different units for each of them and they are given as under</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Time: seconds(s), minutes (min), hours (hr)</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Distance: (meters (m), kilometers (km), miles, feet</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Speed: m/s, km/hr</a:t>
            </a:r>
            <a:endParaRPr sz="1400">
              <a:solidFill>
                <a:srgbClr val="222222"/>
              </a:solidFill>
              <a:highlight>
                <a:srgbClr val="FFFFFF"/>
              </a:highlight>
            </a:endParaRPr>
          </a:p>
          <a:p>
            <a:pPr indent="0" lvl="0" marL="0" rtl="0" algn="l">
              <a:lnSpc>
                <a:spcPct val="150000"/>
              </a:lnSpc>
              <a:spcBef>
                <a:spcPts val="0"/>
              </a:spcBef>
              <a:spcAft>
                <a:spcPts val="0"/>
              </a:spcAft>
              <a:buSzPts val="1100"/>
              <a:buNone/>
            </a:pPr>
            <a:r>
              <a:rPr lang="en" sz="1400">
                <a:solidFill>
                  <a:srgbClr val="222222"/>
                </a:solidFill>
                <a:highlight>
                  <a:srgbClr val="FFFFFF"/>
                </a:highlight>
              </a:rPr>
              <a:t>If Distance and Time Units are known Speed Units can be derived easily.</a:t>
            </a:r>
            <a:endParaRPr sz="1400">
              <a:solidFill>
                <a:srgbClr val="222222"/>
              </a:solidFill>
              <a:highlight>
                <a:srgbClr val="FFFFFF"/>
              </a:highlight>
            </a:endParaRPr>
          </a:p>
          <a:p>
            <a:pPr indent="0" lvl="0" marL="0" rtl="0" algn="l">
              <a:lnSpc>
                <a:spcPct val="150000"/>
              </a:lnSpc>
              <a:spcBef>
                <a:spcPts val="0"/>
              </a:spcBef>
              <a:spcAft>
                <a:spcPts val="0"/>
              </a:spcAft>
              <a:buSzPts val="1100"/>
              <a:buNone/>
            </a:pPr>
            <a:r>
              <a:rPr b="1" lang="en" sz="1500">
                <a:solidFill>
                  <a:srgbClr val="222222"/>
                </a:solidFill>
                <a:highlight>
                  <a:srgbClr val="FFFFFF"/>
                </a:highlight>
              </a:rPr>
              <a:t>Time Speed and Distance Conversions</a:t>
            </a:r>
            <a:endParaRPr b="1" sz="15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To change between km/hour to m/sec, we multiply by 5/18. So, 1 km/hour = 5/18 m/sec</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To change between m/sec to km / hour, we multiply by 18/5. So, 1m /sec = 18/5 km/hr = 3.6 km/hr</a:t>
            </a:r>
            <a:endParaRPr sz="1400">
              <a:solidFill>
                <a:srgbClr val="222222"/>
              </a:solidFill>
              <a:highlight>
                <a:srgbClr val="FFFFFF"/>
              </a:highlight>
            </a:endParaRPr>
          </a:p>
          <a:p>
            <a:pPr indent="0" lvl="0" marL="0" rtl="0" algn="just">
              <a:lnSpc>
                <a:spcPct val="150000"/>
              </a:lnSpc>
              <a:spcBef>
                <a:spcPts val="0"/>
              </a:spcBef>
              <a:spcAft>
                <a:spcPts val="0"/>
              </a:spcAft>
              <a:buSzPts val="1800"/>
              <a:buNone/>
            </a:pPr>
            <a:r>
              <a:t/>
            </a:r>
            <a:endParaRPr b="1" sz="1400">
              <a:solidFill>
                <a:srgbClr val="222222"/>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1000"/>
                                        <p:tgtEl>
                                          <p:spTgt spid="1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animEffect filter="fade" transition="in">
                                      <p:cBhvr>
                                        <p:cTn dur="1000"/>
                                        <p:tgtEl>
                                          <p:spTgt spid="1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animEffect filter="fade" transition="in">
                                      <p:cBhvr>
                                        <p:cTn dur="1000"/>
                                        <p:tgtEl>
                                          <p:spTgt spid="1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animEffect filter="fade" transition="in">
                                      <p:cBhvr>
                                        <p:cTn dur="1000"/>
                                        <p:tgtEl>
                                          <p:spTgt spid="1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animEffect filter="fade" transition="in">
                                      <p:cBhvr>
                                        <p:cTn dur="1000"/>
                                        <p:tgtEl>
                                          <p:spTgt spid="1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animEffect filter="fade" transition="in">
                                      <p:cBhvr>
                                        <p:cTn dur="1000"/>
                                        <p:tgtEl>
                                          <p:spTgt spid="1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animEffect filter="fade" transition="in">
                                      <p:cBhvr>
                                        <p:cTn dur="1000"/>
                                        <p:tgtEl>
                                          <p:spTgt spid="1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animEffect filter="fade" transition="in">
                                      <p:cBhvr>
                                        <p:cTn dur="1000"/>
                                        <p:tgtEl>
                                          <p:spTgt spid="1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8" st="8"/>
                                            </p:txEl>
                                          </p:spTgt>
                                        </p:tgtEl>
                                        <p:attrNameLst>
                                          <p:attrName>style.visibility</p:attrName>
                                        </p:attrNameLst>
                                      </p:cBhvr>
                                      <p:to>
                                        <p:strVal val="visible"/>
                                      </p:to>
                                    </p:set>
                                    <p:animEffect filter="fade" transition="in">
                                      <p:cBhvr>
                                        <p:cTn dur="1000"/>
                                        <p:tgtEl>
                                          <p:spTgt spid="1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9" st="9"/>
                                            </p:txEl>
                                          </p:spTgt>
                                        </p:tgtEl>
                                        <p:attrNameLst>
                                          <p:attrName>style.visibility</p:attrName>
                                        </p:attrNameLst>
                                      </p:cBhvr>
                                      <p:to>
                                        <p:strVal val="visible"/>
                                      </p:to>
                                    </p:set>
                                    <p:animEffect filter="fade" transition="in">
                                      <p:cBhvr>
                                        <p:cTn dur="1000"/>
                                        <p:tgtEl>
                                          <p:spTgt spid="13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25281bcd144_0_11"/>
          <p:cNvSpPr txBox="1"/>
          <p:nvPr>
            <p:ph idx="1" type="body"/>
          </p:nvPr>
        </p:nvSpPr>
        <p:spPr>
          <a:xfrm>
            <a:off x="722375" y="1435598"/>
            <a:ext cx="8215200" cy="263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sz="1400">
                <a:solidFill>
                  <a:srgbClr val="222222"/>
                </a:solidFill>
                <a:highlight>
                  <a:srgbClr val="FFFFFF"/>
                </a:highlight>
              </a:rPr>
              <a:t>Time Speed and Distance Conversions</a:t>
            </a:r>
            <a:endParaRPr b="1" sz="1400">
              <a:solidFill>
                <a:srgbClr val="222222"/>
              </a:solidFill>
              <a:highlight>
                <a:srgbClr val="FFFFFF"/>
              </a:highlight>
            </a:endParaRPr>
          </a:p>
          <a:p>
            <a:pPr indent="0" lvl="0" marL="0" rtl="0" algn="l">
              <a:lnSpc>
                <a:spcPct val="100000"/>
              </a:lnSpc>
              <a:spcBef>
                <a:spcPts val="0"/>
              </a:spcBef>
              <a:spcAft>
                <a:spcPts val="0"/>
              </a:spcAft>
              <a:buSzPts val="1800"/>
              <a:buNone/>
            </a:pPr>
            <a:r>
              <a:t/>
            </a:r>
            <a:endParaRPr b="1"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Similarly, 1 km/hr = 5/8 miles/hour</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yard = 3 feet</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mile= 1.609 kilometer</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kilometer= 1000 meters = 0.6214 mile</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mile = 1760 yards</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mile = 5280 feet</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hour= 60 minutes= 60*60 seconds= 3600 seconds</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yard = 3 feet</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mph = (1 x 5280) / (1 x 3600) = 22/15 ft/sec</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1 mph = (1 x 1760) / (1 x 3600) = 22/45 yards/sec</a:t>
            </a:r>
            <a:endParaRPr sz="1400">
              <a:solidFill>
                <a:srgbClr val="222222"/>
              </a:solidFill>
              <a:highlight>
                <a:srgbClr val="FFFFFF"/>
              </a:highlight>
            </a:endParaRPr>
          </a:p>
          <a:p>
            <a:pPr indent="-317500" lvl="0" marL="838200" rtl="0" algn="l">
              <a:lnSpc>
                <a:spcPct val="100000"/>
              </a:lnSpc>
              <a:spcBef>
                <a:spcPts val="0"/>
              </a:spcBef>
              <a:spcAft>
                <a:spcPts val="0"/>
              </a:spcAft>
              <a:buClr>
                <a:srgbClr val="222222"/>
              </a:buClr>
              <a:buSzPts val="1400"/>
              <a:buFont typeface="Arial"/>
              <a:buChar char="●"/>
            </a:pPr>
            <a:r>
              <a:rPr lang="en" sz="1400">
                <a:solidFill>
                  <a:srgbClr val="222222"/>
                </a:solidFill>
                <a:highlight>
                  <a:srgbClr val="FFFFFF"/>
                </a:highlight>
              </a:rPr>
              <a:t>For a certain distance, if the ratio of speeds is a : b, then the ratio of times taken to cover the distance is given by b : a and vice versa.</a:t>
            </a:r>
            <a:endParaRPr sz="1400">
              <a:solidFill>
                <a:srgbClr val="222222"/>
              </a:solidFill>
              <a:highlight>
                <a:srgbClr val="FFFFFF"/>
              </a:highlight>
            </a:endParaRPr>
          </a:p>
          <a:p>
            <a:pPr indent="0" lvl="0" marL="0" rtl="0" algn="just">
              <a:lnSpc>
                <a:spcPct val="100000"/>
              </a:lnSpc>
              <a:spcBef>
                <a:spcPts val="0"/>
              </a:spcBef>
              <a:spcAft>
                <a:spcPts val="0"/>
              </a:spcAft>
              <a:buSzPts val="1800"/>
              <a:buNone/>
            </a:pPr>
            <a:r>
              <a:t/>
            </a:r>
            <a:endParaRPr sz="1400">
              <a:solidFill>
                <a:srgbClr val="222222"/>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1000"/>
                                        <p:tgtEl>
                                          <p:spTgt spid="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Effect filter="fade" transition="in">
                                      <p:cBhvr>
                                        <p:cTn dur="1000"/>
                                        <p:tgtEl>
                                          <p:spTgt spid="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Effect filter="fade" transition="in">
                                      <p:cBhvr>
                                        <p:cTn dur="1000"/>
                                        <p:tgtEl>
                                          <p:spTgt spid="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Effect filter="fade" transition="in">
                                      <p:cBhvr>
                                        <p:cTn dur="1000"/>
                                        <p:tgtEl>
                                          <p:spTgt spid="1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animEffect filter="fade" transition="in">
                                      <p:cBhvr>
                                        <p:cTn dur="1000"/>
                                        <p:tgtEl>
                                          <p:spTgt spid="1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animEffect filter="fade" transition="in">
                                      <p:cBhvr>
                                        <p:cTn dur="1000"/>
                                        <p:tgtEl>
                                          <p:spTgt spid="1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animEffect filter="fade" transition="in">
                                      <p:cBhvr>
                                        <p:cTn dur="1000"/>
                                        <p:tgtEl>
                                          <p:spTgt spid="1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7" st="7"/>
                                            </p:txEl>
                                          </p:spTgt>
                                        </p:tgtEl>
                                        <p:attrNameLst>
                                          <p:attrName>style.visibility</p:attrName>
                                        </p:attrNameLst>
                                      </p:cBhvr>
                                      <p:to>
                                        <p:strVal val="visible"/>
                                      </p:to>
                                    </p:set>
                                    <p:animEffect filter="fade" transition="in">
                                      <p:cBhvr>
                                        <p:cTn dur="1000"/>
                                        <p:tgtEl>
                                          <p:spTgt spid="1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8" st="8"/>
                                            </p:txEl>
                                          </p:spTgt>
                                        </p:tgtEl>
                                        <p:attrNameLst>
                                          <p:attrName>style.visibility</p:attrName>
                                        </p:attrNameLst>
                                      </p:cBhvr>
                                      <p:to>
                                        <p:strVal val="visible"/>
                                      </p:to>
                                    </p:set>
                                    <p:animEffect filter="fade" transition="in">
                                      <p:cBhvr>
                                        <p:cTn dur="1000"/>
                                        <p:tgtEl>
                                          <p:spTgt spid="13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9" st="9"/>
                                            </p:txEl>
                                          </p:spTgt>
                                        </p:tgtEl>
                                        <p:attrNameLst>
                                          <p:attrName>style.visibility</p:attrName>
                                        </p:attrNameLst>
                                      </p:cBhvr>
                                      <p:to>
                                        <p:strVal val="visible"/>
                                      </p:to>
                                    </p:set>
                                    <p:animEffect filter="fade" transition="in">
                                      <p:cBhvr>
                                        <p:cTn dur="1000"/>
                                        <p:tgtEl>
                                          <p:spTgt spid="13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0" st="10"/>
                                            </p:txEl>
                                          </p:spTgt>
                                        </p:tgtEl>
                                        <p:attrNameLst>
                                          <p:attrName>style.visibility</p:attrName>
                                        </p:attrNameLst>
                                      </p:cBhvr>
                                      <p:to>
                                        <p:strVal val="visible"/>
                                      </p:to>
                                    </p:set>
                                    <p:animEffect filter="fade" transition="in">
                                      <p:cBhvr>
                                        <p:cTn dur="1000"/>
                                        <p:tgtEl>
                                          <p:spTgt spid="13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1" st="11"/>
                                            </p:txEl>
                                          </p:spTgt>
                                        </p:tgtEl>
                                        <p:attrNameLst>
                                          <p:attrName>style.visibility</p:attrName>
                                        </p:attrNameLst>
                                      </p:cBhvr>
                                      <p:to>
                                        <p:strVal val="visible"/>
                                      </p:to>
                                    </p:set>
                                    <p:animEffect filter="fade" transition="in">
                                      <p:cBhvr>
                                        <p:cTn dur="1000"/>
                                        <p:tgtEl>
                                          <p:spTgt spid="13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2" st="12"/>
                                            </p:txEl>
                                          </p:spTgt>
                                        </p:tgtEl>
                                        <p:attrNameLst>
                                          <p:attrName>style.visibility</p:attrName>
                                        </p:attrNameLst>
                                      </p:cBhvr>
                                      <p:to>
                                        <p:strVal val="visible"/>
                                      </p:to>
                                    </p:set>
                                    <p:animEffect filter="fade" transition="in">
                                      <p:cBhvr>
                                        <p:cTn dur="1000"/>
                                        <p:tgtEl>
                                          <p:spTgt spid="13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3" st="13"/>
                                            </p:txEl>
                                          </p:spTgt>
                                        </p:tgtEl>
                                        <p:attrNameLst>
                                          <p:attrName>style.visibility</p:attrName>
                                        </p:attrNameLst>
                                      </p:cBhvr>
                                      <p:to>
                                        <p:strVal val="visible"/>
                                      </p:to>
                                    </p:set>
                                    <p:animEffect filter="fade" transition="in">
                                      <p:cBhvr>
                                        <p:cTn dur="1000"/>
                                        <p:tgtEl>
                                          <p:spTgt spid="135">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25281bcd144_0_21"/>
          <p:cNvSpPr txBox="1"/>
          <p:nvPr>
            <p:ph idx="1" type="body"/>
          </p:nvPr>
        </p:nvSpPr>
        <p:spPr>
          <a:xfrm>
            <a:off x="722375" y="1435600"/>
            <a:ext cx="7470300" cy="2857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Applications of Time Speed and Distance</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Check out different models of questions asked on the concept of Time Speed and Distance. They are as under</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Average Speed</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Average Speed = Total Distance Travelled/Total Time Taken</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b="1" lang="en" sz="1400">
                <a:solidFill>
                  <a:srgbClr val="222222"/>
                </a:solidFill>
                <a:highlight>
                  <a:srgbClr val="FFFFFF"/>
                </a:highlight>
              </a:rPr>
              <a:t>Case 1:</a:t>
            </a:r>
            <a:r>
              <a:rPr lang="en" sz="1400">
                <a:solidFill>
                  <a:srgbClr val="222222"/>
                </a:solidFill>
                <a:highlight>
                  <a:srgbClr val="FFFFFF"/>
                </a:highlight>
              </a:rPr>
              <a:t> When Distance is Constant, Average Speed is given by = 2xy/x+y where x, y are two speeds at which the same distance is covered.</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b="1" lang="en" sz="1400">
                <a:solidFill>
                  <a:srgbClr val="222222"/>
                </a:solidFill>
                <a:highlight>
                  <a:srgbClr val="FFFFFF"/>
                </a:highlight>
              </a:rPr>
              <a:t>Case 2:</a:t>
            </a:r>
            <a:r>
              <a:rPr lang="en" sz="1400">
                <a:solidFill>
                  <a:srgbClr val="222222"/>
                </a:solidFill>
                <a:highlight>
                  <a:srgbClr val="FFFFFF"/>
                </a:highlight>
              </a:rPr>
              <a:t> When Time taken is Constant, Average Speed = (x+y)/2 where x, y are two speeds at which we traveled for the same time.</a:t>
            </a:r>
            <a:endParaRPr sz="1400">
              <a:solidFill>
                <a:srgbClr val="222222"/>
              </a:solidFill>
              <a:highlight>
                <a:srgbClr val="FFFFFF"/>
              </a:highlight>
            </a:endParaRPr>
          </a:p>
          <a:p>
            <a:pPr indent="0" lvl="0" marL="0" rtl="0" algn="just">
              <a:lnSpc>
                <a:spcPct val="150000"/>
              </a:lnSpc>
              <a:spcBef>
                <a:spcPts val="0"/>
              </a:spcBef>
              <a:spcAft>
                <a:spcPts val="0"/>
              </a:spcAft>
              <a:buSzPts val="1800"/>
              <a:buNone/>
            </a:pPr>
            <a:r>
              <a:t/>
            </a:r>
            <a:endParaRPr b="1" sz="1400">
              <a:solidFill>
                <a:srgbClr val="222222"/>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animEffect filter="fade" transition="in">
                                      <p:cBhvr>
                                        <p:cTn dur="1000"/>
                                        <p:tgtEl>
                                          <p:spTgt spid="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animEffect filter="fade" transition="in">
                                      <p:cBhvr>
                                        <p:cTn dur="1000"/>
                                        <p:tgtEl>
                                          <p:spTgt spid="1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animEffect filter="fade" transition="in">
                                      <p:cBhvr>
                                        <p:cTn dur="1000"/>
                                        <p:tgtEl>
                                          <p:spTgt spid="1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animEffect filter="fade" transition="in">
                                      <p:cBhvr>
                                        <p:cTn dur="1000"/>
                                        <p:tgtEl>
                                          <p:spTgt spid="1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animEffect filter="fade" transition="in">
                                      <p:cBhvr>
                                        <p:cTn dur="1000"/>
                                        <p:tgtEl>
                                          <p:spTgt spid="1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animEffect filter="fade" transition="in">
                                      <p:cBhvr>
                                        <p:cTn dur="1000"/>
                                        <p:tgtEl>
                                          <p:spTgt spid="1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animEffect filter="fade" transition="in">
                                      <p:cBhvr>
                                        <p:cTn dur="1000"/>
                                        <p:tgtEl>
                                          <p:spTgt spid="14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5281bcd144_0_31"/>
          <p:cNvSpPr txBox="1"/>
          <p:nvPr>
            <p:ph idx="1" type="body"/>
          </p:nvPr>
        </p:nvSpPr>
        <p:spPr>
          <a:xfrm>
            <a:off x="722375" y="1435600"/>
            <a:ext cx="7482600" cy="2796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500">
                <a:solidFill>
                  <a:srgbClr val="222222"/>
                </a:solidFill>
                <a:highlight>
                  <a:srgbClr val="FFFFFF"/>
                </a:highlight>
              </a:rPr>
              <a:t>Inverse Proportionality of Speed &amp; Time</a:t>
            </a:r>
            <a:endParaRPr b="1" sz="15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Speed is inversely proportional to time when the distance is constant. If Speeds are in the ratio of m:n then the time taken will be n:m They are two methods of solving questions.</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Using Inverse Proportionality</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Using Constant Product Rule</a:t>
            </a:r>
            <a:endParaRPr sz="1400">
              <a:solidFill>
                <a:srgbClr val="222222"/>
              </a:solidFill>
              <a:highlight>
                <a:srgbClr val="FFFFFF"/>
              </a:highlight>
            </a:endParaRPr>
          </a:p>
          <a:p>
            <a:pPr indent="0" lvl="0" marL="0" rtl="0" algn="l">
              <a:lnSpc>
                <a:spcPct val="150000"/>
              </a:lnSpc>
              <a:spcBef>
                <a:spcPts val="0"/>
              </a:spcBef>
              <a:spcAft>
                <a:spcPts val="0"/>
              </a:spcAft>
              <a:buSzPts val="1100"/>
              <a:buNone/>
            </a:pPr>
            <a:r>
              <a:rPr lang="en" sz="1400" u="sng">
                <a:solidFill>
                  <a:srgbClr val="222222"/>
                </a:solidFill>
                <a:highlight>
                  <a:srgbClr val="FFFFFF"/>
                </a:highlight>
              </a:rPr>
              <a:t>Example</a:t>
            </a:r>
            <a:endParaRPr sz="1400" u="sng">
              <a:solidFill>
                <a:srgbClr val="222222"/>
              </a:solidFill>
              <a:highlight>
                <a:srgbClr val="FFFFFF"/>
              </a:highlight>
            </a:endParaRPr>
          </a:p>
          <a:p>
            <a:pPr indent="0" lvl="0" marL="0" rtl="0" algn="l">
              <a:lnSpc>
                <a:spcPct val="150000"/>
              </a:lnSpc>
              <a:spcBef>
                <a:spcPts val="0"/>
              </a:spcBef>
              <a:spcAft>
                <a:spcPts val="0"/>
              </a:spcAft>
              <a:buSzPts val="1100"/>
              <a:buNone/>
            </a:pPr>
            <a:r>
              <a:rPr lang="en" sz="1400">
                <a:solidFill>
                  <a:srgbClr val="222222"/>
                </a:solidFill>
                <a:highlight>
                  <a:srgbClr val="FFFFFF"/>
                </a:highlight>
              </a:rPr>
              <a:t>After traveling 60km, a train is meeting with an accident and travels at (2/3)rd of the usual Speed and reaches 30 min late. Had the accident happened 15km further on it would have reached 20 min late. Find the usual Speed?</a:t>
            </a:r>
            <a:endParaRPr sz="1400">
              <a:solidFill>
                <a:srgbClr val="222222"/>
              </a:solidFill>
              <a:highlight>
                <a:srgbClr val="FFFFFF"/>
              </a:highlight>
            </a:endParaRPr>
          </a:p>
          <a:p>
            <a:pPr indent="0" lvl="0" marL="0" rtl="0" algn="l">
              <a:lnSpc>
                <a:spcPct val="150000"/>
              </a:lnSpc>
              <a:spcBef>
                <a:spcPts val="0"/>
              </a:spcBef>
              <a:spcAft>
                <a:spcPts val="0"/>
              </a:spcAft>
              <a:buSzPts val="1100"/>
              <a:buNone/>
            </a:pPr>
            <a:r>
              <a:rPr lang="en" sz="1400">
                <a:solidFill>
                  <a:srgbClr val="222222"/>
                </a:solidFill>
                <a:highlight>
                  <a:srgbClr val="FFFFFF"/>
                </a:highlight>
              </a:rPr>
              <a:t>Solution:</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t/>
            </a:r>
            <a:endParaRPr sz="1400">
              <a:solidFill>
                <a:srgbClr val="222222"/>
              </a:solidFill>
              <a:highlight>
                <a:srgbClr val="FFFFFF"/>
              </a:highlight>
            </a:endParaRPr>
          </a:p>
          <a:p>
            <a:pPr indent="0" lvl="0" marL="0" rtl="0" algn="just">
              <a:lnSpc>
                <a:spcPct val="150000"/>
              </a:lnSpc>
              <a:spcBef>
                <a:spcPts val="0"/>
              </a:spcBef>
              <a:spcAft>
                <a:spcPts val="0"/>
              </a:spcAft>
              <a:buSzPts val="1800"/>
              <a:buNone/>
            </a:pPr>
            <a:r>
              <a:t/>
            </a:r>
            <a:endParaRPr sz="1400">
              <a:solidFill>
                <a:srgbClr val="222222"/>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1000"/>
                                        <p:tgtEl>
                                          <p:spTgt spid="1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Effect filter="fade" transition="in">
                                      <p:cBhvr>
                                        <p:cTn dur="1000"/>
                                        <p:tgtEl>
                                          <p:spTgt spid="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animEffect filter="fade" transition="in">
                                      <p:cBhvr>
                                        <p:cTn dur="1000"/>
                                        <p:tgtEl>
                                          <p:spTgt spid="1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animEffect filter="fade" transition="in">
                                      <p:cBhvr>
                                        <p:cTn dur="1000"/>
                                        <p:tgtEl>
                                          <p:spTgt spid="1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animEffect filter="fade" transition="in">
                                      <p:cBhvr>
                                        <p:cTn dur="1000"/>
                                        <p:tgtEl>
                                          <p:spTgt spid="1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animEffect filter="fade" transition="in">
                                      <p:cBhvr>
                                        <p:cTn dur="1000"/>
                                        <p:tgtEl>
                                          <p:spTgt spid="1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animEffect filter="fade" transition="in">
                                      <p:cBhvr>
                                        <p:cTn dur="1000"/>
                                        <p:tgtEl>
                                          <p:spTgt spid="1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animEffect filter="fade" transition="in">
                                      <p:cBhvr>
                                        <p:cTn dur="1000"/>
                                        <p:tgtEl>
                                          <p:spTgt spid="1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animEffect filter="fade" transition="in">
                                      <p:cBhvr>
                                        <p:cTn dur="1000"/>
                                        <p:tgtEl>
                                          <p:spTgt spid="14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5281bcd144_0_39"/>
          <p:cNvSpPr txBox="1"/>
          <p:nvPr>
            <p:ph idx="1" type="body"/>
          </p:nvPr>
        </p:nvSpPr>
        <p:spPr>
          <a:xfrm>
            <a:off x="951556" y="792312"/>
            <a:ext cx="8646600" cy="3051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400">
                <a:solidFill>
                  <a:srgbClr val="222222"/>
                </a:solidFill>
                <a:highlight>
                  <a:srgbClr val="FFFFFF"/>
                </a:highlight>
              </a:rPr>
              <a:t>Using Inverse Proportionality</a:t>
            </a:r>
            <a:endParaRPr b="1"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Here there are 2 cases</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Case 1: accident happens at 60 km</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Case 2: accident happens at 75 km</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The difference between the two cases is only for the 15 km between 60 and 75. The time difference of 10 minutes is only due to  these 15 km.</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In case 1, 15 km between 60 and 75 is covered at (2/3)rd Speed.</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In case 2, 15 km between 60 and 75 is covered at the usual Speed.</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So the usual Time “t” taken to cover 15 km, can be found out as below. 3/2 t – t = 10 mins = &gt; t = 20 mins, d = 15 km</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so Usual Speed = 15km/20min = 15km/0.33hr= 45Km/hr</a:t>
            </a:r>
            <a:endParaRPr sz="1400">
              <a:solidFill>
                <a:srgbClr val="222222"/>
              </a:solidFill>
              <a:highlight>
                <a:srgbClr val="FFFFFF"/>
              </a:highlight>
            </a:endParaRPr>
          </a:p>
          <a:p>
            <a:pPr indent="0" lvl="0" marL="0" rtl="0" algn="just">
              <a:lnSpc>
                <a:spcPct val="150000"/>
              </a:lnSpc>
              <a:spcBef>
                <a:spcPts val="0"/>
              </a:spcBef>
              <a:spcAft>
                <a:spcPts val="0"/>
              </a:spcAft>
              <a:buSzPts val="1800"/>
              <a:buNone/>
            </a:pPr>
            <a:r>
              <a:t/>
            </a:r>
            <a:endParaRPr sz="1400">
              <a:solidFill>
                <a:srgbClr val="222222"/>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10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10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10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1000"/>
                                        <p:tgtEl>
                                          <p:spTgt spid="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1000"/>
                                        <p:tgtEl>
                                          <p:spTgt spid="1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animEffect filter="fade" transition="in">
                                      <p:cBhvr>
                                        <p:cTn dur="1000"/>
                                        <p:tgtEl>
                                          <p:spTgt spid="15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7" st="7"/>
                                            </p:txEl>
                                          </p:spTgt>
                                        </p:tgtEl>
                                        <p:attrNameLst>
                                          <p:attrName>style.visibility</p:attrName>
                                        </p:attrNameLst>
                                      </p:cBhvr>
                                      <p:to>
                                        <p:strVal val="visible"/>
                                      </p:to>
                                    </p:set>
                                    <p:animEffect filter="fade" transition="in">
                                      <p:cBhvr>
                                        <p:cTn dur="1000"/>
                                        <p:tgtEl>
                                          <p:spTgt spid="15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8" st="8"/>
                                            </p:txEl>
                                          </p:spTgt>
                                        </p:tgtEl>
                                        <p:attrNameLst>
                                          <p:attrName>style.visibility</p:attrName>
                                        </p:attrNameLst>
                                      </p:cBhvr>
                                      <p:to>
                                        <p:strVal val="visible"/>
                                      </p:to>
                                    </p:set>
                                    <p:animEffect filter="fade" transition="in">
                                      <p:cBhvr>
                                        <p:cTn dur="1000"/>
                                        <p:tgtEl>
                                          <p:spTgt spid="15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9" st="9"/>
                                            </p:txEl>
                                          </p:spTgt>
                                        </p:tgtEl>
                                        <p:attrNameLst>
                                          <p:attrName>style.visibility</p:attrName>
                                        </p:attrNameLst>
                                      </p:cBhvr>
                                      <p:to>
                                        <p:strVal val="visible"/>
                                      </p:to>
                                    </p:set>
                                    <p:animEffect filter="fade" transition="in">
                                      <p:cBhvr>
                                        <p:cTn dur="1000"/>
                                        <p:tgtEl>
                                          <p:spTgt spid="15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25281bcd144_0_51"/>
          <p:cNvSpPr txBox="1"/>
          <p:nvPr>
            <p:ph idx="1" type="body"/>
          </p:nvPr>
        </p:nvSpPr>
        <p:spPr>
          <a:xfrm>
            <a:off x="722375" y="1435600"/>
            <a:ext cx="7470300" cy="2857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400">
                <a:solidFill>
                  <a:srgbClr val="222222"/>
                </a:solidFill>
                <a:highlight>
                  <a:srgbClr val="FFFFFF"/>
                </a:highlight>
              </a:rPr>
              <a:t>Using Constant Product Rule Method</a:t>
            </a:r>
            <a:endParaRPr b="1"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Let the actual Time taken be T</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There is a (1/3)rd decrease in Speed, this will result in a (1/2)nd increase in Time taken as Speed and Time are inversely proportional</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The delay due to this decrease is 10 minutes</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Thus 1/2 T= 10 and T=20 minutes</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Also, Distance = 15 km</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 sz="1400">
                <a:solidFill>
                  <a:srgbClr val="222222"/>
                </a:solidFill>
                <a:highlight>
                  <a:srgbClr val="FFFFFF"/>
                </a:highlight>
              </a:rPr>
              <a:t>Thus Speed = 15/20 minutes = 15km/0.33hr = 45km/hr</a:t>
            </a:r>
            <a:endParaRPr sz="1400">
              <a:solidFill>
                <a:srgbClr val="222222"/>
              </a:solidFill>
              <a:highlight>
                <a:srgbClr val="FFFFFF"/>
              </a:highlight>
            </a:endParaRPr>
          </a:p>
          <a:p>
            <a:pPr indent="0" lvl="0" marL="0" rtl="0" algn="just">
              <a:lnSpc>
                <a:spcPct val="150000"/>
              </a:lnSpc>
              <a:spcBef>
                <a:spcPts val="0"/>
              </a:spcBef>
              <a:spcAft>
                <a:spcPts val="0"/>
              </a:spcAft>
              <a:buSzPts val="1800"/>
              <a:buNone/>
            </a:pPr>
            <a:r>
              <a:t/>
            </a:r>
            <a:endParaRPr sz="1400">
              <a:solidFill>
                <a:srgbClr val="222222"/>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10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1000"/>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1000"/>
                                        <p:tgtEl>
                                          <p:spTgt spid="1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1000"/>
                                        <p:tgtEl>
                                          <p:spTgt spid="1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1000"/>
                                        <p:tgtEl>
                                          <p:spTgt spid="1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1000"/>
                                        <p:tgtEl>
                                          <p:spTgt spid="1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Effect filter="fade" transition="in">
                                      <p:cBhvr>
                                        <p:cTn dur="1000"/>
                                        <p:tgtEl>
                                          <p:spTgt spid="1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animEffect filter="fade" transition="in">
                                      <p:cBhvr>
                                        <p:cTn dur="1000"/>
                                        <p:tgtEl>
                                          <p:spTgt spid="15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5281bcd144_0_59"/>
          <p:cNvSpPr txBox="1"/>
          <p:nvPr>
            <p:ph idx="1" type="body"/>
          </p:nvPr>
        </p:nvSpPr>
        <p:spPr>
          <a:xfrm>
            <a:off x="722375" y="1435600"/>
            <a:ext cx="7394100" cy="2857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500">
                <a:solidFill>
                  <a:srgbClr val="222222"/>
                </a:solidFill>
                <a:highlight>
                  <a:srgbClr val="FFFFFF"/>
                </a:highlight>
              </a:rPr>
              <a:t>Meeting Point</a:t>
            </a:r>
            <a:endParaRPr b="1" sz="15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If two people travel from points A and B towards each other they meet at point P. Distance covered by them on the meeting is AB. Time taken by both to meet is the same. Since Time is constant Distance AP and BP will be in the ratio of their Speeds.</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Consider the distance between A and B is d.</a:t>
            </a:r>
            <a:endParaRPr sz="1400">
              <a:solidFill>
                <a:srgbClr val="222222"/>
              </a:solidFill>
              <a:highlight>
                <a:srgbClr val="FFFFFF"/>
              </a:highlight>
            </a:endParaRPr>
          </a:p>
          <a:p>
            <a:pPr indent="-317500" lvl="0" marL="457200" rtl="0" algn="l">
              <a:lnSpc>
                <a:spcPct val="150000"/>
              </a:lnSpc>
              <a:spcBef>
                <a:spcPts val="0"/>
              </a:spcBef>
              <a:spcAft>
                <a:spcPts val="0"/>
              </a:spcAft>
              <a:buClr>
                <a:srgbClr val="222222"/>
              </a:buClr>
              <a:buSzPts val="1400"/>
              <a:buChar char="●"/>
            </a:pPr>
            <a:r>
              <a:rPr lang="en" sz="1400">
                <a:solidFill>
                  <a:srgbClr val="222222"/>
                </a:solidFill>
                <a:highlight>
                  <a:srgbClr val="FFFFFF"/>
                </a:highlight>
              </a:rPr>
              <a:t>If two people walking towards each other from A and B. when they meet for the first time they cover a distance of “d ” and when they meet for the second time they cover a distance of “3d” and when they meet for the third time they cover a distance of “5d” …..</a:t>
            </a:r>
            <a:endParaRPr sz="1400">
              <a:solidFill>
                <a:srgbClr val="222222"/>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t/>
            </a:r>
            <a:endParaRPr sz="1400">
              <a:solidFill>
                <a:schemeClr val="dk1"/>
              </a:solidFill>
            </a:endParaRPr>
          </a:p>
          <a:p>
            <a:pPr indent="0" lvl="0" marL="0" rtl="0" algn="just">
              <a:lnSpc>
                <a:spcPct val="150000"/>
              </a:lnSpc>
              <a:spcBef>
                <a:spcPts val="0"/>
              </a:spcBef>
              <a:spcAft>
                <a:spcPts val="0"/>
              </a:spcAft>
              <a:buSzPts val="1800"/>
              <a:buNone/>
            </a:pPr>
            <a:r>
              <a:t/>
            </a:r>
            <a:endParaRPr sz="1400">
              <a:solidFill>
                <a:srgbClr val="222222"/>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animEffect filter="fade" transition="in">
                                      <p:cBhvr>
                                        <p:cTn dur="1000"/>
                                        <p:tgtEl>
                                          <p:spTgt spid="1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animEffect filter="fade" transition="in">
                                      <p:cBhvr>
                                        <p:cTn dur="1000"/>
                                        <p:tgtEl>
                                          <p:spTgt spid="1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animEffect filter="fade" transition="in">
                                      <p:cBhvr>
                                        <p:cTn dur="1000"/>
                                        <p:tgtEl>
                                          <p:spTgt spid="1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animEffect filter="fade" transition="in">
                                      <p:cBhvr>
                                        <p:cTn dur="1000"/>
                                        <p:tgtEl>
                                          <p:spTgt spid="1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animEffect filter="fade" transition="in">
                                      <p:cBhvr>
                                        <p:cTn dur="1000"/>
                                        <p:tgtEl>
                                          <p:spTgt spid="1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animEffect filter="fade" transition="in">
                                      <p:cBhvr>
                                        <p:cTn dur="1000"/>
                                        <p:tgtEl>
                                          <p:spTgt spid="16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6"/>
          <p:cNvSpPr txBox="1"/>
          <p:nvPr/>
        </p:nvSpPr>
        <p:spPr>
          <a:xfrm>
            <a:off x="722375" y="1435601"/>
            <a:ext cx="80928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A dog takes 4 leaps for every 5 leaps of a hare but 3 leaps of a dog are equal to 4 leaps of the hare. Compare their speed?</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12 : 16</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16 : 15</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16 : 18</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14 : 16</a:t>
            </a:r>
            <a:endParaRPr b="0" i="0" sz="1600" u="none" cap="none" strike="noStrike">
              <a:solidFill>
                <a:schemeClr val="dk1"/>
              </a:solidFill>
              <a:latin typeface="Roboto"/>
              <a:ea typeface="Roboto"/>
              <a:cs typeface="Roboto"/>
              <a:sym typeface="Roboto"/>
            </a:endParaRPr>
          </a:p>
          <a:p>
            <a:pPr indent="0" lvl="0" marL="457200" marR="0" rtl="0" algn="l">
              <a:lnSpc>
                <a:spcPct val="150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66" name="Google Shape;166;p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167" name="Google Shape;167;p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Effect filter="fade" transition="in">
                                      <p:cBhvr>
                                        <p:cTn dur="1000"/>
                                        <p:tgtEl>
                                          <p:spTgt spid="1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Effect filter="fade" transition="in">
                                      <p:cBhvr>
                                        <p:cTn dur="1000"/>
                                        <p:tgtEl>
                                          <p:spTgt spid="1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Effect filter="fade" transition="in">
                                      <p:cBhvr>
                                        <p:cTn dur="1000"/>
                                        <p:tgtEl>
                                          <p:spTgt spid="1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animEffect filter="fade" transition="in">
                                      <p:cBhvr>
                                        <p:cTn dur="1000"/>
                                        <p:tgtEl>
                                          <p:spTgt spid="1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animEffect filter="fade" transition="in">
                                      <p:cBhvr>
                                        <p:cTn dur="1000"/>
                                        <p:tgtEl>
                                          <p:spTgt spid="1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animEffect filter="fade" transition="in">
                                      <p:cBhvr>
                                        <p:cTn dur="1000"/>
                                        <p:tgtEl>
                                          <p:spTgt spid="1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7"/>
          <p:cNvSpPr txBox="1"/>
          <p:nvPr/>
        </p:nvSpPr>
        <p:spPr>
          <a:xfrm>
            <a:off x="722375" y="1435598"/>
            <a:ext cx="8172600" cy="253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the distance covered in 1 leap of the dog be x and that covered in 1 leap of the hare by y</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Then 3x = 4y which implies x= 4y/3</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Ratio of speeds of dog and hare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Ratio of distances covered by them in the same time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4x:5y = 16y/3 :5y = 16/3 : 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Hence the ratio becomes 16 : 15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73" name="Google Shape;173;p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txBox="1"/>
          <p:nvPr/>
        </p:nvSpPr>
        <p:spPr>
          <a:xfrm>
            <a:off x="722375" y="1435601"/>
            <a:ext cx="8092800" cy="3663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A trip to a destination is made in the following way 900 km by train at an average speed of 60 km/hr, 3000 km by </a:t>
            </a:r>
            <a:r>
              <a:rPr lang="en" sz="1600">
                <a:solidFill>
                  <a:schemeClr val="dk1"/>
                </a:solidFill>
                <a:highlight>
                  <a:schemeClr val="lt1"/>
                </a:highlight>
                <a:latin typeface="Roboto"/>
                <a:ea typeface="Roboto"/>
                <a:cs typeface="Roboto"/>
                <a:sym typeface="Roboto"/>
              </a:rPr>
              <a:t>plane</a:t>
            </a:r>
            <a:r>
              <a:rPr b="0" i="0" lang="en" sz="1600" u="none" cap="none" strike="noStrike">
                <a:solidFill>
                  <a:schemeClr val="dk1"/>
                </a:solidFill>
                <a:highlight>
                  <a:schemeClr val="lt1"/>
                </a:highlight>
                <a:latin typeface="Roboto"/>
                <a:ea typeface="Roboto"/>
                <a:cs typeface="Roboto"/>
                <a:sym typeface="Roboto"/>
              </a:rPr>
              <a:t> at an average speed of 500 km/hr, 400 km by boat at an average speed of 25 km/hr, 15 km by taxi at an average speed of 45 km/hr. What is the average speed for the entire journey?</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100 (32/67) km/hr</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60 (34/89) km/hr</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115 (65/112) km/hr</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116 (72/98) km/hr </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2400"/>
              <a:buFont typeface="Arial"/>
              <a:buNone/>
            </a:pPr>
            <a:r>
              <a:t/>
            </a:r>
            <a:endParaRPr b="0" i="0" sz="1600" u="none" cap="none" strike="noStrike">
              <a:solidFill>
                <a:schemeClr val="dk1"/>
              </a:solidFill>
              <a:latin typeface="Roboto"/>
              <a:ea typeface="Roboto"/>
              <a:cs typeface="Roboto"/>
              <a:sym typeface="Roboto"/>
            </a:endParaRPr>
          </a:p>
        </p:txBody>
      </p:sp>
      <p:sp>
        <p:nvSpPr>
          <p:cNvPr id="179" name="Google Shape;179;p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180" name="Google Shape;180;p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1000"/>
                                        <p:tgtEl>
                                          <p:spTgt spid="1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animEffect filter="fade" transition="in">
                                      <p:cBhvr>
                                        <p:cTn dur="1000"/>
                                        <p:tgtEl>
                                          <p:spTgt spid="1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animEffect filter="fade" transition="in">
                                      <p:cBhvr>
                                        <p:cTn dur="1000"/>
                                        <p:tgtEl>
                                          <p:spTgt spid="1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animEffect filter="fade" transition="in">
                                      <p:cBhvr>
                                        <p:cTn dur="1000"/>
                                        <p:tgtEl>
                                          <p:spTgt spid="1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animEffect filter="fade" transition="in">
                                      <p:cBhvr>
                                        <p:cTn dur="1000"/>
                                        <p:tgtEl>
                                          <p:spTgt spid="1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animEffect filter="fade" transition="in">
                                      <p:cBhvr>
                                        <p:cTn dur="1000"/>
                                        <p:tgtEl>
                                          <p:spTgt spid="1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animEffect filter="fade" transition="in">
                                      <p:cBhvr>
                                        <p:cTn dur="1000"/>
                                        <p:tgtEl>
                                          <p:spTgt spid="1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p9"/>
          <p:cNvSpPr txBox="1"/>
          <p:nvPr/>
        </p:nvSpPr>
        <p:spPr>
          <a:xfrm>
            <a:off x="722378" y="1568931"/>
            <a:ext cx="8472300" cy="189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Total distance travelled = 900+3000+400+15 = 4315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Total time taken = (900/60 + 3000/500 + 400/25 + 15/45) hr = (15 + 6+ 16+ 1/ 3 ) 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 = 37 (1 /3)hr = 112/3 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Average speed for the whole journey = (4315 *3 /112) km/hr = 115( 65/112)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86" name="Google Shape;186;p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1e9dd8e0edc_0_0"/>
          <p:cNvSpPr txBox="1"/>
          <p:nvPr/>
        </p:nvSpPr>
        <p:spPr>
          <a:xfrm>
            <a:off x="722375" y="1435601"/>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One third of a certain journey was covered at the speed of 20 km/hr, one fourth at 30 km/hr and the rest at the speed of 50 km/hr. Find the average speed per hour for the whole journey.</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 km/hr</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20 km/hr</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30 km/hr</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40 km/hr</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92" name="Google Shape;192;g1e9dd8e0edc_0_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193" name="Google Shape;193;g1e9dd8e0edc_0_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10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Effect filter="fade" transition="in">
                                      <p:cBhvr>
                                        <p:cTn dur="1000"/>
                                        <p:tgtEl>
                                          <p:spTgt spid="1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animEffect filter="fade" transition="in">
                                      <p:cBhvr>
                                        <p:cTn dur="1000"/>
                                        <p:tgtEl>
                                          <p:spTgt spid="1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animEffect filter="fade" transition="in">
                                      <p:cBhvr>
                                        <p:cTn dur="1000"/>
                                        <p:tgtEl>
                                          <p:spTgt spid="1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g1e9dd8e0edc_0_8"/>
          <p:cNvSpPr txBox="1"/>
          <p:nvPr/>
        </p:nvSpPr>
        <p:spPr>
          <a:xfrm>
            <a:off x="722375" y="1435600"/>
            <a:ext cx="76443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the total distance be x km then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Distance covered at 20 km/hr = x/3 km; distance covered at 30 km/hr = x/4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Distance covered at 50 km/hr = [x - (x/3+x/4)] km = 5x/12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Total time taken = [ (x/3) /20 + (x/4)/30 + (5x+12)/50 ] hrs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 (x/60 + x/120 + x/120) hrs = 4x/120 hrs = x/30 hrs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Average speed for the whole journey = (x* 30/x) km/hr = 30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99" name="Google Shape;199;g1e9dd8e0edc_0_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nvSpPr>
        <p:spPr>
          <a:xfrm>
            <a:off x="722375" y="1435601"/>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A man travelled from the village to the post office at the ate of 25 km/hr and walked back at the rate of 4 km/hr. If the whole journey took 5 hrs 48 mins, find the distance of the post office from the village?</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5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10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15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20 km/hr</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05" name="Google Shape;205;p1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Answer:D  </a:t>
            </a:r>
            <a:endParaRPr b="1" i="0" sz="1400" u="none" cap="none" strike="noStrike">
              <a:solidFill>
                <a:srgbClr val="000000"/>
              </a:solidFill>
              <a:latin typeface="Roboto"/>
              <a:ea typeface="Roboto"/>
              <a:cs typeface="Roboto"/>
              <a:sym typeface="Roboto"/>
            </a:endParaRPr>
          </a:p>
        </p:txBody>
      </p:sp>
      <p:sp>
        <p:nvSpPr>
          <p:cNvPr id="206" name="Google Shape;206;p1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Effect filter="fade" transition="in">
                                      <p:cBhvr>
                                        <p:cTn dur="1000"/>
                                        <p:tgtEl>
                                          <p:spTgt spid="2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Effect filter="fade" transition="in">
                                      <p:cBhvr>
                                        <p:cTn dur="1000"/>
                                        <p:tgtEl>
                                          <p:spTgt spid="2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Effect filter="fade" transition="in">
                                      <p:cBhvr>
                                        <p:cTn dur="1000"/>
                                        <p:tgtEl>
                                          <p:spTgt spid="2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Effect filter="fade" transition="in">
                                      <p:cBhvr>
                                        <p:cTn dur="1000"/>
                                        <p:tgtEl>
                                          <p:spTgt spid="2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5" st="5"/>
                                            </p:txEl>
                                          </p:spTgt>
                                        </p:tgtEl>
                                        <p:attrNameLst>
                                          <p:attrName>style.visibility</p:attrName>
                                        </p:attrNameLst>
                                      </p:cBhvr>
                                      <p:to>
                                        <p:strVal val="visible"/>
                                      </p:to>
                                    </p:set>
                                    <p:animEffect filter="fade" transition="in">
                                      <p:cBhvr>
                                        <p:cTn dur="1000"/>
                                        <p:tgtEl>
                                          <p:spTgt spid="2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0" name="Shape 210"/>
        <p:cNvGrpSpPr/>
        <p:nvPr/>
      </p:nvGrpSpPr>
      <p:grpSpPr>
        <a:xfrm>
          <a:off x="0" y="0"/>
          <a:ext cx="0" cy="0"/>
          <a:chOff x="0" y="0"/>
          <a:chExt cx="0" cy="0"/>
        </a:xfrm>
      </p:grpSpPr>
      <p:sp>
        <p:nvSpPr>
          <p:cNvPr id="211" name="Google Shape;211;p11"/>
          <p:cNvSpPr txBox="1"/>
          <p:nvPr/>
        </p:nvSpPr>
        <p:spPr>
          <a:xfrm>
            <a:off x="722375" y="1833325"/>
            <a:ext cx="74604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Average speed = (2xy / x+y) km/hr = (2*25*4 / 25+4) km/hr = 200/29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Distance travelled in 5 hrs 48 mins, i.e 5 ⅘ = (200/29 * 29/5) km = 40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Distance of the post-office from th village = (40/2) = 20 km</a:t>
            </a:r>
            <a:endParaRPr b="0" i="0" sz="1400" u="none" cap="none" strike="noStrike">
              <a:solidFill>
                <a:schemeClr val="dk1"/>
              </a:solidFill>
              <a:latin typeface="Roboto"/>
              <a:ea typeface="Roboto"/>
              <a:cs typeface="Roboto"/>
              <a:sym typeface="Roboto"/>
            </a:endParaRPr>
          </a:p>
        </p:txBody>
      </p:sp>
      <p:sp>
        <p:nvSpPr>
          <p:cNvPr id="212" name="Google Shape;212;p1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nvSpPr>
        <p:spPr>
          <a:xfrm>
            <a:off x="722375" y="1435601"/>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A person reaches his destination 40 mins late if his speed is 3 km/hr, and reaches 30 mins before time if his speed is 4 km/hr. Find the distance of his destination from his starting point?</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14 km</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15 km</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16 km </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17 km</a:t>
            </a:r>
            <a:endParaRPr b="0" i="0" sz="1600" u="none" cap="none" strike="noStrike">
              <a:solidFill>
                <a:schemeClr val="dk1"/>
              </a:solidFill>
              <a:latin typeface="Roboto"/>
              <a:ea typeface="Roboto"/>
              <a:cs typeface="Roboto"/>
              <a:sym typeface="Roboto"/>
            </a:endParaRPr>
          </a:p>
          <a:p>
            <a:pPr indent="0" lvl="0" marL="45720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18" name="Google Shape;218;p1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Answer:A  </a:t>
            </a:r>
            <a:endParaRPr b="1" i="0" sz="1400" u="none" cap="none" strike="noStrike">
              <a:solidFill>
                <a:srgbClr val="000000"/>
              </a:solidFill>
              <a:latin typeface="Roboto"/>
              <a:ea typeface="Roboto"/>
              <a:cs typeface="Roboto"/>
              <a:sym typeface="Roboto"/>
            </a:endParaRPr>
          </a:p>
        </p:txBody>
      </p:sp>
      <p:sp>
        <p:nvSpPr>
          <p:cNvPr id="219" name="Google Shape;219;p1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10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10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10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Effect filter="fade" transition="in">
                                      <p:cBhvr>
                                        <p:cTn dur="1000"/>
                                        <p:tgtEl>
                                          <p:spTgt spid="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Effect filter="fade" transition="in">
                                      <p:cBhvr>
                                        <p:cTn dur="1000"/>
                                        <p:tgtEl>
                                          <p:spTgt spid="2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animEffect filter="fade" transition="in">
                                      <p:cBhvr>
                                        <p:cTn dur="1000"/>
                                        <p:tgtEl>
                                          <p:spTgt spid="2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13"/>
          <p:cNvSpPr txBox="1"/>
          <p:nvPr/>
        </p:nvSpPr>
        <p:spPr>
          <a:xfrm>
            <a:off x="896251" y="1572075"/>
            <a:ext cx="70416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the required distance be x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Difference in the times taken at two speeds = 70 min = 7/6 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x/3 - x/4 = 7/6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4x -3x= 14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x= 14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Hence therequired distance is 14km</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25" name="Google Shape;225;p1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4"/>
          <p:cNvSpPr txBox="1"/>
          <p:nvPr/>
        </p:nvSpPr>
        <p:spPr>
          <a:xfrm>
            <a:off x="722375" y="1435601"/>
            <a:ext cx="8092800" cy="3601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A carriage driving in a fog passed a man who was walking at the rate of 3 km/hr in the same direction. He could see the carriage for 4 mins and it was visible to him uto a distance of 100m. What was the speed of the carriage?</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 8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9 /2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6/ 8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9/13 km/hr</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231" name="Google Shape;231;p1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232" name="Google Shape;232;p14"/>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10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10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10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1000"/>
                                        <p:tgtEl>
                                          <p:spTgt spid="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Effect filter="fade" transition="in">
                                      <p:cBhvr>
                                        <p:cTn dur="1000"/>
                                        <p:tgtEl>
                                          <p:spTgt spid="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animEffect filter="fade" transition="in">
                                      <p:cBhvr>
                                        <p:cTn dur="1000"/>
                                        <p:tgtEl>
                                          <p:spTgt spid="2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6" st="6"/>
                                            </p:txEl>
                                          </p:spTgt>
                                        </p:tgtEl>
                                        <p:attrNameLst>
                                          <p:attrName>style.visibility</p:attrName>
                                        </p:attrNameLst>
                                      </p:cBhvr>
                                      <p:to>
                                        <p:strVal val="visible"/>
                                      </p:to>
                                    </p:set>
                                    <p:animEffect filter="fade" transition="in">
                                      <p:cBhvr>
                                        <p:cTn dur="1000"/>
                                        <p:tgtEl>
                                          <p:spTgt spid="2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 name="Shape 236"/>
        <p:cNvGrpSpPr/>
        <p:nvPr/>
      </p:nvGrpSpPr>
      <p:grpSpPr>
        <a:xfrm>
          <a:off x="0" y="0"/>
          <a:ext cx="0" cy="0"/>
          <a:chOff x="0" y="0"/>
          <a:chExt cx="0" cy="0"/>
        </a:xfrm>
      </p:grpSpPr>
      <p:sp>
        <p:nvSpPr>
          <p:cNvPr id="237" name="Google Shape;237;p15"/>
          <p:cNvSpPr txBox="1"/>
          <p:nvPr/>
        </p:nvSpPr>
        <p:spPr>
          <a:xfrm>
            <a:off x="722378" y="1435606"/>
            <a:ext cx="8472300" cy="148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the speed of the carriage be x km/hr. Then relative speed = (x- 3)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Distance covered in 4 min, i.e 1/15 hr at relative speed = 100m = 1/10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(x-3) = 1/10 * 15 = 3/ 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x= 3 + 3/2 = 9/2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Hence the speed of the carriage = 9/2 km/hr</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38" name="Google Shape;238;p1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6"/>
          <p:cNvSpPr txBox="1"/>
          <p:nvPr/>
        </p:nvSpPr>
        <p:spPr>
          <a:xfrm>
            <a:off x="722375" y="1435600"/>
            <a:ext cx="7644300" cy="2924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Two boys A and B start at the same time to ride from Delhi to Meerut, 60 km away. A travels 4 km an hour slower than B.B reaches Meerut and at once turns back meeting A 12 km from Meerut. Find A,s speed?</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5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8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9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10 km/hr</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244" name="Google Shape;244;p1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245" name="Google Shape;245;p1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10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1000"/>
                                        <p:tgtEl>
                                          <p:spTgt spid="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Effect filter="fade" transition="in">
                                      <p:cBhvr>
                                        <p:cTn dur="1000"/>
                                        <p:tgtEl>
                                          <p:spTgt spid="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Effect filter="fade" transition="in">
                                      <p:cBhvr>
                                        <p:cTn dur="1000"/>
                                        <p:tgtEl>
                                          <p:spTgt spid="2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animEffect filter="fade" transition="in">
                                      <p:cBhvr>
                                        <p:cTn dur="1000"/>
                                        <p:tgtEl>
                                          <p:spTgt spid="2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5" st="5"/>
                                            </p:txEl>
                                          </p:spTgt>
                                        </p:tgtEl>
                                        <p:attrNameLst>
                                          <p:attrName>style.visibility</p:attrName>
                                        </p:attrNameLst>
                                      </p:cBhvr>
                                      <p:to>
                                        <p:strVal val="visible"/>
                                      </p:to>
                                    </p:set>
                                    <p:animEffect filter="fade" transition="in">
                                      <p:cBhvr>
                                        <p:cTn dur="1000"/>
                                        <p:tgtEl>
                                          <p:spTgt spid="2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p17"/>
          <p:cNvSpPr txBox="1"/>
          <p:nvPr/>
        </p:nvSpPr>
        <p:spPr>
          <a:xfrm>
            <a:off x="722375" y="1435600"/>
            <a:ext cx="69231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A’s speed = x km/hr, then B’s speed = x+4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Clearly time taken by B to cover (60 +12) = 72 km= time taken by A to cover (60 -12) i.e 48 km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72/x+4 = 48/x</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72x = 48x + 192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24x = 192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x= 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Hence A’s speed = 8 km/hr</a:t>
            </a:r>
            <a:endParaRPr b="0" i="0" sz="1400" u="none" cap="none" strike="noStrike">
              <a:solidFill>
                <a:schemeClr val="dk1"/>
              </a:solidFill>
              <a:latin typeface="Roboto"/>
              <a:ea typeface="Roboto"/>
              <a:cs typeface="Roboto"/>
              <a:sym typeface="Roboto"/>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1" name="Google Shape;251;p1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8"/>
          <p:cNvSpPr txBox="1"/>
          <p:nvPr/>
        </p:nvSpPr>
        <p:spPr>
          <a:xfrm>
            <a:off x="722375" y="1435600"/>
            <a:ext cx="76443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A thief is spotted by a policeman from a distance of 100m. When the policeman starts the chase, the thief also starts running. If the speed of the thief be 8 km/hr and that of the policeman 10 km/hr how far the theif will have run before he is overtaken?</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200 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300 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400 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500 m</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50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57" name="Google Shape;257;p1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258" name="Google Shape;258;p1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10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10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10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10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sp>
        <p:nvSpPr>
          <p:cNvPr id="263" name="Google Shape;263;p19"/>
          <p:cNvSpPr txBox="1"/>
          <p:nvPr/>
        </p:nvSpPr>
        <p:spPr>
          <a:xfrm>
            <a:off x="722375" y="1435600"/>
            <a:ext cx="6319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Relative speed of the policeman = (10 -8) = 2 km/hr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Time taken by policeman to cover 100m = (100/ 1000 *2) = 1/20 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In 1/20 hr the theif covers a distance of (8/20) km = 2/ 5 km = 400 m  </a:t>
            </a:r>
            <a:endParaRPr b="0" i="0" sz="1400" u="none" cap="none" strike="noStrike">
              <a:solidFill>
                <a:schemeClr val="dk1"/>
              </a:solidFill>
              <a:latin typeface="Roboto"/>
              <a:ea typeface="Roboto"/>
              <a:cs typeface="Roboto"/>
              <a:sym typeface="Roboto"/>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64" name="Google Shape;264;p1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2"/>
          <p:cNvSpPr txBox="1"/>
          <p:nvPr/>
        </p:nvSpPr>
        <p:spPr>
          <a:xfrm>
            <a:off x="722375" y="1435601"/>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A man takes 6 hrs 30 min in going by a cycle and coming back by scooter. He would have lost 2 hours 10 min by going on cycle both ways. How long would it take him to go by scooter both ways?</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 hr 20 min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4 hr 20 min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5 hr 25 min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6 hr 50 min</a:t>
            </a:r>
            <a:endParaRPr b="0" i="0" sz="1600" u="none" cap="none" strike="noStrike">
              <a:solidFill>
                <a:schemeClr val="dk1"/>
              </a:solidFill>
              <a:latin typeface="Roboto"/>
              <a:ea typeface="Roboto"/>
              <a:cs typeface="Roboto"/>
              <a:sym typeface="Roboto"/>
            </a:endParaRPr>
          </a:p>
          <a:p>
            <a:pPr indent="0" lvl="0" marL="45720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70" name="Google Shape;270;p2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271" name="Google Shape;271;p2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1000"/>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1000"/>
                                        <p:tgtEl>
                                          <p:spTgt spid="2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Effect filter="fade" transition="in">
                                      <p:cBhvr>
                                        <p:cTn dur="1000"/>
                                        <p:tgtEl>
                                          <p:spTgt spid="2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3" st="3"/>
                                            </p:txEl>
                                          </p:spTgt>
                                        </p:tgtEl>
                                        <p:attrNameLst>
                                          <p:attrName>style.visibility</p:attrName>
                                        </p:attrNameLst>
                                      </p:cBhvr>
                                      <p:to>
                                        <p:strVal val="visible"/>
                                      </p:to>
                                    </p:set>
                                    <p:animEffect filter="fade" transition="in">
                                      <p:cBhvr>
                                        <p:cTn dur="1000"/>
                                        <p:tgtEl>
                                          <p:spTgt spid="2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4" st="4"/>
                                            </p:txEl>
                                          </p:spTgt>
                                        </p:tgtEl>
                                        <p:attrNameLst>
                                          <p:attrName>style.visibility</p:attrName>
                                        </p:attrNameLst>
                                      </p:cBhvr>
                                      <p:to>
                                        <p:strVal val="visible"/>
                                      </p:to>
                                    </p:set>
                                    <p:animEffect filter="fade" transition="in">
                                      <p:cBhvr>
                                        <p:cTn dur="1000"/>
                                        <p:tgtEl>
                                          <p:spTgt spid="2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5" st="5"/>
                                            </p:txEl>
                                          </p:spTgt>
                                        </p:tgtEl>
                                        <p:attrNameLst>
                                          <p:attrName>style.visibility</p:attrName>
                                        </p:attrNameLst>
                                      </p:cBhvr>
                                      <p:to>
                                        <p:strVal val="visible"/>
                                      </p:to>
                                    </p:set>
                                    <p:animEffect filter="fade" transition="in">
                                      <p:cBhvr>
                                        <p:cTn dur="1000"/>
                                        <p:tgtEl>
                                          <p:spTgt spid="2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 name="Shape 275"/>
        <p:cNvGrpSpPr/>
        <p:nvPr/>
      </p:nvGrpSpPr>
      <p:grpSpPr>
        <a:xfrm>
          <a:off x="0" y="0"/>
          <a:ext cx="0" cy="0"/>
          <a:chOff x="0" y="0"/>
          <a:chExt cx="0" cy="0"/>
        </a:xfrm>
      </p:grpSpPr>
      <p:sp>
        <p:nvSpPr>
          <p:cNvPr id="276" name="Google Shape;276;p23"/>
          <p:cNvSpPr txBox="1"/>
          <p:nvPr/>
        </p:nvSpPr>
        <p:spPr>
          <a:xfrm>
            <a:off x="722375" y="1435597"/>
            <a:ext cx="66915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the distance be x km, then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Time taken to cover x km by cycle + time taken to cover x km by scooter = 6 hr 30 min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Time taken to cover 2x km by cycle + time taken to cover 2x km by scooter = 13 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But time taken to cover 2x km by cycle = 8 hr 40 min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Time taken to cover 2x km by scooter = 13 hr- 8 hr 40 min = 4 hr 20 min</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77" name="Google Shape;277;p2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4"/>
          <p:cNvSpPr txBox="1"/>
          <p:nvPr/>
        </p:nvSpPr>
        <p:spPr>
          <a:xfrm>
            <a:off x="722375" y="1435600"/>
            <a:ext cx="8092800" cy="3499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Two places A and B are 80 km apart from each other on a highway. A car starts from A and another from B at the same time. If they move in the same direction they meet each other in 8 hours. If they move in opposite directions towards each other, they meet in 1 hour 20 mins. Determine the speeds of the cars?</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20, 30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30, 45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35, 25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40 ,50 km/hr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283" name="Google Shape;283;p2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284" name="Google Shape;284;p24"/>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Effect filter="fade" transition="in">
                                      <p:cBhvr>
                                        <p:cTn dur="1000"/>
                                        <p:tgtEl>
                                          <p:spTgt spid="2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Effect filter="fade" transition="in">
                                      <p:cBhvr>
                                        <p:cTn dur="1000"/>
                                        <p:tgtEl>
                                          <p:spTgt spid="2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Effect filter="fade" transition="in">
                                      <p:cBhvr>
                                        <p:cTn dur="1000"/>
                                        <p:tgtEl>
                                          <p:spTgt spid="2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animEffect filter="fade" transition="in">
                                      <p:cBhvr>
                                        <p:cTn dur="1000"/>
                                        <p:tgtEl>
                                          <p:spTgt spid="2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animEffect filter="fade" transition="in">
                                      <p:cBhvr>
                                        <p:cTn dur="1000"/>
                                        <p:tgtEl>
                                          <p:spTgt spid="2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5" st="5"/>
                                            </p:txEl>
                                          </p:spTgt>
                                        </p:tgtEl>
                                        <p:attrNameLst>
                                          <p:attrName>style.visibility</p:attrName>
                                        </p:attrNameLst>
                                      </p:cBhvr>
                                      <p:to>
                                        <p:strVal val="visible"/>
                                      </p:to>
                                    </p:set>
                                    <p:animEffect filter="fade" transition="in">
                                      <p:cBhvr>
                                        <p:cTn dur="1000"/>
                                        <p:tgtEl>
                                          <p:spTgt spid="2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25"/>
          <p:cNvSpPr txBox="1"/>
          <p:nvPr/>
        </p:nvSpPr>
        <p:spPr>
          <a:xfrm>
            <a:off x="722375" y="1435599"/>
            <a:ext cx="75996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their speeds be x km/hr and y km/hr respectively</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Then 80/x-y = 8  =&gt; x-y =10 …….(1)</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And 80/x+y = 1 (1/ 3)= 4/3   =&gt; x+y = 60 ……..(2)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Adding 1 and 2 we get 2x= 70  x=35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Hence y = 25 km/hr</a:t>
            </a:r>
            <a:endParaRPr b="0" i="0" sz="1400" u="none" cap="none" strike="noStrike">
              <a:solidFill>
                <a:schemeClr val="dk1"/>
              </a:solidFill>
              <a:latin typeface="Roboto"/>
              <a:ea typeface="Roboto"/>
              <a:cs typeface="Roboto"/>
              <a:sym typeface="Roboto"/>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90" name="Google Shape;290;p2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6"/>
          <p:cNvSpPr txBox="1"/>
          <p:nvPr/>
        </p:nvSpPr>
        <p:spPr>
          <a:xfrm>
            <a:off x="722375" y="1435600"/>
            <a:ext cx="8092800" cy="3499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A goods train leaves a station at a certain time and at a fixed speed. After 6 hours, an express train leaves the same station and moves in the same direction at a uniform speed of 90 km/hr. This train catches up the goods train in 4 hours. Find the speed of the goods train?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28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30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34 km/hr</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36 km/hr</a:t>
            </a:r>
            <a:endParaRPr b="0" i="0" sz="1600" u="none" cap="none" strike="noStrike">
              <a:solidFill>
                <a:schemeClr val="dk1"/>
              </a:solidFill>
              <a:latin typeface="Roboto"/>
              <a:ea typeface="Roboto"/>
              <a:cs typeface="Roboto"/>
              <a:sym typeface="Roboto"/>
            </a:endParaRPr>
          </a:p>
          <a:p>
            <a:pPr indent="0" lvl="0" marL="45720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96" name="Google Shape;296;p2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Answer:D  </a:t>
            </a:r>
            <a:endParaRPr b="1" i="0" sz="1400" u="none" cap="none" strike="noStrike">
              <a:solidFill>
                <a:srgbClr val="000000"/>
              </a:solidFill>
              <a:latin typeface="Roboto"/>
              <a:ea typeface="Roboto"/>
              <a:cs typeface="Roboto"/>
              <a:sym typeface="Roboto"/>
            </a:endParaRPr>
          </a:p>
        </p:txBody>
      </p:sp>
      <p:sp>
        <p:nvSpPr>
          <p:cNvPr id="297" name="Google Shape;297;p2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Effect filter="fade" transition="in">
                                      <p:cBhvr>
                                        <p:cTn dur="1000"/>
                                        <p:tgtEl>
                                          <p:spTgt spid="2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animEffect filter="fade" transition="in">
                                      <p:cBhvr>
                                        <p:cTn dur="1000"/>
                                        <p:tgtEl>
                                          <p:spTgt spid="2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animEffect filter="fade" transition="in">
                                      <p:cBhvr>
                                        <p:cTn dur="1000"/>
                                        <p:tgtEl>
                                          <p:spTgt spid="2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animEffect filter="fade" transition="in">
                                      <p:cBhvr>
                                        <p:cTn dur="1000"/>
                                        <p:tgtEl>
                                          <p:spTgt spid="2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animEffect filter="fade" transition="in">
                                      <p:cBhvr>
                                        <p:cTn dur="1000"/>
                                        <p:tgtEl>
                                          <p:spTgt spid="2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5" st="5"/>
                                            </p:txEl>
                                          </p:spTgt>
                                        </p:tgtEl>
                                        <p:attrNameLst>
                                          <p:attrName>style.visibility</p:attrName>
                                        </p:attrNameLst>
                                      </p:cBhvr>
                                      <p:to>
                                        <p:strVal val="visible"/>
                                      </p:to>
                                    </p:set>
                                    <p:animEffect filter="fade" transition="in">
                                      <p:cBhvr>
                                        <p:cTn dur="1000"/>
                                        <p:tgtEl>
                                          <p:spTgt spid="2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27"/>
          <p:cNvSpPr txBox="1"/>
          <p:nvPr/>
        </p:nvSpPr>
        <p:spPr>
          <a:xfrm>
            <a:off x="722375" y="1435600"/>
            <a:ext cx="74769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Let the speed of the goods train be x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Distance covered by goods train in 10 hours = distance covered by express train in 4 hours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10x= 4 *90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x=36 km/hr</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03" name="Google Shape;303;p2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8"/>
          <p:cNvSpPr txBox="1"/>
          <p:nvPr/>
        </p:nvSpPr>
        <p:spPr>
          <a:xfrm>
            <a:off x="722375" y="1435601"/>
            <a:ext cx="80928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The average speed of a bus in one-third of the speed of a train. The train covers 1125 km in 15 hours. How much distance will the bus cover in 36 minutes?</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12 km</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18 km</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21 km</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None of these</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309" name="Google Shape;309;p2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Answer:D  </a:t>
            </a:r>
            <a:endParaRPr b="1" i="0" sz="1400" u="none" cap="none" strike="noStrike">
              <a:solidFill>
                <a:srgbClr val="000000"/>
              </a:solidFill>
              <a:latin typeface="Roboto"/>
              <a:ea typeface="Roboto"/>
              <a:cs typeface="Roboto"/>
              <a:sym typeface="Roboto"/>
            </a:endParaRPr>
          </a:p>
        </p:txBody>
      </p:sp>
      <p:sp>
        <p:nvSpPr>
          <p:cNvPr id="310" name="Google Shape;310;p2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1000"/>
                                        <p:tgtEl>
                                          <p:spTgt spid="3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animEffect filter="fade" transition="in">
                                      <p:cBhvr>
                                        <p:cTn dur="1000"/>
                                        <p:tgtEl>
                                          <p:spTgt spid="3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animEffect filter="fade" transition="in">
                                      <p:cBhvr>
                                        <p:cTn dur="1000"/>
                                        <p:tgtEl>
                                          <p:spTgt spid="3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animEffect filter="fade" transition="in">
                                      <p:cBhvr>
                                        <p:cTn dur="1000"/>
                                        <p:tgtEl>
                                          <p:spTgt spid="3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animEffect filter="fade" transition="in">
                                      <p:cBhvr>
                                        <p:cTn dur="1000"/>
                                        <p:tgtEl>
                                          <p:spTgt spid="3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animEffect filter="fade" transition="in">
                                      <p:cBhvr>
                                        <p:cTn dur="1000"/>
                                        <p:tgtEl>
                                          <p:spTgt spid="3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p29"/>
          <p:cNvSpPr txBox="1"/>
          <p:nvPr/>
        </p:nvSpPr>
        <p:spPr>
          <a:xfrm>
            <a:off x="311750" y="1393450"/>
            <a:ext cx="7785000" cy="432396"/>
          </a:xfrm>
          <a:prstGeom prst="rect">
            <a:avLst/>
          </a:prstGeom>
          <a:noFill/>
          <a:ln>
            <a:noFill/>
          </a:ln>
        </p:spPr>
        <p:txBody>
          <a:bodyPr anchorCtr="0" anchor="t" bIns="91425" lIns="91425" spcFirstLastPara="1" rIns="91425" wrap="square" tIns="91425">
            <a:spAutoFit/>
          </a:bodyPr>
          <a:lstStyle/>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16" name="Google Shape;316;p29"/>
          <p:cNvSpPr txBox="1"/>
          <p:nvPr/>
        </p:nvSpPr>
        <p:spPr>
          <a:xfrm>
            <a:off x="767550" y="1435600"/>
            <a:ext cx="76089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Speed of the train = 1125 /15 km/hr -= 75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Speed of the bus = 1/ 3 *75  km/hr = 25 km/hr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Distance covered by the bus in 60 min = 25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Distance covered by the bus in 36 min = 25 *36 / 60 = 15 km </a:t>
            </a:r>
            <a:endParaRPr b="0" i="0" sz="1400" u="none" cap="none" strike="noStrike">
              <a:solidFill>
                <a:schemeClr val="dk1"/>
              </a:solidFill>
              <a:latin typeface="Roboto"/>
              <a:ea typeface="Roboto"/>
              <a:cs typeface="Roboto"/>
              <a:sym typeface="Roboto"/>
            </a:endParaRPr>
          </a:p>
        </p:txBody>
      </p:sp>
      <p:sp>
        <p:nvSpPr>
          <p:cNvPr id="317" name="Google Shape;317;p2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0"/>
          <p:cNvSpPr txBox="1"/>
          <p:nvPr/>
        </p:nvSpPr>
        <p:spPr>
          <a:xfrm>
            <a:off x="722375" y="1435601"/>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Jane travelled 4/7 as many miles on foots as by water and 2/ 5 as many miles on horseback as by water. If she covered a total of 3036 miles, how many miles did she travel on foot?</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1540</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880</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756</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616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800"/>
              <a:buFont typeface="Arial"/>
              <a:buNone/>
            </a:pPr>
            <a:r>
              <a:t/>
            </a:r>
            <a:endParaRPr b="0" i="0" sz="1600" u="none" cap="none" strike="noStrike">
              <a:solidFill>
                <a:schemeClr val="dk1"/>
              </a:solidFill>
              <a:highlight>
                <a:schemeClr val="lt1"/>
              </a:highlight>
              <a:latin typeface="Roboto"/>
              <a:ea typeface="Roboto"/>
              <a:cs typeface="Roboto"/>
              <a:sym typeface="Roboto"/>
            </a:endParaRPr>
          </a:p>
        </p:txBody>
      </p:sp>
      <p:sp>
        <p:nvSpPr>
          <p:cNvPr id="323" name="Google Shape;323;p3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324" name="Google Shape;324;p3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10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animEffect filter="fade" transition="in">
                                      <p:cBhvr>
                                        <p:cTn dur="1000"/>
                                        <p:tgtEl>
                                          <p:spTgt spid="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2" st="2"/>
                                            </p:txEl>
                                          </p:spTgt>
                                        </p:tgtEl>
                                        <p:attrNameLst>
                                          <p:attrName>style.visibility</p:attrName>
                                        </p:attrNameLst>
                                      </p:cBhvr>
                                      <p:to>
                                        <p:strVal val="visible"/>
                                      </p:to>
                                    </p:set>
                                    <p:animEffect filter="fade" transition="in">
                                      <p:cBhvr>
                                        <p:cTn dur="1000"/>
                                        <p:tgtEl>
                                          <p:spTgt spid="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3" st="3"/>
                                            </p:txEl>
                                          </p:spTgt>
                                        </p:tgtEl>
                                        <p:attrNameLst>
                                          <p:attrName>style.visibility</p:attrName>
                                        </p:attrNameLst>
                                      </p:cBhvr>
                                      <p:to>
                                        <p:strVal val="visible"/>
                                      </p:to>
                                    </p:set>
                                    <p:animEffect filter="fade" transition="in">
                                      <p:cBhvr>
                                        <p:cTn dur="1000"/>
                                        <p:tgtEl>
                                          <p:spTgt spid="3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4" st="4"/>
                                            </p:txEl>
                                          </p:spTgt>
                                        </p:tgtEl>
                                        <p:attrNameLst>
                                          <p:attrName>style.visibility</p:attrName>
                                        </p:attrNameLst>
                                      </p:cBhvr>
                                      <p:to>
                                        <p:strVal val="visible"/>
                                      </p:to>
                                    </p:set>
                                    <p:animEffect filter="fade" transition="in">
                                      <p:cBhvr>
                                        <p:cTn dur="1000"/>
                                        <p:tgtEl>
                                          <p:spTgt spid="3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5" st="5"/>
                                            </p:txEl>
                                          </p:spTgt>
                                        </p:tgtEl>
                                        <p:attrNameLst>
                                          <p:attrName>style.visibility</p:attrName>
                                        </p:attrNameLst>
                                      </p:cBhvr>
                                      <p:to>
                                        <p:strVal val="visible"/>
                                      </p:to>
                                    </p:set>
                                    <p:animEffect filter="fade" transition="in">
                                      <p:cBhvr>
                                        <p:cTn dur="1000"/>
                                        <p:tgtEl>
                                          <p:spTgt spid="3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p31"/>
          <p:cNvSpPr txBox="1"/>
          <p:nvPr/>
        </p:nvSpPr>
        <p:spPr>
          <a:xfrm>
            <a:off x="422728" y="1016906"/>
            <a:ext cx="8472300" cy="48470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t/>
            </a:r>
            <a:endParaRPr b="0" i="0" sz="1700" u="none" cap="none" strike="noStrike">
              <a:solidFill>
                <a:schemeClr val="dk1"/>
              </a:solidFill>
              <a:latin typeface="Roboto"/>
              <a:ea typeface="Roboto"/>
              <a:cs typeface="Roboto"/>
              <a:sym typeface="Roboto"/>
            </a:endParaRPr>
          </a:p>
        </p:txBody>
      </p:sp>
      <p:sp>
        <p:nvSpPr>
          <p:cNvPr id="330" name="Google Shape;330;p31"/>
          <p:cNvSpPr txBox="1"/>
          <p:nvPr/>
        </p:nvSpPr>
        <p:spPr>
          <a:xfrm>
            <a:off x="163925" y="1102725"/>
            <a:ext cx="8096700" cy="63758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80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31" name="Google Shape;331;p31"/>
          <p:cNvSpPr txBox="1"/>
          <p:nvPr/>
        </p:nvSpPr>
        <p:spPr>
          <a:xfrm>
            <a:off x="870025" y="1501625"/>
            <a:ext cx="78147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Suppose jane travelled x miles by water, (4x/7) miles on foot and (2x/5) miles on horseback</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Then, x + 4x/7 + 2x/5 = 3036</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69x/35 = 3036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x= 3036 *35/ 69 = 1540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Distance travelled on foot = 4/7 *1540 miles = 880 miles</a:t>
            </a:r>
            <a:endParaRPr b="0" i="0" sz="1400" u="none" cap="none" strike="noStrike">
              <a:solidFill>
                <a:schemeClr val="dk1"/>
              </a:solidFill>
              <a:latin typeface="Roboto"/>
              <a:ea typeface="Roboto"/>
              <a:cs typeface="Roboto"/>
              <a:sym typeface="Roboto"/>
            </a:endParaRPr>
          </a:p>
        </p:txBody>
      </p:sp>
      <p:sp>
        <p:nvSpPr>
          <p:cNvPr id="332" name="Google Shape;332;p3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2"/>
          <p:cNvSpPr txBox="1"/>
          <p:nvPr/>
        </p:nvSpPr>
        <p:spPr>
          <a:xfrm>
            <a:off x="722375" y="1435599"/>
            <a:ext cx="8092800" cy="3663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Deeps rides her bike at an average speed of 30 km/hr and reaches her destination in 6 hours. Hema covers the same distance in 4 hours. If deepa increases her average speed by 10 km/hr and Hema increases her average speed by 5 km/hr what would be the difference in their time taken to reach the destination?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40 mins</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45 mins</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54 mins</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1 hour</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338" name="Google Shape;338;p3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339" name="Google Shape;339;p3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0" st="0"/>
                                            </p:txEl>
                                          </p:spTgt>
                                        </p:tgtEl>
                                        <p:attrNameLst>
                                          <p:attrName>style.visibility</p:attrName>
                                        </p:attrNameLst>
                                      </p:cBhvr>
                                      <p:to>
                                        <p:strVal val="visible"/>
                                      </p:to>
                                    </p:set>
                                    <p:animEffect filter="fade" transition="in">
                                      <p:cBhvr>
                                        <p:cTn dur="1000"/>
                                        <p:tgtEl>
                                          <p:spTgt spid="3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1" st="1"/>
                                            </p:txEl>
                                          </p:spTgt>
                                        </p:tgtEl>
                                        <p:attrNameLst>
                                          <p:attrName>style.visibility</p:attrName>
                                        </p:attrNameLst>
                                      </p:cBhvr>
                                      <p:to>
                                        <p:strVal val="visible"/>
                                      </p:to>
                                    </p:set>
                                    <p:animEffect filter="fade" transition="in">
                                      <p:cBhvr>
                                        <p:cTn dur="1000"/>
                                        <p:tgtEl>
                                          <p:spTgt spid="3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2" st="2"/>
                                            </p:txEl>
                                          </p:spTgt>
                                        </p:tgtEl>
                                        <p:attrNameLst>
                                          <p:attrName>style.visibility</p:attrName>
                                        </p:attrNameLst>
                                      </p:cBhvr>
                                      <p:to>
                                        <p:strVal val="visible"/>
                                      </p:to>
                                    </p:set>
                                    <p:animEffect filter="fade" transition="in">
                                      <p:cBhvr>
                                        <p:cTn dur="1000"/>
                                        <p:tgtEl>
                                          <p:spTgt spid="3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3" st="3"/>
                                            </p:txEl>
                                          </p:spTgt>
                                        </p:tgtEl>
                                        <p:attrNameLst>
                                          <p:attrName>style.visibility</p:attrName>
                                        </p:attrNameLst>
                                      </p:cBhvr>
                                      <p:to>
                                        <p:strVal val="visible"/>
                                      </p:to>
                                    </p:set>
                                    <p:animEffect filter="fade" transition="in">
                                      <p:cBhvr>
                                        <p:cTn dur="1000"/>
                                        <p:tgtEl>
                                          <p:spTgt spid="3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4" st="4"/>
                                            </p:txEl>
                                          </p:spTgt>
                                        </p:tgtEl>
                                        <p:attrNameLst>
                                          <p:attrName>style.visibility</p:attrName>
                                        </p:attrNameLst>
                                      </p:cBhvr>
                                      <p:to>
                                        <p:strVal val="visible"/>
                                      </p:to>
                                    </p:set>
                                    <p:animEffect filter="fade" transition="in">
                                      <p:cBhvr>
                                        <p:cTn dur="1000"/>
                                        <p:tgtEl>
                                          <p:spTgt spid="3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5" st="5"/>
                                            </p:txEl>
                                          </p:spTgt>
                                        </p:tgtEl>
                                        <p:attrNameLst>
                                          <p:attrName>style.visibility</p:attrName>
                                        </p:attrNameLst>
                                      </p:cBhvr>
                                      <p:to>
                                        <p:strVal val="visible"/>
                                      </p:to>
                                    </p:set>
                                    <p:animEffect filter="fade" transition="in">
                                      <p:cBhvr>
                                        <p:cTn dur="1000"/>
                                        <p:tgtEl>
                                          <p:spTgt spid="3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6" st="6"/>
                                            </p:txEl>
                                          </p:spTgt>
                                        </p:tgtEl>
                                        <p:attrNameLst>
                                          <p:attrName>style.visibility</p:attrName>
                                        </p:attrNameLst>
                                      </p:cBhvr>
                                      <p:to>
                                        <p:strVal val="visible"/>
                                      </p:to>
                                    </p:set>
                                    <p:animEffect filter="fade" transition="in">
                                      <p:cBhvr>
                                        <p:cTn dur="1000"/>
                                        <p:tgtEl>
                                          <p:spTgt spid="3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3" name="Shape 343"/>
        <p:cNvGrpSpPr/>
        <p:nvPr/>
      </p:nvGrpSpPr>
      <p:grpSpPr>
        <a:xfrm>
          <a:off x="0" y="0"/>
          <a:ext cx="0" cy="0"/>
          <a:chOff x="0" y="0"/>
          <a:chExt cx="0" cy="0"/>
        </a:xfrm>
      </p:grpSpPr>
      <p:sp>
        <p:nvSpPr>
          <p:cNvPr id="344" name="Google Shape;344;p33"/>
          <p:cNvSpPr txBox="1"/>
          <p:nvPr/>
        </p:nvSpPr>
        <p:spPr>
          <a:xfrm>
            <a:off x="722375" y="1435600"/>
            <a:ext cx="8096700" cy="179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Deepa”s original speed = 30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Deepa”s new speed = 30 + 10 = 40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Distance = 30 *6 = 180 km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Hema”s original speed= 180 /4  km/hr= 45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Hema’s new speed = 45 +5 = 50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latin typeface="Roboto"/>
                <a:ea typeface="Roboto"/>
                <a:cs typeface="Roboto"/>
                <a:sym typeface="Roboto"/>
              </a:rPr>
              <a:t>Difference in time = (180/40 - 180/50) =9/10 hrs= 9/10 *60 = 54 min</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80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45" name="Google Shape;345;p3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1e9dd8e0edc_0_52"/>
          <p:cNvSpPr txBox="1"/>
          <p:nvPr/>
        </p:nvSpPr>
        <p:spPr>
          <a:xfrm>
            <a:off x="722375" y="1435601"/>
            <a:ext cx="80928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A monkey climbing up a pole ascends 6 meters and slips 3 metres in alternate mins. If the pole is 60 m high, how long will it take the money to reach the top?</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31 min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33 min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35 min</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37 min</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351" name="Google Shape;351;g1e9dd8e0edc_0_5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Answer:D  </a:t>
            </a:r>
            <a:endParaRPr b="1" i="0" sz="1400" u="none" cap="none" strike="noStrike">
              <a:solidFill>
                <a:srgbClr val="000000"/>
              </a:solidFill>
              <a:latin typeface="Roboto"/>
              <a:ea typeface="Roboto"/>
              <a:cs typeface="Roboto"/>
              <a:sym typeface="Roboto"/>
            </a:endParaRPr>
          </a:p>
        </p:txBody>
      </p:sp>
      <p:sp>
        <p:nvSpPr>
          <p:cNvPr id="352" name="Google Shape;352;g1e9dd8e0edc_0_5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xEl>
                                              <p:pRg end="0" st="0"/>
                                            </p:txEl>
                                          </p:spTgt>
                                        </p:tgtEl>
                                        <p:attrNameLst>
                                          <p:attrName>style.visibility</p:attrName>
                                        </p:attrNameLst>
                                      </p:cBhvr>
                                      <p:to>
                                        <p:strVal val="visible"/>
                                      </p:to>
                                    </p:set>
                                    <p:animEffect filter="fade" transition="in">
                                      <p:cBhvr>
                                        <p:cTn dur="1000"/>
                                        <p:tgtEl>
                                          <p:spTgt spid="3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xEl>
                                              <p:pRg end="1" st="1"/>
                                            </p:txEl>
                                          </p:spTgt>
                                        </p:tgtEl>
                                        <p:attrNameLst>
                                          <p:attrName>style.visibility</p:attrName>
                                        </p:attrNameLst>
                                      </p:cBhvr>
                                      <p:to>
                                        <p:strVal val="visible"/>
                                      </p:to>
                                    </p:set>
                                    <p:animEffect filter="fade" transition="in">
                                      <p:cBhvr>
                                        <p:cTn dur="1000"/>
                                        <p:tgtEl>
                                          <p:spTgt spid="3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xEl>
                                              <p:pRg end="2" st="2"/>
                                            </p:txEl>
                                          </p:spTgt>
                                        </p:tgtEl>
                                        <p:attrNameLst>
                                          <p:attrName>style.visibility</p:attrName>
                                        </p:attrNameLst>
                                      </p:cBhvr>
                                      <p:to>
                                        <p:strVal val="visible"/>
                                      </p:to>
                                    </p:set>
                                    <p:animEffect filter="fade" transition="in">
                                      <p:cBhvr>
                                        <p:cTn dur="1000"/>
                                        <p:tgtEl>
                                          <p:spTgt spid="3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xEl>
                                              <p:pRg end="3" st="3"/>
                                            </p:txEl>
                                          </p:spTgt>
                                        </p:tgtEl>
                                        <p:attrNameLst>
                                          <p:attrName>style.visibility</p:attrName>
                                        </p:attrNameLst>
                                      </p:cBhvr>
                                      <p:to>
                                        <p:strVal val="visible"/>
                                      </p:to>
                                    </p:set>
                                    <p:animEffect filter="fade" transition="in">
                                      <p:cBhvr>
                                        <p:cTn dur="1000"/>
                                        <p:tgtEl>
                                          <p:spTgt spid="3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xEl>
                                              <p:pRg end="4" st="4"/>
                                            </p:txEl>
                                          </p:spTgt>
                                        </p:tgtEl>
                                        <p:attrNameLst>
                                          <p:attrName>style.visibility</p:attrName>
                                        </p:attrNameLst>
                                      </p:cBhvr>
                                      <p:to>
                                        <p:strVal val="visible"/>
                                      </p:to>
                                    </p:set>
                                    <p:animEffect filter="fade" transition="in">
                                      <p:cBhvr>
                                        <p:cTn dur="1000"/>
                                        <p:tgtEl>
                                          <p:spTgt spid="3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xEl>
                                              <p:pRg end="5" st="5"/>
                                            </p:txEl>
                                          </p:spTgt>
                                        </p:tgtEl>
                                        <p:attrNameLst>
                                          <p:attrName>style.visibility</p:attrName>
                                        </p:attrNameLst>
                                      </p:cBhvr>
                                      <p:to>
                                        <p:strVal val="visible"/>
                                      </p:to>
                                    </p:set>
                                    <p:animEffect filter="fade" transition="in">
                                      <p:cBhvr>
                                        <p:cTn dur="1000"/>
                                        <p:tgtEl>
                                          <p:spTgt spid="3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6" name="Shape 356"/>
        <p:cNvGrpSpPr/>
        <p:nvPr/>
      </p:nvGrpSpPr>
      <p:grpSpPr>
        <a:xfrm>
          <a:off x="0" y="0"/>
          <a:ext cx="0" cy="0"/>
          <a:chOff x="0" y="0"/>
          <a:chExt cx="0" cy="0"/>
        </a:xfrm>
      </p:grpSpPr>
      <p:sp>
        <p:nvSpPr>
          <p:cNvPr id="357" name="Google Shape;357;g1e9dd8e0edc_0_60"/>
          <p:cNvSpPr txBox="1"/>
          <p:nvPr/>
        </p:nvSpPr>
        <p:spPr>
          <a:xfrm>
            <a:off x="422728" y="1016906"/>
            <a:ext cx="8472300" cy="4154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58" name="Google Shape;358;g1e9dd8e0edc_0_60"/>
          <p:cNvSpPr txBox="1"/>
          <p:nvPr/>
        </p:nvSpPr>
        <p:spPr>
          <a:xfrm>
            <a:off x="722375" y="1435600"/>
            <a:ext cx="5895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Net height ascended in 2 min = 6 -3 = 3 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Net height ascended in 36 min = (3/2 *36 ) = 54 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In the 37th min, the monkey ascends 6m and reaches the top</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Hence the total time taken = 37 mins</a:t>
            </a:r>
            <a:endParaRPr b="0" i="0" sz="1400" u="none" cap="none" strike="noStrike">
              <a:solidFill>
                <a:schemeClr val="dk1"/>
              </a:solidFill>
              <a:latin typeface="Roboto"/>
              <a:ea typeface="Roboto"/>
              <a:cs typeface="Roboto"/>
              <a:sym typeface="Roboto"/>
            </a:endParaRPr>
          </a:p>
        </p:txBody>
      </p:sp>
      <p:sp>
        <p:nvSpPr>
          <p:cNvPr id="359" name="Google Shape;359;g1e9dd8e0edc_0_6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2ed78ac9a6a_0_0"/>
          <p:cNvSpPr/>
          <p:nvPr/>
        </p:nvSpPr>
        <p:spPr>
          <a:xfrm>
            <a:off x="555120" y="915840"/>
            <a:ext cx="7545000" cy="83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65" name="Google Shape;365;g2ed78ac9a6a_0_0"/>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66" name="Google Shape;366;g2ed78ac9a6a_0_0"/>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2ed7a73e797_1_7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72" name="Google Shape;372;g2ed7a73e797_1_7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73" name="Google Shape;373;g2ed7a73e797_1_7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74" name="Google Shape;374;g2ed7a73e797_1_71"/>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75" name="Google Shape;375;g2ed7a73e797_1_7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76" name="Google Shape;376;g2ed7a73e797_1_7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77" name="Google Shape;377;g2ed7a73e797_1_71"/>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78" name="Google Shape;378;g2ed7a73e797_1_7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79" name="Google Shape;379;g2ed7a73e797_1_71"/>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80" name="Google Shape;380;g2ed7a73e797_1_7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81" name="Google Shape;381;g2ed7a73e797_1_71"/>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82" name="Google Shape;382;g2ed7a73e797_1_7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Megala Ekambaram</dc:creator>
</cp:coreProperties>
</file>