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Roboto Light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55">
          <p15:clr>
            <a:srgbClr val="FF0000"/>
          </p15:clr>
        </p15:guide>
        <p15:guide id="2" orient="horz" pos="907">
          <p15:clr>
            <a:srgbClr val="FF0000"/>
          </p15:clr>
        </p15:guide>
        <p15:guide id="3" orient="horz" pos="737">
          <p15:clr>
            <a:srgbClr val="00FF00"/>
          </p15:clr>
        </p15:guide>
        <p15:guide id="4" orient="horz" pos="397">
          <p15:clr>
            <a:srgbClr val="00FF00"/>
          </p15:clr>
        </p15:guide>
        <p15:guide id="5" pos="454">
          <p15:clr>
            <a:srgbClr val="FF00FF"/>
          </p15:clr>
        </p15:guide>
        <p15:guide id="6" pos="5272">
          <p15:clr>
            <a:srgbClr val="FF00FF"/>
          </p15:clr>
        </p15:guide>
      </p15:sldGuideLst>
    </p:ext>
    <p:ext uri="GoogleSlidesCustomDataVersion2">
      <go:slidesCustomData xmlns:go="http://customooxmlschemas.google.com/" r:id="rId54" roundtripDataSignature="AMtx7mi+8pnw8CFcabz/SkhVoIV1jhS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55" orient="horz"/>
        <p:guide pos="907" orient="horz"/>
        <p:guide pos="737" orient="horz"/>
        <p:guide pos="397" orient="horz"/>
        <p:guide pos="454"/>
        <p:guide pos="52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Light-bold.fntdata"/><Relationship Id="rId50" Type="http://schemas.openxmlformats.org/officeDocument/2006/relationships/font" Target="fonts/RobotoLight-regular.fntdata"/><Relationship Id="rId53" Type="http://schemas.openxmlformats.org/officeDocument/2006/relationships/font" Target="fonts/RobotoLight-boldItalic.fntdata"/><Relationship Id="rId52" Type="http://schemas.openxmlformats.org/officeDocument/2006/relationships/font" Target="fonts/RobotoLigh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2aa40e633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g32aa40e633c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b3f087a09_1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1b3f087a09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ecfee3e00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1ecfee3e0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ecfee3e00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1ecfee3e0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ecfee3e00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1ecfee3e0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ecfee3e00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1ecfee3e0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b3f087a09_1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1b3f087a09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b3f087a09_1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1b3f087a09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b3f087a09_1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1b3f087a09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1b3f087a09_1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1b3f087a09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1b3f087a09_1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1b3f087a09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1b3f087a09_1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1b3f087a09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b3f087a09_1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1b3f087a09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1ecfee3e00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1ecfee3e0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1ecfee3e00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1ecfee3e0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44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" name="Google Shape;2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8" name="Google Shape;3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" name="Google Shape;41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44" name="Google Shape;44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6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56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56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56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4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png"/><Relationship Id="rId4" Type="http://schemas.openxmlformats.org/officeDocument/2006/relationships/hyperlink" Target="https://learn.codemithra.com/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jp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/>
        </p:nvSpPr>
        <p:spPr>
          <a:xfrm>
            <a:off x="1088214" y="2017335"/>
            <a:ext cx="469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2800">
                <a:solidFill>
                  <a:schemeClr val="lt1"/>
                </a:solidFill>
              </a:rPr>
              <a:t>Ratio &amp; Proportion</a:t>
            </a:r>
            <a:endParaRPr b="1" i="0" sz="3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aa40e633c_0_50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I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-I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I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g32aa40e633c_0_50"/>
          <p:cNvSpPr txBox="1"/>
          <p:nvPr/>
        </p:nvSpPr>
        <p:spPr>
          <a:xfrm>
            <a:off x="577325" y="622125"/>
            <a:ext cx="77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                                    Test time on :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Cryptarithmetic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g32aa40e633c_0_50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g32aa40e633c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6375" y="1819363"/>
            <a:ext cx="3171825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b3f087a09_1_28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600">
                <a:solidFill>
                  <a:schemeClr val="dk1"/>
                </a:solidFill>
              </a:rPr>
              <a:t>A </a:t>
            </a:r>
            <a:r>
              <a:rPr b="1" lang="en-IN" sz="1600">
                <a:solidFill>
                  <a:schemeClr val="dk1"/>
                </a:solidFill>
              </a:rPr>
              <a:t>ratio</a:t>
            </a:r>
            <a:r>
              <a:rPr lang="en-IN" sz="1600">
                <a:solidFill>
                  <a:schemeClr val="dk1"/>
                </a:solidFill>
              </a:rPr>
              <a:t> is a relationship between two numbers indicating how many times the first number contains the second.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600">
                <a:solidFill>
                  <a:schemeClr val="dk1"/>
                </a:solidFill>
              </a:rPr>
              <a:t>For </a:t>
            </a:r>
            <a:r>
              <a:rPr b="1" lang="en-IN" sz="1600">
                <a:solidFill>
                  <a:schemeClr val="dk1"/>
                </a:solidFill>
              </a:rPr>
              <a:t>example</a:t>
            </a:r>
            <a:r>
              <a:rPr lang="en-IN" sz="1600">
                <a:solidFill>
                  <a:schemeClr val="dk1"/>
                </a:solidFill>
              </a:rPr>
              <a:t>, if a bowl of fruit contains eight oranges and six lemons, then the </a:t>
            </a:r>
            <a:r>
              <a:rPr b="1" lang="en-IN" sz="1600">
                <a:solidFill>
                  <a:schemeClr val="dk1"/>
                </a:solidFill>
              </a:rPr>
              <a:t>ratio</a:t>
            </a:r>
            <a:r>
              <a:rPr lang="en-IN" sz="1600">
                <a:solidFill>
                  <a:schemeClr val="dk1"/>
                </a:solidFill>
              </a:rPr>
              <a:t> of oranges to lemons is eight to six (that is, 8∶6, which is equivalent to the </a:t>
            </a:r>
            <a:r>
              <a:rPr b="1" lang="en-IN" sz="1600">
                <a:solidFill>
                  <a:schemeClr val="dk1"/>
                </a:solidFill>
              </a:rPr>
              <a:t>ratio</a:t>
            </a:r>
            <a:r>
              <a:rPr lang="en-IN" sz="1600">
                <a:solidFill>
                  <a:schemeClr val="dk1"/>
                </a:solidFill>
              </a:rPr>
              <a:t> 4∶3).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g31b3f087a09_1_28"/>
          <p:cNvSpPr txBox="1"/>
          <p:nvPr/>
        </p:nvSpPr>
        <p:spPr>
          <a:xfrm>
            <a:off x="2470200" y="630250"/>
            <a:ext cx="420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                         Ratio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ecfee3e00_0_1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400">
                <a:solidFill>
                  <a:schemeClr val="dk1"/>
                </a:solidFill>
              </a:rPr>
              <a:t>A </a:t>
            </a:r>
            <a:r>
              <a:rPr b="1" lang="en-IN" sz="1400">
                <a:solidFill>
                  <a:schemeClr val="dk1"/>
                </a:solidFill>
              </a:rPr>
              <a:t>proportion</a:t>
            </a:r>
            <a:r>
              <a:rPr lang="en-IN" sz="1400">
                <a:solidFill>
                  <a:schemeClr val="dk1"/>
                </a:solidFill>
              </a:rPr>
              <a:t> is simply a statement that two </a:t>
            </a:r>
            <a:r>
              <a:rPr b="1" lang="en-IN" sz="1400">
                <a:solidFill>
                  <a:schemeClr val="dk1"/>
                </a:solidFill>
              </a:rPr>
              <a:t>ratios</a:t>
            </a:r>
            <a:r>
              <a:rPr lang="en-IN" sz="1400">
                <a:solidFill>
                  <a:schemeClr val="dk1"/>
                </a:solidFill>
              </a:rPr>
              <a:t> are equal. It can be written in two ways: as two equal fractions a/b = c/d; or using a colon, a:b = c:d. ... </a:t>
            </a:r>
            <a:endParaRPr sz="1400">
              <a:solidFill>
                <a:schemeClr val="dk1"/>
              </a:solidFill>
            </a:endParaRPr>
          </a:p>
          <a:p>
            <a:pPr indent="-1714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400">
                <a:solidFill>
                  <a:schemeClr val="dk1"/>
                </a:solidFill>
              </a:rPr>
              <a:t>In problems involving </a:t>
            </a:r>
            <a:r>
              <a:rPr b="1" lang="en-IN" sz="1400">
                <a:solidFill>
                  <a:schemeClr val="dk1"/>
                </a:solidFill>
              </a:rPr>
              <a:t>proportions</a:t>
            </a:r>
            <a:r>
              <a:rPr lang="en-IN" sz="1400">
                <a:solidFill>
                  <a:schemeClr val="dk1"/>
                </a:solidFill>
              </a:rPr>
              <a:t>, we can use cross products to test whether two </a:t>
            </a:r>
            <a:r>
              <a:rPr b="1" lang="en-IN" sz="1400">
                <a:solidFill>
                  <a:schemeClr val="dk1"/>
                </a:solidFill>
              </a:rPr>
              <a:t>ratios</a:t>
            </a:r>
            <a:r>
              <a:rPr lang="en-IN" sz="1400">
                <a:solidFill>
                  <a:schemeClr val="dk1"/>
                </a:solidFill>
              </a:rPr>
              <a:t> are equal and form a </a:t>
            </a:r>
            <a:r>
              <a:rPr b="1" lang="en-IN" sz="1400">
                <a:solidFill>
                  <a:schemeClr val="dk1"/>
                </a:solidFill>
              </a:rPr>
              <a:t>proportion</a:t>
            </a:r>
            <a:r>
              <a:rPr lang="en-I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400">
                <a:solidFill>
                  <a:schemeClr val="dk1"/>
                </a:solidFill>
              </a:rPr>
              <a:t>A </a:t>
            </a:r>
            <a:r>
              <a:rPr b="1" lang="en-IN" sz="1400">
                <a:solidFill>
                  <a:schemeClr val="dk1"/>
                </a:solidFill>
              </a:rPr>
              <a:t>proportion</a:t>
            </a:r>
            <a:r>
              <a:rPr lang="en-IN" sz="1400">
                <a:solidFill>
                  <a:schemeClr val="dk1"/>
                </a:solidFill>
              </a:rPr>
              <a:t> is an equation with a </a:t>
            </a:r>
            <a:r>
              <a:rPr b="1" lang="en-IN" sz="1400">
                <a:solidFill>
                  <a:schemeClr val="dk1"/>
                </a:solidFill>
              </a:rPr>
              <a:t>ratio</a:t>
            </a:r>
            <a:r>
              <a:rPr lang="en-IN" sz="1400">
                <a:solidFill>
                  <a:schemeClr val="dk1"/>
                </a:solidFill>
              </a:rPr>
              <a:t> on each side. It is a statement that two </a:t>
            </a:r>
            <a:r>
              <a:rPr b="1" lang="en-IN" sz="1400">
                <a:solidFill>
                  <a:schemeClr val="dk1"/>
                </a:solidFill>
              </a:rPr>
              <a:t>ratios</a:t>
            </a:r>
            <a:r>
              <a:rPr lang="en-IN" sz="1400">
                <a:solidFill>
                  <a:schemeClr val="dk1"/>
                </a:solidFill>
              </a:rPr>
              <a:t> are equal. 3/4 = 6/8 is an </a:t>
            </a:r>
            <a:r>
              <a:rPr b="1" lang="en-IN" sz="1400">
                <a:solidFill>
                  <a:schemeClr val="dk1"/>
                </a:solidFill>
              </a:rPr>
              <a:t>example</a:t>
            </a:r>
            <a:r>
              <a:rPr lang="en-IN" sz="1400">
                <a:solidFill>
                  <a:schemeClr val="dk1"/>
                </a:solidFill>
              </a:rPr>
              <a:t> of a </a:t>
            </a:r>
            <a:r>
              <a:rPr b="1" lang="en-IN" sz="1400">
                <a:solidFill>
                  <a:schemeClr val="dk1"/>
                </a:solidFill>
              </a:rPr>
              <a:t>proportion.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85" name="Google Shape;85;g31ecfee3e00_0_1"/>
          <p:cNvSpPr txBox="1"/>
          <p:nvPr/>
        </p:nvSpPr>
        <p:spPr>
          <a:xfrm>
            <a:off x="2470200" y="630250"/>
            <a:ext cx="420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                         Proportion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ecfee3e00_0_6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Now, let us assume that, in proportion, the two ratios are </a:t>
            </a:r>
            <a:r>
              <a:rPr b="1" lang="en-IN" sz="1600">
                <a:solidFill>
                  <a:schemeClr val="dk1"/>
                </a:solidFill>
              </a:rPr>
              <a:t>a:b</a:t>
            </a:r>
            <a:r>
              <a:rPr lang="en-IN" sz="1600">
                <a:solidFill>
                  <a:schemeClr val="dk1"/>
                </a:solidFill>
              </a:rPr>
              <a:t> &amp; </a:t>
            </a:r>
            <a:r>
              <a:rPr b="1" lang="en-IN" sz="1600">
                <a:solidFill>
                  <a:schemeClr val="dk1"/>
                </a:solidFill>
              </a:rPr>
              <a:t>c:d. 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</a:rPr>
              <a:t>   </a:t>
            </a:r>
            <a:r>
              <a:rPr lang="en-IN" sz="1600">
                <a:solidFill>
                  <a:schemeClr val="dk1"/>
                </a:solidFill>
              </a:rPr>
              <a:t>The two terms </a:t>
            </a:r>
            <a:r>
              <a:rPr b="1" lang="en-IN" sz="1600">
                <a:solidFill>
                  <a:schemeClr val="dk1"/>
                </a:solidFill>
              </a:rPr>
              <a:t>‘b’</a:t>
            </a:r>
            <a:r>
              <a:rPr lang="en-IN" sz="1600">
                <a:solidFill>
                  <a:schemeClr val="dk1"/>
                </a:solidFill>
              </a:rPr>
              <a:t> and </a:t>
            </a:r>
            <a:r>
              <a:rPr b="1" lang="en-IN" sz="1600">
                <a:solidFill>
                  <a:schemeClr val="dk1"/>
                </a:solidFill>
              </a:rPr>
              <a:t>‘c’</a:t>
            </a:r>
            <a:r>
              <a:rPr lang="en-IN" sz="1600">
                <a:solidFill>
                  <a:schemeClr val="dk1"/>
                </a:solidFill>
              </a:rPr>
              <a:t> are called </a:t>
            </a:r>
            <a:r>
              <a:rPr b="1" lang="en-IN" sz="1600">
                <a:solidFill>
                  <a:schemeClr val="dk1"/>
                </a:solidFill>
              </a:rPr>
              <a:t>‘means or mean term,’</a:t>
            </a:r>
            <a:r>
              <a:rPr lang="en-IN" sz="1600">
                <a:solidFill>
                  <a:schemeClr val="dk1"/>
                </a:solidFill>
              </a:rPr>
              <a:t> 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   whereas the terms </a:t>
            </a:r>
            <a:r>
              <a:rPr b="1" lang="en-IN" sz="1600">
                <a:solidFill>
                  <a:schemeClr val="dk1"/>
                </a:solidFill>
              </a:rPr>
              <a:t>‘a’</a:t>
            </a:r>
            <a:r>
              <a:rPr lang="en-IN" sz="1600">
                <a:solidFill>
                  <a:schemeClr val="dk1"/>
                </a:solidFill>
              </a:rPr>
              <a:t> and </a:t>
            </a:r>
            <a:r>
              <a:rPr b="1" lang="en-IN" sz="1600">
                <a:solidFill>
                  <a:schemeClr val="dk1"/>
                </a:solidFill>
              </a:rPr>
              <a:t>‘d’</a:t>
            </a:r>
            <a:r>
              <a:rPr lang="en-IN" sz="1600">
                <a:solidFill>
                  <a:schemeClr val="dk1"/>
                </a:solidFill>
              </a:rPr>
              <a:t> are known as ‘</a:t>
            </a:r>
            <a:r>
              <a:rPr b="1" lang="en-IN" sz="1600">
                <a:solidFill>
                  <a:schemeClr val="dk1"/>
                </a:solidFill>
              </a:rPr>
              <a:t>extremes or extreme terms.’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</a:rPr>
              <a:t>                                    a/b = c/d or  a : b :: c : 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1" name="Google Shape;91;g31ecfee3e00_0_6"/>
          <p:cNvSpPr txBox="1"/>
          <p:nvPr/>
        </p:nvSpPr>
        <p:spPr>
          <a:xfrm>
            <a:off x="2470200" y="630250"/>
            <a:ext cx="420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                         Proportion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ecfee3e00_0_11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-IN" sz="1600">
                <a:solidFill>
                  <a:schemeClr val="dk1"/>
                </a:solidFill>
              </a:rPr>
              <a:t>If u/v = x/y, then uy = vx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-IN" sz="1600">
                <a:solidFill>
                  <a:schemeClr val="dk1"/>
                </a:solidFill>
              </a:rPr>
              <a:t>If u/v = x/y, then u/x = v/y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-IN" sz="1600">
                <a:solidFill>
                  <a:schemeClr val="dk1"/>
                </a:solidFill>
              </a:rPr>
              <a:t>If u/v = x/y, then v/u = y/x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-IN" sz="1600">
                <a:solidFill>
                  <a:schemeClr val="dk1"/>
                </a:solidFill>
              </a:rPr>
              <a:t>If u/v = x/y, then (u+v)/v = (x+y)/y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-IN" sz="1600">
                <a:solidFill>
                  <a:schemeClr val="dk1"/>
                </a:solidFill>
              </a:rPr>
              <a:t>If u/v = x/y, then (u-v)/v = (x-y)/y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7" name="Google Shape;97;g31ecfee3e00_0_11"/>
          <p:cNvSpPr txBox="1"/>
          <p:nvPr/>
        </p:nvSpPr>
        <p:spPr>
          <a:xfrm>
            <a:off x="2470200" y="630250"/>
            <a:ext cx="420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                         Formula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ecfee3e00_0_16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If u/v = x/y, then (u+v)/ (u-v) = (x+y)/(x-y),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		which is known as componendo -Dividendo Rule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If u/v = v/x, then u/x = u</a:t>
            </a:r>
            <a:r>
              <a:rPr baseline="30000" lang="en-IN" sz="1600">
                <a:solidFill>
                  <a:schemeClr val="dk1"/>
                </a:solidFill>
              </a:rPr>
              <a:t>2</a:t>
            </a:r>
            <a:r>
              <a:rPr lang="en-IN" sz="1600">
                <a:solidFill>
                  <a:schemeClr val="dk1"/>
                </a:solidFill>
              </a:rPr>
              <a:t>/v</a:t>
            </a:r>
            <a:r>
              <a:rPr baseline="30000" lang="en-IN" sz="1600">
                <a:solidFill>
                  <a:schemeClr val="dk1"/>
                </a:solidFill>
              </a:rPr>
              <a:t>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If u/v = x/y, then u = x and v =y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If a/(b+c) = b/(c+a) = c/(a+b) and a+b+ c ≠0, then a =b = c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3" name="Google Shape;103;g31ecfee3e00_0_16"/>
          <p:cNvSpPr txBox="1"/>
          <p:nvPr/>
        </p:nvSpPr>
        <p:spPr>
          <a:xfrm>
            <a:off x="2470200" y="630250"/>
            <a:ext cx="420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                         Formula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20000" y="1440000"/>
            <a:ext cx="5594400" cy="2776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Are the ratios 4:5 and 8:10 said to be in Proportion?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A. YES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B.  NO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720000" y="1440000"/>
            <a:ext cx="7800600" cy="3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4:5= 4/5 = 0.8 and 8: 10= 8/10= 0.8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Since both the ratios are equal, they are said to be in proportion.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Are the two ratios 8:10 and 7:10 in proportion?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A. YES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B.  NO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</a:t>
            </a:r>
            <a:r>
              <a:rPr b="1" lang="en-IN"/>
              <a:t>B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720000" y="1440001"/>
            <a:ext cx="7998000" cy="3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8:10= 8/10= 0.8 and 7:10= 7/10= 0.7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Since both the ratios are not equal, they are not in proportion.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Given ratios are: a:b = 2:3, b:c = 5:2, c:d = 1:4 Find a: b: c:d.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A. 10:15:6:24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B. 10:6:15:24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C. 6:15:10:24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D. 24:6:10:15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 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720000" y="1440000"/>
            <a:ext cx="8017800" cy="18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Multiplying the first ratio by 5, second by 3 and third by 6, we have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a:b = 10: 15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b:c = 15 : 6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c:d = 6 : 24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In the ratio’s above, all the mean terms are equal, thus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a:b:c:d = 10:15:6:24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Divide Rs. 90 in ratio 1:2 between Ram and Karan.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A. Rs.30 and Rs.60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B. Rs.60 and Rs.30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C. Rs.45 and Rs.45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D. Rs.80 and Rs.10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720000" y="1440000"/>
            <a:ext cx="79980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There are two parts, 1 and 2, the sum of which is 3 parts. Hence among the 3 parts, Karan gets 2 and Ram gets 1.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Therefore for 90 Rs (considered equivalent to 3 parts here)  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Karan’s share = 2/3 ×90 = Rs.60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Ram’s share = 1/3 ×90 =  Rs.30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Two numbers are respectively 20% and 50% more than a third number.The ratio of the two numbers is ________.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A. 5:4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B. 4:5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C. 6:7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D. 7:6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720000" y="1439998"/>
            <a:ext cx="7998000" cy="27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400">
                <a:solidFill>
                  <a:schemeClr val="dk1"/>
                </a:solidFill>
              </a:rPr>
              <a:t>Let the third number be </a:t>
            </a:r>
            <a:r>
              <a:rPr i="1" lang="en-IN" sz="1400">
                <a:solidFill>
                  <a:schemeClr val="dk1"/>
                </a:solidFill>
              </a:rPr>
              <a:t>x</a:t>
            </a:r>
            <a:r>
              <a:rPr lang="en-I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400">
                <a:solidFill>
                  <a:schemeClr val="dk1"/>
                </a:solidFill>
              </a:rPr>
              <a:t>Then, first number=120% of x=120x/100=6x/5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400">
                <a:solidFill>
                  <a:schemeClr val="dk1"/>
                </a:solidFill>
              </a:rPr>
              <a:t>Second number    =150% of x=150x/100=3x/2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400">
                <a:solidFill>
                  <a:schemeClr val="dk1"/>
                </a:solidFill>
              </a:rPr>
              <a:t>Ratio of first two numbers=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400">
                <a:solidFill>
                  <a:schemeClr val="dk1"/>
                </a:solidFill>
              </a:rPr>
              <a:t>                                               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1327" y="2327098"/>
            <a:ext cx="2438400" cy="643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A sum of money is to be distributed among A, B, C, D in the proportion of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5 : 2 : 4 : 3. If C gets Rs. 1000 more than D, what is B's share?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A. Rs.500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B. Rs.1500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C. Rs.2000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D. None of these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720000" y="1440000"/>
            <a:ext cx="7880100" cy="25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Let the shares of A, B, C and D be Rs.5x,Rs.2x,Rs.4x,Rs.3x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Then 4x-3x=1000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X=1000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So.B’s share=2*1000=2000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b3f087a09_1_51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Seats for Mathematics, Physics and Biology in a school are in the ratio 5 : 7 : 8. There is a proposal to increase these seats by 40%, 50% and 75% respectively. What will be the ratio of increased seats?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A. 2:3:4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B. 6:7:8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C. 6:8:9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D. None of These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" name="Google Shape;188;g31b3f087a09_1_51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g31b3f087a09_1_5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720000" y="1440000"/>
            <a:ext cx="7650000" cy="3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Originally, let the number of seats for Mathematics, Physics and Biology be5x,7x and 8x respectively.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increased seats are  (140% of 5x) ,(150% of 7x) and (175% of 8x)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(140/100 x 5x),(150/100 x 7x),(175/100 x 8x)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7x.21x/2 and 14x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required ratio is 7x:21x/2:14x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14x:21x:28x=2:3:4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b3f087a09_1_59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In a mixture 60 litres, the ratio of milk and water is 2 : 1. If this ratio is to be 1 : 2, then the quantity of water to be further added is __________.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A. 20litres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B. 30litres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C. 40litres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D. 60litres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" name="Google Shape;201;g31b3f087a09_1_59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g31b3f087a09_1_5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8" name="Google Shape;20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752" y="1102725"/>
            <a:ext cx="5795799" cy="33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1b3f087a09_1_65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The ratio of the number of boys and girls in a college is 7 : 8. If the percentage increase in the number of boys and girls be 20% and 10% respectively, what will be the new ratio?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A. 8:9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B. 17:18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C. 21:22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D. Cannot  be determined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4" name="Google Shape;214;g31b3f087a09_1_65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g31b3f087a09_1_65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idx="1" type="body"/>
          </p:nvPr>
        </p:nvSpPr>
        <p:spPr>
          <a:xfrm>
            <a:off x="720000" y="1440000"/>
            <a:ext cx="76500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Originally, let the number of boys and girls in the college be 7x and 8x 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Their increased number is (120% of 7x),(110% of 8x)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(120/100 x7x) and (110/100 x 8x)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(42x/5) and (44x/5)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The required ratio is (42x/5:44x/5)=(21:22)</a:t>
            </a:r>
            <a:endParaRPr sz="16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1" name="Google Shape;221;p3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Salaries of Ravi and Summit are in the ratio 2 : 3. If the salary of each is increased by Rs. 4000, the new ratio becomes 40 : 57. What is Summit's salary?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A. Rs. 17,000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B. Rs. 20,000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C. Rs. 25,500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D. Rs. 38,000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7" name="Google Shape;227;p38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3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875" y="1100828"/>
            <a:ext cx="7032660" cy="3186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4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/>
          <p:nvPr>
            <p:ph idx="1" type="body"/>
          </p:nvPr>
        </p:nvSpPr>
        <p:spPr>
          <a:xfrm>
            <a:off x="720000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600">
                <a:solidFill>
                  <a:schemeClr val="dk1"/>
                </a:solidFill>
              </a:rPr>
              <a:t>The sum of three numbers is 98. If the ratio of the first to second is 2 :3 and that of the second to the third is 5 : 8, then the second number is __________.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A. 20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B. 30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C. 48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D. 58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0" name="Google Shape;240;p40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4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/>
          <p:nvPr>
            <p:ph idx="1" type="body"/>
          </p:nvPr>
        </p:nvSpPr>
        <p:spPr>
          <a:xfrm>
            <a:off x="719999" y="1439999"/>
            <a:ext cx="86424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Let the three parts be A, B, C. Then,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 : B = 2 : 3 and B : C = 5 : 8 =(5 x 3/5) :(8 x 3/5)=(3:24/5)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A:B:C = 2:3:24/5 = 10:15:24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B=(98 x 15/49)=30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7" name="Google Shape;247;p4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idx="1" type="body"/>
          </p:nvPr>
        </p:nvSpPr>
        <p:spPr>
          <a:xfrm>
            <a:off x="719999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The salaries A, B, C are in the ratio 2 : 3 : 5. If the increments of 15%, 10% and 20% are allowed respectively in their salaries, then what will be new ratio of their salaries?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A. 3:3:10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B. 10:11:20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C. 23:33:60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D. Cannot be determined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" name="Google Shape;253;p42"/>
          <p:cNvSpPr txBox="1"/>
          <p:nvPr/>
        </p:nvSpPr>
        <p:spPr>
          <a:xfrm>
            <a:off x="6828313" y="4120738"/>
            <a:ext cx="154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4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0" name="Google Shape;26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790" y="1317449"/>
            <a:ext cx="6029218" cy="2955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b3f087a09_1_71"/>
          <p:cNvSpPr txBox="1"/>
          <p:nvPr>
            <p:ph idx="1" type="body"/>
          </p:nvPr>
        </p:nvSpPr>
        <p:spPr>
          <a:xfrm>
            <a:off x="719999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If 40% of a number is equal to two-third of another number, what is the ratio of first number to the second number?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A. 2:5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B. 3:7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C. 5:3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D. 7:3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g31b3f087a09_1_71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g31b3f087a09_1_7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1b3f087a09_1_7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3" name="Google Shape;273;g31b3f087a09_1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583" y="1275228"/>
            <a:ext cx="4732734" cy="273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1b3f087a09_1_82"/>
          <p:cNvSpPr txBox="1"/>
          <p:nvPr>
            <p:ph idx="1" type="body"/>
          </p:nvPr>
        </p:nvSpPr>
        <p:spPr>
          <a:xfrm>
            <a:off x="719999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</a:rPr>
              <a:t>The fourth proportional to 5, 8, 15 is ______.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18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24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19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IN" sz="1600">
                <a:solidFill>
                  <a:schemeClr val="dk1"/>
                </a:solidFill>
              </a:rPr>
              <a:t>20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79" name="Google Shape;279;g31b3f087a09_1_82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g31b3f087a09_1_8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1b3f087a09_1_88"/>
          <p:cNvSpPr txBox="1"/>
          <p:nvPr>
            <p:ph idx="1" type="body"/>
          </p:nvPr>
        </p:nvSpPr>
        <p:spPr>
          <a:xfrm>
            <a:off x="719999" y="1439999"/>
            <a:ext cx="86424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Let the fourth proportional to 5, 8, 15 be x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Then, 5:8:15:x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5x=(8x15)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X=24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Ans:24</a:t>
            </a:r>
            <a:endParaRPr sz="16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86" name="Google Shape;286;g31b3f087a09_1_8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1ecfee3e00_0_32"/>
          <p:cNvSpPr txBox="1"/>
          <p:nvPr>
            <p:ph idx="1" type="body"/>
          </p:nvPr>
        </p:nvSpPr>
        <p:spPr>
          <a:xfrm>
            <a:off x="719999" y="1440000"/>
            <a:ext cx="8091600" cy="370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IN" sz="1600">
                <a:solidFill>
                  <a:schemeClr val="dk1"/>
                </a:solidFill>
              </a:rPr>
              <a:t>Two number are in the ratio 3 : 5. If 9 is subtracted from each, the new numbers are in the ratio 12 : 23. The smaller number is ________.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27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33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49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>
                <a:solidFill>
                  <a:schemeClr val="dk1"/>
                </a:solidFill>
              </a:rPr>
              <a:t>55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2" name="Google Shape;292;g31ecfee3e00_0_32"/>
          <p:cNvSpPr txBox="1"/>
          <p:nvPr/>
        </p:nvSpPr>
        <p:spPr>
          <a:xfrm>
            <a:off x="6828313" y="4120738"/>
            <a:ext cx="15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g31ecfee3e00_0_3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1ecfee3e00_0_3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9" name="Google Shape;299;g31ecfee3e00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387" y="1261300"/>
            <a:ext cx="4871125" cy="270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5" name="Google Shape;30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4"/>
          <p:cNvSpPr/>
          <p:nvPr/>
        </p:nvSpPr>
        <p:spPr>
          <a:xfrm>
            <a:off x="1634729" y="4055269"/>
            <a:ext cx="518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312" name="Google Shape;312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13" name="Google Shape;31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I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5" name="Google Shape;31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8" name="Google Shape;318;p4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4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0" name="Google Shape;320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2" name="Google Shape;322;p4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</cp:coreProperties>
</file>