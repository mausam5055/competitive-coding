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8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  <p:embeddedFont>
      <p:font typeface="Roboto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53" roundtripDataSignature="AMtx7mjSSLt5c4aZ0E7kFt66xPwrYdy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RobotoLight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Light-italic.fntdata"/><Relationship Id="rId50" Type="http://schemas.openxmlformats.org/officeDocument/2006/relationships/font" Target="fonts/RobotoLight-bold.fntdata"/><Relationship Id="rId53" Type="http://customschemas.google.com/relationships/presentationmetadata" Target="metadata"/><Relationship Id="rId52" Type="http://schemas.openxmlformats.org/officeDocument/2006/relationships/font" Target="fonts/RobotoLigh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48296266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2482962660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d199edd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1d199edd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d1b5a57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1d1b5a57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337fc5d25_0_3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14337fc5d2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337fc5d25_0_4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14337fc5d25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b9c7de5d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1b9c7de5d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337fc5d25_0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14337fc5d25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b9c7de5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1b9c7de5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337fc5d25_0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14337fc5d25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b9c7de5d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1b9c7de5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337fc5d25_0_5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14337fc5d2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b9c7de5d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1b9c7de5d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337fc5d25_0_5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14337fc5d2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b9c7de5d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1b9c7de5d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4337fc5d25_0_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14337fc5d25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4337fc5d25_0_6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14337fc5d25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337fc5d25_0_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14337fc5d25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337fc5d25_0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14337fc5d25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337fc5d25_0_6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14337fc5d25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337fc5d25_0_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14337fc5d25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4337fc5d25_0_6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14337fc5d25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4337fc5d25_0_6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4337fc5d25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337fc5d25_0_6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14337fc5d25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4337fc5d25_0_6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14337fc5d25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4337fc5d25_0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14337fc5d25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4337fc5d25_0_6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14337fc5d25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337fc5d25_0_6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14337fc5d25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337fc5d25_0_7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4337fc5d25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4337fc5d25_0_7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14337fc5d25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4337fc5d25_0_7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14337fc5d25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337fc5d25_0_7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14337fc5d2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4337fc5d25_0_7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14337fc5d25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4337fc5d25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14337fc5d25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4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4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14337fc5d25_0_4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g14337fc5d25_0_4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4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4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337fc5d25_0_49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g14337fc5d25_0_4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337fc5d25_0_50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g14337fc5d25_0_5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g14337fc5d25_0_5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g14337fc5d25_0_5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g14337fc5d25_0_5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4337fc5d25_0_50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69" name="Google Shape;69;g14337fc5d25_0_5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337fc5d25_0_5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" name="Google Shape;72;g14337fc5d25_0_5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g14337fc5d25_0_5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75" name="Google Shape;75;g14337fc5d25_0_5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14337fc5d25_0_513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14337fc5d25_0_513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14337fc5d25_0_513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g14337fc5d25_0_513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116" name="Google Shape;11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4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4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4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48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4" name="Google Shape;8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hyperlink" Target="https://learn.codemithra.com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78001" y="2109682"/>
            <a:ext cx="46908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PERMUTATION AND COMBINATION - 1.2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482962660_0_48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2482962660_0_48"/>
          <p:cNvSpPr txBox="1"/>
          <p:nvPr/>
        </p:nvSpPr>
        <p:spPr>
          <a:xfrm>
            <a:off x="577325" y="622125"/>
            <a:ext cx="778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TEST TIME ON PERMUTATION AND COMBINATIONS-</a:t>
            </a:r>
            <a:r>
              <a:rPr b="1" lang="en-GB" sz="1500"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2482962660_0_48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2482962660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813" y="1957388"/>
            <a:ext cx="254317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d199edd61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The different arrangements of a given number of things by taking some or all at a time, are called permutations.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GB" sz="1600">
                <a:solidFill>
                  <a:schemeClr val="dk1"/>
                </a:solidFill>
              </a:rPr>
              <a:t> 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</a:t>
            </a:r>
            <a:r>
              <a:rPr b="1" lang="en-GB" sz="1600">
                <a:solidFill>
                  <a:schemeClr val="dk1"/>
                </a:solidFill>
              </a:rPr>
              <a:t>P</a:t>
            </a:r>
            <a:r>
              <a:rPr b="1" baseline="-25000" lang="en-GB" sz="1600">
                <a:solidFill>
                  <a:schemeClr val="dk1"/>
                </a:solidFill>
              </a:rPr>
              <a:t>r</a:t>
            </a:r>
            <a:r>
              <a:rPr b="1" lang="en-GB" sz="1600">
                <a:solidFill>
                  <a:schemeClr val="dk1"/>
                </a:solidFill>
              </a:rPr>
              <a:t> = n! / (n – r)!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There are basically two types of permutation: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Repetition is Allowed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GB" sz="1600">
                <a:solidFill>
                  <a:schemeClr val="dk1"/>
                </a:solidFill>
              </a:rPr>
              <a:t>n × n × ... (r times) = n</a:t>
            </a:r>
            <a:r>
              <a:rPr baseline="30000" lang="en-GB" sz="1600">
                <a:solidFill>
                  <a:schemeClr val="dk1"/>
                </a:solidFill>
              </a:rPr>
              <a:t>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No Repetition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GB" sz="1600">
                <a:solidFill>
                  <a:schemeClr val="dk1"/>
                </a:solidFill>
              </a:rPr>
              <a:t>n!/(n − r)!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171450" lvl="0" marL="2857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3" name="Google Shape;153;g31d199edd61_0_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d1b5a575d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Each of the different groups or selections which can be formed by taking some or all of a number of objects is called a combination.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r</a:t>
            </a:r>
            <a:r>
              <a:rPr lang="en-GB" sz="1600">
                <a:solidFill>
                  <a:schemeClr val="dk1"/>
                </a:solidFill>
              </a:rPr>
              <a:t> = n! / [ r ! x (n – r)! 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Note: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 =1 and  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0 </a:t>
            </a:r>
            <a:r>
              <a:rPr lang="en-GB" sz="1600">
                <a:solidFill>
                  <a:schemeClr val="dk1"/>
                </a:solidFill>
              </a:rPr>
              <a:t> =1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r=</a:t>
            </a:r>
            <a:r>
              <a:rPr b="1" baseline="30000" lang="en-GB" sz="1600">
                <a:solidFill>
                  <a:schemeClr val="dk1"/>
                </a:solidFill>
              </a:rPr>
              <a:t> 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(n-r)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9" name="Google Shape;159;g31d1b5a575d_0_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337fc5d25_0_39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14337fc5d25_0_391"/>
          <p:cNvSpPr txBox="1"/>
          <p:nvPr/>
        </p:nvSpPr>
        <p:spPr>
          <a:xfrm>
            <a:off x="720000" y="1439999"/>
            <a:ext cx="84723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rank of a word "COLLEGE"?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179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14337fc5d25_0_39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lang="en-GB"/>
              <a:t>A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337fc5d25_0_47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14337fc5d25_0_477"/>
          <p:cNvSpPr txBox="1"/>
          <p:nvPr/>
        </p:nvSpPr>
        <p:spPr>
          <a:xfrm>
            <a:off x="720000" y="1066800"/>
            <a:ext cx="682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14337fc5d25_0_477"/>
          <p:cNvSpPr txBox="1"/>
          <p:nvPr/>
        </p:nvSpPr>
        <p:spPr>
          <a:xfrm>
            <a:off x="720000" y="3839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14337fc5d25_0_477"/>
          <p:cNvSpPr txBox="1"/>
          <p:nvPr/>
        </p:nvSpPr>
        <p:spPr>
          <a:xfrm>
            <a:off x="720000" y="1066800"/>
            <a:ext cx="62895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Dictionary order of letters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C,E,E,G,L,L,O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E _ _ _ _ _ = 5!/2!= 60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G _ _ _ _ _ = 5!/(2!*2!)= 30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L _ _ _ _ _ = 5!/2! = 60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E _ _ _ _ = 4!/2! = 12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G _ _ _ _ = 4!/(2!*2!)= 6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L E _ _ _ = 3! = 6words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L G _ _ _ = 3!/2! = 3 words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L L E E _ = 1!= 1 word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 O L L E G E = 1 word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= 60 + 30 + 60 + 12 + 6 + 6 + 3 + 1 + 1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=179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b9c7de5da_0_78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31b9c7de5da_0_78"/>
          <p:cNvSpPr txBox="1"/>
          <p:nvPr/>
        </p:nvSpPr>
        <p:spPr>
          <a:xfrm>
            <a:off x="720000" y="1439999"/>
            <a:ext cx="84723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words can be formed by using 3 letters from the word “INDIA” ?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1b9c7de5da_0_78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337fc5d25_0_530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14337fc5d25_0_530"/>
          <p:cNvSpPr txBox="1"/>
          <p:nvPr/>
        </p:nvSpPr>
        <p:spPr>
          <a:xfrm>
            <a:off x="720725" y="4969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14337fc5d25_0_530"/>
          <p:cNvSpPr txBox="1"/>
          <p:nvPr/>
        </p:nvSpPr>
        <p:spPr>
          <a:xfrm>
            <a:off x="814375" y="9994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word “INDIA” has 5 different words.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baseline="30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baseline="-25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= n! / (n – r)!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number of words = </a:t>
            </a:r>
            <a:r>
              <a:rPr baseline="30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P </a:t>
            </a:r>
            <a:r>
              <a:rPr baseline="-25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= 5! / (5 – 3)!</a:t>
            </a:r>
            <a:b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number of words = 5! / 2! = 120 / 2 = 60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b9c7de5da_0_86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1b9c7de5da_0_86"/>
          <p:cNvSpPr txBox="1"/>
          <p:nvPr/>
        </p:nvSpPr>
        <p:spPr>
          <a:xfrm>
            <a:off x="720000" y="1439999"/>
            <a:ext cx="84723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signals that can be sent by 6 flags of different colours taking one or more at a time is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1934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1956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1563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g31b9c7de5da_0_86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337fc5d25_0_546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14337fc5d25_0_546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14337fc5d25_0_546"/>
          <p:cNvSpPr txBox="1"/>
          <p:nvPr/>
        </p:nvSpPr>
        <p:spPr>
          <a:xfrm>
            <a:off x="855675" y="1122850"/>
            <a:ext cx="7513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signals using one flag = 6P1 = 6 Number of signals using two flags = 6P2 = 30 Number of signals using three flags = 6P3 = 120 Number of signals using four flags = 6P4 = 360 Number of signals using five flags = 6P5 = 720 Number of signals using all six flags = 6P6 = 720 Therefore, the total number of signals using one or more flags at a time is 6 + 30 + 120 + 360 + 720 + 720 = 1956 (Using addition principle).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b9c7de5da_0_94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g31b9c7de5da_0_94"/>
          <p:cNvSpPr txBox="1"/>
          <p:nvPr/>
        </p:nvSpPr>
        <p:spPr>
          <a:xfrm>
            <a:off x="720000" y="1439999"/>
            <a:ext cx="84723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an examination there are three multiple choice questions and each question has 4 choices. Number of ways in which a student can fail to get all answer correct is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1b9c7de5da_0_94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337fc5d25_0_562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g14337fc5d25_0_562"/>
          <p:cNvSpPr txBox="1"/>
          <p:nvPr/>
        </p:nvSpPr>
        <p:spPr>
          <a:xfrm>
            <a:off x="747000" y="1122850"/>
            <a:ext cx="82395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 correct choice is (D). There are three multiple choice question, each has four possible answers. Therefore, the total number of possible answers will be 4 × 4 × 4 = 64. Out of these possible answer only one will be correct and hence the number of ways in which a student can fail to get correct answer is 64 – 1 = 63.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14337fc5d25_0_562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b9c7de5da_0_102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g31b9c7de5da_0_102"/>
          <p:cNvSpPr txBox="1"/>
          <p:nvPr/>
        </p:nvSpPr>
        <p:spPr>
          <a:xfrm>
            <a:off x="720725" y="1439874"/>
            <a:ext cx="84723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words can be formed by using the letters from the word “DRIVER” such that all the vowels are never together 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1b9c7de5da_0_102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337fc5d25_0_578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14337fc5d25_0_578"/>
          <p:cNvSpPr txBox="1"/>
          <p:nvPr/>
        </p:nvSpPr>
        <p:spPr>
          <a:xfrm>
            <a:off x="720000" y="1010050"/>
            <a:ext cx="8022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all the vowels to be a single character, 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i.e., “IE” is a single character.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So, now we have a total of 5 characters in the word, namely, D, R, V, R, IE.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But, R occurs 2 times.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Number of possible arrangements = 5! / 2! = 60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Now, the two vowels can be arranged in 2! = 2 ways.Total number of possible words such that the vowels are always together= 60 x 2 = 120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possible words = 6! / 2! = 720 / 2 = 360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total number of possible words such that the vowels are never together = 360 – 120 = 240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g14337fc5d25_0_578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b9c7de5da_0_110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1b9c7de5da_0_110"/>
          <p:cNvSpPr txBox="1"/>
          <p:nvPr/>
        </p:nvSpPr>
        <p:spPr>
          <a:xfrm>
            <a:off x="720725" y="1440000"/>
            <a:ext cx="84717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number greater than thousand can be formed from the digits 0, 1, 2, 3,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without repetition 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1b9c7de5da_0_110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337fc5d25_0_594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14337fc5d25_0_594"/>
          <p:cNvSpPr txBox="1"/>
          <p:nvPr/>
        </p:nvSpPr>
        <p:spPr>
          <a:xfrm>
            <a:off x="720000" y="1170000"/>
            <a:ext cx="7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14337fc5d25_0_594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14337fc5d25_0_594"/>
          <p:cNvSpPr txBox="1"/>
          <p:nvPr/>
        </p:nvSpPr>
        <p:spPr>
          <a:xfrm>
            <a:off x="673500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In order to form a number greater than 1000 we should have only 5 digits. Since, we have 5 digits we cannot take 0 in starting position.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For first digit, we have 4 choices.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For second digit, again we have 4 choices because we can include 0 from here onwards.</a:t>
            </a:r>
            <a:endParaRPr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For third digit, we have 3 choices.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and for fourth digit only left 2 choices.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numbers = 4x4x3x2= 96     Hence, only 96 numbers possible.	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4337fc5d25_0_607"/>
          <p:cNvSpPr txBox="1"/>
          <p:nvPr/>
        </p:nvSpPr>
        <p:spPr>
          <a:xfrm>
            <a:off x="720000" y="1439999"/>
            <a:ext cx="8472300" cy="27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ways can 4 boys and 4 girls be seated around a circular table so that no two boys are in adjacent positions?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g14337fc5d25_0_607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g14337fc5d25_0_60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337fc5d25_0_61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14337fc5d25_0_615"/>
          <p:cNvSpPr txBox="1"/>
          <p:nvPr/>
        </p:nvSpPr>
        <p:spPr>
          <a:xfrm>
            <a:off x="720000" y="1439888"/>
            <a:ext cx="71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14337fc5d25_0_61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g14337fc5d25_0_615"/>
          <p:cNvSpPr txBox="1"/>
          <p:nvPr/>
        </p:nvSpPr>
        <p:spPr>
          <a:xfrm>
            <a:off x="814375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If we first put 4 boys around the table, we can do this in 3! ways.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Once the 4 boys are placed, we have to place 4 girls around the same table.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Now, we can see 4 vacant places are there between all 4 boys so we can do in 4! ways.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 of sitting arrangement = 3! x 4! =144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337fc5d25_0_623"/>
          <p:cNvSpPr txBox="1"/>
          <p:nvPr/>
        </p:nvSpPr>
        <p:spPr>
          <a:xfrm>
            <a:off x="720000" y="1439874"/>
            <a:ext cx="84723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 of the 11 points in a plane, 4 are collinear. How many straight line can be formed 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g14337fc5d25_0_62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14337fc5d25_0_62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337fc5d25_0_631"/>
          <p:cNvSpPr txBox="1"/>
          <p:nvPr/>
        </p:nvSpPr>
        <p:spPr>
          <a:xfrm>
            <a:off x="270328" y="6622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g14337fc5d25_0_631"/>
          <p:cNvSpPr txBox="1"/>
          <p:nvPr/>
        </p:nvSpPr>
        <p:spPr>
          <a:xfrm>
            <a:off x="720000" y="600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g14337fc5d25_0_631"/>
          <p:cNvSpPr txBox="1"/>
          <p:nvPr/>
        </p:nvSpPr>
        <p:spPr>
          <a:xfrm>
            <a:off x="819725" y="1366250"/>
            <a:ext cx="58521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If all points were non-collinear then possible lines would have been </a:t>
            </a:r>
            <a:r>
              <a:rPr baseline="30000" lang="en-GB" sz="1800">
                <a:solidFill>
                  <a:schemeClr val="dk1"/>
                </a:solidFill>
              </a:rPr>
              <a:t>11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But, 4 points are collinear lie on the same line. So, they are all counted as a single line.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 of straight line = </a:t>
            </a:r>
            <a:r>
              <a:rPr baseline="30000" lang="en-GB" sz="1800">
                <a:solidFill>
                  <a:schemeClr val="dk1"/>
                </a:solidFill>
              </a:rPr>
              <a:t>11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– </a:t>
            </a:r>
            <a:r>
              <a:rPr baseline="30000" lang="en-GB" sz="1800">
                <a:solidFill>
                  <a:schemeClr val="dk1"/>
                </a:solidFill>
              </a:rPr>
              <a:t>4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+ 1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11×10/2 – 4×3/2 + 1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55 – 6 + 1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50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337fc5d25_0_639"/>
          <p:cNvSpPr txBox="1"/>
          <p:nvPr/>
        </p:nvSpPr>
        <p:spPr>
          <a:xfrm>
            <a:off x="720000" y="1439999"/>
            <a:ext cx="8472300" cy="28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Twenty people attend a party and shake hands with one another.In how many ways hand shake is possible?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14337fc5d25_0_63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g14337fc5d25_0_63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337fc5d25_0_64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g14337fc5d25_0_647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g14337fc5d25_0_647"/>
          <p:cNvSpPr txBox="1"/>
          <p:nvPr/>
        </p:nvSpPr>
        <p:spPr>
          <a:xfrm>
            <a:off x="988950" y="1439875"/>
            <a:ext cx="5907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Total number of handshake = 20×19/2 = 190</a:t>
            </a:r>
            <a:br>
              <a:rPr lang="en-GB" sz="1800">
                <a:solidFill>
                  <a:schemeClr val="dk2"/>
                </a:solidFill>
              </a:rPr>
            </a:br>
            <a:r>
              <a:rPr b="1" lang="en-GB" sz="1800">
                <a:solidFill>
                  <a:schemeClr val="dk1"/>
                </a:solidFill>
              </a:rPr>
              <a:t>Shortcut :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for n people there are always </a:t>
            </a:r>
            <a:r>
              <a:rPr baseline="30000" lang="en-GB" sz="1800">
                <a:solidFill>
                  <a:schemeClr val="dk1"/>
                </a:solidFill>
              </a:rPr>
              <a:t>n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handshakes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337fc5d25_0_655"/>
          <p:cNvSpPr txBox="1"/>
          <p:nvPr/>
        </p:nvSpPr>
        <p:spPr>
          <a:xfrm>
            <a:off x="720000" y="1439999"/>
            <a:ext cx="84723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different sums of money can be formed from the four type of notes  Rs 10, Rs 20, Rs 50 and Rs 100 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14337fc5d25_0_65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14337fc5d25_0_65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337fc5d25_0_663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14337fc5d25_0_66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g14337fc5d25_0_663"/>
          <p:cNvSpPr txBox="1"/>
          <p:nvPr/>
        </p:nvSpPr>
        <p:spPr>
          <a:xfrm>
            <a:off x="720000" y="1556500"/>
            <a:ext cx="6675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Type of notes = 4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So, total number of sum can be formed = 2</a:t>
            </a:r>
            <a:r>
              <a:rPr baseline="30000" lang="en-GB" sz="1800">
                <a:solidFill>
                  <a:schemeClr val="dk1"/>
                </a:solidFill>
              </a:rPr>
              <a:t>4</a:t>
            </a:r>
            <a:r>
              <a:rPr lang="en-GB" sz="1800">
                <a:solidFill>
                  <a:schemeClr val="dk1"/>
                </a:solidFill>
              </a:rPr>
              <a:t> – 1 = 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4337fc5d25_0_671"/>
          <p:cNvSpPr txBox="1"/>
          <p:nvPr/>
        </p:nvSpPr>
        <p:spPr>
          <a:xfrm>
            <a:off x="720000" y="1439999"/>
            <a:ext cx="84723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Five chocolates of different flavors are to be distributed in three different children such that any child get at least 1 chocolate. What is the maximum number of different ways in which this can be distributed?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14337fc5d25_0_671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14337fc5d25_0_67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4337fc5d25_0_679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14337fc5d25_0_679"/>
          <p:cNvSpPr txBox="1"/>
          <p:nvPr/>
        </p:nvSpPr>
        <p:spPr>
          <a:xfrm>
            <a:off x="720000" y="1440000"/>
            <a:ext cx="7166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Chocolates can be distributed as [(3, 1, 1)(1, 3, 1)(1, 1, 3)]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or [(2, 2, 1)(2, 1, 2)(1, 2, 2)]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 of ways = 3 x </a:t>
            </a:r>
            <a:r>
              <a:rPr baseline="30000" lang="en-GB" sz="1800">
                <a:solidFill>
                  <a:schemeClr val="dk1"/>
                </a:solidFill>
              </a:rPr>
              <a:t>5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+ 3 x </a:t>
            </a:r>
            <a:r>
              <a:rPr baseline="30000" lang="en-GB" sz="1800">
                <a:solidFill>
                  <a:schemeClr val="dk1"/>
                </a:solidFill>
              </a:rPr>
              <a:t>5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60 + 90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150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6" name="Google Shape;316;g14337fc5d25_0_67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337fc5d25_0_687"/>
          <p:cNvSpPr txBox="1"/>
          <p:nvPr/>
        </p:nvSpPr>
        <p:spPr>
          <a:xfrm>
            <a:off x="720000" y="1439999"/>
            <a:ext cx="8472300" cy="5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Ram and his wife Sita both have five friends each. Ram has 2 boys and 3 girls. Sita has 3 boys and 2 girls. In how many maximum number of different ways can they invite 2 boys and 2 girls such that two of them are Ram’s friend and two are Sita’s friend?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</a:t>
            </a: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Answer:C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	                                                          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g14337fc5d25_0_68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337fc5d25_0_69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g14337fc5d25_0_695"/>
          <p:cNvSpPr txBox="1"/>
          <p:nvPr/>
        </p:nvSpPr>
        <p:spPr>
          <a:xfrm>
            <a:off x="720000" y="1314850"/>
            <a:ext cx="71661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i) 2 boys from Ram’s friends and 2 girls from his wife Sita’s friends OR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ii) 1 boy and 1 girl from Ram’s friends and 1 boy and 1 girl from Sita’s friends OR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iii) 2 boys from his wife Sita’s friends and 2 girls from Ram’s friends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 of ways = </a:t>
            </a:r>
            <a:r>
              <a:rPr baseline="30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.</a:t>
            </a:r>
            <a:r>
              <a:rPr baseline="30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 + </a:t>
            </a:r>
            <a:r>
              <a:rPr baseline="30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x </a:t>
            </a:r>
            <a:r>
              <a:rPr baseline="30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1</a:t>
            </a:r>
            <a:r>
              <a:rPr lang="en-GB" sz="1800">
                <a:solidFill>
                  <a:schemeClr val="dk1"/>
                </a:solidFill>
              </a:rPr>
              <a:t> + </a:t>
            </a:r>
            <a:r>
              <a:rPr baseline="30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r>
              <a:rPr lang="en-GB" sz="1800">
                <a:solidFill>
                  <a:schemeClr val="dk1"/>
                </a:solidFill>
              </a:rPr>
              <a:t>.</a:t>
            </a:r>
            <a:r>
              <a:rPr baseline="30000" lang="en-GB" sz="1800">
                <a:solidFill>
                  <a:schemeClr val="dk1"/>
                </a:solidFill>
              </a:rPr>
              <a:t>3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2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1 + 36 + 9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46 ways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" name="Google Shape;329;g14337fc5d25_0_69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4337fc5d25_0_703"/>
          <p:cNvSpPr txBox="1"/>
          <p:nvPr/>
        </p:nvSpPr>
        <p:spPr>
          <a:xfrm>
            <a:off x="720000" y="1439999"/>
            <a:ext cx="8472300" cy="4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radius of hemispherical balloon increase from 7 cm to 14 cm as air is being pumped into it. Find the ratios of the surface areas of the balloon in two cases.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 1:5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 1: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ways can 4 notebooks can be distributed to 5 students if each can get any number of notebooks?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aseline="30000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aseline="30000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aseline="30000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aseline="30000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				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g14337fc5d25_0_70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g14337fc5d25_0_70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337fc5d25_0_711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14337fc5d25_0_711"/>
          <p:cNvSpPr txBox="1"/>
          <p:nvPr/>
        </p:nvSpPr>
        <p:spPr>
          <a:xfrm>
            <a:off x="662325" y="1239775"/>
            <a:ext cx="67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14337fc5d25_0_711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g14337fc5d25_0_711"/>
          <p:cNvSpPr txBox="1"/>
          <p:nvPr/>
        </p:nvSpPr>
        <p:spPr>
          <a:xfrm>
            <a:off x="879900" y="1239775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Since all the notebooks are identical or distinct we don’t know.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So, we take all are distinct and it can be distributed in 5</a:t>
            </a:r>
            <a:r>
              <a:rPr baseline="30000" lang="en-GB" sz="1800">
                <a:solidFill>
                  <a:schemeClr val="dk1"/>
                </a:solidFill>
              </a:rPr>
              <a:t>4</a:t>
            </a:r>
            <a:r>
              <a:rPr lang="en-GB" sz="1800">
                <a:solidFill>
                  <a:schemeClr val="dk1"/>
                </a:solidFill>
              </a:rPr>
              <a:t> ways.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4337fc5d25_0_719"/>
          <p:cNvSpPr txBox="1"/>
          <p:nvPr/>
        </p:nvSpPr>
        <p:spPr>
          <a:xfrm>
            <a:off x="720000" y="1439999"/>
            <a:ext cx="84723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batting orders are possible for the Indian cricket team if there is a squad of 16 to choose from such that Virat Kohli and Rohit Sharma are always chosen?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2000.10!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2001.11!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2002.11!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2000.9!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					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14337fc5d25_0_71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g14337fc5d25_0_71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337fc5d25_0_72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g14337fc5d25_0_72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g14337fc5d25_0_727"/>
          <p:cNvSpPr txBox="1"/>
          <p:nvPr/>
        </p:nvSpPr>
        <p:spPr>
          <a:xfrm>
            <a:off x="720713" y="1170000"/>
            <a:ext cx="83940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We need to select 9 players out of 14 players because two of them is already selected.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The selection of 11 players can be done in</a:t>
            </a:r>
            <a:r>
              <a:rPr baseline="30000" lang="en-GB" sz="1800">
                <a:solidFill>
                  <a:schemeClr val="dk1"/>
                </a:solidFill>
              </a:rPr>
              <a:t>14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9</a:t>
            </a:r>
            <a:r>
              <a:rPr lang="en-GB" sz="1800">
                <a:solidFill>
                  <a:schemeClr val="dk1"/>
                </a:solidFill>
              </a:rPr>
              <a:t> ways.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But batting order is also required to calculate for these 11 players so arrangements can be done in 11! ways.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Total number of batting orders possible = </a:t>
            </a:r>
            <a:r>
              <a:rPr baseline="30000" lang="en-GB" sz="1800">
                <a:solidFill>
                  <a:schemeClr val="dk1"/>
                </a:solidFill>
              </a:rPr>
              <a:t>14</a:t>
            </a:r>
            <a:r>
              <a:rPr lang="en-GB" sz="1800">
                <a:solidFill>
                  <a:schemeClr val="dk1"/>
                </a:solidFill>
              </a:rPr>
              <a:t>C</a:t>
            </a:r>
            <a:r>
              <a:rPr baseline="-25000" lang="en-GB" sz="1800">
                <a:solidFill>
                  <a:schemeClr val="dk1"/>
                </a:solidFill>
              </a:rPr>
              <a:t>9</a:t>
            </a:r>
            <a:r>
              <a:rPr lang="en-GB" sz="1800">
                <a:solidFill>
                  <a:schemeClr val="dk1"/>
                </a:solidFill>
              </a:rPr>
              <a:t> . 11!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4337fc5d25_0_735"/>
          <p:cNvSpPr txBox="1"/>
          <p:nvPr/>
        </p:nvSpPr>
        <p:spPr>
          <a:xfrm>
            <a:off x="720000" y="1422449"/>
            <a:ext cx="84723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motor vehicle registration numbers plates can be formed for the state Haryana having code like (HR 12Q 8702) with the digits 0, 1, 2, 3, 4, 5, 6 and contains consonant at the alphabetical place(No digits being repeated).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0606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5040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0606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40320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0606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95760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0606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362880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						 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14337fc5d25_0_73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g14337fc5d25_0_73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4337fc5d25_0_743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14337fc5d25_0_743"/>
          <p:cNvSpPr txBox="1"/>
          <p:nvPr/>
        </p:nvSpPr>
        <p:spPr>
          <a:xfrm>
            <a:off x="720725" y="1372300"/>
            <a:ext cx="71661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For Haryana state number plate always contains HR in starting.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Two consonants already used in HR so remaining consonant = 21 -2 = 19.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So, possible number of plates = 1(HR)x7x6x19(consonants)x5x4x3x2 = 95760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72" name="Google Shape;372;g14337fc5d25_0_74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8" name="Google Shape;3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86" name="Google Shape;3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8" name="Google Shape;3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5" name="Google Shape;395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