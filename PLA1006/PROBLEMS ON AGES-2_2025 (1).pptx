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Lst>
  <p:sldSz cy="5143500" cx="9144000"/>
  <p:notesSz cx="6858000" cy="9144000"/>
  <p:embeddedFontLst>
    <p:embeddedFont>
      <p:font typeface="Roboto Black"/>
      <p:bold r:id="rId40"/>
      <p:boldItalic r:id="rId41"/>
    </p:embeddedFont>
    <p:embeddedFont>
      <p:font typeface="Roboto"/>
      <p:regular r:id="rId42"/>
      <p:bold r:id="rId43"/>
      <p:italic r:id="rId44"/>
      <p:boldItalic r:id="rId45"/>
    </p:embeddedFont>
    <p:embeddedFont>
      <p:font typeface="Roboto Medium"/>
      <p:regular r:id="rId46"/>
      <p:bold r:id="rId47"/>
      <p:italic r:id="rId48"/>
      <p:boldItalic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454">
          <p15:clr>
            <a:srgbClr val="FF00FF"/>
          </p15:clr>
        </p15:guide>
        <p15:guide id="2" orient="horz" pos="3005">
          <p15:clr>
            <a:srgbClr val="FF0000"/>
          </p15:clr>
        </p15:guide>
        <p15:guide id="3" pos="5256">
          <p15:clr>
            <a:srgbClr val="FF00FF"/>
          </p15:clr>
        </p15:guide>
        <p15:guide id="4" orient="horz" pos="1077">
          <p15:clr>
            <a:srgbClr val="FF0000"/>
          </p15:clr>
        </p15:guide>
        <p15:guide id="5" orient="horz" pos="788">
          <p15:clr>
            <a:srgbClr val="00FF00"/>
          </p15:clr>
        </p15:guide>
        <p15:guide id="6" orient="horz" pos="397">
          <p15:clr>
            <a:srgbClr val="00FF00"/>
          </p15:clr>
        </p15:guide>
        <p15:guide id="7" pos="4529">
          <p15:clr>
            <a:srgbClr val="747775"/>
          </p15:clr>
        </p15:guide>
        <p15:guide id="8" orient="horz" pos="1474">
          <p15:clr>
            <a:srgbClr val="747775"/>
          </p15:clr>
        </p15:guide>
        <p15:guide id="9" pos="454">
          <p15:clr>
            <a:srgbClr val="747775"/>
          </p15:clr>
        </p15:guide>
        <p15:guide id="10" pos="4365">
          <p15:clr>
            <a:srgbClr val="747775"/>
          </p15:clr>
        </p15:guide>
      </p15:sldGuideLst>
    </p:ext>
    <p:ext uri="GoogleSlidesCustomDataVersion2">
      <go:slidesCustomData xmlns:go="http://customooxmlschemas.google.com/" r:id="rId50" roundtripDataSignature="AMtx7min0ZVJZD4Yz7+WY+nyoTT/ZBfB2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54"/>
        <p:guide pos="3005" orient="horz"/>
        <p:guide pos="5256"/>
        <p:guide pos="1077" orient="horz"/>
        <p:guide pos="788" orient="horz"/>
        <p:guide pos="397" orient="horz"/>
        <p:guide pos="4529"/>
        <p:guide pos="1474" orient="horz"/>
        <p:guide pos="454"/>
        <p:guide pos="4365"/>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Black-bold.fntdata"/><Relationship Id="rId42" Type="http://schemas.openxmlformats.org/officeDocument/2006/relationships/font" Target="fonts/Roboto-regular.fntdata"/><Relationship Id="rId41" Type="http://schemas.openxmlformats.org/officeDocument/2006/relationships/font" Target="fonts/RobotoBlack-boldItalic.fntdata"/><Relationship Id="rId44" Type="http://schemas.openxmlformats.org/officeDocument/2006/relationships/font" Target="fonts/Roboto-italic.fntdata"/><Relationship Id="rId43" Type="http://schemas.openxmlformats.org/officeDocument/2006/relationships/font" Target="fonts/Roboto-bold.fntdata"/><Relationship Id="rId46" Type="http://schemas.openxmlformats.org/officeDocument/2006/relationships/font" Target="fonts/RobotoMedium-regular.fntdata"/><Relationship Id="rId45" Type="http://schemas.openxmlformats.org/officeDocument/2006/relationships/font" Target="fonts/Roboto-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obotoMedium-italic.fntdata"/><Relationship Id="rId47" Type="http://schemas.openxmlformats.org/officeDocument/2006/relationships/font" Target="fonts/RobotoMedium-bold.fntdata"/><Relationship Id="rId49" Type="http://schemas.openxmlformats.org/officeDocument/2006/relationships/font" Target="fonts/RobotoMedium-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g31b9bf173ee_0_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 name="Google Shape;54;g31b9bf173ee_0_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2ee15abed17_3_27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 name="Google Shape;61;g2ee15abed17_3_2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2aa438d55a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7" name="Google Shape;67;g32aa438d55a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2ee15abed17_3_28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 name="Google Shape;74;g2ee15abed17_3_2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457200" lvl="0" marL="457200" rtl="0" algn="l">
              <a:lnSpc>
                <a:spcPct val="100000"/>
              </a:lnSpc>
              <a:spcBef>
                <a:spcPts val="0"/>
              </a:spcBef>
              <a:spcAft>
                <a:spcPts val="800"/>
              </a:spcAft>
              <a:buClr>
                <a:schemeClr val="dk1"/>
              </a:buClr>
              <a:buSzPts val="1100"/>
              <a:buFont typeface="Arial"/>
              <a:buNone/>
            </a:pPr>
            <a:r>
              <a:t/>
            </a:r>
            <a:endParaRPr>
              <a:latin typeface="Roboto"/>
              <a:ea typeface="Roboto"/>
              <a:cs typeface="Roboto"/>
              <a:sym typeface="Roboto"/>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2ee15abed17_3_28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 name="Google Shape;82;g2ee15abed17_3_2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457200" lvl="0" marL="457200" rtl="0" algn="l">
              <a:lnSpc>
                <a:spcPct val="100000"/>
              </a:lnSpc>
              <a:spcBef>
                <a:spcPts val="0"/>
              </a:spcBef>
              <a:spcAft>
                <a:spcPts val="800"/>
              </a:spcAft>
              <a:buClr>
                <a:schemeClr val="dk1"/>
              </a:buClr>
              <a:buSzPts val="1100"/>
              <a:buFont typeface="Arial"/>
              <a:buNone/>
            </a:pPr>
            <a:r>
              <a:t/>
            </a:r>
            <a:endParaRPr>
              <a:latin typeface="Roboto"/>
              <a:ea typeface="Roboto"/>
              <a:cs typeface="Roboto"/>
              <a:sym typeface="Roboto"/>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2ee15abed17_3_29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 name="Google Shape;89;g2ee15abed17_3_2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457200" lvl="0" marL="457200" rtl="0" algn="l">
              <a:lnSpc>
                <a:spcPct val="100000"/>
              </a:lnSpc>
              <a:spcBef>
                <a:spcPts val="0"/>
              </a:spcBef>
              <a:spcAft>
                <a:spcPts val="800"/>
              </a:spcAft>
              <a:buClr>
                <a:schemeClr val="dk1"/>
              </a:buClr>
              <a:buSzPts val="1100"/>
              <a:buFont typeface="Arial"/>
              <a:buNone/>
            </a:pPr>
            <a:r>
              <a:t/>
            </a:r>
            <a:endParaRPr>
              <a:latin typeface="Roboto"/>
              <a:ea typeface="Roboto"/>
              <a:cs typeface="Roboto"/>
              <a:sym typeface="Roboto"/>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2ee15abed17_3_29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6" name="Google Shape;96;g2ee15abed17_3_2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800"/>
              </a:spcAft>
              <a:buClr>
                <a:schemeClr val="dk1"/>
              </a:buClr>
              <a:buSzPts val="1100"/>
              <a:buFont typeface="Arial"/>
              <a:buNone/>
            </a:pPr>
            <a:r>
              <a:t/>
            </a:r>
            <a:endParaRPr>
              <a:latin typeface="Roboto"/>
              <a:ea typeface="Roboto"/>
              <a:cs typeface="Roboto"/>
              <a:sym typeface="Roboto"/>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2ee15abed17_3_3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 name="Google Shape;102;g2ee15abed17_3_3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2ee15abed17_3_30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 name="Google Shape;111;g2ee15abed17_3_30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1b9bf173ee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 name="Google Shape;118;g31b9bf173ee_0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2ee15abed17_3_3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 name="Google Shape;125;g2ee15abed17_3_3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2ee15abed17_3_3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1" name="Google Shape;131;g2ee15abed17_3_3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2ee15abed17_3_3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9" name="Google Shape;139;g2ee15abed17_3_3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2ee15abed17_3_3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7" name="Google Shape;147;g2ee15abed17_3_3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2ee15abed17_3_3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5" name="Google Shape;155;g2ee15abed17_3_3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2ee15abed17_3_3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1" name="Google Shape;161;g2ee15abed17_3_3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2ee15abed17_3_3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8" name="Google Shape;168;g2ee15abed17_3_3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ee15abed17_3_3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4" name="Google Shape;174;g2ee15abed17_3_3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2ee15abed17_3_36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2" name="Google Shape;182;g2ee15abed17_3_36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2ee15abed17_3_36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8" name="Google Shape;188;g2ee15abed17_3_3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2ee15abed17_3_3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6" name="Google Shape;196;g2ee15abed17_3_3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2ee15abed17_3_38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4" name="Google Shape;204;g2ee15abed17_3_3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2ee15abed17_3_38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1" name="Google Shape;211;g2ee15abed17_3_3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2ee15abed17_3_39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0" name="Google Shape;220;g2ee15abed17_3_3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2ee15abed17_3_40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7" name="Google Shape;227;g2ee15abed17_3_4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2ee15abed17_3_4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6" name="Google Shape;236;g2ee15abed17_3_4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2ee15abed17_3_4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4" name="Google Shape;244;g2ee15abed17_3_4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2ee15abed17_3_4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3" name="Google Shape;253;g2ee15abed17_3_4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2ee15abed17_3_4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1" name="Google Shape;261;g2ee15abed17_3_4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400"/>
              <a:buFont typeface="Arial"/>
              <a:buNone/>
            </a:pPr>
            <a:r>
              <a:t/>
            </a:r>
            <a:endParaRPr sz="1400">
              <a:solidFill>
                <a:schemeClr val="dk1"/>
              </a:solidFill>
              <a:latin typeface="Roboto"/>
              <a:ea typeface="Roboto"/>
              <a:cs typeface="Roboto"/>
              <a:sym typeface="Roboto"/>
            </a:endParaRPr>
          </a:p>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2ee15abed17_3_4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8" name="Google Shape;268;g2ee15abed17_3_4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2ee15abed17_3_4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5" name="Google Shape;275;g2ee15abed17_3_4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2ee15abed17_3_4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4" name="Google Shape;284;g2ee15abed17_3_4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2ee15abed17_3_4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2" name="Google Shape;292;g2ee15abed17_3_4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2ee15abed17_3_5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0" name="Google Shape;300;g2ee15abed17_3_5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latin typeface="Roboto"/>
              <a:ea typeface="Roboto"/>
              <a:cs typeface="Roboto"/>
              <a:sym typeface="Roboto"/>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 name="Shape 10"/>
        <p:cNvGrpSpPr/>
        <p:nvPr/>
      </p:nvGrpSpPr>
      <p:grpSpPr>
        <a:xfrm>
          <a:off x="0" y="0"/>
          <a:ext cx="0" cy="0"/>
          <a:chOff x="0" y="0"/>
          <a:chExt cx="0" cy="0"/>
        </a:xfrm>
      </p:grpSpPr>
      <p:sp>
        <p:nvSpPr>
          <p:cNvPr id="11" name="Google Shape;11;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 name="Shape 12"/>
        <p:cNvGrpSpPr/>
        <p:nvPr/>
      </p:nvGrpSpPr>
      <p:grpSpPr>
        <a:xfrm>
          <a:off x="0" y="0"/>
          <a:ext cx="0" cy="0"/>
          <a:chOff x="0" y="0"/>
          <a:chExt cx="0" cy="0"/>
        </a:xfrm>
      </p:grpSpPr>
      <p:sp>
        <p:nvSpPr>
          <p:cNvPr id="13" name="Google Shape;13;p5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atin typeface="Roboto"/>
                <a:ea typeface="Roboto"/>
                <a:cs typeface="Roboto"/>
                <a:sym typeface="Roboto"/>
              </a:defRPr>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4" name="Google Shape;14;p51"/>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atin typeface="Roboto"/>
                <a:ea typeface="Roboto"/>
                <a:cs typeface="Roboto"/>
                <a:sym typeface="Robot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5" name="Google Shape;15;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3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 name="Google Shape;18;p3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9" name="Google Shape;19;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2">
    <p:spTree>
      <p:nvGrpSpPr>
        <p:cNvPr id="20" name="Shape 20"/>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4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3" name="Google Shape;23;p40"/>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4" name="Google Shape;24;p40"/>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5" name="Google Shape;25;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6" name="Shape 26"/>
        <p:cNvGrpSpPr/>
        <p:nvPr/>
      </p:nvGrpSpPr>
      <p:grpSpPr>
        <a:xfrm>
          <a:off x="0" y="0"/>
          <a:ext cx="0" cy="0"/>
          <a:chOff x="0" y="0"/>
          <a:chExt cx="0" cy="0"/>
        </a:xfrm>
      </p:grpSpPr>
      <p:sp>
        <p:nvSpPr>
          <p:cNvPr id="27" name="Google Shape;27;p38"/>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atin typeface="Roboto"/>
                <a:ea typeface="Roboto"/>
                <a:cs typeface="Roboto"/>
                <a:sym typeface="Roboto"/>
              </a:defRPr>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8" name="Google Shape;28;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4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atin typeface="Roboto"/>
                <a:ea typeface="Roboto"/>
                <a:cs typeface="Roboto"/>
                <a:sym typeface="Roboto"/>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1" name="Google Shape;31;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42"/>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atin typeface="Roboto"/>
                <a:ea typeface="Roboto"/>
                <a:cs typeface="Roboto"/>
                <a:sym typeface="Roboto"/>
              </a:defRPr>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4" name="Google Shape;34;p42"/>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atin typeface="Roboto"/>
                <a:ea typeface="Roboto"/>
                <a:cs typeface="Roboto"/>
                <a:sym typeface="Roboto"/>
              </a:defRPr>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5" name="Google Shape;35;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 name="Shape 36"/>
        <p:cNvGrpSpPr/>
        <p:nvPr/>
      </p:nvGrpSpPr>
      <p:grpSpPr>
        <a:xfrm>
          <a:off x="0" y="0"/>
          <a:ext cx="0" cy="0"/>
          <a:chOff x="0" y="0"/>
          <a:chExt cx="0" cy="0"/>
        </a:xfrm>
      </p:grpSpPr>
      <p:sp>
        <p:nvSpPr>
          <p:cNvPr id="37" name="Google Shape;37;p43"/>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atin typeface="Roboto"/>
                <a:ea typeface="Roboto"/>
                <a:cs typeface="Roboto"/>
                <a:sym typeface="Roboto"/>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8" name="Google Shape;38;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44"/>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41" name="Google Shape;41;p44"/>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atin typeface="Roboto"/>
                <a:ea typeface="Roboto"/>
                <a:cs typeface="Roboto"/>
                <a:sym typeface="Roboto"/>
              </a:defRPr>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2" name="Google Shape;42;p44"/>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atin typeface="Roboto"/>
                <a:ea typeface="Roboto"/>
                <a:cs typeface="Roboto"/>
                <a:sym typeface="Roboto"/>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44"/>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atin typeface="Roboto"/>
                <a:ea typeface="Roboto"/>
                <a:cs typeface="Roboto"/>
                <a:sym typeface="Roboto"/>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44" name="Google Shape;44;p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45"/>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atin typeface="Roboto"/>
                <a:ea typeface="Roboto"/>
                <a:cs typeface="Roboto"/>
                <a:sym typeface="Roboto"/>
              </a:defRPr>
            </a:lvl1pPr>
          </a:lstStyle>
          <a:p/>
        </p:txBody>
      </p:sp>
      <p:sp>
        <p:nvSpPr>
          <p:cNvPr id="47" name="Google Shape;47;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46"/>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atin typeface="Roboto"/>
                <a:ea typeface="Roboto"/>
                <a:cs typeface="Roboto"/>
                <a:sym typeface="Roboto"/>
              </a:defRPr>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0" name="Google Shape;50;p46"/>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atin typeface="Roboto"/>
                <a:ea typeface="Roboto"/>
                <a:cs typeface="Roboto"/>
                <a:sym typeface="Roboto"/>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51" name="Google Shape;51;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4.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2.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3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3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GB"/>
              <a:t>‹#›</a:t>
            </a:fld>
            <a:endParaRPr/>
          </a:p>
        </p:txBody>
      </p:sp>
      <p:pic>
        <p:nvPicPr>
          <p:cNvPr id="9" name="Google Shape;9;p36"/>
          <p:cNvPicPr preferRelativeResize="0"/>
          <p:nvPr/>
        </p:nvPicPr>
        <p:blipFill rotWithShape="1">
          <a:blip r:embed="rId1">
            <a:alphaModFix/>
          </a:blip>
          <a:srcRect b="0" l="0" r="0" t="0"/>
          <a:stretch/>
        </p:blipFill>
        <p:spPr>
          <a:xfrm>
            <a:off x="-1" y="7219"/>
            <a:ext cx="9144001" cy="513628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transition spd="slow">
    <p:fade thruBlk="1"/>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jpg"/><Relationship Id="rId4" Type="http://schemas.openxmlformats.org/officeDocument/2006/relationships/image" Target="../media/image1.png"/><Relationship Id="rId5"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5.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5.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5.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5.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1.jpg"/><Relationship Id="rId4" Type="http://schemas.openxmlformats.org/officeDocument/2006/relationships/image" Target="../media/image9.png"/><Relationship Id="rId5" Type="http://schemas.openxmlformats.org/officeDocument/2006/relationships/image" Target="../media/image8.png"/><Relationship Id="rId6"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pic>
        <p:nvPicPr>
          <p:cNvPr id="56" name="Google Shape;56;g31b9bf173ee_0_28"/>
          <p:cNvPicPr preferRelativeResize="0"/>
          <p:nvPr/>
        </p:nvPicPr>
        <p:blipFill rotWithShape="1">
          <a:blip r:embed="rId3">
            <a:alphaModFix/>
          </a:blip>
          <a:srcRect b="0" l="0" r="0" t="0"/>
          <a:stretch/>
        </p:blipFill>
        <p:spPr>
          <a:xfrm>
            <a:off x="2" y="4"/>
            <a:ext cx="9144003" cy="5143501"/>
          </a:xfrm>
          <a:prstGeom prst="rect">
            <a:avLst/>
          </a:prstGeom>
          <a:noFill/>
          <a:ln>
            <a:noFill/>
          </a:ln>
        </p:spPr>
      </p:pic>
      <p:pic>
        <p:nvPicPr>
          <p:cNvPr id="57" name="Google Shape;57;g31b9bf173ee_0_28"/>
          <p:cNvPicPr preferRelativeResize="0"/>
          <p:nvPr/>
        </p:nvPicPr>
        <p:blipFill rotWithShape="1">
          <a:blip r:embed="rId4">
            <a:alphaModFix/>
          </a:blip>
          <a:srcRect b="0" l="0" r="0" t="0"/>
          <a:stretch/>
        </p:blipFill>
        <p:spPr>
          <a:xfrm>
            <a:off x="2504604" y="600291"/>
            <a:ext cx="4134799" cy="2923400"/>
          </a:xfrm>
          <a:prstGeom prst="rect">
            <a:avLst/>
          </a:prstGeom>
          <a:noFill/>
          <a:ln>
            <a:noFill/>
          </a:ln>
        </p:spPr>
      </p:pic>
      <p:pic>
        <p:nvPicPr>
          <p:cNvPr id="58" name="Google Shape;58;g31b9bf173ee_0_28"/>
          <p:cNvPicPr preferRelativeResize="0"/>
          <p:nvPr/>
        </p:nvPicPr>
        <p:blipFill rotWithShape="1">
          <a:blip r:embed="rId5">
            <a:alphaModFix/>
          </a:blip>
          <a:srcRect b="0" l="0" r="0" t="0"/>
          <a:stretch/>
        </p:blipFill>
        <p:spPr>
          <a:xfrm>
            <a:off x="2200054" y="3386141"/>
            <a:ext cx="4743901" cy="11570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pic>
        <p:nvPicPr>
          <p:cNvPr id="63" name="Google Shape;63;g2ee15abed17_3_278"/>
          <p:cNvPicPr preferRelativeResize="0"/>
          <p:nvPr/>
        </p:nvPicPr>
        <p:blipFill rotWithShape="1">
          <a:blip r:embed="rId3">
            <a:alphaModFix/>
          </a:blip>
          <a:srcRect b="0" l="0" r="0" t="0"/>
          <a:stretch/>
        </p:blipFill>
        <p:spPr>
          <a:xfrm>
            <a:off x="2" y="4"/>
            <a:ext cx="9144003" cy="5143501"/>
          </a:xfrm>
          <a:prstGeom prst="rect">
            <a:avLst/>
          </a:prstGeom>
          <a:noFill/>
          <a:ln>
            <a:noFill/>
          </a:ln>
        </p:spPr>
      </p:pic>
      <p:sp>
        <p:nvSpPr>
          <p:cNvPr id="64" name="Google Shape;64;g2ee15abed17_3_278"/>
          <p:cNvSpPr txBox="1"/>
          <p:nvPr/>
        </p:nvSpPr>
        <p:spPr>
          <a:xfrm>
            <a:off x="178001" y="2109682"/>
            <a:ext cx="4690800" cy="12438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3200"/>
              <a:buFont typeface="Arial"/>
              <a:buNone/>
            </a:pPr>
            <a:r>
              <a:rPr b="1" i="0" lang="en-GB" sz="3200" u="none" cap="none" strike="noStrike">
                <a:solidFill>
                  <a:schemeClr val="lt1"/>
                </a:solidFill>
                <a:latin typeface="Roboto"/>
                <a:ea typeface="Roboto"/>
                <a:cs typeface="Roboto"/>
                <a:sym typeface="Roboto"/>
              </a:rPr>
              <a:t>PROBLEMS ON AGES</a:t>
            </a:r>
            <a:endParaRPr b="1" i="0" sz="3200" u="none" cap="none" strike="noStrike">
              <a:solidFill>
                <a:schemeClr val="lt1"/>
              </a:solidFill>
              <a:latin typeface="Roboto"/>
              <a:ea typeface="Roboto"/>
              <a:cs typeface="Roboto"/>
              <a:sym typeface="Roboto"/>
            </a:endParaRPr>
          </a:p>
          <a:p>
            <a:pPr indent="0" lvl="0" marL="0" marR="0" rtl="0" algn="ctr">
              <a:lnSpc>
                <a:spcPct val="115000"/>
              </a:lnSpc>
              <a:spcBef>
                <a:spcPts val="0"/>
              </a:spcBef>
              <a:spcAft>
                <a:spcPts val="0"/>
              </a:spcAft>
              <a:buClr>
                <a:srgbClr val="000000"/>
              </a:buClr>
              <a:buSzPts val="3200"/>
              <a:buFont typeface="Arial"/>
              <a:buNone/>
            </a:pPr>
            <a:r>
              <a:t/>
            </a:r>
            <a:endParaRPr b="1" i="0" sz="3200" u="none" cap="none" strike="noStrike">
              <a:solidFill>
                <a:schemeClr val="lt1"/>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g32aa438d55a_0_0"/>
          <p:cNvSpPr txBox="1"/>
          <p:nvPr>
            <p:ph idx="1" type="body"/>
          </p:nvPr>
        </p:nvSpPr>
        <p:spPr>
          <a:xfrm>
            <a:off x="729200" y="1384300"/>
            <a:ext cx="80862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t/>
            </a:r>
            <a:endParaRPr b="1" sz="1600">
              <a:solidFill>
                <a:srgbClr val="373737"/>
              </a:solidFill>
              <a:latin typeface="Roboto"/>
              <a:ea typeface="Roboto"/>
              <a:cs typeface="Roboto"/>
              <a:sym typeface="Roboto"/>
            </a:endParaRPr>
          </a:p>
          <a:p>
            <a:pPr indent="0" lvl="0" marL="0" rtl="0" algn="l">
              <a:lnSpc>
                <a:spcPct val="115000"/>
              </a:lnSpc>
              <a:spcBef>
                <a:spcPts val="0"/>
              </a:spcBef>
              <a:spcAft>
                <a:spcPts val="0"/>
              </a:spcAft>
              <a:buSzPts val="1800"/>
              <a:buNone/>
            </a:pPr>
            <a:r>
              <a:t/>
            </a:r>
            <a:endParaRPr b="1" sz="1600">
              <a:solidFill>
                <a:schemeClr val="dk1"/>
              </a:solidFill>
              <a:highlight>
                <a:srgbClr val="FFFFFF"/>
              </a:highlight>
              <a:latin typeface="Roboto"/>
              <a:ea typeface="Roboto"/>
              <a:cs typeface="Roboto"/>
              <a:sym typeface="Roboto"/>
            </a:endParaRPr>
          </a:p>
          <a:p>
            <a:pPr indent="0" lvl="0" marL="0" rtl="0" algn="l">
              <a:lnSpc>
                <a:spcPct val="115000"/>
              </a:lnSpc>
              <a:spcBef>
                <a:spcPts val="0"/>
              </a:spcBef>
              <a:spcAft>
                <a:spcPts val="0"/>
              </a:spcAft>
              <a:buSzPts val="1800"/>
              <a:buNone/>
            </a:pPr>
            <a:r>
              <a:rPr b="1" lang="en-GB" sz="1600">
                <a:solidFill>
                  <a:schemeClr val="dk1"/>
                </a:solidFill>
                <a:highlight>
                  <a:srgbClr val="FFFFFF"/>
                </a:highlight>
                <a:latin typeface="Roboto"/>
                <a:ea typeface="Roboto"/>
                <a:cs typeface="Roboto"/>
                <a:sym typeface="Roboto"/>
              </a:rPr>
              <a:t>QR CODE</a:t>
            </a:r>
            <a:r>
              <a:rPr b="1" lang="en-GB" sz="1600">
                <a:solidFill>
                  <a:srgbClr val="373737"/>
                </a:solidFill>
                <a:highlight>
                  <a:srgbClr val="FFFFFF"/>
                </a:highlight>
                <a:latin typeface="Roboto"/>
                <a:ea typeface="Roboto"/>
                <a:cs typeface="Roboto"/>
                <a:sym typeface="Roboto"/>
              </a:rPr>
              <a:t>:</a:t>
            </a:r>
            <a:endParaRPr b="1" sz="1600">
              <a:solidFill>
                <a:srgbClr val="373737"/>
              </a:solidFill>
              <a:highlight>
                <a:srgbClr val="FFFFFF"/>
              </a:highlight>
              <a:latin typeface="Roboto"/>
              <a:ea typeface="Roboto"/>
              <a:cs typeface="Roboto"/>
              <a:sym typeface="Roboto"/>
            </a:endParaRPr>
          </a:p>
          <a:p>
            <a:pPr indent="0" lvl="0" marL="0" rtl="0" algn="l">
              <a:lnSpc>
                <a:spcPct val="115000"/>
              </a:lnSpc>
              <a:spcBef>
                <a:spcPts val="0"/>
              </a:spcBef>
              <a:spcAft>
                <a:spcPts val="0"/>
              </a:spcAft>
              <a:buSzPts val="1800"/>
              <a:buNone/>
            </a:pPr>
            <a:r>
              <a:rPr b="1" lang="en-GB" sz="1600">
                <a:solidFill>
                  <a:srgbClr val="373737"/>
                </a:solidFill>
                <a:highlight>
                  <a:srgbClr val="FFFFFF"/>
                </a:highlight>
                <a:latin typeface="Roboto"/>
                <a:ea typeface="Roboto"/>
                <a:cs typeface="Roboto"/>
                <a:sym typeface="Roboto"/>
              </a:rPr>
              <a:t>				</a:t>
            </a:r>
            <a:endParaRPr b="1" sz="1600">
              <a:solidFill>
                <a:srgbClr val="373737"/>
              </a:solidFill>
              <a:highlight>
                <a:srgbClr val="FFFFFF"/>
              </a:highlight>
              <a:latin typeface="Roboto"/>
              <a:ea typeface="Roboto"/>
              <a:cs typeface="Roboto"/>
              <a:sym typeface="Roboto"/>
            </a:endParaRPr>
          </a:p>
          <a:p>
            <a:pPr indent="0" lvl="0" marL="0" rtl="0" algn="l">
              <a:lnSpc>
                <a:spcPct val="115000"/>
              </a:lnSpc>
              <a:spcBef>
                <a:spcPts val="0"/>
              </a:spcBef>
              <a:spcAft>
                <a:spcPts val="0"/>
              </a:spcAft>
              <a:buSzPts val="1800"/>
              <a:buNone/>
            </a:pPr>
            <a:r>
              <a:t/>
            </a:r>
            <a:endParaRPr b="1" sz="1600">
              <a:solidFill>
                <a:srgbClr val="373737"/>
              </a:solidFill>
              <a:highlight>
                <a:srgbClr val="FFFFFF"/>
              </a:highlight>
              <a:latin typeface="Roboto"/>
              <a:ea typeface="Roboto"/>
              <a:cs typeface="Roboto"/>
              <a:sym typeface="Roboto"/>
            </a:endParaRPr>
          </a:p>
        </p:txBody>
      </p:sp>
      <p:sp>
        <p:nvSpPr>
          <p:cNvPr id="70" name="Google Shape;70;g32aa438d55a_0_0"/>
          <p:cNvSpPr txBox="1"/>
          <p:nvPr/>
        </p:nvSpPr>
        <p:spPr>
          <a:xfrm>
            <a:off x="577325" y="622125"/>
            <a:ext cx="77862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500"/>
              <a:buFont typeface="Arial"/>
              <a:buNone/>
            </a:pPr>
            <a:r>
              <a:rPr b="1" lang="en-GB" sz="1800">
                <a:latin typeface="Roboto"/>
                <a:ea typeface="Roboto"/>
                <a:cs typeface="Roboto"/>
                <a:sym typeface="Roboto"/>
              </a:rPr>
              <a:t>                                    Test time on :</a:t>
            </a:r>
            <a:r>
              <a:rPr b="1" i="0" lang="en-GB" sz="1800" u="none" cap="none" strike="noStrike">
                <a:solidFill>
                  <a:srgbClr val="000000"/>
                </a:solidFill>
                <a:latin typeface="Roboto"/>
                <a:ea typeface="Roboto"/>
                <a:cs typeface="Roboto"/>
                <a:sym typeface="Roboto"/>
              </a:rPr>
              <a:t> </a:t>
            </a:r>
            <a:endParaRPr b="1" i="0" sz="1800" u="none" cap="none" strike="noStrike">
              <a:solidFill>
                <a:srgbClr val="000000"/>
              </a:solidFill>
              <a:latin typeface="Roboto"/>
              <a:ea typeface="Roboto"/>
              <a:cs typeface="Roboto"/>
              <a:sym typeface="Roboto"/>
            </a:endParaRPr>
          </a:p>
        </p:txBody>
      </p:sp>
      <p:sp>
        <p:nvSpPr>
          <p:cNvPr id="71" name="Google Shape;71;g32aa438d55a_0_0"/>
          <p:cNvSpPr txBox="1"/>
          <p:nvPr/>
        </p:nvSpPr>
        <p:spPr>
          <a:xfrm>
            <a:off x="5143500" y="944725"/>
            <a:ext cx="40281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g2ee15abed17_3_283"/>
          <p:cNvSpPr txBox="1"/>
          <p:nvPr/>
        </p:nvSpPr>
        <p:spPr>
          <a:xfrm>
            <a:off x="747000" y="1446350"/>
            <a:ext cx="7650000" cy="2704200"/>
          </a:xfrm>
          <a:prstGeom prst="rect">
            <a:avLst/>
          </a:prstGeom>
          <a:noFill/>
          <a:ln cap="flat" cmpd="sng" w="9525">
            <a:solidFill>
              <a:schemeClr val="lt1"/>
            </a:solidFill>
            <a:prstDash val="solid"/>
            <a:round/>
            <a:headEnd len="sm" w="sm" type="none"/>
            <a:tailEnd len="sm" w="sm" type="none"/>
          </a:ln>
        </p:spPr>
        <p:txBody>
          <a:bodyPr anchorCtr="0" anchor="t" bIns="0" lIns="540000" spcFirstLastPara="1" rIns="154200" wrap="square" tIns="0">
            <a:noAutofit/>
          </a:bodyPr>
          <a:lstStyle/>
          <a:p>
            <a:pPr indent="0" lvl="0" marL="0" rtl="0" algn="just">
              <a:spcBef>
                <a:spcPts val="0"/>
              </a:spcBef>
              <a:spcAft>
                <a:spcPts val="0"/>
              </a:spcAft>
              <a:buNone/>
            </a:pPr>
            <a:r>
              <a:rPr lang="en-GB" sz="1800">
                <a:solidFill>
                  <a:schemeClr val="dk1"/>
                </a:solidFill>
                <a:latin typeface="Roboto"/>
                <a:ea typeface="Roboto"/>
                <a:cs typeface="Roboto"/>
                <a:sym typeface="Roboto"/>
              </a:rPr>
              <a:t>The Ratios Of Akash &amp; Vinesh Age Is 9:7.If The Difference Between The Present Age Of Akash &amp; The Age Of Vinesh 5 Years Hence Is 3.Then Find The Sum Of Their Present Ages?</a:t>
            </a:r>
            <a:endParaRPr sz="1800">
              <a:solidFill>
                <a:schemeClr val="dk1"/>
              </a:solidFill>
              <a:latin typeface="Roboto"/>
              <a:ea typeface="Roboto"/>
              <a:cs typeface="Roboto"/>
              <a:sym typeface="Roboto"/>
            </a:endParaRPr>
          </a:p>
          <a:p>
            <a:pPr indent="0" lvl="0" marL="0" rtl="0" algn="just">
              <a:spcBef>
                <a:spcPts val="0"/>
              </a:spcBef>
              <a:spcAft>
                <a:spcPts val="0"/>
              </a:spcAft>
              <a:buNone/>
            </a:pPr>
            <a:r>
              <a:t/>
            </a:r>
            <a:endParaRPr sz="1800">
              <a:solidFill>
                <a:schemeClr val="dk1"/>
              </a:solidFill>
              <a:latin typeface="Roboto"/>
              <a:ea typeface="Roboto"/>
              <a:cs typeface="Roboto"/>
              <a:sym typeface="Roboto"/>
            </a:endParaRPr>
          </a:p>
          <a:p>
            <a:pPr indent="0" lvl="0" marL="0" rtl="0" algn="just">
              <a:spcBef>
                <a:spcPts val="0"/>
              </a:spcBef>
              <a:spcAft>
                <a:spcPts val="0"/>
              </a:spcAft>
              <a:buNone/>
            </a:pPr>
            <a:r>
              <a:rPr lang="en-GB" sz="1800">
                <a:solidFill>
                  <a:schemeClr val="dk1"/>
                </a:solidFill>
                <a:latin typeface="Roboto"/>
                <a:ea typeface="Roboto"/>
                <a:cs typeface="Roboto"/>
                <a:sym typeface="Roboto"/>
              </a:rPr>
              <a:t>A] 52</a:t>
            </a:r>
            <a:endParaRPr sz="1800">
              <a:solidFill>
                <a:schemeClr val="dk1"/>
              </a:solidFill>
              <a:latin typeface="Roboto"/>
              <a:ea typeface="Roboto"/>
              <a:cs typeface="Roboto"/>
              <a:sym typeface="Roboto"/>
            </a:endParaRPr>
          </a:p>
          <a:p>
            <a:pPr indent="0" lvl="0" marL="0" rtl="0" algn="just">
              <a:spcBef>
                <a:spcPts val="0"/>
              </a:spcBef>
              <a:spcAft>
                <a:spcPts val="0"/>
              </a:spcAft>
              <a:buNone/>
            </a:pPr>
            <a:r>
              <a:rPr lang="en-GB" sz="1800">
                <a:solidFill>
                  <a:schemeClr val="dk1"/>
                </a:solidFill>
                <a:latin typeface="Roboto"/>
                <a:ea typeface="Roboto"/>
                <a:cs typeface="Roboto"/>
                <a:sym typeface="Roboto"/>
              </a:rPr>
              <a:t>B] 45</a:t>
            </a:r>
            <a:endParaRPr sz="1800">
              <a:solidFill>
                <a:schemeClr val="dk1"/>
              </a:solidFill>
              <a:latin typeface="Roboto"/>
              <a:ea typeface="Roboto"/>
              <a:cs typeface="Roboto"/>
              <a:sym typeface="Roboto"/>
            </a:endParaRPr>
          </a:p>
          <a:p>
            <a:pPr indent="0" lvl="0" marL="0" rtl="0" algn="just">
              <a:spcBef>
                <a:spcPts val="0"/>
              </a:spcBef>
              <a:spcAft>
                <a:spcPts val="0"/>
              </a:spcAft>
              <a:buNone/>
            </a:pPr>
            <a:r>
              <a:rPr lang="en-GB" sz="1800">
                <a:solidFill>
                  <a:schemeClr val="dk1"/>
                </a:solidFill>
                <a:latin typeface="Roboto"/>
                <a:ea typeface="Roboto"/>
                <a:cs typeface="Roboto"/>
                <a:sym typeface="Roboto"/>
              </a:rPr>
              <a:t>C] 64</a:t>
            </a:r>
            <a:endParaRPr sz="1800">
              <a:solidFill>
                <a:schemeClr val="dk1"/>
              </a:solidFill>
              <a:latin typeface="Roboto"/>
              <a:ea typeface="Roboto"/>
              <a:cs typeface="Roboto"/>
              <a:sym typeface="Roboto"/>
            </a:endParaRPr>
          </a:p>
          <a:p>
            <a:pPr indent="0" lvl="0" marL="0" rtl="0" algn="just">
              <a:spcBef>
                <a:spcPts val="0"/>
              </a:spcBef>
              <a:spcAft>
                <a:spcPts val="0"/>
              </a:spcAft>
              <a:buNone/>
            </a:pPr>
            <a:r>
              <a:rPr lang="en-GB" sz="1800">
                <a:solidFill>
                  <a:schemeClr val="dk1"/>
                </a:solidFill>
                <a:latin typeface="Roboto"/>
                <a:ea typeface="Roboto"/>
                <a:cs typeface="Roboto"/>
                <a:sym typeface="Roboto"/>
              </a:rPr>
              <a:t>D] 72</a:t>
            </a:r>
            <a:endParaRPr sz="1800">
              <a:solidFill>
                <a:schemeClr val="dk1"/>
              </a:solidFill>
              <a:latin typeface="Roboto"/>
              <a:ea typeface="Roboto"/>
              <a:cs typeface="Roboto"/>
              <a:sym typeface="Roboto"/>
            </a:endParaRPr>
          </a:p>
          <a:p>
            <a:pPr indent="0" lvl="0" marL="457200" marR="0" rtl="0" algn="l">
              <a:lnSpc>
                <a:spcPct val="150000"/>
              </a:lnSpc>
              <a:spcBef>
                <a:spcPts val="0"/>
              </a:spcBef>
              <a:spcAft>
                <a:spcPts val="0"/>
              </a:spcAft>
              <a:buNone/>
            </a:pPr>
            <a:r>
              <a:t/>
            </a:r>
            <a:endParaRPr sz="1800">
              <a:solidFill>
                <a:schemeClr val="dk1"/>
              </a:solidFill>
            </a:endParaRPr>
          </a:p>
        </p:txBody>
      </p:sp>
      <p:sp>
        <p:nvSpPr>
          <p:cNvPr id="77" name="Google Shape;77;g2ee15abed17_3_283"/>
          <p:cNvSpPr txBox="1"/>
          <p:nvPr/>
        </p:nvSpPr>
        <p:spPr>
          <a:xfrm>
            <a:off x="720000" y="579950"/>
            <a:ext cx="2351100" cy="415500"/>
          </a:xfrm>
          <a:prstGeom prst="rect">
            <a:avLst/>
          </a:prstGeom>
          <a:noFill/>
          <a:ln>
            <a:noFill/>
          </a:ln>
        </p:spPr>
        <p:txBody>
          <a:bodyPr anchorCtr="0" anchor="t" bIns="45700" lIns="91425" spcFirstLastPara="1" rIns="91425" wrap="square" tIns="45700">
            <a:spAutoFit/>
          </a:bodyPr>
          <a:lstStyle/>
          <a:p>
            <a:pPr indent="0" lvl="0" marL="0" marR="0" rtl="0" algn="l">
              <a:lnSpc>
                <a:spcPct val="115000"/>
              </a:lnSpc>
              <a:spcBef>
                <a:spcPts val="0"/>
              </a:spcBef>
              <a:spcAft>
                <a:spcPts val="0"/>
              </a:spcAft>
              <a:buClr>
                <a:srgbClr val="000000"/>
              </a:buClr>
              <a:buSzPts val="3500"/>
              <a:buFont typeface="Arial"/>
              <a:buNone/>
            </a:pPr>
            <a:r>
              <a:t/>
            </a:r>
            <a:endParaRPr b="0" i="0" sz="2100" u="none" cap="none" strike="noStrike">
              <a:solidFill>
                <a:srgbClr val="6D9EEB"/>
              </a:solidFill>
              <a:latin typeface="Roboto Black"/>
              <a:ea typeface="Roboto Black"/>
              <a:cs typeface="Roboto Black"/>
              <a:sym typeface="Roboto Black"/>
            </a:endParaRPr>
          </a:p>
        </p:txBody>
      </p:sp>
      <p:sp>
        <p:nvSpPr>
          <p:cNvPr id="78" name="Google Shape;78;g2ee15abed17_3_283"/>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01</a:t>
            </a:r>
            <a:endParaRPr b="1" i="0" sz="2000" u="none" cap="none" strike="noStrike">
              <a:solidFill>
                <a:srgbClr val="8182EF"/>
              </a:solidFill>
              <a:latin typeface="Roboto"/>
              <a:ea typeface="Roboto"/>
              <a:cs typeface="Roboto"/>
              <a:sym typeface="Roboto"/>
            </a:endParaRPr>
          </a:p>
        </p:txBody>
      </p:sp>
      <p:sp>
        <p:nvSpPr>
          <p:cNvPr id="79" name="Google Shape;79;g2ee15abed17_3_283"/>
          <p:cNvSpPr txBox="1"/>
          <p:nvPr/>
        </p:nvSpPr>
        <p:spPr>
          <a:xfrm>
            <a:off x="7157600" y="4324350"/>
            <a:ext cx="12117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1" i="0" lang="en-GB" sz="1600" u="none" cap="none" strike="noStrike">
                <a:solidFill>
                  <a:srgbClr val="000000"/>
                </a:solidFill>
                <a:latin typeface="Roboto"/>
                <a:ea typeface="Roboto"/>
                <a:cs typeface="Roboto"/>
                <a:sym typeface="Roboto"/>
              </a:rPr>
              <a:t>Answer : </a:t>
            </a:r>
            <a:r>
              <a:rPr b="1" lang="en-GB" sz="1600">
                <a:latin typeface="Roboto"/>
                <a:ea typeface="Roboto"/>
                <a:cs typeface="Roboto"/>
                <a:sym typeface="Roboto"/>
              </a:rPr>
              <a:t>C</a:t>
            </a:r>
            <a:endParaRPr b="1" i="0" sz="1600" u="none" cap="none" strike="noStrike">
              <a:solidFill>
                <a:srgbClr val="000000"/>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
                                            <p:txEl>
                                              <p:pRg end="0" st="0"/>
                                            </p:txEl>
                                          </p:spTgt>
                                        </p:tgtEl>
                                        <p:attrNameLst>
                                          <p:attrName>style.visibility</p:attrName>
                                        </p:attrNameLst>
                                      </p:cBhvr>
                                      <p:to>
                                        <p:strVal val="visible"/>
                                      </p:to>
                                    </p:set>
                                    <p:animEffect filter="fade" transition="in">
                                      <p:cBhvr>
                                        <p:cTn dur="1000"/>
                                        <p:tgtEl>
                                          <p:spTgt spid="7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
                                            <p:txEl>
                                              <p:pRg end="1" st="1"/>
                                            </p:txEl>
                                          </p:spTgt>
                                        </p:tgtEl>
                                        <p:attrNameLst>
                                          <p:attrName>style.visibility</p:attrName>
                                        </p:attrNameLst>
                                      </p:cBhvr>
                                      <p:to>
                                        <p:strVal val="visible"/>
                                      </p:to>
                                    </p:set>
                                    <p:animEffect filter="fade" transition="in">
                                      <p:cBhvr>
                                        <p:cTn dur="1000"/>
                                        <p:tgtEl>
                                          <p:spTgt spid="7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
                                            <p:txEl>
                                              <p:pRg end="2" st="2"/>
                                            </p:txEl>
                                          </p:spTgt>
                                        </p:tgtEl>
                                        <p:attrNameLst>
                                          <p:attrName>style.visibility</p:attrName>
                                        </p:attrNameLst>
                                      </p:cBhvr>
                                      <p:to>
                                        <p:strVal val="visible"/>
                                      </p:to>
                                    </p:set>
                                    <p:animEffect filter="fade" transition="in">
                                      <p:cBhvr>
                                        <p:cTn dur="1000"/>
                                        <p:tgtEl>
                                          <p:spTgt spid="7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
                                            <p:txEl>
                                              <p:pRg end="3" st="3"/>
                                            </p:txEl>
                                          </p:spTgt>
                                        </p:tgtEl>
                                        <p:attrNameLst>
                                          <p:attrName>style.visibility</p:attrName>
                                        </p:attrNameLst>
                                      </p:cBhvr>
                                      <p:to>
                                        <p:strVal val="visible"/>
                                      </p:to>
                                    </p:set>
                                    <p:animEffect filter="fade" transition="in">
                                      <p:cBhvr>
                                        <p:cTn dur="1000"/>
                                        <p:tgtEl>
                                          <p:spTgt spid="7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
                                            <p:txEl>
                                              <p:pRg end="4" st="4"/>
                                            </p:txEl>
                                          </p:spTgt>
                                        </p:tgtEl>
                                        <p:attrNameLst>
                                          <p:attrName>style.visibility</p:attrName>
                                        </p:attrNameLst>
                                      </p:cBhvr>
                                      <p:to>
                                        <p:strVal val="visible"/>
                                      </p:to>
                                    </p:set>
                                    <p:animEffect filter="fade" transition="in">
                                      <p:cBhvr>
                                        <p:cTn dur="1000"/>
                                        <p:tgtEl>
                                          <p:spTgt spid="7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
                                            <p:txEl>
                                              <p:pRg end="5" st="5"/>
                                            </p:txEl>
                                          </p:spTgt>
                                        </p:tgtEl>
                                        <p:attrNameLst>
                                          <p:attrName>style.visibility</p:attrName>
                                        </p:attrNameLst>
                                      </p:cBhvr>
                                      <p:to>
                                        <p:strVal val="visible"/>
                                      </p:to>
                                    </p:set>
                                    <p:animEffect filter="fade" transition="in">
                                      <p:cBhvr>
                                        <p:cTn dur="1000"/>
                                        <p:tgtEl>
                                          <p:spTgt spid="7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6">
                                            <p:txEl>
                                              <p:pRg end="6" st="6"/>
                                            </p:txEl>
                                          </p:spTgt>
                                        </p:tgtEl>
                                        <p:attrNameLst>
                                          <p:attrName>style.visibility</p:attrName>
                                        </p:attrNameLst>
                                      </p:cBhvr>
                                      <p:to>
                                        <p:strVal val="visible"/>
                                      </p:to>
                                    </p:set>
                                    <p:animEffect filter="fade" transition="in">
                                      <p:cBhvr>
                                        <p:cTn dur="1000"/>
                                        <p:tgtEl>
                                          <p:spTgt spid="76">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83" name="Shape 83"/>
        <p:cNvGrpSpPr/>
        <p:nvPr/>
      </p:nvGrpSpPr>
      <p:grpSpPr>
        <a:xfrm>
          <a:off x="0" y="0"/>
          <a:ext cx="0" cy="0"/>
          <a:chOff x="0" y="0"/>
          <a:chExt cx="0" cy="0"/>
        </a:xfrm>
      </p:grpSpPr>
      <p:sp>
        <p:nvSpPr>
          <p:cNvPr id="84" name="Google Shape;84;g2ee15abed17_3_288"/>
          <p:cNvSpPr txBox="1"/>
          <p:nvPr/>
        </p:nvSpPr>
        <p:spPr>
          <a:xfrm>
            <a:off x="-34425" y="502200"/>
            <a:ext cx="44577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 </a:t>
            </a:r>
            <a:r>
              <a:rPr b="1" i="0" lang="en-GB" sz="2000" u="none" cap="none" strike="noStrike">
                <a:solidFill>
                  <a:schemeClr val="lt1"/>
                </a:solidFill>
                <a:latin typeface="Roboto"/>
                <a:ea typeface="Roboto"/>
                <a:cs typeface="Roboto"/>
                <a:sym typeface="Roboto"/>
              </a:rPr>
              <a:t> CLOCKS</a:t>
            </a:r>
            <a:endParaRPr b="1" i="0" sz="2000" u="none" cap="none" strike="noStrike">
              <a:solidFill>
                <a:schemeClr val="lt1"/>
              </a:solidFill>
              <a:latin typeface="Roboto"/>
              <a:ea typeface="Roboto"/>
              <a:cs typeface="Roboto"/>
              <a:sym typeface="Roboto"/>
            </a:endParaRPr>
          </a:p>
        </p:txBody>
      </p:sp>
      <p:sp>
        <p:nvSpPr>
          <p:cNvPr id="85" name="Google Shape;85;g2ee15abed17_3_288"/>
          <p:cNvSpPr txBox="1"/>
          <p:nvPr/>
        </p:nvSpPr>
        <p:spPr>
          <a:xfrm>
            <a:off x="711775" y="1439875"/>
            <a:ext cx="7657500" cy="2475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The Age of Akash &amp; Vinesh=9x &amp; 7x</a:t>
            </a:r>
            <a:endParaRPr sz="1800">
              <a:solidFill>
                <a:schemeClr val="dk1"/>
              </a:solidFill>
              <a:latin typeface="Roboto"/>
              <a:ea typeface="Roboto"/>
              <a:cs typeface="Roboto"/>
              <a:sym typeface="Roboto"/>
            </a:endParaRPr>
          </a:p>
          <a:p>
            <a:pPr indent="0" lvl="0" marL="0" rtl="0" algn="l">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Given that the difference between the age of Akash &amp; Age of Vinesh after 5 years is 3.</a:t>
            </a:r>
            <a:endParaRPr sz="1800">
              <a:solidFill>
                <a:schemeClr val="dk1"/>
              </a:solidFill>
              <a:latin typeface="Roboto"/>
              <a:ea typeface="Roboto"/>
              <a:cs typeface="Roboto"/>
              <a:sym typeface="Roboto"/>
            </a:endParaRPr>
          </a:p>
          <a:p>
            <a:pPr indent="0" lvl="0" marL="0" rtl="0" algn="l">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=9x-(7x+5)=3</a:t>
            </a:r>
            <a:endParaRPr sz="1800">
              <a:solidFill>
                <a:schemeClr val="dk1"/>
              </a:solidFill>
              <a:latin typeface="Roboto"/>
              <a:ea typeface="Roboto"/>
              <a:cs typeface="Roboto"/>
              <a:sym typeface="Roboto"/>
            </a:endParaRPr>
          </a:p>
          <a:p>
            <a:pPr indent="0" lvl="0" marL="0" rtl="0" algn="l">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=9x-7x-5=3</a:t>
            </a:r>
            <a:endParaRPr sz="1800">
              <a:solidFill>
                <a:schemeClr val="dk1"/>
              </a:solidFill>
              <a:latin typeface="Roboto"/>
              <a:ea typeface="Roboto"/>
              <a:cs typeface="Roboto"/>
              <a:sym typeface="Roboto"/>
            </a:endParaRPr>
          </a:p>
          <a:p>
            <a:pPr indent="0" lvl="0" marL="0" rtl="0" algn="l">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=2x=8</a:t>
            </a:r>
            <a:endParaRPr sz="1800">
              <a:solidFill>
                <a:schemeClr val="dk1"/>
              </a:solidFill>
              <a:latin typeface="Roboto"/>
              <a:ea typeface="Roboto"/>
              <a:cs typeface="Roboto"/>
              <a:sym typeface="Roboto"/>
            </a:endParaRPr>
          </a:p>
          <a:p>
            <a:pPr indent="0" lvl="0" marL="0" rtl="0" algn="l">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x=4</a:t>
            </a:r>
            <a:endParaRPr sz="1800">
              <a:solidFill>
                <a:schemeClr val="dk1"/>
              </a:solidFill>
              <a:latin typeface="Roboto"/>
              <a:ea typeface="Roboto"/>
              <a:cs typeface="Roboto"/>
              <a:sym typeface="Roboto"/>
            </a:endParaRPr>
          </a:p>
          <a:p>
            <a:pPr indent="0" lvl="0" marL="0" rtl="0" algn="l">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Therefore the sum of their age is </a:t>
            </a:r>
            <a:r>
              <a:rPr b="1" lang="en-GB" sz="1800">
                <a:solidFill>
                  <a:schemeClr val="dk1"/>
                </a:solidFill>
                <a:latin typeface="Roboto"/>
                <a:ea typeface="Roboto"/>
                <a:cs typeface="Roboto"/>
                <a:sym typeface="Roboto"/>
              </a:rPr>
              <a:t>64.</a:t>
            </a:r>
            <a:endParaRPr sz="1800">
              <a:solidFill>
                <a:schemeClr val="dk1"/>
              </a:solidFill>
              <a:latin typeface="Roboto"/>
              <a:ea typeface="Roboto"/>
              <a:cs typeface="Roboto"/>
              <a:sym typeface="Roboto"/>
            </a:endParaRPr>
          </a:p>
        </p:txBody>
      </p:sp>
      <p:sp>
        <p:nvSpPr>
          <p:cNvPr id="86" name="Google Shape;86;g2ee15abed17_3_288"/>
          <p:cNvSpPr txBox="1"/>
          <p:nvPr/>
        </p:nvSpPr>
        <p:spPr>
          <a:xfrm>
            <a:off x="630000" y="630250"/>
            <a:ext cx="309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01</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
                                            <p:txEl>
                                              <p:pRg end="0" st="0"/>
                                            </p:txEl>
                                          </p:spTgt>
                                        </p:tgtEl>
                                        <p:attrNameLst>
                                          <p:attrName>style.visibility</p:attrName>
                                        </p:attrNameLst>
                                      </p:cBhvr>
                                      <p:to>
                                        <p:strVal val="visible"/>
                                      </p:to>
                                    </p:set>
                                    <p:animEffect filter="fade" transition="in">
                                      <p:cBhvr>
                                        <p:cTn dur="1000"/>
                                        <p:tgtEl>
                                          <p:spTgt spid="8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
                                            <p:txEl>
                                              <p:pRg end="1" st="1"/>
                                            </p:txEl>
                                          </p:spTgt>
                                        </p:tgtEl>
                                        <p:attrNameLst>
                                          <p:attrName>style.visibility</p:attrName>
                                        </p:attrNameLst>
                                      </p:cBhvr>
                                      <p:to>
                                        <p:strVal val="visible"/>
                                      </p:to>
                                    </p:set>
                                    <p:animEffect filter="fade" transition="in">
                                      <p:cBhvr>
                                        <p:cTn dur="1000"/>
                                        <p:tgtEl>
                                          <p:spTgt spid="8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
                                            <p:txEl>
                                              <p:pRg end="2" st="2"/>
                                            </p:txEl>
                                          </p:spTgt>
                                        </p:tgtEl>
                                        <p:attrNameLst>
                                          <p:attrName>style.visibility</p:attrName>
                                        </p:attrNameLst>
                                      </p:cBhvr>
                                      <p:to>
                                        <p:strVal val="visible"/>
                                      </p:to>
                                    </p:set>
                                    <p:animEffect filter="fade" transition="in">
                                      <p:cBhvr>
                                        <p:cTn dur="1000"/>
                                        <p:tgtEl>
                                          <p:spTgt spid="8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
                                            <p:txEl>
                                              <p:pRg end="3" st="3"/>
                                            </p:txEl>
                                          </p:spTgt>
                                        </p:tgtEl>
                                        <p:attrNameLst>
                                          <p:attrName>style.visibility</p:attrName>
                                        </p:attrNameLst>
                                      </p:cBhvr>
                                      <p:to>
                                        <p:strVal val="visible"/>
                                      </p:to>
                                    </p:set>
                                    <p:animEffect filter="fade" transition="in">
                                      <p:cBhvr>
                                        <p:cTn dur="1000"/>
                                        <p:tgtEl>
                                          <p:spTgt spid="8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
                                            <p:txEl>
                                              <p:pRg end="4" st="4"/>
                                            </p:txEl>
                                          </p:spTgt>
                                        </p:tgtEl>
                                        <p:attrNameLst>
                                          <p:attrName>style.visibility</p:attrName>
                                        </p:attrNameLst>
                                      </p:cBhvr>
                                      <p:to>
                                        <p:strVal val="visible"/>
                                      </p:to>
                                    </p:set>
                                    <p:animEffect filter="fade" transition="in">
                                      <p:cBhvr>
                                        <p:cTn dur="1000"/>
                                        <p:tgtEl>
                                          <p:spTgt spid="85">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
                                            <p:txEl>
                                              <p:pRg end="5" st="5"/>
                                            </p:txEl>
                                          </p:spTgt>
                                        </p:tgtEl>
                                        <p:attrNameLst>
                                          <p:attrName>style.visibility</p:attrName>
                                        </p:attrNameLst>
                                      </p:cBhvr>
                                      <p:to>
                                        <p:strVal val="visible"/>
                                      </p:to>
                                    </p:set>
                                    <p:animEffect filter="fade" transition="in">
                                      <p:cBhvr>
                                        <p:cTn dur="1000"/>
                                        <p:tgtEl>
                                          <p:spTgt spid="85">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
                                            <p:txEl>
                                              <p:pRg end="6" st="6"/>
                                            </p:txEl>
                                          </p:spTgt>
                                        </p:tgtEl>
                                        <p:attrNameLst>
                                          <p:attrName>style.visibility</p:attrName>
                                        </p:attrNameLst>
                                      </p:cBhvr>
                                      <p:to>
                                        <p:strVal val="visible"/>
                                      </p:to>
                                    </p:set>
                                    <p:animEffect filter="fade" transition="in">
                                      <p:cBhvr>
                                        <p:cTn dur="1000"/>
                                        <p:tgtEl>
                                          <p:spTgt spid="85">
                                            <p:txEl>
                                              <p:pRg end="6" st="6"/>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g2ee15abed17_3_293"/>
          <p:cNvSpPr txBox="1"/>
          <p:nvPr/>
        </p:nvSpPr>
        <p:spPr>
          <a:xfrm>
            <a:off x="720000" y="1439875"/>
            <a:ext cx="76494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rtl="0" algn="just">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The Ratio Of Aathi &amp; Ajay Is 3:5 And Sum Of Their Age Is 80 Years &amp; Ratio Of Their Ages After 10 Years Will Be?</a:t>
            </a:r>
            <a:endParaRPr sz="1800">
              <a:solidFill>
                <a:schemeClr val="dk1"/>
              </a:solidFill>
              <a:latin typeface="Roboto"/>
              <a:ea typeface="Roboto"/>
              <a:cs typeface="Roboto"/>
              <a:sym typeface="Roboto"/>
            </a:endParaRPr>
          </a:p>
          <a:p>
            <a:pPr indent="0" lvl="0" marL="0" rtl="0" algn="just">
              <a:spcBef>
                <a:spcPts val="0"/>
              </a:spcBef>
              <a:spcAft>
                <a:spcPts val="0"/>
              </a:spcAft>
              <a:buClr>
                <a:schemeClr val="dk1"/>
              </a:buClr>
              <a:buSzPts val="1100"/>
              <a:buFont typeface="Arial"/>
              <a:buNone/>
            </a:pPr>
            <a:r>
              <a:t/>
            </a:r>
            <a:endParaRPr sz="1800">
              <a:solidFill>
                <a:schemeClr val="dk1"/>
              </a:solidFill>
              <a:latin typeface="Roboto"/>
              <a:ea typeface="Roboto"/>
              <a:cs typeface="Roboto"/>
              <a:sym typeface="Roboto"/>
            </a:endParaRPr>
          </a:p>
          <a:p>
            <a:pPr indent="0" lvl="0" marL="0" rtl="0" algn="just">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A] 3:5</a:t>
            </a:r>
            <a:endParaRPr sz="1800">
              <a:solidFill>
                <a:schemeClr val="dk1"/>
              </a:solidFill>
              <a:latin typeface="Roboto"/>
              <a:ea typeface="Roboto"/>
              <a:cs typeface="Roboto"/>
              <a:sym typeface="Roboto"/>
            </a:endParaRPr>
          </a:p>
          <a:p>
            <a:pPr indent="0" lvl="0" marL="0" rtl="0" algn="just">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B] 1:2</a:t>
            </a:r>
            <a:endParaRPr sz="1800">
              <a:solidFill>
                <a:schemeClr val="dk1"/>
              </a:solidFill>
              <a:latin typeface="Roboto"/>
              <a:ea typeface="Roboto"/>
              <a:cs typeface="Roboto"/>
              <a:sym typeface="Roboto"/>
            </a:endParaRPr>
          </a:p>
          <a:p>
            <a:pPr indent="0" lvl="0" marL="0" rtl="0" algn="just">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C] 2:3</a:t>
            </a:r>
            <a:endParaRPr sz="1800">
              <a:solidFill>
                <a:schemeClr val="dk1"/>
              </a:solidFill>
              <a:latin typeface="Roboto"/>
              <a:ea typeface="Roboto"/>
              <a:cs typeface="Roboto"/>
              <a:sym typeface="Roboto"/>
            </a:endParaRPr>
          </a:p>
          <a:p>
            <a:pPr indent="0" lvl="0" marL="0" rtl="0" algn="just">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D] 6:5</a:t>
            </a:r>
            <a:endParaRPr sz="1800">
              <a:solidFill>
                <a:schemeClr val="dk1"/>
              </a:solidFill>
              <a:highlight>
                <a:schemeClr val="lt1"/>
              </a:highlight>
              <a:latin typeface="Roboto"/>
              <a:ea typeface="Roboto"/>
              <a:cs typeface="Roboto"/>
              <a:sym typeface="Roboto"/>
            </a:endParaRPr>
          </a:p>
        </p:txBody>
      </p:sp>
      <p:sp>
        <p:nvSpPr>
          <p:cNvPr id="92" name="Google Shape;92;g2ee15abed17_3_293"/>
          <p:cNvSpPr txBox="1"/>
          <p:nvPr/>
        </p:nvSpPr>
        <p:spPr>
          <a:xfrm>
            <a:off x="630000" y="630250"/>
            <a:ext cx="309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02</a:t>
            </a:r>
            <a:endParaRPr b="0" i="0" sz="1400" u="none" cap="none" strike="noStrike">
              <a:solidFill>
                <a:srgbClr val="000000"/>
              </a:solidFill>
              <a:latin typeface="Arial"/>
              <a:ea typeface="Arial"/>
              <a:cs typeface="Arial"/>
              <a:sym typeface="Arial"/>
            </a:endParaRPr>
          </a:p>
        </p:txBody>
      </p:sp>
      <p:sp>
        <p:nvSpPr>
          <p:cNvPr id="93" name="Google Shape;93;g2ee15abed17_3_293"/>
          <p:cNvSpPr txBox="1"/>
          <p:nvPr/>
        </p:nvSpPr>
        <p:spPr>
          <a:xfrm>
            <a:off x="7139600" y="4324350"/>
            <a:ext cx="12297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1" i="0" lang="en-GB" sz="1600" u="none" cap="none" strike="noStrike">
                <a:solidFill>
                  <a:srgbClr val="000000"/>
                </a:solidFill>
                <a:latin typeface="Roboto"/>
                <a:ea typeface="Roboto"/>
                <a:cs typeface="Roboto"/>
                <a:sym typeface="Roboto"/>
              </a:rPr>
              <a:t>Answer : </a:t>
            </a:r>
            <a:r>
              <a:rPr b="1" lang="en-GB" sz="1600">
                <a:latin typeface="Roboto"/>
                <a:ea typeface="Roboto"/>
                <a:cs typeface="Roboto"/>
                <a:sym typeface="Roboto"/>
              </a:rPr>
              <a:t>C</a:t>
            </a:r>
            <a:endParaRPr b="1" i="0" sz="1600" u="none" cap="none" strike="noStrike">
              <a:solidFill>
                <a:srgbClr val="000000"/>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
                                            <p:txEl>
                                              <p:pRg end="0" st="0"/>
                                            </p:txEl>
                                          </p:spTgt>
                                        </p:tgtEl>
                                        <p:attrNameLst>
                                          <p:attrName>style.visibility</p:attrName>
                                        </p:attrNameLst>
                                      </p:cBhvr>
                                      <p:to>
                                        <p:strVal val="visible"/>
                                      </p:to>
                                    </p:set>
                                    <p:animEffect filter="fade" transition="in">
                                      <p:cBhvr>
                                        <p:cTn dur="1000"/>
                                        <p:tgtEl>
                                          <p:spTgt spid="9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
                                            <p:txEl>
                                              <p:pRg end="1" st="1"/>
                                            </p:txEl>
                                          </p:spTgt>
                                        </p:tgtEl>
                                        <p:attrNameLst>
                                          <p:attrName>style.visibility</p:attrName>
                                        </p:attrNameLst>
                                      </p:cBhvr>
                                      <p:to>
                                        <p:strVal val="visible"/>
                                      </p:to>
                                    </p:set>
                                    <p:animEffect filter="fade" transition="in">
                                      <p:cBhvr>
                                        <p:cTn dur="1000"/>
                                        <p:tgtEl>
                                          <p:spTgt spid="9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
                                            <p:txEl>
                                              <p:pRg end="2" st="2"/>
                                            </p:txEl>
                                          </p:spTgt>
                                        </p:tgtEl>
                                        <p:attrNameLst>
                                          <p:attrName>style.visibility</p:attrName>
                                        </p:attrNameLst>
                                      </p:cBhvr>
                                      <p:to>
                                        <p:strVal val="visible"/>
                                      </p:to>
                                    </p:set>
                                    <p:animEffect filter="fade" transition="in">
                                      <p:cBhvr>
                                        <p:cTn dur="1000"/>
                                        <p:tgtEl>
                                          <p:spTgt spid="9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
                                            <p:txEl>
                                              <p:pRg end="3" st="3"/>
                                            </p:txEl>
                                          </p:spTgt>
                                        </p:tgtEl>
                                        <p:attrNameLst>
                                          <p:attrName>style.visibility</p:attrName>
                                        </p:attrNameLst>
                                      </p:cBhvr>
                                      <p:to>
                                        <p:strVal val="visible"/>
                                      </p:to>
                                    </p:set>
                                    <p:animEffect filter="fade" transition="in">
                                      <p:cBhvr>
                                        <p:cTn dur="1000"/>
                                        <p:tgtEl>
                                          <p:spTgt spid="9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
                                            <p:txEl>
                                              <p:pRg end="4" st="4"/>
                                            </p:txEl>
                                          </p:spTgt>
                                        </p:tgtEl>
                                        <p:attrNameLst>
                                          <p:attrName>style.visibility</p:attrName>
                                        </p:attrNameLst>
                                      </p:cBhvr>
                                      <p:to>
                                        <p:strVal val="visible"/>
                                      </p:to>
                                    </p:set>
                                    <p:animEffect filter="fade" transition="in">
                                      <p:cBhvr>
                                        <p:cTn dur="1000"/>
                                        <p:tgtEl>
                                          <p:spTgt spid="9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
                                            <p:txEl>
                                              <p:pRg end="5" st="5"/>
                                            </p:txEl>
                                          </p:spTgt>
                                        </p:tgtEl>
                                        <p:attrNameLst>
                                          <p:attrName>style.visibility</p:attrName>
                                        </p:attrNameLst>
                                      </p:cBhvr>
                                      <p:to>
                                        <p:strVal val="visible"/>
                                      </p:to>
                                    </p:set>
                                    <p:animEffect filter="fade" transition="in">
                                      <p:cBhvr>
                                        <p:cTn dur="1000"/>
                                        <p:tgtEl>
                                          <p:spTgt spid="9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7" name="Shape 97"/>
        <p:cNvGrpSpPr/>
        <p:nvPr/>
      </p:nvGrpSpPr>
      <p:grpSpPr>
        <a:xfrm>
          <a:off x="0" y="0"/>
          <a:ext cx="0" cy="0"/>
          <a:chOff x="0" y="0"/>
          <a:chExt cx="0" cy="0"/>
        </a:xfrm>
      </p:grpSpPr>
      <p:sp>
        <p:nvSpPr>
          <p:cNvPr id="98" name="Google Shape;98;g2ee15abed17_3_297"/>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02</a:t>
            </a:r>
            <a:endParaRPr b="1" i="0" sz="2000" u="none" cap="none" strike="noStrike">
              <a:solidFill>
                <a:srgbClr val="8182EF"/>
              </a:solidFill>
              <a:latin typeface="Roboto"/>
              <a:ea typeface="Roboto"/>
              <a:cs typeface="Roboto"/>
              <a:sym typeface="Roboto"/>
            </a:endParaRPr>
          </a:p>
        </p:txBody>
      </p:sp>
      <p:sp>
        <p:nvSpPr>
          <p:cNvPr id="99" name="Google Shape;99;g2ee15abed17_3_297"/>
          <p:cNvSpPr txBox="1"/>
          <p:nvPr/>
        </p:nvSpPr>
        <p:spPr>
          <a:xfrm>
            <a:off x="630000" y="1309175"/>
            <a:ext cx="7667100" cy="26922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The ratio of Aathi &amp; Ajay=3x &amp; 5x</a:t>
            </a:r>
            <a:endParaRPr sz="1800">
              <a:solidFill>
                <a:schemeClr val="dk1"/>
              </a:solidFill>
              <a:latin typeface="Roboto"/>
              <a:ea typeface="Roboto"/>
              <a:cs typeface="Roboto"/>
              <a:sym typeface="Roboto"/>
            </a:endParaRPr>
          </a:p>
          <a:p>
            <a:pPr indent="0" lvl="0" marL="0" rtl="0" algn="just">
              <a:lnSpc>
                <a:spcPct val="115000"/>
              </a:lnSpc>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Sum of their age=3x+5x=8x=80</a:t>
            </a:r>
            <a:endParaRPr sz="1800">
              <a:solidFill>
                <a:schemeClr val="dk1"/>
              </a:solidFill>
              <a:latin typeface="Roboto"/>
              <a:ea typeface="Roboto"/>
              <a:cs typeface="Roboto"/>
              <a:sym typeface="Roboto"/>
            </a:endParaRPr>
          </a:p>
          <a:p>
            <a:pPr indent="0" lvl="0" marL="0" rtl="0" algn="just">
              <a:lnSpc>
                <a:spcPct val="115000"/>
              </a:lnSpc>
              <a:spcBef>
                <a:spcPts val="0"/>
              </a:spcBef>
              <a:spcAft>
                <a:spcPts val="0"/>
              </a:spcAft>
              <a:buClr>
                <a:schemeClr val="dk1"/>
              </a:buClr>
              <a:buSzPts val="1800"/>
              <a:buFont typeface="Arial"/>
              <a:buNone/>
            </a:pPr>
            <a:r>
              <a:rPr b="1" lang="en-GB" sz="1800">
                <a:solidFill>
                  <a:schemeClr val="dk1"/>
                </a:solidFill>
                <a:latin typeface="Roboto"/>
                <a:ea typeface="Roboto"/>
                <a:cs typeface="Roboto"/>
                <a:sym typeface="Roboto"/>
              </a:rPr>
              <a:t>x=10 years</a:t>
            </a:r>
            <a:endParaRPr sz="1800">
              <a:solidFill>
                <a:schemeClr val="dk1"/>
              </a:solidFill>
              <a:latin typeface="Roboto"/>
              <a:ea typeface="Roboto"/>
              <a:cs typeface="Roboto"/>
              <a:sym typeface="Roboto"/>
            </a:endParaRPr>
          </a:p>
          <a:p>
            <a:pPr indent="0" lvl="0" marL="0" rtl="0" algn="just">
              <a:lnSpc>
                <a:spcPct val="115000"/>
              </a:lnSpc>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Ratio of their age after  10 years,</a:t>
            </a:r>
            <a:endParaRPr sz="1800">
              <a:solidFill>
                <a:schemeClr val="dk1"/>
              </a:solidFill>
              <a:latin typeface="Roboto"/>
              <a:ea typeface="Roboto"/>
              <a:cs typeface="Roboto"/>
              <a:sym typeface="Roboto"/>
            </a:endParaRPr>
          </a:p>
          <a:p>
            <a:pPr indent="0" lvl="0" marL="0" rtl="0" algn="just">
              <a:lnSpc>
                <a:spcPct val="115000"/>
              </a:lnSpc>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Aathi=30+10=40 Years</a:t>
            </a:r>
            <a:endParaRPr sz="1800">
              <a:solidFill>
                <a:schemeClr val="dk1"/>
              </a:solidFill>
              <a:latin typeface="Roboto"/>
              <a:ea typeface="Roboto"/>
              <a:cs typeface="Roboto"/>
              <a:sym typeface="Roboto"/>
            </a:endParaRPr>
          </a:p>
          <a:p>
            <a:pPr indent="0" lvl="0" marL="0" rtl="0" algn="just">
              <a:lnSpc>
                <a:spcPct val="115000"/>
              </a:lnSpc>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Ajay=50+10=60 Years</a:t>
            </a:r>
            <a:endParaRPr sz="1800">
              <a:solidFill>
                <a:schemeClr val="dk1"/>
              </a:solidFill>
              <a:latin typeface="Roboto"/>
              <a:ea typeface="Roboto"/>
              <a:cs typeface="Roboto"/>
              <a:sym typeface="Roboto"/>
            </a:endParaRPr>
          </a:p>
          <a:p>
            <a:pPr indent="0" lvl="0" marL="0" rtl="0" algn="just">
              <a:lnSpc>
                <a:spcPct val="115000"/>
              </a:lnSpc>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=40:60</a:t>
            </a:r>
            <a:endParaRPr sz="1800">
              <a:solidFill>
                <a:schemeClr val="dk1"/>
              </a:solidFill>
              <a:latin typeface="Roboto"/>
              <a:ea typeface="Roboto"/>
              <a:cs typeface="Roboto"/>
              <a:sym typeface="Roboto"/>
            </a:endParaRPr>
          </a:p>
          <a:p>
            <a:pPr indent="0" lvl="0" marL="0" rtl="0" algn="just">
              <a:lnSpc>
                <a:spcPct val="115000"/>
              </a:lnSpc>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a:t>
            </a:r>
            <a:r>
              <a:rPr b="1" lang="en-GB" sz="1800">
                <a:solidFill>
                  <a:schemeClr val="dk1"/>
                </a:solidFill>
                <a:latin typeface="Roboto"/>
                <a:ea typeface="Roboto"/>
                <a:cs typeface="Roboto"/>
                <a:sym typeface="Roboto"/>
              </a:rPr>
              <a:t>2:3</a:t>
            </a:r>
            <a:endParaRPr sz="1800">
              <a:solidFill>
                <a:schemeClr val="dk1"/>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pic>
        <p:nvPicPr>
          <p:cNvPr id="104" name="Google Shape;104;g2ee15abed17_3_301"/>
          <p:cNvPicPr preferRelativeResize="0"/>
          <p:nvPr/>
        </p:nvPicPr>
        <p:blipFill rotWithShape="1">
          <a:blip r:embed="rId3">
            <a:alphaModFix/>
          </a:blip>
          <a:srcRect b="0" l="0" r="0" t="0"/>
          <a:stretch/>
        </p:blipFill>
        <p:spPr>
          <a:xfrm>
            <a:off x="0" y="0"/>
            <a:ext cx="9144003" cy="5143501"/>
          </a:xfrm>
          <a:prstGeom prst="rect">
            <a:avLst/>
          </a:prstGeom>
          <a:noFill/>
          <a:ln>
            <a:noFill/>
          </a:ln>
        </p:spPr>
      </p:pic>
      <p:sp>
        <p:nvSpPr>
          <p:cNvPr id="105" name="Google Shape;105;g2ee15abed17_3_301"/>
          <p:cNvSpPr txBox="1"/>
          <p:nvPr/>
        </p:nvSpPr>
        <p:spPr>
          <a:xfrm>
            <a:off x="720000" y="1439875"/>
            <a:ext cx="7649400" cy="723300"/>
          </a:xfrm>
          <a:prstGeom prst="rect">
            <a:avLst/>
          </a:prstGeom>
          <a:noFill/>
          <a:ln>
            <a:noFill/>
          </a:ln>
        </p:spPr>
        <p:txBody>
          <a:bodyPr anchorCtr="0" anchor="t" bIns="91425" lIns="91425" spcFirstLastPara="1" rIns="91425" wrap="square" tIns="91425">
            <a:spAutoFit/>
          </a:bodyPr>
          <a:lstStyle/>
          <a:p>
            <a:pPr indent="0" lvl="0" marL="0" marR="0" rtl="0" algn="ctr">
              <a:lnSpc>
                <a:spcPct val="115000"/>
              </a:lnSpc>
              <a:spcBef>
                <a:spcPts val="0"/>
              </a:spcBef>
              <a:spcAft>
                <a:spcPts val="0"/>
              </a:spcAft>
              <a:buClr>
                <a:srgbClr val="000000"/>
              </a:buClr>
              <a:buSzPts val="3500"/>
              <a:buFont typeface="Arial"/>
              <a:buNone/>
            </a:pPr>
            <a:r>
              <a:t/>
            </a:r>
            <a:endParaRPr b="0" i="0" sz="3500" u="none" cap="none" strike="noStrike">
              <a:solidFill>
                <a:srgbClr val="8182EF"/>
              </a:solidFill>
              <a:latin typeface="Roboto Black"/>
              <a:ea typeface="Roboto Black"/>
              <a:cs typeface="Roboto Black"/>
              <a:sym typeface="Roboto Black"/>
            </a:endParaRPr>
          </a:p>
        </p:txBody>
      </p:sp>
      <p:sp>
        <p:nvSpPr>
          <p:cNvPr id="106" name="Google Shape;106;g2ee15abed17_3_301"/>
          <p:cNvSpPr txBox="1"/>
          <p:nvPr/>
        </p:nvSpPr>
        <p:spPr>
          <a:xfrm>
            <a:off x="720000" y="1439875"/>
            <a:ext cx="76494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The difference between the Present age of Vasundhara &amp; Varun is 12 years. If 6 years back their ages are in the ratio 3:2,how old are Vasundhara &amp; Varun?</a:t>
            </a:r>
            <a:endParaRPr sz="18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t/>
            </a:r>
            <a:endParaRPr sz="18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A] 40, 32</a:t>
            </a:r>
            <a:endParaRPr sz="18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B] 42, 30</a:t>
            </a:r>
            <a:endParaRPr sz="18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C] 45, 56</a:t>
            </a:r>
            <a:endParaRPr sz="18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D] 35, 38</a:t>
            </a:r>
            <a:endParaRPr sz="1800">
              <a:solidFill>
                <a:schemeClr val="dk1"/>
              </a:solidFill>
              <a:highlight>
                <a:schemeClr val="lt1"/>
              </a:highlight>
              <a:latin typeface="Roboto"/>
              <a:ea typeface="Roboto"/>
              <a:cs typeface="Roboto"/>
              <a:sym typeface="Roboto"/>
            </a:endParaRPr>
          </a:p>
        </p:txBody>
      </p:sp>
      <p:sp>
        <p:nvSpPr>
          <p:cNvPr id="107" name="Google Shape;107;g2ee15abed17_3_301"/>
          <p:cNvSpPr txBox="1"/>
          <p:nvPr/>
        </p:nvSpPr>
        <p:spPr>
          <a:xfrm>
            <a:off x="630000" y="630250"/>
            <a:ext cx="309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03</a:t>
            </a:r>
            <a:endParaRPr b="1" i="0" sz="2000" u="none" cap="none" strike="noStrike">
              <a:solidFill>
                <a:srgbClr val="8182EF"/>
              </a:solidFill>
              <a:latin typeface="Roboto"/>
              <a:ea typeface="Roboto"/>
              <a:cs typeface="Roboto"/>
              <a:sym typeface="Roboto"/>
            </a:endParaRPr>
          </a:p>
        </p:txBody>
      </p:sp>
      <p:sp>
        <p:nvSpPr>
          <p:cNvPr id="108" name="Google Shape;108;g2ee15abed17_3_301"/>
          <p:cNvSpPr txBox="1"/>
          <p:nvPr/>
        </p:nvSpPr>
        <p:spPr>
          <a:xfrm>
            <a:off x="7189450" y="4324350"/>
            <a:ext cx="11799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1" i="0" lang="en-GB" sz="1600" u="none" cap="none" strike="noStrike">
                <a:solidFill>
                  <a:srgbClr val="000000"/>
                </a:solidFill>
                <a:latin typeface="Roboto"/>
                <a:ea typeface="Roboto"/>
                <a:cs typeface="Roboto"/>
                <a:sym typeface="Roboto"/>
              </a:rPr>
              <a:t>Answer : </a:t>
            </a:r>
            <a:r>
              <a:rPr b="1" lang="en-GB" sz="1600">
                <a:latin typeface="Roboto"/>
                <a:ea typeface="Roboto"/>
                <a:cs typeface="Roboto"/>
                <a:sym typeface="Roboto"/>
              </a:rPr>
              <a:t>B</a:t>
            </a:r>
            <a:endParaRPr b="1" i="0" sz="1600" u="none" cap="none" strike="noStrike">
              <a:solidFill>
                <a:srgbClr val="000000"/>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2" name="Shape 112"/>
        <p:cNvGrpSpPr/>
        <p:nvPr/>
      </p:nvGrpSpPr>
      <p:grpSpPr>
        <a:xfrm>
          <a:off x="0" y="0"/>
          <a:ext cx="0" cy="0"/>
          <a:chOff x="0" y="0"/>
          <a:chExt cx="0" cy="0"/>
        </a:xfrm>
      </p:grpSpPr>
      <p:sp>
        <p:nvSpPr>
          <p:cNvPr id="113" name="Google Shape;113;g2ee15abed17_3_306"/>
          <p:cNvSpPr txBox="1"/>
          <p:nvPr/>
        </p:nvSpPr>
        <p:spPr>
          <a:xfrm>
            <a:off x="327600" y="338142"/>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01</a:t>
            </a:r>
            <a:endParaRPr b="0" i="0" sz="2000" u="none" cap="none" strike="noStrike">
              <a:solidFill>
                <a:schemeClr val="lt1"/>
              </a:solidFill>
              <a:latin typeface="Roboto"/>
              <a:ea typeface="Roboto"/>
              <a:cs typeface="Roboto"/>
              <a:sym typeface="Roboto"/>
            </a:endParaRPr>
          </a:p>
        </p:txBody>
      </p:sp>
      <p:sp>
        <p:nvSpPr>
          <p:cNvPr id="114" name="Google Shape;114;g2ee15abed17_3_306"/>
          <p:cNvSpPr txBox="1"/>
          <p:nvPr/>
        </p:nvSpPr>
        <p:spPr>
          <a:xfrm>
            <a:off x="720000" y="1440000"/>
            <a:ext cx="7384200" cy="32619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800"/>
              <a:buFont typeface="Arial"/>
              <a:buNone/>
            </a:pPr>
            <a:r>
              <a:rPr lang="en-GB" sz="1500">
                <a:solidFill>
                  <a:schemeClr val="dk1"/>
                </a:solidFill>
                <a:latin typeface="Roboto"/>
                <a:ea typeface="Roboto"/>
                <a:cs typeface="Roboto"/>
                <a:sym typeface="Roboto"/>
              </a:rPr>
              <a:t>G</a:t>
            </a:r>
            <a:r>
              <a:rPr lang="en-GB" sz="1600">
                <a:solidFill>
                  <a:schemeClr val="dk1"/>
                </a:solidFill>
                <a:latin typeface="Roboto"/>
                <a:ea typeface="Roboto"/>
                <a:cs typeface="Roboto"/>
                <a:sym typeface="Roboto"/>
              </a:rPr>
              <a:t>iven that, difference between their ages=12 years</a:t>
            </a:r>
            <a:endParaRPr sz="1600">
              <a:solidFill>
                <a:schemeClr val="dk1"/>
              </a:solidFill>
              <a:latin typeface="Roboto"/>
              <a:ea typeface="Roboto"/>
              <a:cs typeface="Roboto"/>
              <a:sym typeface="Roboto"/>
            </a:endParaRPr>
          </a:p>
          <a:p>
            <a:pPr indent="0" lvl="0" marL="0" rtl="0" algn="just">
              <a:lnSpc>
                <a:spcPct val="115000"/>
              </a:lnSpc>
              <a:spcBef>
                <a:spcPts val="0"/>
              </a:spcBef>
              <a:spcAft>
                <a:spcPts val="0"/>
              </a:spcAft>
              <a:buClr>
                <a:schemeClr val="dk1"/>
              </a:buClr>
              <a:buSzPts val="1800"/>
              <a:buFont typeface="Arial"/>
              <a:buNone/>
            </a:pPr>
            <a:r>
              <a:rPr b="1" lang="en-GB" sz="1600">
                <a:solidFill>
                  <a:schemeClr val="dk1"/>
                </a:solidFill>
                <a:latin typeface="Roboto"/>
                <a:ea typeface="Roboto"/>
                <a:cs typeface="Roboto"/>
                <a:sym typeface="Roboto"/>
              </a:rPr>
              <a:t>6 Years Back:</a:t>
            </a:r>
            <a:endParaRPr sz="1600">
              <a:solidFill>
                <a:schemeClr val="dk1"/>
              </a:solidFill>
              <a:latin typeface="Roboto"/>
              <a:ea typeface="Roboto"/>
              <a:cs typeface="Roboto"/>
              <a:sym typeface="Roboto"/>
            </a:endParaRPr>
          </a:p>
          <a:p>
            <a:pPr indent="0" lvl="0" marL="0" rtl="0" algn="just">
              <a:lnSpc>
                <a:spcPct val="115000"/>
              </a:lnSpc>
              <a:spcBef>
                <a:spcPts val="0"/>
              </a:spcBef>
              <a:spcAft>
                <a:spcPts val="0"/>
              </a:spcAft>
              <a:buClr>
                <a:schemeClr val="dk1"/>
              </a:buClr>
              <a:buSzPts val="1800"/>
              <a:buFont typeface="Arial"/>
              <a:buNone/>
            </a:pPr>
            <a:r>
              <a:rPr lang="en-GB" sz="1600">
                <a:solidFill>
                  <a:schemeClr val="dk1"/>
                </a:solidFill>
                <a:latin typeface="Roboto"/>
                <a:ea typeface="Roboto"/>
                <a:cs typeface="Roboto"/>
                <a:sym typeface="Roboto"/>
              </a:rPr>
              <a:t>Their ages is =(Vasundhara -6)/(Varun -6)=3/2</a:t>
            </a:r>
            <a:endParaRPr sz="1600">
              <a:solidFill>
                <a:schemeClr val="dk1"/>
              </a:solidFill>
              <a:latin typeface="Roboto"/>
              <a:ea typeface="Roboto"/>
              <a:cs typeface="Roboto"/>
              <a:sym typeface="Roboto"/>
            </a:endParaRPr>
          </a:p>
          <a:p>
            <a:pPr indent="0" lvl="0" marL="0" rtl="0" algn="just">
              <a:lnSpc>
                <a:spcPct val="115000"/>
              </a:lnSpc>
              <a:spcBef>
                <a:spcPts val="0"/>
              </a:spcBef>
              <a:spcAft>
                <a:spcPts val="0"/>
              </a:spcAft>
              <a:buClr>
                <a:schemeClr val="dk1"/>
              </a:buClr>
              <a:buSzPts val="1800"/>
              <a:buFont typeface="Arial"/>
              <a:buNone/>
            </a:pPr>
            <a:r>
              <a:rPr lang="en-GB" sz="1600">
                <a:solidFill>
                  <a:schemeClr val="dk1"/>
                </a:solidFill>
                <a:latin typeface="Roboto"/>
                <a:ea typeface="Roboto"/>
                <a:cs typeface="Roboto"/>
                <a:sym typeface="Roboto"/>
              </a:rPr>
              <a:t>=2(Vasundhara – 6)=3(Varun- 6)</a:t>
            </a:r>
            <a:endParaRPr sz="1600">
              <a:solidFill>
                <a:schemeClr val="dk1"/>
              </a:solidFill>
              <a:latin typeface="Roboto"/>
              <a:ea typeface="Roboto"/>
              <a:cs typeface="Roboto"/>
              <a:sym typeface="Roboto"/>
            </a:endParaRPr>
          </a:p>
          <a:p>
            <a:pPr indent="0" lvl="0" marL="0" rtl="0" algn="just">
              <a:lnSpc>
                <a:spcPct val="115000"/>
              </a:lnSpc>
              <a:spcBef>
                <a:spcPts val="0"/>
              </a:spcBef>
              <a:spcAft>
                <a:spcPts val="0"/>
              </a:spcAft>
              <a:buClr>
                <a:schemeClr val="dk1"/>
              </a:buClr>
              <a:buSzPts val="1800"/>
              <a:buFont typeface="Arial"/>
              <a:buNone/>
            </a:pPr>
            <a:r>
              <a:rPr lang="en-GB" sz="1600">
                <a:solidFill>
                  <a:schemeClr val="dk1"/>
                </a:solidFill>
                <a:latin typeface="Roboto"/>
                <a:ea typeface="Roboto"/>
                <a:cs typeface="Roboto"/>
                <a:sym typeface="Roboto"/>
              </a:rPr>
              <a:t>=2 Vasundhara-12=3 Varun-18</a:t>
            </a:r>
            <a:endParaRPr sz="1600">
              <a:solidFill>
                <a:schemeClr val="dk1"/>
              </a:solidFill>
              <a:latin typeface="Roboto"/>
              <a:ea typeface="Roboto"/>
              <a:cs typeface="Roboto"/>
              <a:sym typeface="Roboto"/>
            </a:endParaRPr>
          </a:p>
          <a:p>
            <a:pPr indent="0" lvl="0" marL="0" rtl="0" algn="just">
              <a:lnSpc>
                <a:spcPct val="115000"/>
              </a:lnSpc>
              <a:spcBef>
                <a:spcPts val="0"/>
              </a:spcBef>
              <a:spcAft>
                <a:spcPts val="0"/>
              </a:spcAft>
              <a:buClr>
                <a:schemeClr val="dk1"/>
              </a:buClr>
              <a:buSzPts val="1800"/>
              <a:buFont typeface="Arial"/>
              <a:buNone/>
            </a:pPr>
            <a:r>
              <a:rPr lang="en-GB" sz="1600">
                <a:solidFill>
                  <a:schemeClr val="dk1"/>
                </a:solidFill>
                <a:latin typeface="Roboto"/>
                <a:ea typeface="Roboto"/>
                <a:cs typeface="Roboto"/>
                <a:sym typeface="Roboto"/>
              </a:rPr>
              <a:t>=2 Vasundhara-3 Varun=-18+12</a:t>
            </a:r>
            <a:endParaRPr sz="1600">
              <a:solidFill>
                <a:schemeClr val="dk1"/>
              </a:solidFill>
              <a:latin typeface="Roboto"/>
              <a:ea typeface="Roboto"/>
              <a:cs typeface="Roboto"/>
              <a:sym typeface="Roboto"/>
            </a:endParaRPr>
          </a:p>
          <a:p>
            <a:pPr indent="0" lvl="0" marL="0" rtl="0" algn="just">
              <a:lnSpc>
                <a:spcPct val="115000"/>
              </a:lnSpc>
              <a:spcBef>
                <a:spcPts val="0"/>
              </a:spcBef>
              <a:spcAft>
                <a:spcPts val="0"/>
              </a:spcAft>
              <a:buClr>
                <a:schemeClr val="dk1"/>
              </a:buClr>
              <a:buSzPts val="1800"/>
              <a:buFont typeface="Arial"/>
              <a:buNone/>
            </a:pPr>
            <a:r>
              <a:rPr lang="en-GB" sz="1600">
                <a:solidFill>
                  <a:schemeClr val="dk1"/>
                </a:solidFill>
                <a:latin typeface="Roboto"/>
                <a:ea typeface="Roboto"/>
                <a:cs typeface="Roboto"/>
                <a:sym typeface="Roboto"/>
              </a:rPr>
              <a:t>=</a:t>
            </a:r>
            <a:r>
              <a:rPr b="1" lang="en-GB" sz="1600">
                <a:solidFill>
                  <a:schemeClr val="dk1"/>
                </a:solidFill>
                <a:latin typeface="Roboto"/>
                <a:ea typeface="Roboto"/>
                <a:cs typeface="Roboto"/>
                <a:sym typeface="Roboto"/>
              </a:rPr>
              <a:t>2 Vasundhara-3 Varun=-6</a:t>
            </a:r>
            <a:endParaRPr sz="1600">
              <a:solidFill>
                <a:schemeClr val="dk1"/>
              </a:solidFill>
              <a:latin typeface="Roboto"/>
              <a:ea typeface="Roboto"/>
              <a:cs typeface="Roboto"/>
              <a:sym typeface="Roboto"/>
            </a:endParaRPr>
          </a:p>
          <a:p>
            <a:pPr indent="0" lvl="0" marL="0" rtl="0" algn="just">
              <a:lnSpc>
                <a:spcPct val="115000"/>
              </a:lnSpc>
              <a:spcBef>
                <a:spcPts val="0"/>
              </a:spcBef>
              <a:spcAft>
                <a:spcPts val="0"/>
              </a:spcAft>
              <a:buClr>
                <a:schemeClr val="dk1"/>
              </a:buClr>
              <a:buSzPts val="1800"/>
              <a:buFont typeface="Arial"/>
              <a:buNone/>
            </a:pPr>
            <a:r>
              <a:rPr lang="en-GB" sz="1600">
                <a:solidFill>
                  <a:schemeClr val="dk1"/>
                </a:solidFill>
                <a:latin typeface="Roboto"/>
                <a:ea typeface="Roboto"/>
                <a:cs typeface="Roboto"/>
                <a:sym typeface="Roboto"/>
              </a:rPr>
              <a:t>Given their Difference is </a:t>
            </a:r>
            <a:r>
              <a:rPr b="1" lang="en-GB" sz="1600">
                <a:solidFill>
                  <a:schemeClr val="dk1"/>
                </a:solidFill>
                <a:latin typeface="Roboto"/>
                <a:ea typeface="Roboto"/>
                <a:cs typeface="Roboto"/>
                <a:sym typeface="Roboto"/>
              </a:rPr>
              <a:t>12</a:t>
            </a:r>
            <a:endParaRPr sz="1600">
              <a:solidFill>
                <a:schemeClr val="dk1"/>
              </a:solidFill>
              <a:latin typeface="Roboto"/>
              <a:ea typeface="Roboto"/>
              <a:cs typeface="Roboto"/>
              <a:sym typeface="Roboto"/>
            </a:endParaRPr>
          </a:p>
          <a:p>
            <a:pPr indent="0" lvl="0" marL="0" rtl="0" algn="just">
              <a:lnSpc>
                <a:spcPct val="115000"/>
              </a:lnSpc>
              <a:spcBef>
                <a:spcPts val="0"/>
              </a:spcBef>
              <a:spcAft>
                <a:spcPts val="0"/>
              </a:spcAft>
              <a:buClr>
                <a:schemeClr val="dk1"/>
              </a:buClr>
              <a:buSzPts val="1800"/>
              <a:buFont typeface="Arial"/>
              <a:buNone/>
            </a:pPr>
            <a:r>
              <a:rPr b="1" lang="en-GB" sz="1600">
                <a:solidFill>
                  <a:schemeClr val="dk1"/>
                </a:solidFill>
                <a:latin typeface="Roboto"/>
                <a:ea typeface="Roboto"/>
                <a:cs typeface="Roboto"/>
                <a:sym typeface="Roboto"/>
              </a:rPr>
              <a:t>Vasundhara-Varun=12</a:t>
            </a:r>
            <a:endParaRPr sz="1600">
              <a:solidFill>
                <a:schemeClr val="dk1"/>
              </a:solidFill>
              <a:latin typeface="Roboto"/>
              <a:ea typeface="Roboto"/>
              <a:cs typeface="Roboto"/>
              <a:sym typeface="Roboto"/>
            </a:endParaRPr>
          </a:p>
          <a:p>
            <a:pPr indent="0" lvl="0" marL="0" rtl="0" algn="just">
              <a:lnSpc>
                <a:spcPct val="115000"/>
              </a:lnSpc>
              <a:spcBef>
                <a:spcPts val="0"/>
              </a:spcBef>
              <a:spcAft>
                <a:spcPts val="0"/>
              </a:spcAft>
              <a:buClr>
                <a:schemeClr val="dk1"/>
              </a:buClr>
              <a:buSzPts val="1800"/>
              <a:buFont typeface="Arial"/>
              <a:buNone/>
            </a:pPr>
            <a:r>
              <a:rPr lang="en-GB" sz="1600">
                <a:solidFill>
                  <a:schemeClr val="dk1"/>
                </a:solidFill>
                <a:latin typeface="Roboto"/>
                <a:ea typeface="Roboto"/>
                <a:cs typeface="Roboto"/>
                <a:sym typeface="Roboto"/>
              </a:rPr>
              <a:t>Therefore </a:t>
            </a:r>
            <a:r>
              <a:rPr b="1" lang="en-GB" sz="1600">
                <a:solidFill>
                  <a:schemeClr val="dk1"/>
                </a:solidFill>
                <a:latin typeface="Roboto"/>
                <a:ea typeface="Roboto"/>
                <a:cs typeface="Roboto"/>
                <a:sym typeface="Roboto"/>
              </a:rPr>
              <a:t>Age of Vasundhara=42 years</a:t>
            </a:r>
            <a:endParaRPr sz="1600">
              <a:solidFill>
                <a:schemeClr val="dk1"/>
              </a:solidFill>
              <a:latin typeface="Roboto"/>
              <a:ea typeface="Roboto"/>
              <a:cs typeface="Roboto"/>
              <a:sym typeface="Roboto"/>
            </a:endParaRPr>
          </a:p>
          <a:p>
            <a:pPr indent="0" lvl="0" marL="0" rtl="0" algn="just">
              <a:lnSpc>
                <a:spcPct val="115000"/>
              </a:lnSpc>
              <a:spcBef>
                <a:spcPts val="0"/>
              </a:spcBef>
              <a:spcAft>
                <a:spcPts val="0"/>
              </a:spcAft>
              <a:buClr>
                <a:schemeClr val="dk1"/>
              </a:buClr>
              <a:buSzPts val="1800"/>
              <a:buFont typeface="Arial"/>
              <a:buNone/>
            </a:pPr>
            <a:r>
              <a:rPr b="1" lang="en-GB" sz="1600">
                <a:solidFill>
                  <a:schemeClr val="dk1"/>
                </a:solidFill>
                <a:latin typeface="Roboto"/>
                <a:ea typeface="Roboto"/>
                <a:cs typeface="Roboto"/>
                <a:sym typeface="Roboto"/>
              </a:rPr>
              <a:t>Age of Varun=30 years</a:t>
            </a:r>
            <a:endParaRPr sz="1600">
              <a:solidFill>
                <a:schemeClr val="dk1"/>
              </a:solidFill>
              <a:latin typeface="Roboto"/>
              <a:ea typeface="Roboto"/>
              <a:cs typeface="Roboto"/>
              <a:sym typeface="Roboto"/>
            </a:endParaRPr>
          </a:p>
          <a:p>
            <a:pPr indent="0" lvl="0" marL="0" marR="0" rtl="0" algn="just">
              <a:lnSpc>
                <a:spcPct val="115000"/>
              </a:lnSpc>
              <a:spcBef>
                <a:spcPts val="1200"/>
              </a:spcBef>
              <a:spcAft>
                <a:spcPts val="0"/>
              </a:spcAft>
              <a:buClr>
                <a:schemeClr val="dk1"/>
              </a:buClr>
              <a:buSzPts val="1400"/>
              <a:buFont typeface="Arial"/>
              <a:buNone/>
            </a:pPr>
            <a:r>
              <a:t/>
            </a:r>
            <a:endParaRPr sz="1800">
              <a:solidFill>
                <a:schemeClr val="dk1"/>
              </a:solidFill>
            </a:endParaRPr>
          </a:p>
          <a:p>
            <a:pPr indent="0" lvl="0" marL="0" marR="0" rtl="0" algn="l">
              <a:lnSpc>
                <a:spcPct val="100000"/>
              </a:lnSpc>
              <a:spcBef>
                <a:spcPts val="0"/>
              </a:spcBef>
              <a:spcAft>
                <a:spcPts val="800"/>
              </a:spcAft>
              <a:buClr>
                <a:srgbClr val="000000"/>
              </a:buClr>
              <a:buSzPts val="1400"/>
              <a:buFont typeface="Arial"/>
              <a:buNone/>
            </a:pPr>
            <a:r>
              <a:t/>
            </a:r>
            <a:endParaRPr b="0" i="0" sz="1600" u="none" cap="none" strike="noStrike">
              <a:solidFill>
                <a:schemeClr val="dk1"/>
              </a:solidFill>
              <a:highlight>
                <a:srgbClr val="FFFFFF"/>
              </a:highlight>
              <a:latin typeface="Roboto"/>
              <a:ea typeface="Roboto"/>
              <a:cs typeface="Roboto"/>
              <a:sym typeface="Roboto"/>
            </a:endParaRPr>
          </a:p>
        </p:txBody>
      </p:sp>
      <p:sp>
        <p:nvSpPr>
          <p:cNvPr id="115" name="Google Shape;115;g2ee15abed17_3_306"/>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03</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0" st="0"/>
                                            </p:txEl>
                                          </p:spTgt>
                                        </p:tgtEl>
                                        <p:attrNameLst>
                                          <p:attrName>style.visibility</p:attrName>
                                        </p:attrNameLst>
                                      </p:cBhvr>
                                      <p:to>
                                        <p:strVal val="visible"/>
                                      </p:to>
                                    </p:set>
                                    <p:animEffect filter="fade" transition="in">
                                      <p:cBhvr>
                                        <p:cTn dur="1000"/>
                                        <p:tgtEl>
                                          <p:spTgt spid="11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1" st="1"/>
                                            </p:txEl>
                                          </p:spTgt>
                                        </p:tgtEl>
                                        <p:attrNameLst>
                                          <p:attrName>style.visibility</p:attrName>
                                        </p:attrNameLst>
                                      </p:cBhvr>
                                      <p:to>
                                        <p:strVal val="visible"/>
                                      </p:to>
                                    </p:set>
                                    <p:animEffect filter="fade" transition="in">
                                      <p:cBhvr>
                                        <p:cTn dur="1000"/>
                                        <p:tgtEl>
                                          <p:spTgt spid="11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2" st="2"/>
                                            </p:txEl>
                                          </p:spTgt>
                                        </p:tgtEl>
                                        <p:attrNameLst>
                                          <p:attrName>style.visibility</p:attrName>
                                        </p:attrNameLst>
                                      </p:cBhvr>
                                      <p:to>
                                        <p:strVal val="visible"/>
                                      </p:to>
                                    </p:set>
                                    <p:animEffect filter="fade" transition="in">
                                      <p:cBhvr>
                                        <p:cTn dur="1000"/>
                                        <p:tgtEl>
                                          <p:spTgt spid="11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3" st="3"/>
                                            </p:txEl>
                                          </p:spTgt>
                                        </p:tgtEl>
                                        <p:attrNameLst>
                                          <p:attrName>style.visibility</p:attrName>
                                        </p:attrNameLst>
                                      </p:cBhvr>
                                      <p:to>
                                        <p:strVal val="visible"/>
                                      </p:to>
                                    </p:set>
                                    <p:animEffect filter="fade" transition="in">
                                      <p:cBhvr>
                                        <p:cTn dur="1000"/>
                                        <p:tgtEl>
                                          <p:spTgt spid="11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4" st="4"/>
                                            </p:txEl>
                                          </p:spTgt>
                                        </p:tgtEl>
                                        <p:attrNameLst>
                                          <p:attrName>style.visibility</p:attrName>
                                        </p:attrNameLst>
                                      </p:cBhvr>
                                      <p:to>
                                        <p:strVal val="visible"/>
                                      </p:to>
                                    </p:set>
                                    <p:animEffect filter="fade" transition="in">
                                      <p:cBhvr>
                                        <p:cTn dur="1000"/>
                                        <p:tgtEl>
                                          <p:spTgt spid="11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5" st="5"/>
                                            </p:txEl>
                                          </p:spTgt>
                                        </p:tgtEl>
                                        <p:attrNameLst>
                                          <p:attrName>style.visibility</p:attrName>
                                        </p:attrNameLst>
                                      </p:cBhvr>
                                      <p:to>
                                        <p:strVal val="visible"/>
                                      </p:to>
                                    </p:set>
                                    <p:animEffect filter="fade" transition="in">
                                      <p:cBhvr>
                                        <p:cTn dur="1000"/>
                                        <p:tgtEl>
                                          <p:spTgt spid="11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6" st="6"/>
                                            </p:txEl>
                                          </p:spTgt>
                                        </p:tgtEl>
                                        <p:attrNameLst>
                                          <p:attrName>style.visibility</p:attrName>
                                        </p:attrNameLst>
                                      </p:cBhvr>
                                      <p:to>
                                        <p:strVal val="visible"/>
                                      </p:to>
                                    </p:set>
                                    <p:animEffect filter="fade" transition="in">
                                      <p:cBhvr>
                                        <p:cTn dur="1000"/>
                                        <p:tgtEl>
                                          <p:spTgt spid="11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7" st="7"/>
                                            </p:txEl>
                                          </p:spTgt>
                                        </p:tgtEl>
                                        <p:attrNameLst>
                                          <p:attrName>style.visibility</p:attrName>
                                        </p:attrNameLst>
                                      </p:cBhvr>
                                      <p:to>
                                        <p:strVal val="visible"/>
                                      </p:to>
                                    </p:set>
                                    <p:animEffect filter="fade" transition="in">
                                      <p:cBhvr>
                                        <p:cTn dur="1000"/>
                                        <p:tgtEl>
                                          <p:spTgt spid="114">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8" st="8"/>
                                            </p:txEl>
                                          </p:spTgt>
                                        </p:tgtEl>
                                        <p:attrNameLst>
                                          <p:attrName>style.visibility</p:attrName>
                                        </p:attrNameLst>
                                      </p:cBhvr>
                                      <p:to>
                                        <p:strVal val="visible"/>
                                      </p:to>
                                    </p:set>
                                    <p:animEffect filter="fade" transition="in">
                                      <p:cBhvr>
                                        <p:cTn dur="1000"/>
                                        <p:tgtEl>
                                          <p:spTgt spid="114">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9" st="9"/>
                                            </p:txEl>
                                          </p:spTgt>
                                        </p:tgtEl>
                                        <p:attrNameLst>
                                          <p:attrName>style.visibility</p:attrName>
                                        </p:attrNameLst>
                                      </p:cBhvr>
                                      <p:to>
                                        <p:strVal val="visible"/>
                                      </p:to>
                                    </p:set>
                                    <p:animEffect filter="fade" transition="in">
                                      <p:cBhvr>
                                        <p:cTn dur="1000"/>
                                        <p:tgtEl>
                                          <p:spTgt spid="114">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10" st="10"/>
                                            </p:txEl>
                                          </p:spTgt>
                                        </p:tgtEl>
                                        <p:attrNameLst>
                                          <p:attrName>style.visibility</p:attrName>
                                        </p:attrNameLst>
                                      </p:cBhvr>
                                      <p:to>
                                        <p:strVal val="visible"/>
                                      </p:to>
                                    </p:set>
                                    <p:animEffect filter="fade" transition="in">
                                      <p:cBhvr>
                                        <p:cTn dur="1000"/>
                                        <p:tgtEl>
                                          <p:spTgt spid="114">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11" st="11"/>
                                            </p:txEl>
                                          </p:spTgt>
                                        </p:tgtEl>
                                        <p:attrNameLst>
                                          <p:attrName>style.visibility</p:attrName>
                                        </p:attrNameLst>
                                      </p:cBhvr>
                                      <p:to>
                                        <p:strVal val="visible"/>
                                      </p:to>
                                    </p:set>
                                    <p:animEffect filter="fade" transition="in">
                                      <p:cBhvr>
                                        <p:cTn dur="1000"/>
                                        <p:tgtEl>
                                          <p:spTgt spid="114">
                                            <p:txEl>
                                              <p:pRg end="11" st="1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xEl>
                                              <p:pRg end="12" st="12"/>
                                            </p:txEl>
                                          </p:spTgt>
                                        </p:tgtEl>
                                        <p:attrNameLst>
                                          <p:attrName>style.visibility</p:attrName>
                                        </p:attrNameLst>
                                      </p:cBhvr>
                                      <p:to>
                                        <p:strVal val="visible"/>
                                      </p:to>
                                    </p:set>
                                    <p:animEffect filter="fade" transition="in">
                                      <p:cBhvr>
                                        <p:cTn dur="1000"/>
                                        <p:tgtEl>
                                          <p:spTgt spid="114">
                                            <p:txEl>
                                              <p:pRg end="12" st="12"/>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g31b9bf173ee_0_17"/>
          <p:cNvSpPr txBox="1"/>
          <p:nvPr/>
        </p:nvSpPr>
        <p:spPr>
          <a:xfrm>
            <a:off x="630000" y="630250"/>
            <a:ext cx="309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04</a:t>
            </a:r>
            <a:endParaRPr b="1" i="0" sz="2000" u="none" cap="none" strike="noStrike">
              <a:solidFill>
                <a:srgbClr val="8182EF"/>
              </a:solidFill>
              <a:latin typeface="Roboto"/>
              <a:ea typeface="Roboto"/>
              <a:cs typeface="Roboto"/>
              <a:sym typeface="Roboto"/>
            </a:endParaRPr>
          </a:p>
        </p:txBody>
      </p:sp>
      <p:sp>
        <p:nvSpPr>
          <p:cNvPr id="121" name="Google Shape;121;g31b9bf173ee_0_17"/>
          <p:cNvSpPr txBox="1"/>
          <p:nvPr/>
        </p:nvSpPr>
        <p:spPr>
          <a:xfrm>
            <a:off x="630000" y="1354400"/>
            <a:ext cx="7739400" cy="2373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A Women’s Age Is 120% Of What It Was 15 Years ago, But  75 % Of What It Will Be After 15 Years. What Is Her Present Age?</a:t>
            </a:r>
            <a:endParaRPr sz="18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t/>
            </a:r>
            <a:endParaRPr sz="18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A] 65</a:t>
            </a:r>
            <a:endParaRPr sz="18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B] 60</a:t>
            </a:r>
            <a:endParaRPr sz="18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C] 45</a:t>
            </a:r>
            <a:endParaRPr sz="1800">
              <a:solidFill>
                <a:schemeClr val="dk1"/>
              </a:solidFill>
              <a:latin typeface="Roboto"/>
              <a:ea typeface="Roboto"/>
              <a:cs typeface="Roboto"/>
              <a:sym typeface="Roboto"/>
            </a:endParaRPr>
          </a:p>
          <a:p>
            <a:pPr indent="0" lvl="0" marL="0" rtl="0" algn="l">
              <a:lnSpc>
                <a:spcPct val="115000"/>
              </a:lnSpc>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D] 46</a:t>
            </a:r>
            <a:endParaRPr sz="1800">
              <a:solidFill>
                <a:schemeClr val="dk1"/>
              </a:solidFill>
              <a:latin typeface="Roboto"/>
              <a:ea typeface="Roboto"/>
              <a:cs typeface="Roboto"/>
              <a:sym typeface="Roboto"/>
            </a:endParaRPr>
          </a:p>
        </p:txBody>
      </p:sp>
      <p:sp>
        <p:nvSpPr>
          <p:cNvPr id="122" name="Google Shape;122;g31b9bf173ee_0_17"/>
          <p:cNvSpPr txBox="1"/>
          <p:nvPr/>
        </p:nvSpPr>
        <p:spPr>
          <a:xfrm>
            <a:off x="7189500" y="4230000"/>
            <a:ext cx="1179900" cy="355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600"/>
              <a:buFont typeface="Arial"/>
              <a:buNone/>
            </a:pPr>
            <a:r>
              <a:rPr b="1" i="0" lang="en-GB" sz="1600" u="none" cap="none" strike="noStrike">
                <a:solidFill>
                  <a:srgbClr val="000000"/>
                </a:solidFill>
                <a:latin typeface="Roboto"/>
                <a:ea typeface="Roboto"/>
                <a:cs typeface="Roboto"/>
                <a:sym typeface="Roboto"/>
              </a:rPr>
              <a:t>Answer : </a:t>
            </a:r>
            <a:r>
              <a:rPr b="1" lang="en-GB" sz="1600">
                <a:latin typeface="Roboto"/>
                <a:ea typeface="Roboto"/>
                <a:cs typeface="Roboto"/>
                <a:sym typeface="Roboto"/>
              </a:rPr>
              <a:t>A</a:t>
            </a:r>
            <a:endParaRPr b="1" i="0" sz="1600" u="none" cap="none" strike="noStrike">
              <a:solidFill>
                <a:srgbClr val="000000"/>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6" name="Shape 126"/>
        <p:cNvGrpSpPr/>
        <p:nvPr/>
      </p:nvGrpSpPr>
      <p:grpSpPr>
        <a:xfrm>
          <a:off x="0" y="0"/>
          <a:ext cx="0" cy="0"/>
          <a:chOff x="0" y="0"/>
          <a:chExt cx="0" cy="0"/>
        </a:xfrm>
      </p:grpSpPr>
      <p:sp>
        <p:nvSpPr>
          <p:cNvPr id="127" name="Google Shape;127;g2ee15abed17_3_313"/>
          <p:cNvSpPr txBox="1"/>
          <p:nvPr/>
        </p:nvSpPr>
        <p:spPr>
          <a:xfrm>
            <a:off x="720000" y="1250950"/>
            <a:ext cx="7649400" cy="32457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rtl="0" algn="just">
              <a:spcBef>
                <a:spcPts val="0"/>
              </a:spcBef>
              <a:spcAft>
                <a:spcPts val="0"/>
              </a:spcAft>
              <a:buClr>
                <a:schemeClr val="dk1"/>
              </a:buClr>
              <a:buSzPts val="1800"/>
              <a:buFont typeface="Arial"/>
              <a:buNone/>
            </a:pPr>
            <a:r>
              <a:rPr lang="en-GB" sz="1300">
                <a:solidFill>
                  <a:schemeClr val="dk1"/>
                </a:solidFill>
              </a:rPr>
              <a:t>Let us Consider the present age be x years.</a:t>
            </a:r>
            <a:endParaRPr sz="1300">
              <a:solidFill>
                <a:schemeClr val="dk1"/>
              </a:solidFill>
            </a:endParaRPr>
          </a:p>
          <a:p>
            <a:pPr indent="0" lvl="0" marL="0" rtl="0" algn="just">
              <a:spcBef>
                <a:spcPts val="0"/>
              </a:spcBef>
              <a:spcAft>
                <a:spcPts val="0"/>
              </a:spcAft>
              <a:buClr>
                <a:schemeClr val="dk1"/>
              </a:buClr>
              <a:buSzPts val="1800"/>
              <a:buFont typeface="Arial"/>
              <a:buNone/>
            </a:pPr>
            <a:r>
              <a:rPr lang="en-GB" sz="1300">
                <a:solidFill>
                  <a:schemeClr val="dk1"/>
                </a:solidFill>
              </a:rPr>
              <a:t>Then, </a:t>
            </a:r>
            <a:r>
              <a:rPr b="1" lang="en-GB" sz="1300">
                <a:solidFill>
                  <a:schemeClr val="dk1"/>
                </a:solidFill>
              </a:rPr>
              <a:t>15 years ago: </a:t>
            </a:r>
            <a:r>
              <a:rPr lang="en-GB" sz="1300">
                <a:solidFill>
                  <a:schemeClr val="dk1"/>
                </a:solidFill>
              </a:rPr>
              <a:t>(x-15)</a:t>
            </a:r>
            <a:endParaRPr sz="1300">
              <a:solidFill>
                <a:schemeClr val="dk1"/>
              </a:solidFill>
            </a:endParaRPr>
          </a:p>
          <a:p>
            <a:pPr indent="0" lvl="0" marL="0" rtl="0" algn="just">
              <a:spcBef>
                <a:spcPts val="0"/>
              </a:spcBef>
              <a:spcAft>
                <a:spcPts val="0"/>
              </a:spcAft>
              <a:buClr>
                <a:schemeClr val="dk1"/>
              </a:buClr>
              <a:buSzPts val="1800"/>
              <a:buFont typeface="Arial"/>
              <a:buNone/>
            </a:pPr>
            <a:r>
              <a:rPr lang="en-GB" sz="1300">
                <a:solidFill>
                  <a:schemeClr val="dk1"/>
                </a:solidFill>
              </a:rPr>
              <a:t>Given that the age of the women is 120% of what it was 15 years ago.</a:t>
            </a:r>
            <a:endParaRPr sz="1300">
              <a:solidFill>
                <a:schemeClr val="dk1"/>
              </a:solidFill>
            </a:endParaRPr>
          </a:p>
          <a:p>
            <a:pPr indent="0" lvl="0" marL="0" rtl="0" algn="just">
              <a:spcBef>
                <a:spcPts val="0"/>
              </a:spcBef>
              <a:spcAft>
                <a:spcPts val="0"/>
              </a:spcAft>
              <a:buClr>
                <a:schemeClr val="dk1"/>
              </a:buClr>
              <a:buSzPts val="1800"/>
              <a:buFont typeface="Arial"/>
              <a:buNone/>
            </a:pPr>
            <a:r>
              <a:rPr lang="en-GB" sz="1300">
                <a:solidFill>
                  <a:schemeClr val="dk1"/>
                </a:solidFill>
              </a:rPr>
              <a:t>Therefore Present age</a:t>
            </a:r>
            <a:endParaRPr sz="1300">
              <a:solidFill>
                <a:schemeClr val="dk1"/>
              </a:solidFill>
            </a:endParaRPr>
          </a:p>
          <a:p>
            <a:pPr indent="0" lvl="0" marL="0" rtl="0" algn="just">
              <a:spcBef>
                <a:spcPts val="0"/>
              </a:spcBef>
              <a:spcAft>
                <a:spcPts val="0"/>
              </a:spcAft>
              <a:buClr>
                <a:schemeClr val="dk1"/>
              </a:buClr>
              <a:buSzPts val="1800"/>
              <a:buFont typeface="Arial"/>
              <a:buNone/>
            </a:pPr>
            <a:r>
              <a:rPr b="1" lang="en-GB" sz="1300">
                <a:solidFill>
                  <a:schemeClr val="dk1"/>
                </a:solidFill>
              </a:rPr>
              <a:t>120% of (x-15)</a:t>
            </a:r>
            <a:endParaRPr sz="1300">
              <a:solidFill>
                <a:schemeClr val="dk1"/>
              </a:solidFill>
            </a:endParaRPr>
          </a:p>
          <a:p>
            <a:pPr indent="0" lvl="0" marL="0" rtl="0" algn="just">
              <a:spcBef>
                <a:spcPts val="0"/>
              </a:spcBef>
              <a:spcAft>
                <a:spcPts val="0"/>
              </a:spcAft>
              <a:buClr>
                <a:schemeClr val="dk1"/>
              </a:buClr>
              <a:buSzPts val="1800"/>
              <a:buFont typeface="Arial"/>
              <a:buNone/>
            </a:pPr>
            <a:r>
              <a:rPr b="1" lang="en-GB" sz="1300">
                <a:solidFill>
                  <a:schemeClr val="dk1"/>
                </a:solidFill>
              </a:rPr>
              <a:t>After 15 years:</a:t>
            </a:r>
            <a:endParaRPr sz="1300">
              <a:solidFill>
                <a:schemeClr val="dk1"/>
              </a:solidFill>
            </a:endParaRPr>
          </a:p>
          <a:p>
            <a:pPr indent="0" lvl="0" marL="0" rtl="0" algn="just">
              <a:spcBef>
                <a:spcPts val="0"/>
              </a:spcBef>
              <a:spcAft>
                <a:spcPts val="0"/>
              </a:spcAft>
              <a:buClr>
                <a:schemeClr val="dk1"/>
              </a:buClr>
              <a:buSzPts val="1800"/>
              <a:buFont typeface="Arial"/>
              <a:buNone/>
            </a:pPr>
            <a:r>
              <a:rPr lang="en-GB" sz="1300">
                <a:solidFill>
                  <a:schemeClr val="dk1"/>
                </a:solidFill>
              </a:rPr>
              <a:t>Women’s Age will be </a:t>
            </a:r>
            <a:r>
              <a:rPr b="1" lang="en-GB" sz="1300">
                <a:solidFill>
                  <a:schemeClr val="dk1"/>
                </a:solidFill>
              </a:rPr>
              <a:t>(x+15)</a:t>
            </a:r>
            <a:endParaRPr sz="1300">
              <a:solidFill>
                <a:schemeClr val="dk1"/>
              </a:solidFill>
            </a:endParaRPr>
          </a:p>
          <a:p>
            <a:pPr indent="0" lvl="0" marL="0" rtl="0" algn="just">
              <a:spcBef>
                <a:spcPts val="0"/>
              </a:spcBef>
              <a:spcAft>
                <a:spcPts val="0"/>
              </a:spcAft>
              <a:buClr>
                <a:schemeClr val="dk1"/>
              </a:buClr>
              <a:buSzPts val="1800"/>
              <a:buFont typeface="Arial"/>
              <a:buNone/>
            </a:pPr>
            <a:r>
              <a:rPr lang="en-GB" sz="1300">
                <a:solidFill>
                  <a:schemeClr val="dk1"/>
                </a:solidFill>
              </a:rPr>
              <a:t>Given that the age of the women is 75% of what it was after 15 years.</a:t>
            </a:r>
            <a:endParaRPr sz="1300">
              <a:solidFill>
                <a:schemeClr val="dk1"/>
              </a:solidFill>
            </a:endParaRPr>
          </a:p>
          <a:p>
            <a:pPr indent="0" lvl="0" marL="0" rtl="0" algn="just">
              <a:spcBef>
                <a:spcPts val="0"/>
              </a:spcBef>
              <a:spcAft>
                <a:spcPts val="0"/>
              </a:spcAft>
              <a:buClr>
                <a:schemeClr val="dk1"/>
              </a:buClr>
              <a:buSzPts val="1800"/>
              <a:buFont typeface="Arial"/>
              <a:buNone/>
            </a:pPr>
            <a:r>
              <a:rPr b="1" lang="en-GB" sz="1300">
                <a:solidFill>
                  <a:schemeClr val="dk1"/>
                </a:solidFill>
              </a:rPr>
              <a:t>75% of (x+15)</a:t>
            </a:r>
            <a:endParaRPr sz="1300">
              <a:solidFill>
                <a:schemeClr val="dk1"/>
              </a:solidFill>
            </a:endParaRPr>
          </a:p>
          <a:p>
            <a:pPr indent="0" lvl="0" marL="0" rtl="0" algn="just">
              <a:spcBef>
                <a:spcPts val="0"/>
              </a:spcBef>
              <a:spcAft>
                <a:spcPts val="0"/>
              </a:spcAft>
              <a:buClr>
                <a:schemeClr val="dk1"/>
              </a:buClr>
              <a:buSzPts val="1800"/>
              <a:buFont typeface="Arial"/>
              <a:buNone/>
            </a:pPr>
            <a:r>
              <a:rPr lang="en-GB" sz="1300">
                <a:solidFill>
                  <a:schemeClr val="dk1"/>
                </a:solidFill>
              </a:rPr>
              <a:t>To Find the Present age let us equate the two equation,</a:t>
            </a:r>
            <a:endParaRPr sz="1300">
              <a:solidFill>
                <a:schemeClr val="dk1"/>
              </a:solidFill>
            </a:endParaRPr>
          </a:p>
          <a:p>
            <a:pPr indent="0" lvl="0" marL="0" rtl="0" algn="just">
              <a:spcBef>
                <a:spcPts val="0"/>
              </a:spcBef>
              <a:spcAft>
                <a:spcPts val="0"/>
              </a:spcAft>
              <a:buClr>
                <a:schemeClr val="dk1"/>
              </a:buClr>
              <a:buSzPts val="1800"/>
              <a:buFont typeface="Arial"/>
              <a:buNone/>
            </a:pPr>
            <a:r>
              <a:rPr lang="en-GB" sz="1300">
                <a:solidFill>
                  <a:schemeClr val="dk1"/>
                </a:solidFill>
              </a:rPr>
              <a:t>120% of (x-15)=75% of (x+15)</a:t>
            </a:r>
            <a:endParaRPr sz="1300">
              <a:solidFill>
                <a:schemeClr val="dk1"/>
              </a:solidFill>
            </a:endParaRPr>
          </a:p>
          <a:p>
            <a:pPr indent="0" lvl="0" marL="0" rtl="0" algn="just">
              <a:spcBef>
                <a:spcPts val="0"/>
              </a:spcBef>
              <a:spcAft>
                <a:spcPts val="0"/>
              </a:spcAft>
              <a:buClr>
                <a:schemeClr val="dk1"/>
              </a:buClr>
              <a:buSzPts val="1800"/>
              <a:buFont typeface="Arial"/>
              <a:buNone/>
            </a:pPr>
            <a:r>
              <a:rPr lang="en-GB" sz="1300">
                <a:solidFill>
                  <a:schemeClr val="dk1"/>
                </a:solidFill>
              </a:rPr>
              <a:t>120/100 (x-15)=75/100 (x+15)</a:t>
            </a:r>
            <a:endParaRPr sz="1300">
              <a:solidFill>
                <a:schemeClr val="dk1"/>
              </a:solidFill>
            </a:endParaRPr>
          </a:p>
          <a:p>
            <a:pPr indent="0" lvl="0" marL="0" rtl="0" algn="just">
              <a:spcBef>
                <a:spcPts val="0"/>
              </a:spcBef>
              <a:spcAft>
                <a:spcPts val="0"/>
              </a:spcAft>
              <a:buClr>
                <a:schemeClr val="dk1"/>
              </a:buClr>
              <a:buSzPts val="1800"/>
              <a:buFont typeface="Arial"/>
              <a:buNone/>
            </a:pPr>
            <a:r>
              <a:rPr lang="en-GB" sz="1300">
                <a:solidFill>
                  <a:schemeClr val="dk1"/>
                </a:solidFill>
              </a:rPr>
              <a:t>6/5(x-15)=3/4(x+15)</a:t>
            </a:r>
            <a:endParaRPr sz="1300">
              <a:solidFill>
                <a:schemeClr val="dk1"/>
              </a:solidFill>
            </a:endParaRPr>
          </a:p>
          <a:p>
            <a:pPr indent="0" lvl="0" marL="0" rtl="0" algn="just">
              <a:spcBef>
                <a:spcPts val="0"/>
              </a:spcBef>
              <a:spcAft>
                <a:spcPts val="0"/>
              </a:spcAft>
              <a:buClr>
                <a:schemeClr val="dk1"/>
              </a:buClr>
              <a:buSzPts val="1800"/>
              <a:buFont typeface="Arial"/>
              <a:buNone/>
            </a:pPr>
            <a:r>
              <a:rPr lang="en-GB" sz="1300">
                <a:solidFill>
                  <a:schemeClr val="dk1"/>
                </a:solidFill>
              </a:rPr>
              <a:t>6*4*(x-15)=3*5*(x+15)</a:t>
            </a:r>
            <a:endParaRPr sz="1300">
              <a:solidFill>
                <a:schemeClr val="dk1"/>
              </a:solidFill>
            </a:endParaRPr>
          </a:p>
          <a:p>
            <a:pPr indent="0" lvl="0" marL="0" rtl="0" algn="just">
              <a:spcBef>
                <a:spcPts val="0"/>
              </a:spcBef>
              <a:spcAft>
                <a:spcPts val="0"/>
              </a:spcAft>
              <a:buClr>
                <a:schemeClr val="dk1"/>
              </a:buClr>
              <a:buSzPts val="1800"/>
              <a:buFont typeface="Arial"/>
              <a:buNone/>
            </a:pPr>
            <a:r>
              <a:rPr lang="en-GB" sz="1300">
                <a:solidFill>
                  <a:schemeClr val="dk1"/>
                </a:solidFill>
              </a:rPr>
              <a:t>24(x-15)=15(x+15)</a:t>
            </a:r>
            <a:endParaRPr sz="1300">
              <a:solidFill>
                <a:schemeClr val="dk1"/>
              </a:solidFill>
            </a:endParaRPr>
          </a:p>
          <a:p>
            <a:pPr indent="0" lvl="0" marL="0" rtl="0" algn="just">
              <a:spcBef>
                <a:spcPts val="0"/>
              </a:spcBef>
              <a:spcAft>
                <a:spcPts val="0"/>
              </a:spcAft>
              <a:buClr>
                <a:schemeClr val="dk1"/>
              </a:buClr>
              <a:buSzPts val="1800"/>
              <a:buFont typeface="Arial"/>
              <a:buNone/>
            </a:pPr>
            <a:r>
              <a:rPr lang="en-GB" sz="1300">
                <a:solidFill>
                  <a:schemeClr val="dk1"/>
                </a:solidFill>
              </a:rPr>
              <a:t>24x-360=15x+225</a:t>
            </a:r>
            <a:endParaRPr sz="1300">
              <a:solidFill>
                <a:schemeClr val="dk1"/>
              </a:solidFill>
            </a:endParaRPr>
          </a:p>
          <a:p>
            <a:pPr indent="0" lvl="0" marL="0" rtl="0" algn="just">
              <a:spcBef>
                <a:spcPts val="0"/>
              </a:spcBef>
              <a:spcAft>
                <a:spcPts val="0"/>
              </a:spcAft>
              <a:buClr>
                <a:schemeClr val="dk1"/>
              </a:buClr>
              <a:buSzPts val="1800"/>
              <a:buFont typeface="Arial"/>
              <a:buNone/>
            </a:pPr>
            <a:r>
              <a:rPr lang="en-GB" sz="1300">
                <a:solidFill>
                  <a:schemeClr val="dk1"/>
                </a:solidFill>
              </a:rPr>
              <a:t>9x=585</a:t>
            </a:r>
            <a:endParaRPr sz="1300">
              <a:solidFill>
                <a:schemeClr val="dk1"/>
              </a:solidFill>
            </a:endParaRPr>
          </a:p>
          <a:p>
            <a:pPr indent="0" lvl="0" marL="0" rtl="0" algn="just">
              <a:spcBef>
                <a:spcPts val="0"/>
              </a:spcBef>
              <a:spcAft>
                <a:spcPts val="0"/>
              </a:spcAft>
              <a:buClr>
                <a:schemeClr val="dk1"/>
              </a:buClr>
              <a:buSzPts val="1800"/>
              <a:buFont typeface="Arial"/>
              <a:buNone/>
            </a:pPr>
            <a:r>
              <a:rPr b="1" lang="en-GB" sz="1300">
                <a:solidFill>
                  <a:schemeClr val="dk1"/>
                </a:solidFill>
              </a:rPr>
              <a:t>x=65</a:t>
            </a:r>
            <a:endParaRPr sz="1300">
              <a:solidFill>
                <a:schemeClr val="dk1"/>
              </a:solidFill>
            </a:endParaRPr>
          </a:p>
        </p:txBody>
      </p:sp>
      <p:sp>
        <p:nvSpPr>
          <p:cNvPr id="128" name="Google Shape;128;g2ee15abed17_3_313"/>
          <p:cNvSpPr txBox="1"/>
          <p:nvPr/>
        </p:nvSpPr>
        <p:spPr>
          <a:xfrm>
            <a:off x="630000" y="630250"/>
            <a:ext cx="309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04</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g2ee15abed17_3_318"/>
          <p:cNvSpPr txBox="1"/>
          <p:nvPr/>
        </p:nvSpPr>
        <p:spPr>
          <a:xfrm>
            <a:off x="327600" y="35920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16</a:t>
            </a:r>
            <a:endParaRPr b="0" i="0" sz="2000" u="none" cap="none" strike="noStrike">
              <a:solidFill>
                <a:schemeClr val="lt1"/>
              </a:solidFill>
              <a:latin typeface="Roboto"/>
              <a:ea typeface="Roboto"/>
              <a:cs typeface="Roboto"/>
              <a:sym typeface="Roboto"/>
            </a:endParaRPr>
          </a:p>
        </p:txBody>
      </p:sp>
      <p:sp>
        <p:nvSpPr>
          <p:cNvPr id="134" name="Google Shape;134;g2ee15abed17_3_318"/>
          <p:cNvSpPr txBox="1"/>
          <p:nvPr/>
        </p:nvSpPr>
        <p:spPr>
          <a:xfrm>
            <a:off x="720000" y="1440000"/>
            <a:ext cx="76494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Father is four times the age of his daughter. If after 5 years, he would be three times of daughter’s age, then further after 5 years, how many times he would be of his daughter’s age?</a:t>
            </a:r>
            <a:endParaRPr sz="18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18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A] 1.5 times</a:t>
            </a:r>
            <a:endParaRPr sz="18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B] 2 times</a:t>
            </a:r>
            <a:endParaRPr sz="18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C] 2.5 times</a:t>
            </a:r>
            <a:endParaRPr sz="18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D] 3 times</a:t>
            </a:r>
            <a:endParaRPr sz="1800">
              <a:solidFill>
                <a:schemeClr val="dk1"/>
              </a:solidFill>
              <a:latin typeface="Roboto"/>
              <a:ea typeface="Roboto"/>
              <a:cs typeface="Roboto"/>
              <a:sym typeface="Roboto"/>
            </a:endParaRPr>
          </a:p>
        </p:txBody>
      </p:sp>
      <p:sp>
        <p:nvSpPr>
          <p:cNvPr id="135" name="Google Shape;135;g2ee15abed17_3_318"/>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600" u="none" cap="none" strike="noStrike">
                <a:solidFill>
                  <a:srgbClr val="000000"/>
                </a:solidFill>
                <a:latin typeface="Roboto"/>
                <a:ea typeface="Roboto"/>
                <a:cs typeface="Roboto"/>
                <a:sym typeface="Roboto"/>
              </a:rPr>
              <a:t>Answer: </a:t>
            </a:r>
            <a:r>
              <a:rPr b="1" lang="en-GB" sz="1600">
                <a:latin typeface="Roboto"/>
                <a:ea typeface="Roboto"/>
                <a:cs typeface="Roboto"/>
                <a:sym typeface="Roboto"/>
              </a:rPr>
              <a:t>C</a:t>
            </a:r>
            <a:endParaRPr b="1" i="0" sz="1600" u="none" cap="none" strike="noStrike">
              <a:solidFill>
                <a:srgbClr val="000000"/>
              </a:solidFill>
              <a:latin typeface="Roboto"/>
              <a:ea typeface="Roboto"/>
              <a:cs typeface="Roboto"/>
              <a:sym typeface="Roboto"/>
            </a:endParaRPr>
          </a:p>
        </p:txBody>
      </p:sp>
      <p:sp>
        <p:nvSpPr>
          <p:cNvPr id="136" name="Google Shape;136;g2ee15abed17_3_318"/>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05</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xEl>
                                              <p:pRg end="0" st="0"/>
                                            </p:txEl>
                                          </p:spTgt>
                                        </p:tgtEl>
                                        <p:attrNameLst>
                                          <p:attrName>style.visibility</p:attrName>
                                        </p:attrNameLst>
                                      </p:cBhvr>
                                      <p:to>
                                        <p:strVal val="visible"/>
                                      </p:to>
                                    </p:set>
                                    <p:animEffect filter="fade" transition="in">
                                      <p:cBhvr>
                                        <p:cTn dur="1000"/>
                                        <p:tgtEl>
                                          <p:spTgt spid="13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xEl>
                                              <p:pRg end="1" st="1"/>
                                            </p:txEl>
                                          </p:spTgt>
                                        </p:tgtEl>
                                        <p:attrNameLst>
                                          <p:attrName>style.visibility</p:attrName>
                                        </p:attrNameLst>
                                      </p:cBhvr>
                                      <p:to>
                                        <p:strVal val="visible"/>
                                      </p:to>
                                    </p:set>
                                    <p:animEffect filter="fade" transition="in">
                                      <p:cBhvr>
                                        <p:cTn dur="1000"/>
                                        <p:tgtEl>
                                          <p:spTgt spid="13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xEl>
                                              <p:pRg end="2" st="2"/>
                                            </p:txEl>
                                          </p:spTgt>
                                        </p:tgtEl>
                                        <p:attrNameLst>
                                          <p:attrName>style.visibility</p:attrName>
                                        </p:attrNameLst>
                                      </p:cBhvr>
                                      <p:to>
                                        <p:strVal val="visible"/>
                                      </p:to>
                                    </p:set>
                                    <p:animEffect filter="fade" transition="in">
                                      <p:cBhvr>
                                        <p:cTn dur="1000"/>
                                        <p:tgtEl>
                                          <p:spTgt spid="13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xEl>
                                              <p:pRg end="3" st="3"/>
                                            </p:txEl>
                                          </p:spTgt>
                                        </p:tgtEl>
                                        <p:attrNameLst>
                                          <p:attrName>style.visibility</p:attrName>
                                        </p:attrNameLst>
                                      </p:cBhvr>
                                      <p:to>
                                        <p:strVal val="visible"/>
                                      </p:to>
                                    </p:set>
                                    <p:animEffect filter="fade" transition="in">
                                      <p:cBhvr>
                                        <p:cTn dur="1000"/>
                                        <p:tgtEl>
                                          <p:spTgt spid="13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xEl>
                                              <p:pRg end="4" st="4"/>
                                            </p:txEl>
                                          </p:spTgt>
                                        </p:tgtEl>
                                        <p:attrNameLst>
                                          <p:attrName>style.visibility</p:attrName>
                                        </p:attrNameLst>
                                      </p:cBhvr>
                                      <p:to>
                                        <p:strVal val="visible"/>
                                      </p:to>
                                    </p:set>
                                    <p:animEffect filter="fade" transition="in">
                                      <p:cBhvr>
                                        <p:cTn dur="1000"/>
                                        <p:tgtEl>
                                          <p:spTgt spid="13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
                                            <p:txEl>
                                              <p:pRg end="5" st="5"/>
                                            </p:txEl>
                                          </p:spTgt>
                                        </p:tgtEl>
                                        <p:attrNameLst>
                                          <p:attrName>style.visibility</p:attrName>
                                        </p:attrNameLst>
                                      </p:cBhvr>
                                      <p:to>
                                        <p:strVal val="visible"/>
                                      </p:to>
                                    </p:set>
                                    <p:animEffect filter="fade" transition="in">
                                      <p:cBhvr>
                                        <p:cTn dur="1000"/>
                                        <p:tgtEl>
                                          <p:spTgt spid="13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5">
                                            <p:txEl>
                                              <p:pRg end="0" st="0"/>
                                            </p:txEl>
                                          </p:spTgt>
                                        </p:tgtEl>
                                        <p:attrNameLst>
                                          <p:attrName>style.visibility</p:attrName>
                                        </p:attrNameLst>
                                      </p:cBhvr>
                                      <p:to>
                                        <p:strVal val="visible"/>
                                      </p:to>
                                    </p:set>
                                    <p:animEffect filter="fade" transition="in">
                                      <p:cBhvr>
                                        <p:cTn dur="1000"/>
                                        <p:tgtEl>
                                          <p:spTgt spid="135">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0" name="Shape 140"/>
        <p:cNvGrpSpPr/>
        <p:nvPr/>
      </p:nvGrpSpPr>
      <p:grpSpPr>
        <a:xfrm>
          <a:off x="0" y="0"/>
          <a:ext cx="0" cy="0"/>
          <a:chOff x="0" y="0"/>
          <a:chExt cx="0" cy="0"/>
        </a:xfrm>
      </p:grpSpPr>
      <p:sp>
        <p:nvSpPr>
          <p:cNvPr id="141" name="Google Shape;141;g2ee15abed17_3_325"/>
          <p:cNvSpPr txBox="1"/>
          <p:nvPr/>
        </p:nvSpPr>
        <p:spPr>
          <a:xfrm>
            <a:off x="327600" y="380641"/>
            <a:ext cx="2827800" cy="453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09</a:t>
            </a:r>
            <a:endParaRPr b="0" i="0" sz="2000" u="none" cap="none" strike="noStrike">
              <a:solidFill>
                <a:schemeClr val="lt1"/>
              </a:solidFill>
              <a:latin typeface="Roboto"/>
              <a:ea typeface="Roboto"/>
              <a:cs typeface="Roboto"/>
              <a:sym typeface="Roboto"/>
            </a:endParaRPr>
          </a:p>
        </p:txBody>
      </p:sp>
      <p:sp>
        <p:nvSpPr>
          <p:cNvPr id="142" name="Google Shape;142;g2ee15abed17_3_325"/>
          <p:cNvSpPr txBox="1"/>
          <p:nvPr/>
        </p:nvSpPr>
        <p:spPr>
          <a:xfrm>
            <a:off x="720725" y="1250950"/>
            <a:ext cx="73590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rtl="0" algn="just">
              <a:spcBef>
                <a:spcPts val="0"/>
              </a:spcBef>
              <a:spcAft>
                <a:spcPts val="0"/>
              </a:spcAft>
              <a:buClr>
                <a:schemeClr val="dk1"/>
              </a:buClr>
              <a:buSzPts val="1800"/>
              <a:buFont typeface="Arial"/>
              <a:buNone/>
            </a:pPr>
            <a:r>
              <a:rPr lang="en-GB" sz="1300">
                <a:solidFill>
                  <a:schemeClr val="dk1"/>
                </a:solidFill>
                <a:latin typeface="Roboto"/>
                <a:ea typeface="Roboto"/>
                <a:cs typeface="Roboto"/>
                <a:sym typeface="Roboto"/>
              </a:rPr>
              <a:t>past present -- --After 5 years-&gt; Future ------again after 5 years---&gt;Future</a:t>
            </a:r>
            <a:endParaRPr sz="1300">
              <a:solidFill>
                <a:schemeClr val="dk1"/>
              </a:solidFill>
              <a:latin typeface="Roboto"/>
              <a:ea typeface="Roboto"/>
              <a:cs typeface="Roboto"/>
              <a:sym typeface="Roboto"/>
            </a:endParaRPr>
          </a:p>
          <a:p>
            <a:pPr indent="0" lvl="0" marL="0" rtl="0" algn="just">
              <a:spcBef>
                <a:spcPts val="0"/>
              </a:spcBef>
              <a:spcAft>
                <a:spcPts val="0"/>
              </a:spcAft>
              <a:buClr>
                <a:schemeClr val="dk1"/>
              </a:buClr>
              <a:buSzPts val="1800"/>
              <a:buFont typeface="Arial"/>
              <a:buNone/>
            </a:pPr>
            <a:r>
              <a:rPr lang="en-GB" sz="1300">
                <a:solidFill>
                  <a:schemeClr val="dk1"/>
                </a:solidFill>
                <a:latin typeface="Roboto"/>
                <a:ea typeface="Roboto"/>
                <a:cs typeface="Roboto"/>
                <a:sym typeface="Roboto"/>
              </a:rPr>
              <a:t>Fathers age=4x 4x+5=3(x+5) 4x+10</a:t>
            </a:r>
            <a:br>
              <a:rPr lang="en-GB" sz="1300">
                <a:solidFill>
                  <a:schemeClr val="dk1"/>
                </a:solidFill>
                <a:latin typeface="Roboto"/>
                <a:ea typeface="Roboto"/>
                <a:cs typeface="Roboto"/>
                <a:sym typeface="Roboto"/>
              </a:rPr>
            </a:br>
            <a:r>
              <a:rPr lang="en-GB" sz="1300">
                <a:solidFill>
                  <a:schemeClr val="dk1"/>
                </a:solidFill>
                <a:latin typeface="Roboto"/>
                <a:ea typeface="Roboto"/>
                <a:cs typeface="Roboto"/>
                <a:sym typeface="Roboto"/>
              </a:rPr>
              <a:t>Daughters age=x x+5 x+10 (x+5+5)</a:t>
            </a:r>
            <a:br>
              <a:rPr lang="en-GB" sz="1300">
                <a:solidFill>
                  <a:schemeClr val="dk1"/>
                </a:solidFill>
                <a:latin typeface="Roboto"/>
                <a:ea typeface="Roboto"/>
                <a:cs typeface="Roboto"/>
                <a:sym typeface="Roboto"/>
              </a:rPr>
            </a:br>
            <a:r>
              <a:rPr lang="en-GB" sz="1300">
                <a:solidFill>
                  <a:schemeClr val="dk1"/>
                </a:solidFill>
                <a:latin typeface="Roboto"/>
                <a:ea typeface="Roboto"/>
                <a:cs typeface="Roboto"/>
                <a:sym typeface="Roboto"/>
              </a:rPr>
              <a:t>(because it is said after 5 years fathers age is </a:t>
            </a:r>
            <a:br>
              <a:rPr lang="en-GB" sz="1300">
                <a:solidFill>
                  <a:schemeClr val="dk1"/>
                </a:solidFill>
                <a:latin typeface="Roboto"/>
                <a:ea typeface="Roboto"/>
                <a:cs typeface="Roboto"/>
                <a:sym typeface="Roboto"/>
              </a:rPr>
            </a:br>
            <a:r>
              <a:rPr lang="en-GB" sz="1300">
                <a:solidFill>
                  <a:schemeClr val="dk1"/>
                </a:solidFill>
                <a:latin typeface="Roboto"/>
                <a:ea typeface="Roboto"/>
                <a:cs typeface="Roboto"/>
                <a:sym typeface="Roboto"/>
              </a:rPr>
              <a:t>three times that of daughters age. after 5 years daughters age is (x+5)</a:t>
            </a:r>
            <a:endParaRPr sz="1300">
              <a:solidFill>
                <a:schemeClr val="dk1"/>
              </a:solidFill>
              <a:latin typeface="Roboto"/>
              <a:ea typeface="Roboto"/>
              <a:cs typeface="Roboto"/>
              <a:sym typeface="Roboto"/>
            </a:endParaRPr>
          </a:p>
          <a:p>
            <a:pPr indent="0" lvl="0" marL="0" rtl="0" algn="just">
              <a:spcBef>
                <a:spcPts val="0"/>
              </a:spcBef>
              <a:spcAft>
                <a:spcPts val="0"/>
              </a:spcAft>
              <a:buClr>
                <a:schemeClr val="dk1"/>
              </a:buClr>
              <a:buSzPts val="1800"/>
              <a:buFont typeface="Arial"/>
              <a:buNone/>
            </a:pPr>
            <a:r>
              <a:rPr lang="en-GB" sz="1300">
                <a:solidFill>
                  <a:schemeClr val="dk1"/>
                </a:solidFill>
                <a:latin typeface="Roboto"/>
                <a:ea typeface="Roboto"/>
                <a:cs typeface="Roboto"/>
                <a:sym typeface="Roboto"/>
              </a:rPr>
              <a:t>when we solve this equation, we get</a:t>
            </a:r>
            <a:br>
              <a:rPr lang="en-GB" sz="1300">
                <a:solidFill>
                  <a:schemeClr val="dk1"/>
                </a:solidFill>
                <a:latin typeface="Roboto"/>
                <a:ea typeface="Roboto"/>
                <a:cs typeface="Roboto"/>
                <a:sym typeface="Roboto"/>
              </a:rPr>
            </a:br>
            <a:r>
              <a:rPr lang="en-GB" sz="1300">
                <a:solidFill>
                  <a:schemeClr val="dk1"/>
                </a:solidFill>
                <a:latin typeface="Roboto"/>
                <a:ea typeface="Roboto"/>
                <a:cs typeface="Roboto"/>
                <a:sym typeface="Roboto"/>
              </a:rPr>
              <a:t>4x+5=3(x+5)</a:t>
            </a:r>
            <a:br>
              <a:rPr lang="en-GB" sz="1300">
                <a:solidFill>
                  <a:schemeClr val="dk1"/>
                </a:solidFill>
                <a:latin typeface="Roboto"/>
                <a:ea typeface="Roboto"/>
                <a:cs typeface="Roboto"/>
                <a:sym typeface="Roboto"/>
              </a:rPr>
            </a:br>
            <a:r>
              <a:rPr lang="en-GB" sz="1300">
                <a:solidFill>
                  <a:schemeClr val="dk1"/>
                </a:solidFill>
                <a:latin typeface="Roboto"/>
                <a:ea typeface="Roboto"/>
                <a:cs typeface="Roboto"/>
                <a:sym typeface="Roboto"/>
              </a:rPr>
              <a:t>4x+5=3x+15</a:t>
            </a:r>
            <a:br>
              <a:rPr lang="en-GB" sz="1300">
                <a:solidFill>
                  <a:schemeClr val="dk1"/>
                </a:solidFill>
                <a:latin typeface="Roboto"/>
                <a:ea typeface="Roboto"/>
                <a:cs typeface="Roboto"/>
                <a:sym typeface="Roboto"/>
              </a:rPr>
            </a:br>
            <a:r>
              <a:rPr lang="en-GB" sz="1300">
                <a:solidFill>
                  <a:schemeClr val="dk1"/>
                </a:solidFill>
                <a:latin typeface="Roboto"/>
                <a:ea typeface="Roboto"/>
                <a:cs typeface="Roboto"/>
                <a:sym typeface="Roboto"/>
              </a:rPr>
              <a:t>4x-3x=15-5 🡺 x=10</a:t>
            </a:r>
            <a:endParaRPr sz="1300">
              <a:solidFill>
                <a:schemeClr val="dk1"/>
              </a:solidFill>
              <a:latin typeface="Roboto"/>
              <a:ea typeface="Roboto"/>
              <a:cs typeface="Roboto"/>
              <a:sym typeface="Roboto"/>
            </a:endParaRPr>
          </a:p>
          <a:p>
            <a:pPr indent="0" lvl="0" marL="0" rtl="0" algn="just">
              <a:spcBef>
                <a:spcPts val="0"/>
              </a:spcBef>
              <a:spcAft>
                <a:spcPts val="0"/>
              </a:spcAft>
              <a:buClr>
                <a:schemeClr val="dk1"/>
              </a:buClr>
              <a:buSzPts val="1800"/>
              <a:buFont typeface="Arial"/>
              <a:buNone/>
            </a:pPr>
            <a:r>
              <a:rPr lang="en-GB" sz="1300">
                <a:solidFill>
                  <a:schemeClr val="dk1"/>
                </a:solidFill>
                <a:latin typeface="Roboto"/>
                <a:ea typeface="Roboto"/>
                <a:cs typeface="Roboto"/>
                <a:sym typeface="Roboto"/>
              </a:rPr>
              <a:t>But we have to find ratio of next 5 years..</a:t>
            </a:r>
            <a:endParaRPr sz="1300">
              <a:solidFill>
                <a:schemeClr val="dk1"/>
              </a:solidFill>
              <a:latin typeface="Roboto"/>
              <a:ea typeface="Roboto"/>
              <a:cs typeface="Roboto"/>
              <a:sym typeface="Roboto"/>
            </a:endParaRPr>
          </a:p>
          <a:p>
            <a:pPr indent="0" lvl="0" marL="0" rtl="0" algn="just">
              <a:spcBef>
                <a:spcPts val="0"/>
              </a:spcBef>
              <a:spcAft>
                <a:spcPts val="0"/>
              </a:spcAft>
              <a:buClr>
                <a:schemeClr val="dk1"/>
              </a:buClr>
              <a:buSzPts val="1800"/>
              <a:buFont typeface="Arial"/>
              <a:buNone/>
            </a:pPr>
            <a:r>
              <a:rPr lang="en-GB" sz="1300">
                <a:solidFill>
                  <a:schemeClr val="dk1"/>
                </a:solidFill>
                <a:latin typeface="Roboto"/>
                <a:ea typeface="Roboto"/>
                <a:cs typeface="Roboto"/>
                <a:sym typeface="Roboto"/>
              </a:rPr>
              <a:t>so, again after 5 years .It will look like this </a:t>
            </a:r>
            <a:br>
              <a:rPr lang="en-GB" sz="1300">
                <a:solidFill>
                  <a:schemeClr val="dk1"/>
                </a:solidFill>
                <a:latin typeface="Roboto"/>
                <a:ea typeface="Roboto"/>
                <a:cs typeface="Roboto"/>
                <a:sym typeface="Roboto"/>
              </a:rPr>
            </a:br>
            <a:r>
              <a:rPr lang="en-GB" sz="1300">
                <a:solidFill>
                  <a:schemeClr val="dk1"/>
                </a:solidFill>
                <a:latin typeface="Roboto"/>
                <a:ea typeface="Roboto"/>
                <a:cs typeface="Roboto"/>
                <a:sym typeface="Roboto"/>
              </a:rPr>
              <a:t>fathers age=4x+10</a:t>
            </a:r>
            <a:br>
              <a:rPr lang="en-GB" sz="1300">
                <a:solidFill>
                  <a:schemeClr val="dk1"/>
                </a:solidFill>
                <a:latin typeface="Roboto"/>
                <a:ea typeface="Roboto"/>
                <a:cs typeface="Roboto"/>
                <a:sym typeface="Roboto"/>
              </a:rPr>
            </a:br>
            <a:r>
              <a:rPr lang="en-GB" sz="1300">
                <a:solidFill>
                  <a:schemeClr val="dk1"/>
                </a:solidFill>
                <a:latin typeface="Roboto"/>
                <a:ea typeface="Roboto"/>
                <a:cs typeface="Roboto"/>
                <a:sym typeface="Roboto"/>
              </a:rPr>
              <a:t>daughter's age=x+10</a:t>
            </a:r>
            <a:endParaRPr sz="1300">
              <a:solidFill>
                <a:schemeClr val="dk1"/>
              </a:solidFill>
              <a:latin typeface="Roboto"/>
              <a:ea typeface="Roboto"/>
              <a:cs typeface="Roboto"/>
              <a:sym typeface="Roboto"/>
            </a:endParaRPr>
          </a:p>
          <a:p>
            <a:pPr indent="0" lvl="0" marL="0" rtl="0" algn="just">
              <a:spcBef>
                <a:spcPts val="0"/>
              </a:spcBef>
              <a:spcAft>
                <a:spcPts val="0"/>
              </a:spcAft>
              <a:buClr>
                <a:schemeClr val="dk1"/>
              </a:buClr>
              <a:buSzPts val="1800"/>
              <a:buFont typeface="Arial"/>
              <a:buNone/>
            </a:pPr>
            <a:r>
              <a:rPr lang="en-GB" sz="1300">
                <a:solidFill>
                  <a:schemeClr val="dk1"/>
                </a:solidFill>
                <a:latin typeface="Roboto"/>
                <a:ea typeface="Roboto"/>
                <a:cs typeface="Roboto"/>
                <a:sym typeface="Roboto"/>
              </a:rPr>
              <a:t>we have value of x. So put it above we will get answer</a:t>
            </a:r>
            <a:br>
              <a:rPr lang="en-GB" sz="1300">
                <a:solidFill>
                  <a:schemeClr val="dk1"/>
                </a:solidFill>
                <a:latin typeface="Roboto"/>
                <a:ea typeface="Roboto"/>
                <a:cs typeface="Roboto"/>
                <a:sym typeface="Roboto"/>
              </a:rPr>
            </a:br>
            <a:r>
              <a:rPr lang="en-GB" sz="1300">
                <a:solidFill>
                  <a:schemeClr val="dk1"/>
                </a:solidFill>
                <a:latin typeface="Roboto"/>
                <a:ea typeface="Roboto"/>
                <a:cs typeface="Roboto"/>
                <a:sym typeface="Roboto"/>
              </a:rPr>
              <a:t>4x+10/x+10</a:t>
            </a:r>
            <a:br>
              <a:rPr lang="en-GB" sz="1300">
                <a:solidFill>
                  <a:schemeClr val="dk1"/>
                </a:solidFill>
                <a:latin typeface="Roboto"/>
                <a:ea typeface="Roboto"/>
                <a:cs typeface="Roboto"/>
                <a:sym typeface="Roboto"/>
              </a:rPr>
            </a:br>
            <a:r>
              <a:rPr lang="en-GB" sz="1300">
                <a:solidFill>
                  <a:schemeClr val="dk1"/>
                </a:solidFill>
                <a:latin typeface="Roboto"/>
                <a:ea typeface="Roboto"/>
                <a:cs typeface="Roboto"/>
                <a:sym typeface="Roboto"/>
              </a:rPr>
              <a:t>=4(10)+10/10+10</a:t>
            </a:r>
            <a:br>
              <a:rPr lang="en-GB" sz="1300">
                <a:solidFill>
                  <a:schemeClr val="dk1"/>
                </a:solidFill>
                <a:latin typeface="Roboto"/>
                <a:ea typeface="Roboto"/>
                <a:cs typeface="Roboto"/>
                <a:sym typeface="Roboto"/>
              </a:rPr>
            </a:br>
            <a:r>
              <a:rPr lang="en-GB" sz="1300">
                <a:solidFill>
                  <a:schemeClr val="dk1"/>
                </a:solidFill>
                <a:latin typeface="Roboto"/>
                <a:ea typeface="Roboto"/>
                <a:cs typeface="Roboto"/>
                <a:sym typeface="Roboto"/>
              </a:rPr>
              <a:t>50/20= 2.5</a:t>
            </a:r>
            <a:endParaRPr sz="1300">
              <a:solidFill>
                <a:schemeClr val="dk1"/>
              </a:solidFill>
              <a:latin typeface="Roboto"/>
              <a:ea typeface="Roboto"/>
              <a:cs typeface="Roboto"/>
              <a:sym typeface="Roboto"/>
            </a:endParaRPr>
          </a:p>
          <a:p>
            <a:pPr indent="0" lvl="0" marL="0" rtl="0" algn="just">
              <a:spcBef>
                <a:spcPts val="0"/>
              </a:spcBef>
              <a:spcAft>
                <a:spcPts val="0"/>
              </a:spcAft>
              <a:buClr>
                <a:schemeClr val="dk1"/>
              </a:buClr>
              <a:buSzPts val="1800"/>
              <a:buFont typeface="Arial"/>
              <a:buNone/>
            </a:pPr>
            <a:r>
              <a:rPr lang="en-GB" sz="1300">
                <a:solidFill>
                  <a:schemeClr val="dk1"/>
                </a:solidFill>
                <a:latin typeface="Roboto"/>
                <a:ea typeface="Roboto"/>
                <a:cs typeface="Roboto"/>
                <a:sym typeface="Roboto"/>
              </a:rPr>
              <a:t>So,2.5 is the answer.</a:t>
            </a:r>
            <a:endParaRPr sz="1300">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5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t/>
            </a:r>
            <a:endParaRPr b="0" i="0" sz="12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500" u="none" cap="none" strike="noStrike">
              <a:solidFill>
                <a:srgbClr val="333333"/>
              </a:solidFill>
              <a:highlight>
                <a:schemeClr val="lt1"/>
              </a:highlight>
              <a:latin typeface="Roboto"/>
              <a:ea typeface="Roboto"/>
              <a:cs typeface="Roboto"/>
              <a:sym typeface="Roboto"/>
            </a:endParaRPr>
          </a:p>
        </p:txBody>
      </p:sp>
      <p:sp>
        <p:nvSpPr>
          <p:cNvPr id="143" name="Google Shape;143;g2ee15abed17_3_325"/>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Roboto"/>
              <a:ea typeface="Roboto"/>
              <a:cs typeface="Roboto"/>
              <a:sym typeface="Roboto"/>
            </a:endParaRPr>
          </a:p>
        </p:txBody>
      </p:sp>
      <p:sp>
        <p:nvSpPr>
          <p:cNvPr id="144" name="Google Shape;144;g2ee15abed17_3_325"/>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05</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
                                            <p:txEl>
                                              <p:pRg end="0" st="0"/>
                                            </p:txEl>
                                          </p:spTgt>
                                        </p:tgtEl>
                                        <p:attrNameLst>
                                          <p:attrName>style.visibility</p:attrName>
                                        </p:attrNameLst>
                                      </p:cBhvr>
                                      <p:to>
                                        <p:strVal val="visible"/>
                                      </p:to>
                                    </p:set>
                                    <p:animEffect filter="fade" transition="in">
                                      <p:cBhvr>
                                        <p:cTn dur="1000"/>
                                        <p:tgtEl>
                                          <p:spTgt spid="14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
                                            <p:txEl>
                                              <p:pRg end="1" st="1"/>
                                            </p:txEl>
                                          </p:spTgt>
                                        </p:tgtEl>
                                        <p:attrNameLst>
                                          <p:attrName>style.visibility</p:attrName>
                                        </p:attrNameLst>
                                      </p:cBhvr>
                                      <p:to>
                                        <p:strVal val="visible"/>
                                      </p:to>
                                    </p:set>
                                    <p:animEffect filter="fade" transition="in">
                                      <p:cBhvr>
                                        <p:cTn dur="1000"/>
                                        <p:tgtEl>
                                          <p:spTgt spid="14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
                                            <p:txEl>
                                              <p:pRg end="2" st="2"/>
                                            </p:txEl>
                                          </p:spTgt>
                                        </p:tgtEl>
                                        <p:attrNameLst>
                                          <p:attrName>style.visibility</p:attrName>
                                        </p:attrNameLst>
                                      </p:cBhvr>
                                      <p:to>
                                        <p:strVal val="visible"/>
                                      </p:to>
                                    </p:set>
                                    <p:animEffect filter="fade" transition="in">
                                      <p:cBhvr>
                                        <p:cTn dur="1000"/>
                                        <p:tgtEl>
                                          <p:spTgt spid="14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
                                            <p:txEl>
                                              <p:pRg end="3" st="3"/>
                                            </p:txEl>
                                          </p:spTgt>
                                        </p:tgtEl>
                                        <p:attrNameLst>
                                          <p:attrName>style.visibility</p:attrName>
                                        </p:attrNameLst>
                                      </p:cBhvr>
                                      <p:to>
                                        <p:strVal val="visible"/>
                                      </p:to>
                                    </p:set>
                                    <p:animEffect filter="fade" transition="in">
                                      <p:cBhvr>
                                        <p:cTn dur="1000"/>
                                        <p:tgtEl>
                                          <p:spTgt spid="14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
                                            <p:txEl>
                                              <p:pRg end="4" st="4"/>
                                            </p:txEl>
                                          </p:spTgt>
                                        </p:tgtEl>
                                        <p:attrNameLst>
                                          <p:attrName>style.visibility</p:attrName>
                                        </p:attrNameLst>
                                      </p:cBhvr>
                                      <p:to>
                                        <p:strVal val="visible"/>
                                      </p:to>
                                    </p:set>
                                    <p:animEffect filter="fade" transition="in">
                                      <p:cBhvr>
                                        <p:cTn dur="1000"/>
                                        <p:tgtEl>
                                          <p:spTgt spid="14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
                                            <p:txEl>
                                              <p:pRg end="5" st="5"/>
                                            </p:txEl>
                                          </p:spTgt>
                                        </p:tgtEl>
                                        <p:attrNameLst>
                                          <p:attrName>style.visibility</p:attrName>
                                        </p:attrNameLst>
                                      </p:cBhvr>
                                      <p:to>
                                        <p:strVal val="visible"/>
                                      </p:to>
                                    </p:set>
                                    <p:animEffect filter="fade" transition="in">
                                      <p:cBhvr>
                                        <p:cTn dur="1000"/>
                                        <p:tgtEl>
                                          <p:spTgt spid="14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
                                            <p:txEl>
                                              <p:pRg end="6" st="6"/>
                                            </p:txEl>
                                          </p:spTgt>
                                        </p:tgtEl>
                                        <p:attrNameLst>
                                          <p:attrName>style.visibility</p:attrName>
                                        </p:attrNameLst>
                                      </p:cBhvr>
                                      <p:to>
                                        <p:strVal val="visible"/>
                                      </p:to>
                                    </p:set>
                                    <p:animEffect filter="fade" transition="in">
                                      <p:cBhvr>
                                        <p:cTn dur="1000"/>
                                        <p:tgtEl>
                                          <p:spTgt spid="14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
                                            <p:txEl>
                                              <p:pRg end="7" st="7"/>
                                            </p:txEl>
                                          </p:spTgt>
                                        </p:tgtEl>
                                        <p:attrNameLst>
                                          <p:attrName>style.visibility</p:attrName>
                                        </p:attrNameLst>
                                      </p:cBhvr>
                                      <p:to>
                                        <p:strVal val="visible"/>
                                      </p:to>
                                    </p:set>
                                    <p:animEffect filter="fade" transition="in">
                                      <p:cBhvr>
                                        <p:cTn dur="1000"/>
                                        <p:tgtEl>
                                          <p:spTgt spid="142">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
                                            <p:txEl>
                                              <p:pRg end="8" st="8"/>
                                            </p:txEl>
                                          </p:spTgt>
                                        </p:tgtEl>
                                        <p:attrNameLst>
                                          <p:attrName>style.visibility</p:attrName>
                                        </p:attrNameLst>
                                      </p:cBhvr>
                                      <p:to>
                                        <p:strVal val="visible"/>
                                      </p:to>
                                    </p:set>
                                    <p:animEffect filter="fade" transition="in">
                                      <p:cBhvr>
                                        <p:cTn dur="1000"/>
                                        <p:tgtEl>
                                          <p:spTgt spid="142">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
                                            <p:txEl>
                                              <p:pRg end="9" st="9"/>
                                            </p:txEl>
                                          </p:spTgt>
                                        </p:tgtEl>
                                        <p:attrNameLst>
                                          <p:attrName>style.visibility</p:attrName>
                                        </p:attrNameLst>
                                      </p:cBhvr>
                                      <p:to>
                                        <p:strVal val="visible"/>
                                      </p:to>
                                    </p:set>
                                    <p:animEffect filter="fade" transition="in">
                                      <p:cBhvr>
                                        <p:cTn dur="1000"/>
                                        <p:tgtEl>
                                          <p:spTgt spid="142">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3">
                                            <p:txEl>
                                              <p:pRg end="0" st="0"/>
                                            </p:txEl>
                                          </p:spTgt>
                                        </p:tgtEl>
                                        <p:attrNameLst>
                                          <p:attrName>style.visibility</p:attrName>
                                        </p:attrNameLst>
                                      </p:cBhvr>
                                      <p:to>
                                        <p:strVal val="visible"/>
                                      </p:to>
                                    </p:set>
                                    <p:animEffect filter="fade" transition="in">
                                      <p:cBhvr>
                                        <p:cTn dur="1000"/>
                                        <p:tgtEl>
                                          <p:spTgt spid="143">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g2ee15abed17_3_332"/>
          <p:cNvSpPr txBox="1"/>
          <p:nvPr/>
        </p:nvSpPr>
        <p:spPr>
          <a:xfrm>
            <a:off x="327600" y="386576"/>
            <a:ext cx="2827800" cy="447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02</a:t>
            </a:r>
            <a:endParaRPr b="0" i="0" sz="2000" u="none" cap="none" strike="noStrike">
              <a:solidFill>
                <a:schemeClr val="lt1"/>
              </a:solidFill>
              <a:latin typeface="Roboto"/>
              <a:ea typeface="Roboto"/>
              <a:cs typeface="Roboto"/>
              <a:sym typeface="Roboto"/>
            </a:endParaRPr>
          </a:p>
        </p:txBody>
      </p:sp>
      <p:sp>
        <p:nvSpPr>
          <p:cNvPr id="150" name="Google Shape;150;g2ee15abed17_3_332"/>
          <p:cNvSpPr txBox="1"/>
          <p:nvPr/>
        </p:nvSpPr>
        <p:spPr>
          <a:xfrm>
            <a:off x="720000" y="14242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What is Aman's present age, if after 20 years his age will be 10 times his age 10 years back?</a:t>
            </a:r>
            <a:endParaRPr sz="18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18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A] 6.2 years</a:t>
            </a:r>
            <a:endParaRPr sz="18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B] 7.7 years</a:t>
            </a:r>
            <a:endParaRPr sz="18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C] 13.3 years</a:t>
            </a:r>
            <a:endParaRPr sz="18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D] 10 years</a:t>
            </a:r>
            <a:endParaRPr sz="1800">
              <a:solidFill>
                <a:schemeClr val="dk1"/>
              </a:solidFill>
              <a:latin typeface="Roboto"/>
              <a:ea typeface="Roboto"/>
              <a:cs typeface="Roboto"/>
              <a:sym typeface="Roboto"/>
            </a:endParaRPr>
          </a:p>
        </p:txBody>
      </p:sp>
      <p:sp>
        <p:nvSpPr>
          <p:cNvPr id="151" name="Google Shape;151;g2ee15abed17_3_332"/>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600" u="none" cap="none" strike="noStrike">
                <a:solidFill>
                  <a:srgbClr val="000000"/>
                </a:solidFill>
                <a:latin typeface="Roboto"/>
                <a:ea typeface="Roboto"/>
                <a:cs typeface="Roboto"/>
                <a:sym typeface="Roboto"/>
              </a:rPr>
              <a:t>Answer: </a:t>
            </a:r>
            <a:r>
              <a:rPr b="1" lang="en-GB" sz="1600">
                <a:latin typeface="Roboto"/>
                <a:ea typeface="Roboto"/>
                <a:cs typeface="Roboto"/>
                <a:sym typeface="Roboto"/>
              </a:rPr>
              <a:t>C</a:t>
            </a:r>
            <a:endParaRPr b="1" i="0" sz="1600" u="none" cap="none" strike="noStrike">
              <a:solidFill>
                <a:srgbClr val="000000"/>
              </a:solidFill>
              <a:latin typeface="Roboto"/>
              <a:ea typeface="Roboto"/>
              <a:cs typeface="Roboto"/>
              <a:sym typeface="Roboto"/>
            </a:endParaRPr>
          </a:p>
        </p:txBody>
      </p:sp>
      <p:sp>
        <p:nvSpPr>
          <p:cNvPr id="152" name="Google Shape;152;g2ee15abed17_3_332"/>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06</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xEl>
                                              <p:pRg end="0" st="0"/>
                                            </p:txEl>
                                          </p:spTgt>
                                        </p:tgtEl>
                                        <p:attrNameLst>
                                          <p:attrName>style.visibility</p:attrName>
                                        </p:attrNameLst>
                                      </p:cBhvr>
                                      <p:to>
                                        <p:strVal val="visible"/>
                                      </p:to>
                                    </p:set>
                                    <p:animEffect filter="fade" transition="in">
                                      <p:cBhvr>
                                        <p:cTn dur="1000"/>
                                        <p:tgtEl>
                                          <p:spTgt spid="15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xEl>
                                              <p:pRg end="1" st="1"/>
                                            </p:txEl>
                                          </p:spTgt>
                                        </p:tgtEl>
                                        <p:attrNameLst>
                                          <p:attrName>style.visibility</p:attrName>
                                        </p:attrNameLst>
                                      </p:cBhvr>
                                      <p:to>
                                        <p:strVal val="visible"/>
                                      </p:to>
                                    </p:set>
                                    <p:animEffect filter="fade" transition="in">
                                      <p:cBhvr>
                                        <p:cTn dur="1000"/>
                                        <p:tgtEl>
                                          <p:spTgt spid="15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xEl>
                                              <p:pRg end="2" st="2"/>
                                            </p:txEl>
                                          </p:spTgt>
                                        </p:tgtEl>
                                        <p:attrNameLst>
                                          <p:attrName>style.visibility</p:attrName>
                                        </p:attrNameLst>
                                      </p:cBhvr>
                                      <p:to>
                                        <p:strVal val="visible"/>
                                      </p:to>
                                    </p:set>
                                    <p:animEffect filter="fade" transition="in">
                                      <p:cBhvr>
                                        <p:cTn dur="1000"/>
                                        <p:tgtEl>
                                          <p:spTgt spid="15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xEl>
                                              <p:pRg end="3" st="3"/>
                                            </p:txEl>
                                          </p:spTgt>
                                        </p:tgtEl>
                                        <p:attrNameLst>
                                          <p:attrName>style.visibility</p:attrName>
                                        </p:attrNameLst>
                                      </p:cBhvr>
                                      <p:to>
                                        <p:strVal val="visible"/>
                                      </p:to>
                                    </p:set>
                                    <p:animEffect filter="fade" transition="in">
                                      <p:cBhvr>
                                        <p:cTn dur="1000"/>
                                        <p:tgtEl>
                                          <p:spTgt spid="15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xEl>
                                              <p:pRg end="4" st="4"/>
                                            </p:txEl>
                                          </p:spTgt>
                                        </p:tgtEl>
                                        <p:attrNameLst>
                                          <p:attrName>style.visibility</p:attrName>
                                        </p:attrNameLst>
                                      </p:cBhvr>
                                      <p:to>
                                        <p:strVal val="visible"/>
                                      </p:to>
                                    </p:set>
                                    <p:animEffect filter="fade" transition="in">
                                      <p:cBhvr>
                                        <p:cTn dur="1000"/>
                                        <p:tgtEl>
                                          <p:spTgt spid="15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0">
                                            <p:txEl>
                                              <p:pRg end="5" st="5"/>
                                            </p:txEl>
                                          </p:spTgt>
                                        </p:tgtEl>
                                        <p:attrNameLst>
                                          <p:attrName>style.visibility</p:attrName>
                                        </p:attrNameLst>
                                      </p:cBhvr>
                                      <p:to>
                                        <p:strVal val="visible"/>
                                      </p:to>
                                    </p:set>
                                    <p:animEffect filter="fade" transition="in">
                                      <p:cBhvr>
                                        <p:cTn dur="1000"/>
                                        <p:tgtEl>
                                          <p:spTgt spid="15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xEl>
                                              <p:pRg end="0" st="0"/>
                                            </p:txEl>
                                          </p:spTgt>
                                        </p:tgtEl>
                                        <p:attrNameLst>
                                          <p:attrName>style.visibility</p:attrName>
                                        </p:attrNameLst>
                                      </p:cBhvr>
                                      <p:to>
                                        <p:strVal val="visible"/>
                                      </p:to>
                                    </p:set>
                                    <p:animEffect filter="fade" transition="in">
                                      <p:cBhvr>
                                        <p:cTn dur="1000"/>
                                        <p:tgtEl>
                                          <p:spTgt spid="151">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56" name="Shape 156"/>
        <p:cNvGrpSpPr/>
        <p:nvPr/>
      </p:nvGrpSpPr>
      <p:grpSpPr>
        <a:xfrm>
          <a:off x="0" y="0"/>
          <a:ext cx="0" cy="0"/>
          <a:chOff x="0" y="0"/>
          <a:chExt cx="0" cy="0"/>
        </a:xfrm>
      </p:grpSpPr>
      <p:sp>
        <p:nvSpPr>
          <p:cNvPr id="157" name="Google Shape;157;g2ee15abed17_3_339"/>
          <p:cNvSpPr txBox="1"/>
          <p:nvPr/>
        </p:nvSpPr>
        <p:spPr>
          <a:xfrm>
            <a:off x="720000" y="1440000"/>
            <a:ext cx="7028100" cy="30567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rtl="0" algn="just">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Let Aman's present age be x</a:t>
            </a:r>
            <a:br>
              <a:rPr lang="en-GB" sz="1800">
                <a:solidFill>
                  <a:schemeClr val="dk1"/>
                </a:solidFill>
                <a:latin typeface="Roboto"/>
                <a:ea typeface="Roboto"/>
                <a:cs typeface="Roboto"/>
                <a:sym typeface="Roboto"/>
              </a:rPr>
            </a:br>
            <a:r>
              <a:rPr lang="en-GB" sz="1800">
                <a:solidFill>
                  <a:schemeClr val="dk1"/>
                </a:solidFill>
                <a:latin typeface="Roboto"/>
                <a:ea typeface="Roboto"/>
                <a:cs typeface="Roboto"/>
                <a:sym typeface="Roboto"/>
              </a:rPr>
              <a:t>Aman's age before 10 years = x - 10)</a:t>
            </a:r>
            <a:br>
              <a:rPr lang="en-GB" sz="1800">
                <a:solidFill>
                  <a:schemeClr val="dk1"/>
                </a:solidFill>
                <a:latin typeface="Roboto"/>
                <a:ea typeface="Roboto"/>
                <a:cs typeface="Roboto"/>
                <a:sym typeface="Roboto"/>
              </a:rPr>
            </a:br>
            <a:r>
              <a:rPr lang="en-GB" sz="1800">
                <a:solidFill>
                  <a:schemeClr val="dk1"/>
                </a:solidFill>
                <a:latin typeface="Roboto"/>
                <a:ea typeface="Roboto"/>
                <a:cs typeface="Roboto"/>
                <a:sym typeface="Roboto"/>
              </a:rPr>
              <a:t>Aman's age after 20 years = (x + 20)</a:t>
            </a:r>
            <a:br>
              <a:rPr lang="en-GB" sz="1800">
                <a:solidFill>
                  <a:schemeClr val="dk1"/>
                </a:solidFill>
                <a:latin typeface="Roboto"/>
                <a:ea typeface="Roboto"/>
                <a:cs typeface="Roboto"/>
                <a:sym typeface="Roboto"/>
              </a:rPr>
            </a:br>
            <a:r>
              <a:rPr lang="en-GB" sz="1800">
                <a:solidFill>
                  <a:schemeClr val="dk1"/>
                </a:solidFill>
                <a:latin typeface="Roboto"/>
                <a:ea typeface="Roboto"/>
                <a:cs typeface="Roboto"/>
                <a:sym typeface="Roboto"/>
              </a:rPr>
              <a:t>We are given that, Aman's age after 20 years (x + 20) is 10 times his age 10 years back (x – 10)</a:t>
            </a:r>
            <a:br>
              <a:rPr lang="en-GB" sz="1800">
                <a:solidFill>
                  <a:schemeClr val="dk1"/>
                </a:solidFill>
                <a:latin typeface="Roboto"/>
                <a:ea typeface="Roboto"/>
                <a:cs typeface="Roboto"/>
                <a:sym typeface="Roboto"/>
              </a:rPr>
            </a:br>
            <a:r>
              <a:rPr lang="en-GB" sz="1800">
                <a:solidFill>
                  <a:schemeClr val="dk1"/>
                </a:solidFill>
                <a:latin typeface="Roboto"/>
                <a:ea typeface="Roboto"/>
                <a:cs typeface="Roboto"/>
                <a:sym typeface="Roboto"/>
              </a:rPr>
              <a:t>Therefore, (x + 20) = 10 (x – 10)</a:t>
            </a:r>
            <a:br>
              <a:rPr lang="en-GB" sz="1800">
                <a:solidFill>
                  <a:schemeClr val="dk1"/>
                </a:solidFill>
                <a:latin typeface="Roboto"/>
                <a:ea typeface="Roboto"/>
                <a:cs typeface="Roboto"/>
                <a:sym typeface="Roboto"/>
              </a:rPr>
            </a:br>
            <a:r>
              <a:rPr lang="en-GB" sz="1800">
                <a:solidFill>
                  <a:schemeClr val="dk1"/>
                </a:solidFill>
                <a:latin typeface="Roboto"/>
                <a:ea typeface="Roboto"/>
                <a:cs typeface="Roboto"/>
                <a:sym typeface="Roboto"/>
              </a:rPr>
              <a:t>Solving the equation, we get x + 20 = 10x – 100</a:t>
            </a:r>
            <a:br>
              <a:rPr lang="en-GB" sz="1800">
                <a:solidFill>
                  <a:schemeClr val="dk1"/>
                </a:solidFill>
                <a:latin typeface="Roboto"/>
                <a:ea typeface="Roboto"/>
                <a:cs typeface="Roboto"/>
                <a:sym typeface="Roboto"/>
              </a:rPr>
            </a:br>
            <a:r>
              <a:rPr lang="en-GB" sz="1800">
                <a:solidFill>
                  <a:schemeClr val="dk1"/>
                </a:solidFill>
                <a:latin typeface="Roboto"/>
                <a:ea typeface="Roboto"/>
                <a:cs typeface="Roboto"/>
                <a:sym typeface="Roboto"/>
              </a:rPr>
              <a:t>9x = 120, x = 13.3 years</a:t>
            </a:r>
            <a:endParaRPr sz="1800">
              <a:solidFill>
                <a:schemeClr val="dk1"/>
              </a:solidFill>
              <a:latin typeface="Roboto"/>
              <a:ea typeface="Roboto"/>
              <a:cs typeface="Roboto"/>
              <a:sym typeface="Roboto"/>
            </a:endParaRPr>
          </a:p>
          <a:p>
            <a:pPr indent="0" lvl="0" marL="0" marR="0" rtl="0" algn="l">
              <a:lnSpc>
                <a:spcPct val="150000"/>
              </a:lnSpc>
              <a:spcBef>
                <a:spcPts val="0"/>
              </a:spcBef>
              <a:spcAft>
                <a:spcPts val="0"/>
              </a:spcAft>
              <a:buClr>
                <a:schemeClr val="dk1"/>
              </a:buClr>
              <a:buSzPts val="1400"/>
              <a:buFont typeface="Arial"/>
              <a:buNone/>
            </a:pPr>
            <a:r>
              <a:t/>
            </a:r>
            <a:endParaRPr sz="1800">
              <a:solidFill>
                <a:schemeClr val="dk1"/>
              </a:solidFill>
              <a:latin typeface="Roboto"/>
              <a:ea typeface="Roboto"/>
              <a:cs typeface="Roboto"/>
              <a:sym typeface="Roboto"/>
            </a:endParaRPr>
          </a:p>
        </p:txBody>
      </p:sp>
      <p:sp>
        <p:nvSpPr>
          <p:cNvPr id="158" name="Google Shape;158;g2ee15abed17_3_339"/>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06</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g2ee15abed17_3_344"/>
          <p:cNvSpPr txBox="1"/>
          <p:nvPr/>
        </p:nvSpPr>
        <p:spPr>
          <a:xfrm>
            <a:off x="720000" y="1439875"/>
            <a:ext cx="74700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rtl="0" algn="just">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The ratio of Sara’s age 4 years ago and Vaishali’s age after 4 years is 1: 1. Presently, the ratio of their ages is 5: 3. Find the ratio between Sara’s age 4 years hence and Vaishali’s age 4 years ago.</a:t>
            </a:r>
            <a:endParaRPr sz="1800">
              <a:solidFill>
                <a:schemeClr val="dk1"/>
              </a:solidFill>
              <a:latin typeface="Roboto"/>
              <a:ea typeface="Roboto"/>
              <a:cs typeface="Roboto"/>
              <a:sym typeface="Roboto"/>
            </a:endParaRPr>
          </a:p>
          <a:p>
            <a:pPr indent="0" lvl="0" marL="0" rtl="0" algn="just">
              <a:spcBef>
                <a:spcPts val="0"/>
              </a:spcBef>
              <a:spcAft>
                <a:spcPts val="0"/>
              </a:spcAft>
              <a:buClr>
                <a:schemeClr val="dk1"/>
              </a:buClr>
              <a:buSzPts val="1100"/>
              <a:buFont typeface="Arial"/>
              <a:buNone/>
            </a:pPr>
            <a:r>
              <a:t/>
            </a:r>
            <a:endParaRPr sz="1800">
              <a:solidFill>
                <a:schemeClr val="dk1"/>
              </a:solidFill>
              <a:latin typeface="Roboto"/>
              <a:ea typeface="Roboto"/>
              <a:cs typeface="Roboto"/>
              <a:sym typeface="Roboto"/>
            </a:endParaRPr>
          </a:p>
          <a:p>
            <a:pPr indent="0" lvl="0" marL="0" rtl="0" algn="just">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A] 1:3</a:t>
            </a:r>
            <a:endParaRPr sz="1800">
              <a:solidFill>
                <a:schemeClr val="dk1"/>
              </a:solidFill>
              <a:latin typeface="Roboto"/>
              <a:ea typeface="Roboto"/>
              <a:cs typeface="Roboto"/>
              <a:sym typeface="Roboto"/>
            </a:endParaRPr>
          </a:p>
          <a:p>
            <a:pPr indent="0" lvl="0" marL="0" rtl="0" algn="just">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B] 3:1</a:t>
            </a:r>
            <a:endParaRPr sz="1800">
              <a:solidFill>
                <a:schemeClr val="dk1"/>
              </a:solidFill>
              <a:latin typeface="Roboto"/>
              <a:ea typeface="Roboto"/>
              <a:cs typeface="Roboto"/>
              <a:sym typeface="Roboto"/>
            </a:endParaRPr>
          </a:p>
          <a:p>
            <a:pPr indent="0" lvl="0" marL="0" rtl="0" algn="just">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C] 4:3</a:t>
            </a:r>
            <a:endParaRPr sz="1800">
              <a:solidFill>
                <a:schemeClr val="dk1"/>
              </a:solidFill>
              <a:latin typeface="Roboto"/>
              <a:ea typeface="Roboto"/>
              <a:cs typeface="Roboto"/>
              <a:sym typeface="Roboto"/>
            </a:endParaRPr>
          </a:p>
          <a:p>
            <a:pPr indent="0" lvl="0" marL="0" rtl="0" algn="just">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D] 3:4</a:t>
            </a:r>
            <a:endParaRPr sz="1800">
              <a:solidFill>
                <a:schemeClr val="dk1"/>
              </a:solidFill>
              <a:latin typeface="Roboto"/>
              <a:ea typeface="Roboto"/>
              <a:cs typeface="Roboto"/>
              <a:sym typeface="Roboto"/>
            </a:endParaRPr>
          </a:p>
          <a:p>
            <a:pPr indent="0" lvl="0" marL="0" marR="0" rtl="0" algn="l">
              <a:lnSpc>
                <a:spcPct val="150000"/>
              </a:lnSpc>
              <a:spcBef>
                <a:spcPts val="0"/>
              </a:spcBef>
              <a:spcAft>
                <a:spcPts val="0"/>
              </a:spcAft>
              <a:buNone/>
            </a:pPr>
            <a:r>
              <a:t/>
            </a:r>
            <a:endParaRPr sz="1800">
              <a:solidFill>
                <a:schemeClr val="dk1"/>
              </a:solidFil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highlight>
                <a:srgbClr val="FFFFFF"/>
              </a:highlight>
              <a:latin typeface="Roboto"/>
              <a:ea typeface="Roboto"/>
              <a:cs typeface="Roboto"/>
              <a:sym typeface="Roboto"/>
            </a:endParaRPr>
          </a:p>
        </p:txBody>
      </p:sp>
      <p:sp>
        <p:nvSpPr>
          <p:cNvPr id="164" name="Google Shape;164;g2ee15abed17_3_344"/>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600" u="none" cap="none" strike="noStrike">
                <a:solidFill>
                  <a:srgbClr val="000000"/>
                </a:solidFill>
                <a:latin typeface="Roboto"/>
                <a:ea typeface="Roboto"/>
                <a:cs typeface="Roboto"/>
                <a:sym typeface="Roboto"/>
              </a:rPr>
              <a:t>Answer:</a:t>
            </a:r>
            <a:r>
              <a:rPr b="1" lang="en-GB" sz="1600">
                <a:latin typeface="Roboto"/>
                <a:ea typeface="Roboto"/>
                <a:cs typeface="Roboto"/>
                <a:sym typeface="Roboto"/>
              </a:rPr>
              <a:t>B</a:t>
            </a:r>
            <a:endParaRPr b="1" i="0" sz="1700" u="none" cap="none" strike="noStrike">
              <a:solidFill>
                <a:srgbClr val="000000"/>
              </a:solidFill>
              <a:latin typeface="Roboto"/>
              <a:ea typeface="Roboto"/>
              <a:cs typeface="Roboto"/>
              <a:sym typeface="Roboto"/>
            </a:endParaRPr>
          </a:p>
        </p:txBody>
      </p:sp>
      <p:sp>
        <p:nvSpPr>
          <p:cNvPr id="165" name="Google Shape;165;g2ee15abed17_3_344"/>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07</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3">
                                            <p:txEl>
                                              <p:pRg end="0" st="0"/>
                                            </p:txEl>
                                          </p:spTgt>
                                        </p:tgtEl>
                                        <p:attrNameLst>
                                          <p:attrName>style.visibility</p:attrName>
                                        </p:attrNameLst>
                                      </p:cBhvr>
                                      <p:to>
                                        <p:strVal val="visible"/>
                                      </p:to>
                                    </p:set>
                                    <p:animEffect filter="fade" transition="in">
                                      <p:cBhvr>
                                        <p:cTn dur="1000"/>
                                        <p:tgtEl>
                                          <p:spTgt spid="163">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3">
                                            <p:txEl>
                                              <p:pRg end="1" st="1"/>
                                            </p:txEl>
                                          </p:spTgt>
                                        </p:tgtEl>
                                        <p:attrNameLst>
                                          <p:attrName>style.visibility</p:attrName>
                                        </p:attrNameLst>
                                      </p:cBhvr>
                                      <p:to>
                                        <p:strVal val="visible"/>
                                      </p:to>
                                    </p:set>
                                    <p:animEffect filter="fade" transition="in">
                                      <p:cBhvr>
                                        <p:cTn dur="1000"/>
                                        <p:tgtEl>
                                          <p:spTgt spid="163">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3">
                                            <p:txEl>
                                              <p:pRg end="2" st="2"/>
                                            </p:txEl>
                                          </p:spTgt>
                                        </p:tgtEl>
                                        <p:attrNameLst>
                                          <p:attrName>style.visibility</p:attrName>
                                        </p:attrNameLst>
                                      </p:cBhvr>
                                      <p:to>
                                        <p:strVal val="visible"/>
                                      </p:to>
                                    </p:set>
                                    <p:animEffect filter="fade" transition="in">
                                      <p:cBhvr>
                                        <p:cTn dur="1000"/>
                                        <p:tgtEl>
                                          <p:spTgt spid="163">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3">
                                            <p:txEl>
                                              <p:pRg end="3" st="3"/>
                                            </p:txEl>
                                          </p:spTgt>
                                        </p:tgtEl>
                                        <p:attrNameLst>
                                          <p:attrName>style.visibility</p:attrName>
                                        </p:attrNameLst>
                                      </p:cBhvr>
                                      <p:to>
                                        <p:strVal val="visible"/>
                                      </p:to>
                                    </p:set>
                                    <p:animEffect filter="fade" transition="in">
                                      <p:cBhvr>
                                        <p:cTn dur="1000"/>
                                        <p:tgtEl>
                                          <p:spTgt spid="163">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3">
                                            <p:txEl>
                                              <p:pRg end="4" st="4"/>
                                            </p:txEl>
                                          </p:spTgt>
                                        </p:tgtEl>
                                        <p:attrNameLst>
                                          <p:attrName>style.visibility</p:attrName>
                                        </p:attrNameLst>
                                      </p:cBhvr>
                                      <p:to>
                                        <p:strVal val="visible"/>
                                      </p:to>
                                    </p:set>
                                    <p:animEffect filter="fade" transition="in">
                                      <p:cBhvr>
                                        <p:cTn dur="1000"/>
                                        <p:tgtEl>
                                          <p:spTgt spid="163">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3">
                                            <p:txEl>
                                              <p:pRg end="5" st="5"/>
                                            </p:txEl>
                                          </p:spTgt>
                                        </p:tgtEl>
                                        <p:attrNameLst>
                                          <p:attrName>style.visibility</p:attrName>
                                        </p:attrNameLst>
                                      </p:cBhvr>
                                      <p:to>
                                        <p:strVal val="visible"/>
                                      </p:to>
                                    </p:set>
                                    <p:animEffect filter="fade" transition="in">
                                      <p:cBhvr>
                                        <p:cTn dur="1000"/>
                                        <p:tgtEl>
                                          <p:spTgt spid="163">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3">
                                            <p:txEl>
                                              <p:pRg end="6" st="6"/>
                                            </p:txEl>
                                          </p:spTgt>
                                        </p:tgtEl>
                                        <p:attrNameLst>
                                          <p:attrName>style.visibility</p:attrName>
                                        </p:attrNameLst>
                                      </p:cBhvr>
                                      <p:to>
                                        <p:strVal val="visible"/>
                                      </p:to>
                                    </p:set>
                                    <p:animEffect filter="fade" transition="in">
                                      <p:cBhvr>
                                        <p:cTn dur="1000"/>
                                        <p:tgtEl>
                                          <p:spTgt spid="163">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3">
                                            <p:txEl>
                                              <p:pRg end="7" st="7"/>
                                            </p:txEl>
                                          </p:spTgt>
                                        </p:tgtEl>
                                        <p:attrNameLst>
                                          <p:attrName>style.visibility</p:attrName>
                                        </p:attrNameLst>
                                      </p:cBhvr>
                                      <p:to>
                                        <p:strVal val="visible"/>
                                      </p:to>
                                    </p:set>
                                    <p:animEffect filter="fade" transition="in">
                                      <p:cBhvr>
                                        <p:cTn dur="1000"/>
                                        <p:tgtEl>
                                          <p:spTgt spid="163">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
                                        </p:tgtEl>
                                        <p:attrNameLst>
                                          <p:attrName>style.visibility</p:attrName>
                                        </p:attrNameLst>
                                      </p:cBhvr>
                                      <p:to>
                                        <p:strVal val="visible"/>
                                      </p:to>
                                    </p:set>
                                    <p:animEffect filter="fade" transition="in">
                                      <p:cBhvr>
                                        <p:cTn dur="1000"/>
                                        <p:tgtEl>
                                          <p:spTgt spid="1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9" name="Shape 169"/>
        <p:cNvGrpSpPr/>
        <p:nvPr/>
      </p:nvGrpSpPr>
      <p:grpSpPr>
        <a:xfrm>
          <a:off x="0" y="0"/>
          <a:ext cx="0" cy="0"/>
          <a:chOff x="0" y="0"/>
          <a:chExt cx="0" cy="0"/>
        </a:xfrm>
      </p:grpSpPr>
      <p:sp>
        <p:nvSpPr>
          <p:cNvPr id="170" name="Google Shape;170;g2ee15abed17_3_350"/>
          <p:cNvSpPr txBox="1"/>
          <p:nvPr/>
        </p:nvSpPr>
        <p:spPr>
          <a:xfrm>
            <a:off x="720000" y="1439875"/>
            <a:ext cx="74700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rtl="0" algn="just">
              <a:spcBef>
                <a:spcPts val="0"/>
              </a:spcBef>
              <a:spcAft>
                <a:spcPts val="0"/>
              </a:spcAft>
              <a:buClr>
                <a:schemeClr val="dk1"/>
              </a:buClr>
              <a:buSzPts val="1800"/>
              <a:buFont typeface="Arial"/>
              <a:buNone/>
            </a:pPr>
            <a:r>
              <a:rPr lang="en-GB" sz="1700">
                <a:solidFill>
                  <a:schemeClr val="dk1"/>
                </a:solidFill>
                <a:latin typeface="Roboto"/>
                <a:ea typeface="Roboto"/>
                <a:cs typeface="Roboto"/>
                <a:sym typeface="Roboto"/>
              </a:rPr>
              <a:t>Currently, the ratio of their ages is 5: 3. Suppose, their ages are: 5x and 3x.</a:t>
            </a:r>
            <a:br>
              <a:rPr lang="en-GB" sz="1700">
                <a:solidFill>
                  <a:schemeClr val="dk1"/>
                </a:solidFill>
                <a:latin typeface="Roboto"/>
                <a:ea typeface="Roboto"/>
                <a:cs typeface="Roboto"/>
                <a:sym typeface="Roboto"/>
              </a:rPr>
            </a:br>
            <a:r>
              <a:rPr lang="en-GB" sz="1700">
                <a:solidFill>
                  <a:schemeClr val="dk1"/>
                </a:solidFill>
                <a:latin typeface="Roboto"/>
                <a:ea typeface="Roboto"/>
                <a:cs typeface="Roboto"/>
                <a:sym typeface="Roboto"/>
              </a:rPr>
              <a:t>Sara’s age 4 years ago = 5x – 4</a:t>
            </a:r>
            <a:br>
              <a:rPr lang="en-GB" sz="1700">
                <a:solidFill>
                  <a:schemeClr val="dk1"/>
                </a:solidFill>
                <a:latin typeface="Roboto"/>
                <a:ea typeface="Roboto"/>
                <a:cs typeface="Roboto"/>
                <a:sym typeface="Roboto"/>
              </a:rPr>
            </a:br>
            <a:r>
              <a:rPr lang="en-GB" sz="1700">
                <a:solidFill>
                  <a:schemeClr val="dk1"/>
                </a:solidFill>
                <a:latin typeface="Roboto"/>
                <a:ea typeface="Roboto"/>
                <a:cs typeface="Roboto"/>
                <a:sym typeface="Roboto"/>
              </a:rPr>
              <a:t>Vaishali’s age after 4 years = 3x + 4</a:t>
            </a:r>
            <a:br>
              <a:rPr lang="en-GB" sz="1700">
                <a:solidFill>
                  <a:schemeClr val="dk1"/>
                </a:solidFill>
                <a:latin typeface="Roboto"/>
                <a:ea typeface="Roboto"/>
                <a:cs typeface="Roboto"/>
                <a:sym typeface="Roboto"/>
              </a:rPr>
            </a:br>
            <a:r>
              <a:rPr lang="en-GB" sz="1700">
                <a:solidFill>
                  <a:schemeClr val="dk1"/>
                </a:solidFill>
                <a:latin typeface="Roboto"/>
                <a:ea typeface="Roboto"/>
                <a:cs typeface="Roboto"/>
                <a:sym typeface="Roboto"/>
              </a:rPr>
              <a:t>Ratio of Sara’s age 4 years ago and Vaishali's age after 4 years is 1 : 1</a:t>
            </a:r>
            <a:br>
              <a:rPr lang="en-GB" sz="1700">
                <a:solidFill>
                  <a:schemeClr val="dk1"/>
                </a:solidFill>
                <a:latin typeface="Roboto"/>
                <a:ea typeface="Roboto"/>
                <a:cs typeface="Roboto"/>
                <a:sym typeface="Roboto"/>
              </a:rPr>
            </a:br>
            <a:r>
              <a:rPr lang="en-GB" sz="1700">
                <a:solidFill>
                  <a:schemeClr val="dk1"/>
                </a:solidFill>
                <a:latin typeface="Roboto"/>
                <a:ea typeface="Roboto"/>
                <a:cs typeface="Roboto"/>
                <a:sym typeface="Roboto"/>
              </a:rPr>
              <a:t>Therefore,</a:t>
            </a:r>
            <a:br>
              <a:rPr lang="en-GB" sz="1700">
                <a:solidFill>
                  <a:schemeClr val="dk1"/>
                </a:solidFill>
                <a:latin typeface="Roboto"/>
                <a:ea typeface="Roboto"/>
                <a:cs typeface="Roboto"/>
                <a:sym typeface="Roboto"/>
              </a:rPr>
            </a:br>
            <a:r>
              <a:rPr lang="en-GB" sz="1700">
                <a:solidFill>
                  <a:schemeClr val="dk1"/>
                </a:solidFill>
                <a:latin typeface="Roboto"/>
                <a:ea typeface="Roboto"/>
                <a:cs typeface="Roboto"/>
                <a:sym typeface="Roboto"/>
              </a:rPr>
              <a:t>(5x - 4) / (3x + 4) = 1/1</a:t>
            </a:r>
            <a:br>
              <a:rPr lang="en-GB" sz="1700">
                <a:solidFill>
                  <a:schemeClr val="dk1"/>
                </a:solidFill>
                <a:latin typeface="Roboto"/>
                <a:ea typeface="Roboto"/>
                <a:cs typeface="Roboto"/>
                <a:sym typeface="Roboto"/>
              </a:rPr>
            </a:br>
            <a:r>
              <a:rPr lang="en-GB" sz="1700">
                <a:solidFill>
                  <a:schemeClr val="dk1"/>
                </a:solidFill>
                <a:latin typeface="Roboto"/>
                <a:ea typeface="Roboto"/>
                <a:cs typeface="Roboto"/>
                <a:sym typeface="Roboto"/>
              </a:rPr>
              <a:t>Solving, we get x = 4</a:t>
            </a:r>
            <a:br>
              <a:rPr lang="en-GB" sz="1700">
                <a:solidFill>
                  <a:schemeClr val="dk1"/>
                </a:solidFill>
                <a:latin typeface="Roboto"/>
                <a:ea typeface="Roboto"/>
                <a:cs typeface="Roboto"/>
                <a:sym typeface="Roboto"/>
              </a:rPr>
            </a:br>
            <a:r>
              <a:rPr lang="en-GB" sz="1700">
                <a:solidFill>
                  <a:schemeClr val="dk1"/>
                </a:solidFill>
                <a:latin typeface="Roboto"/>
                <a:ea typeface="Roboto"/>
                <a:cs typeface="Roboto"/>
                <a:sym typeface="Roboto"/>
              </a:rPr>
              <a:t>We are required to find the ratio between Sara’s age 4 years hence and Vaishali’s age 4 years ago.</a:t>
            </a:r>
            <a:br>
              <a:rPr lang="en-GB" sz="1700">
                <a:solidFill>
                  <a:schemeClr val="dk1"/>
                </a:solidFill>
                <a:latin typeface="Roboto"/>
                <a:ea typeface="Roboto"/>
                <a:cs typeface="Roboto"/>
                <a:sym typeface="Roboto"/>
              </a:rPr>
            </a:br>
            <a:r>
              <a:rPr lang="en-GB" sz="1700">
                <a:solidFill>
                  <a:schemeClr val="dk1"/>
                </a:solidFill>
                <a:latin typeface="Roboto"/>
                <a:ea typeface="Roboto"/>
                <a:cs typeface="Roboto"/>
                <a:sym typeface="Roboto"/>
              </a:rPr>
              <a:t>Sara's age: (5x + 4)</a:t>
            </a:r>
            <a:br>
              <a:rPr lang="en-GB" sz="1700">
                <a:solidFill>
                  <a:schemeClr val="dk1"/>
                </a:solidFill>
                <a:latin typeface="Roboto"/>
                <a:ea typeface="Roboto"/>
                <a:cs typeface="Roboto"/>
                <a:sym typeface="Roboto"/>
              </a:rPr>
            </a:br>
            <a:r>
              <a:rPr lang="en-GB" sz="1700">
                <a:solidFill>
                  <a:schemeClr val="dk1"/>
                </a:solidFill>
                <a:latin typeface="Roboto"/>
                <a:ea typeface="Roboto"/>
                <a:cs typeface="Roboto"/>
                <a:sym typeface="Roboto"/>
              </a:rPr>
              <a:t>Vaishali's age: (3x – 4)</a:t>
            </a:r>
            <a:br>
              <a:rPr lang="en-GB" sz="1700">
                <a:solidFill>
                  <a:schemeClr val="dk1"/>
                </a:solidFill>
                <a:latin typeface="Roboto"/>
                <a:ea typeface="Roboto"/>
                <a:cs typeface="Roboto"/>
                <a:sym typeface="Roboto"/>
              </a:rPr>
            </a:br>
            <a:r>
              <a:rPr lang="en-GB" sz="1700">
                <a:solidFill>
                  <a:schemeClr val="dk1"/>
                </a:solidFill>
                <a:latin typeface="Roboto"/>
                <a:ea typeface="Roboto"/>
                <a:cs typeface="Roboto"/>
                <a:sym typeface="Roboto"/>
              </a:rPr>
              <a:t>Putting the value of x, we get:</a:t>
            </a:r>
            <a:br>
              <a:rPr lang="en-GB" sz="1700">
                <a:solidFill>
                  <a:schemeClr val="dk1"/>
                </a:solidFill>
                <a:latin typeface="Roboto"/>
                <a:ea typeface="Roboto"/>
                <a:cs typeface="Roboto"/>
                <a:sym typeface="Roboto"/>
              </a:rPr>
            </a:br>
            <a:r>
              <a:rPr lang="en-GB" sz="1700">
                <a:solidFill>
                  <a:schemeClr val="dk1"/>
                </a:solidFill>
                <a:latin typeface="Roboto"/>
                <a:ea typeface="Roboto"/>
                <a:cs typeface="Roboto"/>
                <a:sym typeface="Roboto"/>
              </a:rPr>
              <a:t>(5x + 4) / (3x - 4) = 3/1 = 3:1</a:t>
            </a:r>
            <a:endParaRPr i="0" sz="1700" u="none" cap="none" strike="noStrike">
              <a:solidFill>
                <a:schemeClr val="dk1"/>
              </a:solidFill>
              <a:latin typeface="Roboto"/>
              <a:ea typeface="Roboto"/>
              <a:cs typeface="Roboto"/>
              <a:sym typeface="Roboto"/>
            </a:endParaRPr>
          </a:p>
        </p:txBody>
      </p:sp>
      <p:sp>
        <p:nvSpPr>
          <p:cNvPr id="171" name="Google Shape;171;g2ee15abed17_3_350"/>
          <p:cNvSpPr txBox="1"/>
          <p:nvPr/>
        </p:nvSpPr>
        <p:spPr>
          <a:xfrm>
            <a:off x="630000" y="630250"/>
            <a:ext cx="30900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07</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g2ee15abed17_3_356"/>
          <p:cNvSpPr txBox="1"/>
          <p:nvPr/>
        </p:nvSpPr>
        <p:spPr>
          <a:xfrm>
            <a:off x="327600" y="402400"/>
            <a:ext cx="2827800" cy="432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04</a:t>
            </a:r>
            <a:endParaRPr b="0" i="0" sz="2000" u="none" cap="none" strike="noStrike">
              <a:solidFill>
                <a:schemeClr val="lt1"/>
              </a:solidFill>
              <a:latin typeface="Roboto"/>
              <a:ea typeface="Roboto"/>
              <a:cs typeface="Roboto"/>
              <a:sym typeface="Roboto"/>
            </a:endParaRPr>
          </a:p>
        </p:txBody>
      </p:sp>
      <p:sp>
        <p:nvSpPr>
          <p:cNvPr id="177" name="Google Shape;177;g2ee15abed17_3_356"/>
          <p:cNvSpPr txBox="1"/>
          <p:nvPr/>
        </p:nvSpPr>
        <p:spPr>
          <a:xfrm>
            <a:off x="720725" y="1501950"/>
            <a:ext cx="75441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A man said to his son, "I was one-third of your present age when you were born". If the present age of the man is 48 years, find the present age of the son.</a:t>
            </a:r>
            <a:endParaRPr sz="18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18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A] 25.7 years </a:t>
            </a:r>
            <a:endParaRPr sz="18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B] 28 years</a:t>
            </a:r>
            <a:endParaRPr sz="18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C] 29.3 years </a:t>
            </a:r>
            <a:endParaRPr sz="18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D] 36 years</a:t>
            </a:r>
            <a:endParaRPr sz="1800">
              <a:solidFill>
                <a:schemeClr val="dk1"/>
              </a:solidFill>
              <a:latin typeface="Roboto"/>
              <a:ea typeface="Roboto"/>
              <a:cs typeface="Roboto"/>
              <a:sym typeface="Roboto"/>
            </a:endParaRPr>
          </a:p>
        </p:txBody>
      </p:sp>
      <p:sp>
        <p:nvSpPr>
          <p:cNvPr id="178" name="Google Shape;178;g2ee15abed17_3_356"/>
          <p:cNvSpPr txBox="1"/>
          <p:nvPr/>
        </p:nvSpPr>
        <p:spPr>
          <a:xfrm>
            <a:off x="7189500" y="4171350"/>
            <a:ext cx="16254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600" u="none" cap="none" strike="noStrike">
                <a:solidFill>
                  <a:srgbClr val="000000"/>
                </a:solidFill>
                <a:latin typeface="Roboto"/>
                <a:ea typeface="Roboto"/>
                <a:cs typeface="Roboto"/>
                <a:sym typeface="Roboto"/>
              </a:rPr>
              <a:t>Answer: D</a:t>
            </a:r>
            <a:endParaRPr b="1" i="0" sz="1600" u="none" cap="none" strike="noStrike">
              <a:solidFill>
                <a:srgbClr val="000000"/>
              </a:solidFill>
              <a:latin typeface="Roboto"/>
              <a:ea typeface="Roboto"/>
              <a:cs typeface="Roboto"/>
              <a:sym typeface="Roboto"/>
            </a:endParaRPr>
          </a:p>
        </p:txBody>
      </p:sp>
      <p:sp>
        <p:nvSpPr>
          <p:cNvPr id="179" name="Google Shape;179;g2ee15abed17_3_356"/>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08</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7">
                                            <p:txEl>
                                              <p:pRg end="0" st="0"/>
                                            </p:txEl>
                                          </p:spTgt>
                                        </p:tgtEl>
                                        <p:attrNameLst>
                                          <p:attrName>style.visibility</p:attrName>
                                        </p:attrNameLst>
                                      </p:cBhvr>
                                      <p:to>
                                        <p:strVal val="visible"/>
                                      </p:to>
                                    </p:set>
                                    <p:animEffect filter="fade" transition="in">
                                      <p:cBhvr>
                                        <p:cTn dur="1000"/>
                                        <p:tgtEl>
                                          <p:spTgt spid="17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7">
                                            <p:txEl>
                                              <p:pRg end="1" st="1"/>
                                            </p:txEl>
                                          </p:spTgt>
                                        </p:tgtEl>
                                        <p:attrNameLst>
                                          <p:attrName>style.visibility</p:attrName>
                                        </p:attrNameLst>
                                      </p:cBhvr>
                                      <p:to>
                                        <p:strVal val="visible"/>
                                      </p:to>
                                    </p:set>
                                    <p:animEffect filter="fade" transition="in">
                                      <p:cBhvr>
                                        <p:cTn dur="1000"/>
                                        <p:tgtEl>
                                          <p:spTgt spid="17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7">
                                            <p:txEl>
                                              <p:pRg end="2" st="2"/>
                                            </p:txEl>
                                          </p:spTgt>
                                        </p:tgtEl>
                                        <p:attrNameLst>
                                          <p:attrName>style.visibility</p:attrName>
                                        </p:attrNameLst>
                                      </p:cBhvr>
                                      <p:to>
                                        <p:strVal val="visible"/>
                                      </p:to>
                                    </p:set>
                                    <p:animEffect filter="fade" transition="in">
                                      <p:cBhvr>
                                        <p:cTn dur="1000"/>
                                        <p:tgtEl>
                                          <p:spTgt spid="17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7">
                                            <p:txEl>
                                              <p:pRg end="3" st="3"/>
                                            </p:txEl>
                                          </p:spTgt>
                                        </p:tgtEl>
                                        <p:attrNameLst>
                                          <p:attrName>style.visibility</p:attrName>
                                        </p:attrNameLst>
                                      </p:cBhvr>
                                      <p:to>
                                        <p:strVal val="visible"/>
                                      </p:to>
                                    </p:set>
                                    <p:animEffect filter="fade" transition="in">
                                      <p:cBhvr>
                                        <p:cTn dur="1000"/>
                                        <p:tgtEl>
                                          <p:spTgt spid="17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7">
                                            <p:txEl>
                                              <p:pRg end="4" st="4"/>
                                            </p:txEl>
                                          </p:spTgt>
                                        </p:tgtEl>
                                        <p:attrNameLst>
                                          <p:attrName>style.visibility</p:attrName>
                                        </p:attrNameLst>
                                      </p:cBhvr>
                                      <p:to>
                                        <p:strVal val="visible"/>
                                      </p:to>
                                    </p:set>
                                    <p:animEffect filter="fade" transition="in">
                                      <p:cBhvr>
                                        <p:cTn dur="1000"/>
                                        <p:tgtEl>
                                          <p:spTgt spid="17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7">
                                            <p:txEl>
                                              <p:pRg end="5" st="5"/>
                                            </p:txEl>
                                          </p:spTgt>
                                        </p:tgtEl>
                                        <p:attrNameLst>
                                          <p:attrName>style.visibility</p:attrName>
                                        </p:attrNameLst>
                                      </p:cBhvr>
                                      <p:to>
                                        <p:strVal val="visible"/>
                                      </p:to>
                                    </p:set>
                                    <p:animEffect filter="fade" transition="in">
                                      <p:cBhvr>
                                        <p:cTn dur="1000"/>
                                        <p:tgtEl>
                                          <p:spTgt spid="17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8">
                                            <p:txEl>
                                              <p:pRg end="0" st="0"/>
                                            </p:txEl>
                                          </p:spTgt>
                                        </p:tgtEl>
                                        <p:attrNameLst>
                                          <p:attrName>style.visibility</p:attrName>
                                        </p:attrNameLst>
                                      </p:cBhvr>
                                      <p:to>
                                        <p:strVal val="visible"/>
                                      </p:to>
                                    </p:set>
                                    <p:animEffect filter="fade" transition="in">
                                      <p:cBhvr>
                                        <p:cTn dur="1000"/>
                                        <p:tgtEl>
                                          <p:spTgt spid="178">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83" name="Shape 183"/>
        <p:cNvGrpSpPr/>
        <p:nvPr/>
      </p:nvGrpSpPr>
      <p:grpSpPr>
        <a:xfrm>
          <a:off x="0" y="0"/>
          <a:ext cx="0" cy="0"/>
          <a:chOff x="0" y="0"/>
          <a:chExt cx="0" cy="0"/>
        </a:xfrm>
      </p:grpSpPr>
      <p:sp>
        <p:nvSpPr>
          <p:cNvPr id="184" name="Google Shape;184;g2ee15abed17_3_363"/>
          <p:cNvSpPr txBox="1"/>
          <p:nvPr/>
        </p:nvSpPr>
        <p:spPr>
          <a:xfrm>
            <a:off x="720000" y="1439875"/>
            <a:ext cx="7265400" cy="27900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rtl="0" algn="just">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Present age of the son be P, he was born P years ago.</a:t>
            </a:r>
            <a:br>
              <a:rPr lang="en-GB" sz="1800">
                <a:solidFill>
                  <a:schemeClr val="dk1"/>
                </a:solidFill>
                <a:latin typeface="Roboto"/>
                <a:ea typeface="Roboto"/>
                <a:cs typeface="Roboto"/>
                <a:sym typeface="Roboto"/>
              </a:rPr>
            </a:br>
            <a:r>
              <a:rPr lang="en-GB" sz="1800">
                <a:solidFill>
                  <a:schemeClr val="dk1"/>
                </a:solidFill>
                <a:latin typeface="Roboto"/>
                <a:ea typeface="Roboto"/>
                <a:cs typeface="Roboto"/>
                <a:sym typeface="Roboto"/>
              </a:rPr>
              <a:t>The age of the man was: (48 - P).</a:t>
            </a:r>
            <a:br>
              <a:rPr lang="en-GB" sz="1800">
                <a:solidFill>
                  <a:schemeClr val="dk1"/>
                </a:solidFill>
                <a:latin typeface="Roboto"/>
                <a:ea typeface="Roboto"/>
                <a:cs typeface="Roboto"/>
                <a:sym typeface="Roboto"/>
              </a:rPr>
            </a:br>
            <a:r>
              <a:rPr lang="en-GB" sz="1800">
                <a:solidFill>
                  <a:schemeClr val="dk1"/>
                </a:solidFill>
                <a:latin typeface="Roboto"/>
                <a:ea typeface="Roboto"/>
                <a:cs typeface="Roboto"/>
                <a:sym typeface="Roboto"/>
              </a:rPr>
              <a:t>His age when the son was born should be equal to 1/3 of P.</a:t>
            </a:r>
            <a:br>
              <a:rPr lang="en-GB" sz="1800">
                <a:solidFill>
                  <a:schemeClr val="dk1"/>
                </a:solidFill>
                <a:latin typeface="Roboto"/>
                <a:ea typeface="Roboto"/>
                <a:cs typeface="Roboto"/>
                <a:sym typeface="Roboto"/>
              </a:rPr>
            </a:br>
            <a:r>
              <a:rPr lang="en-GB" sz="1800">
                <a:solidFill>
                  <a:schemeClr val="dk1"/>
                </a:solidFill>
                <a:latin typeface="Roboto"/>
                <a:ea typeface="Roboto"/>
                <a:cs typeface="Roboto"/>
                <a:sym typeface="Roboto"/>
              </a:rPr>
              <a:t>(48 - P) =1/3 P ⇒ P = 36</a:t>
            </a:r>
            <a:endParaRPr i="0" sz="1800" u="none" cap="none" strike="noStrike">
              <a:solidFill>
                <a:schemeClr val="dk1"/>
              </a:solidFill>
              <a:latin typeface="Roboto"/>
              <a:ea typeface="Roboto"/>
              <a:cs typeface="Roboto"/>
              <a:sym typeface="Roboto"/>
            </a:endParaRPr>
          </a:p>
        </p:txBody>
      </p:sp>
      <p:sp>
        <p:nvSpPr>
          <p:cNvPr id="185" name="Google Shape;185;g2ee15abed17_3_363"/>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08</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g2ee15abed17_3_369"/>
          <p:cNvSpPr txBox="1"/>
          <p:nvPr/>
        </p:nvSpPr>
        <p:spPr>
          <a:xfrm>
            <a:off x="327600" y="396716"/>
            <a:ext cx="2827800" cy="437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05</a:t>
            </a:r>
            <a:endParaRPr b="0" i="0" sz="2000" u="none" cap="none" strike="noStrike">
              <a:solidFill>
                <a:schemeClr val="lt1"/>
              </a:solidFill>
              <a:latin typeface="Roboto"/>
              <a:ea typeface="Roboto"/>
              <a:cs typeface="Roboto"/>
              <a:sym typeface="Roboto"/>
            </a:endParaRPr>
          </a:p>
        </p:txBody>
      </p:sp>
      <p:sp>
        <p:nvSpPr>
          <p:cNvPr id="191" name="Google Shape;191;g2ee15abed17_3_369"/>
          <p:cNvSpPr txBox="1"/>
          <p:nvPr/>
        </p:nvSpPr>
        <p:spPr>
          <a:xfrm>
            <a:off x="746400" y="1439875"/>
            <a:ext cx="7862400" cy="35763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rtl="0" algn="just">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Eunice is three years older than Steve. When they got married 40 years ago, the difference of twice Eunice age from thrice Steve's age was 16. how old will each of them be when they celebrate their golden anniversary. (50th year)?</a:t>
            </a:r>
            <a:endParaRPr sz="1800">
              <a:solidFill>
                <a:schemeClr val="dk1"/>
              </a:solidFill>
              <a:latin typeface="Roboto"/>
              <a:ea typeface="Roboto"/>
              <a:cs typeface="Roboto"/>
              <a:sym typeface="Roboto"/>
            </a:endParaRPr>
          </a:p>
          <a:p>
            <a:pPr indent="0" lvl="0" marL="0" rtl="0" algn="just">
              <a:spcBef>
                <a:spcPts val="0"/>
              </a:spcBef>
              <a:spcAft>
                <a:spcPts val="0"/>
              </a:spcAft>
              <a:buClr>
                <a:schemeClr val="dk1"/>
              </a:buClr>
              <a:buSzPts val="1100"/>
              <a:buFont typeface="Arial"/>
              <a:buNone/>
            </a:pPr>
            <a:r>
              <a:t/>
            </a:r>
            <a:endParaRPr sz="1800">
              <a:solidFill>
                <a:schemeClr val="dk1"/>
              </a:solidFill>
              <a:latin typeface="Roboto"/>
              <a:ea typeface="Roboto"/>
              <a:cs typeface="Roboto"/>
              <a:sym typeface="Roboto"/>
            </a:endParaRPr>
          </a:p>
          <a:p>
            <a:pPr indent="0" lvl="0" marL="0" rtl="0" algn="just">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A] Eunice = 70 and Steve = 67</a:t>
            </a:r>
            <a:endParaRPr sz="1800">
              <a:solidFill>
                <a:schemeClr val="dk1"/>
              </a:solidFill>
              <a:latin typeface="Roboto"/>
              <a:ea typeface="Roboto"/>
              <a:cs typeface="Roboto"/>
              <a:sym typeface="Roboto"/>
            </a:endParaRPr>
          </a:p>
          <a:p>
            <a:pPr indent="0" lvl="0" marL="0" rtl="0" algn="just">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B] Eunice = 76 and Steve = 73</a:t>
            </a:r>
            <a:endParaRPr sz="1800">
              <a:solidFill>
                <a:schemeClr val="dk1"/>
              </a:solidFill>
              <a:latin typeface="Roboto"/>
              <a:ea typeface="Roboto"/>
              <a:cs typeface="Roboto"/>
              <a:sym typeface="Roboto"/>
            </a:endParaRPr>
          </a:p>
          <a:p>
            <a:pPr indent="0" lvl="0" marL="0" rtl="0" algn="just">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C] Eunice = 75 and Steve = 72 </a:t>
            </a:r>
            <a:endParaRPr sz="1800">
              <a:solidFill>
                <a:schemeClr val="dk1"/>
              </a:solidFill>
              <a:latin typeface="Roboto"/>
              <a:ea typeface="Roboto"/>
              <a:cs typeface="Roboto"/>
              <a:sym typeface="Roboto"/>
            </a:endParaRPr>
          </a:p>
          <a:p>
            <a:pPr indent="0" lvl="0" marL="0" rtl="0" algn="just">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D] Eunice = 74 and Steve = 71</a:t>
            </a:r>
            <a:endParaRPr sz="1800">
              <a:solidFill>
                <a:schemeClr val="dk1"/>
              </a:solidFill>
              <a:latin typeface="Roboto"/>
              <a:ea typeface="Roboto"/>
              <a:cs typeface="Roboto"/>
              <a:sym typeface="Roboto"/>
            </a:endParaRPr>
          </a:p>
          <a:p>
            <a:pPr indent="0" lvl="0" marL="0" marR="0" rtl="0" algn="l">
              <a:lnSpc>
                <a:spcPct val="115000"/>
              </a:lnSpc>
              <a:spcBef>
                <a:spcPts val="0"/>
              </a:spcBef>
              <a:spcAft>
                <a:spcPts val="0"/>
              </a:spcAft>
              <a:buClr>
                <a:schemeClr val="dk1"/>
              </a:buClr>
              <a:buSzPts val="1800"/>
              <a:buFont typeface="Arial"/>
              <a:buNone/>
            </a:pPr>
            <a:r>
              <a:t/>
            </a:r>
            <a:endParaRPr b="0" i="0" sz="1600" u="none" cap="none" strike="noStrike">
              <a:solidFill>
                <a:schemeClr val="dk1"/>
              </a:solidFill>
              <a:latin typeface="Roboto"/>
              <a:ea typeface="Roboto"/>
              <a:cs typeface="Roboto"/>
              <a:sym typeface="Roboto"/>
            </a:endParaRPr>
          </a:p>
        </p:txBody>
      </p:sp>
      <p:sp>
        <p:nvSpPr>
          <p:cNvPr id="192" name="Google Shape;192;g2ee15abed17_3_369"/>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600" u="none" cap="none" strike="noStrike">
                <a:solidFill>
                  <a:srgbClr val="000000"/>
                </a:solidFill>
                <a:latin typeface="Roboto"/>
                <a:ea typeface="Roboto"/>
                <a:cs typeface="Roboto"/>
                <a:sym typeface="Roboto"/>
              </a:rPr>
              <a:t>Answer: </a:t>
            </a:r>
            <a:r>
              <a:rPr b="1" lang="en-GB" sz="1600">
                <a:latin typeface="Roboto"/>
                <a:ea typeface="Roboto"/>
                <a:cs typeface="Roboto"/>
                <a:sym typeface="Roboto"/>
              </a:rPr>
              <a:t>C</a:t>
            </a:r>
            <a:endParaRPr b="1" i="0" sz="1600" u="none" cap="none" strike="noStrike">
              <a:solidFill>
                <a:srgbClr val="000000"/>
              </a:solidFill>
              <a:latin typeface="Roboto"/>
              <a:ea typeface="Roboto"/>
              <a:cs typeface="Roboto"/>
              <a:sym typeface="Roboto"/>
            </a:endParaRPr>
          </a:p>
        </p:txBody>
      </p:sp>
      <p:sp>
        <p:nvSpPr>
          <p:cNvPr id="193" name="Google Shape;193;g2ee15abed17_3_369"/>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09</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
                                            <p:txEl>
                                              <p:pRg end="0" st="0"/>
                                            </p:txEl>
                                          </p:spTgt>
                                        </p:tgtEl>
                                        <p:attrNameLst>
                                          <p:attrName>style.visibility</p:attrName>
                                        </p:attrNameLst>
                                      </p:cBhvr>
                                      <p:to>
                                        <p:strVal val="visible"/>
                                      </p:to>
                                    </p:set>
                                    <p:animEffect filter="fade" transition="in">
                                      <p:cBhvr>
                                        <p:cTn dur="1000"/>
                                        <p:tgtEl>
                                          <p:spTgt spid="19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
                                            <p:txEl>
                                              <p:pRg end="1" st="1"/>
                                            </p:txEl>
                                          </p:spTgt>
                                        </p:tgtEl>
                                        <p:attrNameLst>
                                          <p:attrName>style.visibility</p:attrName>
                                        </p:attrNameLst>
                                      </p:cBhvr>
                                      <p:to>
                                        <p:strVal val="visible"/>
                                      </p:to>
                                    </p:set>
                                    <p:animEffect filter="fade" transition="in">
                                      <p:cBhvr>
                                        <p:cTn dur="1000"/>
                                        <p:tgtEl>
                                          <p:spTgt spid="19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
                                            <p:txEl>
                                              <p:pRg end="2" st="2"/>
                                            </p:txEl>
                                          </p:spTgt>
                                        </p:tgtEl>
                                        <p:attrNameLst>
                                          <p:attrName>style.visibility</p:attrName>
                                        </p:attrNameLst>
                                      </p:cBhvr>
                                      <p:to>
                                        <p:strVal val="visible"/>
                                      </p:to>
                                    </p:set>
                                    <p:animEffect filter="fade" transition="in">
                                      <p:cBhvr>
                                        <p:cTn dur="1000"/>
                                        <p:tgtEl>
                                          <p:spTgt spid="19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
                                            <p:txEl>
                                              <p:pRg end="3" st="3"/>
                                            </p:txEl>
                                          </p:spTgt>
                                        </p:tgtEl>
                                        <p:attrNameLst>
                                          <p:attrName>style.visibility</p:attrName>
                                        </p:attrNameLst>
                                      </p:cBhvr>
                                      <p:to>
                                        <p:strVal val="visible"/>
                                      </p:to>
                                    </p:set>
                                    <p:animEffect filter="fade" transition="in">
                                      <p:cBhvr>
                                        <p:cTn dur="1000"/>
                                        <p:tgtEl>
                                          <p:spTgt spid="19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
                                            <p:txEl>
                                              <p:pRg end="4" st="4"/>
                                            </p:txEl>
                                          </p:spTgt>
                                        </p:tgtEl>
                                        <p:attrNameLst>
                                          <p:attrName>style.visibility</p:attrName>
                                        </p:attrNameLst>
                                      </p:cBhvr>
                                      <p:to>
                                        <p:strVal val="visible"/>
                                      </p:to>
                                    </p:set>
                                    <p:animEffect filter="fade" transition="in">
                                      <p:cBhvr>
                                        <p:cTn dur="1000"/>
                                        <p:tgtEl>
                                          <p:spTgt spid="19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
                                            <p:txEl>
                                              <p:pRg end="5" st="5"/>
                                            </p:txEl>
                                          </p:spTgt>
                                        </p:tgtEl>
                                        <p:attrNameLst>
                                          <p:attrName>style.visibility</p:attrName>
                                        </p:attrNameLst>
                                      </p:cBhvr>
                                      <p:to>
                                        <p:strVal val="visible"/>
                                      </p:to>
                                    </p:set>
                                    <p:animEffect filter="fade" transition="in">
                                      <p:cBhvr>
                                        <p:cTn dur="1000"/>
                                        <p:tgtEl>
                                          <p:spTgt spid="19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1">
                                            <p:txEl>
                                              <p:pRg end="6" st="6"/>
                                            </p:txEl>
                                          </p:spTgt>
                                        </p:tgtEl>
                                        <p:attrNameLst>
                                          <p:attrName>style.visibility</p:attrName>
                                        </p:attrNameLst>
                                      </p:cBhvr>
                                      <p:to>
                                        <p:strVal val="visible"/>
                                      </p:to>
                                    </p:set>
                                    <p:animEffect filter="fade" transition="in">
                                      <p:cBhvr>
                                        <p:cTn dur="1000"/>
                                        <p:tgtEl>
                                          <p:spTgt spid="19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2">
                                            <p:txEl>
                                              <p:pRg end="0" st="0"/>
                                            </p:txEl>
                                          </p:spTgt>
                                        </p:tgtEl>
                                        <p:attrNameLst>
                                          <p:attrName>style.visibility</p:attrName>
                                        </p:attrNameLst>
                                      </p:cBhvr>
                                      <p:to>
                                        <p:strVal val="visible"/>
                                      </p:to>
                                    </p:set>
                                    <p:animEffect filter="fade" transition="in">
                                      <p:cBhvr>
                                        <p:cTn dur="1000"/>
                                        <p:tgtEl>
                                          <p:spTgt spid="192">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97" name="Shape 197"/>
        <p:cNvGrpSpPr/>
        <p:nvPr/>
      </p:nvGrpSpPr>
      <p:grpSpPr>
        <a:xfrm>
          <a:off x="0" y="0"/>
          <a:ext cx="0" cy="0"/>
          <a:chOff x="0" y="0"/>
          <a:chExt cx="0" cy="0"/>
        </a:xfrm>
      </p:grpSpPr>
      <p:sp>
        <p:nvSpPr>
          <p:cNvPr id="198" name="Google Shape;198;g2ee15abed17_3_376"/>
          <p:cNvSpPr txBox="1"/>
          <p:nvPr/>
        </p:nvSpPr>
        <p:spPr>
          <a:xfrm>
            <a:off x="327600" y="778175"/>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80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199" name="Google Shape;199;g2ee15abed17_3_376"/>
          <p:cNvSpPr txBox="1"/>
          <p:nvPr/>
        </p:nvSpPr>
        <p:spPr>
          <a:xfrm>
            <a:off x="1066875" y="1640550"/>
            <a:ext cx="72213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sp>
        <p:nvSpPr>
          <p:cNvPr id="200" name="Google Shape;200;g2ee15abed17_3_376"/>
          <p:cNvSpPr txBox="1"/>
          <p:nvPr/>
        </p:nvSpPr>
        <p:spPr>
          <a:xfrm>
            <a:off x="630000" y="1354400"/>
            <a:ext cx="7474200" cy="3201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800"/>
              <a:buFont typeface="Arial"/>
              <a:buNone/>
            </a:pPr>
            <a:r>
              <a:rPr lang="en-GB" sz="2500">
                <a:solidFill>
                  <a:schemeClr val="dk1"/>
                </a:solidFill>
                <a:latin typeface="Roboto"/>
                <a:ea typeface="Roboto"/>
                <a:cs typeface="Roboto"/>
                <a:sym typeface="Roboto"/>
              </a:rPr>
              <a:t>l</a:t>
            </a:r>
            <a:r>
              <a:rPr lang="en-GB" sz="1900">
                <a:solidFill>
                  <a:schemeClr val="dk1"/>
                </a:solidFill>
                <a:latin typeface="Roboto"/>
                <a:ea typeface="Roboto"/>
                <a:cs typeface="Roboto"/>
                <a:sym typeface="Roboto"/>
              </a:rPr>
              <a:t>et e be the age of Eunice</a:t>
            </a:r>
            <a:br>
              <a:rPr lang="en-GB" sz="1900">
                <a:solidFill>
                  <a:schemeClr val="dk1"/>
                </a:solidFill>
                <a:latin typeface="Roboto"/>
                <a:ea typeface="Roboto"/>
                <a:cs typeface="Roboto"/>
                <a:sym typeface="Roboto"/>
              </a:rPr>
            </a:br>
            <a:r>
              <a:rPr lang="en-GB" sz="1900">
                <a:solidFill>
                  <a:schemeClr val="dk1"/>
                </a:solidFill>
                <a:latin typeface="Roboto"/>
                <a:ea typeface="Roboto"/>
                <a:cs typeface="Roboto"/>
                <a:sym typeface="Roboto"/>
              </a:rPr>
              <a:t>let s be the age of Steve</a:t>
            </a:r>
            <a:br>
              <a:rPr lang="en-GB" sz="1900">
                <a:solidFill>
                  <a:schemeClr val="dk1"/>
                </a:solidFill>
                <a:latin typeface="Roboto"/>
                <a:ea typeface="Roboto"/>
                <a:cs typeface="Roboto"/>
                <a:sym typeface="Roboto"/>
              </a:rPr>
            </a:br>
            <a:r>
              <a:rPr lang="en-GB" sz="1900">
                <a:solidFill>
                  <a:schemeClr val="dk1"/>
                </a:solidFill>
                <a:latin typeface="Roboto"/>
                <a:ea typeface="Roboto"/>
                <a:cs typeface="Roboto"/>
                <a:sym typeface="Roboto"/>
              </a:rPr>
              <a:t>Then you have:</a:t>
            </a:r>
            <a:br>
              <a:rPr lang="en-GB" sz="1900">
                <a:solidFill>
                  <a:schemeClr val="dk1"/>
                </a:solidFill>
                <a:latin typeface="Roboto"/>
                <a:ea typeface="Roboto"/>
                <a:cs typeface="Roboto"/>
                <a:sym typeface="Roboto"/>
              </a:rPr>
            </a:br>
            <a:r>
              <a:rPr lang="en-GB" sz="1900">
                <a:solidFill>
                  <a:schemeClr val="dk1"/>
                </a:solidFill>
                <a:latin typeface="Roboto"/>
                <a:ea typeface="Roboto"/>
                <a:cs typeface="Roboto"/>
                <a:sym typeface="Roboto"/>
              </a:rPr>
              <a:t>1) e = s + 3</a:t>
            </a:r>
            <a:br>
              <a:rPr lang="en-GB" sz="1900">
                <a:solidFill>
                  <a:schemeClr val="dk1"/>
                </a:solidFill>
                <a:latin typeface="Roboto"/>
                <a:ea typeface="Roboto"/>
                <a:cs typeface="Roboto"/>
                <a:sym typeface="Roboto"/>
              </a:rPr>
            </a:br>
            <a:r>
              <a:rPr lang="en-GB" sz="1900">
                <a:solidFill>
                  <a:schemeClr val="dk1"/>
                </a:solidFill>
                <a:latin typeface="Roboto"/>
                <a:ea typeface="Roboto"/>
                <a:cs typeface="Roboto"/>
                <a:sym typeface="Roboto"/>
              </a:rPr>
              <a:t>2) 3(s-40) - 2(e-40) = 16</a:t>
            </a:r>
            <a:br>
              <a:rPr lang="en-GB" sz="1900">
                <a:solidFill>
                  <a:schemeClr val="dk1"/>
                </a:solidFill>
                <a:latin typeface="Roboto"/>
                <a:ea typeface="Roboto"/>
                <a:cs typeface="Roboto"/>
                <a:sym typeface="Roboto"/>
              </a:rPr>
            </a:br>
            <a:r>
              <a:rPr lang="en-GB" sz="1900">
                <a:solidFill>
                  <a:schemeClr val="dk1"/>
                </a:solidFill>
                <a:latin typeface="Roboto"/>
                <a:ea typeface="Roboto"/>
                <a:cs typeface="Roboto"/>
                <a:sym typeface="Roboto"/>
              </a:rPr>
              <a:t>Plug in 1) into 2) and you'll get:</a:t>
            </a:r>
            <a:br>
              <a:rPr lang="en-GB" sz="1900">
                <a:solidFill>
                  <a:schemeClr val="dk1"/>
                </a:solidFill>
                <a:latin typeface="Roboto"/>
                <a:ea typeface="Roboto"/>
                <a:cs typeface="Roboto"/>
                <a:sym typeface="Roboto"/>
              </a:rPr>
            </a:br>
            <a:r>
              <a:rPr lang="en-GB" sz="1900">
                <a:solidFill>
                  <a:schemeClr val="dk1"/>
                </a:solidFill>
                <a:latin typeface="Roboto"/>
                <a:ea typeface="Roboto"/>
                <a:cs typeface="Roboto"/>
                <a:sym typeface="Roboto"/>
              </a:rPr>
              <a:t>3(s-40) - 2(s+3 - 40) = 16</a:t>
            </a:r>
            <a:br>
              <a:rPr lang="en-GB" sz="1900">
                <a:solidFill>
                  <a:schemeClr val="dk1"/>
                </a:solidFill>
                <a:latin typeface="Roboto"/>
                <a:ea typeface="Roboto"/>
                <a:cs typeface="Roboto"/>
                <a:sym typeface="Roboto"/>
              </a:rPr>
            </a:br>
            <a:r>
              <a:rPr lang="en-GB" sz="1900">
                <a:solidFill>
                  <a:schemeClr val="dk1"/>
                </a:solidFill>
                <a:latin typeface="Roboto"/>
                <a:ea typeface="Roboto"/>
                <a:cs typeface="Roboto"/>
                <a:sym typeface="Roboto"/>
              </a:rPr>
              <a:t>That's an equation in s. Solve for s and you'll get: s = 62, thus e = 65</a:t>
            </a:r>
            <a:br>
              <a:rPr lang="en-GB" sz="1900">
                <a:solidFill>
                  <a:schemeClr val="dk1"/>
                </a:solidFill>
                <a:latin typeface="Roboto"/>
                <a:ea typeface="Roboto"/>
                <a:cs typeface="Roboto"/>
                <a:sym typeface="Roboto"/>
              </a:rPr>
            </a:br>
            <a:r>
              <a:rPr lang="en-GB" sz="1900">
                <a:solidFill>
                  <a:schemeClr val="dk1"/>
                </a:solidFill>
                <a:latin typeface="Roboto"/>
                <a:ea typeface="Roboto"/>
                <a:cs typeface="Roboto"/>
                <a:sym typeface="Roboto"/>
              </a:rPr>
              <a:t>10 years later they'll celebrate their golden anniversary.</a:t>
            </a:r>
            <a:br>
              <a:rPr lang="en-GB" sz="1900">
                <a:solidFill>
                  <a:schemeClr val="dk1"/>
                </a:solidFill>
                <a:latin typeface="Roboto"/>
                <a:ea typeface="Roboto"/>
                <a:cs typeface="Roboto"/>
                <a:sym typeface="Roboto"/>
              </a:rPr>
            </a:br>
            <a:r>
              <a:rPr lang="en-GB" sz="1900">
                <a:solidFill>
                  <a:schemeClr val="dk1"/>
                </a:solidFill>
                <a:latin typeface="Roboto"/>
                <a:ea typeface="Roboto"/>
                <a:cs typeface="Roboto"/>
                <a:sym typeface="Roboto"/>
              </a:rPr>
              <a:t>So Eunice will be 75 years old and Steve 72.</a:t>
            </a:r>
            <a:endParaRPr i="0" sz="1900" u="none" cap="none" strike="noStrike">
              <a:solidFill>
                <a:schemeClr val="dk1"/>
              </a:solidFill>
              <a:latin typeface="Roboto"/>
              <a:ea typeface="Roboto"/>
              <a:cs typeface="Roboto"/>
              <a:sym typeface="Roboto"/>
            </a:endParaRPr>
          </a:p>
        </p:txBody>
      </p:sp>
      <p:sp>
        <p:nvSpPr>
          <p:cNvPr id="201" name="Google Shape;201;g2ee15abed17_3_376"/>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09</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g2ee15abed17_3_383"/>
          <p:cNvSpPr txBox="1"/>
          <p:nvPr/>
        </p:nvSpPr>
        <p:spPr>
          <a:xfrm>
            <a:off x="720000" y="1440000"/>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rtl="0" algn="just">
              <a:spcBef>
                <a:spcPts val="0"/>
              </a:spcBef>
              <a:spcAft>
                <a:spcPts val="0"/>
              </a:spcAft>
              <a:buClr>
                <a:schemeClr val="dk1"/>
              </a:buClr>
              <a:buSzPts val="1100"/>
              <a:buFont typeface="Arial"/>
              <a:buNone/>
            </a:pPr>
            <a:r>
              <a:rPr lang="en-GB" sz="1800">
                <a:solidFill>
                  <a:schemeClr val="dk1"/>
                </a:solidFill>
                <a:latin typeface="Calibri"/>
                <a:ea typeface="Calibri"/>
                <a:cs typeface="Calibri"/>
                <a:sym typeface="Calibri"/>
              </a:rPr>
              <a:t>I</a:t>
            </a:r>
            <a:r>
              <a:rPr lang="en-GB" sz="1800">
                <a:solidFill>
                  <a:schemeClr val="dk1"/>
                </a:solidFill>
                <a:latin typeface="Roboto"/>
                <a:ea typeface="Roboto"/>
                <a:cs typeface="Roboto"/>
                <a:sym typeface="Roboto"/>
              </a:rPr>
              <a:t>f 6 years are subtracted from the present age of Arun and the remainder is divided by 18, then the present age of his grandson Gokul is obtained. If Gokul is 2 years younger to Madan whose age is 5 years, then what is the age of Arun ?</a:t>
            </a:r>
            <a:endParaRPr sz="1800">
              <a:solidFill>
                <a:schemeClr val="dk1"/>
              </a:solidFill>
              <a:latin typeface="Roboto"/>
              <a:ea typeface="Roboto"/>
              <a:cs typeface="Roboto"/>
              <a:sym typeface="Roboto"/>
            </a:endParaRPr>
          </a:p>
          <a:p>
            <a:pPr indent="0" lvl="0" marL="0" rtl="0" algn="just">
              <a:spcBef>
                <a:spcPts val="0"/>
              </a:spcBef>
              <a:spcAft>
                <a:spcPts val="0"/>
              </a:spcAft>
              <a:buClr>
                <a:schemeClr val="dk1"/>
              </a:buClr>
              <a:buSzPts val="1100"/>
              <a:buFont typeface="Arial"/>
              <a:buNone/>
            </a:pPr>
            <a:r>
              <a:t/>
            </a:r>
            <a:endParaRPr sz="1800">
              <a:solidFill>
                <a:schemeClr val="dk1"/>
              </a:solidFill>
              <a:latin typeface="Roboto"/>
              <a:ea typeface="Roboto"/>
              <a:cs typeface="Roboto"/>
              <a:sym typeface="Roboto"/>
            </a:endParaRPr>
          </a:p>
          <a:p>
            <a:pPr indent="0" lvl="0" marL="0" rtl="0" algn="just">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A] 72 years</a:t>
            </a:r>
            <a:endParaRPr sz="1800">
              <a:solidFill>
                <a:schemeClr val="dk1"/>
              </a:solidFill>
              <a:latin typeface="Roboto"/>
              <a:ea typeface="Roboto"/>
              <a:cs typeface="Roboto"/>
              <a:sym typeface="Roboto"/>
            </a:endParaRPr>
          </a:p>
          <a:p>
            <a:pPr indent="0" lvl="0" marL="0" rtl="0" algn="just">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B] 54 years</a:t>
            </a:r>
            <a:endParaRPr sz="1800">
              <a:solidFill>
                <a:schemeClr val="dk1"/>
              </a:solidFill>
              <a:latin typeface="Roboto"/>
              <a:ea typeface="Roboto"/>
              <a:cs typeface="Roboto"/>
              <a:sym typeface="Roboto"/>
            </a:endParaRPr>
          </a:p>
          <a:p>
            <a:pPr indent="0" lvl="0" marL="0" rtl="0" algn="just">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C] 60 years</a:t>
            </a:r>
            <a:endParaRPr sz="1800">
              <a:solidFill>
                <a:schemeClr val="dk1"/>
              </a:solidFill>
              <a:latin typeface="Roboto"/>
              <a:ea typeface="Roboto"/>
              <a:cs typeface="Roboto"/>
              <a:sym typeface="Roboto"/>
            </a:endParaRPr>
          </a:p>
          <a:p>
            <a:pPr indent="0" lvl="0" marL="0" rtl="0" algn="just">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D] 47 years</a:t>
            </a:r>
            <a:endParaRPr sz="1800">
              <a:solidFill>
                <a:schemeClr val="dk1"/>
              </a:solidFill>
              <a:latin typeface="Roboto"/>
              <a:ea typeface="Roboto"/>
              <a:cs typeface="Roboto"/>
              <a:sym typeface="Roboto"/>
            </a:endParaRPr>
          </a:p>
          <a:p>
            <a:pPr indent="0" lvl="0" marL="0" marR="0" rtl="0" algn="l">
              <a:lnSpc>
                <a:spcPct val="100000"/>
              </a:lnSpc>
              <a:spcBef>
                <a:spcPts val="0"/>
              </a:spcBef>
              <a:spcAft>
                <a:spcPts val="800"/>
              </a:spcAft>
              <a:buClr>
                <a:srgbClr val="000000"/>
              </a:buClr>
              <a:buSzPts val="1400"/>
              <a:buFont typeface="Arial"/>
              <a:buNone/>
            </a:pPr>
            <a:r>
              <a:t/>
            </a:r>
            <a:endParaRPr b="0" i="0" sz="1600" u="none" cap="none" strike="noStrike">
              <a:solidFill>
                <a:schemeClr val="dk1"/>
              </a:solidFill>
              <a:highlight>
                <a:srgbClr val="FFFFFF"/>
              </a:highlight>
              <a:latin typeface="Roboto"/>
              <a:ea typeface="Roboto"/>
              <a:cs typeface="Roboto"/>
              <a:sym typeface="Roboto"/>
            </a:endParaRPr>
          </a:p>
        </p:txBody>
      </p:sp>
      <p:sp>
        <p:nvSpPr>
          <p:cNvPr id="207" name="Google Shape;207;g2ee15abed17_3_383"/>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600" u="none" cap="none" strike="noStrike">
                <a:solidFill>
                  <a:srgbClr val="000000"/>
                </a:solidFill>
                <a:latin typeface="Roboto"/>
                <a:ea typeface="Roboto"/>
                <a:cs typeface="Roboto"/>
                <a:sym typeface="Roboto"/>
              </a:rPr>
              <a:t>Answer: </a:t>
            </a:r>
            <a:r>
              <a:rPr b="1" lang="en-GB" sz="1600">
                <a:latin typeface="Roboto"/>
                <a:ea typeface="Roboto"/>
                <a:cs typeface="Roboto"/>
                <a:sym typeface="Roboto"/>
              </a:rPr>
              <a:t>C</a:t>
            </a:r>
            <a:endParaRPr b="1" i="0" sz="1600" u="none" cap="none" strike="noStrike">
              <a:solidFill>
                <a:srgbClr val="000000"/>
              </a:solidFill>
              <a:latin typeface="Roboto"/>
              <a:ea typeface="Roboto"/>
              <a:cs typeface="Roboto"/>
              <a:sym typeface="Roboto"/>
            </a:endParaRPr>
          </a:p>
        </p:txBody>
      </p:sp>
      <p:sp>
        <p:nvSpPr>
          <p:cNvPr id="208" name="Google Shape;208;g2ee15abed17_3_383"/>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10</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xEl>
                                              <p:pRg end="0" st="0"/>
                                            </p:txEl>
                                          </p:spTgt>
                                        </p:tgtEl>
                                        <p:attrNameLst>
                                          <p:attrName>style.visibility</p:attrName>
                                        </p:attrNameLst>
                                      </p:cBhvr>
                                      <p:to>
                                        <p:strVal val="visible"/>
                                      </p:to>
                                    </p:set>
                                    <p:animEffect filter="fade" transition="in">
                                      <p:cBhvr>
                                        <p:cTn dur="1000"/>
                                        <p:tgtEl>
                                          <p:spTgt spid="20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xEl>
                                              <p:pRg end="1" st="1"/>
                                            </p:txEl>
                                          </p:spTgt>
                                        </p:tgtEl>
                                        <p:attrNameLst>
                                          <p:attrName>style.visibility</p:attrName>
                                        </p:attrNameLst>
                                      </p:cBhvr>
                                      <p:to>
                                        <p:strVal val="visible"/>
                                      </p:to>
                                    </p:set>
                                    <p:animEffect filter="fade" transition="in">
                                      <p:cBhvr>
                                        <p:cTn dur="1000"/>
                                        <p:tgtEl>
                                          <p:spTgt spid="20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xEl>
                                              <p:pRg end="2" st="2"/>
                                            </p:txEl>
                                          </p:spTgt>
                                        </p:tgtEl>
                                        <p:attrNameLst>
                                          <p:attrName>style.visibility</p:attrName>
                                        </p:attrNameLst>
                                      </p:cBhvr>
                                      <p:to>
                                        <p:strVal val="visible"/>
                                      </p:to>
                                    </p:set>
                                    <p:animEffect filter="fade" transition="in">
                                      <p:cBhvr>
                                        <p:cTn dur="1000"/>
                                        <p:tgtEl>
                                          <p:spTgt spid="20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xEl>
                                              <p:pRg end="3" st="3"/>
                                            </p:txEl>
                                          </p:spTgt>
                                        </p:tgtEl>
                                        <p:attrNameLst>
                                          <p:attrName>style.visibility</p:attrName>
                                        </p:attrNameLst>
                                      </p:cBhvr>
                                      <p:to>
                                        <p:strVal val="visible"/>
                                      </p:to>
                                    </p:set>
                                    <p:animEffect filter="fade" transition="in">
                                      <p:cBhvr>
                                        <p:cTn dur="1000"/>
                                        <p:tgtEl>
                                          <p:spTgt spid="20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xEl>
                                              <p:pRg end="4" st="4"/>
                                            </p:txEl>
                                          </p:spTgt>
                                        </p:tgtEl>
                                        <p:attrNameLst>
                                          <p:attrName>style.visibility</p:attrName>
                                        </p:attrNameLst>
                                      </p:cBhvr>
                                      <p:to>
                                        <p:strVal val="visible"/>
                                      </p:to>
                                    </p:set>
                                    <p:animEffect filter="fade" transition="in">
                                      <p:cBhvr>
                                        <p:cTn dur="1000"/>
                                        <p:tgtEl>
                                          <p:spTgt spid="20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xEl>
                                              <p:pRg end="5" st="5"/>
                                            </p:txEl>
                                          </p:spTgt>
                                        </p:tgtEl>
                                        <p:attrNameLst>
                                          <p:attrName>style.visibility</p:attrName>
                                        </p:attrNameLst>
                                      </p:cBhvr>
                                      <p:to>
                                        <p:strVal val="visible"/>
                                      </p:to>
                                    </p:set>
                                    <p:animEffect filter="fade" transition="in">
                                      <p:cBhvr>
                                        <p:cTn dur="1000"/>
                                        <p:tgtEl>
                                          <p:spTgt spid="20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xEl>
                                              <p:pRg end="6" st="6"/>
                                            </p:txEl>
                                          </p:spTgt>
                                        </p:tgtEl>
                                        <p:attrNameLst>
                                          <p:attrName>style.visibility</p:attrName>
                                        </p:attrNameLst>
                                      </p:cBhvr>
                                      <p:to>
                                        <p:strVal val="visible"/>
                                      </p:to>
                                    </p:set>
                                    <p:animEffect filter="fade" transition="in">
                                      <p:cBhvr>
                                        <p:cTn dur="1000"/>
                                        <p:tgtEl>
                                          <p:spTgt spid="206">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7">
                                            <p:txEl>
                                              <p:pRg end="0" st="0"/>
                                            </p:txEl>
                                          </p:spTgt>
                                        </p:tgtEl>
                                        <p:attrNameLst>
                                          <p:attrName>style.visibility</p:attrName>
                                        </p:attrNameLst>
                                      </p:cBhvr>
                                      <p:to>
                                        <p:strVal val="visible"/>
                                      </p:to>
                                    </p:set>
                                    <p:animEffect filter="fade" transition="in">
                                      <p:cBhvr>
                                        <p:cTn dur="1000"/>
                                        <p:tgtEl>
                                          <p:spTgt spid="207">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12" name="Shape 212"/>
        <p:cNvGrpSpPr/>
        <p:nvPr/>
      </p:nvGrpSpPr>
      <p:grpSpPr>
        <a:xfrm>
          <a:off x="0" y="0"/>
          <a:ext cx="0" cy="0"/>
          <a:chOff x="0" y="0"/>
          <a:chExt cx="0" cy="0"/>
        </a:xfrm>
      </p:grpSpPr>
      <p:pic>
        <p:nvPicPr>
          <p:cNvPr id="213" name="Google Shape;213;g2ee15abed17_3_389"/>
          <p:cNvPicPr preferRelativeResize="0"/>
          <p:nvPr/>
        </p:nvPicPr>
        <p:blipFill rotWithShape="1">
          <a:blip r:embed="rId3">
            <a:alphaModFix/>
          </a:blip>
          <a:srcRect b="0" l="0" r="57233" t="0"/>
          <a:stretch/>
        </p:blipFill>
        <p:spPr>
          <a:xfrm>
            <a:off x="8189675" y="233550"/>
            <a:ext cx="724575" cy="766798"/>
          </a:xfrm>
          <a:prstGeom prst="rect">
            <a:avLst/>
          </a:prstGeom>
          <a:noFill/>
          <a:ln>
            <a:noFill/>
          </a:ln>
        </p:spPr>
      </p:pic>
      <p:sp>
        <p:nvSpPr>
          <p:cNvPr id="214" name="Google Shape;214;g2ee15abed17_3_389"/>
          <p:cNvSpPr txBox="1"/>
          <p:nvPr/>
        </p:nvSpPr>
        <p:spPr>
          <a:xfrm>
            <a:off x="327600" y="342645"/>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Explanation: </a:t>
            </a:r>
            <a:endParaRPr b="0" i="0" sz="2000" u="none" cap="none" strike="noStrike">
              <a:solidFill>
                <a:schemeClr val="lt1"/>
              </a:solidFill>
              <a:latin typeface="Roboto"/>
              <a:ea typeface="Roboto"/>
              <a:cs typeface="Roboto"/>
              <a:sym typeface="Roboto"/>
            </a:endParaRPr>
          </a:p>
        </p:txBody>
      </p:sp>
      <p:sp>
        <p:nvSpPr>
          <p:cNvPr id="215" name="Google Shape;215;g2ee15abed17_3_389"/>
          <p:cNvSpPr txBox="1"/>
          <p:nvPr/>
        </p:nvSpPr>
        <p:spPr>
          <a:xfrm>
            <a:off x="327600" y="842700"/>
            <a:ext cx="7384200" cy="31563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216" name="Google Shape;216;g2ee15abed17_3_389"/>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10</a:t>
            </a:r>
            <a:endParaRPr b="1" i="0" sz="2000" u="none" cap="none" strike="noStrike">
              <a:solidFill>
                <a:srgbClr val="8182EF"/>
              </a:solidFill>
              <a:latin typeface="Roboto"/>
              <a:ea typeface="Roboto"/>
              <a:cs typeface="Roboto"/>
              <a:sym typeface="Roboto"/>
            </a:endParaRPr>
          </a:p>
        </p:txBody>
      </p:sp>
      <p:sp>
        <p:nvSpPr>
          <p:cNvPr id="217" name="Google Shape;217;g2ee15abed17_3_389"/>
          <p:cNvSpPr txBox="1"/>
          <p:nvPr/>
        </p:nvSpPr>
        <p:spPr>
          <a:xfrm>
            <a:off x="630000" y="1354400"/>
            <a:ext cx="7474200" cy="18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Let the Present age of Arun is x</a:t>
            </a:r>
            <a:br>
              <a:rPr lang="en-GB" sz="1800">
                <a:solidFill>
                  <a:schemeClr val="dk1"/>
                </a:solidFill>
                <a:latin typeface="Roboto"/>
                <a:ea typeface="Roboto"/>
                <a:cs typeface="Roboto"/>
                <a:sym typeface="Roboto"/>
              </a:rPr>
            </a:br>
            <a:r>
              <a:rPr lang="en-GB" sz="1800">
                <a:solidFill>
                  <a:schemeClr val="dk1"/>
                </a:solidFill>
                <a:latin typeface="Roboto"/>
                <a:ea typeface="Roboto"/>
                <a:cs typeface="Roboto"/>
                <a:sym typeface="Roboto"/>
              </a:rPr>
              <a:t>Gokul's age = 5-2 = 3</a:t>
            </a:r>
            <a:br>
              <a:rPr lang="en-GB" sz="1800">
                <a:solidFill>
                  <a:schemeClr val="dk1"/>
                </a:solidFill>
                <a:latin typeface="Roboto"/>
                <a:ea typeface="Roboto"/>
                <a:cs typeface="Roboto"/>
                <a:sym typeface="Roboto"/>
              </a:rPr>
            </a:br>
            <a:r>
              <a:rPr lang="en-GB" sz="1800">
                <a:solidFill>
                  <a:schemeClr val="dk1"/>
                </a:solidFill>
                <a:latin typeface="Roboto"/>
                <a:ea typeface="Roboto"/>
                <a:cs typeface="Roboto"/>
                <a:sym typeface="Roboto"/>
              </a:rPr>
              <a:t>x-6/18 = 3</a:t>
            </a:r>
            <a:br>
              <a:rPr lang="en-GB" sz="1800">
                <a:solidFill>
                  <a:schemeClr val="dk1"/>
                </a:solidFill>
                <a:latin typeface="Roboto"/>
                <a:ea typeface="Roboto"/>
                <a:cs typeface="Roboto"/>
                <a:sym typeface="Roboto"/>
              </a:rPr>
            </a:br>
            <a:r>
              <a:rPr lang="en-GB" sz="1800">
                <a:solidFill>
                  <a:schemeClr val="dk1"/>
                </a:solidFill>
                <a:latin typeface="Roboto"/>
                <a:ea typeface="Roboto"/>
                <a:cs typeface="Roboto"/>
                <a:sym typeface="Roboto"/>
              </a:rPr>
              <a:t>x-6 = 54</a:t>
            </a:r>
            <a:br>
              <a:rPr lang="en-GB" sz="1800">
                <a:solidFill>
                  <a:schemeClr val="dk1"/>
                </a:solidFill>
                <a:latin typeface="Roboto"/>
                <a:ea typeface="Roboto"/>
                <a:cs typeface="Roboto"/>
                <a:sym typeface="Roboto"/>
              </a:rPr>
            </a:br>
            <a:r>
              <a:rPr lang="en-GB" sz="1800">
                <a:solidFill>
                  <a:schemeClr val="dk1"/>
                </a:solidFill>
                <a:latin typeface="Roboto"/>
                <a:ea typeface="Roboto"/>
                <a:cs typeface="Roboto"/>
                <a:sym typeface="Roboto"/>
              </a:rPr>
              <a:t>x = 60</a:t>
            </a:r>
            <a:br>
              <a:rPr lang="en-GB" sz="1800">
                <a:solidFill>
                  <a:schemeClr val="dk1"/>
                </a:solidFill>
                <a:latin typeface="Roboto"/>
                <a:ea typeface="Roboto"/>
                <a:cs typeface="Roboto"/>
                <a:sym typeface="Roboto"/>
              </a:rPr>
            </a:br>
            <a:r>
              <a:rPr lang="en-GB" sz="1800">
                <a:solidFill>
                  <a:schemeClr val="dk1"/>
                </a:solidFill>
                <a:latin typeface="Roboto"/>
                <a:ea typeface="Roboto"/>
                <a:cs typeface="Roboto"/>
                <a:sym typeface="Roboto"/>
              </a:rPr>
              <a:t>Arun's present age = 60 years.</a:t>
            </a:r>
            <a:endParaRPr i="0" sz="1800" u="none" cap="none" strike="noStrike">
              <a:solidFill>
                <a:schemeClr val="dk1"/>
              </a:solidFill>
              <a:latin typeface="Roboto"/>
              <a:ea typeface="Roboto"/>
              <a:cs typeface="Roboto"/>
              <a:sym typeface="Robot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g2ee15abed17_3_397"/>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700" u="none" cap="none" strike="noStrike">
                <a:solidFill>
                  <a:srgbClr val="000000"/>
                </a:solidFill>
                <a:latin typeface="Roboto"/>
                <a:ea typeface="Roboto"/>
                <a:cs typeface="Roboto"/>
                <a:sym typeface="Roboto"/>
              </a:rPr>
              <a:t>A</a:t>
            </a:r>
            <a:r>
              <a:rPr b="1" i="0" lang="en-GB" sz="1600" u="none" cap="none" strike="noStrike">
                <a:solidFill>
                  <a:srgbClr val="000000"/>
                </a:solidFill>
                <a:latin typeface="Roboto"/>
                <a:ea typeface="Roboto"/>
                <a:cs typeface="Roboto"/>
                <a:sym typeface="Roboto"/>
              </a:rPr>
              <a:t>nswer: </a:t>
            </a:r>
            <a:r>
              <a:rPr b="1" lang="en-GB" sz="1600">
                <a:latin typeface="Roboto"/>
                <a:ea typeface="Roboto"/>
                <a:cs typeface="Roboto"/>
                <a:sym typeface="Roboto"/>
              </a:rPr>
              <a:t>C</a:t>
            </a:r>
            <a:endParaRPr b="1" i="0" sz="1600" u="none" cap="none" strike="noStrike">
              <a:solidFill>
                <a:srgbClr val="000000"/>
              </a:solidFill>
              <a:latin typeface="Roboto"/>
              <a:ea typeface="Roboto"/>
              <a:cs typeface="Roboto"/>
              <a:sym typeface="Roboto"/>
            </a:endParaRPr>
          </a:p>
        </p:txBody>
      </p:sp>
      <p:sp>
        <p:nvSpPr>
          <p:cNvPr id="223" name="Google Shape;223;g2ee15abed17_3_397"/>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11</a:t>
            </a:r>
            <a:endParaRPr b="1" i="0" sz="2000" u="none" cap="none" strike="noStrike">
              <a:solidFill>
                <a:srgbClr val="8182EF"/>
              </a:solidFill>
              <a:latin typeface="Roboto"/>
              <a:ea typeface="Roboto"/>
              <a:cs typeface="Roboto"/>
              <a:sym typeface="Roboto"/>
            </a:endParaRPr>
          </a:p>
        </p:txBody>
      </p:sp>
      <p:sp>
        <p:nvSpPr>
          <p:cNvPr id="224" name="Google Shape;224;g2ee15abed17_3_397"/>
          <p:cNvSpPr txBox="1"/>
          <p:nvPr/>
        </p:nvSpPr>
        <p:spPr>
          <a:xfrm>
            <a:off x="630000" y="1354400"/>
            <a:ext cx="7338000" cy="267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When Ram was born, his father was 32 years older than his brother and his mother was 25 years older than his sister. If Ram's brother is 6 years older than Ram and his mother is 3 years younger than his father, how old was Ram's sister when Ram was born ? </a:t>
            </a:r>
            <a:endParaRPr sz="18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18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A] 6 years </a:t>
            </a:r>
            <a:endParaRPr sz="18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B] 8 years</a:t>
            </a:r>
            <a:endParaRPr sz="18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C] 10 years</a:t>
            </a:r>
            <a:endParaRPr sz="18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D] 12 years</a:t>
            </a:r>
            <a:endParaRPr sz="1800">
              <a:solidFill>
                <a:schemeClr val="dk1"/>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28" name="Shape 228"/>
        <p:cNvGrpSpPr/>
        <p:nvPr/>
      </p:nvGrpSpPr>
      <p:grpSpPr>
        <a:xfrm>
          <a:off x="0" y="0"/>
          <a:ext cx="0" cy="0"/>
          <a:chOff x="0" y="0"/>
          <a:chExt cx="0" cy="0"/>
        </a:xfrm>
      </p:grpSpPr>
      <p:pic>
        <p:nvPicPr>
          <p:cNvPr id="229" name="Google Shape;229;g2ee15abed17_3_403"/>
          <p:cNvPicPr preferRelativeResize="0"/>
          <p:nvPr/>
        </p:nvPicPr>
        <p:blipFill rotWithShape="1">
          <a:blip r:embed="rId3">
            <a:alphaModFix/>
          </a:blip>
          <a:srcRect b="0" l="0" r="57233" t="0"/>
          <a:stretch/>
        </p:blipFill>
        <p:spPr>
          <a:xfrm>
            <a:off x="8189675" y="233550"/>
            <a:ext cx="724575" cy="766798"/>
          </a:xfrm>
          <a:prstGeom prst="rect">
            <a:avLst/>
          </a:prstGeom>
          <a:noFill/>
          <a:ln>
            <a:noFill/>
          </a:ln>
        </p:spPr>
      </p:pic>
      <p:sp>
        <p:nvSpPr>
          <p:cNvPr id="230" name="Google Shape;230;g2ee15abed17_3_403"/>
          <p:cNvSpPr txBox="1"/>
          <p:nvPr/>
        </p:nvSpPr>
        <p:spPr>
          <a:xfrm>
            <a:off x="327600" y="342645"/>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Explanation: </a:t>
            </a:r>
            <a:endParaRPr b="0" i="0" sz="2000" u="none" cap="none" strike="noStrike">
              <a:solidFill>
                <a:schemeClr val="lt1"/>
              </a:solidFill>
              <a:latin typeface="Roboto"/>
              <a:ea typeface="Roboto"/>
              <a:cs typeface="Roboto"/>
              <a:sym typeface="Roboto"/>
            </a:endParaRPr>
          </a:p>
        </p:txBody>
      </p:sp>
      <p:sp>
        <p:nvSpPr>
          <p:cNvPr id="231" name="Google Shape;231;g2ee15abed17_3_403"/>
          <p:cNvSpPr txBox="1"/>
          <p:nvPr/>
        </p:nvSpPr>
        <p:spPr>
          <a:xfrm>
            <a:off x="327600" y="918900"/>
            <a:ext cx="7384200" cy="31563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232" name="Google Shape;232;g2ee15abed17_3_403"/>
          <p:cNvSpPr txBox="1"/>
          <p:nvPr/>
        </p:nvSpPr>
        <p:spPr>
          <a:xfrm>
            <a:off x="630000" y="1250500"/>
            <a:ext cx="6995400" cy="19497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Ram age when he was born = 0 years</a:t>
            </a:r>
            <a:br>
              <a:rPr lang="en-GB" sz="1800">
                <a:solidFill>
                  <a:schemeClr val="dk1"/>
                </a:solidFill>
                <a:latin typeface="Roboto"/>
                <a:ea typeface="Roboto"/>
                <a:cs typeface="Roboto"/>
                <a:sym typeface="Roboto"/>
              </a:rPr>
            </a:br>
            <a:r>
              <a:rPr lang="en-GB" sz="1800">
                <a:solidFill>
                  <a:schemeClr val="dk1"/>
                </a:solidFill>
                <a:latin typeface="Roboto"/>
                <a:ea typeface="Roboto"/>
                <a:cs typeface="Roboto"/>
                <a:sym typeface="Roboto"/>
              </a:rPr>
              <a:t>=&gt; His brother's age = 6 year</a:t>
            </a:r>
            <a:br>
              <a:rPr lang="en-GB" sz="1800">
                <a:solidFill>
                  <a:schemeClr val="dk1"/>
                </a:solidFill>
                <a:latin typeface="Roboto"/>
                <a:ea typeface="Roboto"/>
                <a:cs typeface="Roboto"/>
                <a:sym typeface="Roboto"/>
              </a:rPr>
            </a:br>
            <a:r>
              <a:rPr lang="en-GB" sz="1800">
                <a:solidFill>
                  <a:schemeClr val="dk1"/>
                </a:solidFill>
                <a:latin typeface="Roboto"/>
                <a:ea typeface="Roboto"/>
                <a:cs typeface="Roboto"/>
                <a:sym typeface="Roboto"/>
              </a:rPr>
              <a:t>=&gt; His father's age = brother age + 32 years = 6+32 = 38</a:t>
            </a:r>
            <a:br>
              <a:rPr lang="en-GB" sz="1800">
                <a:solidFill>
                  <a:schemeClr val="dk1"/>
                </a:solidFill>
                <a:latin typeface="Roboto"/>
                <a:ea typeface="Roboto"/>
                <a:cs typeface="Roboto"/>
                <a:sym typeface="Roboto"/>
              </a:rPr>
            </a:br>
            <a:r>
              <a:rPr lang="en-GB" sz="1800">
                <a:solidFill>
                  <a:schemeClr val="dk1"/>
                </a:solidFill>
                <a:latin typeface="Roboto"/>
                <a:ea typeface="Roboto"/>
                <a:cs typeface="Roboto"/>
                <a:sym typeface="Roboto"/>
              </a:rPr>
              <a:t>=&gt; His mother's age = father's age - 3 = 35</a:t>
            </a:r>
            <a:br>
              <a:rPr lang="en-GB" sz="1800">
                <a:solidFill>
                  <a:schemeClr val="dk1"/>
                </a:solidFill>
                <a:latin typeface="Roboto"/>
                <a:ea typeface="Roboto"/>
                <a:cs typeface="Roboto"/>
                <a:sym typeface="Roboto"/>
              </a:rPr>
            </a:br>
            <a:r>
              <a:rPr lang="en-GB" sz="1800">
                <a:solidFill>
                  <a:schemeClr val="dk1"/>
                </a:solidFill>
                <a:latin typeface="Roboto"/>
                <a:ea typeface="Roboto"/>
                <a:cs typeface="Roboto"/>
                <a:sym typeface="Roboto"/>
              </a:rPr>
              <a:t>So sister's age = 35-25 = 10 years.</a:t>
            </a:r>
            <a:endParaRPr sz="1800">
              <a:solidFill>
                <a:schemeClr val="dk1"/>
              </a:solidFill>
              <a:latin typeface="Roboto"/>
              <a:ea typeface="Roboto"/>
              <a:cs typeface="Roboto"/>
              <a:sym typeface="Roboto"/>
            </a:endParaRPr>
          </a:p>
          <a:p>
            <a:pPr indent="0" lvl="0" marL="0" marR="0" rtl="0" algn="l">
              <a:lnSpc>
                <a:spcPct val="100000"/>
              </a:lnSpc>
              <a:spcBef>
                <a:spcPts val="800"/>
              </a:spcBef>
              <a:spcAft>
                <a:spcPts val="0"/>
              </a:spcAft>
              <a:buClr>
                <a:srgbClr val="000000"/>
              </a:buClr>
              <a:buSzPts val="1100"/>
              <a:buFont typeface="Arial"/>
              <a:buNone/>
            </a:pPr>
            <a:r>
              <a:t/>
            </a:r>
            <a:endParaRPr sz="1800">
              <a:solidFill>
                <a:schemeClr val="dk1"/>
              </a:solidFill>
            </a:endParaRPr>
          </a:p>
        </p:txBody>
      </p:sp>
      <p:sp>
        <p:nvSpPr>
          <p:cNvPr id="233" name="Google Shape;233;g2ee15abed17_3_403"/>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11</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g2ee15abed17_3_411"/>
          <p:cNvSpPr txBox="1"/>
          <p:nvPr/>
        </p:nvSpPr>
        <p:spPr>
          <a:xfrm>
            <a:off x="327600" y="35920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08</a:t>
            </a:r>
            <a:endParaRPr b="0" i="0" sz="2000" u="none" cap="none" strike="noStrike">
              <a:solidFill>
                <a:schemeClr val="lt1"/>
              </a:solidFill>
              <a:latin typeface="Roboto"/>
              <a:ea typeface="Roboto"/>
              <a:cs typeface="Roboto"/>
              <a:sym typeface="Roboto"/>
            </a:endParaRPr>
          </a:p>
        </p:txBody>
      </p:sp>
      <p:sp>
        <p:nvSpPr>
          <p:cNvPr id="239" name="Google Shape;239;g2ee15abed17_3_411"/>
          <p:cNvSpPr txBox="1"/>
          <p:nvPr/>
        </p:nvSpPr>
        <p:spPr>
          <a:xfrm>
            <a:off x="720000" y="1439875"/>
            <a:ext cx="7650000" cy="31305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If two times of the daughter’s age in years is included to the mother’s age, the total is 70 and if two times of the mother’s age is included to the daughter’s age, the total is 95. So the Mother’s age is, </a:t>
            </a:r>
            <a:endParaRPr sz="18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t/>
            </a:r>
            <a:endParaRPr sz="18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A] 30 </a:t>
            </a:r>
            <a:endParaRPr sz="18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B] 38</a:t>
            </a:r>
            <a:endParaRPr sz="18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C] 40</a:t>
            </a:r>
            <a:endParaRPr sz="1800">
              <a:solidFill>
                <a:schemeClr val="dk1"/>
              </a:solidFill>
              <a:latin typeface="Roboto"/>
              <a:ea typeface="Roboto"/>
              <a:cs typeface="Roboto"/>
              <a:sym typeface="Roboto"/>
            </a:endParaRPr>
          </a:p>
          <a:p>
            <a:pPr indent="0" lvl="0" marL="0" rtl="0" algn="l">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D] 41</a:t>
            </a:r>
            <a:endParaRPr sz="1800">
              <a:solidFill>
                <a:schemeClr val="dk1"/>
              </a:solidFill>
              <a:latin typeface="Roboto"/>
              <a:ea typeface="Roboto"/>
              <a:cs typeface="Roboto"/>
              <a:sym typeface="Roboto"/>
            </a:endParaRPr>
          </a:p>
          <a:p>
            <a:pPr indent="0" lvl="0" marL="0" marR="0" rtl="0" algn="l">
              <a:lnSpc>
                <a:spcPct val="100000"/>
              </a:lnSpc>
              <a:spcBef>
                <a:spcPts val="800"/>
              </a:spcBef>
              <a:spcAft>
                <a:spcPts val="0"/>
              </a:spcAft>
              <a:buClr>
                <a:srgbClr val="000000"/>
              </a:buClr>
              <a:buSzPts val="1400"/>
              <a:buFont typeface="Arial"/>
              <a:buNone/>
            </a:pPr>
            <a:r>
              <a:t/>
            </a:r>
            <a:endParaRPr sz="1800">
              <a:solidFill>
                <a:schemeClr val="dk1"/>
              </a:solidFill>
            </a:endParaRPr>
          </a:p>
        </p:txBody>
      </p:sp>
      <p:sp>
        <p:nvSpPr>
          <p:cNvPr id="240" name="Google Shape;240;g2ee15abed17_3_411"/>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600" u="none" cap="none" strike="noStrike">
                <a:solidFill>
                  <a:srgbClr val="000000"/>
                </a:solidFill>
                <a:latin typeface="Roboto"/>
                <a:ea typeface="Roboto"/>
                <a:cs typeface="Roboto"/>
                <a:sym typeface="Roboto"/>
              </a:rPr>
              <a:t>Answer: </a:t>
            </a:r>
            <a:r>
              <a:rPr b="1" lang="en-GB" sz="1600">
                <a:latin typeface="Roboto"/>
                <a:ea typeface="Roboto"/>
                <a:cs typeface="Roboto"/>
                <a:sym typeface="Roboto"/>
              </a:rPr>
              <a:t>D</a:t>
            </a:r>
            <a:endParaRPr b="1" i="0" sz="1600" u="none" cap="none" strike="noStrike">
              <a:solidFill>
                <a:srgbClr val="000000"/>
              </a:solidFill>
              <a:latin typeface="Roboto"/>
              <a:ea typeface="Roboto"/>
              <a:cs typeface="Roboto"/>
              <a:sym typeface="Roboto"/>
            </a:endParaRPr>
          </a:p>
        </p:txBody>
      </p:sp>
      <p:sp>
        <p:nvSpPr>
          <p:cNvPr id="241" name="Google Shape;241;g2ee15abed17_3_411"/>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12</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
                                            <p:txEl>
                                              <p:pRg end="0" st="0"/>
                                            </p:txEl>
                                          </p:spTgt>
                                        </p:tgtEl>
                                        <p:attrNameLst>
                                          <p:attrName>style.visibility</p:attrName>
                                        </p:attrNameLst>
                                      </p:cBhvr>
                                      <p:to>
                                        <p:strVal val="visible"/>
                                      </p:to>
                                    </p:set>
                                    <p:animEffect filter="fade" transition="in">
                                      <p:cBhvr>
                                        <p:cTn dur="1000"/>
                                        <p:tgtEl>
                                          <p:spTgt spid="23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
                                            <p:txEl>
                                              <p:pRg end="1" st="1"/>
                                            </p:txEl>
                                          </p:spTgt>
                                        </p:tgtEl>
                                        <p:attrNameLst>
                                          <p:attrName>style.visibility</p:attrName>
                                        </p:attrNameLst>
                                      </p:cBhvr>
                                      <p:to>
                                        <p:strVal val="visible"/>
                                      </p:to>
                                    </p:set>
                                    <p:animEffect filter="fade" transition="in">
                                      <p:cBhvr>
                                        <p:cTn dur="1000"/>
                                        <p:tgtEl>
                                          <p:spTgt spid="23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
                                            <p:txEl>
                                              <p:pRg end="2" st="2"/>
                                            </p:txEl>
                                          </p:spTgt>
                                        </p:tgtEl>
                                        <p:attrNameLst>
                                          <p:attrName>style.visibility</p:attrName>
                                        </p:attrNameLst>
                                      </p:cBhvr>
                                      <p:to>
                                        <p:strVal val="visible"/>
                                      </p:to>
                                    </p:set>
                                    <p:animEffect filter="fade" transition="in">
                                      <p:cBhvr>
                                        <p:cTn dur="1000"/>
                                        <p:tgtEl>
                                          <p:spTgt spid="23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
                                            <p:txEl>
                                              <p:pRg end="3" st="3"/>
                                            </p:txEl>
                                          </p:spTgt>
                                        </p:tgtEl>
                                        <p:attrNameLst>
                                          <p:attrName>style.visibility</p:attrName>
                                        </p:attrNameLst>
                                      </p:cBhvr>
                                      <p:to>
                                        <p:strVal val="visible"/>
                                      </p:to>
                                    </p:set>
                                    <p:animEffect filter="fade" transition="in">
                                      <p:cBhvr>
                                        <p:cTn dur="1000"/>
                                        <p:tgtEl>
                                          <p:spTgt spid="23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
                                            <p:txEl>
                                              <p:pRg end="4" st="4"/>
                                            </p:txEl>
                                          </p:spTgt>
                                        </p:tgtEl>
                                        <p:attrNameLst>
                                          <p:attrName>style.visibility</p:attrName>
                                        </p:attrNameLst>
                                      </p:cBhvr>
                                      <p:to>
                                        <p:strVal val="visible"/>
                                      </p:to>
                                    </p:set>
                                    <p:animEffect filter="fade" transition="in">
                                      <p:cBhvr>
                                        <p:cTn dur="1000"/>
                                        <p:tgtEl>
                                          <p:spTgt spid="23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
                                            <p:txEl>
                                              <p:pRg end="5" st="5"/>
                                            </p:txEl>
                                          </p:spTgt>
                                        </p:tgtEl>
                                        <p:attrNameLst>
                                          <p:attrName>style.visibility</p:attrName>
                                        </p:attrNameLst>
                                      </p:cBhvr>
                                      <p:to>
                                        <p:strVal val="visible"/>
                                      </p:to>
                                    </p:set>
                                    <p:animEffect filter="fade" transition="in">
                                      <p:cBhvr>
                                        <p:cTn dur="1000"/>
                                        <p:tgtEl>
                                          <p:spTgt spid="23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9">
                                            <p:txEl>
                                              <p:pRg end="6" st="6"/>
                                            </p:txEl>
                                          </p:spTgt>
                                        </p:tgtEl>
                                        <p:attrNameLst>
                                          <p:attrName>style.visibility</p:attrName>
                                        </p:attrNameLst>
                                      </p:cBhvr>
                                      <p:to>
                                        <p:strVal val="visible"/>
                                      </p:to>
                                    </p:set>
                                    <p:animEffect filter="fade" transition="in">
                                      <p:cBhvr>
                                        <p:cTn dur="1000"/>
                                        <p:tgtEl>
                                          <p:spTgt spid="23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
                                            <p:txEl>
                                              <p:pRg end="0" st="0"/>
                                            </p:txEl>
                                          </p:spTgt>
                                        </p:tgtEl>
                                        <p:attrNameLst>
                                          <p:attrName>style.visibility</p:attrName>
                                        </p:attrNameLst>
                                      </p:cBhvr>
                                      <p:to>
                                        <p:strVal val="visible"/>
                                      </p:to>
                                    </p:set>
                                    <p:animEffect filter="fade" transition="in">
                                      <p:cBhvr>
                                        <p:cTn dur="1000"/>
                                        <p:tgtEl>
                                          <p:spTgt spid="240">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45" name="Shape 245"/>
        <p:cNvGrpSpPr/>
        <p:nvPr/>
      </p:nvGrpSpPr>
      <p:grpSpPr>
        <a:xfrm>
          <a:off x="0" y="0"/>
          <a:ext cx="0" cy="0"/>
          <a:chOff x="0" y="0"/>
          <a:chExt cx="0" cy="0"/>
        </a:xfrm>
      </p:grpSpPr>
      <p:pic>
        <p:nvPicPr>
          <p:cNvPr id="246" name="Google Shape;246;g2ee15abed17_3_418"/>
          <p:cNvPicPr preferRelativeResize="0"/>
          <p:nvPr/>
        </p:nvPicPr>
        <p:blipFill rotWithShape="1">
          <a:blip r:embed="rId3">
            <a:alphaModFix/>
          </a:blip>
          <a:srcRect b="0" l="0" r="57233" t="0"/>
          <a:stretch/>
        </p:blipFill>
        <p:spPr>
          <a:xfrm>
            <a:off x="8189675" y="233550"/>
            <a:ext cx="724575" cy="766798"/>
          </a:xfrm>
          <a:prstGeom prst="rect">
            <a:avLst/>
          </a:prstGeom>
          <a:noFill/>
          <a:ln>
            <a:noFill/>
          </a:ln>
        </p:spPr>
      </p:pic>
      <p:sp>
        <p:nvSpPr>
          <p:cNvPr id="247" name="Google Shape;247;g2ee15abed17_3_418"/>
          <p:cNvSpPr txBox="1"/>
          <p:nvPr/>
        </p:nvSpPr>
        <p:spPr>
          <a:xfrm>
            <a:off x="327600" y="342645"/>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Explanation: </a:t>
            </a:r>
            <a:endParaRPr b="0" i="0" sz="2000" u="none" cap="none" strike="noStrike">
              <a:solidFill>
                <a:schemeClr val="lt1"/>
              </a:solidFill>
              <a:latin typeface="Roboto"/>
              <a:ea typeface="Roboto"/>
              <a:cs typeface="Roboto"/>
              <a:sym typeface="Roboto"/>
            </a:endParaRPr>
          </a:p>
        </p:txBody>
      </p:sp>
      <p:sp>
        <p:nvSpPr>
          <p:cNvPr id="248" name="Google Shape;248;g2ee15abed17_3_418"/>
          <p:cNvSpPr txBox="1"/>
          <p:nvPr/>
        </p:nvSpPr>
        <p:spPr>
          <a:xfrm>
            <a:off x="327600" y="918900"/>
            <a:ext cx="7384200" cy="31563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249" name="Google Shape;249;g2ee15abed17_3_418"/>
          <p:cNvSpPr txBox="1"/>
          <p:nvPr/>
        </p:nvSpPr>
        <p:spPr>
          <a:xfrm>
            <a:off x="630000" y="1354400"/>
            <a:ext cx="7303500" cy="1831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Let daughter’s age = A and mother’s age = B</a:t>
            </a:r>
            <a:br>
              <a:rPr lang="en-GB" sz="1800">
                <a:solidFill>
                  <a:schemeClr val="dk1"/>
                </a:solidFill>
                <a:latin typeface="Roboto"/>
                <a:ea typeface="Roboto"/>
                <a:cs typeface="Roboto"/>
                <a:sym typeface="Roboto"/>
              </a:rPr>
            </a:br>
            <a:r>
              <a:rPr lang="en-GB" sz="1800">
                <a:solidFill>
                  <a:schemeClr val="dk1"/>
                </a:solidFill>
                <a:latin typeface="Roboto"/>
                <a:ea typeface="Roboto"/>
                <a:cs typeface="Roboto"/>
                <a:sym typeface="Roboto"/>
              </a:rPr>
              <a:t>Given: 2A+B = 70 and A+2B = 95</a:t>
            </a:r>
            <a:br>
              <a:rPr lang="en-GB" sz="1800">
                <a:solidFill>
                  <a:schemeClr val="dk1"/>
                </a:solidFill>
                <a:latin typeface="Roboto"/>
                <a:ea typeface="Roboto"/>
                <a:cs typeface="Roboto"/>
                <a:sym typeface="Roboto"/>
              </a:rPr>
            </a:br>
            <a:r>
              <a:rPr lang="en-GB" sz="1800">
                <a:solidFill>
                  <a:schemeClr val="dk1"/>
                </a:solidFill>
                <a:latin typeface="Roboto"/>
                <a:ea typeface="Roboto"/>
                <a:cs typeface="Roboto"/>
                <a:sym typeface="Roboto"/>
              </a:rPr>
              <a:t>Solving B, we will get B = 40.</a:t>
            </a:r>
            <a:endParaRPr i="0" sz="18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a:ea typeface="Roboto"/>
              <a:cs typeface="Roboto"/>
              <a:sym typeface="Roboto"/>
            </a:endParaRPr>
          </a:p>
        </p:txBody>
      </p:sp>
      <p:sp>
        <p:nvSpPr>
          <p:cNvPr id="250" name="Google Shape;250;g2ee15abed17_3_418"/>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12</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g2ee15abed17_3_426"/>
          <p:cNvSpPr txBox="1"/>
          <p:nvPr/>
        </p:nvSpPr>
        <p:spPr>
          <a:xfrm>
            <a:off x="327600" y="380641"/>
            <a:ext cx="2827800" cy="453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09</a:t>
            </a:r>
            <a:endParaRPr b="0" i="0" sz="2000" u="none" cap="none" strike="noStrike">
              <a:solidFill>
                <a:schemeClr val="lt1"/>
              </a:solidFill>
              <a:latin typeface="Roboto"/>
              <a:ea typeface="Roboto"/>
              <a:cs typeface="Roboto"/>
              <a:sym typeface="Roboto"/>
            </a:endParaRPr>
          </a:p>
        </p:txBody>
      </p:sp>
      <p:sp>
        <p:nvSpPr>
          <p:cNvPr id="256" name="Google Shape;256;g2ee15abed17_3_426"/>
          <p:cNvSpPr txBox="1"/>
          <p:nvPr/>
        </p:nvSpPr>
        <p:spPr>
          <a:xfrm>
            <a:off x="720000" y="1388050"/>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rtl="0" algn="just">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The present average age of a family of five members is 26 years. If the present age of the youngest member in the family is ten years, then what was the average age of the family at the time of the birth of the youngest member ? (Assume no death occurred in the family since the birth of the youngest) </a:t>
            </a:r>
            <a:endParaRPr sz="1800">
              <a:solidFill>
                <a:schemeClr val="dk1"/>
              </a:solidFill>
              <a:latin typeface="Roboto"/>
              <a:ea typeface="Roboto"/>
              <a:cs typeface="Roboto"/>
              <a:sym typeface="Roboto"/>
            </a:endParaRPr>
          </a:p>
          <a:p>
            <a:pPr indent="0" lvl="0" marL="0" rtl="0" algn="just">
              <a:spcBef>
                <a:spcPts val="0"/>
              </a:spcBef>
              <a:spcAft>
                <a:spcPts val="0"/>
              </a:spcAft>
              <a:buClr>
                <a:schemeClr val="dk1"/>
              </a:buClr>
              <a:buSzPts val="1100"/>
              <a:buFont typeface="Arial"/>
              <a:buNone/>
            </a:pPr>
            <a:r>
              <a:t/>
            </a:r>
            <a:endParaRPr sz="1800">
              <a:solidFill>
                <a:schemeClr val="dk1"/>
              </a:solidFill>
              <a:latin typeface="Roboto"/>
              <a:ea typeface="Roboto"/>
              <a:cs typeface="Roboto"/>
              <a:sym typeface="Roboto"/>
            </a:endParaRPr>
          </a:p>
          <a:p>
            <a:pPr indent="0" lvl="0" marL="0" rtl="0" algn="just">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A] 19 years</a:t>
            </a:r>
            <a:endParaRPr sz="1800">
              <a:solidFill>
                <a:schemeClr val="dk1"/>
              </a:solidFill>
              <a:latin typeface="Roboto"/>
              <a:ea typeface="Roboto"/>
              <a:cs typeface="Roboto"/>
              <a:sym typeface="Roboto"/>
            </a:endParaRPr>
          </a:p>
          <a:p>
            <a:pPr indent="0" lvl="0" marL="0" rtl="0" algn="just">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B] 16 years</a:t>
            </a:r>
            <a:endParaRPr sz="1800">
              <a:solidFill>
                <a:schemeClr val="dk1"/>
              </a:solidFill>
              <a:latin typeface="Roboto"/>
              <a:ea typeface="Roboto"/>
              <a:cs typeface="Roboto"/>
              <a:sym typeface="Roboto"/>
            </a:endParaRPr>
          </a:p>
          <a:p>
            <a:pPr indent="0" lvl="0" marL="0" rtl="0" algn="just">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C] 18 years </a:t>
            </a:r>
            <a:endParaRPr sz="1800">
              <a:solidFill>
                <a:schemeClr val="dk1"/>
              </a:solidFill>
              <a:latin typeface="Roboto"/>
              <a:ea typeface="Roboto"/>
              <a:cs typeface="Roboto"/>
              <a:sym typeface="Roboto"/>
            </a:endParaRPr>
          </a:p>
          <a:p>
            <a:pPr indent="0" lvl="0" marL="0" rtl="0" algn="just">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D] 20 years</a:t>
            </a:r>
            <a:endParaRPr sz="1800">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800" u="none" cap="none" strike="noStrike">
              <a:solidFill>
                <a:schemeClr val="dk1"/>
              </a:solidFill>
              <a:latin typeface="Roboto"/>
              <a:ea typeface="Roboto"/>
              <a:cs typeface="Roboto"/>
              <a:sym typeface="Roboto"/>
            </a:endParaRPr>
          </a:p>
        </p:txBody>
      </p:sp>
      <p:sp>
        <p:nvSpPr>
          <p:cNvPr id="257" name="Google Shape;257;g2ee15abed17_3_426"/>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600" u="none" cap="none" strike="noStrike">
                <a:solidFill>
                  <a:srgbClr val="000000"/>
                </a:solidFill>
                <a:latin typeface="Roboto"/>
                <a:ea typeface="Roboto"/>
                <a:cs typeface="Roboto"/>
                <a:sym typeface="Roboto"/>
              </a:rPr>
              <a:t>Answer: </a:t>
            </a:r>
            <a:r>
              <a:rPr b="1" lang="en-GB" sz="1600">
                <a:latin typeface="Roboto"/>
                <a:ea typeface="Roboto"/>
                <a:cs typeface="Roboto"/>
                <a:sym typeface="Roboto"/>
              </a:rPr>
              <a:t>D</a:t>
            </a:r>
            <a:endParaRPr b="1" i="0" sz="1600" u="none" cap="none" strike="noStrike">
              <a:solidFill>
                <a:srgbClr val="000000"/>
              </a:solidFill>
              <a:latin typeface="Roboto"/>
              <a:ea typeface="Roboto"/>
              <a:cs typeface="Roboto"/>
              <a:sym typeface="Roboto"/>
            </a:endParaRPr>
          </a:p>
        </p:txBody>
      </p:sp>
      <p:sp>
        <p:nvSpPr>
          <p:cNvPr id="258" name="Google Shape;258;g2ee15abed17_3_426"/>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13</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0" st="0"/>
                                            </p:txEl>
                                          </p:spTgt>
                                        </p:tgtEl>
                                        <p:attrNameLst>
                                          <p:attrName>style.visibility</p:attrName>
                                        </p:attrNameLst>
                                      </p:cBhvr>
                                      <p:to>
                                        <p:strVal val="visible"/>
                                      </p:to>
                                    </p:set>
                                    <p:animEffect filter="fade" transition="in">
                                      <p:cBhvr>
                                        <p:cTn dur="1000"/>
                                        <p:tgtEl>
                                          <p:spTgt spid="25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1" st="1"/>
                                            </p:txEl>
                                          </p:spTgt>
                                        </p:tgtEl>
                                        <p:attrNameLst>
                                          <p:attrName>style.visibility</p:attrName>
                                        </p:attrNameLst>
                                      </p:cBhvr>
                                      <p:to>
                                        <p:strVal val="visible"/>
                                      </p:to>
                                    </p:set>
                                    <p:animEffect filter="fade" transition="in">
                                      <p:cBhvr>
                                        <p:cTn dur="1000"/>
                                        <p:tgtEl>
                                          <p:spTgt spid="25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2" st="2"/>
                                            </p:txEl>
                                          </p:spTgt>
                                        </p:tgtEl>
                                        <p:attrNameLst>
                                          <p:attrName>style.visibility</p:attrName>
                                        </p:attrNameLst>
                                      </p:cBhvr>
                                      <p:to>
                                        <p:strVal val="visible"/>
                                      </p:to>
                                    </p:set>
                                    <p:animEffect filter="fade" transition="in">
                                      <p:cBhvr>
                                        <p:cTn dur="1000"/>
                                        <p:tgtEl>
                                          <p:spTgt spid="25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3" st="3"/>
                                            </p:txEl>
                                          </p:spTgt>
                                        </p:tgtEl>
                                        <p:attrNameLst>
                                          <p:attrName>style.visibility</p:attrName>
                                        </p:attrNameLst>
                                      </p:cBhvr>
                                      <p:to>
                                        <p:strVal val="visible"/>
                                      </p:to>
                                    </p:set>
                                    <p:animEffect filter="fade" transition="in">
                                      <p:cBhvr>
                                        <p:cTn dur="1000"/>
                                        <p:tgtEl>
                                          <p:spTgt spid="25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4" st="4"/>
                                            </p:txEl>
                                          </p:spTgt>
                                        </p:tgtEl>
                                        <p:attrNameLst>
                                          <p:attrName>style.visibility</p:attrName>
                                        </p:attrNameLst>
                                      </p:cBhvr>
                                      <p:to>
                                        <p:strVal val="visible"/>
                                      </p:to>
                                    </p:set>
                                    <p:animEffect filter="fade" transition="in">
                                      <p:cBhvr>
                                        <p:cTn dur="1000"/>
                                        <p:tgtEl>
                                          <p:spTgt spid="256">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5" st="5"/>
                                            </p:txEl>
                                          </p:spTgt>
                                        </p:tgtEl>
                                        <p:attrNameLst>
                                          <p:attrName>style.visibility</p:attrName>
                                        </p:attrNameLst>
                                      </p:cBhvr>
                                      <p:to>
                                        <p:strVal val="visible"/>
                                      </p:to>
                                    </p:set>
                                    <p:animEffect filter="fade" transition="in">
                                      <p:cBhvr>
                                        <p:cTn dur="1000"/>
                                        <p:tgtEl>
                                          <p:spTgt spid="256">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xEl>
                                              <p:pRg end="6" st="6"/>
                                            </p:txEl>
                                          </p:spTgt>
                                        </p:tgtEl>
                                        <p:attrNameLst>
                                          <p:attrName>style.visibility</p:attrName>
                                        </p:attrNameLst>
                                      </p:cBhvr>
                                      <p:to>
                                        <p:strVal val="visible"/>
                                      </p:to>
                                    </p:set>
                                    <p:animEffect filter="fade" transition="in">
                                      <p:cBhvr>
                                        <p:cTn dur="1000"/>
                                        <p:tgtEl>
                                          <p:spTgt spid="256">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7">
                                            <p:txEl>
                                              <p:pRg end="0" st="0"/>
                                            </p:txEl>
                                          </p:spTgt>
                                        </p:tgtEl>
                                        <p:attrNameLst>
                                          <p:attrName>style.visibility</p:attrName>
                                        </p:attrNameLst>
                                      </p:cBhvr>
                                      <p:to>
                                        <p:strVal val="visible"/>
                                      </p:to>
                                    </p:set>
                                    <p:animEffect filter="fade" transition="in">
                                      <p:cBhvr>
                                        <p:cTn dur="1000"/>
                                        <p:tgtEl>
                                          <p:spTgt spid="257">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62" name="Shape 262"/>
        <p:cNvGrpSpPr/>
        <p:nvPr/>
      </p:nvGrpSpPr>
      <p:grpSpPr>
        <a:xfrm>
          <a:off x="0" y="0"/>
          <a:ext cx="0" cy="0"/>
          <a:chOff x="0" y="0"/>
          <a:chExt cx="0" cy="0"/>
        </a:xfrm>
      </p:grpSpPr>
      <p:sp>
        <p:nvSpPr>
          <p:cNvPr id="263" name="Google Shape;263;g2ee15abed17_3_433"/>
          <p:cNvSpPr txBox="1"/>
          <p:nvPr/>
        </p:nvSpPr>
        <p:spPr>
          <a:xfrm>
            <a:off x="327600" y="380641"/>
            <a:ext cx="2827800" cy="453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09</a:t>
            </a:r>
            <a:endParaRPr b="0" i="0" sz="2000" u="none" cap="none" strike="noStrike">
              <a:solidFill>
                <a:schemeClr val="lt1"/>
              </a:solidFill>
              <a:latin typeface="Roboto"/>
              <a:ea typeface="Roboto"/>
              <a:cs typeface="Roboto"/>
              <a:sym typeface="Roboto"/>
            </a:endParaRPr>
          </a:p>
        </p:txBody>
      </p:sp>
      <p:sp>
        <p:nvSpPr>
          <p:cNvPr id="264" name="Google Shape;264;g2ee15abed17_3_433"/>
          <p:cNvSpPr txBox="1"/>
          <p:nvPr/>
        </p:nvSpPr>
        <p:spPr>
          <a:xfrm>
            <a:off x="720000" y="1440000"/>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rtl="0" algn="just">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Present total age of the members = 26(5) = 130 years.</a:t>
            </a:r>
            <a:endParaRPr sz="1800">
              <a:solidFill>
                <a:schemeClr val="dk1"/>
              </a:solidFill>
              <a:latin typeface="Roboto"/>
              <a:ea typeface="Roboto"/>
              <a:cs typeface="Roboto"/>
              <a:sym typeface="Roboto"/>
            </a:endParaRPr>
          </a:p>
          <a:p>
            <a:pPr indent="0" lvl="0" marL="0" rtl="0" algn="just">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 </a:t>
            </a:r>
            <a:endParaRPr sz="1800">
              <a:solidFill>
                <a:schemeClr val="dk1"/>
              </a:solidFill>
              <a:latin typeface="Roboto"/>
              <a:ea typeface="Roboto"/>
              <a:cs typeface="Roboto"/>
              <a:sym typeface="Roboto"/>
            </a:endParaRPr>
          </a:p>
          <a:p>
            <a:pPr indent="0" lvl="0" marL="0" rtl="0" algn="just">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Present age of the youngest member = 10 years</a:t>
            </a:r>
            <a:endParaRPr sz="1800">
              <a:solidFill>
                <a:schemeClr val="dk1"/>
              </a:solidFill>
              <a:latin typeface="Roboto"/>
              <a:ea typeface="Roboto"/>
              <a:cs typeface="Roboto"/>
              <a:sym typeface="Roboto"/>
            </a:endParaRPr>
          </a:p>
          <a:p>
            <a:pPr indent="0" lvl="0" marL="0" rtl="0" algn="just">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 </a:t>
            </a:r>
            <a:endParaRPr sz="1800">
              <a:solidFill>
                <a:schemeClr val="dk1"/>
              </a:solidFill>
              <a:latin typeface="Roboto"/>
              <a:ea typeface="Roboto"/>
              <a:cs typeface="Roboto"/>
              <a:sym typeface="Roboto"/>
            </a:endParaRPr>
          </a:p>
          <a:p>
            <a:pPr indent="0" lvl="0" marL="0" rtl="0" algn="just">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Present total age of the remaining four members = 130 -10 = 120 years</a:t>
            </a:r>
            <a:endParaRPr sz="1800">
              <a:solidFill>
                <a:schemeClr val="dk1"/>
              </a:solidFill>
              <a:latin typeface="Roboto"/>
              <a:ea typeface="Roboto"/>
              <a:cs typeface="Roboto"/>
              <a:sym typeface="Roboto"/>
            </a:endParaRPr>
          </a:p>
          <a:p>
            <a:pPr indent="0" lvl="0" marL="0" rtl="0" algn="just">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 </a:t>
            </a:r>
            <a:endParaRPr sz="1800">
              <a:solidFill>
                <a:schemeClr val="dk1"/>
              </a:solidFill>
              <a:latin typeface="Roboto"/>
              <a:ea typeface="Roboto"/>
              <a:cs typeface="Roboto"/>
              <a:sym typeface="Roboto"/>
            </a:endParaRPr>
          </a:p>
          <a:p>
            <a:pPr indent="0" lvl="0" marL="0" rtl="0" algn="just">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Their average age at the time of the birth of the youngest member =</a:t>
            </a:r>
            <a:endParaRPr sz="1800">
              <a:solidFill>
                <a:schemeClr val="dk1"/>
              </a:solidFill>
              <a:latin typeface="Roboto"/>
              <a:ea typeface="Roboto"/>
              <a:cs typeface="Roboto"/>
              <a:sym typeface="Roboto"/>
            </a:endParaRPr>
          </a:p>
          <a:p>
            <a:pPr indent="0" lvl="0" marL="0" rtl="0" algn="just">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 [(120-(4*10)]/4 = 30-10🡺 20 years</a:t>
            </a:r>
            <a:endParaRPr sz="1800">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400" u="none" cap="none" strike="noStrike">
              <a:solidFill>
                <a:srgbClr val="000000"/>
              </a:solidFill>
              <a:latin typeface="Roboto"/>
              <a:ea typeface="Roboto"/>
              <a:cs typeface="Roboto"/>
              <a:sym typeface="Roboto"/>
            </a:endParaRPr>
          </a:p>
        </p:txBody>
      </p:sp>
      <p:sp>
        <p:nvSpPr>
          <p:cNvPr id="265" name="Google Shape;265;g2ee15abed17_3_433"/>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13</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
                                            <p:txEl>
                                              <p:pRg end="0" st="0"/>
                                            </p:txEl>
                                          </p:spTgt>
                                        </p:tgtEl>
                                        <p:attrNameLst>
                                          <p:attrName>style.visibility</p:attrName>
                                        </p:attrNameLst>
                                      </p:cBhvr>
                                      <p:to>
                                        <p:strVal val="visible"/>
                                      </p:to>
                                    </p:set>
                                    <p:animEffect filter="fade" transition="in">
                                      <p:cBhvr>
                                        <p:cTn dur="1000"/>
                                        <p:tgtEl>
                                          <p:spTgt spid="26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
                                            <p:txEl>
                                              <p:pRg end="1" st="1"/>
                                            </p:txEl>
                                          </p:spTgt>
                                        </p:tgtEl>
                                        <p:attrNameLst>
                                          <p:attrName>style.visibility</p:attrName>
                                        </p:attrNameLst>
                                      </p:cBhvr>
                                      <p:to>
                                        <p:strVal val="visible"/>
                                      </p:to>
                                    </p:set>
                                    <p:animEffect filter="fade" transition="in">
                                      <p:cBhvr>
                                        <p:cTn dur="1000"/>
                                        <p:tgtEl>
                                          <p:spTgt spid="26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
                                            <p:txEl>
                                              <p:pRg end="2" st="2"/>
                                            </p:txEl>
                                          </p:spTgt>
                                        </p:tgtEl>
                                        <p:attrNameLst>
                                          <p:attrName>style.visibility</p:attrName>
                                        </p:attrNameLst>
                                      </p:cBhvr>
                                      <p:to>
                                        <p:strVal val="visible"/>
                                      </p:to>
                                    </p:set>
                                    <p:animEffect filter="fade" transition="in">
                                      <p:cBhvr>
                                        <p:cTn dur="1000"/>
                                        <p:tgtEl>
                                          <p:spTgt spid="26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
                                            <p:txEl>
                                              <p:pRg end="3" st="3"/>
                                            </p:txEl>
                                          </p:spTgt>
                                        </p:tgtEl>
                                        <p:attrNameLst>
                                          <p:attrName>style.visibility</p:attrName>
                                        </p:attrNameLst>
                                      </p:cBhvr>
                                      <p:to>
                                        <p:strVal val="visible"/>
                                      </p:to>
                                    </p:set>
                                    <p:animEffect filter="fade" transition="in">
                                      <p:cBhvr>
                                        <p:cTn dur="1000"/>
                                        <p:tgtEl>
                                          <p:spTgt spid="26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
                                            <p:txEl>
                                              <p:pRg end="4" st="4"/>
                                            </p:txEl>
                                          </p:spTgt>
                                        </p:tgtEl>
                                        <p:attrNameLst>
                                          <p:attrName>style.visibility</p:attrName>
                                        </p:attrNameLst>
                                      </p:cBhvr>
                                      <p:to>
                                        <p:strVal val="visible"/>
                                      </p:to>
                                    </p:set>
                                    <p:animEffect filter="fade" transition="in">
                                      <p:cBhvr>
                                        <p:cTn dur="1000"/>
                                        <p:tgtEl>
                                          <p:spTgt spid="26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
                                            <p:txEl>
                                              <p:pRg end="5" st="5"/>
                                            </p:txEl>
                                          </p:spTgt>
                                        </p:tgtEl>
                                        <p:attrNameLst>
                                          <p:attrName>style.visibility</p:attrName>
                                        </p:attrNameLst>
                                      </p:cBhvr>
                                      <p:to>
                                        <p:strVal val="visible"/>
                                      </p:to>
                                    </p:set>
                                    <p:animEffect filter="fade" transition="in">
                                      <p:cBhvr>
                                        <p:cTn dur="1000"/>
                                        <p:tgtEl>
                                          <p:spTgt spid="26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
                                            <p:txEl>
                                              <p:pRg end="6" st="6"/>
                                            </p:txEl>
                                          </p:spTgt>
                                        </p:tgtEl>
                                        <p:attrNameLst>
                                          <p:attrName>style.visibility</p:attrName>
                                        </p:attrNameLst>
                                      </p:cBhvr>
                                      <p:to>
                                        <p:strVal val="visible"/>
                                      </p:to>
                                    </p:set>
                                    <p:animEffect filter="fade" transition="in">
                                      <p:cBhvr>
                                        <p:cTn dur="1000"/>
                                        <p:tgtEl>
                                          <p:spTgt spid="26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
                                            <p:txEl>
                                              <p:pRg end="7" st="7"/>
                                            </p:txEl>
                                          </p:spTgt>
                                        </p:tgtEl>
                                        <p:attrNameLst>
                                          <p:attrName>style.visibility</p:attrName>
                                        </p:attrNameLst>
                                      </p:cBhvr>
                                      <p:to>
                                        <p:strVal val="visible"/>
                                      </p:to>
                                    </p:set>
                                    <p:animEffect filter="fade" transition="in">
                                      <p:cBhvr>
                                        <p:cTn dur="1000"/>
                                        <p:tgtEl>
                                          <p:spTgt spid="264">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
                                            <p:txEl>
                                              <p:pRg end="8" st="8"/>
                                            </p:txEl>
                                          </p:spTgt>
                                        </p:tgtEl>
                                        <p:attrNameLst>
                                          <p:attrName>style.visibility</p:attrName>
                                        </p:attrNameLst>
                                      </p:cBhvr>
                                      <p:to>
                                        <p:strVal val="visible"/>
                                      </p:to>
                                    </p:set>
                                    <p:animEffect filter="fade" transition="in">
                                      <p:cBhvr>
                                        <p:cTn dur="1000"/>
                                        <p:tgtEl>
                                          <p:spTgt spid="264">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
                                            <p:txEl>
                                              <p:pRg end="9" st="9"/>
                                            </p:txEl>
                                          </p:spTgt>
                                        </p:tgtEl>
                                        <p:attrNameLst>
                                          <p:attrName>style.visibility</p:attrName>
                                        </p:attrNameLst>
                                      </p:cBhvr>
                                      <p:to>
                                        <p:strVal val="visible"/>
                                      </p:to>
                                    </p:set>
                                    <p:animEffect filter="fade" transition="in">
                                      <p:cBhvr>
                                        <p:cTn dur="1000"/>
                                        <p:tgtEl>
                                          <p:spTgt spid="264">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g2ee15abed17_3_440"/>
          <p:cNvSpPr txBox="1"/>
          <p:nvPr/>
        </p:nvSpPr>
        <p:spPr>
          <a:xfrm>
            <a:off x="720000" y="1440004"/>
            <a:ext cx="7384200" cy="25989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rtl="0" algn="just">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Ratio of the ages of Mahesh and Nilesh is 5 : x. Mahesh is 18 years younger to Ramesh. After nine years Ramesh will be 47 years old. If the difference between the ages of Mahesh and Nilesh is same as the age of Ramesh, what is the value of x ? </a:t>
            </a:r>
            <a:endParaRPr sz="1800">
              <a:solidFill>
                <a:schemeClr val="dk1"/>
              </a:solidFill>
              <a:latin typeface="Roboto"/>
              <a:ea typeface="Roboto"/>
              <a:cs typeface="Roboto"/>
              <a:sym typeface="Roboto"/>
            </a:endParaRPr>
          </a:p>
          <a:p>
            <a:pPr indent="0" lvl="0" marL="0" rtl="0" algn="just">
              <a:spcBef>
                <a:spcPts val="0"/>
              </a:spcBef>
              <a:spcAft>
                <a:spcPts val="0"/>
              </a:spcAft>
              <a:buClr>
                <a:schemeClr val="dk1"/>
              </a:buClr>
              <a:buSzPts val="1100"/>
              <a:buFont typeface="Arial"/>
              <a:buNone/>
            </a:pPr>
            <a:r>
              <a:t/>
            </a:r>
            <a:endParaRPr sz="1800">
              <a:solidFill>
                <a:schemeClr val="dk1"/>
              </a:solidFill>
              <a:latin typeface="Roboto"/>
              <a:ea typeface="Roboto"/>
              <a:cs typeface="Roboto"/>
              <a:sym typeface="Roboto"/>
            </a:endParaRPr>
          </a:p>
          <a:p>
            <a:pPr indent="0" lvl="0" marL="0" rtl="0" algn="just">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A] 11.8 </a:t>
            </a:r>
            <a:endParaRPr sz="1800">
              <a:solidFill>
                <a:schemeClr val="dk1"/>
              </a:solidFill>
              <a:latin typeface="Roboto"/>
              <a:ea typeface="Roboto"/>
              <a:cs typeface="Roboto"/>
              <a:sym typeface="Roboto"/>
            </a:endParaRPr>
          </a:p>
          <a:p>
            <a:pPr indent="0" lvl="0" marL="0" rtl="0" algn="just">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B] 12.9 </a:t>
            </a:r>
            <a:endParaRPr sz="1800">
              <a:solidFill>
                <a:schemeClr val="dk1"/>
              </a:solidFill>
              <a:latin typeface="Roboto"/>
              <a:ea typeface="Roboto"/>
              <a:cs typeface="Roboto"/>
              <a:sym typeface="Roboto"/>
            </a:endParaRPr>
          </a:p>
          <a:p>
            <a:pPr indent="0" lvl="0" marL="0" rtl="0" algn="just">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C] 13.7</a:t>
            </a:r>
            <a:endParaRPr sz="1800">
              <a:solidFill>
                <a:schemeClr val="dk1"/>
              </a:solidFill>
              <a:latin typeface="Roboto"/>
              <a:ea typeface="Roboto"/>
              <a:cs typeface="Roboto"/>
              <a:sym typeface="Roboto"/>
            </a:endParaRPr>
          </a:p>
          <a:p>
            <a:pPr indent="0" lvl="0" marL="0" rtl="0" algn="just">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D] 14.5</a:t>
            </a:r>
            <a:endParaRPr sz="1800">
              <a:solidFill>
                <a:schemeClr val="dk1"/>
              </a:solidFill>
              <a:latin typeface="Roboto"/>
              <a:ea typeface="Roboto"/>
              <a:cs typeface="Roboto"/>
              <a:sym typeface="Roboto"/>
            </a:endParaRPr>
          </a:p>
          <a:p>
            <a:pPr indent="0" lvl="0" marL="0" marR="0" rtl="0" algn="just">
              <a:lnSpc>
                <a:spcPct val="15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600"/>
              <a:buFont typeface="Arial"/>
              <a:buNone/>
            </a:pPr>
            <a:r>
              <a:t/>
            </a:r>
            <a:endParaRPr b="0" i="0" sz="1600" u="none" cap="none" strike="noStrike">
              <a:solidFill>
                <a:srgbClr val="000000"/>
              </a:solidFill>
              <a:latin typeface="Roboto"/>
              <a:ea typeface="Roboto"/>
              <a:cs typeface="Roboto"/>
              <a:sym typeface="Roboto"/>
            </a:endParaRPr>
          </a:p>
          <a:p>
            <a:pPr indent="0" lvl="0" marL="0" marR="0" rtl="0" algn="l">
              <a:lnSpc>
                <a:spcPct val="100000"/>
              </a:lnSpc>
              <a:spcBef>
                <a:spcPts val="800"/>
              </a:spcBef>
              <a:spcAft>
                <a:spcPts val="800"/>
              </a:spcAft>
              <a:buClr>
                <a:srgbClr val="000000"/>
              </a:buClr>
              <a:buSzPts val="1200"/>
              <a:buFont typeface="Arial"/>
              <a:buNone/>
            </a:pPr>
            <a:r>
              <a:t/>
            </a:r>
            <a:endParaRPr b="0" i="0" sz="1600" u="none" cap="none" strike="noStrike">
              <a:solidFill>
                <a:srgbClr val="666666"/>
              </a:solidFill>
              <a:highlight>
                <a:srgbClr val="F8F8F8"/>
              </a:highlight>
              <a:latin typeface="Roboto"/>
              <a:ea typeface="Roboto"/>
              <a:cs typeface="Roboto"/>
              <a:sym typeface="Roboto"/>
            </a:endParaRPr>
          </a:p>
        </p:txBody>
      </p:sp>
      <p:sp>
        <p:nvSpPr>
          <p:cNvPr id="271" name="Google Shape;271;g2ee15abed17_3_440"/>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600" u="none" cap="none" strike="noStrike">
                <a:solidFill>
                  <a:srgbClr val="000000"/>
                </a:solidFill>
                <a:latin typeface="Roboto"/>
                <a:ea typeface="Roboto"/>
                <a:cs typeface="Roboto"/>
                <a:sym typeface="Roboto"/>
              </a:rPr>
              <a:t>Answer: D </a:t>
            </a:r>
            <a:endParaRPr b="1" i="0" sz="1600" u="none" cap="none" strike="noStrike">
              <a:solidFill>
                <a:srgbClr val="000000"/>
              </a:solidFill>
              <a:latin typeface="Roboto"/>
              <a:ea typeface="Roboto"/>
              <a:cs typeface="Roboto"/>
              <a:sym typeface="Roboto"/>
            </a:endParaRPr>
          </a:p>
        </p:txBody>
      </p:sp>
      <p:sp>
        <p:nvSpPr>
          <p:cNvPr id="272" name="Google Shape;272;g2ee15abed17_3_440"/>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14</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0">
                                            <p:txEl>
                                              <p:pRg end="0" st="0"/>
                                            </p:txEl>
                                          </p:spTgt>
                                        </p:tgtEl>
                                        <p:attrNameLst>
                                          <p:attrName>style.visibility</p:attrName>
                                        </p:attrNameLst>
                                      </p:cBhvr>
                                      <p:to>
                                        <p:strVal val="visible"/>
                                      </p:to>
                                    </p:set>
                                    <p:animEffect filter="fade" transition="in">
                                      <p:cBhvr>
                                        <p:cTn dur="1000"/>
                                        <p:tgtEl>
                                          <p:spTgt spid="27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0">
                                            <p:txEl>
                                              <p:pRg end="1" st="1"/>
                                            </p:txEl>
                                          </p:spTgt>
                                        </p:tgtEl>
                                        <p:attrNameLst>
                                          <p:attrName>style.visibility</p:attrName>
                                        </p:attrNameLst>
                                      </p:cBhvr>
                                      <p:to>
                                        <p:strVal val="visible"/>
                                      </p:to>
                                    </p:set>
                                    <p:animEffect filter="fade" transition="in">
                                      <p:cBhvr>
                                        <p:cTn dur="1000"/>
                                        <p:tgtEl>
                                          <p:spTgt spid="27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0">
                                            <p:txEl>
                                              <p:pRg end="2" st="2"/>
                                            </p:txEl>
                                          </p:spTgt>
                                        </p:tgtEl>
                                        <p:attrNameLst>
                                          <p:attrName>style.visibility</p:attrName>
                                        </p:attrNameLst>
                                      </p:cBhvr>
                                      <p:to>
                                        <p:strVal val="visible"/>
                                      </p:to>
                                    </p:set>
                                    <p:animEffect filter="fade" transition="in">
                                      <p:cBhvr>
                                        <p:cTn dur="1000"/>
                                        <p:tgtEl>
                                          <p:spTgt spid="27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0">
                                            <p:txEl>
                                              <p:pRg end="3" st="3"/>
                                            </p:txEl>
                                          </p:spTgt>
                                        </p:tgtEl>
                                        <p:attrNameLst>
                                          <p:attrName>style.visibility</p:attrName>
                                        </p:attrNameLst>
                                      </p:cBhvr>
                                      <p:to>
                                        <p:strVal val="visible"/>
                                      </p:to>
                                    </p:set>
                                    <p:animEffect filter="fade" transition="in">
                                      <p:cBhvr>
                                        <p:cTn dur="1000"/>
                                        <p:tgtEl>
                                          <p:spTgt spid="27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0">
                                            <p:txEl>
                                              <p:pRg end="4" st="4"/>
                                            </p:txEl>
                                          </p:spTgt>
                                        </p:tgtEl>
                                        <p:attrNameLst>
                                          <p:attrName>style.visibility</p:attrName>
                                        </p:attrNameLst>
                                      </p:cBhvr>
                                      <p:to>
                                        <p:strVal val="visible"/>
                                      </p:to>
                                    </p:set>
                                    <p:animEffect filter="fade" transition="in">
                                      <p:cBhvr>
                                        <p:cTn dur="1000"/>
                                        <p:tgtEl>
                                          <p:spTgt spid="270">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0">
                                            <p:txEl>
                                              <p:pRg end="5" st="5"/>
                                            </p:txEl>
                                          </p:spTgt>
                                        </p:tgtEl>
                                        <p:attrNameLst>
                                          <p:attrName>style.visibility</p:attrName>
                                        </p:attrNameLst>
                                      </p:cBhvr>
                                      <p:to>
                                        <p:strVal val="visible"/>
                                      </p:to>
                                    </p:set>
                                    <p:animEffect filter="fade" transition="in">
                                      <p:cBhvr>
                                        <p:cTn dur="1000"/>
                                        <p:tgtEl>
                                          <p:spTgt spid="270">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0">
                                            <p:txEl>
                                              <p:pRg end="6" st="6"/>
                                            </p:txEl>
                                          </p:spTgt>
                                        </p:tgtEl>
                                        <p:attrNameLst>
                                          <p:attrName>style.visibility</p:attrName>
                                        </p:attrNameLst>
                                      </p:cBhvr>
                                      <p:to>
                                        <p:strVal val="visible"/>
                                      </p:to>
                                    </p:set>
                                    <p:animEffect filter="fade" transition="in">
                                      <p:cBhvr>
                                        <p:cTn dur="1000"/>
                                        <p:tgtEl>
                                          <p:spTgt spid="270">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0">
                                            <p:txEl>
                                              <p:pRg end="7" st="7"/>
                                            </p:txEl>
                                          </p:spTgt>
                                        </p:tgtEl>
                                        <p:attrNameLst>
                                          <p:attrName>style.visibility</p:attrName>
                                        </p:attrNameLst>
                                      </p:cBhvr>
                                      <p:to>
                                        <p:strVal val="visible"/>
                                      </p:to>
                                    </p:set>
                                    <p:animEffect filter="fade" transition="in">
                                      <p:cBhvr>
                                        <p:cTn dur="1000"/>
                                        <p:tgtEl>
                                          <p:spTgt spid="270">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0">
                                            <p:txEl>
                                              <p:pRg end="8" st="8"/>
                                            </p:txEl>
                                          </p:spTgt>
                                        </p:tgtEl>
                                        <p:attrNameLst>
                                          <p:attrName>style.visibility</p:attrName>
                                        </p:attrNameLst>
                                      </p:cBhvr>
                                      <p:to>
                                        <p:strVal val="visible"/>
                                      </p:to>
                                    </p:set>
                                    <p:animEffect filter="fade" transition="in">
                                      <p:cBhvr>
                                        <p:cTn dur="1000"/>
                                        <p:tgtEl>
                                          <p:spTgt spid="270">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xEl>
                                              <p:pRg end="0" st="0"/>
                                            </p:txEl>
                                          </p:spTgt>
                                        </p:tgtEl>
                                        <p:attrNameLst>
                                          <p:attrName>style.visibility</p:attrName>
                                        </p:attrNameLst>
                                      </p:cBhvr>
                                      <p:to>
                                        <p:strVal val="visible"/>
                                      </p:to>
                                    </p:set>
                                    <p:animEffect filter="fade" transition="in">
                                      <p:cBhvr>
                                        <p:cTn dur="1000"/>
                                        <p:tgtEl>
                                          <p:spTgt spid="271">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76" name="Shape 276"/>
        <p:cNvGrpSpPr/>
        <p:nvPr/>
      </p:nvGrpSpPr>
      <p:grpSpPr>
        <a:xfrm>
          <a:off x="0" y="0"/>
          <a:ext cx="0" cy="0"/>
          <a:chOff x="0" y="0"/>
          <a:chExt cx="0" cy="0"/>
        </a:xfrm>
      </p:grpSpPr>
      <p:pic>
        <p:nvPicPr>
          <p:cNvPr id="277" name="Google Shape;277;g2ee15abed17_3_447"/>
          <p:cNvPicPr preferRelativeResize="0"/>
          <p:nvPr/>
        </p:nvPicPr>
        <p:blipFill rotWithShape="1">
          <a:blip r:embed="rId3">
            <a:alphaModFix/>
          </a:blip>
          <a:srcRect b="0" l="0" r="57233" t="0"/>
          <a:stretch/>
        </p:blipFill>
        <p:spPr>
          <a:xfrm>
            <a:off x="8189675" y="233550"/>
            <a:ext cx="724575" cy="766798"/>
          </a:xfrm>
          <a:prstGeom prst="rect">
            <a:avLst/>
          </a:prstGeom>
          <a:noFill/>
          <a:ln>
            <a:noFill/>
          </a:ln>
        </p:spPr>
      </p:pic>
      <p:sp>
        <p:nvSpPr>
          <p:cNvPr id="278" name="Google Shape;278;g2ee15abed17_3_447"/>
          <p:cNvSpPr txBox="1"/>
          <p:nvPr/>
        </p:nvSpPr>
        <p:spPr>
          <a:xfrm>
            <a:off x="327600" y="342645"/>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Explanation: </a:t>
            </a:r>
            <a:endParaRPr b="0" i="0" sz="2000" u="none" cap="none" strike="noStrike">
              <a:solidFill>
                <a:schemeClr val="lt1"/>
              </a:solidFill>
              <a:latin typeface="Roboto"/>
              <a:ea typeface="Roboto"/>
              <a:cs typeface="Roboto"/>
              <a:sym typeface="Roboto"/>
            </a:endParaRPr>
          </a:p>
        </p:txBody>
      </p:sp>
      <p:sp>
        <p:nvSpPr>
          <p:cNvPr id="279" name="Google Shape;279;g2ee15abed17_3_447"/>
          <p:cNvSpPr txBox="1"/>
          <p:nvPr/>
        </p:nvSpPr>
        <p:spPr>
          <a:xfrm>
            <a:off x="327600" y="1071300"/>
            <a:ext cx="7384200" cy="31563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
        <p:nvSpPr>
          <p:cNvPr id="280" name="Google Shape;280;g2ee15abed17_3_447"/>
          <p:cNvSpPr txBox="1"/>
          <p:nvPr/>
        </p:nvSpPr>
        <p:spPr>
          <a:xfrm>
            <a:off x="630000" y="1337100"/>
            <a:ext cx="6974400" cy="36327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Let the present ages of Mahesh, Nilesh and Ramesh be k, l and m respectively.</a:t>
            </a:r>
            <a:br>
              <a:rPr lang="en-GB" sz="1800">
                <a:solidFill>
                  <a:schemeClr val="dk1"/>
                </a:solidFill>
                <a:latin typeface="Roboto"/>
                <a:ea typeface="Roboto"/>
                <a:cs typeface="Roboto"/>
                <a:sym typeface="Roboto"/>
              </a:rPr>
            </a:br>
            <a:r>
              <a:rPr lang="en-GB" sz="1800">
                <a:solidFill>
                  <a:schemeClr val="dk1"/>
                </a:solidFill>
                <a:latin typeface="Roboto"/>
                <a:ea typeface="Roboto"/>
                <a:cs typeface="Roboto"/>
                <a:sym typeface="Roboto"/>
              </a:rPr>
              <a:t>k/l = 5/x ------ (1)</a:t>
            </a:r>
            <a:br>
              <a:rPr lang="en-GB" sz="1800">
                <a:solidFill>
                  <a:schemeClr val="dk1"/>
                </a:solidFill>
                <a:latin typeface="Roboto"/>
                <a:ea typeface="Roboto"/>
                <a:cs typeface="Roboto"/>
                <a:sym typeface="Roboto"/>
              </a:rPr>
            </a:br>
            <a:r>
              <a:rPr lang="en-GB" sz="1800">
                <a:solidFill>
                  <a:schemeClr val="dk1"/>
                </a:solidFill>
                <a:latin typeface="Roboto"/>
                <a:ea typeface="Roboto"/>
                <a:cs typeface="Roboto"/>
                <a:sym typeface="Roboto"/>
              </a:rPr>
              <a:t>k = m - 18 ------ (2)</a:t>
            </a:r>
            <a:br>
              <a:rPr lang="en-GB" sz="1800">
                <a:solidFill>
                  <a:schemeClr val="dk1"/>
                </a:solidFill>
                <a:latin typeface="Roboto"/>
                <a:ea typeface="Roboto"/>
                <a:cs typeface="Roboto"/>
                <a:sym typeface="Roboto"/>
              </a:rPr>
            </a:br>
            <a:r>
              <a:rPr lang="en-GB" sz="1800">
                <a:solidFill>
                  <a:schemeClr val="dk1"/>
                </a:solidFill>
                <a:latin typeface="Roboto"/>
                <a:ea typeface="Roboto"/>
                <a:cs typeface="Roboto"/>
                <a:sym typeface="Roboto"/>
              </a:rPr>
              <a:t>m + 9 = 47 ------ (3)</a:t>
            </a:r>
            <a:br>
              <a:rPr lang="en-GB" sz="1800">
                <a:solidFill>
                  <a:schemeClr val="dk1"/>
                </a:solidFill>
                <a:latin typeface="Roboto"/>
                <a:ea typeface="Roboto"/>
                <a:cs typeface="Roboto"/>
                <a:sym typeface="Roboto"/>
              </a:rPr>
            </a:br>
            <a:r>
              <a:rPr lang="en-GB" sz="1800">
                <a:solidFill>
                  <a:schemeClr val="dk1"/>
                </a:solidFill>
                <a:latin typeface="Roboto"/>
                <a:ea typeface="Roboto"/>
                <a:cs typeface="Roboto"/>
                <a:sym typeface="Roboto"/>
              </a:rPr>
              <a:t>k - l = m ----- (4)</a:t>
            </a:r>
            <a:br>
              <a:rPr lang="en-GB" sz="1800">
                <a:solidFill>
                  <a:schemeClr val="dk1"/>
                </a:solidFill>
                <a:latin typeface="Roboto"/>
                <a:ea typeface="Roboto"/>
                <a:cs typeface="Roboto"/>
                <a:sym typeface="Roboto"/>
              </a:rPr>
            </a:br>
            <a:r>
              <a:rPr lang="en-GB" sz="1800">
                <a:solidFill>
                  <a:schemeClr val="dk1"/>
                </a:solidFill>
                <a:latin typeface="Roboto"/>
                <a:ea typeface="Roboto"/>
                <a:cs typeface="Roboto"/>
                <a:sym typeface="Roboto"/>
              </a:rPr>
              <a:t>(3) =&gt; m = 47 - 9 = 38 years</a:t>
            </a:r>
            <a:br>
              <a:rPr lang="en-GB" sz="1800">
                <a:solidFill>
                  <a:schemeClr val="dk1"/>
                </a:solidFill>
                <a:latin typeface="Roboto"/>
                <a:ea typeface="Roboto"/>
                <a:cs typeface="Roboto"/>
                <a:sym typeface="Roboto"/>
              </a:rPr>
            </a:br>
            <a:r>
              <a:rPr lang="en-GB" sz="1800">
                <a:solidFill>
                  <a:schemeClr val="dk1"/>
                </a:solidFill>
                <a:latin typeface="Roboto"/>
                <a:ea typeface="Roboto"/>
                <a:cs typeface="Roboto"/>
                <a:sym typeface="Roboto"/>
              </a:rPr>
              <a:t>(2) =&gt; k = 38 -18 = 20 years</a:t>
            </a:r>
            <a:br>
              <a:rPr lang="en-GB" sz="1800">
                <a:solidFill>
                  <a:schemeClr val="dk1"/>
                </a:solidFill>
                <a:latin typeface="Roboto"/>
                <a:ea typeface="Roboto"/>
                <a:cs typeface="Roboto"/>
                <a:sym typeface="Roboto"/>
              </a:rPr>
            </a:br>
            <a:r>
              <a:rPr lang="en-GB" sz="1800">
                <a:solidFill>
                  <a:schemeClr val="dk1"/>
                </a:solidFill>
                <a:latin typeface="Roboto"/>
                <a:ea typeface="Roboto"/>
                <a:cs typeface="Roboto"/>
                <a:sym typeface="Roboto"/>
              </a:rPr>
              <a:t>(1) =&gt; 20/l = 5/x =&gt; l = 4x</a:t>
            </a:r>
            <a:br>
              <a:rPr lang="en-GB" sz="1800">
                <a:solidFill>
                  <a:schemeClr val="dk1"/>
                </a:solidFill>
                <a:latin typeface="Roboto"/>
                <a:ea typeface="Roboto"/>
                <a:cs typeface="Roboto"/>
                <a:sym typeface="Roboto"/>
              </a:rPr>
            </a:br>
            <a:r>
              <a:rPr lang="en-GB" sz="1800">
                <a:solidFill>
                  <a:schemeClr val="dk1"/>
                </a:solidFill>
                <a:latin typeface="Roboto"/>
                <a:ea typeface="Roboto"/>
                <a:cs typeface="Roboto"/>
                <a:sym typeface="Roboto"/>
              </a:rPr>
              <a:t>(4) =&gt; 4x - 20 = 38</a:t>
            </a:r>
            <a:br>
              <a:rPr lang="en-GB" sz="1800">
                <a:solidFill>
                  <a:schemeClr val="dk1"/>
                </a:solidFill>
                <a:latin typeface="Roboto"/>
                <a:ea typeface="Roboto"/>
                <a:cs typeface="Roboto"/>
                <a:sym typeface="Roboto"/>
              </a:rPr>
            </a:br>
            <a:r>
              <a:rPr lang="en-GB" sz="1800">
                <a:solidFill>
                  <a:schemeClr val="dk1"/>
                </a:solidFill>
                <a:latin typeface="Roboto"/>
                <a:ea typeface="Roboto"/>
                <a:cs typeface="Roboto"/>
                <a:sym typeface="Roboto"/>
              </a:rPr>
              <a:t>=&gt; 4x = 58 =&gt; x = 14.5</a:t>
            </a:r>
            <a:endParaRPr i="0" sz="15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100"/>
              <a:buFont typeface="Arial"/>
              <a:buNone/>
            </a:pPr>
            <a:r>
              <a:t/>
            </a:r>
            <a:endParaRPr b="0" i="0" sz="15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100" u="none" cap="none" strike="noStrike">
              <a:solidFill>
                <a:schemeClr val="dk1"/>
              </a:solidFill>
              <a:latin typeface="Roboto"/>
              <a:ea typeface="Roboto"/>
              <a:cs typeface="Roboto"/>
              <a:sym typeface="Roboto"/>
            </a:endParaRPr>
          </a:p>
        </p:txBody>
      </p:sp>
      <p:sp>
        <p:nvSpPr>
          <p:cNvPr id="281" name="Google Shape;281;g2ee15abed17_3_447"/>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14</a:t>
            </a:r>
            <a:endParaRPr b="1" i="0" sz="2000" u="none" cap="none" strike="noStrike">
              <a:solidFill>
                <a:srgbClr val="8182EF"/>
              </a:solidFill>
              <a:latin typeface="Roboto"/>
              <a:ea typeface="Roboto"/>
              <a:cs typeface="Roboto"/>
              <a:sym typeface="Roboto"/>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g2ee15abed17_3_455"/>
          <p:cNvSpPr txBox="1"/>
          <p:nvPr/>
        </p:nvSpPr>
        <p:spPr>
          <a:xfrm>
            <a:off x="327600" y="359200"/>
            <a:ext cx="2827800" cy="475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11</a:t>
            </a:r>
            <a:endParaRPr b="0" i="0" sz="2000" u="none" cap="none" strike="noStrike">
              <a:solidFill>
                <a:schemeClr val="lt1"/>
              </a:solidFill>
              <a:latin typeface="Roboto"/>
              <a:ea typeface="Roboto"/>
              <a:cs typeface="Roboto"/>
              <a:sym typeface="Roboto"/>
            </a:endParaRPr>
          </a:p>
        </p:txBody>
      </p:sp>
      <p:sp>
        <p:nvSpPr>
          <p:cNvPr id="287" name="Google Shape;287;g2ee15abed17_3_455"/>
          <p:cNvSpPr txBox="1"/>
          <p:nvPr/>
        </p:nvSpPr>
        <p:spPr>
          <a:xfrm>
            <a:off x="720000" y="1440000"/>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rtl="0" algn="just">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The ages of Anushka, Kajal and Charulatha together are 57 years. Bharti is thrice as old as Anushka and Charulatha is 12 years older than Anushka. Then, the respective age of Anushka, Kajal and Charulatha is ?</a:t>
            </a:r>
            <a:endParaRPr sz="1800">
              <a:solidFill>
                <a:schemeClr val="dk1"/>
              </a:solidFill>
              <a:latin typeface="Roboto"/>
              <a:ea typeface="Roboto"/>
              <a:cs typeface="Roboto"/>
              <a:sym typeface="Roboto"/>
            </a:endParaRPr>
          </a:p>
          <a:p>
            <a:pPr indent="0" lvl="0" marL="0" rtl="0" algn="just">
              <a:spcBef>
                <a:spcPts val="0"/>
              </a:spcBef>
              <a:spcAft>
                <a:spcPts val="0"/>
              </a:spcAft>
              <a:buClr>
                <a:schemeClr val="dk1"/>
              </a:buClr>
              <a:buSzPts val="1100"/>
              <a:buFont typeface="Arial"/>
              <a:buNone/>
            </a:pPr>
            <a:r>
              <a:t/>
            </a:r>
            <a:endParaRPr sz="1800">
              <a:solidFill>
                <a:schemeClr val="dk1"/>
              </a:solidFill>
              <a:latin typeface="Roboto"/>
              <a:ea typeface="Roboto"/>
              <a:cs typeface="Roboto"/>
              <a:sym typeface="Roboto"/>
            </a:endParaRPr>
          </a:p>
          <a:p>
            <a:pPr indent="0" lvl="0" marL="0" rtl="0" algn="just">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A] 27, 9, 21</a:t>
            </a:r>
            <a:endParaRPr sz="1800">
              <a:solidFill>
                <a:schemeClr val="dk1"/>
              </a:solidFill>
              <a:latin typeface="Roboto"/>
              <a:ea typeface="Roboto"/>
              <a:cs typeface="Roboto"/>
              <a:sym typeface="Roboto"/>
            </a:endParaRPr>
          </a:p>
          <a:p>
            <a:pPr indent="0" lvl="0" marL="0" rtl="0" algn="just">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B] 9, 21, 27</a:t>
            </a:r>
            <a:endParaRPr sz="1800">
              <a:solidFill>
                <a:schemeClr val="dk1"/>
              </a:solidFill>
              <a:latin typeface="Roboto"/>
              <a:ea typeface="Roboto"/>
              <a:cs typeface="Roboto"/>
              <a:sym typeface="Roboto"/>
            </a:endParaRPr>
          </a:p>
          <a:p>
            <a:pPr indent="0" lvl="0" marL="0" rtl="0" algn="just">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C] 21, 27, 9</a:t>
            </a:r>
            <a:endParaRPr sz="1800">
              <a:solidFill>
                <a:schemeClr val="dk1"/>
              </a:solidFill>
              <a:latin typeface="Roboto"/>
              <a:ea typeface="Roboto"/>
              <a:cs typeface="Roboto"/>
              <a:sym typeface="Roboto"/>
            </a:endParaRPr>
          </a:p>
          <a:p>
            <a:pPr indent="0" lvl="0" marL="0" rtl="0" algn="just">
              <a:spcBef>
                <a:spcPts val="0"/>
              </a:spcBef>
              <a:spcAft>
                <a:spcPts val="0"/>
              </a:spcAft>
              <a:buClr>
                <a:schemeClr val="dk1"/>
              </a:buClr>
              <a:buSzPts val="1100"/>
              <a:buFont typeface="Arial"/>
              <a:buNone/>
            </a:pPr>
            <a:r>
              <a:rPr lang="en-GB" sz="1800">
                <a:solidFill>
                  <a:schemeClr val="dk1"/>
                </a:solidFill>
                <a:latin typeface="Roboto"/>
                <a:ea typeface="Roboto"/>
                <a:cs typeface="Roboto"/>
                <a:sym typeface="Roboto"/>
              </a:rPr>
              <a:t>D] 9, 27, 21</a:t>
            </a:r>
            <a:endParaRPr sz="1800">
              <a:solidFill>
                <a:schemeClr val="dk1"/>
              </a:solidFill>
              <a:latin typeface="Roboto"/>
              <a:ea typeface="Roboto"/>
              <a:cs typeface="Roboto"/>
              <a:sym typeface="Roboto"/>
            </a:endParaRPr>
          </a:p>
        </p:txBody>
      </p:sp>
      <p:sp>
        <p:nvSpPr>
          <p:cNvPr id="288" name="Google Shape;288;g2ee15abed17_3_455"/>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en-GB" sz="1600" u="none" cap="none" strike="noStrike">
                <a:solidFill>
                  <a:srgbClr val="000000"/>
                </a:solidFill>
                <a:latin typeface="Roboto"/>
                <a:ea typeface="Roboto"/>
                <a:cs typeface="Roboto"/>
                <a:sym typeface="Roboto"/>
              </a:rPr>
              <a:t>Answer: </a:t>
            </a:r>
            <a:r>
              <a:rPr b="1" lang="en-GB" sz="1600">
                <a:latin typeface="Roboto"/>
                <a:ea typeface="Roboto"/>
                <a:cs typeface="Roboto"/>
                <a:sym typeface="Roboto"/>
              </a:rPr>
              <a:t>D</a:t>
            </a:r>
            <a:endParaRPr b="1" i="0" sz="1600" u="none" cap="none" strike="noStrike">
              <a:solidFill>
                <a:srgbClr val="000000"/>
              </a:solidFill>
              <a:latin typeface="Roboto"/>
              <a:ea typeface="Roboto"/>
              <a:cs typeface="Roboto"/>
              <a:sym typeface="Roboto"/>
            </a:endParaRPr>
          </a:p>
        </p:txBody>
      </p:sp>
      <p:sp>
        <p:nvSpPr>
          <p:cNvPr id="289" name="Google Shape;289;g2ee15abed17_3_455"/>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Question: 15</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xEl>
                                              <p:pRg end="0" st="0"/>
                                            </p:txEl>
                                          </p:spTgt>
                                        </p:tgtEl>
                                        <p:attrNameLst>
                                          <p:attrName>style.visibility</p:attrName>
                                        </p:attrNameLst>
                                      </p:cBhvr>
                                      <p:to>
                                        <p:strVal val="visible"/>
                                      </p:to>
                                    </p:set>
                                    <p:animEffect filter="fade" transition="in">
                                      <p:cBhvr>
                                        <p:cTn dur="1000"/>
                                        <p:tgtEl>
                                          <p:spTgt spid="28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xEl>
                                              <p:pRg end="1" st="1"/>
                                            </p:txEl>
                                          </p:spTgt>
                                        </p:tgtEl>
                                        <p:attrNameLst>
                                          <p:attrName>style.visibility</p:attrName>
                                        </p:attrNameLst>
                                      </p:cBhvr>
                                      <p:to>
                                        <p:strVal val="visible"/>
                                      </p:to>
                                    </p:set>
                                    <p:animEffect filter="fade" transition="in">
                                      <p:cBhvr>
                                        <p:cTn dur="1000"/>
                                        <p:tgtEl>
                                          <p:spTgt spid="28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xEl>
                                              <p:pRg end="2" st="2"/>
                                            </p:txEl>
                                          </p:spTgt>
                                        </p:tgtEl>
                                        <p:attrNameLst>
                                          <p:attrName>style.visibility</p:attrName>
                                        </p:attrNameLst>
                                      </p:cBhvr>
                                      <p:to>
                                        <p:strVal val="visible"/>
                                      </p:to>
                                    </p:set>
                                    <p:animEffect filter="fade" transition="in">
                                      <p:cBhvr>
                                        <p:cTn dur="1000"/>
                                        <p:tgtEl>
                                          <p:spTgt spid="28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xEl>
                                              <p:pRg end="3" st="3"/>
                                            </p:txEl>
                                          </p:spTgt>
                                        </p:tgtEl>
                                        <p:attrNameLst>
                                          <p:attrName>style.visibility</p:attrName>
                                        </p:attrNameLst>
                                      </p:cBhvr>
                                      <p:to>
                                        <p:strVal val="visible"/>
                                      </p:to>
                                    </p:set>
                                    <p:animEffect filter="fade" transition="in">
                                      <p:cBhvr>
                                        <p:cTn dur="1000"/>
                                        <p:tgtEl>
                                          <p:spTgt spid="28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xEl>
                                              <p:pRg end="4" st="4"/>
                                            </p:txEl>
                                          </p:spTgt>
                                        </p:tgtEl>
                                        <p:attrNameLst>
                                          <p:attrName>style.visibility</p:attrName>
                                        </p:attrNameLst>
                                      </p:cBhvr>
                                      <p:to>
                                        <p:strVal val="visible"/>
                                      </p:to>
                                    </p:set>
                                    <p:animEffect filter="fade" transition="in">
                                      <p:cBhvr>
                                        <p:cTn dur="1000"/>
                                        <p:tgtEl>
                                          <p:spTgt spid="28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7">
                                            <p:txEl>
                                              <p:pRg end="5" st="5"/>
                                            </p:txEl>
                                          </p:spTgt>
                                        </p:tgtEl>
                                        <p:attrNameLst>
                                          <p:attrName>style.visibility</p:attrName>
                                        </p:attrNameLst>
                                      </p:cBhvr>
                                      <p:to>
                                        <p:strVal val="visible"/>
                                      </p:to>
                                    </p:set>
                                    <p:animEffect filter="fade" transition="in">
                                      <p:cBhvr>
                                        <p:cTn dur="1000"/>
                                        <p:tgtEl>
                                          <p:spTgt spid="28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
                                        </p:tgtEl>
                                        <p:attrNameLst>
                                          <p:attrName>style.visibility</p:attrName>
                                        </p:attrNameLst>
                                      </p:cBhvr>
                                      <p:to>
                                        <p:strVal val="visible"/>
                                      </p:to>
                                    </p:set>
                                    <p:animEffect filter="fade" transition="in">
                                      <p:cBhvr>
                                        <p:cTn dur="1000"/>
                                        <p:tgtEl>
                                          <p:spTgt spid="2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93" name="Shape 293"/>
        <p:cNvGrpSpPr/>
        <p:nvPr/>
      </p:nvGrpSpPr>
      <p:grpSpPr>
        <a:xfrm>
          <a:off x="0" y="0"/>
          <a:ext cx="0" cy="0"/>
          <a:chOff x="0" y="0"/>
          <a:chExt cx="0" cy="0"/>
        </a:xfrm>
      </p:grpSpPr>
      <p:sp>
        <p:nvSpPr>
          <p:cNvPr id="294" name="Google Shape;294;g2ee15abed17_3_462"/>
          <p:cNvSpPr txBox="1"/>
          <p:nvPr/>
        </p:nvSpPr>
        <p:spPr>
          <a:xfrm>
            <a:off x="327600" y="380641"/>
            <a:ext cx="2827800" cy="453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2000"/>
              <a:buFont typeface="Arial"/>
              <a:buNone/>
            </a:pPr>
            <a:r>
              <a:rPr b="0" i="0" lang="en-GB" sz="2000" u="none" cap="none" strike="noStrike">
                <a:solidFill>
                  <a:schemeClr val="lt1"/>
                </a:solidFill>
                <a:latin typeface="Roboto"/>
                <a:ea typeface="Roboto"/>
                <a:cs typeface="Roboto"/>
                <a:sym typeface="Roboto"/>
              </a:rPr>
              <a:t>Question: 09</a:t>
            </a:r>
            <a:endParaRPr b="0" i="0" sz="2000" u="none" cap="none" strike="noStrike">
              <a:solidFill>
                <a:schemeClr val="lt1"/>
              </a:solidFill>
              <a:latin typeface="Roboto"/>
              <a:ea typeface="Roboto"/>
              <a:cs typeface="Roboto"/>
              <a:sym typeface="Roboto"/>
            </a:endParaRPr>
          </a:p>
        </p:txBody>
      </p:sp>
      <p:sp>
        <p:nvSpPr>
          <p:cNvPr id="295" name="Google Shape;295;g2ee15abed17_3_462"/>
          <p:cNvSpPr txBox="1"/>
          <p:nvPr/>
        </p:nvSpPr>
        <p:spPr>
          <a:xfrm>
            <a:off x="720000" y="1440000"/>
            <a:ext cx="7384200" cy="3144600"/>
          </a:xfrm>
          <a:prstGeom prst="rect">
            <a:avLst/>
          </a:prstGeom>
          <a:noFill/>
          <a:ln cap="flat" cmpd="sng" w="9525">
            <a:solidFill>
              <a:schemeClr val="lt1"/>
            </a:solidFill>
            <a:prstDash val="solid"/>
            <a:round/>
            <a:headEnd len="sm" w="sm" type="none"/>
            <a:tailEnd len="sm" w="sm" type="none"/>
          </a:ln>
        </p:spPr>
        <p:txBody>
          <a:bodyPr anchorCtr="0" anchor="t" bIns="0" lIns="0" spcFirstLastPara="1" rIns="0" wrap="square" tIns="0">
            <a:noAutofit/>
          </a:bodyPr>
          <a:lstStyle/>
          <a:p>
            <a:pPr indent="0" lvl="0" marL="0" rtl="0" algn="just">
              <a:spcBef>
                <a:spcPts val="0"/>
              </a:spcBef>
              <a:spcAft>
                <a:spcPts val="0"/>
              </a:spcAft>
              <a:buClr>
                <a:schemeClr val="dk1"/>
              </a:buClr>
              <a:buSzPts val="1800"/>
              <a:buFont typeface="Arial"/>
              <a:buNone/>
            </a:pPr>
            <a:r>
              <a:rPr lang="en-GB" sz="1800">
                <a:solidFill>
                  <a:schemeClr val="dk1"/>
                </a:solidFill>
                <a:latin typeface="Roboto"/>
                <a:ea typeface="Roboto"/>
                <a:cs typeface="Roboto"/>
                <a:sym typeface="Roboto"/>
              </a:rPr>
              <a:t>Let Anushka age = X</a:t>
            </a:r>
            <a:br>
              <a:rPr lang="en-GB" sz="1800">
                <a:solidFill>
                  <a:schemeClr val="dk1"/>
                </a:solidFill>
                <a:latin typeface="Roboto"/>
                <a:ea typeface="Roboto"/>
                <a:cs typeface="Roboto"/>
                <a:sym typeface="Roboto"/>
              </a:rPr>
            </a:br>
            <a:r>
              <a:rPr lang="en-GB" sz="1800">
                <a:solidFill>
                  <a:schemeClr val="dk1"/>
                </a:solidFill>
                <a:latin typeface="Roboto"/>
                <a:ea typeface="Roboto"/>
                <a:cs typeface="Roboto"/>
                <a:sym typeface="Roboto"/>
              </a:rPr>
              <a:t>Charulatha 12 years older than Anushka so Charulatha age = x+12</a:t>
            </a:r>
            <a:br>
              <a:rPr lang="en-GB" sz="1800">
                <a:solidFill>
                  <a:schemeClr val="dk1"/>
                </a:solidFill>
                <a:latin typeface="Roboto"/>
                <a:ea typeface="Roboto"/>
                <a:cs typeface="Roboto"/>
                <a:sym typeface="Roboto"/>
              </a:rPr>
            </a:br>
            <a:r>
              <a:rPr lang="en-GB" sz="1800">
                <a:solidFill>
                  <a:schemeClr val="dk1"/>
                </a:solidFill>
                <a:latin typeface="Roboto"/>
                <a:ea typeface="Roboto"/>
                <a:cs typeface="Roboto"/>
                <a:sym typeface="Roboto"/>
              </a:rPr>
              <a:t>Kajal is thrice as old as Anushka so Kajal age = 3x</a:t>
            </a:r>
            <a:br>
              <a:rPr lang="en-GB" sz="1800">
                <a:solidFill>
                  <a:schemeClr val="dk1"/>
                </a:solidFill>
                <a:latin typeface="Roboto"/>
                <a:ea typeface="Roboto"/>
                <a:cs typeface="Roboto"/>
                <a:sym typeface="Roboto"/>
              </a:rPr>
            </a:br>
            <a:r>
              <a:rPr lang="en-GB" sz="1800">
                <a:solidFill>
                  <a:schemeClr val="dk1"/>
                </a:solidFill>
                <a:latin typeface="Roboto"/>
                <a:ea typeface="Roboto"/>
                <a:cs typeface="Roboto"/>
                <a:sym typeface="Roboto"/>
              </a:rPr>
              <a:t>The ages of Anushka, Kajal and Charulatha together are 57 years</a:t>
            </a:r>
            <a:br>
              <a:rPr lang="en-GB" sz="1800">
                <a:solidFill>
                  <a:schemeClr val="dk1"/>
                </a:solidFill>
                <a:latin typeface="Roboto"/>
                <a:ea typeface="Roboto"/>
                <a:cs typeface="Roboto"/>
                <a:sym typeface="Roboto"/>
              </a:rPr>
            </a:br>
            <a:r>
              <a:rPr lang="en-GB" sz="1800">
                <a:solidFill>
                  <a:schemeClr val="dk1"/>
                </a:solidFill>
                <a:latin typeface="Roboto"/>
                <a:ea typeface="Roboto"/>
                <a:cs typeface="Roboto"/>
                <a:sym typeface="Roboto"/>
              </a:rPr>
              <a:t>x + (x+12) + 3x = 57</a:t>
            </a:r>
            <a:br>
              <a:rPr lang="en-GB" sz="1800">
                <a:solidFill>
                  <a:schemeClr val="dk1"/>
                </a:solidFill>
                <a:latin typeface="Roboto"/>
                <a:ea typeface="Roboto"/>
                <a:cs typeface="Roboto"/>
                <a:sym typeface="Roboto"/>
              </a:rPr>
            </a:br>
            <a:r>
              <a:rPr lang="en-GB" sz="1800">
                <a:solidFill>
                  <a:schemeClr val="dk1"/>
                </a:solidFill>
                <a:latin typeface="Roboto"/>
                <a:ea typeface="Roboto"/>
                <a:cs typeface="Roboto"/>
                <a:sym typeface="Roboto"/>
              </a:rPr>
              <a:t>=&gt; 5x = 45</a:t>
            </a:r>
            <a:br>
              <a:rPr lang="en-GB" sz="1800">
                <a:solidFill>
                  <a:schemeClr val="dk1"/>
                </a:solidFill>
                <a:latin typeface="Roboto"/>
                <a:ea typeface="Roboto"/>
                <a:cs typeface="Roboto"/>
                <a:sym typeface="Roboto"/>
              </a:rPr>
            </a:br>
            <a:r>
              <a:rPr lang="en-GB" sz="1800">
                <a:solidFill>
                  <a:schemeClr val="dk1"/>
                </a:solidFill>
                <a:latin typeface="Roboto"/>
                <a:ea typeface="Roboto"/>
                <a:cs typeface="Roboto"/>
                <a:sym typeface="Roboto"/>
              </a:rPr>
              <a:t>:- x = 9</a:t>
            </a:r>
            <a:br>
              <a:rPr lang="en-GB" sz="1800">
                <a:solidFill>
                  <a:schemeClr val="dk1"/>
                </a:solidFill>
                <a:latin typeface="Roboto"/>
                <a:ea typeface="Roboto"/>
                <a:cs typeface="Roboto"/>
                <a:sym typeface="Roboto"/>
              </a:rPr>
            </a:br>
            <a:r>
              <a:rPr lang="en-GB" sz="1800">
                <a:solidFill>
                  <a:schemeClr val="dk1"/>
                </a:solidFill>
                <a:latin typeface="Roboto"/>
                <a:ea typeface="Roboto"/>
                <a:cs typeface="Roboto"/>
                <a:sym typeface="Roboto"/>
              </a:rPr>
              <a:t>Anushka age = 9</a:t>
            </a:r>
            <a:br>
              <a:rPr lang="en-GB" sz="1800">
                <a:solidFill>
                  <a:schemeClr val="dk1"/>
                </a:solidFill>
                <a:latin typeface="Roboto"/>
                <a:ea typeface="Roboto"/>
                <a:cs typeface="Roboto"/>
                <a:sym typeface="Roboto"/>
              </a:rPr>
            </a:br>
            <a:r>
              <a:rPr lang="en-GB" sz="1800">
                <a:solidFill>
                  <a:schemeClr val="dk1"/>
                </a:solidFill>
                <a:latin typeface="Roboto"/>
                <a:ea typeface="Roboto"/>
                <a:cs typeface="Roboto"/>
                <a:sym typeface="Roboto"/>
              </a:rPr>
              <a:t>Kajal age = 3x = 27</a:t>
            </a:r>
            <a:br>
              <a:rPr lang="en-GB" sz="1800">
                <a:solidFill>
                  <a:schemeClr val="dk1"/>
                </a:solidFill>
                <a:latin typeface="Roboto"/>
                <a:ea typeface="Roboto"/>
                <a:cs typeface="Roboto"/>
                <a:sym typeface="Roboto"/>
              </a:rPr>
            </a:br>
            <a:r>
              <a:rPr lang="en-GB" sz="1800">
                <a:solidFill>
                  <a:schemeClr val="dk1"/>
                </a:solidFill>
                <a:latin typeface="Roboto"/>
                <a:ea typeface="Roboto"/>
                <a:cs typeface="Roboto"/>
                <a:sym typeface="Roboto"/>
              </a:rPr>
              <a:t>Charulatha age = x+12 = 21</a:t>
            </a:r>
            <a:endParaRPr i="0" sz="18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dk1"/>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200"/>
              <a:buFont typeface="Arial"/>
              <a:buNone/>
            </a:pPr>
            <a:r>
              <a:t/>
            </a:r>
            <a:endParaRPr b="0" i="0" sz="1400" u="none" cap="none" strike="noStrike">
              <a:solidFill>
                <a:schemeClr val="dk1"/>
              </a:solidFill>
              <a:latin typeface="Roboto"/>
              <a:ea typeface="Roboto"/>
              <a:cs typeface="Roboto"/>
              <a:sym typeface="Roboto"/>
            </a:endParaRPr>
          </a:p>
        </p:txBody>
      </p:sp>
      <p:sp>
        <p:nvSpPr>
          <p:cNvPr id="296" name="Google Shape;296;g2ee15abed17_3_462"/>
          <p:cNvSpPr txBox="1"/>
          <p:nvPr/>
        </p:nvSpPr>
        <p:spPr>
          <a:xfrm>
            <a:off x="7250475" y="4171350"/>
            <a:ext cx="1564500" cy="4752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Roboto"/>
              <a:ea typeface="Roboto"/>
              <a:cs typeface="Roboto"/>
              <a:sym typeface="Roboto"/>
            </a:endParaRPr>
          </a:p>
        </p:txBody>
      </p:sp>
      <p:sp>
        <p:nvSpPr>
          <p:cNvPr id="297" name="Google Shape;297;g2ee15abed17_3_462"/>
          <p:cNvSpPr txBox="1"/>
          <p:nvPr/>
        </p:nvSpPr>
        <p:spPr>
          <a:xfrm>
            <a:off x="630000" y="630250"/>
            <a:ext cx="29604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8182EF"/>
                </a:solidFill>
                <a:latin typeface="Roboto"/>
                <a:ea typeface="Roboto"/>
                <a:cs typeface="Roboto"/>
                <a:sym typeface="Roboto"/>
              </a:rPr>
              <a:t>Explanation: 15</a:t>
            </a:r>
            <a:endParaRPr b="1" i="0" sz="2000" u="none" cap="none" strike="noStrike">
              <a:solidFill>
                <a:srgbClr val="8182EF"/>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5">
                                            <p:txEl>
                                              <p:pRg end="0" st="0"/>
                                            </p:txEl>
                                          </p:spTgt>
                                        </p:tgtEl>
                                        <p:attrNameLst>
                                          <p:attrName>style.visibility</p:attrName>
                                        </p:attrNameLst>
                                      </p:cBhvr>
                                      <p:to>
                                        <p:strVal val="visible"/>
                                      </p:to>
                                    </p:set>
                                    <p:animEffect filter="fade" transition="in">
                                      <p:cBhvr>
                                        <p:cTn dur="1000"/>
                                        <p:tgtEl>
                                          <p:spTgt spid="29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5">
                                            <p:txEl>
                                              <p:pRg end="1" st="1"/>
                                            </p:txEl>
                                          </p:spTgt>
                                        </p:tgtEl>
                                        <p:attrNameLst>
                                          <p:attrName>style.visibility</p:attrName>
                                        </p:attrNameLst>
                                      </p:cBhvr>
                                      <p:to>
                                        <p:strVal val="visible"/>
                                      </p:to>
                                    </p:set>
                                    <p:animEffect filter="fade" transition="in">
                                      <p:cBhvr>
                                        <p:cTn dur="1000"/>
                                        <p:tgtEl>
                                          <p:spTgt spid="29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5">
                                            <p:txEl>
                                              <p:pRg end="2" st="2"/>
                                            </p:txEl>
                                          </p:spTgt>
                                        </p:tgtEl>
                                        <p:attrNameLst>
                                          <p:attrName>style.visibility</p:attrName>
                                        </p:attrNameLst>
                                      </p:cBhvr>
                                      <p:to>
                                        <p:strVal val="visible"/>
                                      </p:to>
                                    </p:set>
                                    <p:animEffect filter="fade" transition="in">
                                      <p:cBhvr>
                                        <p:cTn dur="1000"/>
                                        <p:tgtEl>
                                          <p:spTgt spid="295">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5">
                                            <p:txEl>
                                              <p:pRg end="3" st="3"/>
                                            </p:txEl>
                                          </p:spTgt>
                                        </p:tgtEl>
                                        <p:attrNameLst>
                                          <p:attrName>style.visibility</p:attrName>
                                        </p:attrNameLst>
                                      </p:cBhvr>
                                      <p:to>
                                        <p:strVal val="visible"/>
                                      </p:to>
                                    </p:set>
                                    <p:animEffect filter="fade" transition="in">
                                      <p:cBhvr>
                                        <p:cTn dur="1000"/>
                                        <p:tgtEl>
                                          <p:spTgt spid="295">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6">
                                            <p:txEl>
                                              <p:pRg end="0" st="0"/>
                                            </p:txEl>
                                          </p:spTgt>
                                        </p:tgtEl>
                                        <p:attrNameLst>
                                          <p:attrName>style.visibility</p:attrName>
                                        </p:attrNameLst>
                                      </p:cBhvr>
                                      <p:to>
                                        <p:strVal val="visible"/>
                                      </p:to>
                                    </p:set>
                                    <p:animEffect filter="fade" transition="in">
                                      <p:cBhvr>
                                        <p:cTn dur="1000"/>
                                        <p:tgtEl>
                                          <p:spTgt spid="296">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pic>
        <p:nvPicPr>
          <p:cNvPr id="302" name="Google Shape;302;g2ee15abed17_3_531"/>
          <p:cNvPicPr preferRelativeResize="0"/>
          <p:nvPr/>
        </p:nvPicPr>
        <p:blipFill rotWithShape="1">
          <a:blip r:embed="rId3">
            <a:alphaModFix/>
          </a:blip>
          <a:srcRect b="0" l="0" r="0" t="0"/>
          <a:stretch/>
        </p:blipFill>
        <p:spPr>
          <a:xfrm>
            <a:off x="1" y="1"/>
            <a:ext cx="9144003" cy="5143501"/>
          </a:xfrm>
          <a:prstGeom prst="rect">
            <a:avLst/>
          </a:prstGeom>
          <a:noFill/>
          <a:ln>
            <a:noFill/>
          </a:ln>
        </p:spPr>
      </p:pic>
      <p:sp>
        <p:nvSpPr>
          <p:cNvPr id="303" name="Google Shape;303;g2ee15abed17_3_531"/>
          <p:cNvSpPr txBox="1"/>
          <p:nvPr/>
        </p:nvSpPr>
        <p:spPr>
          <a:xfrm>
            <a:off x="3141000" y="2194650"/>
            <a:ext cx="2862000" cy="754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700"/>
              <a:buFont typeface="Arial"/>
              <a:buNone/>
            </a:pPr>
            <a:r>
              <a:rPr b="0" i="0" lang="en-GB" sz="3700" u="none" cap="none" strike="noStrike">
                <a:solidFill>
                  <a:schemeClr val="lt1"/>
                </a:solidFill>
                <a:latin typeface="Roboto Medium"/>
                <a:ea typeface="Roboto Medium"/>
                <a:cs typeface="Roboto Medium"/>
                <a:sym typeface="Roboto Medium"/>
              </a:rPr>
              <a:t>THANK YOU</a:t>
            </a:r>
            <a:endParaRPr b="0" i="0" sz="3700" u="none" cap="none" strike="noStrike">
              <a:solidFill>
                <a:schemeClr val="lt1"/>
              </a:solidFill>
              <a:latin typeface="Roboto Medium"/>
              <a:ea typeface="Roboto Medium"/>
              <a:cs typeface="Roboto Medium"/>
              <a:sym typeface="Roboto Medium"/>
            </a:endParaRPr>
          </a:p>
        </p:txBody>
      </p:sp>
      <p:pic>
        <p:nvPicPr>
          <p:cNvPr id="304" name="Google Shape;304;g2ee15abed17_3_531"/>
          <p:cNvPicPr preferRelativeResize="0"/>
          <p:nvPr/>
        </p:nvPicPr>
        <p:blipFill rotWithShape="1">
          <a:blip r:embed="rId4">
            <a:alphaModFix/>
          </a:blip>
          <a:srcRect b="0" l="0" r="0" t="0"/>
          <a:stretch/>
        </p:blipFill>
        <p:spPr>
          <a:xfrm>
            <a:off x="1752016" y="4591075"/>
            <a:ext cx="338156" cy="338150"/>
          </a:xfrm>
          <a:prstGeom prst="rect">
            <a:avLst/>
          </a:prstGeom>
          <a:noFill/>
          <a:ln>
            <a:noFill/>
          </a:ln>
        </p:spPr>
      </p:pic>
      <p:pic>
        <p:nvPicPr>
          <p:cNvPr id="305" name="Google Shape;305;g2ee15abed17_3_531"/>
          <p:cNvPicPr preferRelativeResize="0"/>
          <p:nvPr/>
        </p:nvPicPr>
        <p:blipFill rotWithShape="1">
          <a:blip r:embed="rId5">
            <a:alphaModFix/>
          </a:blip>
          <a:srcRect b="0" l="0" r="0" t="0"/>
          <a:stretch/>
        </p:blipFill>
        <p:spPr>
          <a:xfrm>
            <a:off x="3272650" y="4591075"/>
            <a:ext cx="338156" cy="338150"/>
          </a:xfrm>
          <a:prstGeom prst="rect">
            <a:avLst/>
          </a:prstGeom>
          <a:noFill/>
          <a:ln>
            <a:noFill/>
          </a:ln>
        </p:spPr>
      </p:pic>
      <p:sp>
        <p:nvSpPr>
          <p:cNvPr id="306" name="Google Shape;306;g2ee15abed17_3_531"/>
          <p:cNvSpPr txBox="1"/>
          <p:nvPr/>
        </p:nvSpPr>
        <p:spPr>
          <a:xfrm>
            <a:off x="1980750" y="4590801"/>
            <a:ext cx="11871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Medium"/>
                <a:ea typeface="Roboto Medium"/>
                <a:cs typeface="Roboto Medium"/>
                <a:sym typeface="Roboto Medium"/>
              </a:rPr>
              <a:t>+91 78150 95095</a:t>
            </a:r>
            <a:endParaRPr b="0" i="0" sz="1000" u="none" cap="none" strike="noStrike">
              <a:solidFill>
                <a:schemeClr val="lt1"/>
              </a:solidFill>
              <a:latin typeface="Roboto Medium"/>
              <a:ea typeface="Roboto Medium"/>
              <a:cs typeface="Roboto Medium"/>
              <a:sym typeface="Roboto Medium"/>
            </a:endParaRPr>
          </a:p>
        </p:txBody>
      </p:sp>
      <p:cxnSp>
        <p:nvCxnSpPr>
          <p:cNvPr id="307" name="Google Shape;307;g2ee15abed17_3_531"/>
          <p:cNvCxnSpPr/>
          <p:nvPr/>
        </p:nvCxnSpPr>
        <p:spPr>
          <a:xfrm rot="10800000">
            <a:off x="3220250" y="4619675"/>
            <a:ext cx="0" cy="300000"/>
          </a:xfrm>
          <a:prstGeom prst="straightConnector1">
            <a:avLst/>
          </a:prstGeom>
          <a:noFill/>
          <a:ln cap="flat" cmpd="sng" w="9525">
            <a:solidFill>
              <a:schemeClr val="lt1"/>
            </a:solidFill>
            <a:prstDash val="solid"/>
            <a:round/>
            <a:headEnd len="sm" w="sm" type="none"/>
            <a:tailEnd len="sm" w="sm" type="none"/>
          </a:ln>
        </p:spPr>
      </p:cxnSp>
      <p:sp>
        <p:nvSpPr>
          <p:cNvPr id="308" name="Google Shape;308;g2ee15abed17_3_531"/>
          <p:cNvSpPr txBox="1"/>
          <p:nvPr/>
        </p:nvSpPr>
        <p:spPr>
          <a:xfrm>
            <a:off x="3519050" y="4590801"/>
            <a:ext cx="19347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Medium"/>
                <a:ea typeface="Roboto Medium"/>
                <a:cs typeface="Roboto Medium"/>
                <a:sym typeface="Roboto Medium"/>
              </a:rPr>
              <a:t>codemithra@ethnus.com</a:t>
            </a:r>
            <a:endParaRPr b="0" i="0" sz="1000" u="none" cap="none" strike="noStrike">
              <a:solidFill>
                <a:schemeClr val="lt1"/>
              </a:solidFill>
              <a:latin typeface="Roboto Medium"/>
              <a:ea typeface="Roboto Medium"/>
              <a:cs typeface="Roboto Medium"/>
              <a:sym typeface="Roboto Medium"/>
            </a:endParaRPr>
          </a:p>
        </p:txBody>
      </p:sp>
      <p:pic>
        <p:nvPicPr>
          <p:cNvPr id="309" name="Google Shape;309;g2ee15abed17_3_531"/>
          <p:cNvPicPr preferRelativeResize="0"/>
          <p:nvPr/>
        </p:nvPicPr>
        <p:blipFill rotWithShape="1">
          <a:blip r:embed="rId6">
            <a:alphaModFix/>
          </a:blip>
          <a:srcRect b="0" l="0" r="0" t="0"/>
          <a:stretch/>
        </p:blipFill>
        <p:spPr>
          <a:xfrm>
            <a:off x="5223771" y="4591063"/>
            <a:ext cx="338156" cy="338150"/>
          </a:xfrm>
          <a:prstGeom prst="rect">
            <a:avLst/>
          </a:prstGeom>
          <a:noFill/>
          <a:ln>
            <a:noFill/>
          </a:ln>
        </p:spPr>
      </p:pic>
      <p:sp>
        <p:nvSpPr>
          <p:cNvPr id="310" name="Google Shape;310;g2ee15abed17_3_531"/>
          <p:cNvSpPr txBox="1"/>
          <p:nvPr/>
        </p:nvSpPr>
        <p:spPr>
          <a:xfrm>
            <a:off x="5457275" y="4590801"/>
            <a:ext cx="19347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GB" sz="1000" u="none" cap="none" strike="noStrike">
                <a:solidFill>
                  <a:schemeClr val="lt1"/>
                </a:solidFill>
                <a:latin typeface="Roboto Medium"/>
                <a:ea typeface="Roboto Medium"/>
                <a:cs typeface="Roboto Medium"/>
                <a:sym typeface="Roboto Medium"/>
              </a:rPr>
              <a:t>www.codemithra.com</a:t>
            </a:r>
            <a:endParaRPr b="0" i="0" sz="1000" u="none" cap="none" strike="noStrike">
              <a:solidFill>
                <a:schemeClr val="lt1"/>
              </a:solidFill>
              <a:latin typeface="Roboto Medium"/>
              <a:ea typeface="Roboto Medium"/>
              <a:cs typeface="Roboto Medium"/>
              <a:sym typeface="Roboto Medium"/>
            </a:endParaRPr>
          </a:p>
        </p:txBody>
      </p:sp>
      <p:cxnSp>
        <p:nvCxnSpPr>
          <p:cNvPr id="311" name="Google Shape;311;g2ee15abed17_3_531"/>
          <p:cNvCxnSpPr/>
          <p:nvPr/>
        </p:nvCxnSpPr>
        <p:spPr>
          <a:xfrm rot="10800000">
            <a:off x="5166625" y="4610150"/>
            <a:ext cx="0" cy="300000"/>
          </a:xfrm>
          <a:prstGeom prst="straightConnector1">
            <a:avLst/>
          </a:prstGeom>
          <a:noFill/>
          <a:ln cap="flat" cmpd="sng" w="9525">
            <a:solidFill>
              <a:schemeClr val="lt1"/>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