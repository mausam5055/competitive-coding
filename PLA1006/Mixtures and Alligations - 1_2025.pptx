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5143500" cx="9144000"/>
  <p:notesSz cx="6858000" cy="9144000"/>
  <p:embeddedFontLst>
    <p:embeddedFont>
      <p:font typeface="Roboto Black"/>
      <p:bold r:id="rId52"/>
      <p:boldItalic r:id="rId53"/>
    </p:embeddedFont>
    <p:embeddedFont>
      <p:font typeface="Robot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8" roundtripDataSignature="AMtx7mgi+lXqzHLwS1eSILaWi0agtjAJ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RobotoBlack-boldItalic.fntdata"/><Relationship Id="rId52" Type="http://schemas.openxmlformats.org/officeDocument/2006/relationships/font" Target="fonts/RobotoBlack-bold.fntdata"/><Relationship Id="rId11" Type="http://schemas.openxmlformats.org/officeDocument/2006/relationships/slide" Target="slides/slide4.xml"/><Relationship Id="rId55" Type="http://schemas.openxmlformats.org/officeDocument/2006/relationships/font" Target="fonts/Roboto-bold.fntdata"/><Relationship Id="rId10" Type="http://schemas.openxmlformats.org/officeDocument/2006/relationships/slide" Target="slides/slide3.xml"/><Relationship Id="rId54" Type="http://schemas.openxmlformats.org/officeDocument/2006/relationships/font" Target="fonts/Roboto-regular.fntdata"/><Relationship Id="rId13" Type="http://schemas.openxmlformats.org/officeDocument/2006/relationships/slide" Target="slides/slide6.xml"/><Relationship Id="rId57" Type="http://schemas.openxmlformats.org/officeDocument/2006/relationships/font" Target="fonts/Roboto-boldItalic.fntdata"/><Relationship Id="rId12" Type="http://schemas.openxmlformats.org/officeDocument/2006/relationships/slide" Target="slides/slide5.xml"/><Relationship Id="rId56" Type="http://schemas.openxmlformats.org/officeDocument/2006/relationships/font" Target="fonts/Roboto-italic.fntdata"/><Relationship Id="rId15" Type="http://schemas.openxmlformats.org/officeDocument/2006/relationships/slide" Target="slides/slide8.xml"/><Relationship Id="rId14" Type="http://schemas.openxmlformats.org/officeDocument/2006/relationships/slide" Target="slides/slide7.xml"/><Relationship Id="rId58"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aa41ff7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2aa41ff7b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0" name="Google Shape;150;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4337fc5d25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14337fc5d25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800"/>
              </a:spcBef>
              <a:spcAft>
                <a:spcPts val="0"/>
              </a:spcAft>
              <a:buSzPts val="1400"/>
              <a:buNone/>
            </a:pPr>
            <a:r>
              <a:t/>
            </a:r>
            <a:endParaRPr b="1" sz="140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4337fc5d25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14337fc5d25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b9c7de5d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1b9c7de5d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4337fc5d25_0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14337fc5d25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b9c7de5d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1b9c7de5da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4337fc5d25_0_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14337fc5d25_0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b9c7de5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1b9c7de5d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4337fc5d25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14337fc5d25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b9c7de5d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1b9c7de5da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4337fc5d25_0_5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14337fc5d25_0_5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ba4bdc8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1ba4bdc87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4337fc5d25_0_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14337fc5d25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1b9c7de5d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1b9c7de5da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4337fc5d25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14337fc5d25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4337fc5d25_0_6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14337fc5d25_0_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b9c7de5d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1b9c7de5da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4337fc5d25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14337fc5d25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4337fc5d25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14337fc5d25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4337fc5d25_0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14337fc5d25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4337fc5d25_0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14337fc5d25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b9c7de5d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31b9c7de5da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4337fc5d25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14337fc5d2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4337fc5d25_0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14337fc5d25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61210929e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361210929e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4337fc5d25_0_6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14337fc5d25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4337fc5d25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14337fc5d25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1b9c7de5d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31b9c7de5da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4337fc5d25_0_6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g14337fc5d25_0_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4337fc5d25_0_6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14337fc5d25_0_6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4337fc5d25_0_7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14337fc5d25_0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4337fc5d25_0_7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14337fc5d25_0_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1b9c7de5d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31b9c7de5da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1b9c7de5d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1b9c7de5da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4337fc5d25_0_7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14337fc5d25_0_7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4337fc5d25_0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14337fc5d25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4337fc5d25_0_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14337fc5d25_0_7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4337fc5d25_0_7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14337fc5d25_0_7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1b9c7de5d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g31b9c7de5da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howMasterSp="0" type="tx">
  <p:cSld name="TITLE_AND_BODY">
    <p:spTree>
      <p:nvGrpSpPr>
        <p:cNvPr id="49" name="Shape 49"/>
        <p:cNvGrpSpPr/>
        <p:nvPr/>
      </p:nvGrpSpPr>
      <p:grpSpPr>
        <a:xfrm>
          <a:off x="0" y="0"/>
          <a:ext cx="0" cy="0"/>
          <a:chOff x="0" y="0"/>
          <a:chExt cx="0" cy="0"/>
        </a:xfrm>
      </p:grpSpPr>
      <p:sp>
        <p:nvSpPr>
          <p:cNvPr id="50" name="Google Shape;50;g14337fc5d25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4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g14337fc5d25_0_4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g14337fc5d25_0_490"/>
          <p:cNvPicPr preferRelativeResize="0"/>
          <p:nvPr/>
        </p:nvPicPr>
        <p:blipFill rotWithShape="1">
          <a:blip r:embed="rId2">
            <a:alphaModFix/>
          </a:blip>
          <a:srcRect b="0" l="0" r="0" t="0"/>
          <a:stretch/>
        </p:blipFill>
        <p:spPr>
          <a:xfrm>
            <a:off x="-1" y="7219"/>
            <a:ext cx="9144001" cy="513628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4337fc5d25_0_4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4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4337fc5d25_0_49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4337fc5d25_0_4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4337fc5d25_0_5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4337fc5d25_0_50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4337fc5d25_0_5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4337fc5d25_0_5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4337fc5d25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4337fc5d25_0_50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4337fc5d25_0_5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4337fc5d25_0_50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4337fc5d25_0_50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4337fc5d25_0_5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4337fc5d25_0_51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76" name="Google Shape;76;g14337fc5d25_0_51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7" name="Google Shape;77;g14337fc5d25_0_51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4337fc5d25_0_51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4337fc5d25_0_51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2" name="Google Shape;9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3" name="Google Shape;10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04" name="Google Shape;10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0" name="Google Shape;11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1" name="Google Shape;11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3" name="Google Shape;11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16" name="Google Shape;11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9" name="Google Shape;11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0" name="Google Shape;12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0" Type="http://schemas.openxmlformats.org/officeDocument/2006/relationships/theme" Target="../theme/theme4.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2.xml"/><Relationship Id="rId12" Type="http://schemas.openxmlformats.org/officeDocument/2006/relationships/slideLayout" Target="../slideLayouts/slideLayout28.xml"/><Relationship Id="rId1" Type="http://schemas.openxmlformats.org/officeDocument/2006/relationships/image" Target="../media/image8.jp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337fc5d25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4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4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48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84" name="Google Shape;84;g14337fc5d25_0_8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hyperlink" Target="https://learn.codemithra.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image" Target="../media/image28.jpg"/><Relationship Id="rId4"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28" name="Google Shape;12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29" name="Google Shape;12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0" name="Google Shape;13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1" name="Google Shape;13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7" name="Google Shape;13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39" name="Google Shape;139;p3"/>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MIXTURES AND ALLIGATIONS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aa41ff7ba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145" name="Google Shape;145;g32aa41ff7ba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800" u="none" cap="none" strike="noStrike">
                <a:solidFill>
                  <a:srgbClr val="000000"/>
                </a:solidFill>
                <a:latin typeface="Roboto"/>
                <a:ea typeface="Roboto"/>
                <a:cs typeface="Roboto"/>
                <a:sym typeface="Roboto"/>
              </a:rPr>
              <a:t>                                    Test time on : Ratio and Proportion</a:t>
            </a:r>
            <a:endParaRPr b="1" i="0" sz="1800" u="none" cap="none" strike="noStrike">
              <a:solidFill>
                <a:srgbClr val="000000"/>
              </a:solidFill>
              <a:latin typeface="Roboto"/>
              <a:ea typeface="Roboto"/>
              <a:cs typeface="Roboto"/>
              <a:sym typeface="Roboto"/>
            </a:endParaRPr>
          </a:p>
        </p:txBody>
      </p:sp>
      <p:sp>
        <p:nvSpPr>
          <p:cNvPr id="146" name="Google Shape;146;g32aa41ff7ba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47" name="Google Shape;147;g32aa41ff7ba_0_0"/>
          <p:cNvPicPr preferRelativeResize="0"/>
          <p:nvPr/>
        </p:nvPicPr>
        <p:blipFill rotWithShape="1">
          <a:blip r:embed="rId3">
            <a:alphaModFix/>
          </a:blip>
          <a:srcRect b="0" l="0" r="0" t="0"/>
          <a:stretch/>
        </p:blipFill>
        <p:spPr>
          <a:xfrm>
            <a:off x="2943225" y="1439863"/>
            <a:ext cx="3257550" cy="3133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4337fc5d25_0_216"/>
          <p:cNvSpPr txBox="1"/>
          <p:nvPr/>
        </p:nvSpPr>
        <p:spPr>
          <a:xfrm>
            <a:off x="720725" y="539100"/>
            <a:ext cx="5220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2000" u="none" cap="none" strike="noStrike">
                <a:solidFill>
                  <a:srgbClr val="8182EF"/>
                </a:solidFill>
                <a:latin typeface="Roboto Black"/>
                <a:ea typeface="Roboto Black"/>
                <a:cs typeface="Roboto Black"/>
                <a:sym typeface="Roboto Black"/>
              </a:rPr>
              <a:t>CONCEPTS</a:t>
            </a:r>
            <a:endParaRPr b="0" i="0" sz="600" u="none" cap="none" strike="noStrike">
              <a:solidFill>
                <a:srgbClr val="6D9EEB"/>
              </a:solidFill>
              <a:latin typeface="Roboto Black"/>
              <a:ea typeface="Roboto Black"/>
              <a:cs typeface="Roboto Black"/>
              <a:sym typeface="Roboto Black"/>
            </a:endParaRPr>
          </a:p>
        </p:txBody>
      </p:sp>
      <p:pic>
        <p:nvPicPr>
          <p:cNvPr id="153" name="Google Shape;153;g14337fc5d25_0_216"/>
          <p:cNvPicPr preferRelativeResize="0"/>
          <p:nvPr/>
        </p:nvPicPr>
        <p:blipFill rotWithShape="1">
          <a:blip r:embed="rId3">
            <a:alphaModFix/>
          </a:blip>
          <a:srcRect b="0" l="0" r="0" t="0"/>
          <a:stretch/>
        </p:blipFill>
        <p:spPr>
          <a:xfrm>
            <a:off x="785250" y="1189586"/>
            <a:ext cx="6781800" cy="1863726"/>
          </a:xfrm>
          <a:prstGeom prst="rect">
            <a:avLst/>
          </a:prstGeom>
          <a:noFill/>
          <a:ln>
            <a:noFill/>
          </a:ln>
        </p:spPr>
      </p:pic>
      <p:sp>
        <p:nvSpPr>
          <p:cNvPr id="154" name="Google Shape;154;g14337fc5d25_0_216"/>
          <p:cNvSpPr txBox="1"/>
          <p:nvPr/>
        </p:nvSpPr>
        <p:spPr>
          <a:xfrm>
            <a:off x="785250" y="3170325"/>
            <a:ext cx="7573500" cy="149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chemeClr val="dk1"/>
                </a:solidFill>
                <a:latin typeface="Arial"/>
                <a:ea typeface="Arial"/>
                <a:cs typeface="Arial"/>
                <a:sym typeface="Arial"/>
              </a:rPr>
              <a:t>(Cheaper quantity) : (Dearer quantity) = (</a:t>
            </a:r>
            <a:r>
              <a:rPr b="0" i="1" lang="en-GB" sz="1700" u="none" cap="none" strike="noStrike">
                <a:solidFill>
                  <a:schemeClr val="dk1"/>
                </a:solidFill>
                <a:latin typeface="Arial"/>
                <a:ea typeface="Arial"/>
                <a:cs typeface="Arial"/>
                <a:sym typeface="Arial"/>
              </a:rPr>
              <a:t>d</a:t>
            </a:r>
            <a:r>
              <a:rPr b="0" i="0" lang="en-GB" sz="1700" u="none" cap="none" strike="noStrike">
                <a:solidFill>
                  <a:schemeClr val="dk1"/>
                </a:solidFill>
                <a:latin typeface="Arial"/>
                <a:ea typeface="Arial"/>
                <a:cs typeface="Arial"/>
                <a:sym typeface="Arial"/>
              </a:rPr>
              <a:t> - </a:t>
            </a:r>
            <a:r>
              <a:rPr b="0" i="1" lang="en-GB" sz="1700" u="none" cap="none" strike="noStrike">
                <a:solidFill>
                  <a:schemeClr val="dk1"/>
                </a:solidFill>
                <a:latin typeface="Arial"/>
                <a:ea typeface="Arial"/>
                <a:cs typeface="Arial"/>
                <a:sym typeface="Arial"/>
              </a:rPr>
              <a:t>m</a:t>
            </a:r>
            <a:r>
              <a:rPr b="0" i="0" lang="en-GB" sz="1700" u="none" cap="none" strike="noStrike">
                <a:solidFill>
                  <a:schemeClr val="dk1"/>
                </a:solidFill>
                <a:latin typeface="Arial"/>
                <a:ea typeface="Arial"/>
                <a:cs typeface="Arial"/>
                <a:sym typeface="Arial"/>
              </a:rPr>
              <a:t>) : (</a:t>
            </a:r>
            <a:r>
              <a:rPr b="0" i="1" lang="en-GB" sz="1700" u="none" cap="none" strike="noStrike">
                <a:solidFill>
                  <a:schemeClr val="dk1"/>
                </a:solidFill>
                <a:latin typeface="Arial"/>
                <a:ea typeface="Arial"/>
                <a:cs typeface="Arial"/>
                <a:sym typeface="Arial"/>
              </a:rPr>
              <a:t>m</a:t>
            </a:r>
            <a:r>
              <a:rPr b="0" i="0" lang="en-GB" sz="1700" u="none" cap="none" strike="noStrike">
                <a:solidFill>
                  <a:schemeClr val="dk1"/>
                </a:solidFill>
                <a:latin typeface="Arial"/>
                <a:ea typeface="Arial"/>
                <a:cs typeface="Arial"/>
                <a:sym typeface="Arial"/>
              </a:rPr>
              <a:t> - </a:t>
            </a:r>
            <a:r>
              <a:rPr b="0" i="1" lang="en-GB" sz="1700" u="none" cap="none" strike="noStrike">
                <a:solidFill>
                  <a:schemeClr val="dk1"/>
                </a:solidFill>
                <a:latin typeface="Arial"/>
                <a:ea typeface="Arial"/>
                <a:cs typeface="Arial"/>
                <a:sym typeface="Arial"/>
              </a:rPr>
              <a:t>c</a:t>
            </a:r>
            <a:r>
              <a:rPr b="0" i="0" lang="en-GB" sz="1700" u="none" cap="none" strike="noStrike">
                <a:solidFill>
                  <a:schemeClr val="dk1"/>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6350" lvl="0" marL="6350" marR="0" rtl="0" algn="l">
              <a:lnSpc>
                <a:spcPct val="100000"/>
              </a:lnSpc>
              <a:spcBef>
                <a:spcPts val="0"/>
              </a:spcBef>
              <a:spcAft>
                <a:spcPts val="0"/>
              </a:spcAft>
              <a:buClr>
                <a:schemeClr val="dk1"/>
              </a:buClr>
              <a:buSzPts val="1700"/>
              <a:buFont typeface="Noto Sans Symbols"/>
              <a:buChar char="❖"/>
            </a:pPr>
            <a:r>
              <a:rPr b="0" i="0" lang="en-GB" sz="1700" u="none" cap="none" strike="noStrike">
                <a:solidFill>
                  <a:schemeClr val="dk1"/>
                </a:solidFill>
                <a:latin typeface="Arial"/>
                <a:ea typeface="Arial"/>
                <a:cs typeface="Arial"/>
                <a:sym typeface="Arial"/>
              </a:rPr>
              <a:t> Suppose a container contains </a:t>
            </a:r>
            <a:r>
              <a:rPr b="0" i="1" lang="en-GB" sz="1700" u="none" cap="none" strike="noStrike">
                <a:solidFill>
                  <a:schemeClr val="dk1"/>
                </a:solidFill>
                <a:latin typeface="Arial"/>
                <a:ea typeface="Arial"/>
                <a:cs typeface="Arial"/>
                <a:sym typeface="Arial"/>
              </a:rPr>
              <a:t>x</a:t>
            </a:r>
            <a:r>
              <a:rPr b="0" i="0" lang="en-GB" sz="1700" u="none" cap="none" strike="noStrike">
                <a:solidFill>
                  <a:schemeClr val="dk1"/>
                </a:solidFill>
                <a:latin typeface="Arial"/>
                <a:ea typeface="Arial"/>
                <a:cs typeface="Arial"/>
                <a:sym typeface="Arial"/>
              </a:rPr>
              <a:t> of liquid from which </a:t>
            </a:r>
            <a:r>
              <a:rPr b="0" i="1" lang="en-GB" sz="1700" u="none" cap="none" strike="noStrike">
                <a:solidFill>
                  <a:schemeClr val="dk1"/>
                </a:solidFill>
                <a:latin typeface="Arial"/>
                <a:ea typeface="Arial"/>
                <a:cs typeface="Arial"/>
                <a:sym typeface="Arial"/>
              </a:rPr>
              <a:t>y</a:t>
            </a:r>
            <a:r>
              <a:rPr b="0" i="0" lang="en-GB" sz="1700" u="none" cap="none" strike="noStrike">
                <a:solidFill>
                  <a:schemeClr val="dk1"/>
                </a:solidFill>
                <a:latin typeface="Arial"/>
                <a:ea typeface="Arial"/>
                <a:cs typeface="Arial"/>
                <a:sym typeface="Arial"/>
              </a:rPr>
              <a:t> units are taken out and replaced by water.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chemeClr val="dk1"/>
                </a:solidFill>
                <a:latin typeface="Arial"/>
                <a:ea typeface="Arial"/>
                <a:cs typeface="Arial"/>
                <a:sym typeface="Arial"/>
              </a:rPr>
              <a:t>After </a:t>
            </a:r>
            <a:r>
              <a:rPr b="0" i="1" lang="en-GB" sz="1700" u="none" cap="none" strike="noStrike">
                <a:solidFill>
                  <a:schemeClr val="dk1"/>
                </a:solidFill>
                <a:latin typeface="Arial"/>
                <a:ea typeface="Arial"/>
                <a:cs typeface="Arial"/>
                <a:sym typeface="Arial"/>
              </a:rPr>
              <a:t>n</a:t>
            </a:r>
            <a:r>
              <a:rPr b="0" i="0" lang="en-GB" sz="1700" u="none" cap="none" strike="noStrike">
                <a:solidFill>
                  <a:schemeClr val="dk1"/>
                </a:solidFill>
                <a:latin typeface="Arial"/>
                <a:ea typeface="Arial"/>
                <a:cs typeface="Arial"/>
                <a:sym typeface="Arial"/>
              </a:rPr>
              <a:t> operations, the quantity of pure liquid = [x(1-(y/x))^n] units</a:t>
            </a:r>
            <a:endParaRPr b="0" i="0" sz="17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10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14337fc5d25_0_39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160" name="Google Shape;160;g14337fc5d25_0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161" name="Google Shape;161;g14337fc5d25_0_391"/>
          <p:cNvSpPr txBox="1"/>
          <p:nvPr/>
        </p:nvSpPr>
        <p:spPr>
          <a:xfrm>
            <a:off x="720000" y="1439999"/>
            <a:ext cx="8472300" cy="3917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what ratio must rice at Rs 9.30 per kg be mixed with rice at </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Rs 10.80 per kg so that the mixture be worth Rs 10 per kg?</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6:5</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8:7</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3:7</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6:1</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 calcmode="lin" valueType="num">
                                      <p:cBhvr additive="base">
                                        <p:cTn dur="1000"/>
                                        <p:tgtEl>
                                          <p:spTgt spid="1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 calcmode="lin" valueType="num">
                                      <p:cBhvr additive="base">
                                        <p:cTn dur="1000"/>
                                        <p:tgtEl>
                                          <p:spTgt spid="1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 calcmode="lin" valueType="num">
                                      <p:cBhvr additive="base">
                                        <p:cTn dur="1000"/>
                                        <p:tgtEl>
                                          <p:spTgt spid="1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 calcmode="lin" valueType="num">
                                      <p:cBhvr additive="base">
                                        <p:cTn dur="1000"/>
                                        <p:tgtEl>
                                          <p:spTgt spid="16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 calcmode="lin" valueType="num">
                                      <p:cBhvr additive="base">
                                        <p:cTn dur="1000"/>
                                        <p:tgtEl>
                                          <p:spTgt spid="16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 calcmode="lin" valueType="num">
                                      <p:cBhvr additive="base">
                                        <p:cTn dur="1000"/>
                                        <p:tgtEl>
                                          <p:spTgt spid="16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 calcmode="lin" valueType="num">
                                      <p:cBhvr additive="base">
                                        <p:cTn dur="1000"/>
                                        <p:tgtEl>
                                          <p:spTgt spid="16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 calcmode="lin" valueType="num">
                                      <p:cBhvr additive="base">
                                        <p:cTn dur="1000"/>
                                        <p:tgtEl>
                                          <p:spTgt spid="16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anim calcmode="lin" valueType="num">
                                      <p:cBhvr additive="base">
                                        <p:cTn dur="1000"/>
                                        <p:tgtEl>
                                          <p:spTgt spid="16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anim calcmode="lin" valueType="num">
                                      <p:cBhvr additive="base">
                                        <p:cTn dur="1000"/>
                                        <p:tgtEl>
                                          <p:spTgt spid="16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 calcmode="lin" valueType="num">
                                      <p:cBhvr additive="base">
                                        <p:cTn dur="1000"/>
                                        <p:tgtEl>
                                          <p:spTgt spid="1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 name="Shape 165"/>
        <p:cNvGrpSpPr/>
        <p:nvPr/>
      </p:nvGrpSpPr>
      <p:grpSpPr>
        <a:xfrm>
          <a:off x="0" y="0"/>
          <a:ext cx="0" cy="0"/>
          <a:chOff x="0" y="0"/>
          <a:chExt cx="0" cy="0"/>
        </a:xfrm>
      </p:grpSpPr>
      <p:sp>
        <p:nvSpPr>
          <p:cNvPr id="166" name="Google Shape;166;g14337fc5d25_0_47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67" name="Google Shape;167;g14337fc5d25_0_477"/>
          <p:cNvSpPr txBox="1"/>
          <p:nvPr/>
        </p:nvSpPr>
        <p:spPr>
          <a:xfrm>
            <a:off x="720000" y="1066800"/>
            <a:ext cx="682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168" name="Google Shape;168;g14337fc5d25_0_477"/>
          <p:cNvSpPr txBox="1"/>
          <p:nvPr/>
        </p:nvSpPr>
        <p:spPr>
          <a:xfrm>
            <a:off x="720000" y="383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
        <p:nvSpPr>
          <p:cNvPr id="169" name="Google Shape;169;g14337fc5d25_0_477"/>
          <p:cNvSpPr txBox="1"/>
          <p:nvPr/>
        </p:nvSpPr>
        <p:spPr>
          <a:xfrm>
            <a:off x="826225" y="1170000"/>
            <a:ext cx="7360500" cy="341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C.P of 1 Kg                   C.P of 1 Kg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rice of 1st                   rice of 2nd</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kind (930p)                kind (1080p)</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                        /</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Mean Price</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(1000p)</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(1080 – 1000)  :        (1000 -  930)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80                             70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Thus, required ratio = 80 : 70 = </a:t>
            </a:r>
            <a:r>
              <a:rPr b="1" i="0" lang="en-GB" sz="1600" u="none" cap="none" strike="noStrike">
                <a:solidFill>
                  <a:schemeClr val="dk1"/>
                </a:solidFill>
                <a:latin typeface="Roboto"/>
                <a:ea typeface="Roboto"/>
                <a:cs typeface="Roboto"/>
                <a:sym typeface="Roboto"/>
              </a:rPr>
              <a:t>8 : 7</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 calcmode="lin" valueType="num">
                                      <p:cBhvr additive="base">
                                        <p:cTn dur="1000"/>
                                        <p:tgtEl>
                                          <p:spTgt spid="1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 calcmode="lin" valueType="num">
                                      <p:cBhvr additive="base">
                                        <p:cTn dur="1000"/>
                                        <p:tgtEl>
                                          <p:spTgt spid="1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 calcmode="lin" valueType="num">
                                      <p:cBhvr additive="base">
                                        <p:cTn dur="1000"/>
                                        <p:tgtEl>
                                          <p:spTgt spid="1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anim calcmode="lin" valueType="num">
                                      <p:cBhvr additive="base">
                                        <p:cTn dur="1000"/>
                                        <p:tgtEl>
                                          <p:spTgt spid="1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anim calcmode="lin" valueType="num">
                                      <p:cBhvr additive="base">
                                        <p:cTn dur="1000"/>
                                        <p:tgtEl>
                                          <p:spTgt spid="16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anim calcmode="lin" valueType="num">
                                      <p:cBhvr additive="base">
                                        <p:cTn dur="1000"/>
                                        <p:tgtEl>
                                          <p:spTgt spid="16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anim calcmode="lin" valueType="num">
                                      <p:cBhvr additive="base">
                                        <p:cTn dur="1000"/>
                                        <p:tgtEl>
                                          <p:spTgt spid="16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7" st="7"/>
                                            </p:txEl>
                                          </p:spTgt>
                                        </p:tgtEl>
                                        <p:attrNameLst>
                                          <p:attrName>style.visibility</p:attrName>
                                        </p:attrNameLst>
                                      </p:cBhvr>
                                      <p:to>
                                        <p:strVal val="visible"/>
                                      </p:to>
                                    </p:set>
                                    <p:anim calcmode="lin" valueType="num">
                                      <p:cBhvr additive="base">
                                        <p:cTn dur="1000"/>
                                        <p:tgtEl>
                                          <p:spTgt spid="16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8" st="8"/>
                                            </p:txEl>
                                          </p:spTgt>
                                        </p:tgtEl>
                                        <p:attrNameLst>
                                          <p:attrName>style.visibility</p:attrName>
                                        </p:attrNameLst>
                                      </p:cBhvr>
                                      <p:to>
                                        <p:strVal val="visible"/>
                                      </p:to>
                                    </p:set>
                                    <p:anim calcmode="lin" valueType="num">
                                      <p:cBhvr additive="base">
                                        <p:cTn dur="1000"/>
                                        <p:tgtEl>
                                          <p:spTgt spid="16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9" st="9"/>
                                            </p:txEl>
                                          </p:spTgt>
                                        </p:tgtEl>
                                        <p:attrNameLst>
                                          <p:attrName>style.visibility</p:attrName>
                                        </p:attrNameLst>
                                      </p:cBhvr>
                                      <p:to>
                                        <p:strVal val="visible"/>
                                      </p:to>
                                    </p:set>
                                    <p:anim calcmode="lin" valueType="num">
                                      <p:cBhvr additive="base">
                                        <p:cTn dur="1000"/>
                                        <p:tgtEl>
                                          <p:spTgt spid="16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10" st="10"/>
                                            </p:txEl>
                                          </p:spTgt>
                                        </p:tgtEl>
                                        <p:attrNameLst>
                                          <p:attrName>style.visibility</p:attrName>
                                        </p:attrNameLst>
                                      </p:cBhvr>
                                      <p:to>
                                        <p:strVal val="visible"/>
                                      </p:to>
                                    </p:set>
                                    <p:anim calcmode="lin" valueType="num">
                                      <p:cBhvr additive="base">
                                        <p:cTn dur="1000"/>
                                        <p:tgtEl>
                                          <p:spTgt spid="169">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11" st="11"/>
                                            </p:txEl>
                                          </p:spTgt>
                                        </p:tgtEl>
                                        <p:attrNameLst>
                                          <p:attrName>style.visibility</p:attrName>
                                        </p:attrNameLst>
                                      </p:cBhvr>
                                      <p:to>
                                        <p:strVal val="visible"/>
                                      </p:to>
                                    </p:set>
                                    <p:anim calcmode="lin" valueType="num">
                                      <p:cBhvr additive="base">
                                        <p:cTn dur="1000"/>
                                        <p:tgtEl>
                                          <p:spTgt spid="169">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1b9c7de5da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175" name="Google Shape;175;g31b9c7de5da_0_78"/>
          <p:cNvSpPr txBox="1"/>
          <p:nvPr/>
        </p:nvSpPr>
        <p:spPr>
          <a:xfrm>
            <a:off x="720000" y="1439999"/>
            <a:ext cx="8472300" cy="4881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How much water must be added to 60 litres of milk at </a:t>
            </a:r>
            <a:r>
              <a:rPr lang="en-GB" sz="1800">
                <a:solidFill>
                  <a:schemeClr val="dk1"/>
                </a:solidFill>
                <a:latin typeface="Roboto"/>
                <a:ea typeface="Roboto"/>
                <a:cs typeface="Roboto"/>
                <a:sym typeface="Roboto"/>
              </a:rPr>
              <a:t>1 (½)</a:t>
            </a:r>
            <a:r>
              <a:rPr b="0" i="0" lang="en-GB" sz="1800" u="none" cap="none" strike="noStrike">
                <a:solidFill>
                  <a:schemeClr val="dk1"/>
                </a:solidFill>
                <a:latin typeface="Roboto"/>
                <a:ea typeface="Roboto"/>
                <a:cs typeface="Roboto"/>
                <a:sym typeface="Roboto"/>
              </a:rPr>
              <a:t> </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litres for Rs. 20 so as to have a mixture worth Rs.10 </a:t>
            </a:r>
            <a:r>
              <a:rPr lang="en-GB" sz="1800">
                <a:solidFill>
                  <a:schemeClr val="dk1"/>
                </a:solidFill>
                <a:latin typeface="Roboto"/>
                <a:ea typeface="Roboto"/>
                <a:cs typeface="Roboto"/>
                <a:sym typeface="Roboto"/>
              </a:rPr>
              <a:t>(⅔)</a:t>
            </a:r>
            <a:r>
              <a:rPr b="0" i="0" lang="en-GB" sz="1800" u="none" cap="none" strike="noStrike">
                <a:solidFill>
                  <a:schemeClr val="dk1"/>
                </a:solidFill>
                <a:latin typeface="Roboto"/>
                <a:ea typeface="Roboto"/>
                <a:cs typeface="Roboto"/>
                <a:sym typeface="Roboto"/>
              </a:rPr>
              <a:t> a litre?</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10 litres</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12 litres</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15 litres</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18 litres</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400"/>
              <a:buFont typeface="Arial"/>
              <a:buNone/>
            </a:pPr>
            <a:r>
              <a:t/>
            </a:r>
            <a:endParaRPr b="0" i="0" sz="1600" u="none" cap="none" strike="noStrike">
              <a:solidFill>
                <a:srgbClr val="2A2A2A"/>
              </a:solidFill>
              <a:highlight>
                <a:schemeClr val="lt1"/>
              </a:highlight>
              <a:latin typeface="Roboto"/>
              <a:ea typeface="Roboto"/>
              <a:cs typeface="Roboto"/>
              <a:sym typeface="Roboto"/>
            </a:endParaRPr>
          </a:p>
          <a:p>
            <a:pPr indent="0" lvl="0" marL="457200" marR="0" rtl="0" algn="l">
              <a:lnSpc>
                <a:spcPct val="100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176" name="Google Shape;176;g31b9c7de5da_0_7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 calcmode="lin" valueType="num">
                                      <p:cBhvr additive="base">
                                        <p:cTn dur="1000"/>
                                        <p:tgtEl>
                                          <p:spTgt spid="1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 calcmode="lin" valueType="num">
                                      <p:cBhvr additive="base">
                                        <p:cTn dur="1000"/>
                                        <p:tgtEl>
                                          <p:spTgt spid="17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 calcmode="lin" valueType="num">
                                      <p:cBhvr additive="base">
                                        <p:cTn dur="1000"/>
                                        <p:tgtEl>
                                          <p:spTgt spid="17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 calcmode="lin" valueType="num">
                                      <p:cBhvr additive="base">
                                        <p:cTn dur="1000"/>
                                        <p:tgtEl>
                                          <p:spTgt spid="17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 calcmode="lin" valueType="num">
                                      <p:cBhvr additive="base">
                                        <p:cTn dur="1000"/>
                                        <p:tgtEl>
                                          <p:spTgt spid="17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anim calcmode="lin" valueType="num">
                                      <p:cBhvr additive="base">
                                        <p:cTn dur="1000"/>
                                        <p:tgtEl>
                                          <p:spTgt spid="17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anim calcmode="lin" valueType="num">
                                      <p:cBhvr additive="base">
                                        <p:cTn dur="1000"/>
                                        <p:tgtEl>
                                          <p:spTgt spid="17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7" st="7"/>
                                            </p:txEl>
                                          </p:spTgt>
                                        </p:tgtEl>
                                        <p:attrNameLst>
                                          <p:attrName>style.visibility</p:attrName>
                                        </p:attrNameLst>
                                      </p:cBhvr>
                                      <p:to>
                                        <p:strVal val="visible"/>
                                      </p:to>
                                    </p:set>
                                    <p:anim calcmode="lin" valueType="num">
                                      <p:cBhvr additive="base">
                                        <p:cTn dur="1000"/>
                                        <p:tgtEl>
                                          <p:spTgt spid="17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8" st="8"/>
                                            </p:txEl>
                                          </p:spTgt>
                                        </p:tgtEl>
                                        <p:attrNameLst>
                                          <p:attrName>style.visibility</p:attrName>
                                        </p:attrNameLst>
                                      </p:cBhvr>
                                      <p:to>
                                        <p:strVal val="visible"/>
                                      </p:to>
                                    </p:set>
                                    <p:anim calcmode="lin" valueType="num">
                                      <p:cBhvr additive="base">
                                        <p:cTn dur="1000"/>
                                        <p:tgtEl>
                                          <p:spTgt spid="17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9" st="9"/>
                                            </p:txEl>
                                          </p:spTgt>
                                        </p:tgtEl>
                                        <p:attrNameLst>
                                          <p:attrName>style.visibility</p:attrName>
                                        </p:attrNameLst>
                                      </p:cBhvr>
                                      <p:to>
                                        <p:strVal val="visible"/>
                                      </p:to>
                                    </p:set>
                                    <p:anim calcmode="lin" valueType="num">
                                      <p:cBhvr additive="base">
                                        <p:cTn dur="1000"/>
                                        <p:tgtEl>
                                          <p:spTgt spid="17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10" st="10"/>
                                            </p:txEl>
                                          </p:spTgt>
                                        </p:tgtEl>
                                        <p:attrNameLst>
                                          <p:attrName>style.visibility</p:attrName>
                                        </p:attrNameLst>
                                      </p:cBhvr>
                                      <p:to>
                                        <p:strVal val="visible"/>
                                      </p:to>
                                    </p:set>
                                    <p:anim calcmode="lin" valueType="num">
                                      <p:cBhvr additive="base">
                                        <p:cTn dur="1000"/>
                                        <p:tgtEl>
                                          <p:spTgt spid="17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11" st="11"/>
                                            </p:txEl>
                                          </p:spTgt>
                                        </p:tgtEl>
                                        <p:attrNameLst>
                                          <p:attrName>style.visibility</p:attrName>
                                        </p:attrNameLst>
                                      </p:cBhvr>
                                      <p:to>
                                        <p:strVal val="visible"/>
                                      </p:to>
                                    </p:set>
                                    <p:anim calcmode="lin" valueType="num">
                                      <p:cBhvr additive="base">
                                        <p:cTn dur="1000"/>
                                        <p:tgtEl>
                                          <p:spTgt spid="175">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 calcmode="lin" valueType="num">
                                      <p:cBhvr additive="base">
                                        <p:cTn dur="1000"/>
                                        <p:tgtEl>
                                          <p:spTgt spid="1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0" name="Shape 180"/>
        <p:cNvGrpSpPr/>
        <p:nvPr/>
      </p:nvGrpSpPr>
      <p:grpSpPr>
        <a:xfrm>
          <a:off x="0" y="0"/>
          <a:ext cx="0" cy="0"/>
          <a:chOff x="0" y="0"/>
          <a:chExt cx="0" cy="0"/>
        </a:xfrm>
      </p:grpSpPr>
      <p:sp>
        <p:nvSpPr>
          <p:cNvPr id="181" name="Google Shape;181;g14337fc5d25_0_530"/>
          <p:cNvSpPr txBox="1"/>
          <p:nvPr/>
        </p:nvSpPr>
        <p:spPr>
          <a:xfrm>
            <a:off x="876750" y="989551"/>
            <a:ext cx="8472300" cy="4109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1(½) = Rs 20</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1 litre = 20 * ⅔ = 40/3</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C.p of 1 litre of water	                C.P of 1 litre milk</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                  0				               40/3</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																						    </a:t>
            </a:r>
            <a:r>
              <a:rPr lang="en-GB" sz="1800">
                <a:solidFill>
                  <a:schemeClr val="dk1"/>
                </a:solidFill>
                <a:latin typeface="Roboto"/>
                <a:ea typeface="Roboto"/>
                <a:cs typeface="Roboto"/>
                <a:sym typeface="Roboto"/>
              </a:rPr>
              <a:t>32/3</a:t>
            </a: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           (40/3-32/3)=8/3            32/3 -0 = 32/3</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                            Ratio = 8/3:32/3= 1:4 = ¼ * 60 =15 litres</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p:txBody>
      </p:sp>
      <p:sp>
        <p:nvSpPr>
          <p:cNvPr id="182" name="Google Shape;182;g14337fc5d25_0_530"/>
          <p:cNvSpPr txBox="1"/>
          <p:nvPr/>
        </p:nvSpPr>
        <p:spPr>
          <a:xfrm>
            <a:off x="720725" y="496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cxnSp>
        <p:nvCxnSpPr>
          <p:cNvPr id="183" name="Google Shape;183;g14337fc5d25_0_530"/>
          <p:cNvCxnSpPr/>
          <p:nvPr/>
        </p:nvCxnSpPr>
        <p:spPr>
          <a:xfrm>
            <a:off x="2138225" y="2493150"/>
            <a:ext cx="853500" cy="5706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g14337fc5d25_0_530"/>
          <p:cNvCxnSpPr/>
          <p:nvPr/>
        </p:nvCxnSpPr>
        <p:spPr>
          <a:xfrm flipH="1">
            <a:off x="3620825" y="2448150"/>
            <a:ext cx="840900" cy="6603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g14337fc5d25_0_530"/>
          <p:cNvCxnSpPr/>
          <p:nvPr/>
        </p:nvCxnSpPr>
        <p:spPr>
          <a:xfrm flipH="1">
            <a:off x="2407625" y="3378171"/>
            <a:ext cx="584100" cy="4941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g14337fc5d25_0_530"/>
          <p:cNvCxnSpPr/>
          <p:nvPr/>
        </p:nvCxnSpPr>
        <p:spPr>
          <a:xfrm>
            <a:off x="3541028" y="3361381"/>
            <a:ext cx="686100" cy="510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1b9c7de5da_0_8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92" name="Google Shape;192;g31b9c7de5da_0_86"/>
          <p:cNvSpPr txBox="1"/>
          <p:nvPr/>
        </p:nvSpPr>
        <p:spPr>
          <a:xfrm>
            <a:off x="720000" y="1439999"/>
            <a:ext cx="8472300" cy="4881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what ratio must wheat at Rs. 3.20 per kg be mixed with</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wheat at Rs. 2.90 per kg so that the mixture be worth Rs. 3.08 per kg?</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3 : 4</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2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3 : 2</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4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193" name="Google Shape;193;g31b9c7de5da_0_8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 calcmode="lin" valueType="num">
                                      <p:cBhvr additive="base">
                                        <p:cTn dur="1000"/>
                                        <p:tgtEl>
                                          <p:spTgt spid="1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 calcmode="lin" valueType="num">
                                      <p:cBhvr additive="base">
                                        <p:cTn dur="1000"/>
                                        <p:tgtEl>
                                          <p:spTgt spid="1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 calcmode="lin" valueType="num">
                                      <p:cBhvr additive="base">
                                        <p:cTn dur="1000"/>
                                        <p:tgtEl>
                                          <p:spTgt spid="1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anim calcmode="lin" valueType="num">
                                      <p:cBhvr additive="base">
                                        <p:cTn dur="1000"/>
                                        <p:tgtEl>
                                          <p:spTgt spid="19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4" st="4"/>
                                            </p:txEl>
                                          </p:spTgt>
                                        </p:tgtEl>
                                        <p:attrNameLst>
                                          <p:attrName>style.visibility</p:attrName>
                                        </p:attrNameLst>
                                      </p:cBhvr>
                                      <p:to>
                                        <p:strVal val="visible"/>
                                      </p:to>
                                    </p:set>
                                    <p:anim calcmode="lin" valueType="num">
                                      <p:cBhvr additive="base">
                                        <p:cTn dur="1000"/>
                                        <p:tgtEl>
                                          <p:spTgt spid="19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5" st="5"/>
                                            </p:txEl>
                                          </p:spTgt>
                                        </p:tgtEl>
                                        <p:attrNameLst>
                                          <p:attrName>style.visibility</p:attrName>
                                        </p:attrNameLst>
                                      </p:cBhvr>
                                      <p:to>
                                        <p:strVal val="visible"/>
                                      </p:to>
                                    </p:set>
                                    <p:anim calcmode="lin" valueType="num">
                                      <p:cBhvr additive="base">
                                        <p:cTn dur="1000"/>
                                        <p:tgtEl>
                                          <p:spTgt spid="19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6" st="6"/>
                                            </p:txEl>
                                          </p:spTgt>
                                        </p:tgtEl>
                                        <p:attrNameLst>
                                          <p:attrName>style.visibility</p:attrName>
                                        </p:attrNameLst>
                                      </p:cBhvr>
                                      <p:to>
                                        <p:strVal val="visible"/>
                                      </p:to>
                                    </p:set>
                                    <p:anim calcmode="lin" valueType="num">
                                      <p:cBhvr additive="base">
                                        <p:cTn dur="1000"/>
                                        <p:tgtEl>
                                          <p:spTgt spid="19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7" st="7"/>
                                            </p:txEl>
                                          </p:spTgt>
                                        </p:tgtEl>
                                        <p:attrNameLst>
                                          <p:attrName>style.visibility</p:attrName>
                                        </p:attrNameLst>
                                      </p:cBhvr>
                                      <p:to>
                                        <p:strVal val="visible"/>
                                      </p:to>
                                    </p:set>
                                    <p:anim calcmode="lin" valueType="num">
                                      <p:cBhvr additive="base">
                                        <p:cTn dur="1000"/>
                                        <p:tgtEl>
                                          <p:spTgt spid="19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8" st="8"/>
                                            </p:txEl>
                                          </p:spTgt>
                                        </p:tgtEl>
                                        <p:attrNameLst>
                                          <p:attrName>style.visibility</p:attrName>
                                        </p:attrNameLst>
                                      </p:cBhvr>
                                      <p:to>
                                        <p:strVal val="visible"/>
                                      </p:to>
                                    </p:set>
                                    <p:anim calcmode="lin" valueType="num">
                                      <p:cBhvr additive="base">
                                        <p:cTn dur="1000"/>
                                        <p:tgtEl>
                                          <p:spTgt spid="19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9" st="9"/>
                                            </p:txEl>
                                          </p:spTgt>
                                        </p:tgtEl>
                                        <p:attrNameLst>
                                          <p:attrName>style.visibility</p:attrName>
                                        </p:attrNameLst>
                                      </p:cBhvr>
                                      <p:to>
                                        <p:strVal val="visible"/>
                                      </p:to>
                                    </p:set>
                                    <p:anim calcmode="lin" valueType="num">
                                      <p:cBhvr additive="base">
                                        <p:cTn dur="1000"/>
                                        <p:tgtEl>
                                          <p:spTgt spid="19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0" st="10"/>
                                            </p:txEl>
                                          </p:spTgt>
                                        </p:tgtEl>
                                        <p:attrNameLst>
                                          <p:attrName>style.visibility</p:attrName>
                                        </p:attrNameLst>
                                      </p:cBhvr>
                                      <p:to>
                                        <p:strVal val="visible"/>
                                      </p:to>
                                    </p:set>
                                    <p:anim calcmode="lin" valueType="num">
                                      <p:cBhvr additive="base">
                                        <p:cTn dur="1000"/>
                                        <p:tgtEl>
                                          <p:spTgt spid="19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1" st="11"/>
                                            </p:txEl>
                                          </p:spTgt>
                                        </p:tgtEl>
                                        <p:attrNameLst>
                                          <p:attrName>style.visibility</p:attrName>
                                        </p:attrNameLst>
                                      </p:cBhvr>
                                      <p:to>
                                        <p:strVal val="visible"/>
                                      </p:to>
                                    </p:set>
                                    <p:anim calcmode="lin" valueType="num">
                                      <p:cBhvr additive="base">
                                        <p:cTn dur="1000"/>
                                        <p:tgtEl>
                                          <p:spTgt spid="192">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 calcmode="lin" valueType="num">
                                      <p:cBhvr additive="base">
                                        <p:cTn dur="1"/>
                                        <p:tgtEl>
                                          <p:spTgt spid="19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14337fc5d25_0_546"/>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99" name="Google Shape;199;g14337fc5d25_0_54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
        <p:nvSpPr>
          <p:cNvPr id="200" name="Google Shape;200;g14337fc5d25_0_546"/>
          <p:cNvSpPr txBox="1"/>
          <p:nvPr/>
        </p:nvSpPr>
        <p:spPr>
          <a:xfrm>
            <a:off x="855675" y="1122850"/>
            <a:ext cx="7513500" cy="412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C.P of a unit quantity of 1st kind  = Rs. 3.20</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C.P of a unit quantity of 2nd kind  = Rs. 2.90</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Mean price = Rs.3.08</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C.P of unit quantity         C.P of unit quantity</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of 1st kind                         of 2nd kind</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(Rs. 3.20)                         (Rs. 2.90)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                       /</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Mean Price</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(Rs.3.08)</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(3.08 – 2.90)          :           (3.20 – 3.08)</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       0.18                                      0.12</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Required ratio = 0.18 : 0.12 =</a:t>
            </a:r>
            <a:r>
              <a:rPr b="1" i="0" lang="en-GB" sz="1600" u="none" cap="none" strike="noStrike">
                <a:solidFill>
                  <a:schemeClr val="dk1"/>
                </a:solidFill>
                <a:latin typeface="Roboto"/>
                <a:ea typeface="Roboto"/>
                <a:cs typeface="Roboto"/>
                <a:sym typeface="Roboto"/>
              </a:rPr>
              <a:t> 3 : 2</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 calcmode="lin" valueType="num">
                                      <p:cBhvr additive="base">
                                        <p:cTn dur="1000"/>
                                        <p:tgtEl>
                                          <p:spTgt spid="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 calcmode="lin" valueType="num">
                                      <p:cBhvr additive="base">
                                        <p:cTn dur="1000"/>
                                        <p:tgtEl>
                                          <p:spTgt spid="2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 calcmode="lin" valueType="num">
                                      <p:cBhvr additive="base">
                                        <p:cTn dur="1000"/>
                                        <p:tgtEl>
                                          <p:spTgt spid="2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 calcmode="lin" valueType="num">
                                      <p:cBhvr additive="base">
                                        <p:cTn dur="1000"/>
                                        <p:tgtEl>
                                          <p:spTgt spid="2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 calcmode="lin" valueType="num">
                                      <p:cBhvr additive="base">
                                        <p:cTn dur="1000"/>
                                        <p:tgtEl>
                                          <p:spTgt spid="2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 calcmode="lin" valueType="num">
                                      <p:cBhvr additive="base">
                                        <p:cTn dur="1000"/>
                                        <p:tgtEl>
                                          <p:spTgt spid="2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anim calcmode="lin" valueType="num">
                                      <p:cBhvr additive="base">
                                        <p:cTn dur="1000"/>
                                        <p:tgtEl>
                                          <p:spTgt spid="20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7" st="7"/>
                                            </p:txEl>
                                          </p:spTgt>
                                        </p:tgtEl>
                                        <p:attrNameLst>
                                          <p:attrName>style.visibility</p:attrName>
                                        </p:attrNameLst>
                                      </p:cBhvr>
                                      <p:to>
                                        <p:strVal val="visible"/>
                                      </p:to>
                                    </p:set>
                                    <p:anim calcmode="lin" valueType="num">
                                      <p:cBhvr additive="base">
                                        <p:cTn dur="1000"/>
                                        <p:tgtEl>
                                          <p:spTgt spid="20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8" st="8"/>
                                            </p:txEl>
                                          </p:spTgt>
                                        </p:tgtEl>
                                        <p:attrNameLst>
                                          <p:attrName>style.visibility</p:attrName>
                                        </p:attrNameLst>
                                      </p:cBhvr>
                                      <p:to>
                                        <p:strVal val="visible"/>
                                      </p:to>
                                    </p:set>
                                    <p:anim calcmode="lin" valueType="num">
                                      <p:cBhvr additive="base">
                                        <p:cTn dur="1000"/>
                                        <p:tgtEl>
                                          <p:spTgt spid="20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9" st="9"/>
                                            </p:txEl>
                                          </p:spTgt>
                                        </p:tgtEl>
                                        <p:attrNameLst>
                                          <p:attrName>style.visibility</p:attrName>
                                        </p:attrNameLst>
                                      </p:cBhvr>
                                      <p:to>
                                        <p:strVal val="visible"/>
                                      </p:to>
                                    </p:set>
                                    <p:anim calcmode="lin" valueType="num">
                                      <p:cBhvr additive="base">
                                        <p:cTn dur="1000"/>
                                        <p:tgtEl>
                                          <p:spTgt spid="20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0" st="10"/>
                                            </p:txEl>
                                          </p:spTgt>
                                        </p:tgtEl>
                                        <p:attrNameLst>
                                          <p:attrName>style.visibility</p:attrName>
                                        </p:attrNameLst>
                                      </p:cBhvr>
                                      <p:to>
                                        <p:strVal val="visible"/>
                                      </p:to>
                                    </p:set>
                                    <p:anim calcmode="lin" valueType="num">
                                      <p:cBhvr additive="base">
                                        <p:cTn dur="1000"/>
                                        <p:tgtEl>
                                          <p:spTgt spid="20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1" st="11"/>
                                            </p:txEl>
                                          </p:spTgt>
                                        </p:tgtEl>
                                        <p:attrNameLst>
                                          <p:attrName>style.visibility</p:attrName>
                                        </p:attrNameLst>
                                      </p:cBhvr>
                                      <p:to>
                                        <p:strVal val="visible"/>
                                      </p:to>
                                    </p:set>
                                    <p:anim calcmode="lin" valueType="num">
                                      <p:cBhvr additive="base">
                                        <p:cTn dur="1000"/>
                                        <p:tgtEl>
                                          <p:spTgt spid="20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1b9c7de5da_0_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206" name="Google Shape;206;g31b9c7de5da_0_94"/>
          <p:cNvSpPr txBox="1"/>
          <p:nvPr/>
        </p:nvSpPr>
        <p:spPr>
          <a:xfrm>
            <a:off x="720000" y="1439999"/>
            <a:ext cx="8472300" cy="4835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what proportion must rice at Rs. 3.10 per kg be mixed with</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rice at Rs. 3.60 per kg so that the mixture be worth Rs. 3.25 per kg?</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3 : 7</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5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3 : 5</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7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07" name="Google Shape;207;g31b9c7de5da_0_9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 calcmode="lin" valueType="num">
                                      <p:cBhvr additive="base">
                                        <p:cTn dur="1000"/>
                                        <p:tgtEl>
                                          <p:spTgt spid="2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 calcmode="lin" valueType="num">
                                      <p:cBhvr additive="base">
                                        <p:cTn dur="1000"/>
                                        <p:tgtEl>
                                          <p:spTgt spid="2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 calcmode="lin" valueType="num">
                                      <p:cBhvr additive="base">
                                        <p:cTn dur="1000"/>
                                        <p:tgtEl>
                                          <p:spTgt spid="2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 calcmode="lin" valueType="num">
                                      <p:cBhvr additive="base">
                                        <p:cTn dur="1000"/>
                                        <p:tgtEl>
                                          <p:spTgt spid="2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 calcmode="lin" valueType="num">
                                      <p:cBhvr additive="base">
                                        <p:cTn dur="1000"/>
                                        <p:tgtEl>
                                          <p:spTgt spid="2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 calcmode="lin" valueType="num">
                                      <p:cBhvr additive="base">
                                        <p:cTn dur="1000"/>
                                        <p:tgtEl>
                                          <p:spTgt spid="2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 calcmode="lin" valueType="num">
                                      <p:cBhvr additive="base">
                                        <p:cTn dur="1000"/>
                                        <p:tgtEl>
                                          <p:spTgt spid="2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anim calcmode="lin" valueType="num">
                                      <p:cBhvr additive="base">
                                        <p:cTn dur="1000"/>
                                        <p:tgtEl>
                                          <p:spTgt spid="20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anim calcmode="lin" valueType="num">
                                      <p:cBhvr additive="base">
                                        <p:cTn dur="1000"/>
                                        <p:tgtEl>
                                          <p:spTgt spid="20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anim calcmode="lin" valueType="num">
                                      <p:cBhvr additive="base">
                                        <p:cTn dur="1000"/>
                                        <p:tgtEl>
                                          <p:spTgt spid="20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anim calcmode="lin" valueType="num">
                                      <p:cBhvr additive="base">
                                        <p:cTn dur="1000"/>
                                        <p:tgtEl>
                                          <p:spTgt spid="20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1" st="11"/>
                                            </p:txEl>
                                          </p:spTgt>
                                        </p:tgtEl>
                                        <p:attrNameLst>
                                          <p:attrName>style.visibility</p:attrName>
                                        </p:attrNameLst>
                                      </p:cBhvr>
                                      <p:to>
                                        <p:strVal val="visible"/>
                                      </p:to>
                                    </p:set>
                                    <p:anim calcmode="lin" valueType="num">
                                      <p:cBhvr additive="base">
                                        <p:cTn dur="1000"/>
                                        <p:tgtEl>
                                          <p:spTgt spid="20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 calcmode="lin" valueType="num">
                                      <p:cBhvr additive="base">
                                        <p:cTn dur="1000"/>
                                        <p:tgtEl>
                                          <p:spTgt spid="2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g14337fc5d25_0_562"/>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13" name="Google Shape;213;g14337fc5d25_0_562"/>
          <p:cNvSpPr txBox="1"/>
          <p:nvPr/>
        </p:nvSpPr>
        <p:spPr>
          <a:xfrm>
            <a:off x="747000" y="1122850"/>
            <a:ext cx="8239500" cy="437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C.P of a unit quantity of 1st kind  = 310p (in paise)</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C.P of a unit quantity of 2nd kind  = 360p</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Mean price = 325p</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C.P of unit quantity         C.P of unit quantity</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of 1st kind                         of 2nd kind</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(310p)                         (360p)</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                       /</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Mean Price</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(325p)</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(360 – 325)          :           (325 – 310)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35                                       15</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Required ratio = 35 : 15 = 7 : 3</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They must be mixed in the ratio</a:t>
            </a:r>
            <a:r>
              <a:rPr b="1" i="0" lang="en-GB" sz="1600" u="none" cap="none" strike="noStrike">
                <a:solidFill>
                  <a:schemeClr val="dk1"/>
                </a:solidFill>
                <a:latin typeface="Roboto"/>
                <a:ea typeface="Roboto"/>
                <a:cs typeface="Roboto"/>
                <a:sym typeface="Roboto"/>
              </a:rPr>
              <a:t> 7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214" name="Google Shape;214;g14337fc5d25_0_5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1000"/>
                                        <p:tgtEl>
                                          <p:spTgt spid="2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b9c7de5da_0_102"/>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
        <p:nvSpPr>
          <p:cNvPr id="220" name="Google Shape;220;g31b9c7de5da_0_102"/>
          <p:cNvSpPr txBox="1"/>
          <p:nvPr/>
        </p:nvSpPr>
        <p:spPr>
          <a:xfrm>
            <a:off x="720725" y="1047900"/>
            <a:ext cx="8472300" cy="6463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what ratio must tea at Rs. 62 per kg be mixed with tea at</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Rs. 72 per kg so that the mixture must be worth Rs. 64.50 per kg?</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2 : 3</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3 : 1</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3 : 2</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40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21" name="Google Shape;221;g31b9c7de5da_0_102"/>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 calcmode="lin" valueType="num">
                                      <p:cBhvr additive="base">
                                        <p:cTn dur="1000"/>
                                        <p:tgtEl>
                                          <p:spTgt spid="2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 calcmode="lin" valueType="num">
                                      <p:cBhvr additive="base">
                                        <p:cTn dur="1000"/>
                                        <p:tgtEl>
                                          <p:spTgt spid="2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 calcmode="lin" valueType="num">
                                      <p:cBhvr additive="base">
                                        <p:cTn dur="1000"/>
                                        <p:tgtEl>
                                          <p:spTgt spid="2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 calcmode="lin" valueType="num">
                                      <p:cBhvr additive="base">
                                        <p:cTn dur="1000"/>
                                        <p:tgtEl>
                                          <p:spTgt spid="2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 calcmode="lin" valueType="num">
                                      <p:cBhvr additive="base">
                                        <p:cTn dur="1000"/>
                                        <p:tgtEl>
                                          <p:spTgt spid="2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 calcmode="lin" valueType="num">
                                      <p:cBhvr additive="base">
                                        <p:cTn dur="1000"/>
                                        <p:tgtEl>
                                          <p:spTgt spid="22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 calcmode="lin" valueType="num">
                                      <p:cBhvr additive="base">
                                        <p:cTn dur="1000"/>
                                        <p:tgtEl>
                                          <p:spTgt spid="22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 calcmode="lin" valueType="num">
                                      <p:cBhvr additive="base">
                                        <p:cTn dur="1000"/>
                                        <p:tgtEl>
                                          <p:spTgt spid="22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anim calcmode="lin" valueType="num">
                                      <p:cBhvr additive="base">
                                        <p:cTn dur="1000"/>
                                        <p:tgtEl>
                                          <p:spTgt spid="22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anim calcmode="lin" valueType="num">
                                      <p:cBhvr additive="base">
                                        <p:cTn dur="1000"/>
                                        <p:tgtEl>
                                          <p:spTgt spid="22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0" st="10"/>
                                            </p:txEl>
                                          </p:spTgt>
                                        </p:tgtEl>
                                        <p:attrNameLst>
                                          <p:attrName>style.visibility</p:attrName>
                                        </p:attrNameLst>
                                      </p:cBhvr>
                                      <p:to>
                                        <p:strVal val="visible"/>
                                      </p:to>
                                    </p:set>
                                    <p:anim calcmode="lin" valueType="num">
                                      <p:cBhvr additive="base">
                                        <p:cTn dur="1000"/>
                                        <p:tgtEl>
                                          <p:spTgt spid="22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1" st="11"/>
                                            </p:txEl>
                                          </p:spTgt>
                                        </p:tgtEl>
                                        <p:attrNameLst>
                                          <p:attrName>style.visibility</p:attrName>
                                        </p:attrNameLst>
                                      </p:cBhvr>
                                      <p:to>
                                        <p:strVal val="visible"/>
                                      </p:to>
                                    </p:set>
                                    <p:anim calcmode="lin" valueType="num">
                                      <p:cBhvr additive="base">
                                        <p:cTn dur="1000"/>
                                        <p:tgtEl>
                                          <p:spTgt spid="22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2" st="12"/>
                                            </p:txEl>
                                          </p:spTgt>
                                        </p:tgtEl>
                                        <p:attrNameLst>
                                          <p:attrName>style.visibility</p:attrName>
                                        </p:attrNameLst>
                                      </p:cBhvr>
                                      <p:to>
                                        <p:strVal val="visible"/>
                                      </p:to>
                                    </p:set>
                                    <p:anim calcmode="lin" valueType="num">
                                      <p:cBhvr additive="base">
                                        <p:cTn dur="1000"/>
                                        <p:tgtEl>
                                          <p:spTgt spid="220">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3" st="13"/>
                                            </p:txEl>
                                          </p:spTgt>
                                        </p:tgtEl>
                                        <p:attrNameLst>
                                          <p:attrName>style.visibility</p:attrName>
                                        </p:attrNameLst>
                                      </p:cBhvr>
                                      <p:to>
                                        <p:strVal val="visible"/>
                                      </p:to>
                                    </p:set>
                                    <p:anim calcmode="lin" valueType="num">
                                      <p:cBhvr additive="base">
                                        <p:cTn dur="1000"/>
                                        <p:tgtEl>
                                          <p:spTgt spid="220">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4" st="14"/>
                                            </p:txEl>
                                          </p:spTgt>
                                        </p:tgtEl>
                                        <p:attrNameLst>
                                          <p:attrName>style.visibility</p:attrName>
                                        </p:attrNameLst>
                                      </p:cBhvr>
                                      <p:to>
                                        <p:strVal val="visible"/>
                                      </p:to>
                                    </p:set>
                                    <p:anim calcmode="lin" valueType="num">
                                      <p:cBhvr additive="base">
                                        <p:cTn dur="1000"/>
                                        <p:tgtEl>
                                          <p:spTgt spid="220">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5" st="15"/>
                                            </p:txEl>
                                          </p:spTgt>
                                        </p:tgtEl>
                                        <p:attrNameLst>
                                          <p:attrName>style.visibility</p:attrName>
                                        </p:attrNameLst>
                                      </p:cBhvr>
                                      <p:to>
                                        <p:strVal val="visible"/>
                                      </p:to>
                                    </p:set>
                                    <p:anim calcmode="lin" valueType="num">
                                      <p:cBhvr additive="base">
                                        <p:cTn dur="1000"/>
                                        <p:tgtEl>
                                          <p:spTgt spid="220">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6" st="16"/>
                                            </p:txEl>
                                          </p:spTgt>
                                        </p:tgtEl>
                                        <p:attrNameLst>
                                          <p:attrName>style.visibility</p:attrName>
                                        </p:attrNameLst>
                                      </p:cBhvr>
                                      <p:to>
                                        <p:strVal val="visible"/>
                                      </p:to>
                                    </p:set>
                                    <p:anim calcmode="lin" valueType="num">
                                      <p:cBhvr additive="base">
                                        <p:cTn dur="1000"/>
                                        <p:tgtEl>
                                          <p:spTgt spid="220">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 calcmode="lin" valueType="num">
                                      <p:cBhvr additive="base">
                                        <p:cTn dur="1000"/>
                                        <p:tgtEl>
                                          <p:spTgt spid="2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 name="Shape 225"/>
        <p:cNvGrpSpPr/>
        <p:nvPr/>
      </p:nvGrpSpPr>
      <p:grpSpPr>
        <a:xfrm>
          <a:off x="0" y="0"/>
          <a:ext cx="0" cy="0"/>
          <a:chOff x="0" y="0"/>
          <a:chExt cx="0" cy="0"/>
        </a:xfrm>
      </p:grpSpPr>
      <p:sp>
        <p:nvSpPr>
          <p:cNvPr id="226" name="Google Shape;226;g14337fc5d25_0_578"/>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7" name="Google Shape;227;g14337fc5d25_0_578"/>
          <p:cNvSpPr txBox="1"/>
          <p:nvPr/>
        </p:nvSpPr>
        <p:spPr>
          <a:xfrm>
            <a:off x="720000" y="1010050"/>
            <a:ext cx="8022600" cy="4617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C.P of a unit quantity of 1st kind  = Rs. 62</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C.P of a unit quantity of 2nd kind  = Rs. 72</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Mean price = Rs. 64.50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C.P of unit quantity         C.P of unit quantity</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of 1st kind                         of 2nd kind</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(Rs. 62)                             (Rs. 72)</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                       /</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Mean Price</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(Rs. 64.50)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(72 – 64.50)          :           (64.50 – 62)</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7.50                                      2.50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			Required ratio = 7.50 : 2.50 =</a:t>
            </a:r>
            <a:r>
              <a:rPr b="1" i="0" lang="en-GB" sz="1600" u="none" cap="none" strike="noStrike">
                <a:solidFill>
                  <a:schemeClr val="dk1"/>
                </a:solidFill>
                <a:latin typeface="Roboto"/>
                <a:ea typeface="Roboto"/>
                <a:cs typeface="Roboto"/>
                <a:sym typeface="Roboto"/>
              </a:rPr>
              <a:t> 3 : 1</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1"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2A2A2A"/>
              </a:solidFill>
              <a:highlight>
                <a:schemeClr val="lt1"/>
              </a:highlight>
              <a:latin typeface="Roboto"/>
              <a:ea typeface="Roboto"/>
              <a:cs typeface="Roboto"/>
              <a:sym typeface="Roboto"/>
            </a:endParaRPr>
          </a:p>
        </p:txBody>
      </p:sp>
      <p:sp>
        <p:nvSpPr>
          <p:cNvPr id="228" name="Google Shape;228;g14337fc5d25_0_5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 calcmode="lin" valueType="num">
                                      <p:cBhvr additive="base">
                                        <p:cTn dur="1000"/>
                                        <p:tgtEl>
                                          <p:spTgt spid="2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 calcmode="lin" valueType="num">
                                      <p:cBhvr additive="base">
                                        <p:cTn dur="1000"/>
                                        <p:tgtEl>
                                          <p:spTgt spid="2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anim calcmode="lin" valueType="num">
                                      <p:cBhvr additive="base">
                                        <p:cTn dur="1000"/>
                                        <p:tgtEl>
                                          <p:spTgt spid="2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anim calcmode="lin" valueType="num">
                                      <p:cBhvr additive="base">
                                        <p:cTn dur="1000"/>
                                        <p:tgtEl>
                                          <p:spTgt spid="2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anim calcmode="lin" valueType="num">
                                      <p:cBhvr additive="base">
                                        <p:cTn dur="1000"/>
                                        <p:tgtEl>
                                          <p:spTgt spid="2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5" st="5"/>
                                            </p:txEl>
                                          </p:spTgt>
                                        </p:tgtEl>
                                        <p:attrNameLst>
                                          <p:attrName>style.visibility</p:attrName>
                                        </p:attrNameLst>
                                      </p:cBhvr>
                                      <p:to>
                                        <p:strVal val="visible"/>
                                      </p:to>
                                    </p:set>
                                    <p:anim calcmode="lin" valueType="num">
                                      <p:cBhvr additive="base">
                                        <p:cTn dur="1000"/>
                                        <p:tgtEl>
                                          <p:spTgt spid="22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6" st="6"/>
                                            </p:txEl>
                                          </p:spTgt>
                                        </p:tgtEl>
                                        <p:attrNameLst>
                                          <p:attrName>style.visibility</p:attrName>
                                        </p:attrNameLst>
                                      </p:cBhvr>
                                      <p:to>
                                        <p:strVal val="visible"/>
                                      </p:to>
                                    </p:set>
                                    <p:anim calcmode="lin" valueType="num">
                                      <p:cBhvr additive="base">
                                        <p:cTn dur="1000"/>
                                        <p:tgtEl>
                                          <p:spTgt spid="22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7" st="7"/>
                                            </p:txEl>
                                          </p:spTgt>
                                        </p:tgtEl>
                                        <p:attrNameLst>
                                          <p:attrName>style.visibility</p:attrName>
                                        </p:attrNameLst>
                                      </p:cBhvr>
                                      <p:to>
                                        <p:strVal val="visible"/>
                                      </p:to>
                                    </p:set>
                                    <p:anim calcmode="lin" valueType="num">
                                      <p:cBhvr additive="base">
                                        <p:cTn dur="1000"/>
                                        <p:tgtEl>
                                          <p:spTgt spid="22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8" st="8"/>
                                            </p:txEl>
                                          </p:spTgt>
                                        </p:tgtEl>
                                        <p:attrNameLst>
                                          <p:attrName>style.visibility</p:attrName>
                                        </p:attrNameLst>
                                      </p:cBhvr>
                                      <p:to>
                                        <p:strVal val="visible"/>
                                      </p:to>
                                    </p:set>
                                    <p:anim calcmode="lin" valueType="num">
                                      <p:cBhvr additive="base">
                                        <p:cTn dur="1000"/>
                                        <p:tgtEl>
                                          <p:spTgt spid="22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9" st="9"/>
                                            </p:txEl>
                                          </p:spTgt>
                                        </p:tgtEl>
                                        <p:attrNameLst>
                                          <p:attrName>style.visibility</p:attrName>
                                        </p:attrNameLst>
                                      </p:cBhvr>
                                      <p:to>
                                        <p:strVal val="visible"/>
                                      </p:to>
                                    </p:set>
                                    <p:anim calcmode="lin" valueType="num">
                                      <p:cBhvr additive="base">
                                        <p:cTn dur="1000"/>
                                        <p:tgtEl>
                                          <p:spTgt spid="22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10" st="10"/>
                                            </p:txEl>
                                          </p:spTgt>
                                        </p:tgtEl>
                                        <p:attrNameLst>
                                          <p:attrName>style.visibility</p:attrName>
                                        </p:attrNameLst>
                                      </p:cBhvr>
                                      <p:to>
                                        <p:strVal val="visible"/>
                                      </p:to>
                                    </p:set>
                                    <p:anim calcmode="lin" valueType="num">
                                      <p:cBhvr additive="base">
                                        <p:cTn dur="1000"/>
                                        <p:tgtEl>
                                          <p:spTgt spid="22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11" st="11"/>
                                            </p:txEl>
                                          </p:spTgt>
                                        </p:tgtEl>
                                        <p:attrNameLst>
                                          <p:attrName>style.visibility</p:attrName>
                                        </p:attrNameLst>
                                      </p:cBhvr>
                                      <p:to>
                                        <p:strVal val="visible"/>
                                      </p:to>
                                    </p:set>
                                    <p:anim calcmode="lin" valueType="num">
                                      <p:cBhvr additive="base">
                                        <p:cTn dur="1000"/>
                                        <p:tgtEl>
                                          <p:spTgt spid="22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12" st="12"/>
                                            </p:txEl>
                                          </p:spTgt>
                                        </p:tgtEl>
                                        <p:attrNameLst>
                                          <p:attrName>style.visibility</p:attrName>
                                        </p:attrNameLst>
                                      </p:cBhvr>
                                      <p:to>
                                        <p:strVal val="visible"/>
                                      </p:to>
                                    </p:set>
                                    <p:anim calcmode="lin" valueType="num">
                                      <p:cBhvr additive="base">
                                        <p:cTn dur="1000"/>
                                        <p:tgtEl>
                                          <p:spTgt spid="227">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13" st="13"/>
                                            </p:txEl>
                                          </p:spTgt>
                                        </p:tgtEl>
                                        <p:attrNameLst>
                                          <p:attrName>style.visibility</p:attrName>
                                        </p:attrNameLst>
                                      </p:cBhvr>
                                      <p:to>
                                        <p:strVal val="visible"/>
                                      </p:to>
                                    </p:set>
                                    <p:anim calcmode="lin" valueType="num">
                                      <p:cBhvr additive="base">
                                        <p:cTn dur="1000"/>
                                        <p:tgtEl>
                                          <p:spTgt spid="227">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1ba4bdc87b_0_0"/>
          <p:cNvSpPr txBox="1"/>
          <p:nvPr/>
        </p:nvSpPr>
        <p:spPr>
          <a:xfrm>
            <a:off x="720000" y="1439999"/>
            <a:ext cx="8472300" cy="4796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The ratio, in which tea costing Rs. 192 per kg is to be mixed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with tea costing Rs. 150 per kg so that the mixed tea when sold for Rs. 194.40 per kg, gives a profit of 20%.</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1:2</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2:5</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3:5</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3:7</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chemeClr val="dk1"/>
              </a:buClr>
              <a:buSzPts val="1400"/>
              <a:buFont typeface="Arial"/>
              <a:buNone/>
            </a:pPr>
            <a:r>
              <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1500"/>
              </a:spcBef>
              <a:spcAft>
                <a:spcPts val="0"/>
              </a:spcAft>
              <a:buClr>
                <a:schemeClr val="dk1"/>
              </a:buClr>
              <a:buSzPts val="1400"/>
              <a:buFont typeface="Arial"/>
              <a:buNone/>
            </a:pPr>
            <a:r>
              <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34" name="Google Shape;234;g31ba4bdc87b_0_0"/>
          <p:cNvSpPr txBox="1"/>
          <p:nvPr/>
        </p:nvSpPr>
        <p:spPr>
          <a:xfrm>
            <a:off x="7150275" y="4018075"/>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35" name="Google Shape;235;g31ba4bdc87b_0_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 calcmode="lin" valueType="num">
                                      <p:cBhvr additive="base">
                                        <p:cTn dur="1000"/>
                                        <p:tgtEl>
                                          <p:spTgt spid="2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 calcmode="lin" valueType="num">
                                      <p:cBhvr additive="base">
                                        <p:cTn dur="1000"/>
                                        <p:tgtEl>
                                          <p:spTgt spid="23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 calcmode="lin" valueType="num">
                                      <p:cBhvr additive="base">
                                        <p:cTn dur="1000"/>
                                        <p:tgtEl>
                                          <p:spTgt spid="23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 calcmode="lin" valueType="num">
                                      <p:cBhvr additive="base">
                                        <p:cTn dur="1000"/>
                                        <p:tgtEl>
                                          <p:spTgt spid="23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anim calcmode="lin" valueType="num">
                                      <p:cBhvr additive="base">
                                        <p:cTn dur="1000"/>
                                        <p:tgtEl>
                                          <p:spTgt spid="23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anim calcmode="lin" valueType="num">
                                      <p:cBhvr additive="base">
                                        <p:cTn dur="1000"/>
                                        <p:tgtEl>
                                          <p:spTgt spid="23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anim calcmode="lin" valueType="num">
                                      <p:cBhvr additive="base">
                                        <p:cTn dur="1000"/>
                                        <p:tgtEl>
                                          <p:spTgt spid="23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7" st="7"/>
                                            </p:txEl>
                                          </p:spTgt>
                                        </p:tgtEl>
                                        <p:attrNameLst>
                                          <p:attrName>style.visibility</p:attrName>
                                        </p:attrNameLst>
                                      </p:cBhvr>
                                      <p:to>
                                        <p:strVal val="visible"/>
                                      </p:to>
                                    </p:set>
                                    <p:anim calcmode="lin" valueType="num">
                                      <p:cBhvr additive="base">
                                        <p:cTn dur="1000"/>
                                        <p:tgtEl>
                                          <p:spTgt spid="23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8" st="8"/>
                                            </p:txEl>
                                          </p:spTgt>
                                        </p:tgtEl>
                                        <p:attrNameLst>
                                          <p:attrName>style.visibility</p:attrName>
                                        </p:attrNameLst>
                                      </p:cBhvr>
                                      <p:to>
                                        <p:strVal val="visible"/>
                                      </p:to>
                                    </p:set>
                                    <p:anim calcmode="lin" valueType="num">
                                      <p:cBhvr additive="base">
                                        <p:cTn dur="1000"/>
                                        <p:tgtEl>
                                          <p:spTgt spid="23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9" st="9"/>
                                            </p:txEl>
                                          </p:spTgt>
                                        </p:tgtEl>
                                        <p:attrNameLst>
                                          <p:attrName>style.visibility</p:attrName>
                                        </p:attrNameLst>
                                      </p:cBhvr>
                                      <p:to>
                                        <p:strVal val="visible"/>
                                      </p:to>
                                    </p:set>
                                    <p:anim calcmode="lin" valueType="num">
                                      <p:cBhvr additive="base">
                                        <p:cTn dur="1000"/>
                                        <p:tgtEl>
                                          <p:spTgt spid="23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10" st="10"/>
                                            </p:txEl>
                                          </p:spTgt>
                                        </p:tgtEl>
                                        <p:attrNameLst>
                                          <p:attrName>style.visibility</p:attrName>
                                        </p:attrNameLst>
                                      </p:cBhvr>
                                      <p:to>
                                        <p:strVal val="visible"/>
                                      </p:to>
                                    </p:set>
                                    <p:anim calcmode="lin" valueType="num">
                                      <p:cBhvr additive="base">
                                        <p:cTn dur="1000"/>
                                        <p:tgtEl>
                                          <p:spTgt spid="23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11" st="11"/>
                                            </p:txEl>
                                          </p:spTgt>
                                        </p:tgtEl>
                                        <p:attrNameLst>
                                          <p:attrName>style.visibility</p:attrName>
                                        </p:attrNameLst>
                                      </p:cBhvr>
                                      <p:to>
                                        <p:strVal val="visible"/>
                                      </p:to>
                                    </p:set>
                                    <p:anim calcmode="lin" valueType="num">
                                      <p:cBhvr additive="base">
                                        <p:cTn dur="1000"/>
                                        <p:tgtEl>
                                          <p:spTgt spid="233">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1000"/>
                                        <p:tgtEl>
                                          <p:spTgt spid="2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g14337fc5d25_0_594"/>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41" name="Google Shape;241;g14337fc5d25_0_594"/>
          <p:cNvSpPr txBox="1"/>
          <p:nvPr/>
        </p:nvSpPr>
        <p:spPr>
          <a:xfrm>
            <a:off x="720000" y="1170000"/>
            <a:ext cx="72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242" name="Google Shape;242;g14337fc5d25_0_5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pic>
        <p:nvPicPr>
          <p:cNvPr id="243" name="Google Shape;243;g14337fc5d25_0_594"/>
          <p:cNvPicPr preferRelativeResize="0"/>
          <p:nvPr/>
        </p:nvPicPr>
        <p:blipFill rotWithShape="1">
          <a:blip r:embed="rId3">
            <a:alphaModFix/>
          </a:blip>
          <a:srcRect b="0" l="0" r="0" t="0"/>
          <a:stretch/>
        </p:blipFill>
        <p:spPr>
          <a:xfrm>
            <a:off x="839350" y="1372300"/>
            <a:ext cx="7903274" cy="332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1000"/>
                                        <p:tgtEl>
                                          <p:spTgt spid="24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g31b9c7de5da_0_2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pic>
        <p:nvPicPr>
          <p:cNvPr id="249" name="Google Shape;249;g31b9c7de5da_0_20"/>
          <p:cNvPicPr preferRelativeResize="0"/>
          <p:nvPr/>
        </p:nvPicPr>
        <p:blipFill rotWithShape="1">
          <a:blip r:embed="rId3">
            <a:alphaModFix/>
          </a:blip>
          <a:srcRect b="0" l="0" r="0" t="0"/>
          <a:stretch/>
        </p:blipFill>
        <p:spPr>
          <a:xfrm>
            <a:off x="877575" y="1294025"/>
            <a:ext cx="6781800" cy="2933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1300"/>
                                        <p:tgtEl>
                                          <p:spTgt spid="24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14337fc5d25_0_607"/>
          <p:cNvSpPr txBox="1"/>
          <p:nvPr/>
        </p:nvSpPr>
        <p:spPr>
          <a:xfrm>
            <a:off x="720000" y="1439999"/>
            <a:ext cx="8472300" cy="4008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a zoo, there are Rabbits and Pigeons. If heads are counted, there are 200 and if legs are counted, there are 580. How many pigeons are there?</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90</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100</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110</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120</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55" name="Google Shape;255;g14337fc5d25_0_60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56" name="Google Shape;256;g14337fc5d25_0_6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 calcmode="lin" valueType="num">
                                      <p:cBhvr additive="base">
                                        <p:cTn dur="1000"/>
                                        <p:tgtEl>
                                          <p:spTgt spid="2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 calcmode="lin" valueType="num">
                                      <p:cBhvr additive="base">
                                        <p:cTn dur="1000"/>
                                        <p:tgtEl>
                                          <p:spTgt spid="2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anim calcmode="lin" valueType="num">
                                      <p:cBhvr additive="base">
                                        <p:cTn dur="1000"/>
                                        <p:tgtEl>
                                          <p:spTgt spid="2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anim calcmode="lin" valueType="num">
                                      <p:cBhvr additive="base">
                                        <p:cTn dur="1000"/>
                                        <p:tgtEl>
                                          <p:spTgt spid="2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anim calcmode="lin" valueType="num">
                                      <p:cBhvr additive="base">
                                        <p:cTn dur="1000"/>
                                        <p:tgtEl>
                                          <p:spTgt spid="25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anim calcmode="lin" valueType="num">
                                      <p:cBhvr additive="base">
                                        <p:cTn dur="1000"/>
                                        <p:tgtEl>
                                          <p:spTgt spid="25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anim calcmode="lin" valueType="num">
                                      <p:cBhvr additive="base">
                                        <p:cTn dur="1000"/>
                                        <p:tgtEl>
                                          <p:spTgt spid="25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7" st="7"/>
                                            </p:txEl>
                                          </p:spTgt>
                                        </p:tgtEl>
                                        <p:attrNameLst>
                                          <p:attrName>style.visibility</p:attrName>
                                        </p:attrNameLst>
                                      </p:cBhvr>
                                      <p:to>
                                        <p:strVal val="visible"/>
                                      </p:to>
                                    </p:set>
                                    <p:anim calcmode="lin" valueType="num">
                                      <p:cBhvr additive="base">
                                        <p:cTn dur="1000"/>
                                        <p:tgtEl>
                                          <p:spTgt spid="25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8" st="8"/>
                                            </p:txEl>
                                          </p:spTgt>
                                        </p:tgtEl>
                                        <p:attrNameLst>
                                          <p:attrName>style.visibility</p:attrName>
                                        </p:attrNameLst>
                                      </p:cBhvr>
                                      <p:to>
                                        <p:strVal val="visible"/>
                                      </p:to>
                                    </p:set>
                                    <p:anim calcmode="lin" valueType="num">
                                      <p:cBhvr additive="base">
                                        <p:cTn dur="1000"/>
                                        <p:tgtEl>
                                          <p:spTgt spid="25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9" st="9"/>
                                            </p:txEl>
                                          </p:spTgt>
                                        </p:tgtEl>
                                        <p:attrNameLst>
                                          <p:attrName>style.visibility</p:attrName>
                                        </p:attrNameLst>
                                      </p:cBhvr>
                                      <p:to>
                                        <p:strVal val="visible"/>
                                      </p:to>
                                    </p:set>
                                    <p:anim calcmode="lin" valueType="num">
                                      <p:cBhvr additive="base">
                                        <p:cTn dur="1000"/>
                                        <p:tgtEl>
                                          <p:spTgt spid="25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1000"/>
                                        <p:tgtEl>
                                          <p:spTgt spid="25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g14337fc5d25_0_615"/>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2" name="Google Shape;262;g14337fc5d25_0_615"/>
          <p:cNvSpPr txBox="1"/>
          <p:nvPr/>
        </p:nvSpPr>
        <p:spPr>
          <a:xfrm>
            <a:off x="720000" y="1439888"/>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2A2A2A"/>
              </a:solidFill>
              <a:highlight>
                <a:schemeClr val="lt1"/>
              </a:highlight>
              <a:latin typeface="Roboto"/>
              <a:ea typeface="Roboto"/>
              <a:cs typeface="Roboto"/>
              <a:sym typeface="Roboto"/>
            </a:endParaRPr>
          </a:p>
        </p:txBody>
      </p:sp>
      <p:sp>
        <p:nvSpPr>
          <p:cNvPr id="263" name="Google Shape;263;g14337fc5d25_0_6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pic>
        <p:nvPicPr>
          <p:cNvPr id="264" name="Google Shape;264;g14337fc5d25_0_615"/>
          <p:cNvPicPr preferRelativeResize="0"/>
          <p:nvPr/>
        </p:nvPicPr>
        <p:blipFill rotWithShape="1">
          <a:blip r:embed="rId3">
            <a:alphaModFix/>
          </a:blip>
          <a:srcRect b="0" l="0" r="0" t="0"/>
          <a:stretch/>
        </p:blipFill>
        <p:spPr>
          <a:xfrm>
            <a:off x="842375" y="1372300"/>
            <a:ext cx="6654800" cy="3263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1000"/>
                                        <p:tgtEl>
                                          <p:spTgt spid="2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8" name="Shape 268"/>
        <p:cNvGrpSpPr/>
        <p:nvPr/>
      </p:nvGrpSpPr>
      <p:grpSpPr>
        <a:xfrm>
          <a:off x="0" y="0"/>
          <a:ext cx="0" cy="0"/>
          <a:chOff x="0" y="0"/>
          <a:chExt cx="0" cy="0"/>
        </a:xfrm>
      </p:grpSpPr>
      <p:pic>
        <p:nvPicPr>
          <p:cNvPr id="269" name="Google Shape;269;g31b9c7de5da_0_28"/>
          <p:cNvPicPr preferRelativeResize="0"/>
          <p:nvPr/>
        </p:nvPicPr>
        <p:blipFill rotWithShape="1">
          <a:blip r:embed="rId3">
            <a:alphaModFix/>
          </a:blip>
          <a:srcRect b="0" l="0" r="0" t="0"/>
          <a:stretch/>
        </p:blipFill>
        <p:spPr>
          <a:xfrm>
            <a:off x="1634375" y="1170000"/>
            <a:ext cx="6002750" cy="3438275"/>
          </a:xfrm>
          <a:prstGeom prst="rect">
            <a:avLst/>
          </a:prstGeom>
          <a:noFill/>
          <a:ln>
            <a:noFill/>
          </a:ln>
        </p:spPr>
      </p:pic>
      <p:sp>
        <p:nvSpPr>
          <p:cNvPr id="270" name="Google Shape;270;g31b9c7de5da_0_2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1000"/>
                                        <p:tgtEl>
                                          <p:spTgt spid="26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14337fc5d25_0_623"/>
          <p:cNvSpPr txBox="1"/>
          <p:nvPr/>
        </p:nvSpPr>
        <p:spPr>
          <a:xfrm>
            <a:off x="575275" y="1439874"/>
            <a:ext cx="8472300" cy="4051200"/>
          </a:xfrm>
          <a:prstGeom prst="rect">
            <a:avLst/>
          </a:prstGeom>
          <a:noFill/>
          <a:ln>
            <a:noFill/>
          </a:ln>
        </p:spPr>
        <p:txBody>
          <a:bodyPr anchorCtr="0" anchor="t" bIns="45700" lIns="91425" spcFirstLastPara="1" rIns="91425" wrap="square" tIns="45700">
            <a:spAutoFit/>
          </a:bodyPr>
          <a:lstStyle/>
          <a:p>
            <a:pPr indent="0" lvl="0" marL="1143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Weights of two friends Ram and Shyam are in the ratio 4:5.</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If Ram's weight is increased by 10% and total weight of Ram and Shyam become 82.8 kg, with an increases of 15%, by what percent did the weight of Shyam has to be increased?</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1430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17%</a:t>
            </a:r>
            <a:endParaRPr b="0" i="0" sz="16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19%</a:t>
            </a:r>
            <a:endParaRPr b="0" i="0" sz="16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23%</a:t>
            </a:r>
            <a:endParaRPr b="0" i="0" sz="16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29%</a:t>
            </a:r>
            <a:endParaRPr b="0" i="0" sz="16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143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r>
              <a:rPr b="1"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1143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76" name="Google Shape;276;g14337fc5d25_0_62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77" name="Google Shape;277;g14337fc5d25_0_62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 calcmode="lin" valueType="num">
                                      <p:cBhvr additive="base">
                                        <p:cTn dur="1000"/>
                                        <p:tgtEl>
                                          <p:spTgt spid="2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anim calcmode="lin" valueType="num">
                                      <p:cBhvr additive="base">
                                        <p:cTn dur="1000"/>
                                        <p:tgtEl>
                                          <p:spTgt spid="27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anim calcmode="lin" valueType="num">
                                      <p:cBhvr additive="base">
                                        <p:cTn dur="1000"/>
                                        <p:tgtEl>
                                          <p:spTgt spid="27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anim calcmode="lin" valueType="num">
                                      <p:cBhvr additive="base">
                                        <p:cTn dur="1000"/>
                                        <p:tgtEl>
                                          <p:spTgt spid="27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4" st="4"/>
                                            </p:txEl>
                                          </p:spTgt>
                                        </p:tgtEl>
                                        <p:attrNameLst>
                                          <p:attrName>style.visibility</p:attrName>
                                        </p:attrNameLst>
                                      </p:cBhvr>
                                      <p:to>
                                        <p:strVal val="visible"/>
                                      </p:to>
                                    </p:set>
                                    <p:anim calcmode="lin" valueType="num">
                                      <p:cBhvr additive="base">
                                        <p:cTn dur="1000"/>
                                        <p:tgtEl>
                                          <p:spTgt spid="27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5" st="5"/>
                                            </p:txEl>
                                          </p:spTgt>
                                        </p:tgtEl>
                                        <p:attrNameLst>
                                          <p:attrName>style.visibility</p:attrName>
                                        </p:attrNameLst>
                                      </p:cBhvr>
                                      <p:to>
                                        <p:strVal val="visible"/>
                                      </p:to>
                                    </p:set>
                                    <p:anim calcmode="lin" valueType="num">
                                      <p:cBhvr additive="base">
                                        <p:cTn dur="1000"/>
                                        <p:tgtEl>
                                          <p:spTgt spid="27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6" st="6"/>
                                            </p:txEl>
                                          </p:spTgt>
                                        </p:tgtEl>
                                        <p:attrNameLst>
                                          <p:attrName>style.visibility</p:attrName>
                                        </p:attrNameLst>
                                      </p:cBhvr>
                                      <p:to>
                                        <p:strVal val="visible"/>
                                      </p:to>
                                    </p:set>
                                    <p:anim calcmode="lin" valueType="num">
                                      <p:cBhvr additive="base">
                                        <p:cTn dur="1000"/>
                                        <p:tgtEl>
                                          <p:spTgt spid="27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7" st="7"/>
                                            </p:txEl>
                                          </p:spTgt>
                                        </p:tgtEl>
                                        <p:attrNameLst>
                                          <p:attrName>style.visibility</p:attrName>
                                        </p:attrNameLst>
                                      </p:cBhvr>
                                      <p:to>
                                        <p:strVal val="visible"/>
                                      </p:to>
                                    </p:set>
                                    <p:anim calcmode="lin" valueType="num">
                                      <p:cBhvr additive="base">
                                        <p:cTn dur="1000"/>
                                        <p:tgtEl>
                                          <p:spTgt spid="27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8" st="8"/>
                                            </p:txEl>
                                          </p:spTgt>
                                        </p:tgtEl>
                                        <p:attrNameLst>
                                          <p:attrName>style.visibility</p:attrName>
                                        </p:attrNameLst>
                                      </p:cBhvr>
                                      <p:to>
                                        <p:strVal val="visible"/>
                                      </p:to>
                                    </p:set>
                                    <p:anim calcmode="lin" valueType="num">
                                      <p:cBhvr additive="base">
                                        <p:cTn dur="1000"/>
                                        <p:tgtEl>
                                          <p:spTgt spid="27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9" st="9"/>
                                            </p:txEl>
                                          </p:spTgt>
                                        </p:tgtEl>
                                        <p:attrNameLst>
                                          <p:attrName>style.visibility</p:attrName>
                                        </p:attrNameLst>
                                      </p:cBhvr>
                                      <p:to>
                                        <p:strVal val="visible"/>
                                      </p:to>
                                    </p:set>
                                    <p:anim calcmode="lin" valueType="num">
                                      <p:cBhvr additive="base">
                                        <p:cTn dur="1000"/>
                                        <p:tgtEl>
                                          <p:spTgt spid="27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xEl>
                                              <p:pRg end="10" st="10"/>
                                            </p:txEl>
                                          </p:spTgt>
                                        </p:tgtEl>
                                        <p:attrNameLst>
                                          <p:attrName>style.visibility</p:attrName>
                                        </p:attrNameLst>
                                      </p:cBhvr>
                                      <p:to>
                                        <p:strVal val="visible"/>
                                      </p:to>
                                    </p:set>
                                    <p:anim calcmode="lin" valueType="num">
                                      <p:cBhvr additive="base">
                                        <p:cTn dur="1000"/>
                                        <p:tgtEl>
                                          <p:spTgt spid="27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 calcmode="lin" valueType="num">
                                      <p:cBhvr additive="base">
                                        <p:cTn dur="1000"/>
                                        <p:tgtEl>
                                          <p:spTgt spid="2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1" name="Shape 281"/>
        <p:cNvGrpSpPr/>
        <p:nvPr/>
      </p:nvGrpSpPr>
      <p:grpSpPr>
        <a:xfrm>
          <a:off x="0" y="0"/>
          <a:ext cx="0" cy="0"/>
          <a:chOff x="0" y="0"/>
          <a:chExt cx="0" cy="0"/>
        </a:xfrm>
      </p:grpSpPr>
      <p:sp>
        <p:nvSpPr>
          <p:cNvPr id="282" name="Google Shape;282;g14337fc5d25_0_631"/>
          <p:cNvSpPr txBox="1"/>
          <p:nvPr/>
        </p:nvSpPr>
        <p:spPr>
          <a:xfrm>
            <a:off x="270328" y="6622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83" name="Google Shape;283;g14337fc5d25_0_631"/>
          <p:cNvSpPr txBox="1"/>
          <p:nvPr/>
        </p:nvSpPr>
        <p:spPr>
          <a:xfrm>
            <a:off x="720000" y="1440000"/>
            <a:ext cx="7166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84" name="Google Shape;284;g14337fc5d25_0_631"/>
          <p:cNvSpPr txBox="1"/>
          <p:nvPr/>
        </p:nvSpPr>
        <p:spPr>
          <a:xfrm>
            <a:off x="720000" y="6005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pic>
        <p:nvPicPr>
          <p:cNvPr id="285" name="Google Shape;285;g14337fc5d25_0_631"/>
          <p:cNvPicPr preferRelativeResize="0"/>
          <p:nvPr/>
        </p:nvPicPr>
        <p:blipFill rotWithShape="1">
          <a:blip r:embed="rId3">
            <a:alphaModFix/>
          </a:blip>
          <a:srcRect b="0" l="0" r="0" t="0"/>
          <a:stretch/>
        </p:blipFill>
        <p:spPr>
          <a:xfrm>
            <a:off x="1039375" y="1169989"/>
            <a:ext cx="6934200" cy="30464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1000"/>
                                        <p:tgtEl>
                                          <p:spTgt spid="28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14337fc5d25_0_639"/>
          <p:cNvSpPr txBox="1"/>
          <p:nvPr/>
        </p:nvSpPr>
        <p:spPr>
          <a:xfrm>
            <a:off x="720000" y="1439999"/>
            <a:ext cx="8472300" cy="4044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 a 729 litres mixture of milk and water, the ratio of milk to </a:t>
            </a:r>
            <a:r>
              <a:rPr lang="en-GB" sz="1800">
                <a:solidFill>
                  <a:schemeClr val="dk1"/>
                </a:solidFill>
                <a:latin typeface="Roboto"/>
                <a:ea typeface="Roboto"/>
                <a:cs typeface="Roboto"/>
                <a:sym typeface="Roboto"/>
              </a:rPr>
              <a:t>water is 7.2</a:t>
            </a:r>
            <a:r>
              <a:rPr b="0" i="0" lang="en-GB" sz="1800" u="none" cap="none" strike="noStrike">
                <a:solidFill>
                  <a:schemeClr val="dk1"/>
                </a:solidFill>
                <a:latin typeface="Roboto"/>
                <a:ea typeface="Roboto"/>
                <a:cs typeface="Roboto"/>
                <a:sym typeface="Roboto"/>
              </a:rPr>
              <a:t>.To get a new mixture containing milk and water in the ratio 7:3, the amount of water to be added is_________.</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51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61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71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81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rgbClr val="000000"/>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291" name="Google Shape;291;g14337fc5d25_0_63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92" name="Google Shape;292;g14337fc5d25_0_6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 calcmode="lin" valueType="num">
                                      <p:cBhvr additive="base">
                                        <p:cTn dur="1000"/>
                                        <p:tgtEl>
                                          <p:spTgt spid="2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 calcmode="lin" valueType="num">
                                      <p:cBhvr additive="base">
                                        <p:cTn dur="1000"/>
                                        <p:tgtEl>
                                          <p:spTgt spid="29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 calcmode="lin" valueType="num">
                                      <p:cBhvr additive="base">
                                        <p:cTn dur="1000"/>
                                        <p:tgtEl>
                                          <p:spTgt spid="29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anim calcmode="lin" valueType="num">
                                      <p:cBhvr additive="base">
                                        <p:cTn dur="1000"/>
                                        <p:tgtEl>
                                          <p:spTgt spid="29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4" st="4"/>
                                            </p:txEl>
                                          </p:spTgt>
                                        </p:tgtEl>
                                        <p:attrNameLst>
                                          <p:attrName>style.visibility</p:attrName>
                                        </p:attrNameLst>
                                      </p:cBhvr>
                                      <p:to>
                                        <p:strVal val="visible"/>
                                      </p:to>
                                    </p:set>
                                    <p:anim calcmode="lin" valueType="num">
                                      <p:cBhvr additive="base">
                                        <p:cTn dur="1000"/>
                                        <p:tgtEl>
                                          <p:spTgt spid="29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5" st="5"/>
                                            </p:txEl>
                                          </p:spTgt>
                                        </p:tgtEl>
                                        <p:attrNameLst>
                                          <p:attrName>style.visibility</p:attrName>
                                        </p:attrNameLst>
                                      </p:cBhvr>
                                      <p:to>
                                        <p:strVal val="visible"/>
                                      </p:to>
                                    </p:set>
                                    <p:anim calcmode="lin" valueType="num">
                                      <p:cBhvr additive="base">
                                        <p:cTn dur="1000"/>
                                        <p:tgtEl>
                                          <p:spTgt spid="29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6" st="6"/>
                                            </p:txEl>
                                          </p:spTgt>
                                        </p:tgtEl>
                                        <p:attrNameLst>
                                          <p:attrName>style.visibility</p:attrName>
                                        </p:attrNameLst>
                                      </p:cBhvr>
                                      <p:to>
                                        <p:strVal val="visible"/>
                                      </p:to>
                                    </p:set>
                                    <p:anim calcmode="lin" valueType="num">
                                      <p:cBhvr additive="base">
                                        <p:cTn dur="1000"/>
                                        <p:tgtEl>
                                          <p:spTgt spid="29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7" st="7"/>
                                            </p:txEl>
                                          </p:spTgt>
                                        </p:tgtEl>
                                        <p:attrNameLst>
                                          <p:attrName>style.visibility</p:attrName>
                                        </p:attrNameLst>
                                      </p:cBhvr>
                                      <p:to>
                                        <p:strVal val="visible"/>
                                      </p:to>
                                    </p:set>
                                    <p:anim calcmode="lin" valueType="num">
                                      <p:cBhvr additive="base">
                                        <p:cTn dur="1000"/>
                                        <p:tgtEl>
                                          <p:spTgt spid="29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8" st="8"/>
                                            </p:txEl>
                                          </p:spTgt>
                                        </p:tgtEl>
                                        <p:attrNameLst>
                                          <p:attrName>style.visibility</p:attrName>
                                        </p:attrNameLst>
                                      </p:cBhvr>
                                      <p:to>
                                        <p:strVal val="visible"/>
                                      </p:to>
                                    </p:set>
                                    <p:anim calcmode="lin" valueType="num">
                                      <p:cBhvr additive="base">
                                        <p:cTn dur="1000"/>
                                        <p:tgtEl>
                                          <p:spTgt spid="29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9" st="9"/>
                                            </p:txEl>
                                          </p:spTgt>
                                        </p:tgtEl>
                                        <p:attrNameLst>
                                          <p:attrName>style.visibility</p:attrName>
                                        </p:attrNameLst>
                                      </p:cBhvr>
                                      <p:to>
                                        <p:strVal val="visible"/>
                                      </p:to>
                                    </p:set>
                                    <p:anim calcmode="lin" valueType="num">
                                      <p:cBhvr additive="base">
                                        <p:cTn dur="1000"/>
                                        <p:tgtEl>
                                          <p:spTgt spid="29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10" st="10"/>
                                            </p:txEl>
                                          </p:spTgt>
                                        </p:tgtEl>
                                        <p:attrNameLst>
                                          <p:attrName>style.visibility</p:attrName>
                                        </p:attrNameLst>
                                      </p:cBhvr>
                                      <p:to>
                                        <p:strVal val="visible"/>
                                      </p:to>
                                    </p:set>
                                    <p:anim calcmode="lin" valueType="num">
                                      <p:cBhvr additive="base">
                                        <p:cTn dur="1000"/>
                                        <p:tgtEl>
                                          <p:spTgt spid="29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xEl>
                                              <p:pRg end="11" st="11"/>
                                            </p:txEl>
                                          </p:spTgt>
                                        </p:tgtEl>
                                        <p:attrNameLst>
                                          <p:attrName>style.visibility</p:attrName>
                                        </p:attrNameLst>
                                      </p:cBhvr>
                                      <p:to>
                                        <p:strVal val="visible"/>
                                      </p:to>
                                    </p:set>
                                    <p:anim calcmode="lin" valueType="num">
                                      <p:cBhvr additive="base">
                                        <p:cTn dur="1000"/>
                                        <p:tgtEl>
                                          <p:spTgt spid="29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anim calcmode="lin" valueType="num">
                                      <p:cBhvr additive="base">
                                        <p:cTn dur="1000"/>
                                        <p:tgtEl>
                                          <p:spTgt spid="2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 name="Shape 296"/>
        <p:cNvGrpSpPr/>
        <p:nvPr/>
      </p:nvGrpSpPr>
      <p:grpSpPr>
        <a:xfrm>
          <a:off x="0" y="0"/>
          <a:ext cx="0" cy="0"/>
          <a:chOff x="0" y="0"/>
          <a:chExt cx="0" cy="0"/>
        </a:xfrm>
      </p:grpSpPr>
      <p:sp>
        <p:nvSpPr>
          <p:cNvPr id="297" name="Google Shape;297;g14337fc5d25_0_64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98" name="Google Shape;298;g14337fc5d25_0_647"/>
          <p:cNvSpPr txBox="1"/>
          <p:nvPr/>
        </p:nvSpPr>
        <p:spPr>
          <a:xfrm>
            <a:off x="789750" y="1498550"/>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99" name="Google Shape;299;g14337fc5d25_0_64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pic>
        <p:nvPicPr>
          <p:cNvPr id="300" name="Google Shape;300;g14337fc5d25_0_647"/>
          <p:cNvPicPr preferRelativeResize="0"/>
          <p:nvPr/>
        </p:nvPicPr>
        <p:blipFill rotWithShape="1">
          <a:blip r:embed="rId3">
            <a:alphaModFix/>
          </a:blip>
          <a:srcRect b="0" l="0" r="0" t="0"/>
          <a:stretch/>
        </p:blipFill>
        <p:spPr>
          <a:xfrm>
            <a:off x="1364125" y="1439876"/>
            <a:ext cx="6870700" cy="309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1000"/>
                                        <p:tgtEl>
                                          <p:spTgt spid="30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g31b9c7de5da_0_3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pic>
        <p:nvPicPr>
          <p:cNvPr id="306" name="Google Shape;306;g31b9c7de5da_0_37"/>
          <p:cNvPicPr preferRelativeResize="0"/>
          <p:nvPr/>
        </p:nvPicPr>
        <p:blipFill rotWithShape="1">
          <a:blip r:embed="rId3">
            <a:alphaModFix/>
          </a:blip>
          <a:srcRect b="0" l="0" r="0" t="0"/>
          <a:stretch/>
        </p:blipFill>
        <p:spPr>
          <a:xfrm>
            <a:off x="994875" y="1122850"/>
            <a:ext cx="6832600" cy="336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gtEl>
                                        <p:attrNameLst>
                                          <p:attrName>style.visibility</p:attrName>
                                        </p:attrNameLst>
                                      </p:cBhvr>
                                      <p:to>
                                        <p:strVal val="visible"/>
                                      </p:to>
                                    </p:set>
                                    <p:anim calcmode="lin" valueType="num">
                                      <p:cBhvr additive="base">
                                        <p:cTn dur="1500"/>
                                        <p:tgtEl>
                                          <p:spTgt spid="30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14337fc5d25_0_655"/>
          <p:cNvSpPr txBox="1"/>
          <p:nvPr/>
        </p:nvSpPr>
        <p:spPr>
          <a:xfrm>
            <a:off x="720000" y="1439999"/>
            <a:ext cx="8472300" cy="3538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Three types of wheat of Rs. 1.27, Rs. 1.29 and Rs. 1.32 per kg are mixed together to be sold at Rs. 1.30 per kg. In what ratio should this wheat be mixed?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1:2:3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1:1:2</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2:1:3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2:2:3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1500"/>
              </a:spcBef>
              <a:spcAft>
                <a:spcPts val="0"/>
              </a:spcAft>
              <a:buClr>
                <a:srgbClr val="000000"/>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312" name="Google Shape;312;g14337fc5d25_0_65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13" name="Google Shape;313;g14337fc5d25_0_65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 calcmode="lin" valueType="num">
                                      <p:cBhvr additive="base">
                                        <p:cTn dur="1000"/>
                                        <p:tgtEl>
                                          <p:spTgt spid="3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 calcmode="lin" valueType="num">
                                      <p:cBhvr additive="base">
                                        <p:cTn dur="1000"/>
                                        <p:tgtEl>
                                          <p:spTgt spid="3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 calcmode="lin" valueType="num">
                                      <p:cBhvr additive="base">
                                        <p:cTn dur="1000"/>
                                        <p:tgtEl>
                                          <p:spTgt spid="3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anim calcmode="lin" valueType="num">
                                      <p:cBhvr additive="base">
                                        <p:cTn dur="1000"/>
                                        <p:tgtEl>
                                          <p:spTgt spid="3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anim calcmode="lin" valueType="num">
                                      <p:cBhvr additive="base">
                                        <p:cTn dur="1000"/>
                                        <p:tgtEl>
                                          <p:spTgt spid="3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anim calcmode="lin" valueType="num">
                                      <p:cBhvr additive="base">
                                        <p:cTn dur="1000"/>
                                        <p:tgtEl>
                                          <p:spTgt spid="3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6" st="6"/>
                                            </p:txEl>
                                          </p:spTgt>
                                        </p:tgtEl>
                                        <p:attrNameLst>
                                          <p:attrName>style.visibility</p:attrName>
                                        </p:attrNameLst>
                                      </p:cBhvr>
                                      <p:to>
                                        <p:strVal val="visible"/>
                                      </p:to>
                                    </p:set>
                                    <p:anim calcmode="lin" valueType="num">
                                      <p:cBhvr additive="base">
                                        <p:cTn dur="1000"/>
                                        <p:tgtEl>
                                          <p:spTgt spid="31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7" st="7"/>
                                            </p:txEl>
                                          </p:spTgt>
                                        </p:tgtEl>
                                        <p:attrNameLst>
                                          <p:attrName>style.visibility</p:attrName>
                                        </p:attrNameLst>
                                      </p:cBhvr>
                                      <p:to>
                                        <p:strVal val="visible"/>
                                      </p:to>
                                    </p:set>
                                    <p:anim calcmode="lin" valueType="num">
                                      <p:cBhvr additive="base">
                                        <p:cTn dur="1000"/>
                                        <p:tgtEl>
                                          <p:spTgt spid="31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8" st="8"/>
                                            </p:txEl>
                                          </p:spTgt>
                                        </p:tgtEl>
                                        <p:attrNameLst>
                                          <p:attrName>style.visibility</p:attrName>
                                        </p:attrNameLst>
                                      </p:cBhvr>
                                      <p:to>
                                        <p:strVal val="visible"/>
                                      </p:to>
                                    </p:set>
                                    <p:anim calcmode="lin" valueType="num">
                                      <p:cBhvr additive="base">
                                        <p:cTn dur="1000"/>
                                        <p:tgtEl>
                                          <p:spTgt spid="31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9" st="9"/>
                                            </p:txEl>
                                          </p:spTgt>
                                        </p:tgtEl>
                                        <p:attrNameLst>
                                          <p:attrName>style.visibility</p:attrName>
                                        </p:attrNameLst>
                                      </p:cBhvr>
                                      <p:to>
                                        <p:strVal val="visible"/>
                                      </p:to>
                                    </p:set>
                                    <p:anim calcmode="lin" valueType="num">
                                      <p:cBhvr additive="base">
                                        <p:cTn dur="1000"/>
                                        <p:tgtEl>
                                          <p:spTgt spid="31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10" st="10"/>
                                            </p:txEl>
                                          </p:spTgt>
                                        </p:tgtEl>
                                        <p:attrNameLst>
                                          <p:attrName>style.visibility</p:attrName>
                                        </p:attrNameLst>
                                      </p:cBhvr>
                                      <p:to>
                                        <p:strVal val="visible"/>
                                      </p:to>
                                    </p:set>
                                    <p:anim calcmode="lin" valueType="num">
                                      <p:cBhvr additive="base">
                                        <p:cTn dur="1000"/>
                                        <p:tgtEl>
                                          <p:spTgt spid="31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 calcmode="lin" valueType="num">
                                      <p:cBhvr additive="base">
                                        <p:cTn dur="1000"/>
                                        <p:tgtEl>
                                          <p:spTgt spid="3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g14337fc5d25_0_663"/>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19" name="Google Shape;319;g14337fc5d25_0_6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pic>
        <p:nvPicPr>
          <p:cNvPr id="320" name="Google Shape;320;g14337fc5d25_0_663"/>
          <p:cNvPicPr preferRelativeResize="0"/>
          <p:nvPr/>
        </p:nvPicPr>
        <p:blipFill rotWithShape="1">
          <a:blip r:embed="rId3">
            <a:alphaModFix/>
          </a:blip>
          <a:srcRect b="0" l="0" r="0" t="0"/>
          <a:stretch/>
        </p:blipFill>
        <p:spPr>
          <a:xfrm>
            <a:off x="867701" y="1332100"/>
            <a:ext cx="6870699" cy="32019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1000"/>
                                        <p:tgtEl>
                                          <p:spTgt spid="3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4" name="Shape 324"/>
        <p:cNvGrpSpPr/>
        <p:nvPr/>
      </p:nvGrpSpPr>
      <p:grpSpPr>
        <a:xfrm>
          <a:off x="0" y="0"/>
          <a:ext cx="0" cy="0"/>
          <a:chOff x="0" y="0"/>
          <a:chExt cx="0" cy="0"/>
        </a:xfrm>
      </p:grpSpPr>
      <p:sp>
        <p:nvSpPr>
          <p:cNvPr id="325" name="Google Shape;325;g361210929e4_1_0"/>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26" name="Google Shape;326;g361210929e4_1_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pic>
        <p:nvPicPr>
          <p:cNvPr id="327" name="Google Shape;327;g361210929e4_1_0" title="Screenshot 2025-06-04 120046.png"/>
          <p:cNvPicPr preferRelativeResize="0"/>
          <p:nvPr/>
        </p:nvPicPr>
        <p:blipFill>
          <a:blip r:embed="rId3">
            <a:alphaModFix/>
          </a:blip>
          <a:stretch>
            <a:fillRect/>
          </a:stretch>
        </p:blipFill>
        <p:spPr>
          <a:xfrm>
            <a:off x="1789213" y="1351456"/>
            <a:ext cx="5434514" cy="36048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14337fc5d25_0_671"/>
          <p:cNvSpPr txBox="1"/>
          <p:nvPr/>
        </p:nvSpPr>
        <p:spPr>
          <a:xfrm>
            <a:off x="720000" y="1439999"/>
            <a:ext cx="8472300" cy="4218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The milk and water in two vessels A and B are in the ratio 4:3  and 2:3 respectively. In what ratio the liquids in both the vessels be mixed to obtain a new mixture in vessel c consisting half milk and half water?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8 : 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7 : 5</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4 : 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2 : 3</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333" name="Google Shape;333;g14337fc5d25_0_67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34" name="Google Shape;334;g14337fc5d25_0_6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 calcmode="lin" valueType="num">
                                      <p:cBhvr additive="base">
                                        <p:cTn dur="1000"/>
                                        <p:tgtEl>
                                          <p:spTgt spid="3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 calcmode="lin" valueType="num">
                                      <p:cBhvr additive="base">
                                        <p:cTn dur="1000"/>
                                        <p:tgtEl>
                                          <p:spTgt spid="3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 calcmode="lin" valueType="num">
                                      <p:cBhvr additive="base">
                                        <p:cTn dur="1000"/>
                                        <p:tgtEl>
                                          <p:spTgt spid="33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 calcmode="lin" valueType="num">
                                      <p:cBhvr additive="base">
                                        <p:cTn dur="1000"/>
                                        <p:tgtEl>
                                          <p:spTgt spid="33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 calcmode="lin" valueType="num">
                                      <p:cBhvr additive="base">
                                        <p:cTn dur="1000"/>
                                        <p:tgtEl>
                                          <p:spTgt spid="33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anim calcmode="lin" valueType="num">
                                      <p:cBhvr additive="base">
                                        <p:cTn dur="1000"/>
                                        <p:tgtEl>
                                          <p:spTgt spid="33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anim calcmode="lin" valueType="num">
                                      <p:cBhvr additive="base">
                                        <p:cTn dur="1000"/>
                                        <p:tgtEl>
                                          <p:spTgt spid="33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anim calcmode="lin" valueType="num">
                                      <p:cBhvr additive="base">
                                        <p:cTn dur="1000"/>
                                        <p:tgtEl>
                                          <p:spTgt spid="33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anim calcmode="lin" valueType="num">
                                      <p:cBhvr additive="base">
                                        <p:cTn dur="1000"/>
                                        <p:tgtEl>
                                          <p:spTgt spid="33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anim calcmode="lin" valueType="num">
                                      <p:cBhvr additive="base">
                                        <p:cTn dur="1000"/>
                                        <p:tgtEl>
                                          <p:spTgt spid="33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anim calcmode="lin" valueType="num">
                                      <p:cBhvr additive="base">
                                        <p:cTn dur="1000"/>
                                        <p:tgtEl>
                                          <p:spTgt spid="33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11" st="11"/>
                                            </p:txEl>
                                          </p:spTgt>
                                        </p:tgtEl>
                                        <p:attrNameLst>
                                          <p:attrName>style.visibility</p:attrName>
                                        </p:attrNameLst>
                                      </p:cBhvr>
                                      <p:to>
                                        <p:strVal val="visible"/>
                                      </p:to>
                                    </p:set>
                                    <p:anim calcmode="lin" valueType="num">
                                      <p:cBhvr additive="base">
                                        <p:cTn dur="1000"/>
                                        <p:tgtEl>
                                          <p:spTgt spid="332">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12" st="12"/>
                                            </p:txEl>
                                          </p:spTgt>
                                        </p:tgtEl>
                                        <p:attrNameLst>
                                          <p:attrName>style.visibility</p:attrName>
                                        </p:attrNameLst>
                                      </p:cBhvr>
                                      <p:to>
                                        <p:strVal val="visible"/>
                                      </p:to>
                                    </p:set>
                                    <p:anim calcmode="lin" valueType="num">
                                      <p:cBhvr additive="base">
                                        <p:cTn dur="1000"/>
                                        <p:tgtEl>
                                          <p:spTgt spid="332">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 calcmode="lin" valueType="num">
                                      <p:cBhvr additive="base">
                                        <p:cTn dur="1000"/>
                                        <p:tgtEl>
                                          <p:spTgt spid="3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 name="Shape 338"/>
        <p:cNvGrpSpPr/>
        <p:nvPr/>
      </p:nvGrpSpPr>
      <p:grpSpPr>
        <a:xfrm>
          <a:off x="0" y="0"/>
          <a:ext cx="0" cy="0"/>
          <a:chOff x="0" y="0"/>
          <a:chExt cx="0" cy="0"/>
        </a:xfrm>
      </p:grpSpPr>
      <p:sp>
        <p:nvSpPr>
          <p:cNvPr id="339" name="Google Shape;339;g14337fc5d25_0_679"/>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40" name="Google Shape;340;g14337fc5d25_0_679"/>
          <p:cNvSpPr txBox="1"/>
          <p:nvPr/>
        </p:nvSpPr>
        <p:spPr>
          <a:xfrm>
            <a:off x="720000" y="1440000"/>
            <a:ext cx="7166100" cy="20625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Milk in 1 litre mixture of A = 4/7 litre.</a:t>
            </a:r>
            <a:endParaRPr b="0" i="0" sz="1800" u="none" cap="none" strike="noStrike">
              <a:solidFill>
                <a:schemeClr val="dk2"/>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Milk in 1 litre mixture of B = 2/5 litre.</a:t>
            </a:r>
            <a:endParaRPr b="0" i="0" sz="1800" u="none" cap="none" strike="noStrike">
              <a:solidFill>
                <a:schemeClr val="dk2"/>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Milk in 1 litre mixture of C = 1/2 litre.</a:t>
            </a:r>
            <a:endParaRPr b="0" i="0" sz="1800" u="none" cap="none" strike="noStrike">
              <a:solidFill>
                <a:schemeClr val="dk2"/>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By rule of alligation we have required ratio X:Y</a:t>
            </a:r>
            <a:r>
              <a:rPr b="0" i="0" lang="en-GB" sz="1800" u="none" cap="none" strike="noStrike">
                <a:solidFill>
                  <a:schemeClr val="dk2"/>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656565"/>
              </a:solidFill>
              <a:highlight>
                <a:schemeClr val="lt1"/>
              </a:highlight>
              <a:latin typeface="Roboto"/>
              <a:ea typeface="Roboto"/>
              <a:cs typeface="Roboto"/>
              <a:sym typeface="Roboto"/>
            </a:endParaRPr>
          </a:p>
        </p:txBody>
      </p:sp>
      <p:sp>
        <p:nvSpPr>
          <p:cNvPr id="341" name="Google Shape;341;g14337fc5d25_0_6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 calcmode="lin" valueType="num">
                                      <p:cBhvr additive="base">
                                        <p:cTn dur="1000"/>
                                        <p:tgtEl>
                                          <p:spTgt spid="3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 calcmode="lin" valueType="num">
                                      <p:cBhvr additive="base">
                                        <p:cTn dur="1000"/>
                                        <p:tgtEl>
                                          <p:spTgt spid="34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anim calcmode="lin" valueType="num">
                                      <p:cBhvr additive="base">
                                        <p:cTn dur="1000"/>
                                        <p:tgtEl>
                                          <p:spTgt spid="34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3" st="3"/>
                                            </p:txEl>
                                          </p:spTgt>
                                        </p:tgtEl>
                                        <p:attrNameLst>
                                          <p:attrName>style.visibility</p:attrName>
                                        </p:attrNameLst>
                                      </p:cBhvr>
                                      <p:to>
                                        <p:strVal val="visible"/>
                                      </p:to>
                                    </p:set>
                                    <p:anim calcmode="lin" valueType="num">
                                      <p:cBhvr additive="base">
                                        <p:cTn dur="1000"/>
                                        <p:tgtEl>
                                          <p:spTgt spid="34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4" st="4"/>
                                            </p:txEl>
                                          </p:spTgt>
                                        </p:tgtEl>
                                        <p:attrNameLst>
                                          <p:attrName>style.visibility</p:attrName>
                                        </p:attrNameLst>
                                      </p:cBhvr>
                                      <p:to>
                                        <p:strVal val="visible"/>
                                      </p:to>
                                    </p:set>
                                    <p:anim calcmode="lin" valueType="num">
                                      <p:cBhvr additive="base">
                                        <p:cTn dur="1000"/>
                                        <p:tgtEl>
                                          <p:spTgt spid="34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5" name="Shape 345"/>
        <p:cNvGrpSpPr/>
        <p:nvPr/>
      </p:nvGrpSpPr>
      <p:grpSpPr>
        <a:xfrm>
          <a:off x="0" y="0"/>
          <a:ext cx="0" cy="0"/>
          <a:chOff x="0" y="0"/>
          <a:chExt cx="0" cy="0"/>
        </a:xfrm>
      </p:grpSpPr>
      <p:sp>
        <p:nvSpPr>
          <p:cNvPr id="346" name="Google Shape;346;g31b9c7de5da_0_4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
        <p:nvSpPr>
          <p:cNvPr id="347" name="Google Shape;347;g31b9c7de5da_0_45"/>
          <p:cNvSpPr txBox="1"/>
          <p:nvPr/>
        </p:nvSpPr>
        <p:spPr>
          <a:xfrm>
            <a:off x="855650" y="1122850"/>
            <a:ext cx="6984600" cy="30108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 </a:t>
            </a:r>
            <a:r>
              <a:rPr b="0" i="0" lang="en-GB" sz="1800" u="none" cap="none" strike="noStrike">
                <a:solidFill>
                  <a:schemeClr val="dk1"/>
                </a:solidFill>
                <a:latin typeface="Arial"/>
                <a:ea typeface="Arial"/>
                <a:cs typeface="Arial"/>
                <a:sym typeface="Arial"/>
              </a:rPr>
              <a:t>X                  :                 Y</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4/7                                2/5</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(Mean ratio) (1/2)</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(1/2 – 2/5)     :       (4/7 – 1/2)</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1/10                      1/1 4</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So Required ratio = X : Y = 1/10 : 1/14 = </a:t>
            </a:r>
            <a:r>
              <a:rPr b="1" i="0" lang="en-GB" sz="1800" u="none" cap="none" strike="noStrike">
                <a:solidFill>
                  <a:schemeClr val="dk1"/>
                </a:solidFill>
                <a:latin typeface="Arial"/>
                <a:ea typeface="Arial"/>
                <a:cs typeface="Arial"/>
                <a:sym typeface="Arial"/>
              </a:rPr>
              <a:t>7:5</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anim calcmode="lin" valueType="num">
                                      <p:cBhvr additive="base">
                                        <p:cTn dur="1000"/>
                                        <p:tgtEl>
                                          <p:spTgt spid="34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anim calcmode="lin" valueType="num">
                                      <p:cBhvr additive="base">
                                        <p:cTn dur="1000"/>
                                        <p:tgtEl>
                                          <p:spTgt spid="34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anim calcmode="lin" valueType="num">
                                      <p:cBhvr additive="base">
                                        <p:cTn dur="1000"/>
                                        <p:tgtEl>
                                          <p:spTgt spid="34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3" st="3"/>
                                            </p:txEl>
                                          </p:spTgt>
                                        </p:tgtEl>
                                        <p:attrNameLst>
                                          <p:attrName>style.visibility</p:attrName>
                                        </p:attrNameLst>
                                      </p:cBhvr>
                                      <p:to>
                                        <p:strVal val="visible"/>
                                      </p:to>
                                    </p:set>
                                    <p:anim calcmode="lin" valueType="num">
                                      <p:cBhvr additive="base">
                                        <p:cTn dur="1000"/>
                                        <p:tgtEl>
                                          <p:spTgt spid="34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4" st="4"/>
                                            </p:txEl>
                                          </p:spTgt>
                                        </p:tgtEl>
                                        <p:attrNameLst>
                                          <p:attrName>style.visibility</p:attrName>
                                        </p:attrNameLst>
                                      </p:cBhvr>
                                      <p:to>
                                        <p:strVal val="visible"/>
                                      </p:to>
                                    </p:set>
                                    <p:anim calcmode="lin" valueType="num">
                                      <p:cBhvr additive="base">
                                        <p:cTn dur="1000"/>
                                        <p:tgtEl>
                                          <p:spTgt spid="34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5" st="5"/>
                                            </p:txEl>
                                          </p:spTgt>
                                        </p:tgtEl>
                                        <p:attrNameLst>
                                          <p:attrName>style.visibility</p:attrName>
                                        </p:attrNameLst>
                                      </p:cBhvr>
                                      <p:to>
                                        <p:strVal val="visible"/>
                                      </p:to>
                                    </p:set>
                                    <p:anim calcmode="lin" valueType="num">
                                      <p:cBhvr additive="base">
                                        <p:cTn dur="1000"/>
                                        <p:tgtEl>
                                          <p:spTgt spid="34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6" st="6"/>
                                            </p:txEl>
                                          </p:spTgt>
                                        </p:tgtEl>
                                        <p:attrNameLst>
                                          <p:attrName>style.visibility</p:attrName>
                                        </p:attrNameLst>
                                      </p:cBhvr>
                                      <p:to>
                                        <p:strVal val="visible"/>
                                      </p:to>
                                    </p:set>
                                    <p:anim calcmode="lin" valueType="num">
                                      <p:cBhvr additive="base">
                                        <p:cTn dur="1000"/>
                                        <p:tgtEl>
                                          <p:spTgt spid="34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7" st="7"/>
                                            </p:txEl>
                                          </p:spTgt>
                                        </p:tgtEl>
                                        <p:attrNameLst>
                                          <p:attrName>style.visibility</p:attrName>
                                        </p:attrNameLst>
                                      </p:cBhvr>
                                      <p:to>
                                        <p:strVal val="visible"/>
                                      </p:to>
                                    </p:set>
                                    <p:anim calcmode="lin" valueType="num">
                                      <p:cBhvr additive="base">
                                        <p:cTn dur="1000"/>
                                        <p:tgtEl>
                                          <p:spTgt spid="34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7">
                                            <p:txEl>
                                              <p:pRg end="8" st="8"/>
                                            </p:txEl>
                                          </p:spTgt>
                                        </p:tgtEl>
                                        <p:attrNameLst>
                                          <p:attrName>style.visibility</p:attrName>
                                        </p:attrNameLst>
                                      </p:cBhvr>
                                      <p:to>
                                        <p:strVal val="visible"/>
                                      </p:to>
                                    </p:set>
                                    <p:anim calcmode="lin" valueType="num">
                                      <p:cBhvr additive="base">
                                        <p:cTn dur="1000"/>
                                        <p:tgtEl>
                                          <p:spTgt spid="34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14337fc5d25_0_687"/>
          <p:cNvSpPr txBox="1"/>
          <p:nvPr/>
        </p:nvSpPr>
        <p:spPr>
          <a:xfrm>
            <a:off x="720000" y="1439999"/>
            <a:ext cx="8472300" cy="4044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Two vessels A and B contain spirit and water mixed in the ratio 5:2 and 7:6 respectively. Find the ratio in which these mixture be mixed to obtain a new mixture in vessel c containing spirit and water in the ratio 8:5?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1 : 7</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2 : 9</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7 : 9</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3 : 8</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rgbClr val="000000"/>
              </a:buClr>
              <a:buSzPts val="1400"/>
              <a:buFont typeface="Arial"/>
              <a:buNone/>
            </a:pPr>
            <a:r>
              <a:t/>
            </a:r>
            <a:endParaRPr b="0" i="0" sz="1600" u="none" cap="none" strike="noStrike">
              <a:solidFill>
                <a:srgbClr val="2A2A2A"/>
              </a:solidFill>
              <a:highlight>
                <a:schemeClr val="lt1"/>
              </a:highlight>
              <a:latin typeface="Roboto"/>
              <a:ea typeface="Roboto"/>
              <a:cs typeface="Roboto"/>
              <a:sym typeface="Roboto"/>
            </a:endParaRPr>
          </a:p>
        </p:txBody>
      </p:sp>
      <p:sp>
        <p:nvSpPr>
          <p:cNvPr id="353" name="Google Shape;353;g14337fc5d25_0_68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54" name="Google Shape;354;g14337fc5d25_0_68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0" st="0"/>
                                            </p:txEl>
                                          </p:spTgt>
                                        </p:tgtEl>
                                        <p:attrNameLst>
                                          <p:attrName>style.visibility</p:attrName>
                                        </p:attrNameLst>
                                      </p:cBhvr>
                                      <p:to>
                                        <p:strVal val="visible"/>
                                      </p:to>
                                    </p:set>
                                    <p:anim calcmode="lin" valueType="num">
                                      <p:cBhvr additive="base">
                                        <p:cTn dur="1000"/>
                                        <p:tgtEl>
                                          <p:spTgt spid="3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1" st="1"/>
                                            </p:txEl>
                                          </p:spTgt>
                                        </p:tgtEl>
                                        <p:attrNameLst>
                                          <p:attrName>style.visibility</p:attrName>
                                        </p:attrNameLst>
                                      </p:cBhvr>
                                      <p:to>
                                        <p:strVal val="visible"/>
                                      </p:to>
                                    </p:set>
                                    <p:anim calcmode="lin" valueType="num">
                                      <p:cBhvr additive="base">
                                        <p:cTn dur="1000"/>
                                        <p:tgtEl>
                                          <p:spTgt spid="3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2" st="2"/>
                                            </p:txEl>
                                          </p:spTgt>
                                        </p:tgtEl>
                                        <p:attrNameLst>
                                          <p:attrName>style.visibility</p:attrName>
                                        </p:attrNameLst>
                                      </p:cBhvr>
                                      <p:to>
                                        <p:strVal val="visible"/>
                                      </p:to>
                                    </p:set>
                                    <p:anim calcmode="lin" valueType="num">
                                      <p:cBhvr additive="base">
                                        <p:cTn dur="1000"/>
                                        <p:tgtEl>
                                          <p:spTgt spid="3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3" st="3"/>
                                            </p:txEl>
                                          </p:spTgt>
                                        </p:tgtEl>
                                        <p:attrNameLst>
                                          <p:attrName>style.visibility</p:attrName>
                                        </p:attrNameLst>
                                      </p:cBhvr>
                                      <p:to>
                                        <p:strVal val="visible"/>
                                      </p:to>
                                    </p:set>
                                    <p:anim calcmode="lin" valueType="num">
                                      <p:cBhvr additive="base">
                                        <p:cTn dur="1000"/>
                                        <p:tgtEl>
                                          <p:spTgt spid="3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4" st="4"/>
                                            </p:txEl>
                                          </p:spTgt>
                                        </p:tgtEl>
                                        <p:attrNameLst>
                                          <p:attrName>style.visibility</p:attrName>
                                        </p:attrNameLst>
                                      </p:cBhvr>
                                      <p:to>
                                        <p:strVal val="visible"/>
                                      </p:to>
                                    </p:set>
                                    <p:anim calcmode="lin" valueType="num">
                                      <p:cBhvr additive="base">
                                        <p:cTn dur="1000"/>
                                        <p:tgtEl>
                                          <p:spTgt spid="3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5" st="5"/>
                                            </p:txEl>
                                          </p:spTgt>
                                        </p:tgtEl>
                                        <p:attrNameLst>
                                          <p:attrName>style.visibility</p:attrName>
                                        </p:attrNameLst>
                                      </p:cBhvr>
                                      <p:to>
                                        <p:strVal val="visible"/>
                                      </p:to>
                                    </p:set>
                                    <p:anim calcmode="lin" valueType="num">
                                      <p:cBhvr additive="base">
                                        <p:cTn dur="1000"/>
                                        <p:tgtEl>
                                          <p:spTgt spid="35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6" st="6"/>
                                            </p:txEl>
                                          </p:spTgt>
                                        </p:tgtEl>
                                        <p:attrNameLst>
                                          <p:attrName>style.visibility</p:attrName>
                                        </p:attrNameLst>
                                      </p:cBhvr>
                                      <p:to>
                                        <p:strVal val="visible"/>
                                      </p:to>
                                    </p:set>
                                    <p:anim calcmode="lin" valueType="num">
                                      <p:cBhvr additive="base">
                                        <p:cTn dur="1000"/>
                                        <p:tgtEl>
                                          <p:spTgt spid="35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7" st="7"/>
                                            </p:txEl>
                                          </p:spTgt>
                                        </p:tgtEl>
                                        <p:attrNameLst>
                                          <p:attrName>style.visibility</p:attrName>
                                        </p:attrNameLst>
                                      </p:cBhvr>
                                      <p:to>
                                        <p:strVal val="visible"/>
                                      </p:to>
                                    </p:set>
                                    <p:anim calcmode="lin" valueType="num">
                                      <p:cBhvr additive="base">
                                        <p:cTn dur="1000"/>
                                        <p:tgtEl>
                                          <p:spTgt spid="35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8" st="8"/>
                                            </p:txEl>
                                          </p:spTgt>
                                        </p:tgtEl>
                                        <p:attrNameLst>
                                          <p:attrName>style.visibility</p:attrName>
                                        </p:attrNameLst>
                                      </p:cBhvr>
                                      <p:to>
                                        <p:strVal val="visible"/>
                                      </p:to>
                                    </p:set>
                                    <p:anim calcmode="lin" valueType="num">
                                      <p:cBhvr additive="base">
                                        <p:cTn dur="1000"/>
                                        <p:tgtEl>
                                          <p:spTgt spid="35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9" st="9"/>
                                            </p:txEl>
                                          </p:spTgt>
                                        </p:tgtEl>
                                        <p:attrNameLst>
                                          <p:attrName>style.visibility</p:attrName>
                                        </p:attrNameLst>
                                      </p:cBhvr>
                                      <p:to>
                                        <p:strVal val="visible"/>
                                      </p:to>
                                    </p:set>
                                    <p:anim calcmode="lin" valueType="num">
                                      <p:cBhvr additive="base">
                                        <p:cTn dur="1000"/>
                                        <p:tgtEl>
                                          <p:spTgt spid="35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10" st="10"/>
                                            </p:txEl>
                                          </p:spTgt>
                                        </p:tgtEl>
                                        <p:attrNameLst>
                                          <p:attrName>style.visibility</p:attrName>
                                        </p:attrNameLst>
                                      </p:cBhvr>
                                      <p:to>
                                        <p:strVal val="visible"/>
                                      </p:to>
                                    </p:set>
                                    <p:anim calcmode="lin" valueType="num">
                                      <p:cBhvr additive="base">
                                        <p:cTn dur="1000"/>
                                        <p:tgtEl>
                                          <p:spTgt spid="35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2">
                                            <p:txEl>
                                              <p:pRg end="11" st="11"/>
                                            </p:txEl>
                                          </p:spTgt>
                                        </p:tgtEl>
                                        <p:attrNameLst>
                                          <p:attrName>style.visibility</p:attrName>
                                        </p:attrNameLst>
                                      </p:cBhvr>
                                      <p:to>
                                        <p:strVal val="visible"/>
                                      </p:to>
                                    </p:set>
                                    <p:anim calcmode="lin" valueType="num">
                                      <p:cBhvr additive="base">
                                        <p:cTn dur="1000"/>
                                        <p:tgtEl>
                                          <p:spTgt spid="352">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 calcmode="lin" valueType="num">
                                      <p:cBhvr additive="base">
                                        <p:cTn dur="1000"/>
                                        <p:tgtEl>
                                          <p:spTgt spid="3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g14337fc5d25_0_695"/>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0" name="Google Shape;360;g14337fc5d25_0_695"/>
          <p:cNvSpPr txBox="1"/>
          <p:nvPr/>
        </p:nvSpPr>
        <p:spPr>
          <a:xfrm>
            <a:off x="720000" y="1314850"/>
            <a:ext cx="7166100" cy="5595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Spirit in 1 litre mix of A = 5/7 litre.</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Spirit in 1 litre mix of B = 7/13 litre.</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Spirit in 1 litre mix of C = 8/13 litre.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By rule of alligation we have required ratio X:Y</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X         :       Y</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5/7              7/13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(8/13)</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(1/13)   :   (9/91) =&gt; 7:9		Therefore required ratio = 1/13 :</a:t>
            </a:r>
            <a:r>
              <a:rPr b="0" i="0" lang="en-GB" sz="1800" u="none" cap="none" strike="noStrike">
                <a:solidFill>
                  <a:schemeClr val="dk2"/>
                </a:solidFill>
                <a:latin typeface="Arial"/>
                <a:ea typeface="Arial"/>
                <a:cs typeface="Arial"/>
                <a:sym typeface="Arial"/>
              </a:rPr>
              <a:t> </a:t>
            </a:r>
            <a:r>
              <a:rPr b="0" i="0" lang="en-GB" sz="1800" u="none" cap="none" strike="noStrike">
                <a:solidFill>
                  <a:schemeClr val="dk1"/>
                </a:solidFill>
                <a:latin typeface="Arial"/>
                <a:ea typeface="Arial"/>
                <a:cs typeface="Arial"/>
                <a:sym typeface="Arial"/>
              </a:rPr>
              <a:t>9/91</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=7: 9</a:t>
            </a:r>
            <a:endParaRPr b="0" i="0" sz="1800" u="none" cap="none" strike="noStrike">
              <a:solidFill>
                <a:schemeClr val="dk2"/>
              </a:solidFill>
              <a:latin typeface="Arial"/>
              <a:ea typeface="Arial"/>
              <a:cs typeface="Arial"/>
              <a:sym typeface="Arial"/>
            </a:endParaRPr>
          </a:p>
          <a:p>
            <a:pPr indent="-228600" lvl="0" marL="4572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a:p>
            <a:pPr indent="0" lvl="0" marL="11430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361" name="Google Shape;361;g14337fc5d25_0_69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 calcmode="lin" valueType="num">
                                      <p:cBhvr additive="base">
                                        <p:cTn dur="1000"/>
                                        <p:tgtEl>
                                          <p:spTgt spid="36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 calcmode="lin" valueType="num">
                                      <p:cBhvr additive="base">
                                        <p:cTn dur="1000"/>
                                        <p:tgtEl>
                                          <p:spTgt spid="36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anim calcmode="lin" valueType="num">
                                      <p:cBhvr additive="base">
                                        <p:cTn dur="1000"/>
                                        <p:tgtEl>
                                          <p:spTgt spid="36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anim calcmode="lin" valueType="num">
                                      <p:cBhvr additive="base">
                                        <p:cTn dur="1000"/>
                                        <p:tgtEl>
                                          <p:spTgt spid="36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anim calcmode="lin" valueType="num">
                                      <p:cBhvr additive="base">
                                        <p:cTn dur="1000"/>
                                        <p:tgtEl>
                                          <p:spTgt spid="36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5" st="5"/>
                                            </p:txEl>
                                          </p:spTgt>
                                        </p:tgtEl>
                                        <p:attrNameLst>
                                          <p:attrName>style.visibility</p:attrName>
                                        </p:attrNameLst>
                                      </p:cBhvr>
                                      <p:to>
                                        <p:strVal val="visible"/>
                                      </p:to>
                                    </p:set>
                                    <p:anim calcmode="lin" valueType="num">
                                      <p:cBhvr additive="base">
                                        <p:cTn dur="1000"/>
                                        <p:tgtEl>
                                          <p:spTgt spid="36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6" st="6"/>
                                            </p:txEl>
                                          </p:spTgt>
                                        </p:tgtEl>
                                        <p:attrNameLst>
                                          <p:attrName>style.visibility</p:attrName>
                                        </p:attrNameLst>
                                      </p:cBhvr>
                                      <p:to>
                                        <p:strVal val="visible"/>
                                      </p:to>
                                    </p:set>
                                    <p:anim calcmode="lin" valueType="num">
                                      <p:cBhvr additive="base">
                                        <p:cTn dur="1000"/>
                                        <p:tgtEl>
                                          <p:spTgt spid="36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7" st="7"/>
                                            </p:txEl>
                                          </p:spTgt>
                                        </p:tgtEl>
                                        <p:attrNameLst>
                                          <p:attrName>style.visibility</p:attrName>
                                        </p:attrNameLst>
                                      </p:cBhvr>
                                      <p:to>
                                        <p:strVal val="visible"/>
                                      </p:to>
                                    </p:set>
                                    <p:anim calcmode="lin" valueType="num">
                                      <p:cBhvr additive="base">
                                        <p:cTn dur="1000"/>
                                        <p:tgtEl>
                                          <p:spTgt spid="36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8" st="8"/>
                                            </p:txEl>
                                          </p:spTgt>
                                        </p:tgtEl>
                                        <p:attrNameLst>
                                          <p:attrName>style.visibility</p:attrName>
                                        </p:attrNameLst>
                                      </p:cBhvr>
                                      <p:to>
                                        <p:strVal val="visible"/>
                                      </p:to>
                                    </p:set>
                                    <p:anim calcmode="lin" valueType="num">
                                      <p:cBhvr additive="base">
                                        <p:cTn dur="1000"/>
                                        <p:tgtEl>
                                          <p:spTgt spid="36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9" st="9"/>
                                            </p:txEl>
                                          </p:spTgt>
                                        </p:tgtEl>
                                        <p:attrNameLst>
                                          <p:attrName>style.visibility</p:attrName>
                                        </p:attrNameLst>
                                      </p:cBhvr>
                                      <p:to>
                                        <p:strVal val="visible"/>
                                      </p:to>
                                    </p:set>
                                    <p:anim calcmode="lin" valueType="num">
                                      <p:cBhvr additive="base">
                                        <p:cTn dur="1000"/>
                                        <p:tgtEl>
                                          <p:spTgt spid="36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0" st="10"/>
                                            </p:txEl>
                                          </p:spTgt>
                                        </p:tgtEl>
                                        <p:attrNameLst>
                                          <p:attrName>style.visibility</p:attrName>
                                        </p:attrNameLst>
                                      </p:cBhvr>
                                      <p:to>
                                        <p:strVal val="visible"/>
                                      </p:to>
                                    </p:set>
                                    <p:anim calcmode="lin" valueType="num">
                                      <p:cBhvr additive="base">
                                        <p:cTn dur="1000"/>
                                        <p:tgtEl>
                                          <p:spTgt spid="36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1" st="11"/>
                                            </p:txEl>
                                          </p:spTgt>
                                        </p:tgtEl>
                                        <p:attrNameLst>
                                          <p:attrName>style.visibility</p:attrName>
                                        </p:attrNameLst>
                                      </p:cBhvr>
                                      <p:to>
                                        <p:strVal val="visible"/>
                                      </p:to>
                                    </p:set>
                                    <p:anim calcmode="lin" valueType="num">
                                      <p:cBhvr additive="base">
                                        <p:cTn dur="1000"/>
                                        <p:tgtEl>
                                          <p:spTgt spid="36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2" st="12"/>
                                            </p:txEl>
                                          </p:spTgt>
                                        </p:tgtEl>
                                        <p:attrNameLst>
                                          <p:attrName>style.visibility</p:attrName>
                                        </p:attrNameLst>
                                      </p:cBhvr>
                                      <p:to>
                                        <p:strVal val="visible"/>
                                      </p:to>
                                    </p:set>
                                    <p:anim calcmode="lin" valueType="num">
                                      <p:cBhvr additive="base">
                                        <p:cTn dur="1000"/>
                                        <p:tgtEl>
                                          <p:spTgt spid="360">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3" st="13"/>
                                            </p:txEl>
                                          </p:spTgt>
                                        </p:tgtEl>
                                        <p:attrNameLst>
                                          <p:attrName>style.visibility</p:attrName>
                                        </p:attrNameLst>
                                      </p:cBhvr>
                                      <p:to>
                                        <p:strVal val="visible"/>
                                      </p:to>
                                    </p:set>
                                    <p:anim calcmode="lin" valueType="num">
                                      <p:cBhvr additive="base">
                                        <p:cTn dur="1000"/>
                                        <p:tgtEl>
                                          <p:spTgt spid="360">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4" st="14"/>
                                            </p:txEl>
                                          </p:spTgt>
                                        </p:tgtEl>
                                        <p:attrNameLst>
                                          <p:attrName>style.visibility</p:attrName>
                                        </p:attrNameLst>
                                      </p:cBhvr>
                                      <p:to>
                                        <p:strVal val="visible"/>
                                      </p:to>
                                    </p:set>
                                    <p:anim calcmode="lin" valueType="num">
                                      <p:cBhvr additive="base">
                                        <p:cTn dur="1000"/>
                                        <p:tgtEl>
                                          <p:spTgt spid="360">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5" st="15"/>
                                            </p:txEl>
                                          </p:spTgt>
                                        </p:tgtEl>
                                        <p:attrNameLst>
                                          <p:attrName>style.visibility</p:attrName>
                                        </p:attrNameLst>
                                      </p:cBhvr>
                                      <p:to>
                                        <p:strVal val="visible"/>
                                      </p:to>
                                    </p:set>
                                    <p:anim calcmode="lin" valueType="num">
                                      <p:cBhvr additive="base">
                                        <p:cTn dur="1000"/>
                                        <p:tgtEl>
                                          <p:spTgt spid="360">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0">
                                            <p:txEl>
                                              <p:pRg end="16" st="16"/>
                                            </p:txEl>
                                          </p:spTgt>
                                        </p:tgtEl>
                                        <p:attrNameLst>
                                          <p:attrName>style.visibility</p:attrName>
                                        </p:attrNameLst>
                                      </p:cBhvr>
                                      <p:to>
                                        <p:strVal val="visible"/>
                                      </p:to>
                                    </p:set>
                                    <p:anim calcmode="lin" valueType="num">
                                      <p:cBhvr additive="base">
                                        <p:cTn dur="1000"/>
                                        <p:tgtEl>
                                          <p:spTgt spid="360">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4337fc5d25_0_703"/>
          <p:cNvSpPr txBox="1"/>
          <p:nvPr/>
        </p:nvSpPr>
        <p:spPr>
          <a:xfrm>
            <a:off x="720000" y="1439999"/>
            <a:ext cx="8472300" cy="4044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How many kilograms of sugar costing Rs. 9 per kg must be mixed with 27 kg of sugar costing Rs.7 per kg so that there may be gain of 10% by selling the mixture at Rs. 9.24 per kg?</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60 kg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63 kg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50 kg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77 kg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rgbClr val="000000"/>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367" name="Google Shape;367;g14337fc5d25_0_70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68" name="Google Shape;368;g14337fc5d25_0_70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anim calcmode="lin" valueType="num">
                                      <p:cBhvr additive="base">
                                        <p:cTn dur="1000"/>
                                        <p:tgtEl>
                                          <p:spTgt spid="3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anim calcmode="lin" valueType="num">
                                      <p:cBhvr additive="base">
                                        <p:cTn dur="1000"/>
                                        <p:tgtEl>
                                          <p:spTgt spid="36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anim calcmode="lin" valueType="num">
                                      <p:cBhvr additive="base">
                                        <p:cTn dur="1000"/>
                                        <p:tgtEl>
                                          <p:spTgt spid="36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anim calcmode="lin" valueType="num">
                                      <p:cBhvr additive="base">
                                        <p:cTn dur="1000"/>
                                        <p:tgtEl>
                                          <p:spTgt spid="36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anim calcmode="lin" valueType="num">
                                      <p:cBhvr additive="base">
                                        <p:cTn dur="1000"/>
                                        <p:tgtEl>
                                          <p:spTgt spid="36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5" st="5"/>
                                            </p:txEl>
                                          </p:spTgt>
                                        </p:tgtEl>
                                        <p:attrNameLst>
                                          <p:attrName>style.visibility</p:attrName>
                                        </p:attrNameLst>
                                      </p:cBhvr>
                                      <p:to>
                                        <p:strVal val="visible"/>
                                      </p:to>
                                    </p:set>
                                    <p:anim calcmode="lin" valueType="num">
                                      <p:cBhvr additive="base">
                                        <p:cTn dur="1000"/>
                                        <p:tgtEl>
                                          <p:spTgt spid="36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6" st="6"/>
                                            </p:txEl>
                                          </p:spTgt>
                                        </p:tgtEl>
                                        <p:attrNameLst>
                                          <p:attrName>style.visibility</p:attrName>
                                        </p:attrNameLst>
                                      </p:cBhvr>
                                      <p:to>
                                        <p:strVal val="visible"/>
                                      </p:to>
                                    </p:set>
                                    <p:anim calcmode="lin" valueType="num">
                                      <p:cBhvr additive="base">
                                        <p:cTn dur="1000"/>
                                        <p:tgtEl>
                                          <p:spTgt spid="36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7" st="7"/>
                                            </p:txEl>
                                          </p:spTgt>
                                        </p:tgtEl>
                                        <p:attrNameLst>
                                          <p:attrName>style.visibility</p:attrName>
                                        </p:attrNameLst>
                                      </p:cBhvr>
                                      <p:to>
                                        <p:strVal val="visible"/>
                                      </p:to>
                                    </p:set>
                                    <p:anim calcmode="lin" valueType="num">
                                      <p:cBhvr additive="base">
                                        <p:cTn dur="1000"/>
                                        <p:tgtEl>
                                          <p:spTgt spid="36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8" st="8"/>
                                            </p:txEl>
                                          </p:spTgt>
                                        </p:tgtEl>
                                        <p:attrNameLst>
                                          <p:attrName>style.visibility</p:attrName>
                                        </p:attrNameLst>
                                      </p:cBhvr>
                                      <p:to>
                                        <p:strVal val="visible"/>
                                      </p:to>
                                    </p:set>
                                    <p:anim calcmode="lin" valueType="num">
                                      <p:cBhvr additive="base">
                                        <p:cTn dur="1000"/>
                                        <p:tgtEl>
                                          <p:spTgt spid="36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9" st="9"/>
                                            </p:txEl>
                                          </p:spTgt>
                                        </p:tgtEl>
                                        <p:attrNameLst>
                                          <p:attrName>style.visibility</p:attrName>
                                        </p:attrNameLst>
                                      </p:cBhvr>
                                      <p:to>
                                        <p:strVal val="visible"/>
                                      </p:to>
                                    </p:set>
                                    <p:anim calcmode="lin" valueType="num">
                                      <p:cBhvr additive="base">
                                        <p:cTn dur="1000"/>
                                        <p:tgtEl>
                                          <p:spTgt spid="36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10" st="10"/>
                                            </p:txEl>
                                          </p:spTgt>
                                        </p:tgtEl>
                                        <p:attrNameLst>
                                          <p:attrName>style.visibility</p:attrName>
                                        </p:attrNameLst>
                                      </p:cBhvr>
                                      <p:to>
                                        <p:strVal val="visible"/>
                                      </p:to>
                                    </p:set>
                                    <p:anim calcmode="lin" valueType="num">
                                      <p:cBhvr additive="base">
                                        <p:cTn dur="1000"/>
                                        <p:tgtEl>
                                          <p:spTgt spid="36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6">
                                            <p:txEl>
                                              <p:pRg end="11" st="11"/>
                                            </p:txEl>
                                          </p:spTgt>
                                        </p:tgtEl>
                                        <p:attrNameLst>
                                          <p:attrName>style.visibility</p:attrName>
                                        </p:attrNameLst>
                                      </p:cBhvr>
                                      <p:to>
                                        <p:strVal val="visible"/>
                                      </p:to>
                                    </p:set>
                                    <p:anim calcmode="lin" valueType="num">
                                      <p:cBhvr additive="base">
                                        <p:cTn dur="1000"/>
                                        <p:tgtEl>
                                          <p:spTgt spid="36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anim calcmode="lin" valueType="num">
                                      <p:cBhvr additive="base">
                                        <p:cTn dur="1000"/>
                                        <p:tgtEl>
                                          <p:spTgt spid="3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g14337fc5d25_0_711"/>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74" name="Google Shape;374;g14337fc5d25_0_711"/>
          <p:cNvSpPr txBox="1"/>
          <p:nvPr/>
        </p:nvSpPr>
        <p:spPr>
          <a:xfrm>
            <a:off x="662325" y="1239775"/>
            <a:ext cx="677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375" name="Google Shape;375;g14337fc5d25_0_711"/>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pic>
        <p:nvPicPr>
          <p:cNvPr id="376" name="Google Shape;376;g14337fc5d25_0_711"/>
          <p:cNvPicPr preferRelativeResize="0"/>
          <p:nvPr/>
        </p:nvPicPr>
        <p:blipFill rotWithShape="1">
          <a:blip r:embed="rId3">
            <a:alphaModFix/>
          </a:blip>
          <a:srcRect b="0" l="0" r="0" t="0"/>
          <a:stretch/>
        </p:blipFill>
        <p:spPr>
          <a:xfrm>
            <a:off x="662324" y="1170000"/>
            <a:ext cx="7819345" cy="355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gtEl>
                                        <p:attrNameLst>
                                          <p:attrName>style.visibility</p:attrName>
                                        </p:attrNameLst>
                                      </p:cBhvr>
                                      <p:to>
                                        <p:strVal val="visible"/>
                                      </p:to>
                                    </p:set>
                                    <p:anim calcmode="lin" valueType="num">
                                      <p:cBhvr additive="base">
                                        <p:cTn dur="1000"/>
                                        <p:tgtEl>
                                          <p:spTgt spid="37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sp>
        <p:nvSpPr>
          <p:cNvPr id="381" name="Google Shape;381;g31b9c7de5da_0_55"/>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pic>
        <p:nvPicPr>
          <p:cNvPr id="382" name="Google Shape;382;g31b9c7de5da_0_55"/>
          <p:cNvPicPr preferRelativeResize="0"/>
          <p:nvPr/>
        </p:nvPicPr>
        <p:blipFill rotWithShape="1">
          <a:blip r:embed="rId3">
            <a:alphaModFix/>
          </a:blip>
          <a:srcRect b="0" l="0" r="0" t="0"/>
          <a:stretch/>
        </p:blipFill>
        <p:spPr>
          <a:xfrm>
            <a:off x="720725" y="1170000"/>
            <a:ext cx="6354850" cy="370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1000"/>
                                        <p:tgtEl>
                                          <p:spTgt spid="38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g31b9c7de5da_0_62"/>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pic>
        <p:nvPicPr>
          <p:cNvPr id="388" name="Google Shape;388;g31b9c7de5da_0_62"/>
          <p:cNvPicPr preferRelativeResize="0"/>
          <p:nvPr/>
        </p:nvPicPr>
        <p:blipFill rotWithShape="1">
          <a:blip r:embed="rId3">
            <a:alphaModFix/>
          </a:blip>
          <a:srcRect b="0" l="0" r="0" t="0"/>
          <a:stretch/>
        </p:blipFill>
        <p:spPr>
          <a:xfrm>
            <a:off x="720725" y="1291400"/>
            <a:ext cx="6718300" cy="3327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1000"/>
                                        <p:tgtEl>
                                          <p:spTgt spid="3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14337fc5d25_0_719"/>
          <p:cNvSpPr txBox="1"/>
          <p:nvPr/>
        </p:nvSpPr>
        <p:spPr>
          <a:xfrm>
            <a:off x="720000" y="1439999"/>
            <a:ext cx="8472300" cy="4218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One quantity of wheat at Rs 9.30 per kg is mixed with another quality at a certain rate in the ratio 8:7. If the mixture so formed be worth Rs 10 per kg, what is the rate per kg of the second quality of wheat?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Rs. 12.47</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Rs. 10.80</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Rs. 15.17</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Rs. 47.66</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2A2A2A"/>
              </a:solidFill>
              <a:highlight>
                <a:schemeClr val="lt1"/>
              </a:highlight>
              <a:latin typeface="Roboto"/>
              <a:ea typeface="Roboto"/>
              <a:cs typeface="Roboto"/>
              <a:sym typeface="Roboto"/>
            </a:endParaRPr>
          </a:p>
        </p:txBody>
      </p:sp>
      <p:sp>
        <p:nvSpPr>
          <p:cNvPr id="394" name="Google Shape;394;g14337fc5d25_0_71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95" name="Google Shape;395;g14337fc5d25_0_71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anim calcmode="lin" valueType="num">
                                      <p:cBhvr additive="base">
                                        <p:cTn dur="1000"/>
                                        <p:tgtEl>
                                          <p:spTgt spid="39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1" st="1"/>
                                            </p:txEl>
                                          </p:spTgt>
                                        </p:tgtEl>
                                        <p:attrNameLst>
                                          <p:attrName>style.visibility</p:attrName>
                                        </p:attrNameLst>
                                      </p:cBhvr>
                                      <p:to>
                                        <p:strVal val="visible"/>
                                      </p:to>
                                    </p:set>
                                    <p:anim calcmode="lin" valueType="num">
                                      <p:cBhvr additive="base">
                                        <p:cTn dur="1000"/>
                                        <p:tgtEl>
                                          <p:spTgt spid="39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2" st="2"/>
                                            </p:txEl>
                                          </p:spTgt>
                                        </p:tgtEl>
                                        <p:attrNameLst>
                                          <p:attrName>style.visibility</p:attrName>
                                        </p:attrNameLst>
                                      </p:cBhvr>
                                      <p:to>
                                        <p:strVal val="visible"/>
                                      </p:to>
                                    </p:set>
                                    <p:anim calcmode="lin" valueType="num">
                                      <p:cBhvr additive="base">
                                        <p:cTn dur="1000"/>
                                        <p:tgtEl>
                                          <p:spTgt spid="39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3" st="3"/>
                                            </p:txEl>
                                          </p:spTgt>
                                        </p:tgtEl>
                                        <p:attrNameLst>
                                          <p:attrName>style.visibility</p:attrName>
                                        </p:attrNameLst>
                                      </p:cBhvr>
                                      <p:to>
                                        <p:strVal val="visible"/>
                                      </p:to>
                                    </p:set>
                                    <p:anim calcmode="lin" valueType="num">
                                      <p:cBhvr additive="base">
                                        <p:cTn dur="1000"/>
                                        <p:tgtEl>
                                          <p:spTgt spid="39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4" st="4"/>
                                            </p:txEl>
                                          </p:spTgt>
                                        </p:tgtEl>
                                        <p:attrNameLst>
                                          <p:attrName>style.visibility</p:attrName>
                                        </p:attrNameLst>
                                      </p:cBhvr>
                                      <p:to>
                                        <p:strVal val="visible"/>
                                      </p:to>
                                    </p:set>
                                    <p:anim calcmode="lin" valueType="num">
                                      <p:cBhvr additive="base">
                                        <p:cTn dur="1000"/>
                                        <p:tgtEl>
                                          <p:spTgt spid="39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5" st="5"/>
                                            </p:txEl>
                                          </p:spTgt>
                                        </p:tgtEl>
                                        <p:attrNameLst>
                                          <p:attrName>style.visibility</p:attrName>
                                        </p:attrNameLst>
                                      </p:cBhvr>
                                      <p:to>
                                        <p:strVal val="visible"/>
                                      </p:to>
                                    </p:set>
                                    <p:anim calcmode="lin" valueType="num">
                                      <p:cBhvr additive="base">
                                        <p:cTn dur="1000"/>
                                        <p:tgtEl>
                                          <p:spTgt spid="39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6" st="6"/>
                                            </p:txEl>
                                          </p:spTgt>
                                        </p:tgtEl>
                                        <p:attrNameLst>
                                          <p:attrName>style.visibility</p:attrName>
                                        </p:attrNameLst>
                                      </p:cBhvr>
                                      <p:to>
                                        <p:strVal val="visible"/>
                                      </p:to>
                                    </p:set>
                                    <p:anim calcmode="lin" valueType="num">
                                      <p:cBhvr additive="base">
                                        <p:cTn dur="1000"/>
                                        <p:tgtEl>
                                          <p:spTgt spid="39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7" st="7"/>
                                            </p:txEl>
                                          </p:spTgt>
                                        </p:tgtEl>
                                        <p:attrNameLst>
                                          <p:attrName>style.visibility</p:attrName>
                                        </p:attrNameLst>
                                      </p:cBhvr>
                                      <p:to>
                                        <p:strVal val="visible"/>
                                      </p:to>
                                    </p:set>
                                    <p:anim calcmode="lin" valueType="num">
                                      <p:cBhvr additive="base">
                                        <p:cTn dur="1000"/>
                                        <p:tgtEl>
                                          <p:spTgt spid="39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8" st="8"/>
                                            </p:txEl>
                                          </p:spTgt>
                                        </p:tgtEl>
                                        <p:attrNameLst>
                                          <p:attrName>style.visibility</p:attrName>
                                        </p:attrNameLst>
                                      </p:cBhvr>
                                      <p:to>
                                        <p:strVal val="visible"/>
                                      </p:to>
                                    </p:set>
                                    <p:anim calcmode="lin" valueType="num">
                                      <p:cBhvr additive="base">
                                        <p:cTn dur="1000"/>
                                        <p:tgtEl>
                                          <p:spTgt spid="39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9" st="9"/>
                                            </p:txEl>
                                          </p:spTgt>
                                        </p:tgtEl>
                                        <p:attrNameLst>
                                          <p:attrName>style.visibility</p:attrName>
                                        </p:attrNameLst>
                                      </p:cBhvr>
                                      <p:to>
                                        <p:strVal val="visible"/>
                                      </p:to>
                                    </p:set>
                                    <p:anim calcmode="lin" valueType="num">
                                      <p:cBhvr additive="base">
                                        <p:cTn dur="1000"/>
                                        <p:tgtEl>
                                          <p:spTgt spid="39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10" st="10"/>
                                            </p:txEl>
                                          </p:spTgt>
                                        </p:tgtEl>
                                        <p:attrNameLst>
                                          <p:attrName>style.visibility</p:attrName>
                                        </p:attrNameLst>
                                      </p:cBhvr>
                                      <p:to>
                                        <p:strVal val="visible"/>
                                      </p:to>
                                    </p:set>
                                    <p:anim calcmode="lin" valueType="num">
                                      <p:cBhvr additive="base">
                                        <p:cTn dur="1000"/>
                                        <p:tgtEl>
                                          <p:spTgt spid="39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11" st="11"/>
                                            </p:txEl>
                                          </p:spTgt>
                                        </p:tgtEl>
                                        <p:attrNameLst>
                                          <p:attrName>style.visibility</p:attrName>
                                        </p:attrNameLst>
                                      </p:cBhvr>
                                      <p:to>
                                        <p:strVal val="visible"/>
                                      </p:to>
                                    </p:set>
                                    <p:anim calcmode="lin" valueType="num">
                                      <p:cBhvr additive="base">
                                        <p:cTn dur="1000"/>
                                        <p:tgtEl>
                                          <p:spTgt spid="393">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xEl>
                                              <p:pRg end="12" st="12"/>
                                            </p:txEl>
                                          </p:spTgt>
                                        </p:tgtEl>
                                        <p:attrNameLst>
                                          <p:attrName>style.visibility</p:attrName>
                                        </p:attrNameLst>
                                      </p:cBhvr>
                                      <p:to>
                                        <p:strVal val="visible"/>
                                      </p:to>
                                    </p:set>
                                    <p:anim calcmode="lin" valueType="num">
                                      <p:cBhvr additive="base">
                                        <p:cTn dur="1000"/>
                                        <p:tgtEl>
                                          <p:spTgt spid="393">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 calcmode="lin" valueType="num">
                                      <p:cBhvr additive="base">
                                        <p:cTn dur="1000"/>
                                        <p:tgtEl>
                                          <p:spTgt spid="39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9" name="Shape 399"/>
        <p:cNvGrpSpPr/>
        <p:nvPr/>
      </p:nvGrpSpPr>
      <p:grpSpPr>
        <a:xfrm>
          <a:off x="0" y="0"/>
          <a:ext cx="0" cy="0"/>
          <a:chOff x="0" y="0"/>
          <a:chExt cx="0" cy="0"/>
        </a:xfrm>
      </p:grpSpPr>
      <p:sp>
        <p:nvSpPr>
          <p:cNvPr id="400" name="Google Shape;400;g14337fc5d25_0_72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401" name="Google Shape;401;g14337fc5d25_0_727"/>
          <p:cNvSpPr txBox="1"/>
          <p:nvPr/>
        </p:nvSpPr>
        <p:spPr>
          <a:xfrm>
            <a:off x="720000" y="1170000"/>
            <a:ext cx="7166100" cy="4223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Let the rate of second quality be Rs x per Kg.</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C.P of 1Kg wheat of 1st kind = 930p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C.P of 1 Kg wheat of 2nd kind = 100x p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Mean price = 1000p</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By rule of alligation we have required ratio 8 : 7</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930                  x</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(Mean Price) (10)</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                  \</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x-10        :      0.7     ::       8        :          7</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2"/>
                </a:solidFill>
                <a:latin typeface="Arial"/>
                <a:ea typeface="Arial"/>
                <a:cs typeface="Arial"/>
                <a:sym typeface="Arial"/>
              </a:rPr>
              <a:t>					 </a:t>
            </a:r>
            <a:r>
              <a:rPr b="0" i="0" lang="en-GB" sz="1800" u="none" cap="none" strike="noStrike">
                <a:solidFill>
                  <a:schemeClr val="dk1"/>
                </a:solidFill>
                <a:latin typeface="Arial"/>
                <a:ea typeface="Arial"/>
                <a:cs typeface="Arial"/>
                <a:sym typeface="Arial"/>
              </a:rPr>
              <a:t>we get required ratio,  (x-10) : 0.7 :: 8 : 7</a:t>
            </a:r>
            <a:endParaRPr b="0" i="0" sz="1800" u="none" cap="none" strike="noStrike">
              <a:solidFill>
                <a:schemeClr val="dk2"/>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 x = </a:t>
            </a:r>
            <a:r>
              <a:rPr b="1" i="0" lang="en-GB" sz="1800" u="none" cap="none" strike="noStrike">
                <a:solidFill>
                  <a:schemeClr val="dk1"/>
                </a:solidFill>
                <a:latin typeface="Arial"/>
                <a:ea typeface="Arial"/>
                <a:cs typeface="Arial"/>
                <a:sym typeface="Arial"/>
              </a:rPr>
              <a:t>10.80 per Kg </a:t>
            </a:r>
            <a:endParaRPr b="0" i="0" sz="18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402" name="Google Shape;402;g14337fc5d25_0_72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0" st="0"/>
                                            </p:txEl>
                                          </p:spTgt>
                                        </p:tgtEl>
                                        <p:attrNameLst>
                                          <p:attrName>style.visibility</p:attrName>
                                        </p:attrNameLst>
                                      </p:cBhvr>
                                      <p:to>
                                        <p:strVal val="visible"/>
                                      </p:to>
                                    </p:set>
                                    <p:anim calcmode="lin" valueType="num">
                                      <p:cBhvr additive="base">
                                        <p:cTn dur="1000"/>
                                        <p:tgtEl>
                                          <p:spTgt spid="4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1" st="1"/>
                                            </p:txEl>
                                          </p:spTgt>
                                        </p:tgtEl>
                                        <p:attrNameLst>
                                          <p:attrName>style.visibility</p:attrName>
                                        </p:attrNameLst>
                                      </p:cBhvr>
                                      <p:to>
                                        <p:strVal val="visible"/>
                                      </p:to>
                                    </p:set>
                                    <p:anim calcmode="lin" valueType="num">
                                      <p:cBhvr additive="base">
                                        <p:cTn dur="1000"/>
                                        <p:tgtEl>
                                          <p:spTgt spid="4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2" st="2"/>
                                            </p:txEl>
                                          </p:spTgt>
                                        </p:tgtEl>
                                        <p:attrNameLst>
                                          <p:attrName>style.visibility</p:attrName>
                                        </p:attrNameLst>
                                      </p:cBhvr>
                                      <p:to>
                                        <p:strVal val="visible"/>
                                      </p:to>
                                    </p:set>
                                    <p:anim calcmode="lin" valueType="num">
                                      <p:cBhvr additive="base">
                                        <p:cTn dur="1000"/>
                                        <p:tgtEl>
                                          <p:spTgt spid="4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3" st="3"/>
                                            </p:txEl>
                                          </p:spTgt>
                                        </p:tgtEl>
                                        <p:attrNameLst>
                                          <p:attrName>style.visibility</p:attrName>
                                        </p:attrNameLst>
                                      </p:cBhvr>
                                      <p:to>
                                        <p:strVal val="visible"/>
                                      </p:to>
                                    </p:set>
                                    <p:anim calcmode="lin" valueType="num">
                                      <p:cBhvr additive="base">
                                        <p:cTn dur="1000"/>
                                        <p:tgtEl>
                                          <p:spTgt spid="4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4" st="4"/>
                                            </p:txEl>
                                          </p:spTgt>
                                        </p:tgtEl>
                                        <p:attrNameLst>
                                          <p:attrName>style.visibility</p:attrName>
                                        </p:attrNameLst>
                                      </p:cBhvr>
                                      <p:to>
                                        <p:strVal val="visible"/>
                                      </p:to>
                                    </p:set>
                                    <p:anim calcmode="lin" valueType="num">
                                      <p:cBhvr additive="base">
                                        <p:cTn dur="1000"/>
                                        <p:tgtEl>
                                          <p:spTgt spid="40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5" st="5"/>
                                            </p:txEl>
                                          </p:spTgt>
                                        </p:tgtEl>
                                        <p:attrNameLst>
                                          <p:attrName>style.visibility</p:attrName>
                                        </p:attrNameLst>
                                      </p:cBhvr>
                                      <p:to>
                                        <p:strVal val="visible"/>
                                      </p:to>
                                    </p:set>
                                    <p:anim calcmode="lin" valueType="num">
                                      <p:cBhvr additive="base">
                                        <p:cTn dur="1000"/>
                                        <p:tgtEl>
                                          <p:spTgt spid="40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6" st="6"/>
                                            </p:txEl>
                                          </p:spTgt>
                                        </p:tgtEl>
                                        <p:attrNameLst>
                                          <p:attrName>style.visibility</p:attrName>
                                        </p:attrNameLst>
                                      </p:cBhvr>
                                      <p:to>
                                        <p:strVal val="visible"/>
                                      </p:to>
                                    </p:set>
                                    <p:anim calcmode="lin" valueType="num">
                                      <p:cBhvr additive="base">
                                        <p:cTn dur="1000"/>
                                        <p:tgtEl>
                                          <p:spTgt spid="40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7" st="7"/>
                                            </p:txEl>
                                          </p:spTgt>
                                        </p:tgtEl>
                                        <p:attrNameLst>
                                          <p:attrName>style.visibility</p:attrName>
                                        </p:attrNameLst>
                                      </p:cBhvr>
                                      <p:to>
                                        <p:strVal val="visible"/>
                                      </p:to>
                                    </p:set>
                                    <p:anim calcmode="lin" valueType="num">
                                      <p:cBhvr additive="base">
                                        <p:cTn dur="1000"/>
                                        <p:tgtEl>
                                          <p:spTgt spid="40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8" st="8"/>
                                            </p:txEl>
                                          </p:spTgt>
                                        </p:tgtEl>
                                        <p:attrNameLst>
                                          <p:attrName>style.visibility</p:attrName>
                                        </p:attrNameLst>
                                      </p:cBhvr>
                                      <p:to>
                                        <p:strVal val="visible"/>
                                      </p:to>
                                    </p:set>
                                    <p:anim calcmode="lin" valueType="num">
                                      <p:cBhvr additive="base">
                                        <p:cTn dur="1000"/>
                                        <p:tgtEl>
                                          <p:spTgt spid="40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9" st="9"/>
                                            </p:txEl>
                                          </p:spTgt>
                                        </p:tgtEl>
                                        <p:attrNameLst>
                                          <p:attrName>style.visibility</p:attrName>
                                        </p:attrNameLst>
                                      </p:cBhvr>
                                      <p:to>
                                        <p:strVal val="visible"/>
                                      </p:to>
                                    </p:set>
                                    <p:anim calcmode="lin" valueType="num">
                                      <p:cBhvr additive="base">
                                        <p:cTn dur="1000"/>
                                        <p:tgtEl>
                                          <p:spTgt spid="40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10" st="10"/>
                                            </p:txEl>
                                          </p:spTgt>
                                        </p:tgtEl>
                                        <p:attrNameLst>
                                          <p:attrName>style.visibility</p:attrName>
                                        </p:attrNameLst>
                                      </p:cBhvr>
                                      <p:to>
                                        <p:strVal val="visible"/>
                                      </p:to>
                                    </p:set>
                                    <p:anim calcmode="lin" valueType="num">
                                      <p:cBhvr additive="base">
                                        <p:cTn dur="1000"/>
                                        <p:tgtEl>
                                          <p:spTgt spid="40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11" st="11"/>
                                            </p:txEl>
                                          </p:spTgt>
                                        </p:tgtEl>
                                        <p:attrNameLst>
                                          <p:attrName>style.visibility</p:attrName>
                                        </p:attrNameLst>
                                      </p:cBhvr>
                                      <p:to>
                                        <p:strVal val="visible"/>
                                      </p:to>
                                    </p:set>
                                    <p:anim calcmode="lin" valueType="num">
                                      <p:cBhvr additive="base">
                                        <p:cTn dur="1000"/>
                                        <p:tgtEl>
                                          <p:spTgt spid="401">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xEl>
                                              <p:pRg end="12" st="12"/>
                                            </p:txEl>
                                          </p:spTgt>
                                        </p:tgtEl>
                                        <p:attrNameLst>
                                          <p:attrName>style.visibility</p:attrName>
                                        </p:attrNameLst>
                                      </p:cBhvr>
                                      <p:to>
                                        <p:strVal val="visible"/>
                                      </p:to>
                                    </p:set>
                                    <p:anim calcmode="lin" valueType="num">
                                      <p:cBhvr additive="base">
                                        <p:cTn dur="1000"/>
                                        <p:tgtEl>
                                          <p:spTgt spid="401">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14337fc5d25_0_735"/>
          <p:cNvSpPr txBox="1"/>
          <p:nvPr/>
        </p:nvSpPr>
        <p:spPr>
          <a:xfrm>
            <a:off x="720000" y="1422449"/>
            <a:ext cx="8472300" cy="3942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A can contains a mixture of two liquids A and B in the ratio 7:5 when 9 litres of mixture are drawn off and the can is filled with B, the ratio of A and B becomes 7:9. How many litres of liquid A was contained by the can initially?</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A. 28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B. 21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C. 45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D. 36 litres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2A2A2A"/>
              </a:solidFill>
              <a:highlight>
                <a:schemeClr val="lt1"/>
              </a:highlight>
              <a:latin typeface="Roboto"/>
              <a:ea typeface="Roboto"/>
              <a:cs typeface="Roboto"/>
              <a:sym typeface="Roboto"/>
            </a:endParaRPr>
          </a:p>
        </p:txBody>
      </p:sp>
      <p:sp>
        <p:nvSpPr>
          <p:cNvPr id="408" name="Google Shape;408;g14337fc5d25_0_73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409" name="Google Shape;409;g14337fc5d25_0_73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 calcmode="lin" valueType="num">
                                      <p:cBhvr additive="base">
                                        <p:cTn dur="1000"/>
                                        <p:tgtEl>
                                          <p:spTgt spid="4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 calcmode="lin" valueType="num">
                                      <p:cBhvr additive="base">
                                        <p:cTn dur="1000"/>
                                        <p:tgtEl>
                                          <p:spTgt spid="4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 calcmode="lin" valueType="num">
                                      <p:cBhvr additive="base">
                                        <p:cTn dur="1000"/>
                                        <p:tgtEl>
                                          <p:spTgt spid="4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anim calcmode="lin" valueType="num">
                                      <p:cBhvr additive="base">
                                        <p:cTn dur="1000"/>
                                        <p:tgtEl>
                                          <p:spTgt spid="4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anim calcmode="lin" valueType="num">
                                      <p:cBhvr additive="base">
                                        <p:cTn dur="1000"/>
                                        <p:tgtEl>
                                          <p:spTgt spid="4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anim calcmode="lin" valueType="num">
                                      <p:cBhvr additive="base">
                                        <p:cTn dur="1000"/>
                                        <p:tgtEl>
                                          <p:spTgt spid="4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6" st="6"/>
                                            </p:txEl>
                                          </p:spTgt>
                                        </p:tgtEl>
                                        <p:attrNameLst>
                                          <p:attrName>style.visibility</p:attrName>
                                        </p:attrNameLst>
                                      </p:cBhvr>
                                      <p:to>
                                        <p:strVal val="visible"/>
                                      </p:to>
                                    </p:set>
                                    <p:anim calcmode="lin" valueType="num">
                                      <p:cBhvr additive="base">
                                        <p:cTn dur="1000"/>
                                        <p:tgtEl>
                                          <p:spTgt spid="40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7" st="7"/>
                                            </p:txEl>
                                          </p:spTgt>
                                        </p:tgtEl>
                                        <p:attrNameLst>
                                          <p:attrName>style.visibility</p:attrName>
                                        </p:attrNameLst>
                                      </p:cBhvr>
                                      <p:to>
                                        <p:strVal val="visible"/>
                                      </p:to>
                                    </p:set>
                                    <p:anim calcmode="lin" valueType="num">
                                      <p:cBhvr additive="base">
                                        <p:cTn dur="1000"/>
                                        <p:tgtEl>
                                          <p:spTgt spid="40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8" st="8"/>
                                            </p:txEl>
                                          </p:spTgt>
                                        </p:tgtEl>
                                        <p:attrNameLst>
                                          <p:attrName>style.visibility</p:attrName>
                                        </p:attrNameLst>
                                      </p:cBhvr>
                                      <p:to>
                                        <p:strVal val="visible"/>
                                      </p:to>
                                    </p:set>
                                    <p:anim calcmode="lin" valueType="num">
                                      <p:cBhvr additive="base">
                                        <p:cTn dur="1000"/>
                                        <p:tgtEl>
                                          <p:spTgt spid="40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9" st="9"/>
                                            </p:txEl>
                                          </p:spTgt>
                                        </p:tgtEl>
                                        <p:attrNameLst>
                                          <p:attrName>style.visibility</p:attrName>
                                        </p:attrNameLst>
                                      </p:cBhvr>
                                      <p:to>
                                        <p:strVal val="visible"/>
                                      </p:to>
                                    </p:set>
                                    <p:anim calcmode="lin" valueType="num">
                                      <p:cBhvr additive="base">
                                        <p:cTn dur="1000"/>
                                        <p:tgtEl>
                                          <p:spTgt spid="40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10" st="10"/>
                                            </p:txEl>
                                          </p:spTgt>
                                        </p:tgtEl>
                                        <p:attrNameLst>
                                          <p:attrName>style.visibility</p:attrName>
                                        </p:attrNameLst>
                                      </p:cBhvr>
                                      <p:to>
                                        <p:strVal val="visible"/>
                                      </p:to>
                                    </p:set>
                                    <p:anim calcmode="lin" valueType="num">
                                      <p:cBhvr additive="base">
                                        <p:cTn dur="1000"/>
                                        <p:tgtEl>
                                          <p:spTgt spid="40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11" st="11"/>
                                            </p:txEl>
                                          </p:spTgt>
                                        </p:tgtEl>
                                        <p:attrNameLst>
                                          <p:attrName>style.visibility</p:attrName>
                                        </p:attrNameLst>
                                      </p:cBhvr>
                                      <p:to>
                                        <p:strVal val="visible"/>
                                      </p:to>
                                    </p:set>
                                    <p:anim calcmode="lin" valueType="num">
                                      <p:cBhvr additive="base">
                                        <p:cTn dur="1000"/>
                                        <p:tgtEl>
                                          <p:spTgt spid="40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8">
                                            <p:txEl>
                                              <p:pRg end="0" st="0"/>
                                            </p:txEl>
                                          </p:spTgt>
                                        </p:tgtEl>
                                        <p:attrNameLst>
                                          <p:attrName>style.visibility</p:attrName>
                                        </p:attrNameLst>
                                      </p:cBhvr>
                                      <p:to>
                                        <p:strVal val="visible"/>
                                      </p:to>
                                    </p:set>
                                    <p:anim calcmode="lin" valueType="num">
                                      <p:cBhvr additive="base">
                                        <p:cTn dur="1000"/>
                                        <p:tgtEl>
                                          <p:spTgt spid="4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3" name="Shape 413"/>
        <p:cNvGrpSpPr/>
        <p:nvPr/>
      </p:nvGrpSpPr>
      <p:grpSpPr>
        <a:xfrm>
          <a:off x="0" y="0"/>
          <a:ext cx="0" cy="0"/>
          <a:chOff x="0" y="0"/>
          <a:chExt cx="0" cy="0"/>
        </a:xfrm>
      </p:grpSpPr>
      <p:sp>
        <p:nvSpPr>
          <p:cNvPr id="414" name="Google Shape;414;g14337fc5d25_0_743"/>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415" name="Google Shape;415;g14337fc5d25_0_74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pic>
        <p:nvPicPr>
          <p:cNvPr id="416" name="Google Shape;416;g14337fc5d25_0_743"/>
          <p:cNvPicPr preferRelativeResize="0"/>
          <p:nvPr/>
        </p:nvPicPr>
        <p:blipFill rotWithShape="1">
          <a:blip r:embed="rId3">
            <a:alphaModFix/>
          </a:blip>
          <a:srcRect b="0" l="0" r="0" t="0"/>
          <a:stretch/>
        </p:blipFill>
        <p:spPr>
          <a:xfrm>
            <a:off x="1099350" y="1322500"/>
            <a:ext cx="6945312" cy="328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6"/>
                                        </p:tgtEl>
                                        <p:attrNameLst>
                                          <p:attrName>style.visibility</p:attrName>
                                        </p:attrNameLst>
                                      </p:cBhvr>
                                      <p:to>
                                        <p:strVal val="visible"/>
                                      </p:to>
                                    </p:set>
                                    <p:anim calcmode="lin" valueType="num">
                                      <p:cBhvr additive="base">
                                        <p:cTn dur="1000"/>
                                        <p:tgtEl>
                                          <p:spTgt spid="4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0" name="Shape 420"/>
        <p:cNvGrpSpPr/>
        <p:nvPr/>
      </p:nvGrpSpPr>
      <p:grpSpPr>
        <a:xfrm>
          <a:off x="0" y="0"/>
          <a:ext cx="0" cy="0"/>
          <a:chOff x="0" y="0"/>
          <a:chExt cx="0" cy="0"/>
        </a:xfrm>
      </p:grpSpPr>
      <p:sp>
        <p:nvSpPr>
          <p:cNvPr id="421" name="Google Shape;421;g31b9c7de5da_0_7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pic>
        <p:nvPicPr>
          <p:cNvPr id="422" name="Google Shape;422;g31b9c7de5da_0_70"/>
          <p:cNvPicPr preferRelativeResize="0"/>
          <p:nvPr/>
        </p:nvPicPr>
        <p:blipFill rotWithShape="1">
          <a:blip r:embed="rId3">
            <a:alphaModFix/>
          </a:blip>
          <a:srcRect b="0" l="0" r="0" t="0"/>
          <a:stretch/>
        </p:blipFill>
        <p:spPr>
          <a:xfrm>
            <a:off x="720725" y="1170000"/>
            <a:ext cx="6870700" cy="320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2"/>
                                        </p:tgtEl>
                                        <p:attrNameLst>
                                          <p:attrName>style.visibility</p:attrName>
                                        </p:attrNameLst>
                                      </p:cBhvr>
                                      <p:to>
                                        <p:strVal val="visible"/>
                                      </p:to>
                                    </p:set>
                                    <p:anim calcmode="lin" valueType="num">
                                      <p:cBhvr additive="base">
                                        <p:cTn dur="1000"/>
                                        <p:tgtEl>
                                          <p:spTgt spid="4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428" name="Google Shape;428;p4"/>
          <p:cNvPicPr preferRelativeResize="0"/>
          <p:nvPr/>
        </p:nvPicPr>
        <p:blipFill rotWithShape="1">
          <a:blip r:embed="rId3">
            <a:alphaModFix/>
          </a:blip>
          <a:srcRect b="0" l="0" r="0" t="0"/>
          <a:stretch/>
        </p:blipFill>
        <p:spPr>
          <a:xfrm>
            <a:off x="2715237" y="1026341"/>
            <a:ext cx="2855119" cy="2888456"/>
          </a:xfrm>
          <a:prstGeom prst="rect">
            <a:avLst/>
          </a:prstGeom>
          <a:noFill/>
          <a:ln>
            <a:noFill/>
          </a:ln>
        </p:spPr>
      </p:pic>
      <p:sp>
        <p:nvSpPr>
          <p:cNvPr id="429" name="Google Shape;429;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animEffect filter="fade" transition="in">
                                      <p:cBhvr>
                                        <p:cTn dur="1000"/>
                                        <p:tgtEl>
                                          <p:spTgt spid="4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animEffect filter="fade" transition="in">
                                      <p:cBhvr>
                                        <p:cTn dur="1000"/>
                                        <p:tgtEl>
                                          <p:spTgt spid="42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435" name="Google Shape;435;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436" name="Google Shape;436;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37" name="Google Shape;437;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38" name="Google Shape;438;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39" name="Google Shape;439;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40" name="Google Shape;440;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41" name="Google Shape;441;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42" name="Google Shape;442;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43" name="Google Shape;443;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44" name="Google Shape;444;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45" name="Google Shape;445;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