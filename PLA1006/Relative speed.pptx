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5143500" cx="9144000"/>
  <p:notesSz cx="6858000" cy="9144000"/>
  <p:embeddedFontLst>
    <p:embeddedFont>
      <p:font typeface="Roboto"/>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753">
          <p15:clr>
            <a:srgbClr val="FF0000"/>
          </p15:clr>
        </p15:guide>
        <p15:guide id="2" pos="455">
          <p15:clr>
            <a:srgbClr val="FF00FF"/>
          </p15:clr>
        </p15:guide>
        <p15:guide id="3" pos="5270">
          <p15:clr>
            <a:srgbClr val="FF00FF"/>
          </p15:clr>
        </p15:guide>
        <p15:guide id="4" orient="horz" pos="904">
          <p15:clr>
            <a:srgbClr val="FF0000"/>
          </p15:clr>
        </p15:guide>
        <p15:guide id="5" orient="horz" pos="737">
          <p15:clr>
            <a:srgbClr val="00FF00"/>
          </p15:clr>
        </p15:guide>
        <p15:guide id="6" orient="horz" pos="397">
          <p15:clr>
            <a:srgbClr val="00FF00"/>
          </p15:clr>
        </p15:guide>
      </p15:sldGuideLst>
    </p:ext>
    <p:ext uri="GoogleSlidesCustomDataVersion2">
      <go:slidesCustomData xmlns:go="http://customooxmlschemas.google.com/" r:id="rId48" roundtripDataSignature="AMtx7mjTIpwI11LbRgCXrZLJqW716Tlbt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753" orient="horz"/>
        <p:guide pos="455"/>
        <p:guide pos="5270"/>
        <p:guide pos="904" orient="horz"/>
        <p:guide pos="737" orient="horz"/>
        <p:guide pos="397"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font" Target="fonts/Roboto-regular.fntdata"/><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46" Type="http://schemas.openxmlformats.org/officeDocument/2006/relationships/font" Target="fonts/Roboto-italic.fntdata"/><Relationship Id="rId23" Type="http://schemas.openxmlformats.org/officeDocument/2006/relationships/slide" Target="slides/slide18.xml"/><Relationship Id="rId45" Type="http://schemas.openxmlformats.org/officeDocument/2006/relationships/font" Target="fonts/Robo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48" Type="http://customschemas.google.com/relationships/presentationmetadata" Target="metadata"/><Relationship Id="rId25" Type="http://schemas.openxmlformats.org/officeDocument/2006/relationships/slide" Target="slides/slide20.xml"/><Relationship Id="rId47" Type="http://schemas.openxmlformats.org/officeDocument/2006/relationships/font" Target="fonts/Roboto-boldItalic.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 name="Google Shape;5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f44673b604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
        <p:nvSpPr>
          <p:cNvPr id="60" name="Google Shape;60;g2f44673b604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200">
                <a:solidFill>
                  <a:srgbClr val="212529"/>
                </a:solidFill>
                <a:highlight>
                  <a:srgbClr val="FFFFFF"/>
                </a:highlight>
                <a:latin typeface="Roboto"/>
                <a:ea typeface="Roboto"/>
                <a:cs typeface="Roboto"/>
                <a:sym typeface="Roboto"/>
              </a:rPr>
              <a:t>A geometric progression (GP) is a progression the ratio of any term and its previous term is equal to a fixed constant. It is a special type of progression. In order to get the next term in the geometric progression, we have to multiply the current term with a fixed number known as the common ratio, every time, and if we want to find the preceding term in the progression, we just have to divide the term with the same common ratio. Example: 2, 4, 8, 16, 32, ... is a GP having a common ratio of 2.</a:t>
            </a:r>
            <a:endParaRPr>
              <a:latin typeface="Roboto"/>
              <a:ea typeface="Roboto"/>
              <a:cs typeface="Roboto"/>
              <a:sym typeface="Roboto"/>
            </a:endParaRPr>
          </a:p>
        </p:txBody>
      </p:sp>
      <p:sp>
        <p:nvSpPr>
          <p:cNvPr id="76" name="Google Shape;76;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1e3f3f4df86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200">
                <a:solidFill>
                  <a:srgbClr val="212529"/>
                </a:solidFill>
                <a:highlight>
                  <a:srgbClr val="FFFFFF"/>
                </a:highlight>
                <a:latin typeface="Roboto"/>
                <a:ea typeface="Roboto"/>
                <a:cs typeface="Roboto"/>
                <a:sym typeface="Roboto"/>
              </a:rPr>
              <a:t>A geometric progression (GP) is a progression the ratio of any term and its previous term is equal to a fixed constant. It is a special type of progression. In order to get the next term in the geometric progression, we have to multiply the current term with a fixed number known as the common ratio, every time, and if we want to find the preceding term in the progression, we just have to divide the term with the same common ratio. Example: 2, 4, 8, 16, 32, ... is a GP having a common ratio of 2.</a:t>
            </a:r>
            <a:endParaRPr>
              <a:latin typeface="Roboto"/>
              <a:ea typeface="Roboto"/>
              <a:cs typeface="Roboto"/>
              <a:sym typeface="Roboto"/>
            </a:endParaRPr>
          </a:p>
        </p:txBody>
      </p:sp>
      <p:sp>
        <p:nvSpPr>
          <p:cNvPr id="82" name="Google Shape;82;g1e3f3f4df86_0_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1e3f3f4df86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200">
                <a:solidFill>
                  <a:srgbClr val="212529"/>
                </a:solidFill>
                <a:highlight>
                  <a:srgbClr val="FFFFFF"/>
                </a:highlight>
                <a:latin typeface="Roboto"/>
                <a:ea typeface="Roboto"/>
                <a:cs typeface="Roboto"/>
                <a:sym typeface="Roboto"/>
              </a:rPr>
              <a:t>A geometric progression (GP) is a progression the ratio of any term and its previous term is equal to a fixed constant. It is a special type of progression. In order to get the next term in the geometric progression, we have to multiply the current term with a fixed number known as the common ratio, every time, and if we want to find the preceding term in the progression, we just have to divide the term with the same common ratio. Example: 2, 4, 8, 16, 32, ... is a GP having a common ratio of 2.</a:t>
            </a:r>
            <a:endParaRPr>
              <a:latin typeface="Roboto"/>
              <a:ea typeface="Roboto"/>
              <a:cs typeface="Roboto"/>
              <a:sym typeface="Roboto"/>
            </a:endParaRPr>
          </a:p>
        </p:txBody>
      </p:sp>
      <p:sp>
        <p:nvSpPr>
          <p:cNvPr id="87" name="Google Shape;87;g1e3f3f4df86_0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 name="Google Shape;9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b="1" lang="en" sz="1200">
                <a:solidFill>
                  <a:srgbClr val="333333"/>
                </a:solidFill>
                <a:highlight>
                  <a:srgbClr val="FFFFFF"/>
                </a:highlight>
                <a:latin typeface="Roboto"/>
                <a:ea typeface="Roboto"/>
                <a:cs typeface="Roboto"/>
                <a:sym typeface="Roboto"/>
              </a:rPr>
              <a:t>A</a:t>
            </a:r>
            <a:endParaRPr>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latin typeface="Roboto"/>
                <a:ea typeface="Roboto"/>
                <a:cs typeface="Roboto"/>
                <a:sym typeface="Roboto"/>
              </a:rPr>
              <a:t>B</a:t>
            </a:r>
            <a:endParaRPr>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e9dd8e0edc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g1e9dd8e0ed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50">
                <a:solidFill>
                  <a:srgbClr val="333333"/>
                </a:solidFill>
                <a:highlight>
                  <a:srgbClr val="FFFFFF"/>
                </a:highlight>
                <a:latin typeface="Roboto"/>
                <a:ea typeface="Roboto"/>
                <a:cs typeface="Roboto"/>
                <a:sym typeface="Roboto"/>
              </a:rPr>
              <a:t>10, 30, 90, 270 and 810</a:t>
            </a:r>
            <a:endParaRPr sz="1050">
              <a:solidFill>
                <a:srgbClr val="333333"/>
              </a:solidFill>
              <a:highlight>
                <a:srgbClr val="FFFFFF"/>
              </a:highlight>
              <a:latin typeface="Roboto"/>
              <a:ea typeface="Roboto"/>
              <a:cs typeface="Roboto"/>
              <a:sym typeface="Roboto"/>
            </a:endParaRPr>
          </a:p>
          <a:p>
            <a:pPr indent="0" lvl="0" marL="158750" rtl="0" algn="l">
              <a:lnSpc>
                <a:spcPct val="100000"/>
              </a:lnSpc>
              <a:spcBef>
                <a:spcPts val="80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1e9dd8e0edc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g1e9dd8e0edc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50">
                <a:solidFill>
                  <a:srgbClr val="333333"/>
                </a:solidFill>
                <a:highlight>
                  <a:srgbClr val="FFFFFF"/>
                </a:highlight>
                <a:latin typeface="Roboto"/>
                <a:ea typeface="Roboto"/>
                <a:cs typeface="Roboto"/>
                <a:sym typeface="Roboto"/>
              </a:rPr>
              <a:t>10, 30, 90, 270 and 810</a:t>
            </a:r>
            <a:endParaRPr sz="1050">
              <a:solidFill>
                <a:srgbClr val="333333"/>
              </a:solidFill>
              <a:highlight>
                <a:srgbClr val="FFFFFF"/>
              </a:highlight>
              <a:latin typeface="Roboto"/>
              <a:ea typeface="Roboto"/>
              <a:cs typeface="Roboto"/>
              <a:sym typeface="Roboto"/>
            </a:endParaRPr>
          </a:p>
          <a:p>
            <a:pPr indent="0" lvl="0" marL="158750" rtl="0" algn="l">
              <a:lnSpc>
                <a:spcPct val="100000"/>
              </a:lnSpc>
              <a:spcBef>
                <a:spcPts val="80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latin typeface="Roboto"/>
                <a:ea typeface="Roboto"/>
                <a:cs typeface="Roboto"/>
                <a:sym typeface="Roboto"/>
              </a:rPr>
              <a:t>D</a:t>
            </a:r>
            <a:endParaRPr>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latin typeface="Roboto"/>
                <a:ea typeface="Roboto"/>
                <a:cs typeface="Roboto"/>
                <a:sym typeface="Roboto"/>
              </a:rPr>
              <a:t>C</a:t>
            </a:r>
            <a:endParaRPr>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50">
                <a:solidFill>
                  <a:srgbClr val="333333"/>
                </a:solidFill>
                <a:highlight>
                  <a:srgbClr val="FFFFFF"/>
                </a:highlight>
                <a:latin typeface="Roboto"/>
                <a:ea typeface="Roboto"/>
                <a:cs typeface="Roboto"/>
                <a:sym typeface="Roboto"/>
              </a:rPr>
              <a:t>Solution: The nth term of GP is given by:</a:t>
            </a:r>
            <a:endParaRPr sz="1050">
              <a:solidFill>
                <a:srgbClr val="333333"/>
              </a:solidFill>
              <a:highlight>
                <a:srgbClr val="FFFFFF"/>
              </a:highlight>
              <a:latin typeface="Roboto"/>
              <a:ea typeface="Roboto"/>
              <a:cs typeface="Roboto"/>
              <a:sym typeface="Roboto"/>
            </a:endParaRPr>
          </a:p>
          <a:p>
            <a:pPr indent="0" lvl="0" marL="0" rtl="0" algn="l">
              <a:lnSpc>
                <a:spcPct val="115000"/>
              </a:lnSpc>
              <a:spcBef>
                <a:spcPts val="800"/>
              </a:spcBef>
              <a:spcAft>
                <a:spcPts val="0"/>
              </a:spcAft>
              <a:buClr>
                <a:schemeClr val="dk1"/>
              </a:buClr>
              <a:buSzPts val="1100"/>
              <a:buFont typeface="Arial"/>
              <a:buNone/>
            </a:pPr>
            <a:r>
              <a:rPr lang="en" sz="1050">
                <a:solidFill>
                  <a:srgbClr val="333333"/>
                </a:solidFill>
                <a:highlight>
                  <a:srgbClr val="FFFFFF"/>
                </a:highlight>
                <a:latin typeface="Roboto"/>
                <a:ea typeface="Roboto"/>
                <a:cs typeface="Roboto"/>
                <a:sym typeface="Roboto"/>
              </a:rPr>
              <a:t>2, 4, 8,….</a:t>
            </a:r>
            <a:endParaRPr sz="1050">
              <a:solidFill>
                <a:srgbClr val="333333"/>
              </a:solidFill>
              <a:highlight>
                <a:srgbClr val="FFFFFF"/>
              </a:highlight>
              <a:latin typeface="Roboto"/>
              <a:ea typeface="Roboto"/>
              <a:cs typeface="Roboto"/>
              <a:sym typeface="Roboto"/>
            </a:endParaRPr>
          </a:p>
          <a:p>
            <a:pPr indent="0" lvl="0" marL="0" rtl="0" algn="l">
              <a:lnSpc>
                <a:spcPct val="115000"/>
              </a:lnSpc>
              <a:spcBef>
                <a:spcPts val="800"/>
              </a:spcBef>
              <a:spcAft>
                <a:spcPts val="0"/>
              </a:spcAft>
              <a:buClr>
                <a:schemeClr val="dk1"/>
              </a:buClr>
              <a:buSzPts val="1100"/>
              <a:buFont typeface="Arial"/>
              <a:buNone/>
            </a:pPr>
            <a:r>
              <a:rPr lang="en" sz="1050">
                <a:solidFill>
                  <a:srgbClr val="333333"/>
                </a:solidFill>
                <a:highlight>
                  <a:srgbClr val="FFFFFF"/>
                </a:highlight>
                <a:latin typeface="Roboto"/>
                <a:ea typeface="Roboto"/>
                <a:cs typeface="Roboto"/>
                <a:sym typeface="Roboto"/>
              </a:rPr>
              <a:t>Here, a = 2 and r = 4/2 = 2</a:t>
            </a:r>
            <a:endParaRPr sz="1050">
              <a:solidFill>
                <a:srgbClr val="333333"/>
              </a:solidFill>
              <a:highlight>
                <a:srgbClr val="FFFFFF"/>
              </a:highlight>
              <a:latin typeface="Roboto"/>
              <a:ea typeface="Roboto"/>
              <a:cs typeface="Roboto"/>
              <a:sym typeface="Roboto"/>
            </a:endParaRPr>
          </a:p>
          <a:p>
            <a:pPr indent="0" lvl="0" marL="0" rtl="0" algn="l">
              <a:lnSpc>
                <a:spcPct val="115000"/>
              </a:lnSpc>
              <a:spcBef>
                <a:spcPts val="800"/>
              </a:spcBef>
              <a:spcAft>
                <a:spcPts val="0"/>
              </a:spcAft>
              <a:buClr>
                <a:schemeClr val="dk1"/>
              </a:buClr>
              <a:buSzPts val="1100"/>
              <a:buFont typeface="Arial"/>
              <a:buNone/>
            </a:pPr>
            <a:r>
              <a:rPr lang="en" sz="1050">
                <a:solidFill>
                  <a:srgbClr val="333333"/>
                </a:solidFill>
                <a:highlight>
                  <a:srgbClr val="FFFFFF"/>
                </a:highlight>
                <a:latin typeface="Roboto"/>
                <a:ea typeface="Roboto"/>
                <a:cs typeface="Roboto"/>
                <a:sym typeface="Roboto"/>
              </a:rPr>
              <a:t>a</a:t>
            </a:r>
            <a:r>
              <a:rPr lang="en" sz="800">
                <a:solidFill>
                  <a:srgbClr val="333333"/>
                </a:solidFill>
                <a:highlight>
                  <a:srgbClr val="FFFFFF"/>
                </a:highlight>
                <a:latin typeface="Roboto"/>
                <a:ea typeface="Roboto"/>
                <a:cs typeface="Roboto"/>
                <a:sym typeface="Roboto"/>
              </a:rPr>
              <a:t>n</a:t>
            </a:r>
            <a:r>
              <a:rPr lang="en" sz="1050">
                <a:solidFill>
                  <a:srgbClr val="333333"/>
                </a:solidFill>
                <a:highlight>
                  <a:srgbClr val="FFFFFF"/>
                </a:highlight>
                <a:latin typeface="Roboto"/>
                <a:ea typeface="Roboto"/>
                <a:cs typeface="Roboto"/>
                <a:sym typeface="Roboto"/>
              </a:rPr>
              <a:t> = ar</a:t>
            </a:r>
            <a:r>
              <a:rPr lang="en" sz="800">
                <a:solidFill>
                  <a:srgbClr val="333333"/>
                </a:solidFill>
                <a:highlight>
                  <a:srgbClr val="FFFFFF"/>
                </a:highlight>
                <a:latin typeface="Roboto"/>
                <a:ea typeface="Roboto"/>
                <a:cs typeface="Roboto"/>
                <a:sym typeface="Roboto"/>
              </a:rPr>
              <a:t>n-1</a:t>
            </a:r>
            <a:endParaRPr sz="800">
              <a:solidFill>
                <a:srgbClr val="333333"/>
              </a:solidFill>
              <a:highlight>
                <a:srgbClr val="FFFFFF"/>
              </a:highlight>
              <a:latin typeface="Roboto"/>
              <a:ea typeface="Roboto"/>
              <a:cs typeface="Roboto"/>
              <a:sym typeface="Roboto"/>
            </a:endParaRPr>
          </a:p>
          <a:p>
            <a:pPr indent="0" lvl="0" marL="0" rtl="0" algn="l">
              <a:lnSpc>
                <a:spcPct val="115000"/>
              </a:lnSpc>
              <a:spcBef>
                <a:spcPts val="800"/>
              </a:spcBef>
              <a:spcAft>
                <a:spcPts val="0"/>
              </a:spcAft>
              <a:buClr>
                <a:schemeClr val="dk1"/>
              </a:buClr>
              <a:buSzPts val="1100"/>
              <a:buFont typeface="Arial"/>
              <a:buNone/>
            </a:pPr>
            <a:r>
              <a:rPr lang="en" sz="1050">
                <a:solidFill>
                  <a:srgbClr val="333333"/>
                </a:solidFill>
                <a:highlight>
                  <a:srgbClr val="FFFFFF"/>
                </a:highlight>
                <a:latin typeface="Roboto"/>
                <a:ea typeface="Roboto"/>
                <a:cs typeface="Roboto"/>
                <a:sym typeface="Roboto"/>
              </a:rPr>
              <a:t>Therefore,</a:t>
            </a:r>
            <a:endParaRPr sz="1050">
              <a:solidFill>
                <a:srgbClr val="333333"/>
              </a:solidFill>
              <a:highlight>
                <a:srgbClr val="FFFFFF"/>
              </a:highlight>
              <a:latin typeface="Roboto"/>
              <a:ea typeface="Roboto"/>
              <a:cs typeface="Roboto"/>
              <a:sym typeface="Roboto"/>
            </a:endParaRPr>
          </a:p>
          <a:p>
            <a:pPr indent="0" lvl="0" marL="0" rtl="0" algn="l">
              <a:lnSpc>
                <a:spcPct val="115000"/>
              </a:lnSpc>
              <a:spcBef>
                <a:spcPts val="800"/>
              </a:spcBef>
              <a:spcAft>
                <a:spcPts val="0"/>
              </a:spcAft>
              <a:buClr>
                <a:schemeClr val="dk1"/>
              </a:buClr>
              <a:buSzPts val="1100"/>
              <a:buFont typeface="Arial"/>
              <a:buNone/>
            </a:pPr>
            <a:r>
              <a:rPr lang="en" sz="1050">
                <a:solidFill>
                  <a:srgbClr val="333333"/>
                </a:solidFill>
                <a:highlight>
                  <a:srgbClr val="FFFFFF"/>
                </a:highlight>
                <a:latin typeface="Roboto"/>
                <a:ea typeface="Roboto"/>
                <a:cs typeface="Roboto"/>
                <a:sym typeface="Roboto"/>
              </a:rPr>
              <a:t>a</a:t>
            </a:r>
            <a:r>
              <a:rPr lang="en" sz="800">
                <a:solidFill>
                  <a:srgbClr val="333333"/>
                </a:solidFill>
                <a:highlight>
                  <a:srgbClr val="FFFFFF"/>
                </a:highlight>
                <a:latin typeface="Roboto"/>
                <a:ea typeface="Roboto"/>
                <a:cs typeface="Roboto"/>
                <a:sym typeface="Roboto"/>
              </a:rPr>
              <a:t>10</a:t>
            </a:r>
            <a:r>
              <a:rPr lang="en" sz="1050">
                <a:solidFill>
                  <a:srgbClr val="333333"/>
                </a:solidFill>
                <a:highlight>
                  <a:srgbClr val="FFFFFF"/>
                </a:highlight>
                <a:latin typeface="Roboto"/>
                <a:ea typeface="Roboto"/>
                <a:cs typeface="Roboto"/>
                <a:sym typeface="Roboto"/>
              </a:rPr>
              <a:t> = 2 x 2</a:t>
            </a:r>
            <a:r>
              <a:rPr lang="en" sz="800">
                <a:solidFill>
                  <a:srgbClr val="333333"/>
                </a:solidFill>
                <a:highlight>
                  <a:srgbClr val="FFFFFF"/>
                </a:highlight>
                <a:latin typeface="Roboto"/>
                <a:ea typeface="Roboto"/>
                <a:cs typeface="Roboto"/>
                <a:sym typeface="Roboto"/>
              </a:rPr>
              <a:t>10 – 1</a:t>
            </a:r>
            <a:endParaRPr sz="800">
              <a:solidFill>
                <a:srgbClr val="333333"/>
              </a:solidFill>
              <a:highlight>
                <a:srgbClr val="FFFFFF"/>
              </a:highlight>
              <a:latin typeface="Roboto"/>
              <a:ea typeface="Roboto"/>
              <a:cs typeface="Roboto"/>
              <a:sym typeface="Roboto"/>
            </a:endParaRPr>
          </a:p>
          <a:p>
            <a:pPr indent="0" lvl="0" marL="0" rtl="0" algn="l">
              <a:lnSpc>
                <a:spcPct val="115000"/>
              </a:lnSpc>
              <a:spcBef>
                <a:spcPts val="800"/>
              </a:spcBef>
              <a:spcAft>
                <a:spcPts val="0"/>
              </a:spcAft>
              <a:buClr>
                <a:schemeClr val="dk1"/>
              </a:buClr>
              <a:buSzPts val="1100"/>
              <a:buFont typeface="Arial"/>
              <a:buNone/>
            </a:pPr>
            <a:r>
              <a:rPr lang="en" sz="1050">
                <a:solidFill>
                  <a:srgbClr val="333333"/>
                </a:solidFill>
                <a:highlight>
                  <a:srgbClr val="FFFFFF"/>
                </a:highlight>
                <a:latin typeface="Roboto"/>
                <a:ea typeface="Roboto"/>
                <a:cs typeface="Roboto"/>
                <a:sym typeface="Roboto"/>
              </a:rPr>
              <a:t>= 2 × 2</a:t>
            </a:r>
            <a:r>
              <a:rPr lang="en" sz="800">
                <a:solidFill>
                  <a:srgbClr val="333333"/>
                </a:solidFill>
                <a:highlight>
                  <a:srgbClr val="FFFFFF"/>
                </a:highlight>
                <a:latin typeface="Roboto"/>
                <a:ea typeface="Roboto"/>
                <a:cs typeface="Roboto"/>
                <a:sym typeface="Roboto"/>
              </a:rPr>
              <a:t>9</a:t>
            </a:r>
            <a:endParaRPr sz="800">
              <a:solidFill>
                <a:srgbClr val="333333"/>
              </a:solidFill>
              <a:highlight>
                <a:srgbClr val="FFFFFF"/>
              </a:highlight>
              <a:latin typeface="Roboto"/>
              <a:ea typeface="Roboto"/>
              <a:cs typeface="Roboto"/>
              <a:sym typeface="Roboto"/>
            </a:endParaRPr>
          </a:p>
          <a:p>
            <a:pPr indent="0" lvl="0" marL="0" rtl="0" algn="l">
              <a:lnSpc>
                <a:spcPct val="115000"/>
              </a:lnSpc>
              <a:spcBef>
                <a:spcPts val="800"/>
              </a:spcBef>
              <a:spcAft>
                <a:spcPts val="0"/>
              </a:spcAft>
              <a:buClr>
                <a:schemeClr val="dk1"/>
              </a:buClr>
              <a:buSzPts val="1100"/>
              <a:buFont typeface="Arial"/>
              <a:buNone/>
            </a:pPr>
            <a:r>
              <a:rPr lang="en" sz="1050">
                <a:solidFill>
                  <a:srgbClr val="333333"/>
                </a:solidFill>
                <a:highlight>
                  <a:srgbClr val="FFFFFF"/>
                </a:highlight>
                <a:latin typeface="Roboto"/>
                <a:ea typeface="Roboto"/>
                <a:cs typeface="Roboto"/>
                <a:sym typeface="Roboto"/>
              </a:rPr>
              <a:t>= 1024</a:t>
            </a:r>
            <a:endParaRPr sz="1050">
              <a:solidFill>
                <a:srgbClr val="333333"/>
              </a:solidFill>
              <a:highlight>
                <a:srgbClr val="FFFFFF"/>
              </a:highlight>
              <a:latin typeface="Roboto"/>
              <a:ea typeface="Roboto"/>
              <a:cs typeface="Roboto"/>
              <a:sym typeface="Roboto"/>
            </a:endParaRPr>
          </a:p>
          <a:p>
            <a:pPr indent="0" lvl="0" marL="158750" rtl="0" algn="l">
              <a:lnSpc>
                <a:spcPct val="100000"/>
              </a:lnSpc>
              <a:spcBef>
                <a:spcPts val="80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latin typeface="Roboto"/>
                <a:ea typeface="Roboto"/>
                <a:cs typeface="Roboto"/>
                <a:sym typeface="Roboto"/>
              </a:rPr>
              <a:t>A</a:t>
            </a:r>
            <a:endParaRPr>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latin typeface="Roboto"/>
                <a:ea typeface="Roboto"/>
                <a:cs typeface="Roboto"/>
                <a:sym typeface="Roboto"/>
              </a:rPr>
              <a:t>C</a:t>
            </a:r>
            <a:endParaRPr>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0" name="Google Shape;190;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latin typeface="Roboto"/>
                <a:ea typeface="Roboto"/>
                <a:cs typeface="Roboto"/>
                <a:sym typeface="Roboto"/>
              </a:rPr>
              <a:t>B</a:t>
            </a:r>
            <a:endParaRPr>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3" name="Google Shape;203;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9" name="Google Shape;209;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latin typeface="Roboto"/>
                <a:ea typeface="Roboto"/>
                <a:cs typeface="Roboto"/>
                <a:sym typeface="Roboto"/>
              </a:rPr>
              <a:t>C</a:t>
            </a:r>
            <a:endParaRPr>
              <a:latin typeface="Roboto"/>
              <a:ea typeface="Roboto"/>
              <a:cs typeface="Roboto"/>
              <a:sym typeface="Robo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2" name="Google Shape;222;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latin typeface="Roboto"/>
                <a:ea typeface="Roboto"/>
                <a:cs typeface="Roboto"/>
                <a:sym typeface="Roboto"/>
              </a:rPr>
              <a:t>A</a:t>
            </a:r>
            <a:endParaRPr>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latin typeface="Roboto"/>
                <a:ea typeface="Roboto"/>
                <a:cs typeface="Roboto"/>
                <a:sym typeface="Roboto"/>
              </a:rPr>
              <a:t>B</a:t>
            </a:r>
            <a:endParaRPr>
              <a:latin typeface="Roboto"/>
              <a:ea typeface="Roboto"/>
              <a:cs typeface="Roboto"/>
              <a:sym typeface="Roboto"/>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2" name="Google Shape;242;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latin typeface="Roboto"/>
                <a:ea typeface="Roboto"/>
                <a:cs typeface="Roboto"/>
                <a:sym typeface="Roboto"/>
              </a:rPr>
              <a:t>B</a:t>
            </a:r>
            <a:endParaRPr>
              <a:latin typeface="Roboto"/>
              <a:ea typeface="Roboto"/>
              <a:cs typeface="Roboto"/>
              <a:sym typeface="Roboto"/>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6" name="Google Shape;256;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rPr lang="en">
                <a:latin typeface="Roboto"/>
                <a:ea typeface="Roboto"/>
                <a:cs typeface="Roboto"/>
                <a:sym typeface="Roboto"/>
              </a:rPr>
              <a:t>A</a:t>
            </a:r>
            <a:endParaRPr>
              <a:latin typeface="Roboto"/>
              <a:ea typeface="Roboto"/>
              <a:cs typeface="Roboto"/>
              <a:sym typeface="Roboto"/>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1e9dd8e0edc_0_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7" name="Google Shape;277;g1e9dd8e0edc_0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50">
                <a:solidFill>
                  <a:srgbClr val="333333"/>
                </a:solidFill>
                <a:highlight>
                  <a:srgbClr val="FFFFFF"/>
                </a:highlight>
                <a:latin typeface="Roboto"/>
                <a:ea typeface="Roboto"/>
                <a:cs typeface="Roboto"/>
                <a:sym typeface="Roboto"/>
              </a:rPr>
              <a:t>10, 30, 90, 270 and 810</a:t>
            </a:r>
            <a:endParaRPr sz="1050">
              <a:solidFill>
                <a:srgbClr val="333333"/>
              </a:solidFill>
              <a:highlight>
                <a:srgbClr val="FFFFFF"/>
              </a:highlight>
              <a:latin typeface="Roboto"/>
              <a:ea typeface="Roboto"/>
              <a:cs typeface="Roboto"/>
              <a:sym typeface="Roboto"/>
            </a:endParaRPr>
          </a:p>
          <a:p>
            <a:pPr indent="0" lvl="0" marL="158750" rtl="0" algn="l">
              <a:lnSpc>
                <a:spcPct val="100000"/>
              </a:lnSpc>
              <a:spcBef>
                <a:spcPts val="80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e9dd8e0edc_0_6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g1e9dd8e0edc_0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0: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1" name="Google Shape;291;p20: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 name="Google Shape;298;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9.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4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4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3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7" name="Google Shape;17;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8" name="Shape 18"/>
        <p:cNvGrpSpPr/>
        <p:nvPr/>
      </p:nvGrpSpPr>
      <p:grpSpPr>
        <a:xfrm>
          <a:off x="0" y="0"/>
          <a:ext cx="0" cy="0"/>
          <a:chOff x="0" y="0"/>
          <a:chExt cx="0" cy="0"/>
        </a:xfrm>
      </p:grpSpPr>
      <p:sp>
        <p:nvSpPr>
          <p:cNvPr id="19" name="Google Shape;19;p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3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1" name="Google Shape;21;p3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2" name="Google Shape;22;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 name="Google Shape;25;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6" name="Shape 26"/>
        <p:cNvGrpSpPr/>
        <p:nvPr/>
      </p:nvGrpSpPr>
      <p:grpSpPr>
        <a:xfrm>
          <a:off x="0" y="0"/>
          <a:ext cx="0" cy="0"/>
          <a:chOff x="0" y="0"/>
          <a:chExt cx="0" cy="0"/>
        </a:xfrm>
      </p:grpSpPr>
      <p:sp>
        <p:nvSpPr>
          <p:cNvPr id="27" name="Google Shape;27;p4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8" name="Google Shape;28;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9" name="Shape 29"/>
        <p:cNvGrpSpPr/>
        <p:nvPr/>
      </p:nvGrpSpPr>
      <p:grpSpPr>
        <a:xfrm>
          <a:off x="0" y="0"/>
          <a:ext cx="0" cy="0"/>
          <a:chOff x="0" y="0"/>
          <a:chExt cx="0" cy="0"/>
        </a:xfrm>
      </p:grpSpPr>
      <p:sp>
        <p:nvSpPr>
          <p:cNvPr id="30" name="Google Shape;30;p4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31" name="Google Shape;31;p4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2" name="Google Shape;32;p4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3" name="Google Shape;33;p4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4" name="Google Shape;34;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5" name="Shape 35"/>
        <p:cNvGrpSpPr/>
        <p:nvPr/>
      </p:nvGrpSpPr>
      <p:grpSpPr>
        <a:xfrm>
          <a:off x="0" y="0"/>
          <a:ext cx="0" cy="0"/>
          <a:chOff x="0" y="0"/>
          <a:chExt cx="0" cy="0"/>
        </a:xfrm>
      </p:grpSpPr>
      <p:sp>
        <p:nvSpPr>
          <p:cNvPr id="36" name="Google Shape;36;p4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37" name="Google Shape;37;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8" name="Shape 38"/>
        <p:cNvGrpSpPr/>
        <p:nvPr/>
      </p:nvGrpSpPr>
      <p:grpSpPr>
        <a:xfrm>
          <a:off x="0" y="0"/>
          <a:ext cx="0" cy="0"/>
          <a:chOff x="0" y="0"/>
          <a:chExt cx="0" cy="0"/>
        </a:xfrm>
      </p:grpSpPr>
      <p:sp>
        <p:nvSpPr>
          <p:cNvPr id="39" name="Google Shape;39;p4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0" name="Google Shape;40;p4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1" name="Google Shape;41;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42" name="Shape 42"/>
        <p:cNvGrpSpPr/>
        <p:nvPr/>
      </p:nvGrpSpPr>
      <p:grpSpPr>
        <a:xfrm>
          <a:off x="0" y="0"/>
          <a:ext cx="0" cy="0"/>
          <a:chOff x="0" y="0"/>
          <a:chExt cx="0" cy="0"/>
        </a:xfrm>
      </p:grpSpPr>
      <p:pic>
        <p:nvPicPr>
          <p:cNvPr descr="A close up of a logo&#10;&#10;Description generated with high confidence" id="43" name="Google Shape;43;p47"/>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pic>
        <p:nvPicPr>
          <p:cNvPr descr="A picture containing colorful, colored&#10;&#10;Description generated with very high confidence" id="44" name="Google Shape;44;p47"/>
          <p:cNvPicPr preferRelativeResize="0"/>
          <p:nvPr/>
        </p:nvPicPr>
        <p:blipFill rotWithShape="1">
          <a:blip r:embed="rId3">
            <a:alphaModFix/>
          </a:blip>
          <a:srcRect b="37530" l="0" r="0" t="55602"/>
          <a:stretch/>
        </p:blipFill>
        <p:spPr>
          <a:xfrm>
            <a:off x="0" y="4849200"/>
            <a:ext cx="9144000" cy="294300"/>
          </a:xfrm>
          <a:prstGeom prst="rect">
            <a:avLst/>
          </a:prstGeom>
          <a:noFill/>
          <a:ln>
            <a:noFill/>
          </a:ln>
        </p:spPr>
      </p:pic>
      <p:sp>
        <p:nvSpPr>
          <p:cNvPr id="45" name="Google Shape;45;p47"/>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6" name="Google Shape;46;p47"/>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7" name="Google Shape;47;p47"/>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8" name="Google Shape;48;p47"/>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7.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1.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37"/>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jpg"/><Relationship Id="rId4" Type="http://schemas.openxmlformats.org/officeDocument/2006/relationships/image" Target="../media/image2.png"/><Relationship Id="rId5"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forms.gle/eohbjZ7mGpEAJBK86" TargetMode="Externa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3.png"/><Relationship Id="rId4" Type="http://schemas.openxmlformats.org/officeDocument/2006/relationships/hyperlink" Target="https://learn.codemithra.com/"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4.jpg"/><Relationship Id="rId4" Type="http://schemas.openxmlformats.org/officeDocument/2006/relationships/image" Target="../media/image12.png"/><Relationship Id="rId5" Type="http://schemas.openxmlformats.org/officeDocument/2006/relationships/image" Target="../media/image8.png"/><Relationship Id="rId6"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54" name="Google Shape;54;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55" name="Google Shape;55;p4"/>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56" name="Google Shape;56;p4"/>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57" name="Google Shape;57;p4"/>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g2f44673b604_1_0"/>
          <p:cNvSpPr txBox="1"/>
          <p:nvPr>
            <p:ph idx="1" type="body"/>
          </p:nvPr>
        </p:nvSpPr>
        <p:spPr>
          <a:xfrm>
            <a:off x="729200" y="1384300"/>
            <a:ext cx="80862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 sz="1600">
                <a:solidFill>
                  <a:schemeClr val="dk1"/>
                </a:solidFill>
                <a:highlight>
                  <a:srgbClr val="FFFFFF"/>
                </a:highlight>
                <a:latin typeface="Roboto"/>
                <a:ea typeface="Roboto"/>
                <a:cs typeface="Roboto"/>
                <a:sym typeface="Roboto"/>
              </a:rPr>
              <a:t>URL</a:t>
            </a:r>
            <a:r>
              <a:rPr b="1" lang="en" sz="1600">
                <a:solidFill>
                  <a:srgbClr val="373737"/>
                </a:solidFill>
                <a:highlight>
                  <a:srgbClr val="FFFFFF"/>
                </a:highlight>
                <a:latin typeface="Roboto"/>
                <a:ea typeface="Roboto"/>
                <a:cs typeface="Roboto"/>
                <a:sym typeface="Roboto"/>
              </a:rPr>
              <a:t>: </a:t>
            </a:r>
            <a:r>
              <a:rPr b="1" lang="en" sz="1600" u="sng">
                <a:solidFill>
                  <a:schemeClr val="hlink"/>
                </a:solidFill>
                <a:highlight>
                  <a:schemeClr val="lt1"/>
                </a:highlight>
                <a:latin typeface="Roboto"/>
                <a:ea typeface="Roboto"/>
                <a:cs typeface="Roboto"/>
                <a:sym typeface="Roboto"/>
                <a:hlinkClick r:id="rId3"/>
              </a:rPr>
              <a:t>https://forms.gle/eohbjZ7mGpEAJBK86</a:t>
            </a:r>
            <a:endParaRPr b="1" sz="1600">
              <a:solidFill>
                <a:srgbClr val="373737"/>
              </a:solidFill>
              <a:highlight>
                <a:schemeClr val="lt1"/>
              </a:highlight>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rgbClr val="373737"/>
              </a:solidFill>
              <a:highlight>
                <a:schemeClr val="lt1"/>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 sz="1600">
                <a:solidFill>
                  <a:schemeClr val="dk1"/>
                </a:solidFill>
                <a:highlight>
                  <a:srgbClr val="FFFFFF"/>
                </a:highlight>
                <a:latin typeface="Roboto"/>
                <a:ea typeface="Roboto"/>
                <a:cs typeface="Roboto"/>
                <a:sym typeface="Roboto"/>
              </a:rPr>
              <a:t>QR CODE</a:t>
            </a:r>
            <a:r>
              <a:rPr b="1" lang="en" sz="1600">
                <a:solidFill>
                  <a:srgbClr val="373737"/>
                </a:solidFill>
                <a:highlight>
                  <a:srgbClr val="FFFFFF"/>
                </a:highlight>
                <a:latin typeface="Roboto"/>
                <a:ea typeface="Roboto"/>
                <a:cs typeface="Roboto"/>
                <a:sym typeface="Roboto"/>
              </a:rPr>
              <a:t>:</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 sz="1600">
                <a:solidFill>
                  <a:srgbClr val="373737"/>
                </a:solidFill>
                <a:highlight>
                  <a:srgbClr val="FFFFFF"/>
                </a:highlight>
                <a:latin typeface="Roboto"/>
                <a:ea typeface="Roboto"/>
                <a:cs typeface="Roboto"/>
                <a:sym typeface="Roboto"/>
              </a:rPr>
              <a:t>				</a:t>
            </a:r>
            <a:endParaRPr b="1" sz="1600">
              <a:solidFill>
                <a:srgbClr val="373737"/>
              </a:solidFill>
              <a:highlight>
                <a:srgbClr val="FFFFFF"/>
              </a:highlight>
              <a:latin typeface="Roboto"/>
              <a:ea typeface="Roboto"/>
              <a:cs typeface="Roboto"/>
              <a:sym typeface="Roboto"/>
            </a:endParaRPr>
          </a:p>
        </p:txBody>
      </p:sp>
      <p:sp>
        <p:nvSpPr>
          <p:cNvPr id="63" name="Google Shape;63;g2f44673b604_1_0"/>
          <p:cNvSpPr txBox="1"/>
          <p:nvPr/>
        </p:nvSpPr>
        <p:spPr>
          <a:xfrm>
            <a:off x="729200" y="622125"/>
            <a:ext cx="76344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000000"/>
                </a:solidFill>
                <a:latin typeface="Roboto"/>
                <a:ea typeface="Roboto"/>
                <a:cs typeface="Roboto"/>
                <a:sym typeface="Roboto"/>
              </a:rPr>
              <a:t>                    TEST TIME ON WORK TIME, SPEED AND DISTANCE</a:t>
            </a:r>
            <a:endParaRPr b="1" i="0" sz="1600" u="none" cap="none" strike="noStrike">
              <a:solidFill>
                <a:srgbClr val="000000"/>
              </a:solidFill>
              <a:latin typeface="Roboto"/>
              <a:ea typeface="Roboto"/>
              <a:cs typeface="Roboto"/>
              <a:sym typeface="Roboto"/>
            </a:endParaRPr>
          </a:p>
        </p:txBody>
      </p:sp>
      <p:sp>
        <p:nvSpPr>
          <p:cNvPr id="64" name="Google Shape;64;g2f44673b604_1_0"/>
          <p:cNvSpPr txBox="1"/>
          <p:nvPr/>
        </p:nvSpPr>
        <p:spPr>
          <a:xfrm>
            <a:off x="5143500" y="944725"/>
            <a:ext cx="4028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Roboto"/>
              <a:ea typeface="Roboto"/>
              <a:cs typeface="Roboto"/>
              <a:sym typeface="Roboto"/>
            </a:endParaRPr>
          </a:p>
        </p:txBody>
      </p:sp>
      <p:pic>
        <p:nvPicPr>
          <p:cNvPr id="65" name="Google Shape;65;g2f44673b604_1_0"/>
          <p:cNvPicPr preferRelativeResize="0"/>
          <p:nvPr/>
        </p:nvPicPr>
        <p:blipFill rotWithShape="1">
          <a:blip r:embed="rId4">
            <a:alphaModFix/>
          </a:blip>
          <a:srcRect b="0" l="0" r="0" t="0"/>
          <a:stretch/>
        </p:blipFill>
        <p:spPr>
          <a:xfrm>
            <a:off x="3296150" y="2182050"/>
            <a:ext cx="2975774" cy="239562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71" name="Google Shape;71;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72" name="Google Shape;72;p5"/>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73" name="Google Shape;73;p5"/>
          <p:cNvSpPr txBox="1"/>
          <p:nvPr/>
        </p:nvSpPr>
        <p:spPr>
          <a:xfrm>
            <a:off x="425839" y="2296985"/>
            <a:ext cx="4690800" cy="892522"/>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4000"/>
              <a:buFont typeface="Arial"/>
              <a:buNone/>
            </a:pPr>
            <a:r>
              <a:rPr b="1" i="0" lang="en" sz="4000" u="none" cap="none" strike="noStrike">
                <a:solidFill>
                  <a:schemeClr val="lt1"/>
                </a:solidFill>
                <a:latin typeface="Roboto"/>
                <a:ea typeface="Roboto"/>
                <a:cs typeface="Roboto"/>
                <a:sym typeface="Roboto"/>
              </a:rPr>
              <a:t>RELATIVE SPEED</a:t>
            </a:r>
            <a:endParaRPr b="1" i="0" sz="4000" u="none" cap="none" strike="noStrike">
              <a:solidFill>
                <a:schemeClr val="lt1"/>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3"/>
          <p:cNvSpPr txBox="1"/>
          <p:nvPr>
            <p:ph idx="1" type="body"/>
          </p:nvPr>
        </p:nvSpPr>
        <p:spPr>
          <a:xfrm>
            <a:off x="722375" y="1435600"/>
            <a:ext cx="7644300" cy="2846400"/>
          </a:xfrm>
          <a:prstGeom prst="rect">
            <a:avLst/>
          </a:prstGeom>
          <a:noFill/>
          <a:ln>
            <a:noFill/>
          </a:ln>
        </p:spPr>
        <p:txBody>
          <a:bodyPr anchorCtr="0" anchor="t" bIns="91425" lIns="91425" spcFirstLastPara="1" rIns="91425" wrap="square" tIns="91425">
            <a:noAutofit/>
          </a:bodyPr>
          <a:lstStyle/>
          <a:p>
            <a:pPr indent="0" lvl="0" marL="0" rtl="0" algn="l">
              <a:lnSpc>
                <a:spcPct val="168750"/>
              </a:lnSpc>
              <a:spcBef>
                <a:spcPts val="800"/>
              </a:spcBef>
              <a:spcAft>
                <a:spcPts val="0"/>
              </a:spcAft>
              <a:buSzPts val="1800"/>
              <a:buNone/>
            </a:pPr>
            <a:r>
              <a:rPr lang="en" sz="1400">
                <a:solidFill>
                  <a:srgbClr val="333333"/>
                </a:solidFill>
                <a:highlight>
                  <a:srgbClr val="FFFFFF"/>
                </a:highlight>
              </a:rPr>
              <a:t>“Relative” means </a:t>
            </a:r>
            <a:r>
              <a:rPr b="1" lang="en" sz="1400">
                <a:solidFill>
                  <a:srgbClr val="333333"/>
                </a:solidFill>
                <a:highlight>
                  <a:srgbClr val="FFFFFF"/>
                </a:highlight>
              </a:rPr>
              <a:t>“in comparison to”</a:t>
            </a:r>
            <a:r>
              <a:rPr lang="en" sz="1400">
                <a:solidFill>
                  <a:srgbClr val="333333"/>
                </a:solidFill>
                <a:highlight>
                  <a:srgbClr val="FFFFFF"/>
                </a:highlight>
              </a:rPr>
              <a:t>. Thus, the conceptualization of relative speed is used when two or more bodies in motion with some pace (speed) are contemplated. To make things easier, one body are often made stationary (i.e. Speed = 0) and take the pace of the other body with respect to the stationary body, which is the sum of the speeds if the bodies are moving in the converse i.e., opposite direction and the distinction if relative speed moving in the same direction. This speed of the moving body with reference to the stationary body is known as the relative Speed.</a:t>
            </a:r>
            <a:endParaRPr sz="1400">
              <a:solidFill>
                <a:schemeClr val="dk1"/>
              </a:solidFill>
            </a:endParaRPr>
          </a:p>
          <a:p>
            <a:pPr indent="0" lvl="0" marL="0" rtl="0" algn="just">
              <a:lnSpc>
                <a:spcPct val="115000"/>
              </a:lnSpc>
              <a:spcBef>
                <a:spcPts val="800"/>
              </a:spcBef>
              <a:spcAft>
                <a:spcPts val="0"/>
              </a:spcAft>
              <a:buSzPts val="1800"/>
              <a:buNone/>
            </a:pPr>
            <a:r>
              <a:t/>
            </a:r>
            <a:endParaRPr sz="1400">
              <a:solidFill>
                <a:schemeClr val="dk1"/>
              </a:solidFill>
            </a:endParaRPr>
          </a:p>
        </p:txBody>
      </p:sp>
      <p:sp>
        <p:nvSpPr>
          <p:cNvPr id="79" name="Google Shape;79;p3"/>
          <p:cNvSpPr txBox="1"/>
          <p:nvPr/>
        </p:nvSpPr>
        <p:spPr>
          <a:xfrm>
            <a:off x="720000" y="579950"/>
            <a:ext cx="5220300" cy="711693"/>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 sz="3500" u="none" cap="none" strike="noStrike">
                <a:solidFill>
                  <a:srgbClr val="8182EF"/>
                </a:solidFill>
                <a:latin typeface="Roboto"/>
                <a:ea typeface="Roboto"/>
                <a:cs typeface="Roboto"/>
                <a:sym typeface="Roboto"/>
              </a:rPr>
              <a:t>RELATIVE SPEED</a:t>
            </a:r>
            <a:endParaRPr b="0" i="0" sz="2100" u="none" cap="none" strike="noStrike">
              <a:solidFill>
                <a:srgbClr val="6D9EEB"/>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
                                            <p:txEl>
                                              <p:pRg end="0" st="0"/>
                                            </p:txEl>
                                          </p:spTgt>
                                        </p:tgtEl>
                                        <p:attrNameLst>
                                          <p:attrName>style.visibility</p:attrName>
                                        </p:attrNameLst>
                                      </p:cBhvr>
                                      <p:to>
                                        <p:strVal val="visible"/>
                                      </p:to>
                                    </p:set>
                                    <p:animEffect filter="fade" transition="in">
                                      <p:cBhvr>
                                        <p:cTn dur="1000"/>
                                        <p:tgtEl>
                                          <p:spTgt spid="7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
                                            <p:txEl>
                                              <p:pRg end="1" st="1"/>
                                            </p:txEl>
                                          </p:spTgt>
                                        </p:tgtEl>
                                        <p:attrNameLst>
                                          <p:attrName>style.visibility</p:attrName>
                                        </p:attrNameLst>
                                      </p:cBhvr>
                                      <p:to>
                                        <p:strVal val="visible"/>
                                      </p:to>
                                    </p:set>
                                    <p:animEffect filter="fade" transition="in">
                                      <p:cBhvr>
                                        <p:cTn dur="1000"/>
                                        <p:tgtEl>
                                          <p:spTgt spid="78">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1e3f3f4df86_0_2"/>
          <p:cNvSpPr txBox="1"/>
          <p:nvPr>
            <p:ph idx="1" type="body"/>
          </p:nvPr>
        </p:nvSpPr>
        <p:spPr>
          <a:xfrm>
            <a:off x="722375" y="1435600"/>
            <a:ext cx="7446000" cy="2638200"/>
          </a:xfrm>
          <a:prstGeom prst="rect">
            <a:avLst/>
          </a:prstGeom>
          <a:noFill/>
          <a:ln>
            <a:noFill/>
          </a:ln>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Clr>
                <a:schemeClr val="dk1"/>
              </a:buClr>
              <a:buSzPts val="1400"/>
              <a:buChar char="●"/>
            </a:pPr>
            <a:r>
              <a:rPr lang="en" sz="1400">
                <a:solidFill>
                  <a:schemeClr val="dk1"/>
                </a:solidFill>
                <a:highlight>
                  <a:schemeClr val="lt1"/>
                </a:highlight>
              </a:rPr>
              <a:t>If two people / objects are moving in same direction with speeds x km / h and y km / h (x &gt; y), then their relative speed would be </a:t>
            </a:r>
            <a:endParaRPr sz="1400">
              <a:solidFill>
                <a:schemeClr val="dk1"/>
              </a:solidFill>
              <a:highlight>
                <a:schemeClr val="lt1"/>
              </a:highlight>
            </a:endParaRPr>
          </a:p>
          <a:p>
            <a:pPr indent="0" lvl="0" marL="457200" rtl="0" algn="l">
              <a:lnSpc>
                <a:spcPct val="100000"/>
              </a:lnSpc>
              <a:spcBef>
                <a:spcPts val="0"/>
              </a:spcBef>
              <a:spcAft>
                <a:spcPts val="0"/>
              </a:spcAft>
              <a:buClr>
                <a:schemeClr val="dk1"/>
              </a:buClr>
              <a:buSzPts val="1400"/>
              <a:buFont typeface="Arial"/>
              <a:buNone/>
            </a:pPr>
            <a:r>
              <a:rPr lang="en" sz="1400">
                <a:solidFill>
                  <a:schemeClr val="dk1"/>
                </a:solidFill>
                <a:highlight>
                  <a:schemeClr val="lt1"/>
                </a:highlight>
              </a:rPr>
              <a:t>                                     </a:t>
            </a:r>
            <a:r>
              <a:rPr b="1" lang="en" sz="1400">
                <a:solidFill>
                  <a:schemeClr val="dk1"/>
                </a:solidFill>
                <a:highlight>
                  <a:schemeClr val="lt1"/>
                </a:highlight>
              </a:rPr>
              <a:t> (x – y) km / h</a:t>
            </a:r>
            <a:endParaRPr b="1" sz="1400">
              <a:solidFill>
                <a:schemeClr val="dk1"/>
              </a:solidFill>
              <a:highlight>
                <a:schemeClr val="lt1"/>
              </a:highlight>
            </a:endParaRPr>
          </a:p>
          <a:p>
            <a:pPr indent="0" lvl="0" marL="457200" rtl="0" algn="l">
              <a:lnSpc>
                <a:spcPct val="100000"/>
              </a:lnSpc>
              <a:spcBef>
                <a:spcPts val="0"/>
              </a:spcBef>
              <a:spcAft>
                <a:spcPts val="0"/>
              </a:spcAft>
              <a:buClr>
                <a:schemeClr val="dk1"/>
              </a:buClr>
              <a:buSzPts val="1400"/>
              <a:buFont typeface="Arial"/>
              <a:buNone/>
            </a:pPr>
            <a:r>
              <a:t/>
            </a:r>
            <a:endParaRPr b="1" sz="1400">
              <a:solidFill>
                <a:schemeClr val="dk1"/>
              </a:solidFill>
              <a:highlight>
                <a:schemeClr val="lt1"/>
              </a:highlight>
            </a:endParaRPr>
          </a:p>
          <a:p>
            <a:pPr indent="-317500" lvl="0" marL="457200" rtl="0" algn="l">
              <a:lnSpc>
                <a:spcPct val="100000"/>
              </a:lnSpc>
              <a:spcBef>
                <a:spcPts val="0"/>
              </a:spcBef>
              <a:spcAft>
                <a:spcPts val="0"/>
              </a:spcAft>
              <a:buClr>
                <a:schemeClr val="dk1"/>
              </a:buClr>
              <a:buSzPts val="1400"/>
              <a:buChar char="●"/>
            </a:pPr>
            <a:r>
              <a:rPr lang="en" sz="1400">
                <a:solidFill>
                  <a:schemeClr val="dk1"/>
                </a:solidFill>
                <a:highlight>
                  <a:schemeClr val="lt1"/>
                </a:highlight>
              </a:rPr>
              <a:t>If two people / objects are moving in opposite direction with speeds x km / h and y km / h, then their relative speed would be </a:t>
            </a:r>
            <a:endParaRPr sz="1400">
              <a:solidFill>
                <a:schemeClr val="dk1"/>
              </a:solidFill>
              <a:highlight>
                <a:schemeClr val="lt1"/>
              </a:highlight>
            </a:endParaRPr>
          </a:p>
          <a:p>
            <a:pPr indent="0" lvl="0" marL="457200" rtl="0" algn="l">
              <a:lnSpc>
                <a:spcPct val="100000"/>
              </a:lnSpc>
              <a:spcBef>
                <a:spcPts val="0"/>
              </a:spcBef>
              <a:spcAft>
                <a:spcPts val="0"/>
              </a:spcAft>
              <a:buClr>
                <a:schemeClr val="dk1"/>
              </a:buClr>
              <a:buSzPts val="1400"/>
              <a:buFont typeface="Arial"/>
              <a:buNone/>
            </a:pPr>
            <a:r>
              <a:rPr lang="en" sz="1400">
                <a:solidFill>
                  <a:schemeClr val="dk1"/>
                </a:solidFill>
                <a:highlight>
                  <a:schemeClr val="lt1"/>
                </a:highlight>
              </a:rPr>
              <a:t>                                      </a:t>
            </a:r>
            <a:r>
              <a:rPr b="1" lang="en" sz="1400">
                <a:solidFill>
                  <a:schemeClr val="dk1"/>
                </a:solidFill>
                <a:highlight>
                  <a:schemeClr val="lt1"/>
                </a:highlight>
              </a:rPr>
              <a:t>(x + y) km / h</a:t>
            </a:r>
            <a:endParaRPr b="1" sz="1400">
              <a:solidFill>
                <a:schemeClr val="dk1"/>
              </a:solidFill>
              <a:highlight>
                <a:schemeClr val="lt1"/>
              </a:highlight>
            </a:endParaRPr>
          </a:p>
          <a:p>
            <a:pPr indent="0" lvl="0" marL="457200" rtl="0" algn="l">
              <a:lnSpc>
                <a:spcPct val="100000"/>
              </a:lnSpc>
              <a:spcBef>
                <a:spcPts val="0"/>
              </a:spcBef>
              <a:spcAft>
                <a:spcPts val="0"/>
              </a:spcAft>
              <a:buClr>
                <a:schemeClr val="dk1"/>
              </a:buClr>
              <a:buSzPts val="1400"/>
              <a:buFont typeface="Arial"/>
              <a:buNone/>
            </a:pPr>
            <a:r>
              <a:t/>
            </a:r>
            <a:endParaRPr sz="1400">
              <a:solidFill>
                <a:schemeClr val="dk1"/>
              </a:solidFill>
              <a:highlight>
                <a:schemeClr val="lt1"/>
              </a:highlight>
            </a:endParaRPr>
          </a:p>
          <a:p>
            <a:pPr indent="-317500" lvl="0" marL="457200" rtl="0" algn="l">
              <a:lnSpc>
                <a:spcPct val="100000"/>
              </a:lnSpc>
              <a:spcBef>
                <a:spcPts val="0"/>
              </a:spcBef>
              <a:spcAft>
                <a:spcPts val="0"/>
              </a:spcAft>
              <a:buClr>
                <a:schemeClr val="dk1"/>
              </a:buClr>
              <a:buSzPts val="1400"/>
              <a:buChar char="●"/>
            </a:pPr>
            <a:r>
              <a:rPr lang="en" sz="1400">
                <a:solidFill>
                  <a:schemeClr val="dk1"/>
                </a:solidFill>
                <a:highlight>
                  <a:schemeClr val="lt1"/>
                </a:highlight>
              </a:rPr>
              <a:t>Relative speed is the rate at which two moving bodies are separating from / coming closer to each other</a:t>
            </a:r>
            <a:endParaRPr sz="1400">
              <a:solidFill>
                <a:schemeClr val="dk1"/>
              </a:solidFill>
              <a:highlight>
                <a:schemeClr val="lt1"/>
              </a:highlight>
            </a:endParaRPr>
          </a:p>
          <a:p>
            <a:pPr indent="0" lvl="0" marL="0" rtl="0" algn="l">
              <a:lnSpc>
                <a:spcPct val="100000"/>
              </a:lnSpc>
              <a:spcBef>
                <a:spcPts val="0"/>
              </a:spcBef>
              <a:spcAft>
                <a:spcPts val="0"/>
              </a:spcAft>
              <a:buClr>
                <a:schemeClr val="dk1"/>
              </a:buClr>
              <a:buSzPts val="1200"/>
              <a:buFont typeface="Arial"/>
              <a:buNone/>
            </a:pPr>
            <a:r>
              <a:t/>
            </a:r>
            <a:endParaRPr sz="1200">
              <a:solidFill>
                <a:schemeClr val="dk1"/>
              </a:solidFill>
              <a:highlight>
                <a:schemeClr val="lt1"/>
              </a:highlight>
              <a:latin typeface="Roboto"/>
              <a:ea typeface="Roboto"/>
              <a:cs typeface="Roboto"/>
              <a:sym typeface="Roboto"/>
            </a:endParaRPr>
          </a:p>
          <a:p>
            <a:pPr indent="0" lvl="0" marL="0" rtl="0" algn="l">
              <a:lnSpc>
                <a:spcPct val="100000"/>
              </a:lnSpc>
              <a:spcBef>
                <a:spcPts val="0"/>
              </a:spcBef>
              <a:spcAft>
                <a:spcPts val="0"/>
              </a:spcAft>
              <a:buClr>
                <a:schemeClr val="dk1"/>
              </a:buClr>
              <a:buSzPts val="1200"/>
              <a:buFont typeface="Arial"/>
              <a:buNone/>
            </a:pPr>
            <a:r>
              <a:t/>
            </a:r>
            <a:endParaRPr sz="1200">
              <a:solidFill>
                <a:schemeClr val="dk1"/>
              </a:solidFill>
              <a:highlight>
                <a:schemeClr val="lt1"/>
              </a:highlight>
              <a:latin typeface="Roboto"/>
              <a:ea typeface="Roboto"/>
              <a:cs typeface="Roboto"/>
              <a:sym typeface="Roboto"/>
            </a:endParaRPr>
          </a:p>
          <a:p>
            <a:pPr indent="0" lvl="0" marL="0" rtl="0" algn="just">
              <a:lnSpc>
                <a:spcPct val="115000"/>
              </a:lnSpc>
              <a:spcBef>
                <a:spcPts val="800"/>
              </a:spcBef>
              <a:spcAft>
                <a:spcPts val="0"/>
              </a:spcAft>
              <a:buSzPts val="1800"/>
              <a:buNone/>
            </a:pPr>
            <a:r>
              <a:t/>
            </a:r>
            <a:endParaRPr sz="15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xEl>
                                              <p:pRg end="0" st="0"/>
                                            </p:txEl>
                                          </p:spTgt>
                                        </p:tgtEl>
                                        <p:attrNameLst>
                                          <p:attrName>style.visibility</p:attrName>
                                        </p:attrNameLst>
                                      </p:cBhvr>
                                      <p:to>
                                        <p:strVal val="visible"/>
                                      </p:to>
                                    </p:set>
                                    <p:animEffect filter="fade" transition="in">
                                      <p:cBhvr>
                                        <p:cTn dur="1000"/>
                                        <p:tgtEl>
                                          <p:spTgt spid="8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xEl>
                                              <p:pRg end="1" st="1"/>
                                            </p:txEl>
                                          </p:spTgt>
                                        </p:tgtEl>
                                        <p:attrNameLst>
                                          <p:attrName>style.visibility</p:attrName>
                                        </p:attrNameLst>
                                      </p:cBhvr>
                                      <p:to>
                                        <p:strVal val="visible"/>
                                      </p:to>
                                    </p:set>
                                    <p:animEffect filter="fade" transition="in">
                                      <p:cBhvr>
                                        <p:cTn dur="1000"/>
                                        <p:tgtEl>
                                          <p:spTgt spid="8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xEl>
                                              <p:pRg end="2" st="2"/>
                                            </p:txEl>
                                          </p:spTgt>
                                        </p:tgtEl>
                                        <p:attrNameLst>
                                          <p:attrName>style.visibility</p:attrName>
                                        </p:attrNameLst>
                                      </p:cBhvr>
                                      <p:to>
                                        <p:strVal val="visible"/>
                                      </p:to>
                                    </p:set>
                                    <p:animEffect filter="fade" transition="in">
                                      <p:cBhvr>
                                        <p:cTn dur="1000"/>
                                        <p:tgtEl>
                                          <p:spTgt spid="8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xEl>
                                              <p:pRg end="3" st="3"/>
                                            </p:txEl>
                                          </p:spTgt>
                                        </p:tgtEl>
                                        <p:attrNameLst>
                                          <p:attrName>style.visibility</p:attrName>
                                        </p:attrNameLst>
                                      </p:cBhvr>
                                      <p:to>
                                        <p:strVal val="visible"/>
                                      </p:to>
                                    </p:set>
                                    <p:animEffect filter="fade" transition="in">
                                      <p:cBhvr>
                                        <p:cTn dur="1000"/>
                                        <p:tgtEl>
                                          <p:spTgt spid="8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xEl>
                                              <p:pRg end="4" st="4"/>
                                            </p:txEl>
                                          </p:spTgt>
                                        </p:tgtEl>
                                        <p:attrNameLst>
                                          <p:attrName>style.visibility</p:attrName>
                                        </p:attrNameLst>
                                      </p:cBhvr>
                                      <p:to>
                                        <p:strVal val="visible"/>
                                      </p:to>
                                    </p:set>
                                    <p:animEffect filter="fade" transition="in">
                                      <p:cBhvr>
                                        <p:cTn dur="1000"/>
                                        <p:tgtEl>
                                          <p:spTgt spid="8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xEl>
                                              <p:pRg end="5" st="5"/>
                                            </p:txEl>
                                          </p:spTgt>
                                        </p:tgtEl>
                                        <p:attrNameLst>
                                          <p:attrName>style.visibility</p:attrName>
                                        </p:attrNameLst>
                                      </p:cBhvr>
                                      <p:to>
                                        <p:strVal val="visible"/>
                                      </p:to>
                                    </p:set>
                                    <p:animEffect filter="fade" transition="in">
                                      <p:cBhvr>
                                        <p:cTn dur="1000"/>
                                        <p:tgtEl>
                                          <p:spTgt spid="8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xEl>
                                              <p:pRg end="6" st="6"/>
                                            </p:txEl>
                                          </p:spTgt>
                                        </p:tgtEl>
                                        <p:attrNameLst>
                                          <p:attrName>style.visibility</p:attrName>
                                        </p:attrNameLst>
                                      </p:cBhvr>
                                      <p:to>
                                        <p:strVal val="visible"/>
                                      </p:to>
                                    </p:set>
                                    <p:animEffect filter="fade" transition="in">
                                      <p:cBhvr>
                                        <p:cTn dur="1000"/>
                                        <p:tgtEl>
                                          <p:spTgt spid="8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xEl>
                                              <p:pRg end="7" st="7"/>
                                            </p:txEl>
                                          </p:spTgt>
                                        </p:tgtEl>
                                        <p:attrNameLst>
                                          <p:attrName>style.visibility</p:attrName>
                                        </p:attrNameLst>
                                      </p:cBhvr>
                                      <p:to>
                                        <p:strVal val="visible"/>
                                      </p:to>
                                    </p:set>
                                    <p:animEffect filter="fade" transition="in">
                                      <p:cBhvr>
                                        <p:cTn dur="1000"/>
                                        <p:tgtEl>
                                          <p:spTgt spid="8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xEl>
                                              <p:pRg end="8" st="8"/>
                                            </p:txEl>
                                          </p:spTgt>
                                        </p:tgtEl>
                                        <p:attrNameLst>
                                          <p:attrName>style.visibility</p:attrName>
                                        </p:attrNameLst>
                                      </p:cBhvr>
                                      <p:to>
                                        <p:strVal val="visible"/>
                                      </p:to>
                                    </p:set>
                                    <p:animEffect filter="fade" transition="in">
                                      <p:cBhvr>
                                        <p:cTn dur="1000"/>
                                        <p:tgtEl>
                                          <p:spTgt spid="8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xEl>
                                              <p:pRg end="9" st="9"/>
                                            </p:txEl>
                                          </p:spTgt>
                                        </p:tgtEl>
                                        <p:attrNameLst>
                                          <p:attrName>style.visibility</p:attrName>
                                        </p:attrNameLst>
                                      </p:cBhvr>
                                      <p:to>
                                        <p:strVal val="visible"/>
                                      </p:to>
                                    </p:set>
                                    <p:animEffect filter="fade" transition="in">
                                      <p:cBhvr>
                                        <p:cTn dur="1000"/>
                                        <p:tgtEl>
                                          <p:spTgt spid="84">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g1e3f3f4df86_0_10"/>
          <p:cNvSpPr txBox="1"/>
          <p:nvPr>
            <p:ph idx="1" type="body"/>
          </p:nvPr>
        </p:nvSpPr>
        <p:spPr>
          <a:xfrm>
            <a:off x="722375" y="1435600"/>
            <a:ext cx="7446000" cy="2638200"/>
          </a:xfrm>
          <a:prstGeom prst="rect">
            <a:avLst/>
          </a:prstGeom>
          <a:noFill/>
          <a:ln>
            <a:noFill/>
          </a:ln>
        </p:spPr>
        <p:txBody>
          <a:bodyPr anchorCtr="0" anchor="t" bIns="91425" lIns="91425" spcFirstLastPara="1" rIns="91425" wrap="square" tIns="91425">
            <a:noAutofit/>
          </a:bodyPr>
          <a:lstStyle/>
          <a:p>
            <a:pPr indent="-317500" lvl="0" marL="457200" rtl="0" algn="l">
              <a:lnSpc>
                <a:spcPct val="100000"/>
              </a:lnSpc>
              <a:spcBef>
                <a:spcPts val="0"/>
              </a:spcBef>
              <a:spcAft>
                <a:spcPts val="0"/>
              </a:spcAft>
              <a:buClr>
                <a:schemeClr val="dk1"/>
              </a:buClr>
              <a:buSzPts val="1400"/>
              <a:buChar char="●"/>
            </a:pPr>
            <a:r>
              <a:rPr lang="en" sz="1400">
                <a:solidFill>
                  <a:schemeClr val="dk1"/>
                </a:solidFill>
                <a:highlight>
                  <a:schemeClr val="lt1"/>
                </a:highlight>
              </a:rPr>
              <a:t>If two persons are moving at 10 km/h and 20 km/h in opposite directions</a:t>
            </a:r>
            <a:endParaRPr sz="1400">
              <a:solidFill>
                <a:schemeClr val="dk1"/>
              </a:solidFill>
              <a:highlight>
                <a:schemeClr val="lt1"/>
              </a:highlight>
            </a:endParaRPr>
          </a:p>
          <a:p>
            <a:pPr indent="0" lvl="0" marL="0" rtl="0" algn="l">
              <a:lnSpc>
                <a:spcPct val="100000"/>
              </a:lnSpc>
              <a:spcBef>
                <a:spcPts val="0"/>
              </a:spcBef>
              <a:spcAft>
                <a:spcPts val="0"/>
              </a:spcAft>
              <a:buClr>
                <a:schemeClr val="dk1"/>
              </a:buClr>
              <a:buSzPts val="1400"/>
              <a:buFont typeface="Arial"/>
              <a:buNone/>
            </a:pPr>
            <a:r>
              <a:rPr lang="en" sz="1400">
                <a:solidFill>
                  <a:schemeClr val="dk1"/>
                </a:solidFill>
                <a:highlight>
                  <a:schemeClr val="lt1"/>
                </a:highlight>
              </a:rPr>
              <a:t>            Relative speed = 10 + 20 </a:t>
            </a:r>
            <a:endParaRPr sz="1400">
              <a:solidFill>
                <a:schemeClr val="dk1"/>
              </a:solidFill>
              <a:highlight>
                <a:schemeClr val="lt1"/>
              </a:highlight>
            </a:endParaRPr>
          </a:p>
          <a:p>
            <a:pPr indent="0" lvl="0" marL="0" rtl="0" algn="l">
              <a:lnSpc>
                <a:spcPct val="100000"/>
              </a:lnSpc>
              <a:spcBef>
                <a:spcPts val="0"/>
              </a:spcBef>
              <a:spcAft>
                <a:spcPts val="0"/>
              </a:spcAft>
              <a:buClr>
                <a:schemeClr val="dk1"/>
              </a:buClr>
              <a:buSzPts val="1400"/>
              <a:buFont typeface="Arial"/>
              <a:buNone/>
            </a:pPr>
            <a:r>
              <a:rPr lang="en" sz="1400">
                <a:solidFill>
                  <a:schemeClr val="dk1"/>
                </a:solidFill>
                <a:highlight>
                  <a:schemeClr val="lt1"/>
                </a:highlight>
              </a:rPr>
              <a:t>             Relative speed= 30 km / h</a:t>
            </a:r>
            <a:endParaRPr sz="1400">
              <a:solidFill>
                <a:schemeClr val="dk1"/>
              </a:solidFill>
              <a:highlight>
                <a:schemeClr val="lt1"/>
              </a:highlight>
            </a:endParaRPr>
          </a:p>
          <a:p>
            <a:pPr indent="0" lvl="0" marL="0" rtl="0" algn="l">
              <a:lnSpc>
                <a:spcPct val="100000"/>
              </a:lnSpc>
              <a:spcBef>
                <a:spcPts val="0"/>
              </a:spcBef>
              <a:spcAft>
                <a:spcPts val="0"/>
              </a:spcAft>
              <a:buClr>
                <a:schemeClr val="dk1"/>
              </a:buClr>
              <a:buSzPts val="1400"/>
              <a:buFont typeface="Arial"/>
              <a:buNone/>
            </a:pPr>
            <a:r>
              <a:rPr lang="en" sz="1400">
                <a:solidFill>
                  <a:schemeClr val="dk1"/>
                </a:solidFill>
                <a:highlight>
                  <a:schemeClr val="lt1"/>
                </a:highlight>
              </a:rPr>
              <a:t>             i.e., the distance between them after one hour would be 30 km. </a:t>
            </a:r>
            <a:endParaRPr sz="1400">
              <a:solidFill>
                <a:schemeClr val="dk1"/>
              </a:solidFill>
              <a:highlight>
                <a:schemeClr val="lt1"/>
              </a:highlight>
            </a:endParaRPr>
          </a:p>
          <a:p>
            <a:pPr indent="0" lvl="0" marL="0" rtl="0" algn="l">
              <a:lnSpc>
                <a:spcPct val="100000"/>
              </a:lnSpc>
              <a:spcBef>
                <a:spcPts val="0"/>
              </a:spcBef>
              <a:spcAft>
                <a:spcPts val="0"/>
              </a:spcAft>
              <a:buClr>
                <a:schemeClr val="dk1"/>
              </a:buClr>
              <a:buSzPts val="1400"/>
              <a:buFont typeface="Arial"/>
              <a:buNone/>
            </a:pPr>
            <a:r>
              <a:t/>
            </a:r>
            <a:endParaRPr sz="1400">
              <a:solidFill>
                <a:schemeClr val="dk1"/>
              </a:solidFill>
              <a:highlight>
                <a:schemeClr val="lt1"/>
              </a:highlight>
            </a:endParaRPr>
          </a:p>
          <a:p>
            <a:pPr indent="-317500" lvl="0" marL="457200" rtl="0" algn="l">
              <a:lnSpc>
                <a:spcPct val="100000"/>
              </a:lnSpc>
              <a:spcBef>
                <a:spcPts val="0"/>
              </a:spcBef>
              <a:spcAft>
                <a:spcPts val="0"/>
              </a:spcAft>
              <a:buClr>
                <a:schemeClr val="dk1"/>
              </a:buClr>
              <a:buSzPts val="1400"/>
              <a:buChar char="●"/>
            </a:pPr>
            <a:r>
              <a:rPr lang="en" sz="1400">
                <a:solidFill>
                  <a:schemeClr val="dk1"/>
                </a:solidFill>
                <a:highlight>
                  <a:schemeClr val="lt1"/>
                </a:highlight>
              </a:rPr>
              <a:t>Similarly, if they were moving in the same direction</a:t>
            </a:r>
            <a:br>
              <a:rPr lang="en" sz="1400">
                <a:solidFill>
                  <a:schemeClr val="dk1"/>
                </a:solidFill>
                <a:highlight>
                  <a:schemeClr val="lt1"/>
                </a:highlight>
              </a:rPr>
            </a:br>
            <a:r>
              <a:rPr lang="en" sz="1400">
                <a:solidFill>
                  <a:schemeClr val="dk1"/>
                </a:solidFill>
                <a:highlight>
                  <a:schemeClr val="lt1"/>
                </a:highlight>
              </a:rPr>
              <a:t>Relative speed = 20 – 10 </a:t>
            </a:r>
            <a:endParaRPr sz="1400">
              <a:solidFill>
                <a:schemeClr val="dk1"/>
              </a:solidFill>
              <a:highlight>
                <a:schemeClr val="lt1"/>
              </a:highlight>
            </a:endParaRPr>
          </a:p>
          <a:p>
            <a:pPr indent="0" lvl="0" marL="457200" rtl="0" algn="l">
              <a:lnSpc>
                <a:spcPct val="100000"/>
              </a:lnSpc>
              <a:spcBef>
                <a:spcPts val="0"/>
              </a:spcBef>
              <a:spcAft>
                <a:spcPts val="0"/>
              </a:spcAft>
              <a:buClr>
                <a:schemeClr val="dk1"/>
              </a:buClr>
              <a:buSzPts val="1400"/>
              <a:buFont typeface="Arial"/>
              <a:buNone/>
            </a:pPr>
            <a:r>
              <a:rPr lang="en" sz="1400">
                <a:solidFill>
                  <a:schemeClr val="dk1"/>
                </a:solidFill>
                <a:highlight>
                  <a:schemeClr val="lt1"/>
                </a:highlight>
              </a:rPr>
              <a:t>Relative speed = 10 km / h</a:t>
            </a:r>
            <a:endParaRPr sz="1400">
              <a:solidFill>
                <a:schemeClr val="dk1"/>
              </a:solidFill>
              <a:highlight>
                <a:schemeClr val="lt1"/>
              </a:highlight>
            </a:endParaRPr>
          </a:p>
          <a:p>
            <a:pPr indent="0" lvl="0" marL="457200" rtl="0" algn="l">
              <a:lnSpc>
                <a:spcPct val="100000"/>
              </a:lnSpc>
              <a:spcBef>
                <a:spcPts val="0"/>
              </a:spcBef>
              <a:spcAft>
                <a:spcPts val="0"/>
              </a:spcAft>
              <a:buClr>
                <a:schemeClr val="dk1"/>
              </a:buClr>
              <a:buSzPts val="1400"/>
              <a:buFont typeface="Arial"/>
              <a:buNone/>
            </a:pPr>
            <a:r>
              <a:rPr lang="en" sz="1400">
                <a:solidFill>
                  <a:schemeClr val="dk1"/>
                </a:solidFill>
                <a:highlight>
                  <a:schemeClr val="lt1"/>
                </a:highlight>
              </a:rPr>
              <a:t>i.e., the distance between them after one hour would be 10 km.</a:t>
            </a:r>
            <a:endParaRPr sz="1400">
              <a:solidFill>
                <a:schemeClr val="dk1"/>
              </a:solidFill>
            </a:endParaRPr>
          </a:p>
          <a:p>
            <a:pPr indent="0" lvl="0" marL="0" rtl="0" algn="just">
              <a:lnSpc>
                <a:spcPct val="115000"/>
              </a:lnSpc>
              <a:spcBef>
                <a:spcPts val="800"/>
              </a:spcBef>
              <a:spcAft>
                <a:spcPts val="0"/>
              </a:spcAft>
              <a:buSzPts val="1800"/>
              <a:buNone/>
            </a:pPr>
            <a:r>
              <a:t/>
            </a:r>
            <a:endParaRPr sz="1400">
              <a:solidFill>
                <a:schemeClr val="dk1"/>
              </a:solidFill>
              <a:highlight>
                <a:schemeClr val="lt1"/>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xEl>
                                              <p:pRg end="0" st="0"/>
                                            </p:txEl>
                                          </p:spTgt>
                                        </p:tgtEl>
                                        <p:attrNameLst>
                                          <p:attrName>style.visibility</p:attrName>
                                        </p:attrNameLst>
                                      </p:cBhvr>
                                      <p:to>
                                        <p:strVal val="visible"/>
                                      </p:to>
                                    </p:set>
                                    <p:animEffect filter="fade" transition="in">
                                      <p:cBhvr>
                                        <p:cTn dur="1000"/>
                                        <p:tgtEl>
                                          <p:spTgt spid="8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xEl>
                                              <p:pRg end="1" st="1"/>
                                            </p:txEl>
                                          </p:spTgt>
                                        </p:tgtEl>
                                        <p:attrNameLst>
                                          <p:attrName>style.visibility</p:attrName>
                                        </p:attrNameLst>
                                      </p:cBhvr>
                                      <p:to>
                                        <p:strVal val="visible"/>
                                      </p:to>
                                    </p:set>
                                    <p:animEffect filter="fade" transition="in">
                                      <p:cBhvr>
                                        <p:cTn dur="1000"/>
                                        <p:tgtEl>
                                          <p:spTgt spid="8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xEl>
                                              <p:pRg end="2" st="2"/>
                                            </p:txEl>
                                          </p:spTgt>
                                        </p:tgtEl>
                                        <p:attrNameLst>
                                          <p:attrName>style.visibility</p:attrName>
                                        </p:attrNameLst>
                                      </p:cBhvr>
                                      <p:to>
                                        <p:strVal val="visible"/>
                                      </p:to>
                                    </p:set>
                                    <p:animEffect filter="fade" transition="in">
                                      <p:cBhvr>
                                        <p:cTn dur="1000"/>
                                        <p:tgtEl>
                                          <p:spTgt spid="8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xEl>
                                              <p:pRg end="3" st="3"/>
                                            </p:txEl>
                                          </p:spTgt>
                                        </p:tgtEl>
                                        <p:attrNameLst>
                                          <p:attrName>style.visibility</p:attrName>
                                        </p:attrNameLst>
                                      </p:cBhvr>
                                      <p:to>
                                        <p:strVal val="visible"/>
                                      </p:to>
                                    </p:set>
                                    <p:animEffect filter="fade" transition="in">
                                      <p:cBhvr>
                                        <p:cTn dur="1000"/>
                                        <p:tgtEl>
                                          <p:spTgt spid="8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xEl>
                                              <p:pRg end="4" st="4"/>
                                            </p:txEl>
                                          </p:spTgt>
                                        </p:tgtEl>
                                        <p:attrNameLst>
                                          <p:attrName>style.visibility</p:attrName>
                                        </p:attrNameLst>
                                      </p:cBhvr>
                                      <p:to>
                                        <p:strVal val="visible"/>
                                      </p:to>
                                    </p:set>
                                    <p:animEffect filter="fade" transition="in">
                                      <p:cBhvr>
                                        <p:cTn dur="1000"/>
                                        <p:tgtEl>
                                          <p:spTgt spid="8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xEl>
                                              <p:pRg end="5" st="5"/>
                                            </p:txEl>
                                          </p:spTgt>
                                        </p:tgtEl>
                                        <p:attrNameLst>
                                          <p:attrName>style.visibility</p:attrName>
                                        </p:attrNameLst>
                                      </p:cBhvr>
                                      <p:to>
                                        <p:strVal val="visible"/>
                                      </p:to>
                                    </p:set>
                                    <p:animEffect filter="fade" transition="in">
                                      <p:cBhvr>
                                        <p:cTn dur="1000"/>
                                        <p:tgtEl>
                                          <p:spTgt spid="8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xEl>
                                              <p:pRg end="6" st="6"/>
                                            </p:txEl>
                                          </p:spTgt>
                                        </p:tgtEl>
                                        <p:attrNameLst>
                                          <p:attrName>style.visibility</p:attrName>
                                        </p:attrNameLst>
                                      </p:cBhvr>
                                      <p:to>
                                        <p:strVal val="visible"/>
                                      </p:to>
                                    </p:set>
                                    <p:animEffect filter="fade" transition="in">
                                      <p:cBhvr>
                                        <p:cTn dur="1000"/>
                                        <p:tgtEl>
                                          <p:spTgt spid="8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xEl>
                                              <p:pRg end="7" st="7"/>
                                            </p:txEl>
                                          </p:spTgt>
                                        </p:tgtEl>
                                        <p:attrNameLst>
                                          <p:attrName>style.visibility</p:attrName>
                                        </p:attrNameLst>
                                      </p:cBhvr>
                                      <p:to>
                                        <p:strVal val="visible"/>
                                      </p:to>
                                    </p:set>
                                    <p:animEffect filter="fade" transition="in">
                                      <p:cBhvr>
                                        <p:cTn dur="1000"/>
                                        <p:tgtEl>
                                          <p:spTgt spid="8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xEl>
                                              <p:pRg end="8" st="8"/>
                                            </p:txEl>
                                          </p:spTgt>
                                        </p:tgtEl>
                                        <p:attrNameLst>
                                          <p:attrName>style.visibility</p:attrName>
                                        </p:attrNameLst>
                                      </p:cBhvr>
                                      <p:to>
                                        <p:strVal val="visible"/>
                                      </p:to>
                                    </p:set>
                                    <p:animEffect filter="fade" transition="in">
                                      <p:cBhvr>
                                        <p:cTn dur="1000"/>
                                        <p:tgtEl>
                                          <p:spTgt spid="89">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6"/>
          <p:cNvSpPr txBox="1"/>
          <p:nvPr/>
        </p:nvSpPr>
        <p:spPr>
          <a:xfrm>
            <a:off x="722375" y="1435600"/>
            <a:ext cx="8092800" cy="34785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400"/>
              <a:buFont typeface="Arial"/>
              <a:buNone/>
            </a:pPr>
            <a:r>
              <a:rPr b="0" i="0" lang="en" sz="1600" u="none" cap="none" strike="noStrike">
                <a:solidFill>
                  <a:schemeClr val="dk1"/>
                </a:solidFill>
                <a:highlight>
                  <a:schemeClr val="lt1"/>
                </a:highlight>
                <a:latin typeface="Roboto"/>
                <a:ea typeface="Roboto"/>
                <a:cs typeface="Roboto"/>
                <a:sym typeface="Roboto"/>
              </a:rPr>
              <a:t>The distance between two cities A and B is 80 km. A motorcycle rider starts from A towards B at 7 am at a speed of 10 km/hr. Another motorcyclist starts from B towards A at 8 am at a speed of 25 km/hr. At what time will they cross each other?</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80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6 pm</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10 pm</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6 am</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10 am</a:t>
            </a:r>
            <a:endParaRPr b="0" i="0" sz="16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200"/>
              <a:buFont typeface="Arial"/>
              <a:buNone/>
            </a:pPr>
            <a:r>
              <a:t/>
            </a:r>
            <a:endParaRPr b="0" i="0" sz="1600" u="none" cap="none" strike="noStrike">
              <a:solidFill>
                <a:schemeClr val="dk1"/>
              </a:solidFill>
              <a:highlight>
                <a:schemeClr val="lt1"/>
              </a:highlight>
              <a:latin typeface="Roboto"/>
              <a:ea typeface="Roboto"/>
              <a:cs typeface="Roboto"/>
              <a:sym typeface="Roboto"/>
            </a:endParaRPr>
          </a:p>
          <a:p>
            <a:pPr indent="0" lvl="0" marL="457200" marR="0" rtl="0" algn="l">
              <a:lnSpc>
                <a:spcPct val="115000"/>
              </a:lnSpc>
              <a:spcBef>
                <a:spcPts val="80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sp>
        <p:nvSpPr>
          <p:cNvPr id="95" name="Google Shape;95;p6"/>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Roboto"/>
                <a:ea typeface="Roboto"/>
                <a:cs typeface="Roboto"/>
                <a:sym typeface="Roboto"/>
              </a:rPr>
              <a:t>Answer:D </a:t>
            </a:r>
            <a:endParaRPr b="1" i="0" sz="1400" u="none" cap="none" strike="noStrike">
              <a:solidFill>
                <a:srgbClr val="000000"/>
              </a:solidFill>
              <a:latin typeface="Roboto"/>
              <a:ea typeface="Roboto"/>
              <a:cs typeface="Roboto"/>
              <a:sym typeface="Roboto"/>
            </a:endParaRPr>
          </a:p>
        </p:txBody>
      </p:sp>
      <p:sp>
        <p:nvSpPr>
          <p:cNvPr id="96" name="Google Shape;96;p6"/>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8182EF"/>
                </a:solidFill>
                <a:latin typeface="Roboto"/>
                <a:ea typeface="Roboto"/>
                <a:cs typeface="Roboto"/>
                <a:sym typeface="Roboto"/>
              </a:rPr>
              <a:t>Question: 01</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0" st="0"/>
                                            </p:txEl>
                                          </p:spTgt>
                                        </p:tgtEl>
                                        <p:attrNameLst>
                                          <p:attrName>style.visibility</p:attrName>
                                        </p:attrNameLst>
                                      </p:cBhvr>
                                      <p:to>
                                        <p:strVal val="visible"/>
                                      </p:to>
                                    </p:set>
                                    <p:animEffect filter="fade" transition="in">
                                      <p:cBhvr>
                                        <p:cTn dur="1000"/>
                                        <p:tgtEl>
                                          <p:spTgt spid="9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1" st="1"/>
                                            </p:txEl>
                                          </p:spTgt>
                                        </p:tgtEl>
                                        <p:attrNameLst>
                                          <p:attrName>style.visibility</p:attrName>
                                        </p:attrNameLst>
                                      </p:cBhvr>
                                      <p:to>
                                        <p:strVal val="visible"/>
                                      </p:to>
                                    </p:set>
                                    <p:animEffect filter="fade" transition="in">
                                      <p:cBhvr>
                                        <p:cTn dur="1000"/>
                                        <p:tgtEl>
                                          <p:spTgt spid="9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2" st="2"/>
                                            </p:txEl>
                                          </p:spTgt>
                                        </p:tgtEl>
                                        <p:attrNameLst>
                                          <p:attrName>style.visibility</p:attrName>
                                        </p:attrNameLst>
                                      </p:cBhvr>
                                      <p:to>
                                        <p:strVal val="visible"/>
                                      </p:to>
                                    </p:set>
                                    <p:animEffect filter="fade" transition="in">
                                      <p:cBhvr>
                                        <p:cTn dur="1000"/>
                                        <p:tgtEl>
                                          <p:spTgt spid="9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3" st="3"/>
                                            </p:txEl>
                                          </p:spTgt>
                                        </p:tgtEl>
                                        <p:attrNameLst>
                                          <p:attrName>style.visibility</p:attrName>
                                        </p:attrNameLst>
                                      </p:cBhvr>
                                      <p:to>
                                        <p:strVal val="visible"/>
                                      </p:to>
                                    </p:set>
                                    <p:animEffect filter="fade" transition="in">
                                      <p:cBhvr>
                                        <p:cTn dur="1000"/>
                                        <p:tgtEl>
                                          <p:spTgt spid="9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4" st="4"/>
                                            </p:txEl>
                                          </p:spTgt>
                                        </p:tgtEl>
                                        <p:attrNameLst>
                                          <p:attrName>style.visibility</p:attrName>
                                        </p:attrNameLst>
                                      </p:cBhvr>
                                      <p:to>
                                        <p:strVal val="visible"/>
                                      </p:to>
                                    </p:set>
                                    <p:animEffect filter="fade" transition="in">
                                      <p:cBhvr>
                                        <p:cTn dur="1000"/>
                                        <p:tgtEl>
                                          <p:spTgt spid="9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5" st="5"/>
                                            </p:txEl>
                                          </p:spTgt>
                                        </p:tgtEl>
                                        <p:attrNameLst>
                                          <p:attrName>style.visibility</p:attrName>
                                        </p:attrNameLst>
                                      </p:cBhvr>
                                      <p:to>
                                        <p:strVal val="visible"/>
                                      </p:to>
                                    </p:set>
                                    <p:animEffect filter="fade" transition="in">
                                      <p:cBhvr>
                                        <p:cTn dur="1000"/>
                                        <p:tgtEl>
                                          <p:spTgt spid="9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6" st="6"/>
                                            </p:txEl>
                                          </p:spTgt>
                                        </p:tgtEl>
                                        <p:attrNameLst>
                                          <p:attrName>style.visibility</p:attrName>
                                        </p:attrNameLst>
                                      </p:cBhvr>
                                      <p:to>
                                        <p:strVal val="visible"/>
                                      </p:to>
                                    </p:set>
                                    <p:animEffect filter="fade" transition="in">
                                      <p:cBhvr>
                                        <p:cTn dur="1000"/>
                                        <p:tgtEl>
                                          <p:spTgt spid="9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
                                        </p:tgtEl>
                                        <p:attrNameLst>
                                          <p:attrName>style.visibility</p:attrName>
                                        </p:attrNameLst>
                                      </p:cBhvr>
                                      <p:to>
                                        <p:strVal val="visible"/>
                                      </p:to>
                                    </p:set>
                                    <p:animEffect filter="fade" transition="in">
                                      <p:cBhvr>
                                        <p:cTn dur="1000"/>
                                        <p:tgtEl>
                                          <p:spTgt spid="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0" name="Shape 100"/>
        <p:cNvGrpSpPr/>
        <p:nvPr/>
      </p:nvGrpSpPr>
      <p:grpSpPr>
        <a:xfrm>
          <a:off x="0" y="0"/>
          <a:ext cx="0" cy="0"/>
          <a:chOff x="0" y="0"/>
          <a:chExt cx="0" cy="0"/>
        </a:xfrm>
      </p:grpSpPr>
      <p:sp>
        <p:nvSpPr>
          <p:cNvPr id="101" name="Google Shape;101;p7"/>
          <p:cNvSpPr txBox="1"/>
          <p:nvPr/>
        </p:nvSpPr>
        <p:spPr>
          <a:xfrm>
            <a:off x="722375" y="1435602"/>
            <a:ext cx="8172600" cy="158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rgbClr val="4C4C4C"/>
                </a:solidFill>
                <a:highlight>
                  <a:schemeClr val="lt1"/>
                </a:highlight>
                <a:latin typeface="Roboto"/>
                <a:ea typeface="Roboto"/>
                <a:cs typeface="Roboto"/>
                <a:sym typeface="Roboto"/>
              </a:rPr>
              <a:t>In one hour, the earlier rider covers a distance of 10 km.</a:t>
            </a:r>
            <a:endParaRPr b="0" i="0" sz="1400" u="none" cap="none" strike="noStrike">
              <a:solidFill>
                <a:srgbClr val="4C4C4C"/>
              </a:solidFill>
              <a:highlight>
                <a:schemeClr val="lt1"/>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100"/>
              <a:buFont typeface="Arial"/>
              <a:buNone/>
            </a:pPr>
            <a:r>
              <a:rPr b="0" i="0" lang="en" sz="1400" u="none" cap="none" strike="noStrike">
                <a:solidFill>
                  <a:srgbClr val="4C4C4C"/>
                </a:solidFill>
                <a:highlight>
                  <a:schemeClr val="lt1"/>
                </a:highlight>
                <a:latin typeface="Roboto"/>
                <a:ea typeface="Roboto"/>
                <a:cs typeface="Roboto"/>
                <a:sym typeface="Roboto"/>
              </a:rPr>
              <a:t>The distance between the two = 80 – 10 = 70 km.</a:t>
            </a:r>
            <a:endParaRPr b="0" i="0" sz="1400" u="none" cap="none" strike="noStrike">
              <a:solidFill>
                <a:srgbClr val="4C4C4C"/>
              </a:solidFill>
              <a:highlight>
                <a:schemeClr val="lt1"/>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100"/>
              <a:buFont typeface="Arial"/>
              <a:buNone/>
            </a:pPr>
            <a:r>
              <a:rPr b="0" i="0" lang="en" sz="1400" u="none" cap="none" strike="noStrike">
                <a:solidFill>
                  <a:srgbClr val="4C4C4C"/>
                </a:solidFill>
                <a:highlight>
                  <a:schemeClr val="lt1"/>
                </a:highlight>
                <a:latin typeface="Roboto"/>
                <a:ea typeface="Roboto"/>
                <a:cs typeface="Roboto"/>
                <a:sym typeface="Roboto"/>
              </a:rPr>
              <a:t>Hence, the two riders approach each other with a relative speed of 10 + 25 = 35 kmph.</a:t>
            </a:r>
            <a:endParaRPr b="0" i="0" sz="1400" u="none" cap="none" strike="noStrike">
              <a:solidFill>
                <a:srgbClr val="4C4C4C"/>
              </a:solidFill>
              <a:highlight>
                <a:schemeClr val="lt1"/>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100"/>
              <a:buFont typeface="Arial"/>
              <a:buNone/>
            </a:pPr>
            <a:r>
              <a:rPr b="0" i="0" lang="en" sz="1400" u="none" cap="none" strike="noStrike">
                <a:solidFill>
                  <a:srgbClr val="4C4C4C"/>
                </a:solidFill>
                <a:highlight>
                  <a:schemeClr val="lt1"/>
                </a:highlight>
                <a:latin typeface="Roboto"/>
                <a:ea typeface="Roboto"/>
                <a:cs typeface="Roboto"/>
                <a:sym typeface="Roboto"/>
              </a:rPr>
              <a:t>The time taken = 70/35 = 2 hrs. Therefore, they meet each other at (8 + 2) = 10 am.</a:t>
            </a:r>
            <a:endParaRPr b="0" i="0" sz="1400" u="none" cap="none" strike="noStrike">
              <a:solidFill>
                <a:srgbClr val="4C4C4C"/>
              </a:solidFill>
              <a:highlight>
                <a:schemeClr val="lt1"/>
              </a:highlight>
              <a:latin typeface="Roboto"/>
              <a:ea typeface="Roboto"/>
              <a:cs typeface="Roboto"/>
              <a:sym typeface="Roboto"/>
            </a:endParaRPr>
          </a:p>
          <a:p>
            <a:pPr indent="0" lvl="0" marL="0" marR="0" rtl="0" algn="l">
              <a:lnSpc>
                <a:spcPct val="150000"/>
              </a:lnSpc>
              <a:spcBef>
                <a:spcPts val="80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102" name="Google Shape;102;p7"/>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8182EF"/>
                </a:solidFill>
                <a:latin typeface="Roboto"/>
                <a:ea typeface="Roboto"/>
                <a:cs typeface="Roboto"/>
                <a:sym typeface="Roboto"/>
              </a:rPr>
              <a:t>Explanation: 01</a:t>
            </a:r>
            <a:endParaRPr b="1" sz="2000">
              <a:solidFill>
                <a:srgbClr val="8182EF"/>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8"/>
          <p:cNvSpPr txBox="1"/>
          <p:nvPr/>
        </p:nvSpPr>
        <p:spPr>
          <a:xfrm>
            <a:off x="722375" y="1435600"/>
            <a:ext cx="8092800" cy="4381800"/>
          </a:xfrm>
          <a:prstGeom prst="rect">
            <a:avLst/>
          </a:prstGeom>
          <a:noFill/>
          <a:ln>
            <a:noFill/>
          </a:ln>
        </p:spPr>
        <p:txBody>
          <a:bodyPr anchorCtr="0" anchor="t" bIns="45700" lIns="91425" spcFirstLastPara="1" rIns="91425" wrap="square" tIns="45700">
            <a:spAutoFit/>
          </a:bodyPr>
          <a:lstStyle/>
          <a:p>
            <a:pPr indent="0" lvl="0" marL="0" marR="0" rtl="0" algn="just">
              <a:lnSpc>
                <a:spcPct val="150000"/>
              </a:lnSpc>
              <a:spcBef>
                <a:spcPts val="1200"/>
              </a:spcBef>
              <a:spcAft>
                <a:spcPts val="0"/>
              </a:spcAft>
              <a:buClr>
                <a:schemeClr val="dk1"/>
              </a:buClr>
              <a:buSzPts val="1400"/>
              <a:buFont typeface="Arial"/>
              <a:buNone/>
            </a:pPr>
            <a:r>
              <a:rPr b="0" i="0" lang="en" sz="1600" u="none" cap="none" strike="noStrike">
                <a:solidFill>
                  <a:schemeClr val="dk1"/>
                </a:solidFill>
                <a:latin typeface="Roboto"/>
                <a:ea typeface="Roboto"/>
                <a:cs typeface="Roboto"/>
                <a:sym typeface="Roboto"/>
              </a:rPr>
              <a:t>Two athletes are running from the same place at the speed of 6 km/hr and 4 km/hr. find the distance between them after 10 minutes if they move in the same direction.</a:t>
            </a:r>
            <a:endParaRPr b="0" i="0" sz="1600" u="none" cap="none" strike="noStrike">
              <a:solidFill>
                <a:schemeClr val="dk1"/>
              </a:solidFill>
              <a:latin typeface="Roboto"/>
              <a:ea typeface="Roboto"/>
              <a:cs typeface="Roboto"/>
              <a:sym typeface="Roboto"/>
            </a:endParaRPr>
          </a:p>
          <a:p>
            <a:pPr indent="-330200" lvl="0" marL="457200" marR="0" rtl="0" algn="just">
              <a:lnSpc>
                <a:spcPct val="150000"/>
              </a:lnSpc>
              <a:spcBef>
                <a:spcPts val="120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3.333 m</a:t>
            </a:r>
            <a:endParaRPr b="0" i="0" sz="1600" u="none" cap="none" strike="noStrike">
              <a:solidFill>
                <a:schemeClr val="dk1"/>
              </a:solidFill>
              <a:latin typeface="Roboto"/>
              <a:ea typeface="Roboto"/>
              <a:cs typeface="Roboto"/>
              <a:sym typeface="Roboto"/>
            </a:endParaRPr>
          </a:p>
          <a:p>
            <a:pPr indent="-330200" lvl="0" marL="457200" marR="0" rtl="0" algn="just">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33.33 m</a:t>
            </a:r>
            <a:endParaRPr b="0" i="0" sz="1600" u="none" cap="none" strike="noStrike">
              <a:solidFill>
                <a:schemeClr val="dk1"/>
              </a:solidFill>
              <a:latin typeface="Roboto"/>
              <a:ea typeface="Roboto"/>
              <a:cs typeface="Roboto"/>
              <a:sym typeface="Roboto"/>
            </a:endParaRPr>
          </a:p>
          <a:p>
            <a:pPr indent="-330200" lvl="0" marL="457200" marR="0" rtl="0" algn="just">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333.3 m</a:t>
            </a:r>
            <a:endParaRPr b="0" i="0" sz="1600" u="none" cap="none" strike="noStrike">
              <a:solidFill>
                <a:schemeClr val="dk1"/>
              </a:solidFill>
              <a:latin typeface="Roboto"/>
              <a:ea typeface="Roboto"/>
              <a:cs typeface="Roboto"/>
              <a:sym typeface="Roboto"/>
            </a:endParaRPr>
          </a:p>
          <a:p>
            <a:pPr indent="-330200" lvl="0" marL="457200" marR="0" rtl="0" algn="just">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latin typeface="Roboto"/>
                <a:ea typeface="Roboto"/>
                <a:cs typeface="Roboto"/>
                <a:sym typeface="Roboto"/>
              </a:rPr>
              <a:t>3333 m</a:t>
            </a:r>
            <a:endParaRPr b="0" i="0" sz="1600" u="none" cap="none" strike="noStrike">
              <a:solidFill>
                <a:schemeClr val="dk1"/>
              </a:solidFill>
              <a:latin typeface="Roboto"/>
              <a:ea typeface="Roboto"/>
              <a:cs typeface="Roboto"/>
              <a:sym typeface="Roboto"/>
            </a:endParaRPr>
          </a:p>
          <a:p>
            <a:pPr indent="0" lvl="0" marL="0" marR="0" rtl="0" algn="just">
              <a:lnSpc>
                <a:spcPct val="150000"/>
              </a:lnSpc>
              <a:spcBef>
                <a:spcPts val="1200"/>
              </a:spcBef>
              <a:spcAft>
                <a:spcPts val="0"/>
              </a:spcAft>
              <a:buClr>
                <a:schemeClr val="dk1"/>
              </a:buClr>
              <a:buSzPts val="1400"/>
              <a:buFont typeface="Arial"/>
              <a:buNone/>
            </a:pPr>
            <a:r>
              <a:t/>
            </a:r>
            <a:endParaRPr b="0" i="0" sz="1600" u="none" cap="none" strike="noStrike">
              <a:solidFill>
                <a:schemeClr val="dk1"/>
              </a:solidFill>
              <a:latin typeface="Roboto"/>
              <a:ea typeface="Roboto"/>
              <a:cs typeface="Roboto"/>
              <a:sym typeface="Roboto"/>
            </a:endParaRPr>
          </a:p>
          <a:p>
            <a:pPr indent="0" lvl="0" marL="0" marR="0" rtl="0" algn="just">
              <a:lnSpc>
                <a:spcPct val="150000"/>
              </a:lnSpc>
              <a:spcBef>
                <a:spcPts val="1200"/>
              </a:spcBef>
              <a:spcAft>
                <a:spcPts val="0"/>
              </a:spcAft>
              <a:buClr>
                <a:schemeClr val="dk1"/>
              </a:buClr>
              <a:buSzPts val="1400"/>
              <a:buFont typeface="Arial"/>
              <a:buNone/>
            </a:pPr>
            <a:r>
              <a:t/>
            </a:r>
            <a:endParaRPr b="0" i="0" sz="1600" u="none" cap="none" strike="noStrike">
              <a:solidFill>
                <a:schemeClr val="dk1"/>
              </a:solidFill>
              <a:latin typeface="Roboto"/>
              <a:ea typeface="Roboto"/>
              <a:cs typeface="Roboto"/>
              <a:sym typeface="Roboto"/>
            </a:endParaRPr>
          </a:p>
          <a:p>
            <a:pPr indent="0" lvl="0" marL="0" marR="0" rtl="0" algn="just">
              <a:lnSpc>
                <a:spcPct val="150000"/>
              </a:lnSpc>
              <a:spcBef>
                <a:spcPts val="1200"/>
              </a:spcBef>
              <a:spcAft>
                <a:spcPts val="0"/>
              </a:spcAft>
              <a:buClr>
                <a:schemeClr val="dk1"/>
              </a:buClr>
              <a:buSzPts val="1100"/>
              <a:buFont typeface="Arial"/>
              <a:buNone/>
            </a:pPr>
            <a:r>
              <a:rPr b="0" i="0" lang="en" sz="1600" u="none" cap="none" strike="noStrike">
                <a:solidFill>
                  <a:schemeClr val="dk1"/>
                </a:solidFill>
                <a:latin typeface="Roboto"/>
                <a:ea typeface="Roboto"/>
                <a:cs typeface="Roboto"/>
                <a:sym typeface="Roboto"/>
              </a:rPr>
              <a:t>     </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800"/>
              </a:spcBef>
              <a:spcAft>
                <a:spcPts val="0"/>
              </a:spcAft>
              <a:buClr>
                <a:srgbClr val="000000"/>
              </a:buClr>
              <a:buSzPts val="2400"/>
              <a:buFont typeface="Arial"/>
              <a:buNone/>
            </a:pPr>
            <a:r>
              <a:t/>
            </a:r>
            <a:endParaRPr b="0" i="0" sz="1600" u="none" cap="none" strike="noStrike">
              <a:solidFill>
                <a:schemeClr val="dk1"/>
              </a:solidFill>
              <a:latin typeface="Roboto"/>
              <a:ea typeface="Roboto"/>
              <a:cs typeface="Roboto"/>
              <a:sym typeface="Roboto"/>
            </a:endParaRPr>
          </a:p>
        </p:txBody>
      </p:sp>
      <p:sp>
        <p:nvSpPr>
          <p:cNvPr id="108" name="Google Shape;108;p8"/>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Roboto"/>
                <a:ea typeface="Roboto"/>
                <a:cs typeface="Roboto"/>
                <a:sym typeface="Roboto"/>
              </a:rPr>
              <a:t>Answer:C </a:t>
            </a:r>
            <a:endParaRPr b="1" i="0" sz="1400" u="none" cap="none" strike="noStrike">
              <a:solidFill>
                <a:srgbClr val="000000"/>
              </a:solidFill>
              <a:latin typeface="Roboto"/>
              <a:ea typeface="Roboto"/>
              <a:cs typeface="Roboto"/>
              <a:sym typeface="Roboto"/>
            </a:endParaRPr>
          </a:p>
        </p:txBody>
      </p:sp>
      <p:sp>
        <p:nvSpPr>
          <p:cNvPr id="109" name="Google Shape;109;p8"/>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8182EF"/>
                </a:solidFill>
                <a:latin typeface="Roboto"/>
                <a:ea typeface="Roboto"/>
                <a:cs typeface="Roboto"/>
                <a:sym typeface="Roboto"/>
              </a:rPr>
              <a:t>Question: 02</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xEl>
                                              <p:pRg end="0" st="0"/>
                                            </p:txEl>
                                          </p:spTgt>
                                        </p:tgtEl>
                                        <p:attrNameLst>
                                          <p:attrName>style.visibility</p:attrName>
                                        </p:attrNameLst>
                                      </p:cBhvr>
                                      <p:to>
                                        <p:strVal val="visible"/>
                                      </p:to>
                                    </p:set>
                                    <p:animEffect filter="fade" transition="in">
                                      <p:cBhvr>
                                        <p:cTn dur="1000"/>
                                        <p:tgtEl>
                                          <p:spTgt spid="10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xEl>
                                              <p:pRg end="1" st="1"/>
                                            </p:txEl>
                                          </p:spTgt>
                                        </p:tgtEl>
                                        <p:attrNameLst>
                                          <p:attrName>style.visibility</p:attrName>
                                        </p:attrNameLst>
                                      </p:cBhvr>
                                      <p:to>
                                        <p:strVal val="visible"/>
                                      </p:to>
                                    </p:set>
                                    <p:animEffect filter="fade" transition="in">
                                      <p:cBhvr>
                                        <p:cTn dur="1000"/>
                                        <p:tgtEl>
                                          <p:spTgt spid="10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xEl>
                                              <p:pRg end="2" st="2"/>
                                            </p:txEl>
                                          </p:spTgt>
                                        </p:tgtEl>
                                        <p:attrNameLst>
                                          <p:attrName>style.visibility</p:attrName>
                                        </p:attrNameLst>
                                      </p:cBhvr>
                                      <p:to>
                                        <p:strVal val="visible"/>
                                      </p:to>
                                    </p:set>
                                    <p:animEffect filter="fade" transition="in">
                                      <p:cBhvr>
                                        <p:cTn dur="1000"/>
                                        <p:tgtEl>
                                          <p:spTgt spid="10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xEl>
                                              <p:pRg end="3" st="3"/>
                                            </p:txEl>
                                          </p:spTgt>
                                        </p:tgtEl>
                                        <p:attrNameLst>
                                          <p:attrName>style.visibility</p:attrName>
                                        </p:attrNameLst>
                                      </p:cBhvr>
                                      <p:to>
                                        <p:strVal val="visible"/>
                                      </p:to>
                                    </p:set>
                                    <p:animEffect filter="fade" transition="in">
                                      <p:cBhvr>
                                        <p:cTn dur="1000"/>
                                        <p:tgtEl>
                                          <p:spTgt spid="10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xEl>
                                              <p:pRg end="4" st="4"/>
                                            </p:txEl>
                                          </p:spTgt>
                                        </p:tgtEl>
                                        <p:attrNameLst>
                                          <p:attrName>style.visibility</p:attrName>
                                        </p:attrNameLst>
                                      </p:cBhvr>
                                      <p:to>
                                        <p:strVal val="visible"/>
                                      </p:to>
                                    </p:set>
                                    <p:animEffect filter="fade" transition="in">
                                      <p:cBhvr>
                                        <p:cTn dur="1000"/>
                                        <p:tgtEl>
                                          <p:spTgt spid="10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xEl>
                                              <p:pRg end="5" st="5"/>
                                            </p:txEl>
                                          </p:spTgt>
                                        </p:tgtEl>
                                        <p:attrNameLst>
                                          <p:attrName>style.visibility</p:attrName>
                                        </p:attrNameLst>
                                      </p:cBhvr>
                                      <p:to>
                                        <p:strVal val="visible"/>
                                      </p:to>
                                    </p:set>
                                    <p:animEffect filter="fade" transition="in">
                                      <p:cBhvr>
                                        <p:cTn dur="1000"/>
                                        <p:tgtEl>
                                          <p:spTgt spid="10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xEl>
                                              <p:pRg end="6" st="6"/>
                                            </p:txEl>
                                          </p:spTgt>
                                        </p:tgtEl>
                                        <p:attrNameLst>
                                          <p:attrName>style.visibility</p:attrName>
                                        </p:attrNameLst>
                                      </p:cBhvr>
                                      <p:to>
                                        <p:strVal val="visible"/>
                                      </p:to>
                                    </p:set>
                                    <p:animEffect filter="fade" transition="in">
                                      <p:cBhvr>
                                        <p:cTn dur="1000"/>
                                        <p:tgtEl>
                                          <p:spTgt spid="10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xEl>
                                              <p:pRg end="7" st="7"/>
                                            </p:txEl>
                                          </p:spTgt>
                                        </p:tgtEl>
                                        <p:attrNameLst>
                                          <p:attrName>style.visibility</p:attrName>
                                        </p:attrNameLst>
                                      </p:cBhvr>
                                      <p:to>
                                        <p:strVal val="visible"/>
                                      </p:to>
                                    </p:set>
                                    <p:animEffect filter="fade" transition="in">
                                      <p:cBhvr>
                                        <p:cTn dur="1000"/>
                                        <p:tgtEl>
                                          <p:spTgt spid="10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
                                            <p:txEl>
                                              <p:pRg end="8" st="8"/>
                                            </p:txEl>
                                          </p:spTgt>
                                        </p:tgtEl>
                                        <p:attrNameLst>
                                          <p:attrName>style.visibility</p:attrName>
                                        </p:attrNameLst>
                                      </p:cBhvr>
                                      <p:to>
                                        <p:strVal val="visible"/>
                                      </p:to>
                                    </p:set>
                                    <p:animEffect filter="fade" transition="in">
                                      <p:cBhvr>
                                        <p:cTn dur="1000"/>
                                        <p:tgtEl>
                                          <p:spTgt spid="10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8"/>
                                        </p:tgtEl>
                                        <p:attrNameLst>
                                          <p:attrName>style.visibility</p:attrName>
                                        </p:attrNameLst>
                                      </p:cBhvr>
                                      <p:to>
                                        <p:strVal val="visible"/>
                                      </p:to>
                                    </p:set>
                                    <p:animEffect filter="fade" transition="in">
                                      <p:cBhvr>
                                        <p:cTn dur="1000"/>
                                        <p:tgtEl>
                                          <p:spTgt spid="1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3" name="Shape 113"/>
        <p:cNvGrpSpPr/>
        <p:nvPr/>
      </p:nvGrpSpPr>
      <p:grpSpPr>
        <a:xfrm>
          <a:off x="0" y="0"/>
          <a:ext cx="0" cy="0"/>
          <a:chOff x="0" y="0"/>
          <a:chExt cx="0" cy="0"/>
        </a:xfrm>
      </p:grpSpPr>
      <p:sp>
        <p:nvSpPr>
          <p:cNvPr id="114" name="Google Shape;114;p9"/>
          <p:cNvSpPr txBox="1"/>
          <p:nvPr/>
        </p:nvSpPr>
        <p:spPr>
          <a:xfrm>
            <a:off x="722375" y="1435600"/>
            <a:ext cx="8172600" cy="28938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1200"/>
              </a:spcBef>
              <a:spcAft>
                <a:spcPts val="0"/>
              </a:spcAft>
              <a:buClr>
                <a:schemeClr val="dk1"/>
              </a:buClr>
              <a:buSzPts val="1100"/>
              <a:buFont typeface="Arial"/>
              <a:buNone/>
            </a:pPr>
            <a:r>
              <a:rPr b="0" i="0" lang="en" sz="1400" u="none" cap="none" strike="noStrike">
                <a:solidFill>
                  <a:schemeClr val="dk1"/>
                </a:solidFill>
                <a:latin typeface="Roboto"/>
                <a:ea typeface="Roboto"/>
                <a:cs typeface="Roboto"/>
                <a:sym typeface="Roboto"/>
              </a:rPr>
              <a:t>RELATIVE SPEED = (6 – 4) km/hr = 2 km/hr</a:t>
            </a:r>
            <a:endParaRPr b="0" i="0" sz="1400" u="none" cap="none" strike="noStrike">
              <a:solidFill>
                <a:schemeClr val="dk1"/>
              </a:solidFill>
              <a:latin typeface="Roboto"/>
              <a:ea typeface="Roboto"/>
              <a:cs typeface="Roboto"/>
              <a:sym typeface="Roboto"/>
            </a:endParaRPr>
          </a:p>
          <a:p>
            <a:pPr indent="0" lvl="0" marL="0" marR="0" rtl="0" algn="just">
              <a:lnSpc>
                <a:spcPct val="100000"/>
              </a:lnSpc>
              <a:spcBef>
                <a:spcPts val="1200"/>
              </a:spcBef>
              <a:spcAft>
                <a:spcPts val="0"/>
              </a:spcAft>
              <a:buClr>
                <a:schemeClr val="dk1"/>
              </a:buClr>
              <a:buSzPts val="1100"/>
              <a:buFont typeface="Arial"/>
              <a:buNone/>
            </a:pPr>
            <a:r>
              <a:rPr b="0" i="0" lang="en" sz="1400" u="none" cap="none" strike="noStrike">
                <a:solidFill>
                  <a:schemeClr val="dk1"/>
                </a:solidFill>
                <a:latin typeface="Roboto"/>
                <a:ea typeface="Roboto"/>
                <a:cs typeface="Roboto"/>
                <a:sym typeface="Roboto"/>
              </a:rPr>
              <a:t>Time taken = 10 minutes</a:t>
            </a:r>
            <a:endParaRPr b="0" i="0" sz="1400" u="none" cap="none" strike="noStrike">
              <a:solidFill>
                <a:schemeClr val="dk1"/>
              </a:solidFill>
              <a:latin typeface="Roboto"/>
              <a:ea typeface="Roboto"/>
              <a:cs typeface="Roboto"/>
              <a:sym typeface="Roboto"/>
            </a:endParaRPr>
          </a:p>
          <a:p>
            <a:pPr indent="0" lvl="0" marL="0" marR="0" rtl="0" algn="just">
              <a:lnSpc>
                <a:spcPct val="100000"/>
              </a:lnSpc>
              <a:spcBef>
                <a:spcPts val="1200"/>
              </a:spcBef>
              <a:spcAft>
                <a:spcPts val="0"/>
              </a:spcAft>
              <a:buClr>
                <a:schemeClr val="dk1"/>
              </a:buClr>
              <a:buSzPts val="1100"/>
              <a:buFont typeface="Arial"/>
              <a:buNone/>
            </a:pPr>
            <a:r>
              <a:rPr b="0" i="0" lang="en" sz="1400" u="none" cap="none" strike="noStrike">
                <a:solidFill>
                  <a:schemeClr val="dk1"/>
                </a:solidFill>
                <a:latin typeface="Roboto"/>
                <a:ea typeface="Roboto"/>
                <a:cs typeface="Roboto"/>
                <a:sym typeface="Roboto"/>
              </a:rPr>
              <a:t>Distance covered = speed × time</a:t>
            </a:r>
            <a:endParaRPr b="0" i="0" sz="1400" u="none" cap="none" strike="noStrike">
              <a:solidFill>
                <a:schemeClr val="dk1"/>
              </a:solidFill>
              <a:latin typeface="Roboto"/>
              <a:ea typeface="Roboto"/>
              <a:cs typeface="Roboto"/>
              <a:sym typeface="Roboto"/>
            </a:endParaRPr>
          </a:p>
          <a:p>
            <a:pPr indent="0" lvl="0" marL="0" marR="0" rtl="0" algn="just">
              <a:lnSpc>
                <a:spcPct val="100000"/>
              </a:lnSpc>
              <a:spcBef>
                <a:spcPts val="1200"/>
              </a:spcBef>
              <a:spcAft>
                <a:spcPts val="0"/>
              </a:spcAft>
              <a:buClr>
                <a:schemeClr val="dk1"/>
              </a:buClr>
              <a:buSzPts val="1100"/>
              <a:buFont typeface="Arial"/>
              <a:buNone/>
            </a:pPr>
            <a:r>
              <a:rPr b="0" i="0" lang="en" sz="1400" u="none" cap="none" strike="noStrike">
                <a:solidFill>
                  <a:schemeClr val="dk1"/>
                </a:solidFill>
                <a:latin typeface="Roboto"/>
                <a:ea typeface="Roboto"/>
                <a:cs typeface="Roboto"/>
                <a:sym typeface="Roboto"/>
              </a:rPr>
              <a:t>                          = (2 × 10/60) km</a:t>
            </a:r>
            <a:endParaRPr b="0" i="0" sz="1400" u="none" cap="none" strike="noStrike">
              <a:solidFill>
                <a:schemeClr val="dk1"/>
              </a:solidFill>
              <a:latin typeface="Roboto"/>
              <a:ea typeface="Roboto"/>
              <a:cs typeface="Roboto"/>
              <a:sym typeface="Roboto"/>
            </a:endParaRPr>
          </a:p>
          <a:p>
            <a:pPr indent="0" lvl="0" marL="0" marR="0" rtl="0" algn="just">
              <a:lnSpc>
                <a:spcPct val="100000"/>
              </a:lnSpc>
              <a:spcBef>
                <a:spcPts val="1200"/>
              </a:spcBef>
              <a:spcAft>
                <a:spcPts val="0"/>
              </a:spcAft>
              <a:buClr>
                <a:schemeClr val="dk1"/>
              </a:buClr>
              <a:buSzPts val="1100"/>
              <a:buFont typeface="Arial"/>
              <a:buNone/>
            </a:pPr>
            <a:r>
              <a:rPr b="0" i="0" lang="en" sz="1400" u="none" cap="none" strike="noStrike">
                <a:solidFill>
                  <a:schemeClr val="dk1"/>
                </a:solidFill>
                <a:latin typeface="Roboto"/>
                <a:ea typeface="Roboto"/>
                <a:cs typeface="Roboto"/>
                <a:sym typeface="Roboto"/>
              </a:rPr>
              <a:t>                          = 1/3 km</a:t>
            </a:r>
            <a:endParaRPr b="0" i="0" sz="1400" u="none" cap="none" strike="noStrike">
              <a:solidFill>
                <a:schemeClr val="dk1"/>
              </a:solidFill>
              <a:latin typeface="Roboto"/>
              <a:ea typeface="Roboto"/>
              <a:cs typeface="Roboto"/>
              <a:sym typeface="Roboto"/>
            </a:endParaRPr>
          </a:p>
          <a:p>
            <a:pPr indent="0" lvl="0" marL="0" marR="0" rtl="0" algn="just">
              <a:lnSpc>
                <a:spcPct val="100000"/>
              </a:lnSpc>
              <a:spcBef>
                <a:spcPts val="1200"/>
              </a:spcBef>
              <a:spcAft>
                <a:spcPts val="0"/>
              </a:spcAft>
              <a:buClr>
                <a:schemeClr val="dk1"/>
              </a:buClr>
              <a:buSzPts val="1100"/>
              <a:buFont typeface="Arial"/>
              <a:buNone/>
            </a:pPr>
            <a:r>
              <a:rPr b="0" i="0" lang="en" sz="1400" u="none" cap="none" strike="noStrike">
                <a:solidFill>
                  <a:schemeClr val="dk1"/>
                </a:solidFill>
                <a:latin typeface="Roboto"/>
                <a:ea typeface="Roboto"/>
                <a:cs typeface="Roboto"/>
                <a:sym typeface="Roboto"/>
              </a:rPr>
              <a:t>                          = 1/3 × 1000 m</a:t>
            </a:r>
            <a:endParaRPr b="0" i="0" sz="1400" u="none" cap="none" strike="noStrike">
              <a:solidFill>
                <a:schemeClr val="dk1"/>
              </a:solidFill>
              <a:latin typeface="Roboto"/>
              <a:ea typeface="Roboto"/>
              <a:cs typeface="Roboto"/>
              <a:sym typeface="Roboto"/>
            </a:endParaRPr>
          </a:p>
          <a:p>
            <a:pPr indent="0" lvl="0" marL="0" marR="0" rtl="0" algn="just">
              <a:lnSpc>
                <a:spcPct val="100000"/>
              </a:lnSpc>
              <a:spcBef>
                <a:spcPts val="1200"/>
              </a:spcBef>
              <a:spcAft>
                <a:spcPts val="0"/>
              </a:spcAft>
              <a:buClr>
                <a:schemeClr val="dk1"/>
              </a:buClr>
              <a:buSzPts val="1100"/>
              <a:buFont typeface="Arial"/>
              <a:buNone/>
            </a:pPr>
            <a:r>
              <a:rPr b="0" i="0" lang="en" sz="1400" u="none" cap="none" strike="noStrike">
                <a:solidFill>
                  <a:schemeClr val="dk1"/>
                </a:solidFill>
                <a:latin typeface="Roboto"/>
                <a:ea typeface="Roboto"/>
                <a:cs typeface="Roboto"/>
                <a:sym typeface="Roboto"/>
              </a:rPr>
              <a:t>                          = 333.3 m        </a:t>
            </a:r>
            <a:endParaRPr b="0" i="0" sz="1400" u="none" cap="none" strike="noStrike">
              <a:solidFill>
                <a:schemeClr val="dk1"/>
              </a:solidFill>
              <a:latin typeface="Roboto"/>
              <a:ea typeface="Roboto"/>
              <a:cs typeface="Roboto"/>
              <a:sym typeface="Roboto"/>
            </a:endParaRPr>
          </a:p>
          <a:p>
            <a:pPr indent="0" lvl="0" marL="0" marR="0" rtl="0" algn="l">
              <a:lnSpc>
                <a:spcPct val="150000"/>
              </a:lnSpc>
              <a:spcBef>
                <a:spcPts val="120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115" name="Google Shape;115;p9"/>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8182EF"/>
                </a:solidFill>
                <a:latin typeface="Roboto"/>
                <a:ea typeface="Roboto"/>
                <a:cs typeface="Roboto"/>
                <a:sym typeface="Roboto"/>
              </a:rPr>
              <a:t>Explanation: 02</a:t>
            </a:r>
            <a:endParaRPr b="1" sz="2000">
              <a:solidFill>
                <a:srgbClr val="8182EF"/>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1e9dd8e0edc_0_0"/>
          <p:cNvSpPr txBox="1"/>
          <p:nvPr/>
        </p:nvSpPr>
        <p:spPr>
          <a:xfrm>
            <a:off x="722375" y="1435600"/>
            <a:ext cx="8092800" cy="37659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400"/>
              <a:buFont typeface="Arial"/>
              <a:buNone/>
            </a:pPr>
            <a:r>
              <a:rPr b="0" i="0" lang="en" sz="1600" u="none" cap="none" strike="noStrike">
                <a:solidFill>
                  <a:schemeClr val="dk1"/>
                </a:solidFill>
                <a:highlight>
                  <a:schemeClr val="lt1"/>
                </a:highlight>
                <a:latin typeface="Roboto"/>
                <a:ea typeface="Roboto"/>
                <a:cs typeface="Roboto"/>
                <a:sym typeface="Roboto"/>
              </a:rPr>
              <a:t>Two trains start at the same time from two stations and proceed towards each other at the rate of 20 km/hr and 25 km/hr respectively. When they meet, it is found that one train has traveled 80 km more than the other. Find the distance between the two stations.</a:t>
            </a:r>
            <a:endParaRPr b="0" i="0" sz="1600" u="none" cap="none" strike="noStrike">
              <a:solidFill>
                <a:schemeClr val="dk1"/>
              </a:solidFill>
              <a:highlight>
                <a:schemeClr val="lt1"/>
              </a:highlight>
              <a:latin typeface="Roboto"/>
              <a:ea typeface="Roboto"/>
              <a:cs typeface="Roboto"/>
              <a:sym typeface="Roboto"/>
            </a:endParaRPr>
          </a:p>
          <a:p>
            <a:pPr indent="0" lvl="0" marL="0" marR="0" rtl="0" algn="l">
              <a:lnSpc>
                <a:spcPct val="150000"/>
              </a:lnSpc>
              <a:spcBef>
                <a:spcPts val="0"/>
              </a:spcBef>
              <a:spcAft>
                <a:spcPts val="0"/>
              </a:spcAft>
              <a:buClr>
                <a:schemeClr val="dk1"/>
              </a:buClr>
              <a:buSzPts val="1400"/>
              <a:buFont typeface="Arial"/>
              <a:buNone/>
            </a:pPr>
            <a:r>
              <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720 km</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80 km</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780 km</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90 km</a:t>
            </a:r>
            <a:endParaRPr b="0" i="0" sz="1600" u="none" cap="none" strike="noStrike">
              <a:solidFill>
                <a:schemeClr val="dk1"/>
              </a:solidFill>
              <a:highlight>
                <a:schemeClr val="lt1"/>
              </a:highlight>
              <a:latin typeface="Roboto"/>
              <a:ea typeface="Roboto"/>
              <a:cs typeface="Roboto"/>
              <a:sym typeface="Roboto"/>
            </a:endParaRPr>
          </a:p>
          <a:p>
            <a:pPr indent="0" lvl="0" marL="0" marR="0" rtl="0" algn="l">
              <a:lnSpc>
                <a:spcPct val="150000"/>
              </a:lnSpc>
              <a:spcBef>
                <a:spcPts val="80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sp>
        <p:nvSpPr>
          <p:cNvPr id="121" name="Google Shape;121;g1e9dd8e0edc_0_0"/>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Roboto"/>
                <a:ea typeface="Roboto"/>
                <a:cs typeface="Roboto"/>
                <a:sym typeface="Roboto"/>
              </a:rPr>
              <a:t>Answer:A  </a:t>
            </a:r>
            <a:endParaRPr b="1" i="0" sz="1400" u="none" cap="none" strike="noStrike">
              <a:solidFill>
                <a:srgbClr val="000000"/>
              </a:solidFill>
              <a:latin typeface="Roboto"/>
              <a:ea typeface="Roboto"/>
              <a:cs typeface="Roboto"/>
              <a:sym typeface="Roboto"/>
            </a:endParaRPr>
          </a:p>
        </p:txBody>
      </p:sp>
      <p:sp>
        <p:nvSpPr>
          <p:cNvPr id="122" name="Google Shape;122;g1e9dd8e0edc_0_0"/>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8182EF"/>
                </a:solidFill>
                <a:latin typeface="Roboto"/>
                <a:ea typeface="Roboto"/>
                <a:cs typeface="Roboto"/>
                <a:sym typeface="Roboto"/>
              </a:rPr>
              <a:t>Question: 03</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xEl>
                                              <p:pRg end="0" st="0"/>
                                            </p:txEl>
                                          </p:spTgt>
                                        </p:tgtEl>
                                        <p:attrNameLst>
                                          <p:attrName>style.visibility</p:attrName>
                                        </p:attrNameLst>
                                      </p:cBhvr>
                                      <p:to>
                                        <p:strVal val="visible"/>
                                      </p:to>
                                    </p:set>
                                    <p:animEffect filter="fade" transition="in">
                                      <p:cBhvr>
                                        <p:cTn dur="1000"/>
                                        <p:tgtEl>
                                          <p:spTgt spid="12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xEl>
                                              <p:pRg end="1" st="1"/>
                                            </p:txEl>
                                          </p:spTgt>
                                        </p:tgtEl>
                                        <p:attrNameLst>
                                          <p:attrName>style.visibility</p:attrName>
                                        </p:attrNameLst>
                                      </p:cBhvr>
                                      <p:to>
                                        <p:strVal val="visible"/>
                                      </p:to>
                                    </p:set>
                                    <p:animEffect filter="fade" transition="in">
                                      <p:cBhvr>
                                        <p:cTn dur="1000"/>
                                        <p:tgtEl>
                                          <p:spTgt spid="12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xEl>
                                              <p:pRg end="2" st="2"/>
                                            </p:txEl>
                                          </p:spTgt>
                                        </p:tgtEl>
                                        <p:attrNameLst>
                                          <p:attrName>style.visibility</p:attrName>
                                        </p:attrNameLst>
                                      </p:cBhvr>
                                      <p:to>
                                        <p:strVal val="visible"/>
                                      </p:to>
                                    </p:set>
                                    <p:animEffect filter="fade" transition="in">
                                      <p:cBhvr>
                                        <p:cTn dur="1000"/>
                                        <p:tgtEl>
                                          <p:spTgt spid="12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xEl>
                                              <p:pRg end="3" st="3"/>
                                            </p:txEl>
                                          </p:spTgt>
                                        </p:tgtEl>
                                        <p:attrNameLst>
                                          <p:attrName>style.visibility</p:attrName>
                                        </p:attrNameLst>
                                      </p:cBhvr>
                                      <p:to>
                                        <p:strVal val="visible"/>
                                      </p:to>
                                    </p:set>
                                    <p:animEffect filter="fade" transition="in">
                                      <p:cBhvr>
                                        <p:cTn dur="1000"/>
                                        <p:tgtEl>
                                          <p:spTgt spid="12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xEl>
                                              <p:pRg end="4" st="4"/>
                                            </p:txEl>
                                          </p:spTgt>
                                        </p:tgtEl>
                                        <p:attrNameLst>
                                          <p:attrName>style.visibility</p:attrName>
                                        </p:attrNameLst>
                                      </p:cBhvr>
                                      <p:to>
                                        <p:strVal val="visible"/>
                                      </p:to>
                                    </p:set>
                                    <p:animEffect filter="fade" transition="in">
                                      <p:cBhvr>
                                        <p:cTn dur="1000"/>
                                        <p:tgtEl>
                                          <p:spTgt spid="12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xEl>
                                              <p:pRg end="5" st="5"/>
                                            </p:txEl>
                                          </p:spTgt>
                                        </p:tgtEl>
                                        <p:attrNameLst>
                                          <p:attrName>style.visibility</p:attrName>
                                        </p:attrNameLst>
                                      </p:cBhvr>
                                      <p:to>
                                        <p:strVal val="visible"/>
                                      </p:to>
                                    </p:set>
                                    <p:animEffect filter="fade" transition="in">
                                      <p:cBhvr>
                                        <p:cTn dur="1000"/>
                                        <p:tgtEl>
                                          <p:spTgt spid="12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xEl>
                                              <p:pRg end="6" st="6"/>
                                            </p:txEl>
                                          </p:spTgt>
                                        </p:tgtEl>
                                        <p:attrNameLst>
                                          <p:attrName>style.visibility</p:attrName>
                                        </p:attrNameLst>
                                      </p:cBhvr>
                                      <p:to>
                                        <p:strVal val="visible"/>
                                      </p:to>
                                    </p:set>
                                    <p:animEffect filter="fade" transition="in">
                                      <p:cBhvr>
                                        <p:cTn dur="1000"/>
                                        <p:tgtEl>
                                          <p:spTgt spid="12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
                                        </p:tgtEl>
                                        <p:attrNameLst>
                                          <p:attrName>style.visibility</p:attrName>
                                        </p:attrNameLst>
                                      </p:cBhvr>
                                      <p:to>
                                        <p:strVal val="visible"/>
                                      </p:to>
                                    </p:set>
                                    <p:animEffect filter="fade" transition="in">
                                      <p:cBhvr>
                                        <p:cTn dur="1000"/>
                                        <p:tgtEl>
                                          <p:spTgt spid="1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6" name="Shape 126"/>
        <p:cNvGrpSpPr/>
        <p:nvPr/>
      </p:nvGrpSpPr>
      <p:grpSpPr>
        <a:xfrm>
          <a:off x="0" y="0"/>
          <a:ext cx="0" cy="0"/>
          <a:chOff x="0" y="0"/>
          <a:chExt cx="0" cy="0"/>
        </a:xfrm>
      </p:grpSpPr>
      <p:sp>
        <p:nvSpPr>
          <p:cNvPr id="127" name="Google Shape;127;g1e9dd8e0edc_0_8"/>
          <p:cNvSpPr txBox="1"/>
          <p:nvPr/>
        </p:nvSpPr>
        <p:spPr>
          <a:xfrm>
            <a:off x="722375" y="1435599"/>
            <a:ext cx="8172600" cy="1262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rgbClr val="4C4C4C"/>
                </a:solidFill>
                <a:highlight>
                  <a:schemeClr val="lt1"/>
                </a:highlight>
                <a:latin typeface="Roboto"/>
                <a:ea typeface="Roboto"/>
                <a:cs typeface="Roboto"/>
                <a:sym typeface="Roboto"/>
              </a:rPr>
              <a:t>In one hour, one train travels 5 km more than the other. The trains meet in 80/5 = 16 hours.</a:t>
            </a:r>
            <a:endParaRPr b="0" i="0" sz="1400" u="none" cap="none" strike="noStrike">
              <a:solidFill>
                <a:srgbClr val="4C4C4C"/>
              </a:solidFill>
              <a:highlight>
                <a:schemeClr val="lt1"/>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100"/>
              <a:buFont typeface="Arial"/>
              <a:buNone/>
            </a:pPr>
            <a:r>
              <a:rPr b="0" i="0" lang="en" sz="1400" u="none" cap="none" strike="noStrike">
                <a:solidFill>
                  <a:srgbClr val="4C4C4C"/>
                </a:solidFill>
                <a:highlight>
                  <a:schemeClr val="lt1"/>
                </a:highlight>
                <a:latin typeface="Roboto"/>
                <a:ea typeface="Roboto"/>
                <a:cs typeface="Roboto"/>
                <a:sym typeface="Roboto"/>
              </a:rPr>
              <a:t>Relative Speed= 20 + 25 =45</a:t>
            </a:r>
            <a:endParaRPr b="0" i="0" sz="1400" u="none" cap="none" strike="noStrike">
              <a:solidFill>
                <a:srgbClr val="4C4C4C"/>
              </a:solidFill>
              <a:highlight>
                <a:schemeClr val="lt1"/>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100"/>
              <a:buFont typeface="Arial"/>
              <a:buNone/>
            </a:pPr>
            <a:r>
              <a:rPr b="0" i="0" lang="en" sz="1400" u="none" cap="none" strike="noStrike">
                <a:solidFill>
                  <a:srgbClr val="4C4C4C"/>
                </a:solidFill>
                <a:highlight>
                  <a:schemeClr val="lt1"/>
                </a:highlight>
                <a:latin typeface="Roboto"/>
                <a:ea typeface="Roboto"/>
                <a:cs typeface="Roboto"/>
                <a:sym typeface="Roboto"/>
              </a:rPr>
              <a:t>Therefore, the distance = (45) x 16 = 720 km.</a:t>
            </a:r>
            <a:endParaRPr b="0" i="0" sz="1400" u="none" cap="none" strike="noStrike">
              <a:solidFill>
                <a:srgbClr val="4C4C4C"/>
              </a:solidFill>
              <a:highlight>
                <a:schemeClr val="lt1"/>
              </a:highlight>
              <a:latin typeface="Roboto"/>
              <a:ea typeface="Roboto"/>
              <a:cs typeface="Roboto"/>
              <a:sym typeface="Roboto"/>
            </a:endParaRPr>
          </a:p>
          <a:p>
            <a:pPr indent="0" lvl="0" marL="0" marR="0" rtl="0" algn="l">
              <a:lnSpc>
                <a:spcPct val="150000"/>
              </a:lnSpc>
              <a:spcBef>
                <a:spcPts val="80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128" name="Google Shape;128;g1e9dd8e0edc_0_8"/>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8182EF"/>
                </a:solidFill>
                <a:latin typeface="Roboto"/>
                <a:ea typeface="Roboto"/>
                <a:cs typeface="Roboto"/>
                <a:sym typeface="Roboto"/>
              </a:rPr>
              <a:t>Explanation: 03</a:t>
            </a:r>
            <a:endParaRPr b="1" sz="2000">
              <a:solidFill>
                <a:srgbClr val="8182EF"/>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nvSpPr>
        <p:spPr>
          <a:xfrm>
            <a:off x="722375" y="1435600"/>
            <a:ext cx="8092800" cy="57567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400"/>
              <a:buFont typeface="Arial"/>
              <a:buNone/>
            </a:pPr>
            <a:r>
              <a:rPr b="0" i="0" lang="en" sz="1600" u="none" cap="none" strike="noStrike">
                <a:solidFill>
                  <a:schemeClr val="dk1"/>
                </a:solidFill>
                <a:latin typeface="Roboto"/>
                <a:ea typeface="Roboto"/>
                <a:cs typeface="Roboto"/>
                <a:sym typeface="Roboto"/>
              </a:rPr>
              <a:t>Two trains start at the same time from Aligarh and Delhi and proceed towards eachother at the rate of </a:t>
            </a:r>
            <a:r>
              <a:rPr b="0" i="0" lang="en" sz="1600" u="none" cap="none" strike="noStrike">
                <a:solidFill>
                  <a:schemeClr val="dk1"/>
                </a:solidFill>
                <a:highlight>
                  <a:schemeClr val="lt1"/>
                </a:highlight>
                <a:latin typeface="Roboto"/>
                <a:ea typeface="Roboto"/>
                <a:cs typeface="Roboto"/>
                <a:sym typeface="Roboto"/>
              </a:rPr>
              <a:t>16 km/hr and 21 km/hr respectively. When they meet, it is found that one train has traveled 60 km more than the other. The distance between the two stations is</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80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60 km</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444 km</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5 km</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37 km</a:t>
            </a:r>
            <a:endParaRPr b="0" i="0" sz="1600" u="none" cap="none" strike="noStrike">
              <a:solidFill>
                <a:schemeClr val="dk1"/>
              </a:solidFill>
              <a:highlight>
                <a:schemeClr val="lt1"/>
              </a:highlight>
              <a:latin typeface="Roboto"/>
              <a:ea typeface="Roboto"/>
              <a:cs typeface="Roboto"/>
              <a:sym typeface="Roboto"/>
            </a:endParaRPr>
          </a:p>
          <a:p>
            <a:pPr indent="0" lvl="0" marL="0" marR="0" rtl="0" algn="l">
              <a:lnSpc>
                <a:spcPct val="150000"/>
              </a:lnSpc>
              <a:spcBef>
                <a:spcPts val="800"/>
              </a:spcBef>
              <a:spcAft>
                <a:spcPts val="0"/>
              </a:spcAft>
              <a:buClr>
                <a:schemeClr val="dk1"/>
              </a:buClr>
              <a:buSzPts val="1200"/>
              <a:buFont typeface="Arial"/>
              <a:buNone/>
            </a:pPr>
            <a:r>
              <a:t/>
            </a:r>
            <a:endParaRPr b="0" i="0" sz="1600" u="none" cap="none" strike="noStrike">
              <a:solidFill>
                <a:schemeClr val="dk1"/>
              </a:solidFill>
              <a:highlight>
                <a:schemeClr val="lt1"/>
              </a:highlight>
              <a:latin typeface="Roboto"/>
              <a:ea typeface="Roboto"/>
              <a:cs typeface="Roboto"/>
              <a:sym typeface="Roboto"/>
            </a:endParaRPr>
          </a:p>
          <a:p>
            <a:pPr indent="0" lvl="0" marL="0" marR="0" rtl="0" algn="l">
              <a:lnSpc>
                <a:spcPct val="150000"/>
              </a:lnSpc>
              <a:spcBef>
                <a:spcPts val="800"/>
              </a:spcBef>
              <a:spcAft>
                <a:spcPts val="0"/>
              </a:spcAft>
              <a:buClr>
                <a:schemeClr val="dk1"/>
              </a:buClr>
              <a:buSzPts val="1200"/>
              <a:buFont typeface="Arial"/>
              <a:buNone/>
            </a:pPr>
            <a:r>
              <a:t/>
            </a:r>
            <a:endParaRPr b="0" i="0" sz="1600" u="none" cap="none" strike="noStrike">
              <a:solidFill>
                <a:schemeClr val="dk1"/>
              </a:solidFill>
              <a:highlight>
                <a:schemeClr val="lt1"/>
              </a:highlight>
              <a:latin typeface="Roboto"/>
              <a:ea typeface="Roboto"/>
              <a:cs typeface="Roboto"/>
              <a:sym typeface="Roboto"/>
            </a:endParaRPr>
          </a:p>
          <a:p>
            <a:pPr indent="0" lvl="0" marL="0" marR="0" rtl="0" algn="l">
              <a:lnSpc>
                <a:spcPct val="150000"/>
              </a:lnSpc>
              <a:spcBef>
                <a:spcPts val="800"/>
              </a:spcBef>
              <a:spcAft>
                <a:spcPts val="0"/>
              </a:spcAft>
              <a:buClr>
                <a:schemeClr val="dk1"/>
              </a:buClr>
              <a:buSzPts val="1200"/>
              <a:buFont typeface="Arial"/>
              <a:buNone/>
            </a:pPr>
            <a:r>
              <a:t/>
            </a:r>
            <a:endParaRPr b="0" i="0" sz="1600" u="none" cap="none" strike="noStrike">
              <a:solidFill>
                <a:schemeClr val="dk1"/>
              </a:solidFill>
              <a:highlight>
                <a:schemeClr val="lt1"/>
              </a:highlight>
              <a:latin typeface="Roboto"/>
              <a:ea typeface="Roboto"/>
              <a:cs typeface="Roboto"/>
              <a:sym typeface="Roboto"/>
            </a:endParaRPr>
          </a:p>
          <a:p>
            <a:pPr indent="0" lvl="0" marL="0" marR="0" rtl="0" algn="l">
              <a:lnSpc>
                <a:spcPct val="150000"/>
              </a:lnSpc>
              <a:spcBef>
                <a:spcPts val="800"/>
              </a:spcBef>
              <a:spcAft>
                <a:spcPts val="0"/>
              </a:spcAft>
              <a:buClr>
                <a:schemeClr val="dk1"/>
              </a:buClr>
              <a:buSzPts val="11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400"/>
              <a:buFont typeface="Arial"/>
              <a:buNone/>
            </a:pPr>
            <a:r>
              <a:t/>
            </a:r>
            <a:endParaRPr b="0" i="0" sz="1600" u="none" cap="none" strike="noStrike">
              <a:solidFill>
                <a:schemeClr val="dk1"/>
              </a:solidFill>
              <a:latin typeface="Roboto"/>
              <a:ea typeface="Roboto"/>
              <a:cs typeface="Roboto"/>
              <a:sym typeface="Roboto"/>
            </a:endParaRPr>
          </a:p>
          <a:p>
            <a:pPr indent="0" lvl="0" marL="0" marR="0" rtl="0" algn="l">
              <a:lnSpc>
                <a:spcPct val="150000"/>
              </a:lnSpc>
              <a:spcBef>
                <a:spcPts val="80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sp>
        <p:nvSpPr>
          <p:cNvPr id="134" name="Google Shape;134;p10"/>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Roboto"/>
                <a:ea typeface="Roboto"/>
                <a:cs typeface="Roboto"/>
                <a:sym typeface="Roboto"/>
              </a:rPr>
              <a:t>Answer:B  </a:t>
            </a:r>
            <a:endParaRPr b="1" i="0" sz="1400" u="none" cap="none" strike="noStrike">
              <a:solidFill>
                <a:srgbClr val="000000"/>
              </a:solidFill>
              <a:latin typeface="Roboto"/>
              <a:ea typeface="Roboto"/>
              <a:cs typeface="Roboto"/>
              <a:sym typeface="Roboto"/>
            </a:endParaRPr>
          </a:p>
        </p:txBody>
      </p:sp>
      <p:sp>
        <p:nvSpPr>
          <p:cNvPr id="135" name="Google Shape;135;p10"/>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8182EF"/>
                </a:solidFill>
                <a:latin typeface="Roboto"/>
                <a:ea typeface="Roboto"/>
                <a:cs typeface="Roboto"/>
                <a:sym typeface="Roboto"/>
              </a:rPr>
              <a:t>Question: 04</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0" st="0"/>
                                            </p:txEl>
                                          </p:spTgt>
                                        </p:tgtEl>
                                        <p:attrNameLst>
                                          <p:attrName>style.visibility</p:attrName>
                                        </p:attrNameLst>
                                      </p:cBhvr>
                                      <p:to>
                                        <p:strVal val="visible"/>
                                      </p:to>
                                    </p:set>
                                    <p:animEffect filter="fade" transition="in">
                                      <p:cBhvr>
                                        <p:cTn dur="1000"/>
                                        <p:tgtEl>
                                          <p:spTgt spid="13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1" st="1"/>
                                            </p:txEl>
                                          </p:spTgt>
                                        </p:tgtEl>
                                        <p:attrNameLst>
                                          <p:attrName>style.visibility</p:attrName>
                                        </p:attrNameLst>
                                      </p:cBhvr>
                                      <p:to>
                                        <p:strVal val="visible"/>
                                      </p:to>
                                    </p:set>
                                    <p:animEffect filter="fade" transition="in">
                                      <p:cBhvr>
                                        <p:cTn dur="1000"/>
                                        <p:tgtEl>
                                          <p:spTgt spid="13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2" st="2"/>
                                            </p:txEl>
                                          </p:spTgt>
                                        </p:tgtEl>
                                        <p:attrNameLst>
                                          <p:attrName>style.visibility</p:attrName>
                                        </p:attrNameLst>
                                      </p:cBhvr>
                                      <p:to>
                                        <p:strVal val="visible"/>
                                      </p:to>
                                    </p:set>
                                    <p:animEffect filter="fade" transition="in">
                                      <p:cBhvr>
                                        <p:cTn dur="1000"/>
                                        <p:tgtEl>
                                          <p:spTgt spid="13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3" st="3"/>
                                            </p:txEl>
                                          </p:spTgt>
                                        </p:tgtEl>
                                        <p:attrNameLst>
                                          <p:attrName>style.visibility</p:attrName>
                                        </p:attrNameLst>
                                      </p:cBhvr>
                                      <p:to>
                                        <p:strVal val="visible"/>
                                      </p:to>
                                    </p:set>
                                    <p:animEffect filter="fade" transition="in">
                                      <p:cBhvr>
                                        <p:cTn dur="1000"/>
                                        <p:tgtEl>
                                          <p:spTgt spid="13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4" st="4"/>
                                            </p:txEl>
                                          </p:spTgt>
                                        </p:tgtEl>
                                        <p:attrNameLst>
                                          <p:attrName>style.visibility</p:attrName>
                                        </p:attrNameLst>
                                      </p:cBhvr>
                                      <p:to>
                                        <p:strVal val="visible"/>
                                      </p:to>
                                    </p:set>
                                    <p:animEffect filter="fade" transition="in">
                                      <p:cBhvr>
                                        <p:cTn dur="1000"/>
                                        <p:tgtEl>
                                          <p:spTgt spid="13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5" st="5"/>
                                            </p:txEl>
                                          </p:spTgt>
                                        </p:tgtEl>
                                        <p:attrNameLst>
                                          <p:attrName>style.visibility</p:attrName>
                                        </p:attrNameLst>
                                      </p:cBhvr>
                                      <p:to>
                                        <p:strVal val="visible"/>
                                      </p:to>
                                    </p:set>
                                    <p:animEffect filter="fade" transition="in">
                                      <p:cBhvr>
                                        <p:cTn dur="1000"/>
                                        <p:tgtEl>
                                          <p:spTgt spid="13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6" st="6"/>
                                            </p:txEl>
                                          </p:spTgt>
                                        </p:tgtEl>
                                        <p:attrNameLst>
                                          <p:attrName>style.visibility</p:attrName>
                                        </p:attrNameLst>
                                      </p:cBhvr>
                                      <p:to>
                                        <p:strVal val="visible"/>
                                      </p:to>
                                    </p:set>
                                    <p:animEffect filter="fade" transition="in">
                                      <p:cBhvr>
                                        <p:cTn dur="1000"/>
                                        <p:tgtEl>
                                          <p:spTgt spid="13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7" st="7"/>
                                            </p:txEl>
                                          </p:spTgt>
                                        </p:tgtEl>
                                        <p:attrNameLst>
                                          <p:attrName>style.visibility</p:attrName>
                                        </p:attrNameLst>
                                      </p:cBhvr>
                                      <p:to>
                                        <p:strVal val="visible"/>
                                      </p:to>
                                    </p:set>
                                    <p:animEffect filter="fade" transition="in">
                                      <p:cBhvr>
                                        <p:cTn dur="1000"/>
                                        <p:tgtEl>
                                          <p:spTgt spid="13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8" st="8"/>
                                            </p:txEl>
                                          </p:spTgt>
                                        </p:tgtEl>
                                        <p:attrNameLst>
                                          <p:attrName>style.visibility</p:attrName>
                                        </p:attrNameLst>
                                      </p:cBhvr>
                                      <p:to>
                                        <p:strVal val="visible"/>
                                      </p:to>
                                    </p:set>
                                    <p:animEffect filter="fade" transition="in">
                                      <p:cBhvr>
                                        <p:cTn dur="1000"/>
                                        <p:tgtEl>
                                          <p:spTgt spid="13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9" st="9"/>
                                            </p:txEl>
                                          </p:spTgt>
                                        </p:tgtEl>
                                        <p:attrNameLst>
                                          <p:attrName>style.visibility</p:attrName>
                                        </p:attrNameLst>
                                      </p:cBhvr>
                                      <p:to>
                                        <p:strVal val="visible"/>
                                      </p:to>
                                    </p:set>
                                    <p:animEffect filter="fade" transition="in">
                                      <p:cBhvr>
                                        <p:cTn dur="1000"/>
                                        <p:tgtEl>
                                          <p:spTgt spid="13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xEl>
                                              <p:pRg end="10" st="10"/>
                                            </p:txEl>
                                          </p:spTgt>
                                        </p:tgtEl>
                                        <p:attrNameLst>
                                          <p:attrName>style.visibility</p:attrName>
                                        </p:attrNameLst>
                                      </p:cBhvr>
                                      <p:to>
                                        <p:strVal val="visible"/>
                                      </p:to>
                                    </p:set>
                                    <p:animEffect filter="fade" transition="in">
                                      <p:cBhvr>
                                        <p:cTn dur="1000"/>
                                        <p:tgtEl>
                                          <p:spTgt spid="133">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gtEl>
                                        <p:attrNameLst>
                                          <p:attrName>style.visibility</p:attrName>
                                        </p:attrNameLst>
                                      </p:cBhvr>
                                      <p:to>
                                        <p:strVal val="visible"/>
                                      </p:to>
                                    </p:set>
                                    <p:animEffect filter="fade" transition="in">
                                      <p:cBhvr>
                                        <p:cTn dur="1000"/>
                                        <p:tgtEl>
                                          <p:spTgt spid="1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39" name="Shape 139"/>
        <p:cNvGrpSpPr/>
        <p:nvPr/>
      </p:nvGrpSpPr>
      <p:grpSpPr>
        <a:xfrm>
          <a:off x="0" y="0"/>
          <a:ext cx="0" cy="0"/>
          <a:chOff x="0" y="0"/>
          <a:chExt cx="0" cy="0"/>
        </a:xfrm>
      </p:grpSpPr>
      <p:sp>
        <p:nvSpPr>
          <p:cNvPr id="140" name="Google Shape;140;p11"/>
          <p:cNvSpPr txBox="1"/>
          <p:nvPr/>
        </p:nvSpPr>
        <p:spPr>
          <a:xfrm>
            <a:off x="722375" y="1435602"/>
            <a:ext cx="8172600" cy="1580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rgbClr val="4C4C4C"/>
                </a:solidFill>
                <a:highlight>
                  <a:schemeClr val="lt1"/>
                </a:highlight>
                <a:latin typeface="Roboto"/>
                <a:ea typeface="Roboto"/>
                <a:cs typeface="Roboto"/>
                <a:sym typeface="Roboto"/>
              </a:rPr>
              <a:t>Both the trains are coming closer to each other by (21 – 16)</a:t>
            </a:r>
            <a:endParaRPr b="0" i="0" sz="1400" u="none" cap="none" strike="noStrike">
              <a:solidFill>
                <a:srgbClr val="4C4C4C"/>
              </a:solidFill>
              <a:highlight>
                <a:schemeClr val="lt1"/>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400"/>
              <a:buFont typeface="Arial"/>
              <a:buNone/>
            </a:pPr>
            <a:r>
              <a:rPr b="0" i="0" lang="en" sz="1400" u="none" cap="none" strike="noStrike">
                <a:solidFill>
                  <a:srgbClr val="4C4C4C"/>
                </a:solidFill>
                <a:highlight>
                  <a:schemeClr val="lt1"/>
                </a:highlight>
                <a:latin typeface="Roboto"/>
                <a:ea typeface="Roboto"/>
                <a:cs typeface="Roboto"/>
                <a:sym typeface="Roboto"/>
              </a:rPr>
              <a:t> i.e., 5 km every hour.</a:t>
            </a:r>
            <a:endParaRPr b="0" i="0" sz="1400" u="none" cap="none" strike="noStrike">
              <a:solidFill>
                <a:srgbClr val="4C4C4C"/>
              </a:solidFill>
              <a:highlight>
                <a:schemeClr val="lt1"/>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100"/>
              <a:buFont typeface="Arial"/>
              <a:buNone/>
            </a:pPr>
            <a:r>
              <a:rPr b="0" i="0" lang="en" sz="1400" u="none" cap="none" strike="noStrike">
                <a:solidFill>
                  <a:srgbClr val="4C4C4C"/>
                </a:solidFill>
                <a:highlight>
                  <a:schemeClr val="lt1"/>
                </a:highlight>
                <a:latin typeface="Roboto"/>
                <a:ea typeface="Roboto"/>
                <a:cs typeface="Roboto"/>
                <a:sym typeface="Roboto"/>
              </a:rPr>
              <a:t>Relative Speed = (21 + 16) =37</a:t>
            </a:r>
            <a:endParaRPr b="0" i="0" sz="1400" u="none" cap="none" strike="noStrike">
              <a:solidFill>
                <a:srgbClr val="4C4C4C"/>
              </a:solidFill>
              <a:highlight>
                <a:schemeClr val="lt1"/>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100"/>
              <a:buFont typeface="Arial"/>
              <a:buNone/>
            </a:pPr>
            <a:r>
              <a:rPr b="0" i="0" lang="en" sz="1400" u="none" cap="none" strike="noStrike">
                <a:solidFill>
                  <a:srgbClr val="4C4C4C"/>
                </a:solidFill>
                <a:highlight>
                  <a:schemeClr val="lt1"/>
                </a:highlight>
                <a:latin typeface="Roboto"/>
                <a:ea typeface="Roboto"/>
                <a:cs typeface="Roboto"/>
                <a:sym typeface="Roboto"/>
              </a:rPr>
              <a:t>They would meet after 60/5 = 12 hrs. Hence, the distance between the 2 stations = 37 x 12 = 444 km.</a:t>
            </a:r>
            <a:endParaRPr b="0" i="0" sz="1400" u="none" cap="none" strike="noStrike">
              <a:solidFill>
                <a:srgbClr val="4C4C4C"/>
              </a:solidFill>
              <a:highlight>
                <a:schemeClr val="lt1"/>
              </a:highlight>
              <a:latin typeface="Roboto"/>
              <a:ea typeface="Roboto"/>
              <a:cs typeface="Roboto"/>
              <a:sym typeface="Roboto"/>
            </a:endParaRPr>
          </a:p>
          <a:p>
            <a:pPr indent="0" lvl="0" marL="0" marR="0" rtl="0" algn="l">
              <a:lnSpc>
                <a:spcPct val="150000"/>
              </a:lnSpc>
              <a:spcBef>
                <a:spcPts val="80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141" name="Google Shape;141;p11"/>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8182EF"/>
                </a:solidFill>
                <a:latin typeface="Roboto"/>
                <a:ea typeface="Roboto"/>
                <a:cs typeface="Roboto"/>
                <a:sym typeface="Roboto"/>
              </a:rPr>
              <a:t>Explanation: 04</a:t>
            </a:r>
            <a:endParaRPr b="1" sz="2000">
              <a:solidFill>
                <a:srgbClr val="8182EF"/>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2"/>
          <p:cNvSpPr txBox="1"/>
          <p:nvPr/>
        </p:nvSpPr>
        <p:spPr>
          <a:xfrm>
            <a:off x="722375" y="1435601"/>
            <a:ext cx="8092800" cy="31296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400"/>
              <a:buFont typeface="Arial"/>
              <a:buNone/>
            </a:pPr>
            <a:r>
              <a:rPr b="0" i="0" lang="en" sz="1600" u="none" cap="none" strike="noStrike">
                <a:solidFill>
                  <a:schemeClr val="dk1"/>
                </a:solidFill>
                <a:highlight>
                  <a:schemeClr val="lt1"/>
                </a:highlight>
                <a:latin typeface="Roboto"/>
                <a:ea typeface="Roboto"/>
                <a:cs typeface="Roboto"/>
                <a:sym typeface="Roboto"/>
              </a:rPr>
              <a:t>Two boats, traveling at 5 and 10 km per hour, head directly towards each other. They begin at a distance of 20 km from each other. How far apart are they (in km) one minute before they collide? </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80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1/12</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1/16</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1/4</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1/3</a:t>
            </a:r>
            <a:endParaRPr b="0" i="0" sz="1600" u="none" cap="none" strike="noStrike">
              <a:solidFill>
                <a:schemeClr val="dk1"/>
              </a:solidFill>
              <a:highlight>
                <a:schemeClr val="lt1"/>
              </a:highlight>
              <a:latin typeface="Roboto"/>
              <a:ea typeface="Roboto"/>
              <a:cs typeface="Roboto"/>
              <a:sym typeface="Roboto"/>
            </a:endParaRPr>
          </a:p>
          <a:p>
            <a:pPr indent="0" lvl="0" marL="457200" marR="0" rtl="0" algn="l">
              <a:lnSpc>
                <a:spcPct val="150000"/>
              </a:lnSpc>
              <a:spcBef>
                <a:spcPts val="800"/>
              </a:spcBef>
              <a:spcAft>
                <a:spcPts val="0"/>
              </a:spcAft>
              <a:buClr>
                <a:srgbClr val="000000"/>
              </a:buClr>
              <a:buSzPts val="1400"/>
              <a:buFont typeface="Arial"/>
              <a:buNone/>
            </a:pPr>
            <a:r>
              <a:t/>
            </a:r>
            <a:endParaRPr b="0" i="0" sz="1600" u="none" cap="none" strike="noStrike">
              <a:solidFill>
                <a:schemeClr val="dk1"/>
              </a:solidFill>
              <a:latin typeface="Roboto"/>
              <a:ea typeface="Roboto"/>
              <a:cs typeface="Roboto"/>
              <a:sym typeface="Roboto"/>
            </a:endParaRPr>
          </a:p>
        </p:txBody>
      </p:sp>
      <p:sp>
        <p:nvSpPr>
          <p:cNvPr id="147" name="Google Shape;147;p12"/>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Roboto"/>
                <a:ea typeface="Roboto"/>
                <a:cs typeface="Roboto"/>
                <a:sym typeface="Roboto"/>
              </a:rPr>
              <a:t>Answer:C  </a:t>
            </a:r>
            <a:endParaRPr b="1" i="0" sz="1400" u="none" cap="none" strike="noStrike">
              <a:solidFill>
                <a:srgbClr val="000000"/>
              </a:solidFill>
              <a:latin typeface="Roboto"/>
              <a:ea typeface="Roboto"/>
              <a:cs typeface="Roboto"/>
              <a:sym typeface="Roboto"/>
            </a:endParaRPr>
          </a:p>
        </p:txBody>
      </p:sp>
      <p:sp>
        <p:nvSpPr>
          <p:cNvPr id="148" name="Google Shape;148;p12"/>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8182EF"/>
                </a:solidFill>
                <a:latin typeface="Roboto"/>
                <a:ea typeface="Roboto"/>
                <a:cs typeface="Roboto"/>
                <a:sym typeface="Roboto"/>
              </a:rPr>
              <a:t>Question: 05</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0" st="0"/>
                                            </p:txEl>
                                          </p:spTgt>
                                        </p:tgtEl>
                                        <p:attrNameLst>
                                          <p:attrName>style.visibility</p:attrName>
                                        </p:attrNameLst>
                                      </p:cBhvr>
                                      <p:to>
                                        <p:strVal val="visible"/>
                                      </p:to>
                                    </p:set>
                                    <p:animEffect filter="fade" transition="in">
                                      <p:cBhvr>
                                        <p:cTn dur="1000"/>
                                        <p:tgtEl>
                                          <p:spTgt spid="14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1" st="1"/>
                                            </p:txEl>
                                          </p:spTgt>
                                        </p:tgtEl>
                                        <p:attrNameLst>
                                          <p:attrName>style.visibility</p:attrName>
                                        </p:attrNameLst>
                                      </p:cBhvr>
                                      <p:to>
                                        <p:strVal val="visible"/>
                                      </p:to>
                                    </p:set>
                                    <p:animEffect filter="fade" transition="in">
                                      <p:cBhvr>
                                        <p:cTn dur="1000"/>
                                        <p:tgtEl>
                                          <p:spTgt spid="14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2" st="2"/>
                                            </p:txEl>
                                          </p:spTgt>
                                        </p:tgtEl>
                                        <p:attrNameLst>
                                          <p:attrName>style.visibility</p:attrName>
                                        </p:attrNameLst>
                                      </p:cBhvr>
                                      <p:to>
                                        <p:strVal val="visible"/>
                                      </p:to>
                                    </p:set>
                                    <p:animEffect filter="fade" transition="in">
                                      <p:cBhvr>
                                        <p:cTn dur="1000"/>
                                        <p:tgtEl>
                                          <p:spTgt spid="14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3" st="3"/>
                                            </p:txEl>
                                          </p:spTgt>
                                        </p:tgtEl>
                                        <p:attrNameLst>
                                          <p:attrName>style.visibility</p:attrName>
                                        </p:attrNameLst>
                                      </p:cBhvr>
                                      <p:to>
                                        <p:strVal val="visible"/>
                                      </p:to>
                                    </p:set>
                                    <p:animEffect filter="fade" transition="in">
                                      <p:cBhvr>
                                        <p:cTn dur="1000"/>
                                        <p:tgtEl>
                                          <p:spTgt spid="14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4" st="4"/>
                                            </p:txEl>
                                          </p:spTgt>
                                        </p:tgtEl>
                                        <p:attrNameLst>
                                          <p:attrName>style.visibility</p:attrName>
                                        </p:attrNameLst>
                                      </p:cBhvr>
                                      <p:to>
                                        <p:strVal val="visible"/>
                                      </p:to>
                                    </p:set>
                                    <p:animEffect filter="fade" transition="in">
                                      <p:cBhvr>
                                        <p:cTn dur="1000"/>
                                        <p:tgtEl>
                                          <p:spTgt spid="14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
                                            <p:txEl>
                                              <p:pRg end="5" st="5"/>
                                            </p:txEl>
                                          </p:spTgt>
                                        </p:tgtEl>
                                        <p:attrNameLst>
                                          <p:attrName>style.visibility</p:attrName>
                                        </p:attrNameLst>
                                      </p:cBhvr>
                                      <p:to>
                                        <p:strVal val="visible"/>
                                      </p:to>
                                    </p:set>
                                    <p:animEffect filter="fade" transition="in">
                                      <p:cBhvr>
                                        <p:cTn dur="1000"/>
                                        <p:tgtEl>
                                          <p:spTgt spid="14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1000"/>
                                        <p:tgtEl>
                                          <p:spTgt spid="1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2" name="Shape 152"/>
        <p:cNvGrpSpPr/>
        <p:nvPr/>
      </p:nvGrpSpPr>
      <p:grpSpPr>
        <a:xfrm>
          <a:off x="0" y="0"/>
          <a:ext cx="0" cy="0"/>
          <a:chOff x="0" y="0"/>
          <a:chExt cx="0" cy="0"/>
        </a:xfrm>
      </p:grpSpPr>
      <p:sp>
        <p:nvSpPr>
          <p:cNvPr id="153" name="Google Shape;153;p13"/>
          <p:cNvSpPr txBox="1"/>
          <p:nvPr/>
        </p:nvSpPr>
        <p:spPr>
          <a:xfrm>
            <a:off x="722375" y="1435601"/>
            <a:ext cx="8172600" cy="193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rgbClr val="4C4C4C"/>
                </a:solidFill>
                <a:highlight>
                  <a:schemeClr val="lt1"/>
                </a:highlight>
                <a:latin typeface="Roboto"/>
                <a:ea typeface="Roboto"/>
                <a:cs typeface="Roboto"/>
                <a:sym typeface="Roboto"/>
              </a:rPr>
              <a:t>Relative speed of two boats =5+10=15 km/hr</a:t>
            </a:r>
            <a:endParaRPr b="0" i="0" sz="1400" u="none" cap="none" strike="noStrike">
              <a:solidFill>
                <a:srgbClr val="4C4C4C"/>
              </a:solidFill>
              <a:highlight>
                <a:schemeClr val="lt1"/>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100"/>
              <a:buFont typeface="Arial"/>
              <a:buNone/>
            </a:pPr>
            <a:r>
              <a:rPr b="0" i="0" lang="en" sz="1400" u="none" cap="none" strike="noStrike">
                <a:solidFill>
                  <a:srgbClr val="4C4C4C"/>
                </a:solidFill>
                <a:highlight>
                  <a:schemeClr val="lt1"/>
                </a:highlight>
                <a:latin typeface="Roboto"/>
                <a:ea typeface="Roboto"/>
                <a:cs typeface="Roboto"/>
                <a:sym typeface="Roboto"/>
              </a:rPr>
              <a:t> i.e. in 60 min they cover (together) = 15 km</a:t>
            </a:r>
            <a:endParaRPr b="0" i="0" sz="1400" u="none" cap="none" strike="noStrike">
              <a:solidFill>
                <a:srgbClr val="4C4C4C"/>
              </a:solidFill>
              <a:highlight>
                <a:schemeClr val="lt1"/>
              </a:highlight>
              <a:latin typeface="Roboto"/>
              <a:ea typeface="Roboto"/>
              <a:cs typeface="Roboto"/>
              <a:sym typeface="Roboto"/>
            </a:endParaRPr>
          </a:p>
          <a:p>
            <a:pPr indent="0" lvl="0" marL="25400" marR="25400" rtl="0" algn="l">
              <a:lnSpc>
                <a:spcPct val="100000"/>
              </a:lnSpc>
              <a:spcBef>
                <a:spcPts val="800"/>
              </a:spcBef>
              <a:spcAft>
                <a:spcPts val="0"/>
              </a:spcAft>
              <a:buClr>
                <a:schemeClr val="dk1"/>
              </a:buClr>
              <a:buSzPts val="1400"/>
              <a:buFont typeface="Arial"/>
              <a:buNone/>
            </a:pPr>
            <a:r>
              <a:rPr b="0" i="0" lang="en" sz="1400" u="none" cap="none" strike="noStrike">
                <a:solidFill>
                  <a:srgbClr val="4C4C4C"/>
                </a:solidFill>
                <a:highlight>
                  <a:schemeClr val="lt1"/>
                </a:highlight>
                <a:latin typeface="Roboto"/>
                <a:ea typeface="Roboto"/>
                <a:cs typeface="Roboto"/>
                <a:sym typeface="Roboto"/>
              </a:rPr>
              <a:t>In 1 min they will cover (together) = 15/60</a:t>
            </a:r>
            <a:endParaRPr b="0" i="0" sz="1400" u="none" cap="none" strike="noStrike">
              <a:solidFill>
                <a:srgbClr val="4C4C4C"/>
              </a:solidFill>
              <a:highlight>
                <a:schemeClr val="lt1"/>
              </a:highlight>
              <a:latin typeface="Roboto"/>
              <a:ea typeface="Roboto"/>
              <a:cs typeface="Roboto"/>
              <a:sym typeface="Roboto"/>
            </a:endParaRPr>
          </a:p>
          <a:p>
            <a:pPr indent="0" lvl="0" marL="25400" marR="25400" rtl="0" algn="l">
              <a:lnSpc>
                <a:spcPct val="100000"/>
              </a:lnSpc>
              <a:spcBef>
                <a:spcPts val="800"/>
              </a:spcBef>
              <a:spcAft>
                <a:spcPts val="0"/>
              </a:spcAft>
              <a:buClr>
                <a:schemeClr val="dk1"/>
              </a:buClr>
              <a:buSzPts val="1100"/>
              <a:buFont typeface="Arial"/>
              <a:buNone/>
            </a:pPr>
            <a:r>
              <a:rPr b="0" i="0" lang="en" sz="1400" u="none" cap="none" strike="noStrike">
                <a:solidFill>
                  <a:srgbClr val="4C4C4C"/>
                </a:solidFill>
                <a:highlight>
                  <a:schemeClr val="lt1"/>
                </a:highlight>
                <a:latin typeface="Roboto"/>
                <a:ea typeface="Roboto"/>
                <a:cs typeface="Roboto"/>
                <a:sym typeface="Roboto"/>
              </a:rPr>
              <a:t>                                                      = 1/4 km</a:t>
            </a:r>
            <a:endParaRPr b="0" i="0" sz="1400" u="none" cap="none" strike="noStrike">
              <a:solidFill>
                <a:srgbClr val="4C4C4C"/>
              </a:solidFill>
              <a:highlight>
                <a:schemeClr val="lt1"/>
              </a:highlight>
              <a:latin typeface="Roboto"/>
              <a:ea typeface="Roboto"/>
              <a:cs typeface="Roboto"/>
              <a:sym typeface="Roboto"/>
            </a:endParaRPr>
          </a:p>
          <a:p>
            <a:pPr indent="0" lvl="0" marL="0" marR="0" rtl="0" algn="l">
              <a:lnSpc>
                <a:spcPct val="115000"/>
              </a:lnSpc>
              <a:spcBef>
                <a:spcPts val="800"/>
              </a:spcBef>
              <a:spcAft>
                <a:spcPts val="0"/>
              </a:spcAft>
              <a:buClr>
                <a:schemeClr val="dk1"/>
              </a:buClr>
              <a:buSzPts val="1100"/>
              <a:buFont typeface="Arial"/>
              <a:buNone/>
            </a:pPr>
            <a:r>
              <a:t/>
            </a:r>
            <a:endParaRPr b="0" i="0" sz="1450" u="none" cap="none" strike="noStrike">
              <a:solidFill>
                <a:srgbClr val="4C4C4C"/>
              </a:solidFill>
              <a:highlight>
                <a:schemeClr val="lt1"/>
              </a:highlight>
              <a:latin typeface="Roboto"/>
              <a:ea typeface="Roboto"/>
              <a:cs typeface="Roboto"/>
              <a:sym typeface="Roboto"/>
            </a:endParaRPr>
          </a:p>
          <a:p>
            <a:pPr indent="0" lvl="0" marL="0" marR="0" rtl="0" algn="l">
              <a:lnSpc>
                <a:spcPct val="150000"/>
              </a:lnSpc>
              <a:spcBef>
                <a:spcPts val="80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154" name="Google Shape;154;p13"/>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8182EF"/>
                </a:solidFill>
                <a:latin typeface="Roboto"/>
                <a:ea typeface="Roboto"/>
                <a:cs typeface="Roboto"/>
                <a:sym typeface="Roboto"/>
              </a:rPr>
              <a:t>Explanation: 05</a:t>
            </a:r>
            <a:endParaRPr b="1" sz="2000">
              <a:solidFill>
                <a:srgbClr val="8182EF"/>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4"/>
          <p:cNvSpPr txBox="1"/>
          <p:nvPr/>
        </p:nvSpPr>
        <p:spPr>
          <a:xfrm>
            <a:off x="722375" y="1435601"/>
            <a:ext cx="8092800" cy="2760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400"/>
              <a:buFont typeface="Arial"/>
              <a:buNone/>
            </a:pPr>
            <a:r>
              <a:rPr b="0" i="0" lang="en" sz="1600" u="none" cap="none" strike="noStrike">
                <a:solidFill>
                  <a:schemeClr val="dk1"/>
                </a:solidFill>
                <a:highlight>
                  <a:schemeClr val="lt1"/>
                </a:highlight>
                <a:latin typeface="Roboto"/>
                <a:ea typeface="Roboto"/>
                <a:cs typeface="Roboto"/>
                <a:sym typeface="Roboto"/>
              </a:rPr>
              <a:t>A starts from X at 9:00 am and reaches Y at 1:00 pm. B starts from Y at 9:00 am and reaches X at 3 pm. At what time do the two meet?</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80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11:4 am</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11:44 am</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11.24 am</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11:4 pm</a:t>
            </a:r>
            <a:endParaRPr b="0" i="0" sz="1600" u="none" cap="none" strike="noStrike">
              <a:solidFill>
                <a:schemeClr val="dk1"/>
              </a:solidFill>
              <a:highlight>
                <a:schemeClr val="lt1"/>
              </a:highlight>
              <a:latin typeface="Roboto"/>
              <a:ea typeface="Roboto"/>
              <a:cs typeface="Roboto"/>
              <a:sym typeface="Roboto"/>
            </a:endParaRPr>
          </a:p>
          <a:p>
            <a:pPr indent="0" lvl="0" marL="0" marR="0" rtl="0" algn="l">
              <a:lnSpc>
                <a:spcPct val="150000"/>
              </a:lnSpc>
              <a:spcBef>
                <a:spcPts val="800"/>
              </a:spcBef>
              <a:spcAft>
                <a:spcPts val="0"/>
              </a:spcAft>
              <a:buClr>
                <a:srgbClr val="000000"/>
              </a:buClr>
              <a:buSzPts val="1800"/>
              <a:buFont typeface="Arial"/>
              <a:buNone/>
            </a:pPr>
            <a:r>
              <a:t/>
            </a:r>
            <a:endParaRPr b="0" i="0" sz="1600" u="none" cap="none" strike="noStrike">
              <a:solidFill>
                <a:schemeClr val="dk1"/>
              </a:solidFill>
              <a:latin typeface="Roboto"/>
              <a:ea typeface="Roboto"/>
              <a:cs typeface="Roboto"/>
              <a:sym typeface="Roboto"/>
            </a:endParaRPr>
          </a:p>
        </p:txBody>
      </p:sp>
      <p:sp>
        <p:nvSpPr>
          <p:cNvPr id="160" name="Google Shape;160;p14"/>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Roboto"/>
                <a:ea typeface="Roboto"/>
                <a:cs typeface="Roboto"/>
                <a:sym typeface="Roboto"/>
              </a:rPr>
              <a:t>Answer:C  </a:t>
            </a:r>
            <a:endParaRPr b="1" i="0" sz="1400" u="none" cap="none" strike="noStrike">
              <a:solidFill>
                <a:srgbClr val="000000"/>
              </a:solidFill>
              <a:latin typeface="Roboto"/>
              <a:ea typeface="Roboto"/>
              <a:cs typeface="Roboto"/>
              <a:sym typeface="Roboto"/>
            </a:endParaRPr>
          </a:p>
        </p:txBody>
      </p:sp>
      <p:sp>
        <p:nvSpPr>
          <p:cNvPr id="161" name="Google Shape;161;p14"/>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8182EF"/>
                </a:solidFill>
                <a:latin typeface="Roboto"/>
                <a:ea typeface="Roboto"/>
                <a:cs typeface="Roboto"/>
                <a:sym typeface="Roboto"/>
              </a:rPr>
              <a:t>Question: 06</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xEl>
                                              <p:pRg end="0" st="0"/>
                                            </p:txEl>
                                          </p:spTgt>
                                        </p:tgtEl>
                                        <p:attrNameLst>
                                          <p:attrName>style.visibility</p:attrName>
                                        </p:attrNameLst>
                                      </p:cBhvr>
                                      <p:to>
                                        <p:strVal val="visible"/>
                                      </p:to>
                                    </p:set>
                                    <p:animEffect filter="fade" transition="in">
                                      <p:cBhvr>
                                        <p:cTn dur="1000"/>
                                        <p:tgtEl>
                                          <p:spTgt spid="15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xEl>
                                              <p:pRg end="1" st="1"/>
                                            </p:txEl>
                                          </p:spTgt>
                                        </p:tgtEl>
                                        <p:attrNameLst>
                                          <p:attrName>style.visibility</p:attrName>
                                        </p:attrNameLst>
                                      </p:cBhvr>
                                      <p:to>
                                        <p:strVal val="visible"/>
                                      </p:to>
                                    </p:set>
                                    <p:animEffect filter="fade" transition="in">
                                      <p:cBhvr>
                                        <p:cTn dur="1000"/>
                                        <p:tgtEl>
                                          <p:spTgt spid="15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xEl>
                                              <p:pRg end="2" st="2"/>
                                            </p:txEl>
                                          </p:spTgt>
                                        </p:tgtEl>
                                        <p:attrNameLst>
                                          <p:attrName>style.visibility</p:attrName>
                                        </p:attrNameLst>
                                      </p:cBhvr>
                                      <p:to>
                                        <p:strVal val="visible"/>
                                      </p:to>
                                    </p:set>
                                    <p:animEffect filter="fade" transition="in">
                                      <p:cBhvr>
                                        <p:cTn dur="1000"/>
                                        <p:tgtEl>
                                          <p:spTgt spid="15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xEl>
                                              <p:pRg end="3" st="3"/>
                                            </p:txEl>
                                          </p:spTgt>
                                        </p:tgtEl>
                                        <p:attrNameLst>
                                          <p:attrName>style.visibility</p:attrName>
                                        </p:attrNameLst>
                                      </p:cBhvr>
                                      <p:to>
                                        <p:strVal val="visible"/>
                                      </p:to>
                                    </p:set>
                                    <p:animEffect filter="fade" transition="in">
                                      <p:cBhvr>
                                        <p:cTn dur="1000"/>
                                        <p:tgtEl>
                                          <p:spTgt spid="15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xEl>
                                              <p:pRg end="4" st="4"/>
                                            </p:txEl>
                                          </p:spTgt>
                                        </p:tgtEl>
                                        <p:attrNameLst>
                                          <p:attrName>style.visibility</p:attrName>
                                        </p:attrNameLst>
                                      </p:cBhvr>
                                      <p:to>
                                        <p:strVal val="visible"/>
                                      </p:to>
                                    </p:set>
                                    <p:animEffect filter="fade" transition="in">
                                      <p:cBhvr>
                                        <p:cTn dur="1000"/>
                                        <p:tgtEl>
                                          <p:spTgt spid="15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xEl>
                                              <p:pRg end="5" st="5"/>
                                            </p:txEl>
                                          </p:spTgt>
                                        </p:tgtEl>
                                        <p:attrNameLst>
                                          <p:attrName>style.visibility</p:attrName>
                                        </p:attrNameLst>
                                      </p:cBhvr>
                                      <p:to>
                                        <p:strVal val="visible"/>
                                      </p:to>
                                    </p:set>
                                    <p:animEffect filter="fade" transition="in">
                                      <p:cBhvr>
                                        <p:cTn dur="1000"/>
                                        <p:tgtEl>
                                          <p:spTgt spid="15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1000"/>
                                        <p:tgtEl>
                                          <p:spTgt spid="1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5" name="Shape 165"/>
        <p:cNvGrpSpPr/>
        <p:nvPr/>
      </p:nvGrpSpPr>
      <p:grpSpPr>
        <a:xfrm>
          <a:off x="0" y="0"/>
          <a:ext cx="0" cy="0"/>
          <a:chOff x="0" y="0"/>
          <a:chExt cx="0" cy="0"/>
        </a:xfrm>
      </p:grpSpPr>
      <p:sp>
        <p:nvSpPr>
          <p:cNvPr id="166" name="Google Shape;166;p15"/>
          <p:cNvSpPr txBox="1"/>
          <p:nvPr/>
        </p:nvSpPr>
        <p:spPr>
          <a:xfrm>
            <a:off x="722375" y="1435602"/>
            <a:ext cx="8172600" cy="2531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rgbClr val="4C4C4C"/>
                </a:solidFill>
                <a:highlight>
                  <a:schemeClr val="lt1"/>
                </a:highlight>
                <a:latin typeface="Roboto"/>
                <a:ea typeface="Roboto"/>
                <a:cs typeface="Roboto"/>
                <a:sym typeface="Roboto"/>
              </a:rPr>
              <a:t>assuming the distance to be the lcm of the time taken by them.</a:t>
            </a:r>
            <a:endParaRPr b="0" i="0" sz="1400" u="none" cap="none" strike="noStrike">
              <a:solidFill>
                <a:srgbClr val="4C4C4C"/>
              </a:solidFill>
              <a:highlight>
                <a:schemeClr val="lt1"/>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100"/>
              <a:buFont typeface="Arial"/>
              <a:buNone/>
            </a:pPr>
            <a:r>
              <a:rPr b="0" i="0" lang="en" sz="1400" u="none" cap="none" strike="noStrike">
                <a:solidFill>
                  <a:srgbClr val="4C4C4C"/>
                </a:solidFill>
                <a:highlight>
                  <a:schemeClr val="lt1"/>
                </a:highlight>
                <a:latin typeface="Roboto"/>
                <a:ea typeface="Roboto"/>
                <a:cs typeface="Roboto"/>
                <a:sym typeface="Roboto"/>
              </a:rPr>
              <a:t>i.e. distance = LCM (4, 6) = 12 km.</a:t>
            </a:r>
            <a:endParaRPr b="0" i="0" sz="1400" u="none" cap="none" strike="noStrike">
              <a:solidFill>
                <a:srgbClr val="4C4C4C"/>
              </a:solidFill>
              <a:highlight>
                <a:schemeClr val="lt1"/>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400"/>
              <a:buFont typeface="Arial"/>
              <a:buNone/>
            </a:pPr>
            <a:r>
              <a:rPr b="0" i="0" lang="en" sz="1400" u="none" cap="none" strike="noStrike">
                <a:solidFill>
                  <a:srgbClr val="4C4C4C"/>
                </a:solidFill>
                <a:highlight>
                  <a:schemeClr val="lt1"/>
                </a:highlight>
                <a:latin typeface="Roboto"/>
                <a:ea typeface="Roboto"/>
                <a:cs typeface="Roboto"/>
                <a:sym typeface="Roboto"/>
              </a:rPr>
              <a:t>So, their speeds will be 12/4=3 kmph</a:t>
            </a:r>
            <a:endParaRPr b="0" i="0" sz="1400" u="none" cap="none" strike="noStrike">
              <a:solidFill>
                <a:srgbClr val="4C4C4C"/>
              </a:solidFill>
              <a:highlight>
                <a:schemeClr val="lt1"/>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100"/>
              <a:buFont typeface="Arial"/>
              <a:buNone/>
            </a:pPr>
            <a:r>
              <a:rPr b="0" i="0" lang="en" sz="1400" u="none" cap="none" strike="noStrike">
                <a:solidFill>
                  <a:srgbClr val="4C4C4C"/>
                </a:solidFill>
                <a:highlight>
                  <a:schemeClr val="lt1"/>
                </a:highlight>
                <a:latin typeface="Roboto"/>
                <a:ea typeface="Roboto"/>
                <a:cs typeface="Roboto"/>
                <a:sym typeface="Roboto"/>
              </a:rPr>
              <a:t>And  12/6 = 2 kmph respectively.</a:t>
            </a:r>
            <a:endParaRPr b="0" i="0" sz="1400" u="none" cap="none" strike="noStrike">
              <a:solidFill>
                <a:srgbClr val="4C4C4C"/>
              </a:solidFill>
              <a:highlight>
                <a:schemeClr val="lt1"/>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100"/>
              <a:buFont typeface="Arial"/>
              <a:buNone/>
            </a:pPr>
            <a:r>
              <a:rPr b="0" i="0" lang="en" sz="1400" u="none" cap="none" strike="noStrike">
                <a:solidFill>
                  <a:srgbClr val="4C4C4C"/>
                </a:solidFill>
                <a:highlight>
                  <a:schemeClr val="lt1"/>
                </a:highlight>
                <a:latin typeface="Roboto"/>
                <a:ea typeface="Roboto"/>
                <a:cs typeface="Roboto"/>
                <a:sym typeface="Roboto"/>
              </a:rPr>
              <a:t>Relative speed = 3+2 = 5 kmph.</a:t>
            </a:r>
            <a:endParaRPr b="0" i="0" sz="1400" u="none" cap="none" strike="noStrike">
              <a:solidFill>
                <a:srgbClr val="4C4C4C"/>
              </a:solidFill>
              <a:highlight>
                <a:schemeClr val="lt1"/>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400"/>
              <a:buFont typeface="Arial"/>
              <a:buNone/>
            </a:pPr>
            <a:r>
              <a:rPr b="0" i="0" lang="en" sz="1400" u="none" cap="none" strike="noStrike">
                <a:solidFill>
                  <a:srgbClr val="4C4C4C"/>
                </a:solidFill>
                <a:highlight>
                  <a:schemeClr val="lt1"/>
                </a:highlight>
                <a:latin typeface="Roboto"/>
                <a:ea typeface="Roboto"/>
                <a:cs typeface="Roboto"/>
                <a:sym typeface="Roboto"/>
              </a:rPr>
              <a:t>Hence, the time taken by them to meet = 12/5 = 2.4 hrs</a:t>
            </a:r>
            <a:endParaRPr b="0" i="0" sz="1400" u="none" cap="none" strike="noStrike">
              <a:solidFill>
                <a:srgbClr val="4C4C4C"/>
              </a:solidFill>
              <a:highlight>
                <a:schemeClr val="lt1"/>
              </a:highlight>
              <a:latin typeface="Roboto"/>
              <a:ea typeface="Roboto"/>
              <a:cs typeface="Roboto"/>
              <a:sym typeface="Roboto"/>
            </a:endParaRPr>
          </a:p>
          <a:p>
            <a:pPr indent="0" lvl="0" marL="0" marR="0" rtl="0" algn="l">
              <a:lnSpc>
                <a:spcPct val="115000"/>
              </a:lnSpc>
              <a:spcBef>
                <a:spcPts val="800"/>
              </a:spcBef>
              <a:spcAft>
                <a:spcPts val="0"/>
              </a:spcAft>
              <a:buClr>
                <a:schemeClr val="dk1"/>
              </a:buClr>
              <a:buSzPts val="1100"/>
              <a:buFont typeface="Arial"/>
              <a:buNone/>
            </a:pPr>
            <a:r>
              <a:t/>
            </a:r>
            <a:endParaRPr b="0" i="0" sz="1200" u="none" cap="none" strike="noStrike">
              <a:solidFill>
                <a:srgbClr val="4C4C4C"/>
              </a:solidFill>
              <a:highlight>
                <a:schemeClr val="lt1"/>
              </a:highlight>
              <a:latin typeface="Roboto"/>
              <a:ea typeface="Roboto"/>
              <a:cs typeface="Roboto"/>
              <a:sym typeface="Roboto"/>
            </a:endParaRPr>
          </a:p>
          <a:p>
            <a:pPr indent="0" lvl="0" marL="0" marR="0" rtl="0" algn="l">
              <a:lnSpc>
                <a:spcPct val="150000"/>
              </a:lnSpc>
              <a:spcBef>
                <a:spcPts val="80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167" name="Google Shape;167;p15"/>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8182EF"/>
                </a:solidFill>
                <a:latin typeface="Roboto"/>
                <a:ea typeface="Roboto"/>
                <a:cs typeface="Roboto"/>
                <a:sym typeface="Roboto"/>
              </a:rPr>
              <a:t>Explanation: 06</a:t>
            </a:r>
            <a:endParaRPr b="1" sz="2000">
              <a:solidFill>
                <a:srgbClr val="8182EF"/>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6"/>
          <p:cNvSpPr txBox="1"/>
          <p:nvPr/>
        </p:nvSpPr>
        <p:spPr>
          <a:xfrm>
            <a:off x="722375" y="1435600"/>
            <a:ext cx="8092800" cy="32940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400"/>
              <a:buFont typeface="Arial"/>
              <a:buNone/>
            </a:pPr>
            <a:r>
              <a:rPr b="0" i="0" lang="en" sz="1600" u="none" cap="none" strike="noStrike">
                <a:solidFill>
                  <a:schemeClr val="dk1"/>
                </a:solidFill>
                <a:highlight>
                  <a:schemeClr val="lt1"/>
                </a:highlight>
                <a:latin typeface="Roboto"/>
                <a:ea typeface="Roboto"/>
                <a:cs typeface="Roboto"/>
                <a:sym typeface="Roboto"/>
              </a:rPr>
              <a:t>Two stations B and M are 465 km distant. A train starts from B towards M at 10 AM with the speed 65 km / hr. Another train leaves from M towards B at 11 AM with the speed 35 km / hr. Find the time when both the trains meet.</a:t>
            </a:r>
            <a:endParaRPr b="0" i="0" sz="1600" u="none" cap="none" strike="noStrike">
              <a:solidFill>
                <a:schemeClr val="dk1"/>
              </a:solidFill>
              <a:highlight>
                <a:schemeClr val="lt1"/>
              </a:highlight>
              <a:latin typeface="Roboto"/>
              <a:ea typeface="Roboto"/>
              <a:cs typeface="Roboto"/>
              <a:sym typeface="Roboto"/>
            </a:endParaRPr>
          </a:p>
          <a:p>
            <a:pPr indent="0" lvl="0" marL="0" marR="0" rtl="0" algn="l">
              <a:lnSpc>
                <a:spcPct val="150000"/>
              </a:lnSpc>
              <a:spcBef>
                <a:spcPts val="0"/>
              </a:spcBef>
              <a:spcAft>
                <a:spcPts val="0"/>
              </a:spcAft>
              <a:buClr>
                <a:schemeClr val="dk1"/>
              </a:buClr>
              <a:buSzPts val="1400"/>
              <a:buFont typeface="Arial"/>
              <a:buNone/>
            </a:pPr>
            <a:r>
              <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2 pm</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3 pm</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8 am</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7 am</a:t>
            </a:r>
            <a:endParaRPr b="0" i="0" sz="1600" u="none" cap="none" strike="noStrike">
              <a:solidFill>
                <a:schemeClr val="dk1"/>
              </a:solidFill>
              <a:highlight>
                <a:schemeClr val="lt1"/>
              </a:highlight>
              <a:latin typeface="Roboto"/>
              <a:ea typeface="Roboto"/>
              <a:cs typeface="Roboto"/>
              <a:sym typeface="Roboto"/>
            </a:endParaRPr>
          </a:p>
          <a:p>
            <a:pPr indent="0" lvl="0" marL="0" marR="0" rtl="0" algn="l">
              <a:lnSpc>
                <a:spcPct val="150000"/>
              </a:lnSpc>
              <a:spcBef>
                <a:spcPts val="0"/>
              </a:spcBef>
              <a:spcAft>
                <a:spcPts val="0"/>
              </a:spcAft>
              <a:buClr>
                <a:srgbClr val="000000"/>
              </a:buClr>
              <a:buSzPts val="1800"/>
              <a:buFont typeface="Arial"/>
              <a:buNone/>
            </a:pPr>
            <a:r>
              <a:t/>
            </a:r>
            <a:endParaRPr b="0" i="0" sz="1600" u="none" cap="none" strike="noStrike">
              <a:solidFill>
                <a:schemeClr val="dk1"/>
              </a:solidFill>
              <a:latin typeface="Roboto"/>
              <a:ea typeface="Roboto"/>
              <a:cs typeface="Roboto"/>
              <a:sym typeface="Roboto"/>
            </a:endParaRPr>
          </a:p>
        </p:txBody>
      </p:sp>
      <p:sp>
        <p:nvSpPr>
          <p:cNvPr id="173" name="Google Shape;173;p16"/>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Roboto"/>
                <a:ea typeface="Roboto"/>
                <a:cs typeface="Roboto"/>
                <a:sym typeface="Roboto"/>
              </a:rPr>
              <a:t>Answer: B  </a:t>
            </a:r>
            <a:endParaRPr b="1" i="0" sz="1400" u="none" cap="none" strike="noStrike">
              <a:solidFill>
                <a:srgbClr val="000000"/>
              </a:solidFill>
              <a:latin typeface="Roboto"/>
              <a:ea typeface="Roboto"/>
              <a:cs typeface="Roboto"/>
              <a:sym typeface="Roboto"/>
            </a:endParaRPr>
          </a:p>
        </p:txBody>
      </p:sp>
      <p:sp>
        <p:nvSpPr>
          <p:cNvPr id="174" name="Google Shape;174;p16"/>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8182EF"/>
                </a:solidFill>
                <a:latin typeface="Roboto"/>
                <a:ea typeface="Roboto"/>
                <a:cs typeface="Roboto"/>
                <a:sym typeface="Roboto"/>
              </a:rPr>
              <a:t>Question: 07</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0" st="0"/>
                                            </p:txEl>
                                          </p:spTgt>
                                        </p:tgtEl>
                                        <p:attrNameLst>
                                          <p:attrName>style.visibility</p:attrName>
                                        </p:attrNameLst>
                                      </p:cBhvr>
                                      <p:to>
                                        <p:strVal val="visible"/>
                                      </p:to>
                                    </p:set>
                                    <p:animEffect filter="fade" transition="in">
                                      <p:cBhvr>
                                        <p:cTn dur="1000"/>
                                        <p:tgtEl>
                                          <p:spTgt spid="17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1" st="1"/>
                                            </p:txEl>
                                          </p:spTgt>
                                        </p:tgtEl>
                                        <p:attrNameLst>
                                          <p:attrName>style.visibility</p:attrName>
                                        </p:attrNameLst>
                                      </p:cBhvr>
                                      <p:to>
                                        <p:strVal val="visible"/>
                                      </p:to>
                                    </p:set>
                                    <p:animEffect filter="fade" transition="in">
                                      <p:cBhvr>
                                        <p:cTn dur="1000"/>
                                        <p:tgtEl>
                                          <p:spTgt spid="17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2" st="2"/>
                                            </p:txEl>
                                          </p:spTgt>
                                        </p:tgtEl>
                                        <p:attrNameLst>
                                          <p:attrName>style.visibility</p:attrName>
                                        </p:attrNameLst>
                                      </p:cBhvr>
                                      <p:to>
                                        <p:strVal val="visible"/>
                                      </p:to>
                                    </p:set>
                                    <p:animEffect filter="fade" transition="in">
                                      <p:cBhvr>
                                        <p:cTn dur="1000"/>
                                        <p:tgtEl>
                                          <p:spTgt spid="17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3" st="3"/>
                                            </p:txEl>
                                          </p:spTgt>
                                        </p:tgtEl>
                                        <p:attrNameLst>
                                          <p:attrName>style.visibility</p:attrName>
                                        </p:attrNameLst>
                                      </p:cBhvr>
                                      <p:to>
                                        <p:strVal val="visible"/>
                                      </p:to>
                                    </p:set>
                                    <p:animEffect filter="fade" transition="in">
                                      <p:cBhvr>
                                        <p:cTn dur="1000"/>
                                        <p:tgtEl>
                                          <p:spTgt spid="17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4" st="4"/>
                                            </p:txEl>
                                          </p:spTgt>
                                        </p:tgtEl>
                                        <p:attrNameLst>
                                          <p:attrName>style.visibility</p:attrName>
                                        </p:attrNameLst>
                                      </p:cBhvr>
                                      <p:to>
                                        <p:strVal val="visible"/>
                                      </p:to>
                                    </p:set>
                                    <p:animEffect filter="fade" transition="in">
                                      <p:cBhvr>
                                        <p:cTn dur="1000"/>
                                        <p:tgtEl>
                                          <p:spTgt spid="17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5" st="5"/>
                                            </p:txEl>
                                          </p:spTgt>
                                        </p:tgtEl>
                                        <p:attrNameLst>
                                          <p:attrName>style.visibility</p:attrName>
                                        </p:attrNameLst>
                                      </p:cBhvr>
                                      <p:to>
                                        <p:strVal val="visible"/>
                                      </p:to>
                                    </p:set>
                                    <p:animEffect filter="fade" transition="in">
                                      <p:cBhvr>
                                        <p:cTn dur="1000"/>
                                        <p:tgtEl>
                                          <p:spTgt spid="17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xEl>
                                              <p:pRg end="6" st="6"/>
                                            </p:txEl>
                                          </p:spTgt>
                                        </p:tgtEl>
                                        <p:attrNameLst>
                                          <p:attrName>style.visibility</p:attrName>
                                        </p:attrNameLst>
                                      </p:cBhvr>
                                      <p:to>
                                        <p:strVal val="visible"/>
                                      </p:to>
                                    </p:set>
                                    <p:animEffect filter="fade" transition="in">
                                      <p:cBhvr>
                                        <p:cTn dur="1000"/>
                                        <p:tgtEl>
                                          <p:spTgt spid="17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
                                        </p:tgtEl>
                                        <p:attrNameLst>
                                          <p:attrName>style.visibility</p:attrName>
                                        </p:attrNameLst>
                                      </p:cBhvr>
                                      <p:to>
                                        <p:strVal val="visible"/>
                                      </p:to>
                                    </p:set>
                                    <p:animEffect filter="fade" transition="in">
                                      <p:cBhvr>
                                        <p:cTn dur="1000"/>
                                        <p:tgtEl>
                                          <p:spTgt spid="1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8" name="Shape 178"/>
        <p:cNvGrpSpPr/>
        <p:nvPr/>
      </p:nvGrpSpPr>
      <p:grpSpPr>
        <a:xfrm>
          <a:off x="0" y="0"/>
          <a:ext cx="0" cy="0"/>
          <a:chOff x="0" y="0"/>
          <a:chExt cx="0" cy="0"/>
        </a:xfrm>
      </p:grpSpPr>
      <p:sp>
        <p:nvSpPr>
          <p:cNvPr id="179" name="Google Shape;179;p17"/>
          <p:cNvSpPr txBox="1"/>
          <p:nvPr/>
        </p:nvSpPr>
        <p:spPr>
          <a:xfrm>
            <a:off x="722375" y="1435600"/>
            <a:ext cx="7333800" cy="212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highlight>
                  <a:schemeClr val="lt1"/>
                </a:highlight>
                <a:latin typeface="Roboto"/>
                <a:ea typeface="Roboto"/>
                <a:cs typeface="Roboto"/>
                <a:sym typeface="Roboto"/>
              </a:rPr>
              <a:t>The train leaving from B leaves an hour early than the train that leaves from M.</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highlight>
                  <a:schemeClr val="lt1"/>
                </a:highlight>
                <a:latin typeface="Roboto"/>
                <a:ea typeface="Roboto"/>
                <a:cs typeface="Roboto"/>
                <a:sym typeface="Roboto"/>
              </a:rPr>
              <a:t>=&gt; Distance covered by train leaving from B = 65 km / hr x 1 hr = 65 km</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highlight>
                  <a:schemeClr val="lt1"/>
                </a:highlight>
                <a:latin typeface="Roboto"/>
                <a:ea typeface="Roboto"/>
                <a:cs typeface="Roboto"/>
                <a:sym typeface="Roboto"/>
              </a:rPr>
              <a:t>Distance left = 465 – 65 = 400 km</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highlight>
                  <a:schemeClr val="lt1"/>
                </a:highlight>
                <a:latin typeface="Roboto"/>
                <a:ea typeface="Roboto"/>
                <a:cs typeface="Roboto"/>
                <a:sym typeface="Roboto"/>
              </a:rPr>
              <a:t>Now, the train from M also gets moving and both are moving towards each other.</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highlight>
                  <a:schemeClr val="lt1"/>
                </a:highlight>
                <a:latin typeface="Roboto"/>
                <a:ea typeface="Roboto"/>
                <a:cs typeface="Roboto"/>
                <a:sym typeface="Roboto"/>
              </a:rPr>
              <a:t>Applying the formula for relative speed,</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highlight>
                  <a:schemeClr val="lt1"/>
                </a:highlight>
                <a:latin typeface="Roboto"/>
                <a:ea typeface="Roboto"/>
                <a:cs typeface="Roboto"/>
                <a:sym typeface="Roboto"/>
              </a:rPr>
              <a:t>Relative speed = 65 + 35 = 100 km / hr</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highlight>
                  <a:schemeClr val="lt1"/>
                </a:highlight>
                <a:latin typeface="Roboto"/>
                <a:ea typeface="Roboto"/>
                <a:cs typeface="Roboto"/>
                <a:sym typeface="Roboto"/>
              </a:rPr>
              <a:t>=&gt; Time required by the trains to meet = 400 km / 100 km / hr = 4 hours</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highlight>
                  <a:schemeClr val="lt1"/>
                </a:highlight>
                <a:latin typeface="Roboto"/>
                <a:ea typeface="Roboto"/>
                <a:cs typeface="Roboto"/>
                <a:sym typeface="Roboto"/>
              </a:rPr>
              <a:t>Thus, the trains meet at 4 hours after 11 AM, i.e., 3 PM.</a:t>
            </a:r>
            <a:endParaRPr b="0" i="0" sz="1400" u="none" cap="none" strike="noStrike">
              <a:solidFill>
                <a:schemeClr val="dk1"/>
              </a:solidFill>
              <a:latin typeface="Roboto"/>
              <a:ea typeface="Roboto"/>
              <a:cs typeface="Roboto"/>
              <a:sym typeface="Roboto"/>
            </a:endParaRPr>
          </a:p>
          <a:p>
            <a:pPr indent="0" lvl="0" marL="1524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180" name="Google Shape;180;p17"/>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8182EF"/>
                </a:solidFill>
                <a:latin typeface="Roboto"/>
                <a:ea typeface="Roboto"/>
                <a:cs typeface="Roboto"/>
                <a:sym typeface="Roboto"/>
              </a:rPr>
              <a:t>Explanation: 07</a:t>
            </a:r>
            <a:endParaRPr b="1" sz="2000">
              <a:solidFill>
                <a:srgbClr val="8182EF"/>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8"/>
          <p:cNvSpPr txBox="1"/>
          <p:nvPr/>
        </p:nvSpPr>
        <p:spPr>
          <a:xfrm>
            <a:off x="722375" y="1435599"/>
            <a:ext cx="8472300" cy="32940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400"/>
              <a:buFont typeface="Arial"/>
              <a:buNone/>
            </a:pPr>
            <a:r>
              <a:rPr b="0" i="0" lang="en" sz="1600" u="none" cap="none" strike="noStrike">
                <a:solidFill>
                  <a:schemeClr val="dk1"/>
                </a:solidFill>
                <a:highlight>
                  <a:schemeClr val="lt1"/>
                </a:highlight>
                <a:latin typeface="Roboto"/>
                <a:ea typeface="Roboto"/>
                <a:cs typeface="Roboto"/>
                <a:sym typeface="Roboto"/>
              </a:rPr>
              <a:t>A policeman sighted a robber from a distance of 300 m. The robber also noticed the policeman and started running at 8 km / hr. The policeman also started running after him at the speed of 10 km / hr. Find the distance that the robber would run before being caught.</a:t>
            </a:r>
            <a:endParaRPr b="0" i="0" sz="1600" u="none" cap="none" strike="noStrike">
              <a:solidFill>
                <a:schemeClr val="dk1"/>
              </a:solidFill>
              <a:highlight>
                <a:schemeClr val="lt1"/>
              </a:highlight>
              <a:latin typeface="Roboto"/>
              <a:ea typeface="Roboto"/>
              <a:cs typeface="Roboto"/>
              <a:sym typeface="Roboto"/>
            </a:endParaRPr>
          </a:p>
          <a:p>
            <a:pPr indent="0" lvl="0" marL="0" marR="0" rtl="0" algn="l">
              <a:lnSpc>
                <a:spcPct val="150000"/>
              </a:lnSpc>
              <a:spcBef>
                <a:spcPts val="0"/>
              </a:spcBef>
              <a:spcAft>
                <a:spcPts val="0"/>
              </a:spcAft>
              <a:buClr>
                <a:schemeClr val="dk1"/>
              </a:buClr>
              <a:buSzPts val="1400"/>
              <a:buFont typeface="Arial"/>
              <a:buNone/>
            </a:pPr>
            <a:r>
              <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1.2 km</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1.5 km</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0.3 km</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0.7 km</a:t>
            </a:r>
            <a:endParaRPr b="0" i="0" sz="1600" u="none" cap="none" strike="noStrike">
              <a:solidFill>
                <a:schemeClr val="dk1"/>
              </a:solidFill>
              <a:highlight>
                <a:schemeClr val="lt1"/>
              </a:highlight>
              <a:latin typeface="Roboto"/>
              <a:ea typeface="Roboto"/>
              <a:cs typeface="Roboto"/>
              <a:sym typeface="Roboto"/>
            </a:endParaRPr>
          </a:p>
          <a:p>
            <a:pPr indent="0" lvl="0" marL="457200" marR="0" rtl="0" algn="l">
              <a:lnSpc>
                <a:spcPct val="150000"/>
              </a:lnSpc>
              <a:spcBef>
                <a:spcPts val="0"/>
              </a:spcBef>
              <a:spcAft>
                <a:spcPts val="0"/>
              </a:spcAft>
              <a:buClr>
                <a:srgbClr val="000000"/>
              </a:buClr>
              <a:buSzPts val="1400"/>
              <a:buFont typeface="Arial"/>
              <a:buNone/>
            </a:pPr>
            <a:r>
              <a:t/>
            </a:r>
            <a:endParaRPr b="0" i="0" sz="1600" u="none" cap="none" strike="noStrike">
              <a:solidFill>
                <a:schemeClr val="dk1"/>
              </a:solidFill>
              <a:latin typeface="Roboto"/>
              <a:ea typeface="Roboto"/>
              <a:cs typeface="Roboto"/>
              <a:sym typeface="Roboto"/>
            </a:endParaRPr>
          </a:p>
        </p:txBody>
      </p:sp>
      <p:sp>
        <p:nvSpPr>
          <p:cNvPr id="186" name="Google Shape;186;p18"/>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Roboto"/>
                <a:ea typeface="Roboto"/>
                <a:cs typeface="Roboto"/>
                <a:sym typeface="Roboto"/>
              </a:rPr>
              <a:t>Answer:A  </a:t>
            </a:r>
            <a:endParaRPr b="1" i="0" sz="1400" u="none" cap="none" strike="noStrike">
              <a:solidFill>
                <a:srgbClr val="000000"/>
              </a:solidFill>
              <a:latin typeface="Roboto"/>
              <a:ea typeface="Roboto"/>
              <a:cs typeface="Roboto"/>
              <a:sym typeface="Roboto"/>
            </a:endParaRPr>
          </a:p>
        </p:txBody>
      </p:sp>
      <p:sp>
        <p:nvSpPr>
          <p:cNvPr id="187" name="Google Shape;187;p18"/>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8182EF"/>
                </a:solidFill>
                <a:latin typeface="Roboto"/>
                <a:ea typeface="Roboto"/>
                <a:cs typeface="Roboto"/>
                <a:sym typeface="Roboto"/>
              </a:rPr>
              <a:t>Question: 08</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xEl>
                                              <p:pRg end="0" st="0"/>
                                            </p:txEl>
                                          </p:spTgt>
                                        </p:tgtEl>
                                        <p:attrNameLst>
                                          <p:attrName>style.visibility</p:attrName>
                                        </p:attrNameLst>
                                      </p:cBhvr>
                                      <p:to>
                                        <p:strVal val="visible"/>
                                      </p:to>
                                    </p:set>
                                    <p:animEffect filter="fade" transition="in">
                                      <p:cBhvr>
                                        <p:cTn dur="1000"/>
                                        <p:tgtEl>
                                          <p:spTgt spid="18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xEl>
                                              <p:pRg end="1" st="1"/>
                                            </p:txEl>
                                          </p:spTgt>
                                        </p:tgtEl>
                                        <p:attrNameLst>
                                          <p:attrName>style.visibility</p:attrName>
                                        </p:attrNameLst>
                                      </p:cBhvr>
                                      <p:to>
                                        <p:strVal val="visible"/>
                                      </p:to>
                                    </p:set>
                                    <p:animEffect filter="fade" transition="in">
                                      <p:cBhvr>
                                        <p:cTn dur="1000"/>
                                        <p:tgtEl>
                                          <p:spTgt spid="18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xEl>
                                              <p:pRg end="2" st="2"/>
                                            </p:txEl>
                                          </p:spTgt>
                                        </p:tgtEl>
                                        <p:attrNameLst>
                                          <p:attrName>style.visibility</p:attrName>
                                        </p:attrNameLst>
                                      </p:cBhvr>
                                      <p:to>
                                        <p:strVal val="visible"/>
                                      </p:to>
                                    </p:set>
                                    <p:animEffect filter="fade" transition="in">
                                      <p:cBhvr>
                                        <p:cTn dur="1000"/>
                                        <p:tgtEl>
                                          <p:spTgt spid="18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xEl>
                                              <p:pRg end="3" st="3"/>
                                            </p:txEl>
                                          </p:spTgt>
                                        </p:tgtEl>
                                        <p:attrNameLst>
                                          <p:attrName>style.visibility</p:attrName>
                                        </p:attrNameLst>
                                      </p:cBhvr>
                                      <p:to>
                                        <p:strVal val="visible"/>
                                      </p:to>
                                    </p:set>
                                    <p:animEffect filter="fade" transition="in">
                                      <p:cBhvr>
                                        <p:cTn dur="1000"/>
                                        <p:tgtEl>
                                          <p:spTgt spid="18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xEl>
                                              <p:pRg end="4" st="4"/>
                                            </p:txEl>
                                          </p:spTgt>
                                        </p:tgtEl>
                                        <p:attrNameLst>
                                          <p:attrName>style.visibility</p:attrName>
                                        </p:attrNameLst>
                                      </p:cBhvr>
                                      <p:to>
                                        <p:strVal val="visible"/>
                                      </p:to>
                                    </p:set>
                                    <p:animEffect filter="fade" transition="in">
                                      <p:cBhvr>
                                        <p:cTn dur="1000"/>
                                        <p:tgtEl>
                                          <p:spTgt spid="18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xEl>
                                              <p:pRg end="5" st="5"/>
                                            </p:txEl>
                                          </p:spTgt>
                                        </p:tgtEl>
                                        <p:attrNameLst>
                                          <p:attrName>style.visibility</p:attrName>
                                        </p:attrNameLst>
                                      </p:cBhvr>
                                      <p:to>
                                        <p:strVal val="visible"/>
                                      </p:to>
                                    </p:set>
                                    <p:animEffect filter="fade" transition="in">
                                      <p:cBhvr>
                                        <p:cTn dur="1000"/>
                                        <p:tgtEl>
                                          <p:spTgt spid="18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xEl>
                                              <p:pRg end="6" st="6"/>
                                            </p:txEl>
                                          </p:spTgt>
                                        </p:tgtEl>
                                        <p:attrNameLst>
                                          <p:attrName>style.visibility</p:attrName>
                                        </p:attrNameLst>
                                      </p:cBhvr>
                                      <p:to>
                                        <p:strVal val="visible"/>
                                      </p:to>
                                    </p:set>
                                    <p:animEffect filter="fade" transition="in">
                                      <p:cBhvr>
                                        <p:cTn dur="1000"/>
                                        <p:tgtEl>
                                          <p:spTgt spid="18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
                                        </p:tgtEl>
                                        <p:attrNameLst>
                                          <p:attrName>style.visibility</p:attrName>
                                        </p:attrNameLst>
                                      </p:cBhvr>
                                      <p:to>
                                        <p:strVal val="visible"/>
                                      </p:to>
                                    </p:set>
                                    <p:animEffect filter="fade" transition="in">
                                      <p:cBhvr>
                                        <p:cTn dur="1000"/>
                                        <p:tgtEl>
                                          <p:spTgt spid="1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1" name="Shape 191"/>
        <p:cNvGrpSpPr/>
        <p:nvPr/>
      </p:nvGrpSpPr>
      <p:grpSpPr>
        <a:xfrm>
          <a:off x="0" y="0"/>
          <a:ext cx="0" cy="0"/>
          <a:chOff x="0" y="0"/>
          <a:chExt cx="0" cy="0"/>
        </a:xfrm>
      </p:grpSpPr>
      <p:sp>
        <p:nvSpPr>
          <p:cNvPr id="192" name="Google Shape;192;p19"/>
          <p:cNvSpPr txBox="1"/>
          <p:nvPr/>
        </p:nvSpPr>
        <p:spPr>
          <a:xfrm>
            <a:off x="722375" y="1435600"/>
            <a:ext cx="6319200" cy="2555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highlight>
                  <a:schemeClr val="lt1"/>
                </a:highlight>
                <a:latin typeface="Roboto"/>
                <a:ea typeface="Roboto"/>
                <a:cs typeface="Roboto"/>
                <a:sym typeface="Roboto"/>
              </a:rPr>
              <a:t>Since both are running in the same direction, relative speed = 10 – 8 = 2 km / hr</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highlight>
                  <a:schemeClr val="lt1"/>
                </a:highlight>
                <a:latin typeface="Roboto"/>
                <a:ea typeface="Roboto"/>
                <a:cs typeface="Roboto"/>
                <a:sym typeface="Roboto"/>
              </a:rPr>
              <a:t>Now, to catch the robber if he were stagnant, the policeman would have to run 300 m. But since both are moving, the policeman needs to finish off this separation of 300 m.</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highlight>
                  <a:schemeClr val="lt1"/>
                </a:highlight>
                <a:latin typeface="Roboto"/>
                <a:ea typeface="Roboto"/>
                <a:cs typeface="Roboto"/>
                <a:sym typeface="Roboto"/>
              </a:rPr>
              <a:t>=&gt; 300 m (or 0.3 km)is to be covered at the relative speed of 2 km / hr.</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highlight>
                  <a:schemeClr val="lt1"/>
                </a:highlight>
                <a:latin typeface="Roboto"/>
                <a:ea typeface="Roboto"/>
                <a:cs typeface="Roboto"/>
                <a:sym typeface="Roboto"/>
              </a:rPr>
              <a:t>=&gt; Time taken = 0.3 / 2 = 0.15 hours</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highlight>
                  <a:schemeClr val="lt1"/>
                </a:highlight>
                <a:latin typeface="Roboto"/>
                <a:ea typeface="Roboto"/>
                <a:cs typeface="Roboto"/>
                <a:sym typeface="Roboto"/>
              </a:rPr>
              <a:t>Therefore, distance run by robber before being caught = Distance run in 0.15 hours</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highlight>
                  <a:schemeClr val="lt1"/>
                </a:highlight>
                <a:latin typeface="Roboto"/>
                <a:ea typeface="Roboto"/>
                <a:cs typeface="Roboto"/>
                <a:sym typeface="Roboto"/>
              </a:rPr>
              <a:t>=&gt; Distance run by the robber = 8 x 0.15 = 1.2 km</a:t>
            </a:r>
            <a:endParaRPr b="0" i="0" sz="1400" u="none" cap="none" strike="noStrike">
              <a:solidFill>
                <a:schemeClr val="dk1"/>
              </a:solidFill>
              <a:latin typeface="Roboto"/>
              <a:ea typeface="Roboto"/>
              <a:cs typeface="Roboto"/>
              <a:sym typeface="Roboto"/>
            </a:endParaRPr>
          </a:p>
          <a:p>
            <a:pPr indent="0" lvl="0" marL="15240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193" name="Google Shape;193;p19"/>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8182EF"/>
                </a:solidFill>
                <a:latin typeface="Roboto"/>
                <a:ea typeface="Roboto"/>
                <a:cs typeface="Roboto"/>
                <a:sym typeface="Roboto"/>
              </a:rPr>
              <a:t>Explanation: 08</a:t>
            </a:r>
            <a:endParaRPr b="1" sz="2000">
              <a:solidFill>
                <a:srgbClr val="8182EF"/>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2"/>
          <p:cNvSpPr txBox="1"/>
          <p:nvPr/>
        </p:nvSpPr>
        <p:spPr>
          <a:xfrm>
            <a:off x="722375" y="1435600"/>
            <a:ext cx="8092800" cy="31296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400"/>
              <a:buFont typeface="Arial"/>
              <a:buNone/>
            </a:pPr>
            <a:r>
              <a:rPr b="0" i="0" lang="en" sz="1600" u="none" cap="none" strike="noStrike">
                <a:solidFill>
                  <a:schemeClr val="dk1"/>
                </a:solidFill>
                <a:highlight>
                  <a:schemeClr val="lt1"/>
                </a:highlight>
                <a:latin typeface="Roboto"/>
                <a:ea typeface="Roboto"/>
                <a:cs typeface="Roboto"/>
                <a:sym typeface="Roboto"/>
              </a:rPr>
              <a:t>Jethalal starts from Pune to Mumbai and at the same time Roshansingh Sodhi starts from Mumbai to Pune. Their speed is 25kmph and 35 kmph respectively. If the distance between Pune and Mumbai is 120 kms. When will these two people meet ?</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80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2 hrs</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3 hrs</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4 hrs </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5 hrs</a:t>
            </a:r>
            <a:endParaRPr b="0" i="0" sz="1600" u="none" cap="none" strike="noStrike">
              <a:solidFill>
                <a:schemeClr val="dk1"/>
              </a:solidFill>
              <a:highlight>
                <a:schemeClr val="lt1"/>
              </a:highlight>
              <a:latin typeface="Roboto"/>
              <a:ea typeface="Roboto"/>
              <a:cs typeface="Roboto"/>
              <a:sym typeface="Roboto"/>
            </a:endParaRPr>
          </a:p>
          <a:p>
            <a:pPr indent="0" lvl="0" marL="457200" marR="0" rtl="0" algn="l">
              <a:lnSpc>
                <a:spcPct val="150000"/>
              </a:lnSpc>
              <a:spcBef>
                <a:spcPts val="800"/>
              </a:spcBef>
              <a:spcAft>
                <a:spcPts val="0"/>
              </a:spcAft>
              <a:buClr>
                <a:srgbClr val="000000"/>
              </a:buClr>
              <a:buSzPts val="1400"/>
              <a:buFont typeface="Arial"/>
              <a:buNone/>
            </a:pPr>
            <a:r>
              <a:t/>
            </a:r>
            <a:endParaRPr b="0" i="0" sz="1600" u="none" cap="none" strike="noStrike">
              <a:solidFill>
                <a:schemeClr val="dk1"/>
              </a:solidFill>
              <a:latin typeface="Roboto"/>
              <a:ea typeface="Roboto"/>
              <a:cs typeface="Roboto"/>
              <a:sym typeface="Roboto"/>
            </a:endParaRPr>
          </a:p>
        </p:txBody>
      </p:sp>
      <p:sp>
        <p:nvSpPr>
          <p:cNvPr id="199" name="Google Shape;199;p22"/>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Roboto"/>
                <a:ea typeface="Roboto"/>
                <a:cs typeface="Roboto"/>
                <a:sym typeface="Roboto"/>
              </a:rPr>
              <a:t>Answer:A  </a:t>
            </a:r>
            <a:endParaRPr b="1" i="0" sz="1400" u="none" cap="none" strike="noStrike">
              <a:solidFill>
                <a:srgbClr val="000000"/>
              </a:solidFill>
              <a:latin typeface="Roboto"/>
              <a:ea typeface="Roboto"/>
              <a:cs typeface="Roboto"/>
              <a:sym typeface="Roboto"/>
            </a:endParaRPr>
          </a:p>
        </p:txBody>
      </p:sp>
      <p:sp>
        <p:nvSpPr>
          <p:cNvPr id="200" name="Google Shape;200;p22"/>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8182EF"/>
                </a:solidFill>
                <a:latin typeface="Roboto"/>
                <a:ea typeface="Roboto"/>
                <a:cs typeface="Roboto"/>
                <a:sym typeface="Roboto"/>
              </a:rPr>
              <a:t>Question: 09</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0" st="0"/>
                                            </p:txEl>
                                          </p:spTgt>
                                        </p:tgtEl>
                                        <p:attrNameLst>
                                          <p:attrName>style.visibility</p:attrName>
                                        </p:attrNameLst>
                                      </p:cBhvr>
                                      <p:to>
                                        <p:strVal val="visible"/>
                                      </p:to>
                                    </p:set>
                                    <p:animEffect filter="fade" transition="in">
                                      <p:cBhvr>
                                        <p:cTn dur="1000"/>
                                        <p:tgtEl>
                                          <p:spTgt spid="19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1" st="1"/>
                                            </p:txEl>
                                          </p:spTgt>
                                        </p:tgtEl>
                                        <p:attrNameLst>
                                          <p:attrName>style.visibility</p:attrName>
                                        </p:attrNameLst>
                                      </p:cBhvr>
                                      <p:to>
                                        <p:strVal val="visible"/>
                                      </p:to>
                                    </p:set>
                                    <p:animEffect filter="fade" transition="in">
                                      <p:cBhvr>
                                        <p:cTn dur="1000"/>
                                        <p:tgtEl>
                                          <p:spTgt spid="19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2" st="2"/>
                                            </p:txEl>
                                          </p:spTgt>
                                        </p:tgtEl>
                                        <p:attrNameLst>
                                          <p:attrName>style.visibility</p:attrName>
                                        </p:attrNameLst>
                                      </p:cBhvr>
                                      <p:to>
                                        <p:strVal val="visible"/>
                                      </p:to>
                                    </p:set>
                                    <p:animEffect filter="fade" transition="in">
                                      <p:cBhvr>
                                        <p:cTn dur="1000"/>
                                        <p:tgtEl>
                                          <p:spTgt spid="19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3" st="3"/>
                                            </p:txEl>
                                          </p:spTgt>
                                        </p:tgtEl>
                                        <p:attrNameLst>
                                          <p:attrName>style.visibility</p:attrName>
                                        </p:attrNameLst>
                                      </p:cBhvr>
                                      <p:to>
                                        <p:strVal val="visible"/>
                                      </p:to>
                                    </p:set>
                                    <p:animEffect filter="fade" transition="in">
                                      <p:cBhvr>
                                        <p:cTn dur="1000"/>
                                        <p:tgtEl>
                                          <p:spTgt spid="19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4" st="4"/>
                                            </p:txEl>
                                          </p:spTgt>
                                        </p:tgtEl>
                                        <p:attrNameLst>
                                          <p:attrName>style.visibility</p:attrName>
                                        </p:attrNameLst>
                                      </p:cBhvr>
                                      <p:to>
                                        <p:strVal val="visible"/>
                                      </p:to>
                                    </p:set>
                                    <p:animEffect filter="fade" transition="in">
                                      <p:cBhvr>
                                        <p:cTn dur="1000"/>
                                        <p:tgtEl>
                                          <p:spTgt spid="19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xEl>
                                              <p:pRg end="5" st="5"/>
                                            </p:txEl>
                                          </p:spTgt>
                                        </p:tgtEl>
                                        <p:attrNameLst>
                                          <p:attrName>style.visibility</p:attrName>
                                        </p:attrNameLst>
                                      </p:cBhvr>
                                      <p:to>
                                        <p:strVal val="visible"/>
                                      </p:to>
                                    </p:set>
                                    <p:animEffect filter="fade" transition="in">
                                      <p:cBhvr>
                                        <p:cTn dur="1000"/>
                                        <p:tgtEl>
                                          <p:spTgt spid="19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gtEl>
                                        <p:attrNameLst>
                                          <p:attrName>style.visibility</p:attrName>
                                        </p:attrNameLst>
                                      </p:cBhvr>
                                      <p:to>
                                        <p:strVal val="visible"/>
                                      </p:to>
                                    </p:set>
                                    <p:animEffect filter="fade" transition="in">
                                      <p:cBhvr>
                                        <p:cTn dur="1000"/>
                                        <p:tgtEl>
                                          <p:spTgt spid="1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4" name="Shape 204"/>
        <p:cNvGrpSpPr/>
        <p:nvPr/>
      </p:nvGrpSpPr>
      <p:grpSpPr>
        <a:xfrm>
          <a:off x="0" y="0"/>
          <a:ext cx="0" cy="0"/>
          <a:chOff x="0" y="0"/>
          <a:chExt cx="0" cy="0"/>
        </a:xfrm>
      </p:grpSpPr>
      <p:sp>
        <p:nvSpPr>
          <p:cNvPr id="205" name="Google Shape;205;p23"/>
          <p:cNvSpPr txBox="1"/>
          <p:nvPr/>
        </p:nvSpPr>
        <p:spPr>
          <a:xfrm>
            <a:off x="722375" y="1435600"/>
            <a:ext cx="5151300" cy="212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rgbClr val="333333"/>
                </a:solidFill>
                <a:highlight>
                  <a:schemeClr val="lt1"/>
                </a:highlight>
                <a:latin typeface="Roboto"/>
                <a:ea typeface="Roboto"/>
                <a:cs typeface="Roboto"/>
                <a:sym typeface="Roboto"/>
              </a:rPr>
              <a:t>Since they’re moving towards each other,</a:t>
            </a:r>
            <a:endParaRPr b="0" i="0" sz="1400" u="none" cap="none" strike="noStrike">
              <a:solidFill>
                <a:srgbClr val="333333"/>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rgbClr val="333333"/>
                </a:solidFill>
                <a:highlight>
                  <a:schemeClr val="lt1"/>
                </a:highlight>
                <a:latin typeface="Roboto"/>
                <a:ea typeface="Roboto"/>
                <a:cs typeface="Roboto"/>
                <a:sym typeface="Roboto"/>
              </a:rPr>
              <a:t>Relative speed=25+35 =60kmph</a:t>
            </a:r>
            <a:endParaRPr b="0" i="0" sz="1400" u="none" cap="none" strike="noStrike">
              <a:solidFill>
                <a:srgbClr val="333333"/>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rgbClr val="333333"/>
                </a:solidFill>
                <a:highlight>
                  <a:schemeClr val="lt1"/>
                </a:highlight>
                <a:latin typeface="Roboto"/>
                <a:ea typeface="Roboto"/>
                <a:cs typeface="Roboto"/>
                <a:sym typeface="Roboto"/>
              </a:rPr>
              <a:t>Since they start together, the speed is 60 kmph from the beginning.</a:t>
            </a:r>
            <a:endParaRPr b="0" i="0" sz="1400" u="none" cap="none" strike="noStrike">
              <a:solidFill>
                <a:srgbClr val="333333"/>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rgbClr val="333333"/>
                </a:solidFill>
                <a:highlight>
                  <a:schemeClr val="lt1"/>
                </a:highlight>
                <a:latin typeface="Roboto"/>
                <a:ea typeface="Roboto"/>
                <a:cs typeface="Roboto"/>
                <a:sym typeface="Roboto"/>
              </a:rPr>
              <a:t>Speed x time = distance</a:t>
            </a:r>
            <a:endParaRPr b="0" i="0" sz="1400" u="none" cap="none" strike="noStrike">
              <a:solidFill>
                <a:srgbClr val="333333"/>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rgbClr val="333333"/>
                </a:solidFill>
                <a:highlight>
                  <a:schemeClr val="lt1"/>
                </a:highlight>
                <a:latin typeface="Roboto"/>
                <a:ea typeface="Roboto"/>
                <a:cs typeface="Roboto"/>
                <a:sym typeface="Roboto"/>
              </a:rPr>
              <a:t>60 x time =120</a:t>
            </a:r>
            <a:endParaRPr b="0" i="0" sz="1400" u="none" cap="none" strike="noStrike">
              <a:solidFill>
                <a:srgbClr val="333333"/>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rgbClr val="333333"/>
                </a:solidFill>
                <a:highlight>
                  <a:schemeClr val="lt1"/>
                </a:highlight>
                <a:latin typeface="Roboto"/>
                <a:ea typeface="Roboto"/>
                <a:cs typeface="Roboto"/>
                <a:sym typeface="Roboto"/>
              </a:rPr>
              <a:t>Time =120/60 =2 hrs.</a:t>
            </a:r>
            <a:endParaRPr b="0" i="0" sz="1400" u="none" cap="none" strike="noStrike">
              <a:solidFill>
                <a:srgbClr val="333333"/>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rgbClr val="333333"/>
                </a:solidFill>
                <a:highlight>
                  <a:schemeClr val="lt1"/>
                </a:highlight>
                <a:latin typeface="Roboto"/>
                <a:ea typeface="Roboto"/>
                <a:cs typeface="Roboto"/>
                <a:sym typeface="Roboto"/>
              </a:rPr>
              <a:t>They’ll meet after two hours.</a:t>
            </a:r>
            <a:endParaRPr b="0" i="0" sz="1400" u="none" cap="none" strike="noStrike">
              <a:solidFill>
                <a:srgbClr val="333333"/>
              </a:solidFill>
              <a:highlight>
                <a:schemeClr val="lt1"/>
              </a:highlight>
              <a:latin typeface="Roboto"/>
              <a:ea typeface="Roboto"/>
              <a:cs typeface="Roboto"/>
              <a:sym typeface="Roboto"/>
            </a:endParaRPr>
          </a:p>
          <a:p>
            <a:pPr indent="0" lvl="0" marL="0" marR="0" rtl="0" algn="l">
              <a:lnSpc>
                <a:spcPct val="115000"/>
              </a:lnSpc>
              <a:spcBef>
                <a:spcPts val="0"/>
              </a:spcBef>
              <a:spcAft>
                <a:spcPts val="0"/>
              </a:spcAft>
              <a:buClr>
                <a:srgbClr val="000000"/>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206" name="Google Shape;206;p23"/>
          <p:cNvSpPr txBox="1"/>
          <p:nvPr/>
        </p:nvSpPr>
        <p:spPr>
          <a:xfrm>
            <a:off x="629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8182EF"/>
                </a:solidFill>
                <a:latin typeface="Roboto"/>
                <a:ea typeface="Roboto"/>
                <a:cs typeface="Roboto"/>
                <a:sym typeface="Roboto"/>
              </a:rPr>
              <a:t>Explanation: 09</a:t>
            </a:r>
            <a:endParaRPr b="1" sz="2000">
              <a:solidFill>
                <a:srgbClr val="8182EF"/>
              </a:solidFill>
              <a:latin typeface="Roboto"/>
              <a:ea typeface="Roboto"/>
              <a:cs typeface="Roboto"/>
              <a:sym typeface="Robo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4"/>
          <p:cNvSpPr txBox="1"/>
          <p:nvPr/>
        </p:nvSpPr>
        <p:spPr>
          <a:xfrm>
            <a:off x="722375" y="1435599"/>
            <a:ext cx="8472300" cy="2760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400"/>
              <a:buFont typeface="Arial"/>
              <a:buNone/>
            </a:pPr>
            <a:r>
              <a:rPr b="0" i="0" lang="en" sz="1600" u="none" cap="none" strike="noStrike">
                <a:solidFill>
                  <a:schemeClr val="dk1"/>
                </a:solidFill>
                <a:highlight>
                  <a:schemeClr val="lt1"/>
                </a:highlight>
                <a:latin typeface="Roboto"/>
                <a:ea typeface="Roboto"/>
                <a:cs typeface="Roboto"/>
                <a:sym typeface="Roboto"/>
              </a:rPr>
              <a:t>Two trains, each 100 m long, moving in opposite directions, cross each other in 8 seconds. If one is moving twice as fast the other, then the speed of the faster train is:</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80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30 km/h</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45 km/h</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60 km/h</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75 km/h</a:t>
            </a:r>
            <a:endParaRPr b="0" i="0" sz="1600" u="none" cap="none" strike="noStrike">
              <a:solidFill>
                <a:schemeClr val="dk1"/>
              </a:solidFill>
              <a:highlight>
                <a:schemeClr val="lt1"/>
              </a:highlight>
              <a:latin typeface="Roboto"/>
              <a:ea typeface="Roboto"/>
              <a:cs typeface="Roboto"/>
              <a:sym typeface="Roboto"/>
            </a:endParaRPr>
          </a:p>
          <a:p>
            <a:pPr indent="0" lvl="0" marL="0" marR="0" rtl="0" algn="l">
              <a:lnSpc>
                <a:spcPct val="150000"/>
              </a:lnSpc>
              <a:spcBef>
                <a:spcPts val="800"/>
              </a:spcBef>
              <a:spcAft>
                <a:spcPts val="0"/>
              </a:spcAft>
              <a:buClr>
                <a:srgbClr val="000000"/>
              </a:buClr>
              <a:buSzPts val="1800"/>
              <a:buFont typeface="Arial"/>
              <a:buNone/>
            </a:pPr>
            <a:r>
              <a:t/>
            </a:r>
            <a:endParaRPr b="0" i="0" sz="1600" u="none" cap="none" strike="noStrike">
              <a:solidFill>
                <a:schemeClr val="dk1"/>
              </a:solidFill>
              <a:latin typeface="Roboto"/>
              <a:ea typeface="Roboto"/>
              <a:cs typeface="Roboto"/>
              <a:sym typeface="Roboto"/>
            </a:endParaRPr>
          </a:p>
        </p:txBody>
      </p:sp>
      <p:sp>
        <p:nvSpPr>
          <p:cNvPr id="212" name="Google Shape;212;p24"/>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Roboto"/>
                <a:ea typeface="Roboto"/>
                <a:cs typeface="Roboto"/>
                <a:sym typeface="Roboto"/>
              </a:rPr>
              <a:t>Answer:C  </a:t>
            </a:r>
            <a:endParaRPr b="1" i="0" sz="1400" u="none" cap="none" strike="noStrike">
              <a:solidFill>
                <a:srgbClr val="000000"/>
              </a:solidFill>
              <a:latin typeface="Roboto"/>
              <a:ea typeface="Roboto"/>
              <a:cs typeface="Roboto"/>
              <a:sym typeface="Roboto"/>
            </a:endParaRPr>
          </a:p>
        </p:txBody>
      </p:sp>
      <p:sp>
        <p:nvSpPr>
          <p:cNvPr id="213" name="Google Shape;213;p24"/>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8182EF"/>
                </a:solidFill>
                <a:latin typeface="Roboto"/>
                <a:ea typeface="Roboto"/>
                <a:cs typeface="Roboto"/>
                <a:sym typeface="Roboto"/>
              </a:rPr>
              <a:t>Question: 10</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xEl>
                                              <p:pRg end="0" st="0"/>
                                            </p:txEl>
                                          </p:spTgt>
                                        </p:tgtEl>
                                        <p:attrNameLst>
                                          <p:attrName>style.visibility</p:attrName>
                                        </p:attrNameLst>
                                      </p:cBhvr>
                                      <p:to>
                                        <p:strVal val="visible"/>
                                      </p:to>
                                    </p:set>
                                    <p:animEffect filter="fade" transition="in">
                                      <p:cBhvr>
                                        <p:cTn dur="1000"/>
                                        <p:tgtEl>
                                          <p:spTgt spid="21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xEl>
                                              <p:pRg end="1" st="1"/>
                                            </p:txEl>
                                          </p:spTgt>
                                        </p:tgtEl>
                                        <p:attrNameLst>
                                          <p:attrName>style.visibility</p:attrName>
                                        </p:attrNameLst>
                                      </p:cBhvr>
                                      <p:to>
                                        <p:strVal val="visible"/>
                                      </p:to>
                                    </p:set>
                                    <p:animEffect filter="fade" transition="in">
                                      <p:cBhvr>
                                        <p:cTn dur="1000"/>
                                        <p:tgtEl>
                                          <p:spTgt spid="21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xEl>
                                              <p:pRg end="2" st="2"/>
                                            </p:txEl>
                                          </p:spTgt>
                                        </p:tgtEl>
                                        <p:attrNameLst>
                                          <p:attrName>style.visibility</p:attrName>
                                        </p:attrNameLst>
                                      </p:cBhvr>
                                      <p:to>
                                        <p:strVal val="visible"/>
                                      </p:to>
                                    </p:set>
                                    <p:animEffect filter="fade" transition="in">
                                      <p:cBhvr>
                                        <p:cTn dur="1000"/>
                                        <p:tgtEl>
                                          <p:spTgt spid="21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xEl>
                                              <p:pRg end="3" st="3"/>
                                            </p:txEl>
                                          </p:spTgt>
                                        </p:tgtEl>
                                        <p:attrNameLst>
                                          <p:attrName>style.visibility</p:attrName>
                                        </p:attrNameLst>
                                      </p:cBhvr>
                                      <p:to>
                                        <p:strVal val="visible"/>
                                      </p:to>
                                    </p:set>
                                    <p:animEffect filter="fade" transition="in">
                                      <p:cBhvr>
                                        <p:cTn dur="1000"/>
                                        <p:tgtEl>
                                          <p:spTgt spid="21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xEl>
                                              <p:pRg end="4" st="4"/>
                                            </p:txEl>
                                          </p:spTgt>
                                        </p:tgtEl>
                                        <p:attrNameLst>
                                          <p:attrName>style.visibility</p:attrName>
                                        </p:attrNameLst>
                                      </p:cBhvr>
                                      <p:to>
                                        <p:strVal val="visible"/>
                                      </p:to>
                                    </p:set>
                                    <p:animEffect filter="fade" transition="in">
                                      <p:cBhvr>
                                        <p:cTn dur="1000"/>
                                        <p:tgtEl>
                                          <p:spTgt spid="21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xEl>
                                              <p:pRg end="5" st="5"/>
                                            </p:txEl>
                                          </p:spTgt>
                                        </p:tgtEl>
                                        <p:attrNameLst>
                                          <p:attrName>style.visibility</p:attrName>
                                        </p:attrNameLst>
                                      </p:cBhvr>
                                      <p:to>
                                        <p:strVal val="visible"/>
                                      </p:to>
                                    </p:set>
                                    <p:animEffect filter="fade" transition="in">
                                      <p:cBhvr>
                                        <p:cTn dur="1000"/>
                                        <p:tgtEl>
                                          <p:spTgt spid="21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
                                        </p:tgtEl>
                                        <p:attrNameLst>
                                          <p:attrName>style.visibility</p:attrName>
                                        </p:attrNameLst>
                                      </p:cBhvr>
                                      <p:to>
                                        <p:strVal val="visible"/>
                                      </p:to>
                                    </p:set>
                                    <p:animEffect filter="fade" transition="in">
                                      <p:cBhvr>
                                        <p:cTn dur="1000"/>
                                        <p:tgtEl>
                                          <p:spTgt spid="2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7" name="Shape 217"/>
        <p:cNvGrpSpPr/>
        <p:nvPr/>
      </p:nvGrpSpPr>
      <p:grpSpPr>
        <a:xfrm>
          <a:off x="0" y="0"/>
          <a:ext cx="0" cy="0"/>
          <a:chOff x="0" y="0"/>
          <a:chExt cx="0" cy="0"/>
        </a:xfrm>
      </p:grpSpPr>
      <p:sp>
        <p:nvSpPr>
          <p:cNvPr id="218" name="Google Shape;218;p25"/>
          <p:cNvSpPr txBox="1"/>
          <p:nvPr/>
        </p:nvSpPr>
        <p:spPr>
          <a:xfrm>
            <a:off x="722375" y="1435600"/>
            <a:ext cx="7599600" cy="3322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800"/>
              </a:spcBef>
              <a:spcAft>
                <a:spcPts val="0"/>
              </a:spcAft>
              <a:buClr>
                <a:schemeClr val="dk1"/>
              </a:buClr>
              <a:buSzPts val="1100"/>
              <a:buFont typeface="Arial"/>
              <a:buNone/>
            </a:pPr>
            <a:r>
              <a:rPr b="0" i="0" lang="en" sz="1400" u="none" cap="none" strike="noStrike">
                <a:solidFill>
                  <a:schemeClr val="dk1"/>
                </a:solidFill>
                <a:highlight>
                  <a:schemeClr val="lt1"/>
                </a:highlight>
                <a:latin typeface="Roboto"/>
                <a:ea typeface="Roboto"/>
                <a:cs typeface="Roboto"/>
                <a:sym typeface="Roboto"/>
              </a:rPr>
              <a:t>Let the speed of the slower train be </a:t>
            </a:r>
            <a:r>
              <a:rPr b="0" i="1" lang="en" sz="1400" u="none" cap="none" strike="noStrike">
                <a:solidFill>
                  <a:schemeClr val="dk1"/>
                </a:solidFill>
                <a:highlight>
                  <a:schemeClr val="lt1"/>
                </a:highlight>
                <a:latin typeface="Roboto"/>
                <a:ea typeface="Roboto"/>
                <a:cs typeface="Roboto"/>
                <a:sym typeface="Roboto"/>
              </a:rPr>
              <a:t>x</a:t>
            </a:r>
            <a:r>
              <a:rPr b="0" i="0" lang="en" sz="1400" u="none" cap="none" strike="noStrike">
                <a:solidFill>
                  <a:schemeClr val="dk1"/>
                </a:solidFill>
                <a:highlight>
                  <a:schemeClr val="lt1"/>
                </a:highlight>
                <a:latin typeface="Roboto"/>
                <a:ea typeface="Roboto"/>
                <a:cs typeface="Roboto"/>
                <a:sym typeface="Roboto"/>
              </a:rPr>
              <a:t> m/sec.</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100"/>
              <a:buFont typeface="Arial"/>
              <a:buNone/>
            </a:pPr>
            <a:r>
              <a:rPr b="0" i="0" lang="en" sz="1400" u="none" cap="none" strike="noStrike">
                <a:solidFill>
                  <a:schemeClr val="dk1"/>
                </a:solidFill>
                <a:highlight>
                  <a:schemeClr val="lt1"/>
                </a:highlight>
                <a:latin typeface="Roboto"/>
                <a:ea typeface="Roboto"/>
                <a:cs typeface="Roboto"/>
                <a:sym typeface="Roboto"/>
              </a:rPr>
              <a:t>Then, speed of the faster train = 2</a:t>
            </a:r>
            <a:r>
              <a:rPr b="0" i="1" lang="en" sz="1400" u="none" cap="none" strike="noStrike">
                <a:solidFill>
                  <a:schemeClr val="dk1"/>
                </a:solidFill>
                <a:highlight>
                  <a:schemeClr val="lt1"/>
                </a:highlight>
                <a:latin typeface="Roboto"/>
                <a:ea typeface="Roboto"/>
                <a:cs typeface="Roboto"/>
                <a:sym typeface="Roboto"/>
              </a:rPr>
              <a:t>x</a:t>
            </a:r>
            <a:r>
              <a:rPr b="0" i="0" lang="en" sz="1400" u="none" cap="none" strike="noStrike">
                <a:solidFill>
                  <a:schemeClr val="dk1"/>
                </a:solidFill>
                <a:highlight>
                  <a:schemeClr val="lt1"/>
                </a:highlight>
                <a:latin typeface="Roboto"/>
                <a:ea typeface="Roboto"/>
                <a:cs typeface="Roboto"/>
                <a:sym typeface="Roboto"/>
              </a:rPr>
              <a:t> m/sec.</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400"/>
              <a:buFont typeface="Arial"/>
              <a:buNone/>
            </a:pPr>
            <a:r>
              <a:rPr b="0" i="0" lang="en" sz="1400" u="none" cap="none" strike="noStrike">
                <a:solidFill>
                  <a:schemeClr val="dk1"/>
                </a:solidFill>
                <a:highlight>
                  <a:schemeClr val="lt1"/>
                </a:highlight>
                <a:latin typeface="Roboto"/>
                <a:ea typeface="Roboto"/>
                <a:cs typeface="Roboto"/>
                <a:sym typeface="Roboto"/>
              </a:rPr>
              <a:t>Relative speed = (</a:t>
            </a:r>
            <a:r>
              <a:rPr b="0" i="1" lang="en" sz="1400" u="none" cap="none" strike="noStrike">
                <a:solidFill>
                  <a:schemeClr val="dk1"/>
                </a:solidFill>
                <a:highlight>
                  <a:schemeClr val="lt1"/>
                </a:highlight>
                <a:latin typeface="Roboto"/>
                <a:ea typeface="Roboto"/>
                <a:cs typeface="Roboto"/>
                <a:sym typeface="Roboto"/>
              </a:rPr>
              <a:t>x</a:t>
            </a:r>
            <a:r>
              <a:rPr b="0" i="0" lang="en" sz="1400" u="none" cap="none" strike="noStrike">
                <a:solidFill>
                  <a:schemeClr val="dk1"/>
                </a:solidFill>
                <a:highlight>
                  <a:schemeClr val="lt1"/>
                </a:highlight>
                <a:latin typeface="Roboto"/>
                <a:ea typeface="Roboto"/>
                <a:cs typeface="Roboto"/>
                <a:sym typeface="Roboto"/>
              </a:rPr>
              <a:t> + 2</a:t>
            </a:r>
            <a:r>
              <a:rPr b="0" i="1" lang="en" sz="1400" u="none" cap="none" strike="noStrike">
                <a:solidFill>
                  <a:schemeClr val="dk1"/>
                </a:solidFill>
                <a:highlight>
                  <a:schemeClr val="lt1"/>
                </a:highlight>
                <a:latin typeface="Roboto"/>
                <a:ea typeface="Roboto"/>
                <a:cs typeface="Roboto"/>
                <a:sym typeface="Roboto"/>
              </a:rPr>
              <a:t>x</a:t>
            </a:r>
            <a:r>
              <a:rPr b="0" i="0" lang="en" sz="1400" u="none" cap="none" strike="noStrike">
                <a:solidFill>
                  <a:schemeClr val="dk1"/>
                </a:solidFill>
                <a:highlight>
                  <a:schemeClr val="lt1"/>
                </a:highlight>
                <a:latin typeface="Roboto"/>
                <a:ea typeface="Roboto"/>
                <a:cs typeface="Roboto"/>
                <a:sym typeface="Roboto"/>
              </a:rPr>
              <a:t>) m/sec = 3</a:t>
            </a:r>
            <a:r>
              <a:rPr b="0" i="1" lang="en" sz="1400" u="none" cap="none" strike="noStrike">
                <a:solidFill>
                  <a:schemeClr val="dk1"/>
                </a:solidFill>
                <a:highlight>
                  <a:schemeClr val="lt1"/>
                </a:highlight>
                <a:latin typeface="Roboto"/>
                <a:ea typeface="Roboto"/>
                <a:cs typeface="Roboto"/>
                <a:sym typeface="Roboto"/>
              </a:rPr>
              <a:t>x</a:t>
            </a:r>
            <a:r>
              <a:rPr b="0" i="0" lang="en" sz="1400" u="none" cap="none" strike="noStrike">
                <a:solidFill>
                  <a:schemeClr val="dk1"/>
                </a:solidFill>
                <a:highlight>
                  <a:schemeClr val="lt1"/>
                </a:highlight>
                <a:latin typeface="Roboto"/>
                <a:ea typeface="Roboto"/>
                <a:cs typeface="Roboto"/>
                <a:sym typeface="Roboto"/>
              </a:rPr>
              <a:t> m/sec.</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400"/>
              <a:buFont typeface="Arial"/>
              <a:buNone/>
            </a:pPr>
            <a:r>
              <a:rPr b="0" i="0" lang="en" sz="1400" u="none" cap="none" strike="noStrike">
                <a:solidFill>
                  <a:schemeClr val="dk1"/>
                </a:solidFill>
                <a:highlight>
                  <a:schemeClr val="lt1"/>
                </a:highlight>
                <a:latin typeface="Roboto"/>
                <a:ea typeface="Roboto"/>
                <a:cs typeface="Roboto"/>
                <a:sym typeface="Roboto"/>
              </a:rPr>
              <a:t>(100+ 100)/8 = 3x</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400"/>
              <a:buFont typeface="Arial"/>
              <a:buNone/>
            </a:pPr>
            <a:r>
              <a:rPr b="0" i="0" lang="en" sz="1400" u="none" cap="none" strike="noStrike">
                <a:solidFill>
                  <a:schemeClr val="dk1"/>
                </a:solidFill>
                <a:highlight>
                  <a:schemeClr val="lt1"/>
                </a:highlight>
                <a:latin typeface="Roboto"/>
                <a:ea typeface="Roboto"/>
                <a:cs typeface="Roboto"/>
                <a:sym typeface="Roboto"/>
              </a:rPr>
              <a:t>24x=200</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400"/>
              <a:buFont typeface="Arial"/>
              <a:buNone/>
            </a:pPr>
            <a:r>
              <a:rPr b="0" i="0" lang="en" sz="1400" u="none" cap="none" strike="noStrike">
                <a:solidFill>
                  <a:schemeClr val="dk1"/>
                </a:solidFill>
                <a:highlight>
                  <a:schemeClr val="lt1"/>
                </a:highlight>
                <a:latin typeface="Roboto"/>
                <a:ea typeface="Roboto"/>
                <a:cs typeface="Roboto"/>
                <a:sym typeface="Roboto"/>
              </a:rPr>
              <a:t>X = 25/3</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400"/>
              <a:buFont typeface="Arial"/>
              <a:buNone/>
            </a:pPr>
            <a:r>
              <a:rPr b="0" i="0" lang="en" sz="1400" u="none" cap="none" strike="noStrike">
                <a:solidFill>
                  <a:schemeClr val="dk1"/>
                </a:solidFill>
                <a:highlight>
                  <a:schemeClr val="lt1"/>
                </a:highlight>
                <a:latin typeface="Roboto"/>
                <a:ea typeface="Roboto"/>
                <a:cs typeface="Roboto"/>
                <a:sym typeface="Roboto"/>
              </a:rPr>
              <a:t>So, speed of the faster train = 50/3 m/sec</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400"/>
              <a:buFont typeface="Arial"/>
              <a:buNone/>
            </a:pPr>
            <a:r>
              <a:rPr b="0" i="0" lang="en" sz="1400" u="none" cap="none" strike="noStrike">
                <a:solidFill>
                  <a:schemeClr val="dk1"/>
                </a:solidFill>
                <a:highlight>
                  <a:schemeClr val="lt1"/>
                </a:highlight>
                <a:latin typeface="Roboto"/>
                <a:ea typeface="Roboto"/>
                <a:cs typeface="Roboto"/>
                <a:sym typeface="Roboto"/>
              </a:rPr>
              <a:t>Speed = (50/3) * (18/5) =60 km/hr</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70000"/>
              </a:lnSpc>
              <a:spcBef>
                <a:spcPts val="800"/>
              </a:spcBef>
              <a:spcAft>
                <a:spcPts val="0"/>
              </a:spcAft>
              <a:buClr>
                <a:schemeClr val="dk1"/>
              </a:buClr>
              <a:buSzPts val="1100"/>
              <a:buFont typeface="Arial"/>
              <a:buNone/>
            </a:pPr>
            <a:r>
              <a:rPr b="0" i="0" lang="en" sz="1050" u="none" cap="none" strike="noStrike">
                <a:solidFill>
                  <a:schemeClr val="dk1"/>
                </a:solidFill>
                <a:highlight>
                  <a:schemeClr val="lt1"/>
                </a:highlight>
                <a:latin typeface="Roboto"/>
                <a:ea typeface="Roboto"/>
                <a:cs typeface="Roboto"/>
                <a:sym typeface="Roboto"/>
              </a:rPr>
              <a:t> </a:t>
            </a:r>
            <a:endParaRPr b="0" i="0" sz="1050" u="none" cap="none" strike="noStrike">
              <a:solidFill>
                <a:schemeClr val="dk1"/>
              </a:solidFill>
              <a:highlight>
                <a:schemeClr val="lt1"/>
              </a:highlight>
              <a:latin typeface="Roboto"/>
              <a:ea typeface="Roboto"/>
              <a:cs typeface="Roboto"/>
              <a:sym typeface="Roboto"/>
            </a:endParaRPr>
          </a:p>
          <a:p>
            <a:pPr indent="0" lvl="0" marL="152400" marR="0" rtl="0" algn="l">
              <a:lnSpc>
                <a:spcPct val="115000"/>
              </a:lnSpc>
              <a:spcBef>
                <a:spcPts val="80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19" name="Google Shape;219;p25"/>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8182EF"/>
                </a:solidFill>
                <a:latin typeface="Roboto"/>
                <a:ea typeface="Roboto"/>
                <a:cs typeface="Roboto"/>
                <a:sym typeface="Roboto"/>
              </a:rPr>
              <a:t>Explanation: 10</a:t>
            </a:r>
            <a:endParaRPr b="1" sz="2000">
              <a:solidFill>
                <a:srgbClr val="8182EF"/>
              </a:solidFill>
              <a:latin typeface="Roboto"/>
              <a:ea typeface="Roboto"/>
              <a:cs typeface="Roboto"/>
              <a:sym typeface="Robo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6"/>
          <p:cNvSpPr txBox="1"/>
          <p:nvPr/>
        </p:nvSpPr>
        <p:spPr>
          <a:xfrm>
            <a:off x="722375" y="1435601"/>
            <a:ext cx="8092800" cy="31296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400"/>
              <a:buFont typeface="Arial"/>
              <a:buNone/>
            </a:pPr>
            <a:r>
              <a:rPr b="0" i="0" lang="en" sz="1600" u="none" cap="none" strike="noStrike">
                <a:solidFill>
                  <a:schemeClr val="dk1"/>
                </a:solidFill>
                <a:highlight>
                  <a:schemeClr val="lt1"/>
                </a:highlight>
                <a:latin typeface="Roboto"/>
                <a:ea typeface="Roboto"/>
                <a:cs typeface="Roboto"/>
                <a:sym typeface="Roboto"/>
              </a:rPr>
              <a:t>Two trains 140 m and 160 m long run at the speed of 60 km/hr and 40 km/hr respectively in opposite directions on parallel tracks. The time (in seconds) which they take to cross each other, is:</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80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9</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9.6</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10</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10.8</a:t>
            </a:r>
            <a:endParaRPr b="0" i="0" sz="1600" u="none" cap="none" strike="noStrike">
              <a:solidFill>
                <a:schemeClr val="dk1"/>
              </a:solidFill>
              <a:highlight>
                <a:schemeClr val="lt1"/>
              </a:highlight>
              <a:latin typeface="Roboto"/>
              <a:ea typeface="Roboto"/>
              <a:cs typeface="Roboto"/>
              <a:sym typeface="Roboto"/>
            </a:endParaRPr>
          </a:p>
          <a:p>
            <a:pPr indent="0" lvl="0" marL="0" marR="0" rtl="0" algn="l">
              <a:lnSpc>
                <a:spcPct val="150000"/>
              </a:lnSpc>
              <a:spcBef>
                <a:spcPts val="800"/>
              </a:spcBef>
              <a:spcAft>
                <a:spcPts val="0"/>
              </a:spcAft>
              <a:buClr>
                <a:srgbClr val="000000"/>
              </a:buClr>
              <a:buSzPts val="1400"/>
              <a:buFont typeface="Arial"/>
              <a:buNone/>
            </a:pPr>
            <a:r>
              <a:t/>
            </a:r>
            <a:endParaRPr b="0" i="0" sz="1600" u="none" cap="none" strike="noStrike">
              <a:solidFill>
                <a:schemeClr val="dk1"/>
              </a:solidFill>
              <a:latin typeface="Roboto"/>
              <a:ea typeface="Roboto"/>
              <a:cs typeface="Roboto"/>
              <a:sym typeface="Roboto"/>
            </a:endParaRPr>
          </a:p>
        </p:txBody>
      </p:sp>
      <p:sp>
        <p:nvSpPr>
          <p:cNvPr id="225" name="Google Shape;225;p26"/>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Roboto"/>
                <a:ea typeface="Roboto"/>
                <a:cs typeface="Roboto"/>
                <a:sym typeface="Roboto"/>
              </a:rPr>
              <a:t>Answer:D  </a:t>
            </a:r>
            <a:endParaRPr b="1" i="0" sz="1400" u="none" cap="none" strike="noStrike">
              <a:solidFill>
                <a:srgbClr val="000000"/>
              </a:solidFill>
              <a:latin typeface="Roboto"/>
              <a:ea typeface="Roboto"/>
              <a:cs typeface="Roboto"/>
              <a:sym typeface="Roboto"/>
            </a:endParaRPr>
          </a:p>
        </p:txBody>
      </p:sp>
      <p:sp>
        <p:nvSpPr>
          <p:cNvPr id="226" name="Google Shape;226;p26"/>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8182EF"/>
                </a:solidFill>
                <a:latin typeface="Roboto"/>
                <a:ea typeface="Roboto"/>
                <a:cs typeface="Roboto"/>
                <a:sym typeface="Roboto"/>
              </a:rPr>
              <a:t>Question: 11</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0" st="0"/>
                                            </p:txEl>
                                          </p:spTgt>
                                        </p:tgtEl>
                                        <p:attrNameLst>
                                          <p:attrName>style.visibility</p:attrName>
                                        </p:attrNameLst>
                                      </p:cBhvr>
                                      <p:to>
                                        <p:strVal val="visible"/>
                                      </p:to>
                                    </p:set>
                                    <p:animEffect filter="fade" transition="in">
                                      <p:cBhvr>
                                        <p:cTn dur="1000"/>
                                        <p:tgtEl>
                                          <p:spTgt spid="22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1" st="1"/>
                                            </p:txEl>
                                          </p:spTgt>
                                        </p:tgtEl>
                                        <p:attrNameLst>
                                          <p:attrName>style.visibility</p:attrName>
                                        </p:attrNameLst>
                                      </p:cBhvr>
                                      <p:to>
                                        <p:strVal val="visible"/>
                                      </p:to>
                                    </p:set>
                                    <p:animEffect filter="fade" transition="in">
                                      <p:cBhvr>
                                        <p:cTn dur="1000"/>
                                        <p:tgtEl>
                                          <p:spTgt spid="22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2" st="2"/>
                                            </p:txEl>
                                          </p:spTgt>
                                        </p:tgtEl>
                                        <p:attrNameLst>
                                          <p:attrName>style.visibility</p:attrName>
                                        </p:attrNameLst>
                                      </p:cBhvr>
                                      <p:to>
                                        <p:strVal val="visible"/>
                                      </p:to>
                                    </p:set>
                                    <p:animEffect filter="fade" transition="in">
                                      <p:cBhvr>
                                        <p:cTn dur="1000"/>
                                        <p:tgtEl>
                                          <p:spTgt spid="22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3" st="3"/>
                                            </p:txEl>
                                          </p:spTgt>
                                        </p:tgtEl>
                                        <p:attrNameLst>
                                          <p:attrName>style.visibility</p:attrName>
                                        </p:attrNameLst>
                                      </p:cBhvr>
                                      <p:to>
                                        <p:strVal val="visible"/>
                                      </p:to>
                                    </p:set>
                                    <p:animEffect filter="fade" transition="in">
                                      <p:cBhvr>
                                        <p:cTn dur="1000"/>
                                        <p:tgtEl>
                                          <p:spTgt spid="22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4" st="4"/>
                                            </p:txEl>
                                          </p:spTgt>
                                        </p:tgtEl>
                                        <p:attrNameLst>
                                          <p:attrName>style.visibility</p:attrName>
                                        </p:attrNameLst>
                                      </p:cBhvr>
                                      <p:to>
                                        <p:strVal val="visible"/>
                                      </p:to>
                                    </p:set>
                                    <p:animEffect filter="fade" transition="in">
                                      <p:cBhvr>
                                        <p:cTn dur="1000"/>
                                        <p:tgtEl>
                                          <p:spTgt spid="22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4">
                                            <p:txEl>
                                              <p:pRg end="5" st="5"/>
                                            </p:txEl>
                                          </p:spTgt>
                                        </p:tgtEl>
                                        <p:attrNameLst>
                                          <p:attrName>style.visibility</p:attrName>
                                        </p:attrNameLst>
                                      </p:cBhvr>
                                      <p:to>
                                        <p:strVal val="visible"/>
                                      </p:to>
                                    </p:set>
                                    <p:animEffect filter="fade" transition="in">
                                      <p:cBhvr>
                                        <p:cTn dur="1000"/>
                                        <p:tgtEl>
                                          <p:spTgt spid="22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1000"/>
                                        <p:tgtEl>
                                          <p:spTgt spid="2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0" name="Shape 230"/>
        <p:cNvGrpSpPr/>
        <p:nvPr/>
      </p:nvGrpSpPr>
      <p:grpSpPr>
        <a:xfrm>
          <a:off x="0" y="0"/>
          <a:ext cx="0" cy="0"/>
          <a:chOff x="0" y="0"/>
          <a:chExt cx="0" cy="0"/>
        </a:xfrm>
      </p:grpSpPr>
      <p:sp>
        <p:nvSpPr>
          <p:cNvPr id="231" name="Google Shape;231;p27"/>
          <p:cNvSpPr txBox="1"/>
          <p:nvPr/>
        </p:nvSpPr>
        <p:spPr>
          <a:xfrm>
            <a:off x="722375" y="1493775"/>
            <a:ext cx="8004600" cy="212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highlight>
                  <a:schemeClr val="lt1"/>
                </a:highlight>
                <a:latin typeface="Roboto"/>
                <a:ea typeface="Roboto"/>
                <a:cs typeface="Roboto"/>
                <a:sym typeface="Roboto"/>
              </a:rPr>
              <a:t>Relative speed = (60 + 40) km/hr =100 km/hr</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highlight>
                  <a:schemeClr val="lt1"/>
                </a:highlight>
                <a:latin typeface="Roboto"/>
                <a:ea typeface="Roboto"/>
                <a:cs typeface="Roboto"/>
                <a:sym typeface="Roboto"/>
              </a:rPr>
              <a:t>                         = 100 *5/18 m/sec</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highlight>
                  <a:schemeClr val="lt1"/>
                </a:highlight>
                <a:latin typeface="Roboto"/>
                <a:ea typeface="Roboto"/>
                <a:cs typeface="Roboto"/>
                <a:sym typeface="Roboto"/>
              </a:rPr>
              <a:t>                          = 250/9 m/sec</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highlight>
                  <a:schemeClr val="lt1"/>
                </a:highlight>
                <a:latin typeface="Roboto"/>
                <a:ea typeface="Roboto"/>
                <a:cs typeface="Roboto"/>
                <a:sym typeface="Roboto"/>
              </a:rPr>
              <a:t>Distance covered in crossing each other = (140 + 160) m = 300 m.</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highlight>
                  <a:schemeClr val="lt1"/>
                </a:highlight>
                <a:latin typeface="Roboto"/>
                <a:ea typeface="Roboto"/>
                <a:cs typeface="Roboto"/>
                <a:sym typeface="Roboto"/>
              </a:rPr>
              <a:t>Required time = 300 * 9/250 sec</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highlight>
                  <a:schemeClr val="lt1"/>
                </a:highlight>
                <a:latin typeface="Roboto"/>
                <a:ea typeface="Roboto"/>
                <a:cs typeface="Roboto"/>
                <a:sym typeface="Roboto"/>
              </a:rPr>
              <a:t>                        = 54/5 sec</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highlight>
                  <a:schemeClr val="lt1"/>
                </a:highlight>
                <a:latin typeface="Roboto"/>
                <a:ea typeface="Roboto"/>
                <a:cs typeface="Roboto"/>
                <a:sym typeface="Roboto"/>
              </a:rPr>
              <a:t>                        =10.8 sec</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rPr b="0" i="0" lang="en" sz="1400" u="none" cap="none" strike="noStrike">
                <a:solidFill>
                  <a:schemeClr val="dk1"/>
                </a:solidFill>
                <a:highlight>
                  <a:schemeClr val="lt1"/>
                </a:highlight>
                <a:latin typeface="Roboto"/>
                <a:ea typeface="Roboto"/>
                <a:cs typeface="Roboto"/>
                <a:sym typeface="Roboto"/>
              </a:rPr>
              <a:t>                         </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32" name="Google Shape;232;p27"/>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8182EF"/>
                </a:solidFill>
                <a:latin typeface="Roboto"/>
                <a:ea typeface="Roboto"/>
                <a:cs typeface="Roboto"/>
                <a:sym typeface="Roboto"/>
              </a:rPr>
              <a:t>Explanation: 11</a:t>
            </a:r>
            <a:endParaRPr b="1" sz="2000">
              <a:solidFill>
                <a:srgbClr val="8182EF"/>
              </a:solidFill>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8"/>
          <p:cNvSpPr txBox="1"/>
          <p:nvPr/>
        </p:nvSpPr>
        <p:spPr>
          <a:xfrm>
            <a:off x="722375" y="1435599"/>
            <a:ext cx="8472300" cy="2760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400"/>
              <a:buFont typeface="Arial"/>
              <a:buNone/>
            </a:pPr>
            <a:r>
              <a:rPr b="0" i="0" lang="en" sz="1600" u="none" cap="none" strike="noStrike">
                <a:solidFill>
                  <a:schemeClr val="dk1"/>
                </a:solidFill>
                <a:highlight>
                  <a:schemeClr val="lt1"/>
                </a:highlight>
                <a:latin typeface="Roboto"/>
                <a:ea typeface="Roboto"/>
                <a:cs typeface="Roboto"/>
                <a:sym typeface="Roboto"/>
              </a:rPr>
              <a:t>A train 110 metres long is running with a speed of 60 kmph. In what time will it pass a man who is running at 6 kmph in the direction opposite to that in which the train is going?</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80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5 sec</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6 sec</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7 sec</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10 sec</a:t>
            </a:r>
            <a:endParaRPr b="0" i="0" sz="1600" u="none" cap="none" strike="noStrike">
              <a:solidFill>
                <a:schemeClr val="dk1"/>
              </a:solidFill>
              <a:highlight>
                <a:schemeClr val="lt1"/>
              </a:highlight>
              <a:latin typeface="Roboto"/>
              <a:ea typeface="Roboto"/>
              <a:cs typeface="Roboto"/>
              <a:sym typeface="Roboto"/>
            </a:endParaRPr>
          </a:p>
          <a:p>
            <a:pPr indent="0" lvl="0" marL="0" marR="0" rtl="0" algn="l">
              <a:lnSpc>
                <a:spcPct val="150000"/>
              </a:lnSpc>
              <a:spcBef>
                <a:spcPts val="800"/>
              </a:spcBef>
              <a:spcAft>
                <a:spcPts val="0"/>
              </a:spcAft>
              <a:buClr>
                <a:srgbClr val="000000"/>
              </a:buClr>
              <a:buSzPts val="1400"/>
              <a:buFont typeface="Arial"/>
              <a:buNone/>
            </a:pPr>
            <a:r>
              <a:t/>
            </a:r>
            <a:endParaRPr b="0" i="0" sz="1600" u="none" cap="none" strike="noStrike">
              <a:solidFill>
                <a:schemeClr val="dk1"/>
              </a:solidFill>
              <a:latin typeface="Roboto"/>
              <a:ea typeface="Roboto"/>
              <a:cs typeface="Roboto"/>
              <a:sym typeface="Roboto"/>
            </a:endParaRPr>
          </a:p>
        </p:txBody>
      </p:sp>
      <p:sp>
        <p:nvSpPr>
          <p:cNvPr id="238" name="Google Shape;238;p28"/>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Roboto"/>
                <a:ea typeface="Roboto"/>
                <a:cs typeface="Roboto"/>
                <a:sym typeface="Roboto"/>
              </a:rPr>
              <a:t>Answer:B  </a:t>
            </a:r>
            <a:endParaRPr b="1" i="0" sz="1400" u="none" cap="none" strike="noStrike">
              <a:solidFill>
                <a:srgbClr val="000000"/>
              </a:solidFill>
              <a:latin typeface="Roboto"/>
              <a:ea typeface="Roboto"/>
              <a:cs typeface="Roboto"/>
              <a:sym typeface="Roboto"/>
            </a:endParaRPr>
          </a:p>
        </p:txBody>
      </p:sp>
      <p:sp>
        <p:nvSpPr>
          <p:cNvPr id="239" name="Google Shape;239;p28"/>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8182EF"/>
                </a:solidFill>
                <a:latin typeface="Roboto"/>
                <a:ea typeface="Roboto"/>
                <a:cs typeface="Roboto"/>
                <a:sym typeface="Roboto"/>
              </a:rPr>
              <a:t>Question: 12</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0" st="0"/>
                                            </p:txEl>
                                          </p:spTgt>
                                        </p:tgtEl>
                                        <p:attrNameLst>
                                          <p:attrName>style.visibility</p:attrName>
                                        </p:attrNameLst>
                                      </p:cBhvr>
                                      <p:to>
                                        <p:strVal val="visible"/>
                                      </p:to>
                                    </p:set>
                                    <p:animEffect filter="fade" transition="in">
                                      <p:cBhvr>
                                        <p:cTn dur="1000"/>
                                        <p:tgtEl>
                                          <p:spTgt spid="23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1" st="1"/>
                                            </p:txEl>
                                          </p:spTgt>
                                        </p:tgtEl>
                                        <p:attrNameLst>
                                          <p:attrName>style.visibility</p:attrName>
                                        </p:attrNameLst>
                                      </p:cBhvr>
                                      <p:to>
                                        <p:strVal val="visible"/>
                                      </p:to>
                                    </p:set>
                                    <p:animEffect filter="fade" transition="in">
                                      <p:cBhvr>
                                        <p:cTn dur="1000"/>
                                        <p:tgtEl>
                                          <p:spTgt spid="23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2" st="2"/>
                                            </p:txEl>
                                          </p:spTgt>
                                        </p:tgtEl>
                                        <p:attrNameLst>
                                          <p:attrName>style.visibility</p:attrName>
                                        </p:attrNameLst>
                                      </p:cBhvr>
                                      <p:to>
                                        <p:strVal val="visible"/>
                                      </p:to>
                                    </p:set>
                                    <p:animEffect filter="fade" transition="in">
                                      <p:cBhvr>
                                        <p:cTn dur="1000"/>
                                        <p:tgtEl>
                                          <p:spTgt spid="23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3" st="3"/>
                                            </p:txEl>
                                          </p:spTgt>
                                        </p:tgtEl>
                                        <p:attrNameLst>
                                          <p:attrName>style.visibility</p:attrName>
                                        </p:attrNameLst>
                                      </p:cBhvr>
                                      <p:to>
                                        <p:strVal val="visible"/>
                                      </p:to>
                                    </p:set>
                                    <p:animEffect filter="fade" transition="in">
                                      <p:cBhvr>
                                        <p:cTn dur="1000"/>
                                        <p:tgtEl>
                                          <p:spTgt spid="23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4" st="4"/>
                                            </p:txEl>
                                          </p:spTgt>
                                        </p:tgtEl>
                                        <p:attrNameLst>
                                          <p:attrName>style.visibility</p:attrName>
                                        </p:attrNameLst>
                                      </p:cBhvr>
                                      <p:to>
                                        <p:strVal val="visible"/>
                                      </p:to>
                                    </p:set>
                                    <p:animEffect filter="fade" transition="in">
                                      <p:cBhvr>
                                        <p:cTn dur="1000"/>
                                        <p:tgtEl>
                                          <p:spTgt spid="23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5" st="5"/>
                                            </p:txEl>
                                          </p:spTgt>
                                        </p:tgtEl>
                                        <p:attrNameLst>
                                          <p:attrName>style.visibility</p:attrName>
                                        </p:attrNameLst>
                                      </p:cBhvr>
                                      <p:to>
                                        <p:strVal val="visible"/>
                                      </p:to>
                                    </p:set>
                                    <p:animEffect filter="fade" transition="in">
                                      <p:cBhvr>
                                        <p:cTn dur="1000"/>
                                        <p:tgtEl>
                                          <p:spTgt spid="23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
                                        </p:tgtEl>
                                        <p:attrNameLst>
                                          <p:attrName>style.visibility</p:attrName>
                                        </p:attrNameLst>
                                      </p:cBhvr>
                                      <p:to>
                                        <p:strVal val="visible"/>
                                      </p:to>
                                    </p:set>
                                    <p:animEffect filter="fade" transition="in">
                                      <p:cBhvr>
                                        <p:cTn dur="1000"/>
                                        <p:tgtEl>
                                          <p:spTgt spid="2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3" name="Shape 243"/>
        <p:cNvGrpSpPr/>
        <p:nvPr/>
      </p:nvGrpSpPr>
      <p:grpSpPr>
        <a:xfrm>
          <a:off x="0" y="0"/>
          <a:ext cx="0" cy="0"/>
          <a:chOff x="0" y="0"/>
          <a:chExt cx="0" cy="0"/>
        </a:xfrm>
      </p:grpSpPr>
      <p:sp>
        <p:nvSpPr>
          <p:cNvPr id="244" name="Google Shape;244;p29"/>
          <p:cNvSpPr txBox="1"/>
          <p:nvPr/>
        </p:nvSpPr>
        <p:spPr>
          <a:xfrm>
            <a:off x="311750" y="1393450"/>
            <a:ext cx="7785000" cy="432396"/>
          </a:xfrm>
          <a:prstGeom prst="rect">
            <a:avLst/>
          </a:prstGeom>
          <a:noFill/>
          <a:ln>
            <a:noFill/>
          </a:ln>
        </p:spPr>
        <p:txBody>
          <a:bodyPr anchorCtr="0" anchor="t" bIns="91425" lIns="91425" spcFirstLastPara="1" rIns="91425" wrap="square" tIns="91425">
            <a:spAutoFit/>
          </a:bodyPr>
          <a:lstStyle/>
          <a:p>
            <a:pPr indent="0" lvl="0" marL="15240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45" name="Google Shape;245;p29"/>
          <p:cNvSpPr txBox="1"/>
          <p:nvPr/>
        </p:nvSpPr>
        <p:spPr>
          <a:xfrm>
            <a:off x="722375" y="1435600"/>
            <a:ext cx="6011400" cy="1262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highlight>
                  <a:schemeClr val="lt1"/>
                </a:highlight>
                <a:latin typeface="Roboto"/>
                <a:ea typeface="Roboto"/>
                <a:cs typeface="Roboto"/>
                <a:sym typeface="Roboto"/>
              </a:rPr>
              <a:t>Speed of train relative to man = (60 + 6) km/hr = 66 km/hr.</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highlight>
                  <a:schemeClr val="lt1"/>
                </a:highlight>
                <a:latin typeface="Roboto"/>
                <a:ea typeface="Roboto"/>
                <a:cs typeface="Roboto"/>
                <a:sym typeface="Roboto"/>
              </a:rPr>
              <a:t>                                                = 66 * 5/18  m/sec</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highlight>
                  <a:schemeClr val="lt1"/>
                </a:highlight>
                <a:latin typeface="Roboto"/>
                <a:ea typeface="Roboto"/>
                <a:cs typeface="Roboto"/>
                <a:sym typeface="Roboto"/>
              </a:rPr>
              <a:t>                                                = 55/3 m/sec</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highlight>
                  <a:schemeClr val="lt1"/>
                </a:highlight>
                <a:latin typeface="Roboto"/>
                <a:ea typeface="Roboto"/>
                <a:cs typeface="Roboto"/>
                <a:sym typeface="Roboto"/>
              </a:rPr>
              <a:t>Time taken to pass the man    = 110 *3/55 sec</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highlight>
                  <a:schemeClr val="lt1"/>
                </a:highlight>
                <a:latin typeface="Roboto"/>
                <a:ea typeface="Roboto"/>
                <a:cs typeface="Roboto"/>
                <a:sym typeface="Roboto"/>
              </a:rPr>
              <a:t>                                                 = 6 sec</a:t>
            </a:r>
            <a:endParaRPr b="0" i="0" sz="1400" u="none" cap="none" strike="noStrike">
              <a:solidFill>
                <a:schemeClr val="dk1"/>
              </a:solidFill>
              <a:highlight>
                <a:schemeClr val="lt1"/>
              </a:highlight>
              <a:latin typeface="Roboto"/>
              <a:ea typeface="Roboto"/>
              <a:cs typeface="Roboto"/>
              <a:sym typeface="Roboto"/>
            </a:endParaRPr>
          </a:p>
        </p:txBody>
      </p:sp>
      <p:sp>
        <p:nvSpPr>
          <p:cNvPr id="246" name="Google Shape;246;p29"/>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8182EF"/>
                </a:solidFill>
                <a:latin typeface="Roboto"/>
                <a:ea typeface="Roboto"/>
                <a:cs typeface="Roboto"/>
                <a:sym typeface="Roboto"/>
              </a:rPr>
              <a:t>Explanation: 12</a:t>
            </a:r>
            <a:endParaRPr b="1" sz="2000">
              <a:solidFill>
                <a:srgbClr val="8182EF"/>
              </a:solidFill>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0"/>
          <p:cNvSpPr txBox="1"/>
          <p:nvPr/>
        </p:nvSpPr>
        <p:spPr>
          <a:xfrm>
            <a:off x="722375" y="1435600"/>
            <a:ext cx="8092800" cy="31296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400"/>
              <a:buFont typeface="Arial"/>
              <a:buNone/>
            </a:pPr>
            <a:r>
              <a:rPr b="0" i="0" lang="en" sz="1600" u="none" cap="none" strike="noStrike">
                <a:solidFill>
                  <a:schemeClr val="dk1"/>
                </a:solidFill>
                <a:highlight>
                  <a:schemeClr val="lt1"/>
                </a:highlight>
                <a:latin typeface="Roboto"/>
                <a:ea typeface="Roboto"/>
                <a:cs typeface="Roboto"/>
                <a:sym typeface="Roboto"/>
              </a:rPr>
              <a:t>Two goods train each 500 m long, are running in opposite directions on parallel tracks. Their speeds are 45 km/hr and 30 km/hr respectively. Find the time taken by the slower train to pass the driver of the faster one.</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80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12 sec</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24 sec</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48 sec</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60 sec </a:t>
            </a:r>
            <a:endParaRPr b="0" i="0" sz="1600" u="none" cap="none" strike="noStrike">
              <a:solidFill>
                <a:schemeClr val="dk1"/>
              </a:solidFill>
              <a:highlight>
                <a:schemeClr val="lt1"/>
              </a:highlight>
              <a:latin typeface="Roboto"/>
              <a:ea typeface="Roboto"/>
              <a:cs typeface="Roboto"/>
              <a:sym typeface="Roboto"/>
            </a:endParaRPr>
          </a:p>
          <a:p>
            <a:pPr indent="0" lvl="0" marL="0" marR="0" rtl="0" algn="l">
              <a:lnSpc>
                <a:spcPct val="150000"/>
              </a:lnSpc>
              <a:spcBef>
                <a:spcPts val="800"/>
              </a:spcBef>
              <a:spcAft>
                <a:spcPts val="0"/>
              </a:spcAft>
              <a:buClr>
                <a:srgbClr val="000000"/>
              </a:buClr>
              <a:buSzPts val="1800"/>
              <a:buFont typeface="Arial"/>
              <a:buNone/>
            </a:pPr>
            <a:r>
              <a:t/>
            </a:r>
            <a:endParaRPr b="0" i="0" sz="1600" u="none" cap="none" strike="noStrike">
              <a:solidFill>
                <a:schemeClr val="dk1"/>
              </a:solidFill>
              <a:highlight>
                <a:schemeClr val="lt1"/>
              </a:highlight>
              <a:latin typeface="Roboto"/>
              <a:ea typeface="Roboto"/>
              <a:cs typeface="Roboto"/>
              <a:sym typeface="Roboto"/>
            </a:endParaRPr>
          </a:p>
        </p:txBody>
      </p:sp>
      <p:sp>
        <p:nvSpPr>
          <p:cNvPr id="252" name="Google Shape;252;p30"/>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Roboto"/>
                <a:ea typeface="Roboto"/>
                <a:cs typeface="Roboto"/>
                <a:sym typeface="Roboto"/>
              </a:rPr>
              <a:t>Answer:B  </a:t>
            </a:r>
            <a:endParaRPr b="1" i="0" sz="1400" u="none" cap="none" strike="noStrike">
              <a:solidFill>
                <a:srgbClr val="000000"/>
              </a:solidFill>
              <a:latin typeface="Roboto"/>
              <a:ea typeface="Roboto"/>
              <a:cs typeface="Roboto"/>
              <a:sym typeface="Roboto"/>
            </a:endParaRPr>
          </a:p>
        </p:txBody>
      </p:sp>
      <p:sp>
        <p:nvSpPr>
          <p:cNvPr id="253" name="Google Shape;253;p30"/>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8182EF"/>
                </a:solidFill>
                <a:latin typeface="Roboto"/>
                <a:ea typeface="Roboto"/>
                <a:cs typeface="Roboto"/>
                <a:sym typeface="Roboto"/>
              </a:rPr>
              <a:t>Question: 13</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0" st="0"/>
                                            </p:txEl>
                                          </p:spTgt>
                                        </p:tgtEl>
                                        <p:attrNameLst>
                                          <p:attrName>style.visibility</p:attrName>
                                        </p:attrNameLst>
                                      </p:cBhvr>
                                      <p:to>
                                        <p:strVal val="visible"/>
                                      </p:to>
                                    </p:set>
                                    <p:animEffect filter="fade" transition="in">
                                      <p:cBhvr>
                                        <p:cTn dur="1000"/>
                                        <p:tgtEl>
                                          <p:spTgt spid="2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1" st="1"/>
                                            </p:txEl>
                                          </p:spTgt>
                                        </p:tgtEl>
                                        <p:attrNameLst>
                                          <p:attrName>style.visibility</p:attrName>
                                        </p:attrNameLst>
                                      </p:cBhvr>
                                      <p:to>
                                        <p:strVal val="visible"/>
                                      </p:to>
                                    </p:set>
                                    <p:animEffect filter="fade" transition="in">
                                      <p:cBhvr>
                                        <p:cTn dur="1000"/>
                                        <p:tgtEl>
                                          <p:spTgt spid="25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2" st="2"/>
                                            </p:txEl>
                                          </p:spTgt>
                                        </p:tgtEl>
                                        <p:attrNameLst>
                                          <p:attrName>style.visibility</p:attrName>
                                        </p:attrNameLst>
                                      </p:cBhvr>
                                      <p:to>
                                        <p:strVal val="visible"/>
                                      </p:to>
                                    </p:set>
                                    <p:animEffect filter="fade" transition="in">
                                      <p:cBhvr>
                                        <p:cTn dur="1000"/>
                                        <p:tgtEl>
                                          <p:spTgt spid="25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3" st="3"/>
                                            </p:txEl>
                                          </p:spTgt>
                                        </p:tgtEl>
                                        <p:attrNameLst>
                                          <p:attrName>style.visibility</p:attrName>
                                        </p:attrNameLst>
                                      </p:cBhvr>
                                      <p:to>
                                        <p:strVal val="visible"/>
                                      </p:to>
                                    </p:set>
                                    <p:animEffect filter="fade" transition="in">
                                      <p:cBhvr>
                                        <p:cTn dur="1000"/>
                                        <p:tgtEl>
                                          <p:spTgt spid="25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4" st="4"/>
                                            </p:txEl>
                                          </p:spTgt>
                                        </p:tgtEl>
                                        <p:attrNameLst>
                                          <p:attrName>style.visibility</p:attrName>
                                        </p:attrNameLst>
                                      </p:cBhvr>
                                      <p:to>
                                        <p:strVal val="visible"/>
                                      </p:to>
                                    </p:set>
                                    <p:animEffect filter="fade" transition="in">
                                      <p:cBhvr>
                                        <p:cTn dur="1000"/>
                                        <p:tgtEl>
                                          <p:spTgt spid="25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5" st="5"/>
                                            </p:txEl>
                                          </p:spTgt>
                                        </p:tgtEl>
                                        <p:attrNameLst>
                                          <p:attrName>style.visibility</p:attrName>
                                        </p:attrNameLst>
                                      </p:cBhvr>
                                      <p:to>
                                        <p:strVal val="visible"/>
                                      </p:to>
                                    </p:set>
                                    <p:animEffect filter="fade" transition="in">
                                      <p:cBhvr>
                                        <p:cTn dur="1000"/>
                                        <p:tgtEl>
                                          <p:spTgt spid="25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1000"/>
                                        <p:tgtEl>
                                          <p:spTgt spid="2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7" name="Shape 257"/>
        <p:cNvGrpSpPr/>
        <p:nvPr/>
      </p:nvGrpSpPr>
      <p:grpSpPr>
        <a:xfrm>
          <a:off x="0" y="0"/>
          <a:ext cx="0" cy="0"/>
          <a:chOff x="0" y="0"/>
          <a:chExt cx="0" cy="0"/>
        </a:xfrm>
      </p:grpSpPr>
      <p:sp>
        <p:nvSpPr>
          <p:cNvPr id="258" name="Google Shape;258;p31"/>
          <p:cNvSpPr txBox="1"/>
          <p:nvPr/>
        </p:nvSpPr>
        <p:spPr>
          <a:xfrm>
            <a:off x="422728" y="1016906"/>
            <a:ext cx="8472300" cy="484708"/>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100"/>
              <a:buFont typeface="Arial"/>
              <a:buNone/>
            </a:pPr>
            <a:r>
              <a:t/>
            </a:r>
            <a:endParaRPr b="0" i="0" sz="1700" u="none" cap="none" strike="noStrike">
              <a:solidFill>
                <a:schemeClr val="dk1"/>
              </a:solidFill>
              <a:latin typeface="Roboto"/>
              <a:ea typeface="Roboto"/>
              <a:cs typeface="Roboto"/>
              <a:sym typeface="Roboto"/>
            </a:endParaRPr>
          </a:p>
        </p:txBody>
      </p:sp>
      <p:sp>
        <p:nvSpPr>
          <p:cNvPr id="259" name="Google Shape;259;p31"/>
          <p:cNvSpPr txBox="1"/>
          <p:nvPr/>
        </p:nvSpPr>
        <p:spPr>
          <a:xfrm>
            <a:off x="163925" y="1102725"/>
            <a:ext cx="8096700" cy="63758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800"/>
              </a:spcBef>
              <a:spcAft>
                <a:spcPts val="800"/>
              </a:spcAft>
              <a:buClr>
                <a:srgbClr val="000000"/>
              </a:buClr>
              <a:buSzPts val="1400"/>
              <a:buFont typeface="Arial"/>
              <a:buNone/>
            </a:pPr>
            <a:r>
              <a:t/>
            </a:r>
            <a:endParaRPr b="0" i="0" sz="1400" u="none" cap="none" strike="noStrike">
              <a:solidFill>
                <a:schemeClr val="dk1"/>
              </a:solidFill>
              <a:highlight>
                <a:schemeClr val="lt1"/>
              </a:highlight>
              <a:latin typeface="Roboto"/>
              <a:ea typeface="Roboto"/>
              <a:cs typeface="Roboto"/>
              <a:sym typeface="Roboto"/>
            </a:endParaRPr>
          </a:p>
        </p:txBody>
      </p:sp>
      <p:sp>
        <p:nvSpPr>
          <p:cNvPr id="260" name="Google Shape;260;p31"/>
          <p:cNvSpPr txBox="1"/>
          <p:nvPr/>
        </p:nvSpPr>
        <p:spPr>
          <a:xfrm>
            <a:off x="722375" y="1435600"/>
            <a:ext cx="7245000" cy="3014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Roboto"/>
                <a:ea typeface="Roboto"/>
                <a:cs typeface="Roboto"/>
                <a:sym typeface="Roboto"/>
              </a:rPr>
              <a:t>Relative speed = 45 + 30 km/hr</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Roboto"/>
                <a:ea typeface="Roboto"/>
                <a:cs typeface="Roboto"/>
                <a:sym typeface="Roboto"/>
              </a:rPr>
              <a:t>                         = 75*5/18 m/sec</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Roboto"/>
                <a:ea typeface="Roboto"/>
                <a:cs typeface="Roboto"/>
                <a:sym typeface="Roboto"/>
              </a:rPr>
              <a:t>                         = 125/6 m/sec</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800"/>
              </a:spcBef>
              <a:spcAft>
                <a:spcPts val="0"/>
              </a:spcAft>
              <a:buClr>
                <a:srgbClr val="000000"/>
              </a:buClr>
              <a:buSzPts val="1400"/>
              <a:buFont typeface="Arial"/>
              <a:buNone/>
            </a:pPr>
            <a:r>
              <a:rPr b="0" i="0" lang="en" sz="1400" u="none" cap="none" strike="noStrike">
                <a:solidFill>
                  <a:schemeClr val="dk1"/>
                </a:solidFill>
                <a:highlight>
                  <a:schemeClr val="lt1"/>
                </a:highlight>
                <a:latin typeface="Roboto"/>
                <a:ea typeface="Roboto"/>
                <a:cs typeface="Roboto"/>
                <a:sym typeface="Roboto"/>
              </a:rPr>
              <a:t>We have to find the time taken by the slower train to pass the DRIVER of the faster train and not the complete train.</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800"/>
              </a:spcBef>
              <a:spcAft>
                <a:spcPts val="0"/>
              </a:spcAft>
              <a:buClr>
                <a:srgbClr val="000000"/>
              </a:buClr>
              <a:buSzPts val="1400"/>
              <a:buFont typeface="Arial"/>
              <a:buNone/>
            </a:pPr>
            <a:r>
              <a:rPr b="0" i="0" lang="en" sz="1400" u="none" cap="none" strike="noStrike">
                <a:solidFill>
                  <a:schemeClr val="dk1"/>
                </a:solidFill>
                <a:highlight>
                  <a:schemeClr val="lt1"/>
                </a:highlight>
                <a:latin typeface="Roboto"/>
                <a:ea typeface="Roboto"/>
                <a:cs typeface="Roboto"/>
                <a:sym typeface="Roboto"/>
              </a:rPr>
              <a:t>So, distance covered = Length of the slower train.</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800"/>
              </a:spcBef>
              <a:spcAft>
                <a:spcPts val="0"/>
              </a:spcAft>
              <a:buClr>
                <a:srgbClr val="000000"/>
              </a:buClr>
              <a:buSzPts val="1400"/>
              <a:buFont typeface="Arial"/>
              <a:buNone/>
            </a:pPr>
            <a:r>
              <a:rPr b="0" i="0" lang="en" sz="1400" u="none" cap="none" strike="noStrike">
                <a:solidFill>
                  <a:schemeClr val="dk1"/>
                </a:solidFill>
                <a:highlight>
                  <a:schemeClr val="lt1"/>
                </a:highlight>
                <a:latin typeface="Roboto"/>
                <a:ea typeface="Roboto"/>
                <a:cs typeface="Roboto"/>
                <a:sym typeface="Roboto"/>
              </a:rPr>
              <a:t>Therefore, Distance covered = 500 m.</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800"/>
              </a:spcBef>
              <a:spcAft>
                <a:spcPts val="0"/>
              </a:spcAft>
              <a:buClr>
                <a:srgbClr val="000000"/>
              </a:buClr>
              <a:buSzPts val="1400"/>
              <a:buFont typeface="Arial"/>
              <a:buNone/>
            </a:pPr>
            <a:r>
              <a:rPr b="0" i="0" lang="en" sz="1400" u="none" cap="none" strike="noStrike">
                <a:solidFill>
                  <a:schemeClr val="dk1"/>
                </a:solidFill>
                <a:highlight>
                  <a:schemeClr val="lt1"/>
                </a:highlight>
                <a:latin typeface="Roboto"/>
                <a:ea typeface="Roboto"/>
                <a:cs typeface="Roboto"/>
                <a:sym typeface="Roboto"/>
              </a:rPr>
              <a:t>Required time = 500 * 6/125 = 24 sec</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70000"/>
              </a:lnSpc>
              <a:spcBef>
                <a:spcPts val="800"/>
              </a:spcBef>
              <a:spcAft>
                <a:spcPts val="0"/>
              </a:spcAft>
              <a:buClr>
                <a:srgbClr val="000000"/>
              </a:buClr>
              <a:buSzPts val="1050"/>
              <a:buFont typeface="Arial"/>
              <a:buNone/>
            </a:pPr>
            <a:r>
              <a:t/>
            </a:r>
            <a:endParaRPr b="0" i="0" sz="105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80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61" name="Google Shape;261;p31"/>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8182EF"/>
                </a:solidFill>
                <a:latin typeface="Roboto"/>
                <a:ea typeface="Roboto"/>
                <a:cs typeface="Roboto"/>
                <a:sym typeface="Roboto"/>
              </a:rPr>
              <a:t>Explanation: 13</a:t>
            </a:r>
            <a:endParaRPr b="1" sz="2000">
              <a:solidFill>
                <a:srgbClr val="8182EF"/>
              </a:solidFill>
              <a:latin typeface="Roboto"/>
              <a:ea typeface="Roboto"/>
              <a:cs typeface="Roboto"/>
              <a:sym typeface="Robot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32"/>
          <p:cNvSpPr txBox="1"/>
          <p:nvPr/>
        </p:nvSpPr>
        <p:spPr>
          <a:xfrm>
            <a:off x="722375" y="1435599"/>
            <a:ext cx="8092800" cy="32940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400"/>
              <a:buFont typeface="Arial"/>
              <a:buNone/>
            </a:pPr>
            <a:r>
              <a:rPr b="0" i="0" lang="en" sz="1600" u="none" cap="none" strike="noStrike">
                <a:solidFill>
                  <a:schemeClr val="dk1"/>
                </a:solidFill>
                <a:highlight>
                  <a:schemeClr val="lt1"/>
                </a:highlight>
                <a:latin typeface="Roboto"/>
                <a:ea typeface="Roboto"/>
                <a:cs typeface="Roboto"/>
                <a:sym typeface="Roboto"/>
              </a:rPr>
              <a:t>Two trains are running in opposite directions with the same speed. If the length of each train is 120 metres and they cross each other in 12 seconds, then the speed of each train (in km/hr) is:</a:t>
            </a:r>
            <a:endParaRPr b="0" i="0" sz="1600" u="none" cap="none" strike="noStrike">
              <a:solidFill>
                <a:schemeClr val="dk1"/>
              </a:solidFill>
              <a:highlight>
                <a:schemeClr val="lt1"/>
              </a:highlight>
              <a:latin typeface="Roboto"/>
              <a:ea typeface="Roboto"/>
              <a:cs typeface="Roboto"/>
              <a:sym typeface="Roboto"/>
            </a:endParaRPr>
          </a:p>
          <a:p>
            <a:pPr indent="0" lvl="0" marL="0" marR="0" rtl="0" algn="l">
              <a:lnSpc>
                <a:spcPct val="150000"/>
              </a:lnSpc>
              <a:spcBef>
                <a:spcPts val="0"/>
              </a:spcBef>
              <a:spcAft>
                <a:spcPts val="0"/>
              </a:spcAft>
              <a:buClr>
                <a:schemeClr val="dk1"/>
              </a:buClr>
              <a:buSzPts val="1400"/>
              <a:buFont typeface="Arial"/>
              <a:buNone/>
            </a:pPr>
            <a:r>
              <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10</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18</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36</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72</a:t>
            </a:r>
            <a:endParaRPr b="0" i="0" sz="1600" u="none" cap="none" strike="noStrike">
              <a:solidFill>
                <a:schemeClr val="dk1"/>
              </a:solidFill>
              <a:highlight>
                <a:schemeClr val="lt1"/>
              </a:highlight>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t/>
            </a:r>
            <a:endParaRPr b="0" i="0" sz="1600" u="none" cap="none" strike="noStrike">
              <a:solidFill>
                <a:schemeClr val="dk1"/>
              </a:solidFill>
              <a:latin typeface="Roboto"/>
              <a:ea typeface="Roboto"/>
              <a:cs typeface="Roboto"/>
              <a:sym typeface="Roboto"/>
            </a:endParaRPr>
          </a:p>
        </p:txBody>
      </p:sp>
      <p:sp>
        <p:nvSpPr>
          <p:cNvPr id="267" name="Google Shape;267;p32"/>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Roboto"/>
                <a:ea typeface="Roboto"/>
                <a:cs typeface="Roboto"/>
                <a:sym typeface="Roboto"/>
              </a:rPr>
              <a:t>Answer:C  </a:t>
            </a:r>
            <a:endParaRPr b="1" i="0" sz="1400" u="none" cap="none" strike="noStrike">
              <a:solidFill>
                <a:srgbClr val="000000"/>
              </a:solidFill>
              <a:latin typeface="Roboto"/>
              <a:ea typeface="Roboto"/>
              <a:cs typeface="Roboto"/>
              <a:sym typeface="Roboto"/>
            </a:endParaRPr>
          </a:p>
        </p:txBody>
      </p:sp>
      <p:sp>
        <p:nvSpPr>
          <p:cNvPr id="268" name="Google Shape;268;p32"/>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8182EF"/>
                </a:solidFill>
                <a:latin typeface="Roboto"/>
                <a:ea typeface="Roboto"/>
                <a:cs typeface="Roboto"/>
                <a:sym typeface="Roboto"/>
              </a:rPr>
              <a:t>Question: 14</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0" st="0"/>
                                            </p:txEl>
                                          </p:spTgt>
                                        </p:tgtEl>
                                        <p:attrNameLst>
                                          <p:attrName>style.visibility</p:attrName>
                                        </p:attrNameLst>
                                      </p:cBhvr>
                                      <p:to>
                                        <p:strVal val="visible"/>
                                      </p:to>
                                    </p:set>
                                    <p:animEffect filter="fade" transition="in">
                                      <p:cBhvr>
                                        <p:cTn dur="1000"/>
                                        <p:tgtEl>
                                          <p:spTgt spid="26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1" st="1"/>
                                            </p:txEl>
                                          </p:spTgt>
                                        </p:tgtEl>
                                        <p:attrNameLst>
                                          <p:attrName>style.visibility</p:attrName>
                                        </p:attrNameLst>
                                      </p:cBhvr>
                                      <p:to>
                                        <p:strVal val="visible"/>
                                      </p:to>
                                    </p:set>
                                    <p:animEffect filter="fade" transition="in">
                                      <p:cBhvr>
                                        <p:cTn dur="1000"/>
                                        <p:tgtEl>
                                          <p:spTgt spid="26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2" st="2"/>
                                            </p:txEl>
                                          </p:spTgt>
                                        </p:tgtEl>
                                        <p:attrNameLst>
                                          <p:attrName>style.visibility</p:attrName>
                                        </p:attrNameLst>
                                      </p:cBhvr>
                                      <p:to>
                                        <p:strVal val="visible"/>
                                      </p:to>
                                    </p:set>
                                    <p:animEffect filter="fade" transition="in">
                                      <p:cBhvr>
                                        <p:cTn dur="1000"/>
                                        <p:tgtEl>
                                          <p:spTgt spid="26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3" st="3"/>
                                            </p:txEl>
                                          </p:spTgt>
                                        </p:tgtEl>
                                        <p:attrNameLst>
                                          <p:attrName>style.visibility</p:attrName>
                                        </p:attrNameLst>
                                      </p:cBhvr>
                                      <p:to>
                                        <p:strVal val="visible"/>
                                      </p:to>
                                    </p:set>
                                    <p:animEffect filter="fade" transition="in">
                                      <p:cBhvr>
                                        <p:cTn dur="1000"/>
                                        <p:tgtEl>
                                          <p:spTgt spid="26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4" st="4"/>
                                            </p:txEl>
                                          </p:spTgt>
                                        </p:tgtEl>
                                        <p:attrNameLst>
                                          <p:attrName>style.visibility</p:attrName>
                                        </p:attrNameLst>
                                      </p:cBhvr>
                                      <p:to>
                                        <p:strVal val="visible"/>
                                      </p:to>
                                    </p:set>
                                    <p:animEffect filter="fade" transition="in">
                                      <p:cBhvr>
                                        <p:cTn dur="1000"/>
                                        <p:tgtEl>
                                          <p:spTgt spid="26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5" st="5"/>
                                            </p:txEl>
                                          </p:spTgt>
                                        </p:tgtEl>
                                        <p:attrNameLst>
                                          <p:attrName>style.visibility</p:attrName>
                                        </p:attrNameLst>
                                      </p:cBhvr>
                                      <p:to>
                                        <p:strVal val="visible"/>
                                      </p:to>
                                    </p:set>
                                    <p:animEffect filter="fade" transition="in">
                                      <p:cBhvr>
                                        <p:cTn dur="1000"/>
                                        <p:tgtEl>
                                          <p:spTgt spid="26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6" st="6"/>
                                            </p:txEl>
                                          </p:spTgt>
                                        </p:tgtEl>
                                        <p:attrNameLst>
                                          <p:attrName>style.visibility</p:attrName>
                                        </p:attrNameLst>
                                      </p:cBhvr>
                                      <p:to>
                                        <p:strVal val="visible"/>
                                      </p:to>
                                    </p:set>
                                    <p:animEffect filter="fade" transition="in">
                                      <p:cBhvr>
                                        <p:cTn dur="1000"/>
                                        <p:tgtEl>
                                          <p:spTgt spid="26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7"/>
                                        </p:tgtEl>
                                        <p:attrNameLst>
                                          <p:attrName>style.visibility</p:attrName>
                                        </p:attrNameLst>
                                      </p:cBhvr>
                                      <p:to>
                                        <p:strVal val="visible"/>
                                      </p:to>
                                    </p:set>
                                    <p:animEffect filter="fade" transition="in">
                                      <p:cBhvr>
                                        <p:cTn dur="1000"/>
                                        <p:tgtEl>
                                          <p:spTgt spid="2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2" name="Shape 272"/>
        <p:cNvGrpSpPr/>
        <p:nvPr/>
      </p:nvGrpSpPr>
      <p:grpSpPr>
        <a:xfrm>
          <a:off x="0" y="0"/>
          <a:ext cx="0" cy="0"/>
          <a:chOff x="0" y="0"/>
          <a:chExt cx="0" cy="0"/>
        </a:xfrm>
      </p:grpSpPr>
      <p:sp>
        <p:nvSpPr>
          <p:cNvPr id="273" name="Google Shape;273;p33"/>
          <p:cNvSpPr txBox="1"/>
          <p:nvPr/>
        </p:nvSpPr>
        <p:spPr>
          <a:xfrm>
            <a:off x="722375" y="1435600"/>
            <a:ext cx="8096700" cy="2308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800"/>
              </a:spcBef>
              <a:spcAft>
                <a:spcPts val="0"/>
              </a:spcAft>
              <a:buClr>
                <a:schemeClr val="dk1"/>
              </a:buClr>
              <a:buSzPts val="1100"/>
              <a:buFont typeface="Arial"/>
              <a:buNone/>
            </a:pPr>
            <a:r>
              <a:rPr b="0" i="0" lang="en" sz="1400" u="none" cap="none" strike="noStrike">
                <a:solidFill>
                  <a:schemeClr val="dk1"/>
                </a:solidFill>
                <a:highlight>
                  <a:schemeClr val="lt1"/>
                </a:highlight>
                <a:latin typeface="Roboto"/>
                <a:ea typeface="Roboto"/>
                <a:cs typeface="Roboto"/>
                <a:sym typeface="Roboto"/>
              </a:rPr>
              <a:t>Let the speed of each train be </a:t>
            </a:r>
            <a:r>
              <a:rPr b="0" i="1" lang="en" sz="1400" u="none" cap="none" strike="noStrike">
                <a:solidFill>
                  <a:schemeClr val="dk1"/>
                </a:solidFill>
                <a:highlight>
                  <a:schemeClr val="lt1"/>
                </a:highlight>
                <a:latin typeface="Roboto"/>
                <a:ea typeface="Roboto"/>
                <a:cs typeface="Roboto"/>
                <a:sym typeface="Roboto"/>
              </a:rPr>
              <a:t>x</a:t>
            </a:r>
            <a:r>
              <a:rPr b="0" i="0" lang="en" sz="1400" u="none" cap="none" strike="noStrike">
                <a:solidFill>
                  <a:schemeClr val="dk1"/>
                </a:solidFill>
                <a:highlight>
                  <a:schemeClr val="lt1"/>
                </a:highlight>
                <a:latin typeface="Roboto"/>
                <a:ea typeface="Roboto"/>
                <a:cs typeface="Roboto"/>
                <a:sym typeface="Roboto"/>
              </a:rPr>
              <a:t> m/sec.</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400"/>
              <a:buFont typeface="Arial"/>
              <a:buNone/>
            </a:pPr>
            <a:r>
              <a:rPr b="0" i="0" lang="en" sz="1400" u="none" cap="none" strike="noStrike">
                <a:solidFill>
                  <a:schemeClr val="dk1"/>
                </a:solidFill>
                <a:highlight>
                  <a:schemeClr val="lt1"/>
                </a:highlight>
                <a:latin typeface="Roboto"/>
                <a:ea typeface="Roboto"/>
                <a:cs typeface="Roboto"/>
                <a:sym typeface="Roboto"/>
              </a:rPr>
              <a:t>Then, relative speed of the two trains = 2</a:t>
            </a:r>
            <a:r>
              <a:rPr b="0" i="1" lang="en" sz="1400" u="none" cap="none" strike="noStrike">
                <a:solidFill>
                  <a:schemeClr val="dk1"/>
                </a:solidFill>
                <a:highlight>
                  <a:schemeClr val="lt1"/>
                </a:highlight>
                <a:latin typeface="Roboto"/>
                <a:ea typeface="Roboto"/>
                <a:cs typeface="Roboto"/>
                <a:sym typeface="Roboto"/>
              </a:rPr>
              <a:t>x</a:t>
            </a:r>
            <a:r>
              <a:rPr b="0" i="0" lang="en" sz="1400" u="none" cap="none" strike="noStrike">
                <a:solidFill>
                  <a:schemeClr val="dk1"/>
                </a:solidFill>
                <a:highlight>
                  <a:schemeClr val="lt1"/>
                </a:highlight>
                <a:latin typeface="Roboto"/>
                <a:ea typeface="Roboto"/>
                <a:cs typeface="Roboto"/>
                <a:sym typeface="Roboto"/>
              </a:rPr>
              <a:t> m/sec.</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400"/>
              <a:buFont typeface="Arial"/>
              <a:buNone/>
            </a:pPr>
            <a:r>
              <a:rPr b="0" i="0" lang="en" sz="1400" u="none" cap="none" strike="noStrike">
                <a:solidFill>
                  <a:schemeClr val="dk1"/>
                </a:solidFill>
                <a:highlight>
                  <a:schemeClr val="lt1"/>
                </a:highlight>
                <a:latin typeface="Roboto"/>
                <a:ea typeface="Roboto"/>
                <a:cs typeface="Roboto"/>
                <a:sym typeface="Roboto"/>
              </a:rPr>
              <a:t>                     (120+120)/12 = 2x</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400"/>
              <a:buFont typeface="Arial"/>
              <a:buNone/>
            </a:pPr>
            <a:r>
              <a:rPr b="0" i="0" lang="en" sz="1400" u="none" cap="none" strike="noStrike">
                <a:solidFill>
                  <a:schemeClr val="dk1"/>
                </a:solidFill>
                <a:highlight>
                  <a:schemeClr val="lt1"/>
                </a:highlight>
                <a:latin typeface="Roboto"/>
                <a:ea typeface="Roboto"/>
                <a:cs typeface="Roboto"/>
                <a:sym typeface="Roboto"/>
              </a:rPr>
              <a:t>                      2x=20 =&gt; x=10</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400"/>
              <a:buFont typeface="Arial"/>
              <a:buNone/>
            </a:pPr>
            <a:r>
              <a:rPr b="0" i="0" lang="en" sz="1400" u="none" cap="none" strike="noStrike">
                <a:solidFill>
                  <a:schemeClr val="dk1"/>
                </a:solidFill>
                <a:highlight>
                  <a:schemeClr val="lt1"/>
                </a:highlight>
                <a:latin typeface="Roboto"/>
                <a:ea typeface="Roboto"/>
                <a:cs typeface="Roboto"/>
                <a:sym typeface="Roboto"/>
              </a:rPr>
              <a:t>Speed of the train = 10 m/sec = 10* 18/5 km/hr</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800"/>
              </a:spcBef>
              <a:spcAft>
                <a:spcPts val="0"/>
              </a:spcAft>
              <a:buClr>
                <a:schemeClr val="dk1"/>
              </a:buClr>
              <a:buSzPts val="1100"/>
              <a:buFont typeface="Arial"/>
              <a:buNone/>
            </a:pPr>
            <a:r>
              <a:rPr b="0" i="0" lang="en" sz="1400" u="none" cap="none" strike="noStrike">
                <a:solidFill>
                  <a:schemeClr val="dk1"/>
                </a:solidFill>
                <a:highlight>
                  <a:schemeClr val="lt1"/>
                </a:highlight>
                <a:latin typeface="Roboto"/>
                <a:ea typeface="Roboto"/>
                <a:cs typeface="Roboto"/>
                <a:sym typeface="Roboto"/>
              </a:rPr>
              <a:t>                             = 36 km/hr</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15000"/>
              </a:lnSpc>
              <a:spcBef>
                <a:spcPts val="800"/>
              </a:spcBef>
              <a:spcAft>
                <a:spcPts val="800"/>
              </a:spcAft>
              <a:buClr>
                <a:srgbClr val="000000"/>
              </a:buClr>
              <a:buSzPts val="1400"/>
              <a:buFont typeface="Arial"/>
              <a:buNone/>
            </a:pPr>
            <a:r>
              <a:t/>
            </a:r>
            <a:endParaRPr b="0" i="0" sz="1400" u="none" cap="none" strike="noStrike">
              <a:solidFill>
                <a:schemeClr val="dk1"/>
              </a:solidFill>
              <a:highlight>
                <a:schemeClr val="lt1"/>
              </a:highlight>
              <a:latin typeface="Roboto"/>
              <a:ea typeface="Roboto"/>
              <a:cs typeface="Roboto"/>
              <a:sym typeface="Roboto"/>
            </a:endParaRPr>
          </a:p>
        </p:txBody>
      </p:sp>
      <p:sp>
        <p:nvSpPr>
          <p:cNvPr id="274" name="Google Shape;274;p33"/>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8182EF"/>
                </a:solidFill>
                <a:latin typeface="Roboto"/>
                <a:ea typeface="Roboto"/>
                <a:cs typeface="Roboto"/>
                <a:sym typeface="Roboto"/>
              </a:rPr>
              <a:t>Explanation: 14</a:t>
            </a:r>
            <a:endParaRPr b="1" sz="2000">
              <a:solidFill>
                <a:srgbClr val="8182EF"/>
              </a:solidFill>
              <a:latin typeface="Roboto"/>
              <a:ea typeface="Roboto"/>
              <a:cs typeface="Roboto"/>
              <a:sym typeface="Robot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g1e9dd8e0edc_0_52"/>
          <p:cNvSpPr txBox="1"/>
          <p:nvPr/>
        </p:nvSpPr>
        <p:spPr>
          <a:xfrm>
            <a:off x="722375" y="1427024"/>
            <a:ext cx="8472300" cy="31296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400"/>
              <a:buFont typeface="Arial"/>
              <a:buNone/>
            </a:pPr>
            <a:r>
              <a:rPr b="0" i="0" lang="en" sz="1600" u="none" cap="none" strike="noStrike">
                <a:solidFill>
                  <a:schemeClr val="dk1"/>
                </a:solidFill>
                <a:highlight>
                  <a:schemeClr val="lt1"/>
                </a:highlight>
                <a:latin typeface="Roboto"/>
                <a:ea typeface="Roboto"/>
                <a:cs typeface="Roboto"/>
                <a:sym typeface="Roboto"/>
              </a:rPr>
              <a:t>Two trains are moving in opposite directions @ 60 km/hr and 90 km/hr. Their lengths are 1.10 km and 0.9 km respectively. The time taken by the slower train to cross the faster train in seconds is:</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80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36</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45</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48</a:t>
            </a:r>
            <a:endParaRPr b="0" i="0" sz="1600" u="none" cap="none" strike="noStrike">
              <a:solidFill>
                <a:schemeClr val="dk1"/>
              </a:solidFill>
              <a:highlight>
                <a:schemeClr val="lt1"/>
              </a:highlight>
              <a:latin typeface="Roboto"/>
              <a:ea typeface="Roboto"/>
              <a:cs typeface="Roboto"/>
              <a:sym typeface="Roboto"/>
            </a:endParaRPr>
          </a:p>
          <a:p>
            <a:pPr indent="-330200" lvl="0" marL="457200" marR="0" rtl="0" algn="l">
              <a:lnSpc>
                <a:spcPct val="150000"/>
              </a:lnSpc>
              <a:spcBef>
                <a:spcPts val="0"/>
              </a:spcBef>
              <a:spcAft>
                <a:spcPts val="0"/>
              </a:spcAft>
              <a:buClr>
                <a:schemeClr val="dk1"/>
              </a:buClr>
              <a:buSzPts val="1600"/>
              <a:buFont typeface="Roboto"/>
              <a:buAutoNum type="alphaUcPeriod"/>
            </a:pPr>
            <a:r>
              <a:rPr b="0" i="0" lang="en" sz="1600" u="none" cap="none" strike="noStrike">
                <a:solidFill>
                  <a:schemeClr val="dk1"/>
                </a:solidFill>
                <a:highlight>
                  <a:schemeClr val="lt1"/>
                </a:highlight>
                <a:latin typeface="Roboto"/>
                <a:ea typeface="Roboto"/>
                <a:cs typeface="Roboto"/>
                <a:sym typeface="Roboto"/>
              </a:rPr>
              <a:t>49</a:t>
            </a:r>
            <a:endParaRPr b="0" i="0" sz="1600" u="none" cap="none" strike="noStrike">
              <a:solidFill>
                <a:schemeClr val="dk1"/>
              </a:solidFill>
              <a:highlight>
                <a:schemeClr val="lt1"/>
              </a:highlight>
              <a:latin typeface="Roboto"/>
              <a:ea typeface="Roboto"/>
              <a:cs typeface="Roboto"/>
              <a:sym typeface="Roboto"/>
            </a:endParaRPr>
          </a:p>
          <a:p>
            <a:pPr indent="0" lvl="0" marL="0" marR="0" rtl="0" algn="l">
              <a:lnSpc>
                <a:spcPct val="150000"/>
              </a:lnSpc>
              <a:spcBef>
                <a:spcPts val="800"/>
              </a:spcBef>
              <a:spcAft>
                <a:spcPts val="0"/>
              </a:spcAft>
              <a:buClr>
                <a:srgbClr val="000000"/>
              </a:buClr>
              <a:buSzPts val="1600"/>
              <a:buFont typeface="Arial"/>
              <a:buNone/>
            </a:pPr>
            <a:r>
              <a:t/>
            </a:r>
            <a:endParaRPr b="0" i="0" sz="1600" u="none" cap="none" strike="noStrike">
              <a:solidFill>
                <a:schemeClr val="dk1"/>
              </a:solidFill>
              <a:latin typeface="Roboto"/>
              <a:ea typeface="Roboto"/>
              <a:cs typeface="Roboto"/>
              <a:sym typeface="Roboto"/>
            </a:endParaRPr>
          </a:p>
        </p:txBody>
      </p:sp>
      <p:sp>
        <p:nvSpPr>
          <p:cNvPr id="280" name="Google Shape;280;g1e9dd8e0edc_0_52"/>
          <p:cNvSpPr txBox="1"/>
          <p:nvPr/>
        </p:nvSpPr>
        <p:spPr>
          <a:xfrm>
            <a:off x="7250475" y="4171350"/>
            <a:ext cx="1564500" cy="475200"/>
          </a:xfrm>
          <a:prstGeom prst="rect">
            <a:avLst/>
          </a:prstGeom>
          <a:no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Roboto"/>
                <a:ea typeface="Roboto"/>
                <a:cs typeface="Roboto"/>
                <a:sym typeface="Roboto"/>
              </a:rPr>
              <a:t>Answer:C  </a:t>
            </a:r>
            <a:endParaRPr b="1" i="0" sz="1400" u="none" cap="none" strike="noStrike">
              <a:solidFill>
                <a:srgbClr val="000000"/>
              </a:solidFill>
              <a:latin typeface="Roboto"/>
              <a:ea typeface="Roboto"/>
              <a:cs typeface="Roboto"/>
              <a:sym typeface="Roboto"/>
            </a:endParaRPr>
          </a:p>
        </p:txBody>
      </p:sp>
      <p:sp>
        <p:nvSpPr>
          <p:cNvPr id="281" name="Google Shape;281;g1e9dd8e0edc_0_52"/>
          <p:cNvSpPr txBox="1"/>
          <p:nvPr/>
        </p:nvSpPr>
        <p:spPr>
          <a:xfrm>
            <a:off x="72232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8182EF"/>
                </a:solidFill>
                <a:latin typeface="Roboto"/>
                <a:ea typeface="Roboto"/>
                <a:cs typeface="Roboto"/>
                <a:sym typeface="Roboto"/>
              </a:rPr>
              <a:t>Question: 15</a:t>
            </a:r>
            <a:endParaRPr b="1" sz="2000">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xEl>
                                              <p:pRg end="0" st="0"/>
                                            </p:txEl>
                                          </p:spTgt>
                                        </p:tgtEl>
                                        <p:attrNameLst>
                                          <p:attrName>style.visibility</p:attrName>
                                        </p:attrNameLst>
                                      </p:cBhvr>
                                      <p:to>
                                        <p:strVal val="visible"/>
                                      </p:to>
                                    </p:set>
                                    <p:animEffect filter="fade" transition="in">
                                      <p:cBhvr>
                                        <p:cTn dur="1000"/>
                                        <p:tgtEl>
                                          <p:spTgt spid="27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xEl>
                                              <p:pRg end="1" st="1"/>
                                            </p:txEl>
                                          </p:spTgt>
                                        </p:tgtEl>
                                        <p:attrNameLst>
                                          <p:attrName>style.visibility</p:attrName>
                                        </p:attrNameLst>
                                      </p:cBhvr>
                                      <p:to>
                                        <p:strVal val="visible"/>
                                      </p:to>
                                    </p:set>
                                    <p:animEffect filter="fade" transition="in">
                                      <p:cBhvr>
                                        <p:cTn dur="1000"/>
                                        <p:tgtEl>
                                          <p:spTgt spid="27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xEl>
                                              <p:pRg end="2" st="2"/>
                                            </p:txEl>
                                          </p:spTgt>
                                        </p:tgtEl>
                                        <p:attrNameLst>
                                          <p:attrName>style.visibility</p:attrName>
                                        </p:attrNameLst>
                                      </p:cBhvr>
                                      <p:to>
                                        <p:strVal val="visible"/>
                                      </p:to>
                                    </p:set>
                                    <p:animEffect filter="fade" transition="in">
                                      <p:cBhvr>
                                        <p:cTn dur="1000"/>
                                        <p:tgtEl>
                                          <p:spTgt spid="27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xEl>
                                              <p:pRg end="3" st="3"/>
                                            </p:txEl>
                                          </p:spTgt>
                                        </p:tgtEl>
                                        <p:attrNameLst>
                                          <p:attrName>style.visibility</p:attrName>
                                        </p:attrNameLst>
                                      </p:cBhvr>
                                      <p:to>
                                        <p:strVal val="visible"/>
                                      </p:to>
                                    </p:set>
                                    <p:animEffect filter="fade" transition="in">
                                      <p:cBhvr>
                                        <p:cTn dur="1000"/>
                                        <p:tgtEl>
                                          <p:spTgt spid="27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xEl>
                                              <p:pRg end="4" st="4"/>
                                            </p:txEl>
                                          </p:spTgt>
                                        </p:tgtEl>
                                        <p:attrNameLst>
                                          <p:attrName>style.visibility</p:attrName>
                                        </p:attrNameLst>
                                      </p:cBhvr>
                                      <p:to>
                                        <p:strVal val="visible"/>
                                      </p:to>
                                    </p:set>
                                    <p:animEffect filter="fade" transition="in">
                                      <p:cBhvr>
                                        <p:cTn dur="1000"/>
                                        <p:tgtEl>
                                          <p:spTgt spid="27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9">
                                            <p:txEl>
                                              <p:pRg end="5" st="5"/>
                                            </p:txEl>
                                          </p:spTgt>
                                        </p:tgtEl>
                                        <p:attrNameLst>
                                          <p:attrName>style.visibility</p:attrName>
                                        </p:attrNameLst>
                                      </p:cBhvr>
                                      <p:to>
                                        <p:strVal val="visible"/>
                                      </p:to>
                                    </p:set>
                                    <p:animEffect filter="fade" transition="in">
                                      <p:cBhvr>
                                        <p:cTn dur="1000"/>
                                        <p:tgtEl>
                                          <p:spTgt spid="27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1000"/>
                                        <p:tgtEl>
                                          <p:spTgt spid="2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5" name="Shape 285"/>
        <p:cNvGrpSpPr/>
        <p:nvPr/>
      </p:nvGrpSpPr>
      <p:grpSpPr>
        <a:xfrm>
          <a:off x="0" y="0"/>
          <a:ext cx="0" cy="0"/>
          <a:chOff x="0" y="0"/>
          <a:chExt cx="0" cy="0"/>
        </a:xfrm>
      </p:grpSpPr>
      <p:sp>
        <p:nvSpPr>
          <p:cNvPr id="286" name="Google Shape;286;g1e9dd8e0edc_0_60"/>
          <p:cNvSpPr txBox="1"/>
          <p:nvPr/>
        </p:nvSpPr>
        <p:spPr>
          <a:xfrm>
            <a:off x="422728" y="1016906"/>
            <a:ext cx="8472300" cy="415458"/>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p:txBody>
      </p:sp>
      <p:sp>
        <p:nvSpPr>
          <p:cNvPr id="287" name="Google Shape;287;g1e9dd8e0edc_0_60"/>
          <p:cNvSpPr txBox="1"/>
          <p:nvPr/>
        </p:nvSpPr>
        <p:spPr>
          <a:xfrm>
            <a:off x="722375" y="1435600"/>
            <a:ext cx="5830200" cy="1262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highlight>
                  <a:schemeClr val="lt1"/>
                </a:highlight>
                <a:latin typeface="Roboto"/>
                <a:ea typeface="Roboto"/>
                <a:cs typeface="Roboto"/>
                <a:sym typeface="Roboto"/>
              </a:rPr>
              <a:t>Relative speed = (60+ 90) km/hr</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highlight>
                  <a:schemeClr val="lt1"/>
                </a:highlight>
                <a:latin typeface="Roboto"/>
                <a:ea typeface="Roboto"/>
                <a:cs typeface="Roboto"/>
                <a:sym typeface="Roboto"/>
              </a:rPr>
              <a:t>                         = 150 * 5/18 m/sec</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highlight>
                  <a:schemeClr val="lt1"/>
                </a:highlight>
                <a:latin typeface="Roboto"/>
                <a:ea typeface="Roboto"/>
                <a:cs typeface="Roboto"/>
                <a:sym typeface="Roboto"/>
              </a:rPr>
              <a:t>                         = 125/3 m/sec</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highlight>
                  <a:schemeClr val="lt1"/>
                </a:highlight>
                <a:latin typeface="Roboto"/>
                <a:ea typeface="Roboto"/>
                <a:cs typeface="Roboto"/>
                <a:sym typeface="Roboto"/>
              </a:rPr>
              <a:t>Distance covered = (1.10 + 0.9) km = 2 km = 2000 m.</a:t>
            </a:r>
            <a:endParaRPr b="0" i="0" sz="1400" u="none" cap="none" strike="noStrike">
              <a:solidFill>
                <a:schemeClr val="dk1"/>
              </a:solidFill>
              <a:highlight>
                <a:schemeClr val="lt1"/>
              </a:highlight>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highlight>
                  <a:schemeClr val="lt1"/>
                </a:highlight>
                <a:latin typeface="Roboto"/>
                <a:ea typeface="Roboto"/>
                <a:cs typeface="Roboto"/>
                <a:sym typeface="Roboto"/>
              </a:rPr>
              <a:t>Required time = 200 * 3/125 sec = 48 sec</a:t>
            </a:r>
            <a:endParaRPr b="0" i="0" sz="1400" u="none" cap="none" strike="noStrike">
              <a:solidFill>
                <a:schemeClr val="dk1"/>
              </a:solidFill>
              <a:highlight>
                <a:schemeClr val="lt1"/>
              </a:highlight>
              <a:latin typeface="Roboto"/>
              <a:ea typeface="Roboto"/>
              <a:cs typeface="Roboto"/>
              <a:sym typeface="Roboto"/>
            </a:endParaRPr>
          </a:p>
        </p:txBody>
      </p:sp>
      <p:sp>
        <p:nvSpPr>
          <p:cNvPr id="288" name="Google Shape;288;g1e9dd8e0edc_0_60"/>
          <p:cNvSpPr txBox="1"/>
          <p:nvPr/>
        </p:nvSpPr>
        <p:spPr>
          <a:xfrm>
            <a:off x="722375" y="63025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rgbClr val="8182EF"/>
                </a:solidFill>
                <a:latin typeface="Roboto"/>
                <a:ea typeface="Roboto"/>
                <a:cs typeface="Roboto"/>
                <a:sym typeface="Roboto"/>
              </a:rPr>
              <a:t>Explanation: 15</a:t>
            </a:r>
            <a:endParaRPr b="1" sz="2000">
              <a:solidFill>
                <a:srgbClr val="8182EF"/>
              </a:solidFill>
              <a:latin typeface="Roboto"/>
              <a:ea typeface="Roboto"/>
              <a:cs typeface="Roboto"/>
              <a:sym typeface="Robo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20"/>
          <p:cNvSpPr/>
          <p:nvPr/>
        </p:nvSpPr>
        <p:spPr>
          <a:xfrm>
            <a:off x="555120" y="915840"/>
            <a:ext cx="7544880" cy="83095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294" name="Google Shape;294;p20"/>
          <p:cNvPicPr preferRelativeResize="0"/>
          <p:nvPr/>
        </p:nvPicPr>
        <p:blipFill rotWithShape="1">
          <a:blip r:embed="rId3">
            <a:alphaModFix/>
          </a:blip>
          <a:srcRect b="0" l="0" r="0" t="0"/>
          <a:stretch/>
        </p:blipFill>
        <p:spPr>
          <a:xfrm>
            <a:off x="2799160" y="913210"/>
            <a:ext cx="2855119" cy="2888456"/>
          </a:xfrm>
          <a:prstGeom prst="rect">
            <a:avLst/>
          </a:prstGeom>
          <a:noFill/>
          <a:ln>
            <a:noFill/>
          </a:ln>
        </p:spPr>
      </p:pic>
      <p:sp>
        <p:nvSpPr>
          <p:cNvPr id="295" name="Google Shape;295;p20"/>
          <p:cNvSpPr/>
          <p:nvPr/>
        </p:nvSpPr>
        <p:spPr>
          <a:xfrm>
            <a:off x="1634729" y="4055269"/>
            <a:ext cx="5183981" cy="28456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301" name="Google Shape;301;p2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302" name="Google Shape;302;p21"/>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303" name="Google Shape;303;p21"/>
          <p:cNvSpPr txBox="1"/>
          <p:nvPr/>
        </p:nvSpPr>
        <p:spPr>
          <a:xfrm>
            <a:off x="3141000" y="2194650"/>
            <a:ext cx="2862000" cy="754022"/>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304" name="Google Shape;304;p21"/>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305" name="Google Shape;305;p21"/>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306" name="Google Shape;306;p21"/>
          <p:cNvSpPr txBox="1"/>
          <p:nvPr/>
        </p:nvSpPr>
        <p:spPr>
          <a:xfrm>
            <a:off x="1980750" y="4590801"/>
            <a:ext cx="11871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307" name="Google Shape;307;p21"/>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308" name="Google Shape;308;p21"/>
          <p:cNvSpPr txBox="1"/>
          <p:nvPr/>
        </p:nvSpPr>
        <p:spPr>
          <a:xfrm>
            <a:off x="3519050"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309" name="Google Shape;309;p21"/>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310" name="Google Shape;310;p21"/>
          <p:cNvSpPr txBox="1"/>
          <p:nvPr/>
        </p:nvSpPr>
        <p:spPr>
          <a:xfrm>
            <a:off x="5457275" y="4590801"/>
            <a:ext cx="1934700" cy="33852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311" name="Google Shape;311;p21"/>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Megala Ekambaram</dc:creator>
</cp:coreProperties>
</file>