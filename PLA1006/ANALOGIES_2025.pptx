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Roboto Black"/>
      <p:bold r:id="rId51"/>
      <p:boldItalic r:id="rId52"/>
    </p:embeddedFont>
    <p:embeddedFont>
      <p:font typeface="Roboto"/>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orient="horz" pos="904">
          <p15:clr>
            <a:srgbClr val="FF0000"/>
          </p15:clr>
        </p15:guide>
        <p15:guide id="3" orient="horz" pos="737">
          <p15:clr>
            <a:srgbClr val="00FF00"/>
          </p15:clr>
        </p15:guide>
        <p15:guide id="4" orient="horz" pos="397">
          <p15:clr>
            <a:srgbClr val="00FF00"/>
          </p15:clr>
        </p15:guide>
        <p15:guide id="5" pos="455">
          <p15:clr>
            <a:srgbClr val="FF00FF"/>
          </p15:clr>
        </p15:guide>
        <p15:guide id="6" pos="5270">
          <p15:clr>
            <a:srgbClr val="FF00FF"/>
          </p15:clr>
        </p15:guide>
      </p15:sldGuideLst>
    </p:ext>
    <p:ext uri="GoogleSlidesCustomDataVersion2">
      <go:slidesCustomData xmlns:go="http://customooxmlschemas.google.com/" r:id="rId57" roundtripDataSignature="AMtx7mhji4giCI9IPWfTiJT53EiHffVp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55CCAA-0C5E-43C4-9806-959E3CF8BCC9}">
  <a:tblStyle styleId="{4955CCAA-0C5E-43C4-9806-959E3CF8BCC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904" orient="horz"/>
        <p:guide pos="737" orient="horz"/>
        <p:guide pos="397" orient="horz"/>
        <p:guide pos="455"/>
        <p:guide pos="527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lack-bold.fntdata"/><Relationship Id="rId50" Type="http://schemas.openxmlformats.org/officeDocument/2006/relationships/slide" Target="slides/slide44.xml"/><Relationship Id="rId53" Type="http://schemas.openxmlformats.org/officeDocument/2006/relationships/font" Target="fonts/Roboto-regular.fntdata"/><Relationship Id="rId52" Type="http://schemas.openxmlformats.org/officeDocument/2006/relationships/font" Target="fonts/RobotoBlack-boldItalic.fntdata"/><Relationship Id="rId11" Type="http://schemas.openxmlformats.org/officeDocument/2006/relationships/slide" Target="slides/slide5.xml"/><Relationship Id="rId55" Type="http://schemas.openxmlformats.org/officeDocument/2006/relationships/font" Target="fonts/Roboto-italic.fntdata"/><Relationship Id="rId10" Type="http://schemas.openxmlformats.org/officeDocument/2006/relationships/slide" Target="slides/slide4.xml"/><Relationship Id="rId54" Type="http://schemas.openxmlformats.org/officeDocument/2006/relationships/font" Target="fonts/Roboto-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Roboto-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aa41245f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aa41245f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1ed013771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31ed01377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1b9cb688cf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1b9cb688cf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1b9cb688cf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1b9cb688cf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ed013771c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31ed013771c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1ed013771c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1ed013771c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1b9cb688cf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31b9cb688cf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b9cb688cf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1b9cb688cf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b9cb688cf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1b9cb688cf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1b9cb688cf_0_3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1b9cb688cf_0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b9cb688cf_0_2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1b9cb688cf_0_2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b9cb688cf_0_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1b9cb688cf_0_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1b9cb688cf_0_2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1b9cb688cf_0_2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b9cb688cf_0_4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1b9cb688cf_0_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1b9cb688cf_0_2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31b9cb688cf_0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b9cb688cf_0_4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31b9cb688cf_0_4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b9cb688cf_0_2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1b9cb688cf_0_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1b9cb688cf_0_4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1b9cb688cf_0_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1b9cb688cf_0_3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1b9cb688cf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1b9cb688cf_0_4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1b9cb688cf_0_4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1b9cb688cf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1b9cb688cf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b9cb688cf_0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g31b9cb688cf_0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b9cb688cf_0_3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31b9cb688cf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1b9cb688cf_0_4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g31b9cb688cf_0_4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1b9cb688cf_0_3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31b9cb688cf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1b9cb688cf_0_4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1b9cb688cf_0_4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1b9cb688cf_0_3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31b9cb688cf_0_3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1b9cb688cf_0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1b9cb688cf_0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1b9cb688cf_0_3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1b9cb688cf_0_3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1b9cb688cf_0_4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1b9cb688cf_0_4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1b9cb688cf_0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31b9cb688cf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b9cb688cf_0_4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1b9cb688cf_0_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800"/>
              <a:buFont typeface="Arial"/>
              <a:buNone/>
            </a:pPr>
            <a:r>
              <a:t/>
            </a:r>
            <a:endParaRPr sz="1800">
              <a:highlight>
                <a:srgbClr val="FFFFFF"/>
              </a:highlight>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1b9cb688cf_0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1b9cb688cf_0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1b9cb688cf_0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1b9cb688cf_0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1b9cb688cf_0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1b9cb688cf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E</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1b9cb688cf_0_4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g31b9cb688cf_0_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1b9cb688cf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g31b9cb688cf_0_3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1b9cb688cf_0_4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g31b9cb688cf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1b9cb688cf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31b9cb688cf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1b9cb688cf_0_4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1b9cb688cf_0_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9: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9: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g13caba5e1c5_0_1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g13caba5e1c5_0_1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g13caba5e1c5_0_1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1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1" name="Google Shape;31;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7" name="Google Shape;3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p4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4" name="Google Shape;44;p42"/>
          <p:cNvPicPr preferRelativeResize="0"/>
          <p:nvPr/>
        </p:nvPicPr>
        <p:blipFill rotWithShape="1">
          <a:blip r:embed="rId3">
            <a:alphaModFix/>
          </a:blip>
          <a:srcRect b="37530" l="0" r="0" t="55603"/>
          <a:stretch/>
        </p:blipFill>
        <p:spPr>
          <a:xfrm>
            <a:off x="0" y="4849200"/>
            <a:ext cx="9144000" cy="294300"/>
          </a:xfrm>
          <a:prstGeom prst="rect">
            <a:avLst/>
          </a:prstGeom>
          <a:noFill/>
          <a:ln>
            <a:noFill/>
          </a:ln>
        </p:spPr>
      </p:pic>
      <p:sp>
        <p:nvSpPr>
          <p:cNvPr id="45" name="Google Shape;45;p4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4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4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4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3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literarydevices.net/comparison/" TargetMode="External"/><Relationship Id="rId4" Type="http://schemas.openxmlformats.org/officeDocument/2006/relationships/hyperlink" Target="https://literarydevices.net/simile/" TargetMode="External"/><Relationship Id="rId5" Type="http://schemas.openxmlformats.org/officeDocument/2006/relationships/hyperlink" Target="https://literarydevices.net/metapho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9.png"/><Relationship Id="rId4" Type="http://schemas.openxmlformats.org/officeDocument/2006/relationships/hyperlink" Target="https://learn.codemithra.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jp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5"/>
          <p:cNvSpPr txBox="1"/>
          <p:nvPr/>
        </p:nvSpPr>
        <p:spPr>
          <a:xfrm>
            <a:off x="148264" y="1741810"/>
            <a:ext cx="4690800" cy="800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4000"/>
              <a:buFont typeface="Arial"/>
              <a:buNone/>
            </a:pPr>
            <a:r>
              <a:rPr b="1" i="0" lang="en-US" sz="4000" u="none" cap="none" strike="noStrike">
                <a:solidFill>
                  <a:schemeClr val="lt1"/>
                </a:solidFill>
                <a:latin typeface="Roboto"/>
                <a:ea typeface="Roboto"/>
                <a:cs typeface="Roboto"/>
                <a:sym typeface="Roboto"/>
              </a:rPr>
              <a:t>AN</a:t>
            </a:r>
            <a:r>
              <a:rPr b="1" lang="en-US" sz="4000">
                <a:solidFill>
                  <a:schemeClr val="lt1"/>
                </a:solidFill>
                <a:latin typeface="Roboto"/>
                <a:ea typeface="Roboto"/>
                <a:cs typeface="Roboto"/>
                <a:sym typeface="Roboto"/>
              </a:rPr>
              <a:t>ALOGIES</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aa41245f3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chemeClr val="dk1"/>
                </a:solidFill>
                <a:highlight>
                  <a:srgbClr val="FFFFFF"/>
                </a:highlight>
                <a:latin typeface="Roboto"/>
                <a:ea typeface="Roboto"/>
                <a:cs typeface="Roboto"/>
                <a:sym typeface="Roboto"/>
              </a:rPr>
              <a:t>QR CODE</a:t>
            </a:r>
            <a:r>
              <a:rPr b="1" lang="en-US"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US"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aa41245f3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US" sz="1800">
                <a:latin typeface="Roboto"/>
                <a:ea typeface="Roboto"/>
                <a:cs typeface="Roboto"/>
                <a:sym typeface="Roboto"/>
              </a:rPr>
              <a:t>                                    Test time on :</a:t>
            </a:r>
            <a:r>
              <a:rPr b="1" i="0" lang="en-US" sz="1800" u="none" cap="none" strike="noStrike">
                <a:solidFill>
                  <a:srgbClr val="000000"/>
                </a:solidFill>
                <a:latin typeface="Roboto"/>
                <a:ea typeface="Roboto"/>
                <a:cs typeface="Roboto"/>
                <a:sym typeface="Roboto"/>
              </a:rPr>
              <a:t> Antonyms</a:t>
            </a:r>
            <a:endParaRPr b="1" i="0" sz="1800" u="none" cap="none" strike="noStrike">
              <a:solidFill>
                <a:srgbClr val="000000"/>
              </a:solidFill>
              <a:latin typeface="Roboto"/>
              <a:ea typeface="Roboto"/>
              <a:cs typeface="Roboto"/>
              <a:sym typeface="Roboto"/>
            </a:endParaRPr>
          </a:p>
        </p:txBody>
      </p:sp>
      <p:sp>
        <p:nvSpPr>
          <p:cNvPr id="72" name="Google Shape;72;g32aa41245f3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3" name="Google Shape;73;g32aa41245f3_0_0"/>
          <p:cNvPicPr preferRelativeResize="0"/>
          <p:nvPr/>
        </p:nvPicPr>
        <p:blipFill>
          <a:blip r:embed="rId3">
            <a:alphaModFix/>
          </a:blip>
          <a:stretch>
            <a:fillRect/>
          </a:stretch>
        </p:blipFill>
        <p:spPr>
          <a:xfrm>
            <a:off x="3437450" y="1900254"/>
            <a:ext cx="1858450" cy="17239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31ed013771c_0_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79" name="Google Shape;79;g31ed013771c_0_0"/>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80" name="Google Shape;80;g31ed013771c_0_0"/>
          <p:cNvSpPr txBox="1"/>
          <p:nvPr/>
        </p:nvSpPr>
        <p:spPr>
          <a:xfrm>
            <a:off x="2979100" y="1367975"/>
            <a:ext cx="55476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p:txBody>
      </p:sp>
      <p:sp>
        <p:nvSpPr>
          <p:cNvPr id="81" name="Google Shape;81;g31ed013771c_0_0"/>
          <p:cNvSpPr txBox="1"/>
          <p:nvPr/>
        </p:nvSpPr>
        <p:spPr>
          <a:xfrm>
            <a:off x="228600" y="1295400"/>
            <a:ext cx="8809200" cy="35094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000"/>
              <a:buFont typeface="Arial"/>
              <a:buNone/>
            </a:pPr>
            <a:r>
              <a:rPr b="1" i="0" lang="en-US" sz="1800" u="none" cap="none" strike="noStrike">
                <a:solidFill>
                  <a:srgbClr val="000000"/>
                </a:solidFill>
                <a:latin typeface="Roboto"/>
                <a:ea typeface="Roboto"/>
                <a:cs typeface="Roboto"/>
                <a:sym typeface="Roboto"/>
              </a:rPr>
              <a:t>Definition:</a:t>
            </a:r>
            <a:endParaRPr b="1"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400"/>
              <a:buFont typeface="Arial"/>
              <a:buNone/>
            </a:pPr>
            <a:r>
              <a:rPr i="0" lang="en-US" sz="1800" u="none" cap="none" strike="noStrike">
                <a:solidFill>
                  <a:srgbClr val="000000"/>
                </a:solidFill>
                <a:latin typeface="Roboto"/>
                <a:ea typeface="Roboto"/>
                <a:cs typeface="Roboto"/>
                <a:sym typeface="Roboto"/>
              </a:rPr>
              <a:t>      </a:t>
            </a:r>
            <a:endParaRPr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400"/>
              <a:buFont typeface="Arial"/>
              <a:buNone/>
            </a:pPr>
            <a:r>
              <a:rPr i="0" lang="en-US" sz="1800" u="none" cap="none" strike="noStrike">
                <a:solidFill>
                  <a:srgbClr val="000000"/>
                </a:solidFill>
                <a:latin typeface="Roboto"/>
                <a:ea typeface="Roboto"/>
                <a:cs typeface="Roboto"/>
                <a:sym typeface="Roboto"/>
              </a:rPr>
              <a:t>                An analogy is a </a:t>
            </a:r>
            <a:r>
              <a:rPr i="0" lang="en-US" sz="1800" u="none" cap="none" strike="noStrike">
                <a:solidFill>
                  <a:srgbClr val="000000"/>
                </a:solidFill>
                <a:uFill>
                  <a:noFill/>
                </a:uFill>
                <a:latin typeface="Roboto"/>
                <a:ea typeface="Roboto"/>
                <a:cs typeface="Roboto"/>
                <a:sym typeface="Roboto"/>
                <a:hlinkClick r:id="rId3">
                  <a:extLst>
                    <a:ext uri="{A12FA001-AC4F-418D-AE19-62706E023703}">
                      <ahyp:hlinkClr val="tx"/>
                    </a:ext>
                  </a:extLst>
                </a:hlinkClick>
              </a:rPr>
              <a:t>comparison</a:t>
            </a:r>
            <a:r>
              <a:rPr i="0" lang="en-US" sz="1800" u="none" cap="none" strike="noStrike">
                <a:solidFill>
                  <a:srgbClr val="000000"/>
                </a:solidFill>
                <a:latin typeface="Roboto"/>
                <a:ea typeface="Roboto"/>
                <a:cs typeface="Roboto"/>
                <a:sym typeface="Roboto"/>
              </a:rPr>
              <a:t> in which an idea or a thing is compared to another thing that is quite different from it. It aims at explaining that idea or thing by comparing it to something that is familiar. Metaphors and similes are tools used to draw an analogy. Therefore, analogy is more extensive and elaborate than either a </a:t>
            </a:r>
            <a:r>
              <a:rPr i="0" lang="en-US" sz="1800" u="none" cap="none" strike="noStrike">
                <a:solidFill>
                  <a:srgbClr val="000000"/>
                </a:solidFill>
                <a:uFill>
                  <a:noFill/>
                </a:uFill>
                <a:latin typeface="Roboto"/>
                <a:ea typeface="Roboto"/>
                <a:cs typeface="Roboto"/>
                <a:sym typeface="Roboto"/>
                <a:hlinkClick r:id="rId4">
                  <a:extLst>
                    <a:ext uri="{A12FA001-AC4F-418D-AE19-62706E023703}">
                      <ahyp:hlinkClr val="tx"/>
                    </a:ext>
                  </a:extLst>
                </a:hlinkClick>
              </a:rPr>
              <a:t>similar or</a:t>
            </a:r>
            <a:r>
              <a:rPr i="0" lang="en-US" sz="1800" u="none" cap="none" strike="noStrike">
                <a:solidFill>
                  <a:srgbClr val="000000"/>
                </a:solidFill>
                <a:latin typeface="Roboto"/>
                <a:ea typeface="Roboto"/>
                <a:cs typeface="Roboto"/>
                <a:sym typeface="Roboto"/>
              </a:rPr>
              <a:t> a </a:t>
            </a:r>
            <a:r>
              <a:rPr i="0" lang="en-US" sz="1800" u="none" cap="none" strike="noStrike">
                <a:solidFill>
                  <a:srgbClr val="000000"/>
                </a:solidFill>
                <a:uFill>
                  <a:noFill/>
                </a:uFill>
                <a:latin typeface="Roboto"/>
                <a:ea typeface="Roboto"/>
                <a:cs typeface="Roboto"/>
                <a:sym typeface="Roboto"/>
                <a:hlinkClick r:id="rId5">
                  <a:extLst>
                    <a:ext uri="{A12FA001-AC4F-418D-AE19-62706E023703}">
                      <ahyp:hlinkClr val="tx"/>
                    </a:ext>
                  </a:extLst>
                </a:hlinkClick>
              </a:rPr>
              <a:t>metaphor</a:t>
            </a:r>
            <a:r>
              <a:rPr i="0" lang="en-US" sz="1800" u="none" cap="none" strike="noStrike">
                <a:solidFill>
                  <a:srgbClr val="000000"/>
                </a:solidFill>
                <a:latin typeface="Roboto"/>
                <a:ea typeface="Roboto"/>
                <a:cs typeface="Roboto"/>
                <a:sym typeface="Roboto"/>
              </a:rPr>
              <a:t>.</a:t>
            </a:r>
            <a:endParaRPr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400"/>
              <a:buFont typeface="Arial"/>
              <a:buNone/>
            </a:pPr>
            <a:r>
              <a:t/>
            </a:r>
            <a:endParaRPr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2000"/>
              <a:buFont typeface="Arial"/>
              <a:buNone/>
            </a:pPr>
            <a:r>
              <a:t/>
            </a:r>
            <a:endParaRPr b="1"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2000"/>
              <a:buFont typeface="Arial"/>
              <a:buNone/>
            </a:pPr>
            <a:r>
              <a:rPr b="1" i="0" lang="en-US" sz="1800" u="none" cap="none" strike="noStrike">
                <a:solidFill>
                  <a:srgbClr val="000000"/>
                </a:solidFill>
                <a:latin typeface="Roboto"/>
                <a:ea typeface="Roboto"/>
                <a:cs typeface="Roboto"/>
                <a:sym typeface="Roboto"/>
              </a:rPr>
              <a:t>Why?</a:t>
            </a:r>
            <a:endParaRPr b="1" i="0" sz="1800" u="none" cap="none" strike="noStrike">
              <a:solidFill>
                <a:srgbClr val="000000"/>
              </a:solidFill>
              <a:latin typeface="Roboto"/>
              <a:ea typeface="Roboto"/>
              <a:cs typeface="Roboto"/>
              <a:sym typeface="Roboto"/>
            </a:endParaRPr>
          </a:p>
          <a:p>
            <a:pPr indent="0" lvl="0" marL="0" marR="0" rtl="0" algn="just">
              <a:lnSpc>
                <a:spcPct val="100000"/>
              </a:lnSpc>
              <a:spcBef>
                <a:spcPts val="0"/>
              </a:spcBef>
              <a:spcAft>
                <a:spcPts val="0"/>
              </a:spcAft>
              <a:buClr>
                <a:srgbClr val="000000"/>
              </a:buClr>
              <a:buSzPts val="1400"/>
              <a:buFont typeface="Arial"/>
              <a:buNone/>
            </a:pPr>
            <a:r>
              <a:rPr i="0" lang="en-US" sz="1800" u="none" cap="none" strike="noStrike">
                <a:solidFill>
                  <a:srgbClr val="363636"/>
                </a:solidFill>
                <a:highlight>
                  <a:srgbClr val="FFFFFF"/>
                </a:highlight>
                <a:latin typeface="Roboto"/>
                <a:ea typeface="Roboto"/>
                <a:cs typeface="Roboto"/>
                <a:sym typeface="Roboto"/>
              </a:rPr>
              <a:t>             Analogies require students to develop useful learning strategies that help them understand the relationship between words and how they fit together.</a:t>
            </a:r>
            <a:endParaRPr i="0" sz="18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1b9cb688cf_0_1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87" name="Google Shape;87;g31b9cb688cf_0_12"/>
          <p:cNvSpPr txBox="1"/>
          <p:nvPr/>
        </p:nvSpPr>
        <p:spPr>
          <a:xfrm>
            <a:off x="3846425" y="1578625"/>
            <a:ext cx="5547600" cy="100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1800" u="none" cap="none" strike="noStrike">
              <a:solidFill>
                <a:srgbClr val="000000"/>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Roboto"/>
              <a:ea typeface="Roboto"/>
              <a:cs typeface="Roboto"/>
              <a:sym typeface="Roboto"/>
            </a:endParaRPr>
          </a:p>
        </p:txBody>
      </p:sp>
      <p:sp>
        <p:nvSpPr>
          <p:cNvPr id="88" name="Google Shape;88;g31b9cb688cf_0_12"/>
          <p:cNvSpPr txBox="1"/>
          <p:nvPr/>
        </p:nvSpPr>
        <p:spPr>
          <a:xfrm>
            <a:off x="2761050" y="1196200"/>
            <a:ext cx="4450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89" name="Google Shape;89;g31b9cb688cf_0_12"/>
          <p:cNvSpPr txBox="1"/>
          <p:nvPr/>
        </p:nvSpPr>
        <p:spPr>
          <a:xfrm>
            <a:off x="3467550" y="1216975"/>
            <a:ext cx="4450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0" name="Google Shape;90;g31b9cb688cf_0_12"/>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sp>
        <p:nvSpPr>
          <p:cNvPr id="91" name="Google Shape;91;g31b9cb688cf_0_12"/>
          <p:cNvSpPr txBox="1"/>
          <p:nvPr/>
        </p:nvSpPr>
        <p:spPr>
          <a:xfrm>
            <a:off x="228150" y="1043425"/>
            <a:ext cx="8809200" cy="3786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400"/>
              <a:buFont typeface="Arial"/>
              <a:buNone/>
            </a:pPr>
            <a:r>
              <a:rPr b="1" i="0" lang="en-US" sz="1800" u="none" cap="none" strike="noStrike">
                <a:solidFill>
                  <a:srgbClr val="222222"/>
                </a:solidFill>
                <a:highlight>
                  <a:srgbClr val="FFFFFF"/>
                </a:highlight>
                <a:latin typeface="Roboto"/>
                <a:ea typeface="Roboto"/>
                <a:cs typeface="Roboto"/>
                <a:sym typeface="Roboto"/>
              </a:rPr>
              <a:t>It plays a significant role </a:t>
            </a:r>
            <a:endParaRPr b="1"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Problem solving</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Decision making</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Argumentation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Perception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Generalization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Memory</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Creativity</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Invention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Prediction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Emotion</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Explanation </a:t>
            </a:r>
            <a:endParaRPr i="0" sz="1800" u="none" cap="none" strike="noStrike">
              <a:solidFill>
                <a:srgbClr val="222222"/>
              </a:solidFill>
              <a:highlight>
                <a:srgbClr val="FFFFFF"/>
              </a:highlight>
              <a:latin typeface="Roboto"/>
              <a:ea typeface="Roboto"/>
              <a:cs typeface="Roboto"/>
              <a:sym typeface="Roboto"/>
            </a:endParaRPr>
          </a:p>
          <a:p>
            <a:pPr indent="-342900" lvl="0" marL="457200" marR="0" rtl="0" algn="just">
              <a:lnSpc>
                <a:spcPct val="100000"/>
              </a:lnSpc>
              <a:spcBef>
                <a:spcPts val="0"/>
              </a:spcBef>
              <a:spcAft>
                <a:spcPts val="0"/>
              </a:spcAft>
              <a:buClr>
                <a:srgbClr val="222222"/>
              </a:buClr>
              <a:buSzPts val="1800"/>
              <a:buFont typeface="Roboto"/>
              <a:buChar char="●"/>
            </a:pPr>
            <a:r>
              <a:rPr i="0" lang="en-US" sz="1800" u="none" cap="none" strike="noStrike">
                <a:solidFill>
                  <a:srgbClr val="222222"/>
                </a:solidFill>
                <a:highlight>
                  <a:srgbClr val="FFFFFF"/>
                </a:highlight>
                <a:latin typeface="Roboto"/>
                <a:ea typeface="Roboto"/>
                <a:cs typeface="Roboto"/>
                <a:sym typeface="Roboto"/>
              </a:rPr>
              <a:t>Conceptualization and Communication.</a:t>
            </a:r>
            <a:endParaRPr b="1" i="0" sz="1800" u="none" cap="none" strike="noStrike">
              <a:solidFill>
                <a:srgbClr val="00000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1b9cb688cf_0_18"/>
          <p:cNvSpPr txBox="1"/>
          <p:nvPr/>
        </p:nvSpPr>
        <p:spPr>
          <a:xfrm>
            <a:off x="2761050" y="1196200"/>
            <a:ext cx="4450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7" name="Google Shape;97;g31b9cb688cf_0_18"/>
          <p:cNvSpPr txBox="1"/>
          <p:nvPr/>
        </p:nvSpPr>
        <p:spPr>
          <a:xfrm>
            <a:off x="3655925" y="1276575"/>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8" name="Google Shape;98;g31b9cb688cf_0_18"/>
          <p:cNvSpPr txBox="1"/>
          <p:nvPr/>
        </p:nvSpPr>
        <p:spPr>
          <a:xfrm>
            <a:off x="2639925" y="1251800"/>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99" name="Google Shape;99;g31b9cb688cf_0_18"/>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graphicFrame>
        <p:nvGraphicFramePr>
          <p:cNvPr id="100" name="Google Shape;100;g31b9cb688cf_0_18"/>
          <p:cNvGraphicFramePr/>
          <p:nvPr/>
        </p:nvGraphicFramePr>
        <p:xfrm>
          <a:off x="952500" y="1030450"/>
          <a:ext cx="3000000" cy="3000000"/>
        </p:xfrm>
        <a:graphic>
          <a:graphicData uri="http://schemas.openxmlformats.org/drawingml/2006/table">
            <a:tbl>
              <a:tblPr>
                <a:noFill/>
                <a:tableStyleId>{4955CCAA-0C5E-43C4-9806-959E3CF8BCC9}</a:tableStyleId>
              </a:tblPr>
              <a:tblGrid>
                <a:gridCol w="3619500"/>
                <a:gridCol w="3619500"/>
              </a:tblGrid>
              <a:tr h="474850">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RELATIONSHIPS</a:t>
                      </a:r>
                      <a:endParaRPr b="1" sz="20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EXAMPLES</a:t>
                      </a:r>
                      <a:endParaRPr b="1" sz="2000" u="none" cap="none" strike="noStrike">
                        <a:latin typeface="Roboto"/>
                        <a:ea typeface="Roboto"/>
                        <a:cs typeface="Roboto"/>
                        <a:sym typeface="Roboto"/>
                      </a:endParaRPr>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Part and whole</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hand: human:: fin: fish</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Action : object</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Drive : car:: ride: bike</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Synonyms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Large: huge::small: tiny</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Antonyms</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old: new::good: bad</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Location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lion: forest :: fish: ocean</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Function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scissors: cut:: shovel: dig</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Cause and effect</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rain: flood::earthquake: tsunami</a:t>
                      </a:r>
                      <a:endParaRPr sz="1400" u="none" cap="none" strike="noStrike"/>
                    </a:p>
                  </a:txBody>
                  <a:tcPr marT="91425" marB="91425" marR="91425" marL="91425"/>
                </a:tc>
              </a:tr>
              <a:tr h="386225">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Degree</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drizzling: raining::heating: boiling</a:t>
                      </a:r>
                      <a:endParaRPr sz="1400" u="none" cap="none" strike="noStrike"/>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1ed013771c_0_17"/>
          <p:cNvSpPr txBox="1"/>
          <p:nvPr/>
        </p:nvSpPr>
        <p:spPr>
          <a:xfrm>
            <a:off x="2761050" y="1196200"/>
            <a:ext cx="4450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06" name="Google Shape;106;g31ed013771c_0_17"/>
          <p:cNvSpPr txBox="1"/>
          <p:nvPr/>
        </p:nvSpPr>
        <p:spPr>
          <a:xfrm>
            <a:off x="3655925" y="1276575"/>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07" name="Google Shape;107;g31ed013771c_0_17"/>
          <p:cNvSpPr txBox="1"/>
          <p:nvPr/>
        </p:nvSpPr>
        <p:spPr>
          <a:xfrm>
            <a:off x="2639925" y="1251800"/>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08" name="Google Shape;108;g31ed013771c_0_17"/>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graphicFrame>
        <p:nvGraphicFramePr>
          <p:cNvPr id="109" name="Google Shape;109;g31ed013771c_0_17"/>
          <p:cNvGraphicFramePr/>
          <p:nvPr/>
        </p:nvGraphicFramePr>
        <p:xfrm>
          <a:off x="952500" y="1093800"/>
          <a:ext cx="3000000" cy="3000000"/>
        </p:xfrm>
        <a:graphic>
          <a:graphicData uri="http://schemas.openxmlformats.org/drawingml/2006/table">
            <a:tbl>
              <a:tblPr>
                <a:noFill/>
                <a:tableStyleId>{4955CCAA-0C5E-43C4-9806-959E3CF8BCC9}</a:tableStyleId>
              </a:tblPr>
              <a:tblGrid>
                <a:gridCol w="3619500"/>
                <a:gridCol w="3619500"/>
              </a:tblGrid>
              <a:tr h="440900">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RELATIONSHIPS</a:t>
                      </a:r>
                      <a:endParaRPr b="1" sz="20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EXAMPLES</a:t>
                      </a:r>
                      <a:endParaRPr b="1" sz="2000" u="none" cap="none" strike="noStrike">
                        <a:latin typeface="Roboto"/>
                        <a:ea typeface="Roboto"/>
                        <a:cs typeface="Roboto"/>
                        <a:sym typeface="Roboto"/>
                      </a:endParaRPr>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Characteristic</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elephant: large::giraffe: tall</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Brand: product</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 Parker: pen::puma: shoes</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Object: usage</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cup: coffee::goblet: wine</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Event: emotion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success: joy::failure: sorrow</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Object: classification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knife: weapon::pant: clothing</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Effort: result</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write: letter::build: house</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Things that go together</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salt: pepper::fork: knife</a:t>
                      </a:r>
                      <a:endParaRPr sz="1400" u="none" cap="none" strike="noStrike"/>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1ed013771c_0_26"/>
          <p:cNvSpPr txBox="1"/>
          <p:nvPr/>
        </p:nvSpPr>
        <p:spPr>
          <a:xfrm>
            <a:off x="2761050" y="1196200"/>
            <a:ext cx="4450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15" name="Google Shape;115;g31ed013771c_0_26"/>
          <p:cNvSpPr txBox="1"/>
          <p:nvPr/>
        </p:nvSpPr>
        <p:spPr>
          <a:xfrm>
            <a:off x="3655925" y="1276575"/>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16" name="Google Shape;116;g31ed013771c_0_26"/>
          <p:cNvSpPr txBox="1"/>
          <p:nvPr/>
        </p:nvSpPr>
        <p:spPr>
          <a:xfrm>
            <a:off x="2639925" y="1251800"/>
            <a:ext cx="427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17" name="Google Shape;117;g31ed013771c_0_26"/>
          <p:cNvSpPr txBox="1"/>
          <p:nvPr/>
        </p:nvSpPr>
        <p:spPr>
          <a:xfrm>
            <a:off x="3817800" y="630250"/>
            <a:ext cx="1629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lang="en-US" sz="2000">
                <a:solidFill>
                  <a:srgbClr val="8182EF"/>
                </a:solidFill>
                <a:latin typeface="Roboto Black"/>
                <a:ea typeface="Roboto Black"/>
                <a:cs typeface="Roboto Black"/>
                <a:sym typeface="Roboto Black"/>
              </a:rPr>
              <a:t>CONCEPTS</a:t>
            </a:r>
            <a:endParaRPr b="0" i="0" sz="2000" u="none" cap="none" strike="noStrike">
              <a:solidFill>
                <a:srgbClr val="6D9EEB"/>
              </a:solidFill>
              <a:latin typeface="Roboto Black"/>
              <a:ea typeface="Roboto Black"/>
              <a:cs typeface="Roboto Black"/>
              <a:sym typeface="Roboto Black"/>
            </a:endParaRPr>
          </a:p>
        </p:txBody>
      </p:sp>
      <p:graphicFrame>
        <p:nvGraphicFramePr>
          <p:cNvPr id="118" name="Google Shape;118;g31ed013771c_0_26"/>
          <p:cNvGraphicFramePr/>
          <p:nvPr/>
        </p:nvGraphicFramePr>
        <p:xfrm>
          <a:off x="1013250" y="1435100"/>
          <a:ext cx="3000000" cy="3000000"/>
        </p:xfrm>
        <a:graphic>
          <a:graphicData uri="http://schemas.openxmlformats.org/drawingml/2006/table">
            <a:tbl>
              <a:tblPr>
                <a:noFill/>
                <a:tableStyleId>{4955CCAA-0C5E-43C4-9806-959E3CF8BCC9}</a:tableStyleId>
              </a:tblPr>
              <a:tblGrid>
                <a:gridCol w="3619500"/>
                <a:gridCol w="3619500"/>
              </a:tblGrid>
              <a:tr h="440900">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RELATIONSHIPS</a:t>
                      </a:r>
                      <a:endParaRPr b="1" sz="20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US" sz="2000" u="none" cap="none" strike="noStrike">
                          <a:latin typeface="Roboto"/>
                          <a:ea typeface="Roboto"/>
                          <a:cs typeface="Roboto"/>
                          <a:sym typeface="Roboto"/>
                        </a:rPr>
                        <a:t>EXAMPLES</a:t>
                      </a:r>
                      <a:endParaRPr b="1" sz="2000" u="none" cap="none" strike="noStrike">
                        <a:latin typeface="Roboto"/>
                        <a:ea typeface="Roboto"/>
                        <a:cs typeface="Roboto"/>
                        <a:sym typeface="Roboto"/>
                      </a:endParaRPr>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Rhyme</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train:trail:grain:grail</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Performer and action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trainer: train::engineer: Guide</a:t>
                      </a:r>
                      <a:endParaRPr sz="1400" u="none" cap="none" strike="noStrike"/>
                    </a:p>
                  </a:txBody>
                  <a:tcPr marT="91425" marB="91425" marR="91425" marL="91425"/>
                </a:tc>
              </a:tr>
              <a:tr h="4281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Indication</a:t>
                      </a:r>
                      <a:endParaRPr b="1" sz="1400" u="none" cap="none" strike="noStrike"/>
                    </a:p>
                  </a:txBody>
                  <a:tcPr marT="91425" marB="91425" marR="91425" marL="91425"/>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red: danger::white: peace</a:t>
                      </a:r>
                      <a:endParaRPr sz="1400" u="none" cap="none" strike="noStrike"/>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1b9cb688cf_0_2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24" name="Google Shape;124;g31b9cb688cf_0_24"/>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1</a:t>
            </a:r>
            <a:endParaRPr b="0" i="0" sz="2000" u="none" cap="none" strike="noStrike">
              <a:solidFill>
                <a:srgbClr val="6D9EEB"/>
              </a:solidFill>
              <a:latin typeface="Roboto Black"/>
              <a:ea typeface="Roboto Black"/>
              <a:cs typeface="Roboto Black"/>
              <a:sym typeface="Roboto Black"/>
            </a:endParaRPr>
          </a:p>
        </p:txBody>
      </p:sp>
      <p:sp>
        <p:nvSpPr>
          <p:cNvPr id="125" name="Google Shape;125;g31b9cb688cf_0_24"/>
          <p:cNvSpPr txBox="1"/>
          <p:nvPr/>
        </p:nvSpPr>
        <p:spPr>
          <a:xfrm>
            <a:off x="773650" y="1367975"/>
            <a:ext cx="5547600" cy="2360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None/>
            </a:pPr>
            <a:r>
              <a:rPr lang="en-US" sz="1800">
                <a:latin typeface="Roboto"/>
                <a:ea typeface="Roboto"/>
                <a:cs typeface="Roboto"/>
                <a:sym typeface="Roboto"/>
              </a:rPr>
              <a:t>Reading : Knowledge :: Work : ?</a:t>
            </a:r>
            <a:endParaRPr sz="1800">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latin typeface="Roboto"/>
                <a:ea typeface="Roboto"/>
                <a:cs typeface="Roboto"/>
                <a:sym typeface="Roboto"/>
              </a:rPr>
              <a:t>Experience</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Engagement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Employment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Experiment</a:t>
            </a:r>
            <a:endParaRPr sz="1800">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126" name="Google Shape;126;g31b9cb688cf_0_24"/>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27" name="Google Shape;127;g31b9cb688cf_0_24"/>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g31b9cb688cf_0_37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133" name="Google Shape;133;g31b9cb688cf_0_378"/>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1</a:t>
            </a:r>
            <a:endParaRPr b="1" i="0" sz="2000" u="none" cap="none" strike="noStrike">
              <a:solidFill>
                <a:srgbClr val="8182EF"/>
              </a:solidFill>
              <a:latin typeface="Roboto"/>
              <a:ea typeface="Roboto"/>
              <a:cs typeface="Roboto"/>
              <a:sym typeface="Roboto"/>
            </a:endParaRPr>
          </a:p>
        </p:txBody>
      </p:sp>
      <p:sp>
        <p:nvSpPr>
          <p:cNvPr id="134" name="Google Shape;134;g31b9cb688cf_0_378"/>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33333"/>
                </a:solidFill>
                <a:highlight>
                  <a:srgbClr val="FFFFFF"/>
                </a:highlight>
                <a:latin typeface="Arial"/>
                <a:ea typeface="Arial"/>
                <a:cs typeface="Arial"/>
                <a:sym typeface="Arial"/>
              </a:rPr>
              <a:t>Second comes with first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1b9cb688cf_0_26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40" name="Google Shape;140;g31b9cb688cf_0_266"/>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2</a:t>
            </a:r>
            <a:endParaRPr b="0" i="0" sz="2000" u="none" cap="none" strike="noStrike">
              <a:solidFill>
                <a:srgbClr val="6D9EEB"/>
              </a:solidFill>
              <a:latin typeface="Roboto Black"/>
              <a:ea typeface="Roboto Black"/>
              <a:cs typeface="Roboto Black"/>
              <a:sym typeface="Roboto Black"/>
            </a:endParaRPr>
          </a:p>
        </p:txBody>
      </p:sp>
      <p:sp>
        <p:nvSpPr>
          <p:cNvPr id="141" name="Google Shape;141;g31b9cb688cf_0_266"/>
          <p:cNvSpPr txBox="1"/>
          <p:nvPr/>
        </p:nvSpPr>
        <p:spPr>
          <a:xfrm>
            <a:off x="773650" y="1367975"/>
            <a:ext cx="5547600" cy="324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400"/>
              <a:buFont typeface="Arial"/>
              <a:buNone/>
            </a:pPr>
            <a:r>
              <a:rPr lang="en-US" sz="1800">
                <a:highlight>
                  <a:srgbClr val="FFFFFF"/>
                </a:highlight>
                <a:latin typeface="Roboto"/>
                <a:ea typeface="Roboto"/>
                <a:cs typeface="Roboto"/>
                <a:sym typeface="Roboto"/>
              </a:rPr>
              <a:t>TENET : THEOLOGIAN</a:t>
            </a:r>
            <a:endParaRPr sz="1800">
              <a:highlight>
                <a:srgbClr val="FFFFFF"/>
              </a:highlight>
              <a:latin typeface="Roboto"/>
              <a:ea typeface="Roboto"/>
              <a:cs typeface="Roboto"/>
              <a:sym typeface="Roboto"/>
            </a:endParaRPr>
          </a:p>
          <a:p>
            <a:pPr indent="0" lvl="0" marL="0" rtl="0" algn="l">
              <a:spcBef>
                <a:spcPts val="800"/>
              </a:spcBef>
              <a:spcAft>
                <a:spcPts val="0"/>
              </a:spcAft>
              <a:buClr>
                <a:srgbClr val="000000"/>
              </a:buClr>
              <a:buSzPts val="1400"/>
              <a:buFont typeface="Arial"/>
              <a:buNone/>
            </a:pPr>
            <a:r>
              <a:t/>
            </a:r>
            <a:endParaRPr sz="1800">
              <a:highlight>
                <a:srgbClr val="FFFFFF"/>
              </a:highlight>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highlight>
                  <a:srgbClr val="FFFFFF"/>
                </a:highlight>
                <a:latin typeface="Roboto"/>
                <a:ea typeface="Roboto"/>
                <a:cs typeface="Roboto"/>
                <a:sym typeface="Roboto"/>
              </a:rPr>
              <a:t>Predecessor : Heir</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Hypothesis : Scientist</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Recluse : Rivalry</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Arrogance : Persecution</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Guitarist : Rock band</a:t>
            </a:r>
            <a:endParaRPr sz="1800">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142" name="Google Shape;142;g31b9cb688cf_0_266"/>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43" name="Google Shape;143;g31b9cb688cf_0_266"/>
          <p:cNvSpPr txBox="1"/>
          <p:nvPr/>
        </p:nvSpPr>
        <p:spPr>
          <a:xfrm>
            <a:off x="2999350" y="1301375"/>
            <a:ext cx="36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44" name="Google Shape;144;g31b9cb688cf_0_266"/>
          <p:cNvSpPr txBox="1"/>
          <p:nvPr/>
        </p:nvSpPr>
        <p:spPr>
          <a:xfrm>
            <a:off x="2999350" y="1301375"/>
            <a:ext cx="36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8" name="Shape 148"/>
        <p:cNvGrpSpPr/>
        <p:nvPr/>
      </p:nvGrpSpPr>
      <p:grpSpPr>
        <a:xfrm>
          <a:off x="0" y="0"/>
          <a:ext cx="0" cy="0"/>
          <a:chOff x="0" y="0"/>
          <a:chExt cx="0" cy="0"/>
        </a:xfrm>
      </p:grpSpPr>
      <p:sp>
        <p:nvSpPr>
          <p:cNvPr id="149" name="Google Shape;149;g31b9cb688cf_0_39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150" name="Google Shape;150;g31b9cb688cf_0_390"/>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2</a:t>
            </a:r>
            <a:endParaRPr b="1" i="0" sz="2000" u="none" cap="none" strike="noStrike">
              <a:solidFill>
                <a:srgbClr val="8182EF"/>
              </a:solidFill>
              <a:latin typeface="Roboto"/>
              <a:ea typeface="Roboto"/>
              <a:cs typeface="Roboto"/>
              <a:sym typeface="Roboto"/>
            </a:endParaRPr>
          </a:p>
        </p:txBody>
      </p:sp>
      <p:sp>
        <p:nvSpPr>
          <p:cNvPr id="151" name="Google Shape;151;g31b9cb688cf_0_390"/>
          <p:cNvSpPr txBox="1"/>
          <p:nvPr/>
        </p:nvSpPr>
        <p:spPr>
          <a:xfrm>
            <a:off x="150350" y="1400350"/>
            <a:ext cx="8424900" cy="1015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800"/>
              </a:spcAft>
              <a:buClr>
                <a:srgbClr val="000000"/>
              </a:buClr>
              <a:buSzPts val="1400"/>
              <a:buFont typeface="Arial"/>
              <a:buNone/>
            </a:pPr>
            <a:r>
              <a:rPr b="0" i="0" lang="en-US" sz="1800" u="none" cap="none" strike="noStrike">
                <a:solidFill>
                  <a:srgbClr val="000000"/>
                </a:solidFill>
                <a:highlight>
                  <a:srgbClr val="FFFFFF"/>
                </a:highlight>
                <a:latin typeface="Arial"/>
                <a:ea typeface="Arial"/>
                <a:cs typeface="Arial"/>
                <a:sym typeface="Arial"/>
              </a:rPr>
              <a:t>Tenet means any opinion principle doctrine dogma etc. esp. one held as true by members of a profession group or movement. Theologian someone who is learned in theology or who speculates about theology.</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g31b9cb688cf_0_273"/>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57" name="Google Shape;157;g31b9cb688cf_0_273"/>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3</a:t>
            </a:r>
            <a:endParaRPr b="0" i="0" sz="2000" u="none" cap="none" strike="noStrike">
              <a:solidFill>
                <a:srgbClr val="6D9EEB"/>
              </a:solidFill>
              <a:latin typeface="Roboto Black"/>
              <a:ea typeface="Roboto Black"/>
              <a:cs typeface="Roboto Black"/>
              <a:sym typeface="Roboto Black"/>
            </a:endParaRPr>
          </a:p>
        </p:txBody>
      </p:sp>
      <p:sp>
        <p:nvSpPr>
          <p:cNvPr id="158" name="Google Shape;158;g31b9cb688cf_0_273"/>
          <p:cNvSpPr txBox="1"/>
          <p:nvPr/>
        </p:nvSpPr>
        <p:spPr>
          <a:xfrm>
            <a:off x="773650" y="1367975"/>
            <a:ext cx="5547600" cy="26376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None/>
            </a:pPr>
            <a:r>
              <a:rPr lang="en-US" sz="1800">
                <a:latin typeface="Roboto"/>
                <a:ea typeface="Roboto"/>
                <a:cs typeface="Roboto"/>
                <a:sym typeface="Roboto"/>
              </a:rPr>
              <a:t>Reading : Knowledge :: Work : ?</a:t>
            </a:r>
            <a:endParaRPr sz="1800">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latin typeface="Roboto"/>
                <a:ea typeface="Roboto"/>
                <a:cs typeface="Roboto"/>
                <a:sym typeface="Roboto"/>
              </a:rPr>
              <a:t>Experience</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Engagement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Employment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Experiment</a:t>
            </a:r>
            <a:endParaRPr sz="1800">
              <a:highlight>
                <a:srgbClr val="FFFFFF"/>
              </a:highlight>
              <a:latin typeface="Roboto"/>
              <a:ea typeface="Roboto"/>
              <a:cs typeface="Roboto"/>
              <a:sym typeface="Roboto"/>
            </a:endParaRPr>
          </a:p>
          <a:p>
            <a:pPr indent="0" lvl="0" marL="457200" marR="0" rtl="0" algn="l">
              <a:lnSpc>
                <a:spcPct val="100000"/>
              </a:lnSpc>
              <a:spcBef>
                <a:spcPts val="0"/>
              </a:spcBef>
              <a:spcAft>
                <a:spcPts val="0"/>
              </a:spcAft>
              <a:buNone/>
            </a:pPr>
            <a:r>
              <a:t/>
            </a:r>
            <a:endParaRPr b="1"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159" name="Google Shape;159;g31b9cb688cf_0_273"/>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60" name="Google Shape;160;g31b9cb688cf_0_273"/>
          <p:cNvSpPr txBox="1"/>
          <p:nvPr/>
        </p:nvSpPr>
        <p:spPr>
          <a:xfrm>
            <a:off x="3135675" y="1214625"/>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4" name="Shape 164"/>
        <p:cNvGrpSpPr/>
        <p:nvPr/>
      </p:nvGrpSpPr>
      <p:grpSpPr>
        <a:xfrm>
          <a:off x="0" y="0"/>
          <a:ext cx="0" cy="0"/>
          <a:chOff x="0" y="0"/>
          <a:chExt cx="0" cy="0"/>
        </a:xfrm>
      </p:grpSpPr>
      <p:sp>
        <p:nvSpPr>
          <p:cNvPr id="165" name="Google Shape;165;g31b9cb688cf_0_39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166" name="Google Shape;166;g31b9cb688cf_0_396"/>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
        <p:nvSpPr>
          <p:cNvPr id="167" name="Google Shape;167;g31b9cb688cf_0_396"/>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33333"/>
                </a:solidFill>
                <a:highlight>
                  <a:srgbClr val="FFFFFF"/>
                </a:highlight>
                <a:latin typeface="Arial"/>
                <a:ea typeface="Arial"/>
                <a:cs typeface="Arial"/>
                <a:sym typeface="Arial"/>
              </a:rPr>
              <a:t>Second comes with first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1b9cb688cf_0_28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73" name="Google Shape;173;g31b9cb688cf_0_280"/>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4</a:t>
            </a:r>
            <a:endParaRPr b="0" i="0" sz="2000" u="none" cap="none" strike="noStrike">
              <a:solidFill>
                <a:srgbClr val="6D9EEB"/>
              </a:solidFill>
              <a:latin typeface="Roboto Black"/>
              <a:ea typeface="Roboto Black"/>
              <a:cs typeface="Roboto Black"/>
              <a:sym typeface="Roboto Black"/>
            </a:endParaRPr>
          </a:p>
        </p:txBody>
      </p:sp>
      <p:sp>
        <p:nvSpPr>
          <p:cNvPr id="174" name="Google Shape;174;g31b9cb688cf_0_280"/>
          <p:cNvSpPr txBox="1"/>
          <p:nvPr/>
        </p:nvSpPr>
        <p:spPr>
          <a:xfrm>
            <a:off x="773650" y="1367975"/>
            <a:ext cx="5547600" cy="23190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None/>
            </a:pPr>
            <a:r>
              <a:rPr lang="en-US" sz="1800">
                <a:latin typeface="Roboto"/>
                <a:ea typeface="Roboto"/>
                <a:cs typeface="Roboto"/>
                <a:sym typeface="Roboto"/>
              </a:rPr>
              <a:t>Dilatory : Expeditious :: Direct : ?</a:t>
            </a:r>
            <a:endParaRPr sz="1800">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latin typeface="Roboto"/>
                <a:ea typeface="Roboto"/>
                <a:cs typeface="Roboto"/>
                <a:sym typeface="Roboto"/>
              </a:rPr>
              <a:t>Tortuous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Circumlocutory</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Straight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Curved</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175" name="Google Shape;175;g31b9cb688cf_0_280"/>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76" name="Google Shape;176;g31b9cb688cf_0_280"/>
          <p:cNvSpPr txBox="1"/>
          <p:nvPr/>
        </p:nvSpPr>
        <p:spPr>
          <a:xfrm>
            <a:off x="4012000" y="1435100"/>
            <a:ext cx="3757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77" name="Google Shape;177;g31b9cb688cf_0_280"/>
          <p:cNvSpPr txBox="1"/>
          <p:nvPr/>
        </p:nvSpPr>
        <p:spPr>
          <a:xfrm>
            <a:off x="3072000" y="1338550"/>
            <a:ext cx="3757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1" name="Shape 181"/>
        <p:cNvGrpSpPr/>
        <p:nvPr/>
      </p:nvGrpSpPr>
      <p:grpSpPr>
        <a:xfrm>
          <a:off x="0" y="0"/>
          <a:ext cx="0" cy="0"/>
          <a:chOff x="0" y="0"/>
          <a:chExt cx="0" cy="0"/>
        </a:xfrm>
      </p:grpSpPr>
      <p:sp>
        <p:nvSpPr>
          <p:cNvPr id="182" name="Google Shape;182;g31b9cb688cf_0_40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183" name="Google Shape;183;g31b9cb688cf_0_402"/>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
        <p:nvSpPr>
          <p:cNvPr id="184" name="Google Shape;184;g31b9cb688cf_0_402"/>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Words in pairs are opposite to each other.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1b9cb688cf_0_287"/>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190" name="Google Shape;190;g31b9cb688cf_0_287"/>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5</a:t>
            </a:r>
            <a:endParaRPr b="0" i="0" sz="2000" u="none" cap="none" strike="noStrike">
              <a:solidFill>
                <a:srgbClr val="6D9EEB"/>
              </a:solidFill>
              <a:latin typeface="Roboto Black"/>
              <a:ea typeface="Roboto Black"/>
              <a:cs typeface="Roboto Black"/>
              <a:sym typeface="Roboto Black"/>
            </a:endParaRPr>
          </a:p>
        </p:txBody>
      </p:sp>
      <p:sp>
        <p:nvSpPr>
          <p:cNvPr id="191" name="Google Shape;191;g31b9cb688cf_0_287"/>
          <p:cNvSpPr txBox="1"/>
          <p:nvPr/>
        </p:nvSpPr>
        <p:spPr>
          <a:xfrm>
            <a:off x="773650" y="1367975"/>
            <a:ext cx="5547600" cy="26793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800"/>
              <a:buFont typeface="Arial"/>
              <a:buNone/>
            </a:pPr>
            <a:r>
              <a:rPr lang="en-US" sz="1800">
                <a:latin typeface="Roboto"/>
                <a:ea typeface="Roboto"/>
                <a:cs typeface="Roboto"/>
                <a:sym typeface="Roboto"/>
              </a:rPr>
              <a:t>Dilatory : Expeditious :: Direct : ?</a:t>
            </a:r>
            <a:endParaRPr sz="1800">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latin typeface="Roboto"/>
                <a:ea typeface="Roboto"/>
                <a:cs typeface="Roboto"/>
                <a:sym typeface="Roboto"/>
              </a:rPr>
              <a:t>Tortuous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Circumlocutory</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Straight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Curved</a:t>
            </a:r>
            <a:endParaRPr sz="1800">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192" name="Google Shape;192;g31b9cb688cf_0_287"/>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193" name="Google Shape;193;g31b9cb688cf_0_287"/>
          <p:cNvSpPr txBox="1"/>
          <p:nvPr/>
        </p:nvSpPr>
        <p:spPr>
          <a:xfrm>
            <a:off x="4125175" y="1617450"/>
            <a:ext cx="30000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31b9cb688cf_0_40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199" name="Google Shape;199;g31b9cb688cf_0_408"/>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
        <p:nvSpPr>
          <p:cNvPr id="200" name="Google Shape;200;g31b9cb688cf_0_408"/>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Words in pairs are opposite to each other.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1b9cb688cf_0_29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06" name="Google Shape;206;g31b9cb688cf_0_294"/>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0</a:t>
            </a:r>
            <a:r>
              <a:rPr lang="en-US" sz="2000">
                <a:solidFill>
                  <a:srgbClr val="8182EF"/>
                </a:solidFill>
                <a:latin typeface="Roboto Black"/>
                <a:ea typeface="Roboto Black"/>
                <a:cs typeface="Roboto Black"/>
                <a:sym typeface="Roboto Black"/>
              </a:rPr>
              <a:t>6</a:t>
            </a:r>
            <a:endParaRPr b="0" i="0" sz="2000" u="none" cap="none" strike="noStrike">
              <a:solidFill>
                <a:srgbClr val="6D9EEB"/>
              </a:solidFill>
              <a:latin typeface="Roboto Black"/>
              <a:ea typeface="Roboto Black"/>
              <a:cs typeface="Roboto Black"/>
              <a:sym typeface="Roboto Black"/>
            </a:endParaRPr>
          </a:p>
        </p:txBody>
      </p:sp>
      <p:sp>
        <p:nvSpPr>
          <p:cNvPr id="207" name="Google Shape;207;g31b9cb688cf_0_294"/>
          <p:cNvSpPr txBox="1"/>
          <p:nvPr/>
        </p:nvSpPr>
        <p:spPr>
          <a:xfrm>
            <a:off x="773650" y="1367975"/>
            <a:ext cx="5547600" cy="28731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Mature : Regressed :: Varied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Rhythmic</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Monotonous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Decorous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Obsolete</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g31b9cb688cf_0_41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13" name="Google Shape;213;g31b9cb688cf_0_414"/>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0</a:t>
            </a:r>
            <a:r>
              <a:rPr b="1" lang="en-US" sz="2000">
                <a:solidFill>
                  <a:srgbClr val="8182EF"/>
                </a:solidFill>
                <a:latin typeface="Roboto"/>
                <a:ea typeface="Roboto"/>
                <a:cs typeface="Roboto"/>
                <a:sym typeface="Roboto"/>
              </a:rPr>
              <a:t>6</a:t>
            </a:r>
            <a:endParaRPr b="1" i="0" sz="2000" u="none" cap="none" strike="noStrike">
              <a:solidFill>
                <a:srgbClr val="8182EF"/>
              </a:solidFill>
              <a:latin typeface="Roboto"/>
              <a:ea typeface="Roboto"/>
              <a:cs typeface="Roboto"/>
              <a:sym typeface="Roboto"/>
            </a:endParaRPr>
          </a:p>
        </p:txBody>
      </p:sp>
      <p:sp>
        <p:nvSpPr>
          <p:cNvPr id="214" name="Google Shape;214;g31b9cb688cf_0_414"/>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Words in each pair are opposite to each other.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1b9cb688cf_0_301"/>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20" name="Google Shape;220;g31b9cb688cf_0_301"/>
          <p:cNvSpPr txBox="1"/>
          <p:nvPr/>
        </p:nvSpPr>
        <p:spPr>
          <a:xfrm>
            <a:off x="773650" y="8329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a:t>
            </a:r>
            <a:r>
              <a:rPr lang="en-US" sz="2000">
                <a:solidFill>
                  <a:srgbClr val="8182EF"/>
                </a:solidFill>
                <a:latin typeface="Roboto Black"/>
                <a:ea typeface="Roboto Black"/>
                <a:cs typeface="Roboto Black"/>
                <a:sym typeface="Roboto Black"/>
              </a:rPr>
              <a:t>07</a:t>
            </a:r>
            <a:endParaRPr b="0" i="0" sz="2000" u="none" cap="none" strike="noStrike">
              <a:solidFill>
                <a:srgbClr val="6D9EEB"/>
              </a:solidFill>
              <a:latin typeface="Roboto Black"/>
              <a:ea typeface="Roboto Black"/>
              <a:cs typeface="Roboto Black"/>
              <a:sym typeface="Roboto Black"/>
            </a:endParaRPr>
          </a:p>
        </p:txBody>
      </p:sp>
      <p:sp>
        <p:nvSpPr>
          <p:cNvPr id="221" name="Google Shape;221;g31b9cb688cf_0_301"/>
          <p:cNvSpPr txBox="1"/>
          <p:nvPr/>
        </p:nvSpPr>
        <p:spPr>
          <a:xfrm>
            <a:off x="773650" y="1367975"/>
            <a:ext cx="5547600" cy="28731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Amber : Yellow :: Caramine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Red</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Green</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Violet</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Blue</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222" name="Google Shape;222;g31b9cb688cf_0_301"/>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23" name="Google Shape;223;g31b9cb688cf_0_301"/>
          <p:cNvSpPr txBox="1"/>
          <p:nvPr/>
        </p:nvSpPr>
        <p:spPr>
          <a:xfrm>
            <a:off x="3820950" y="985350"/>
            <a:ext cx="393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24" name="Google Shape;224;g31b9cb688cf_0_301"/>
          <p:cNvSpPr txBox="1"/>
          <p:nvPr/>
        </p:nvSpPr>
        <p:spPr>
          <a:xfrm>
            <a:off x="2606700" y="1177425"/>
            <a:ext cx="393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sp>
        <p:nvSpPr>
          <p:cNvPr id="229" name="Google Shape;229;g31b9cb688cf_0_42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30" name="Google Shape;230;g31b9cb688cf_0_420"/>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a:t>
            </a:r>
            <a:r>
              <a:rPr b="1" lang="en-US" sz="2000">
                <a:solidFill>
                  <a:srgbClr val="8182EF"/>
                </a:solidFill>
                <a:latin typeface="Roboto"/>
                <a:ea typeface="Roboto"/>
                <a:cs typeface="Roboto"/>
                <a:sym typeface="Roboto"/>
              </a:rPr>
              <a:t>07</a:t>
            </a:r>
            <a:endParaRPr b="1" i="0" sz="2000" u="none" cap="none" strike="noStrike">
              <a:solidFill>
                <a:srgbClr val="8182EF"/>
              </a:solidFill>
              <a:latin typeface="Roboto"/>
              <a:ea typeface="Roboto"/>
              <a:cs typeface="Roboto"/>
              <a:sym typeface="Roboto"/>
            </a:endParaRPr>
          </a:p>
        </p:txBody>
      </p:sp>
      <p:sp>
        <p:nvSpPr>
          <p:cNvPr id="231" name="Google Shape;231;g31b9cb688cf_0_420"/>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Amber is a shade of yellow and Carmine is a shade of Red.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1b9cb688cf_0_30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37" name="Google Shape;237;g31b9cb688cf_0_308"/>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a:t>
            </a:r>
            <a:r>
              <a:rPr lang="en-US" sz="2000">
                <a:solidFill>
                  <a:srgbClr val="8182EF"/>
                </a:solidFill>
                <a:latin typeface="Roboto Black"/>
                <a:ea typeface="Roboto Black"/>
                <a:cs typeface="Roboto Black"/>
                <a:sym typeface="Roboto Black"/>
              </a:rPr>
              <a:t>08</a:t>
            </a:r>
            <a:endParaRPr b="0" i="0" sz="2000" u="none" cap="none" strike="noStrike">
              <a:solidFill>
                <a:srgbClr val="6D9EEB"/>
              </a:solidFill>
              <a:latin typeface="Roboto Black"/>
              <a:ea typeface="Roboto Black"/>
              <a:cs typeface="Roboto Black"/>
              <a:sym typeface="Roboto Black"/>
            </a:endParaRPr>
          </a:p>
        </p:txBody>
      </p:sp>
      <p:sp>
        <p:nvSpPr>
          <p:cNvPr id="238" name="Google Shape;238;g31b9cb688cf_0_308"/>
          <p:cNvSpPr txBox="1"/>
          <p:nvPr/>
        </p:nvSpPr>
        <p:spPr>
          <a:xfrm>
            <a:off x="773650" y="1367975"/>
            <a:ext cx="5547600" cy="34689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Palaeography : Writings :: Ichthyology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Fishes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Whales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Oysters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Mammals</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000"/>
              <a:buFont typeface="Arial"/>
              <a:buNone/>
            </a:pPr>
            <a:r>
              <a:t/>
            </a:r>
            <a:endParaRPr b="1" i="0" sz="18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239" name="Google Shape;239;g31b9cb688cf_0_308"/>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g31b9cb688cf_0_42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45" name="Google Shape;245;g31b9cb688cf_0_426"/>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a:t>
            </a:r>
            <a:r>
              <a:rPr b="1" lang="en-US" sz="2000">
                <a:solidFill>
                  <a:srgbClr val="8182EF"/>
                </a:solidFill>
                <a:latin typeface="Roboto"/>
                <a:ea typeface="Roboto"/>
                <a:cs typeface="Roboto"/>
                <a:sym typeface="Roboto"/>
              </a:rPr>
              <a:t>08</a:t>
            </a:r>
            <a:endParaRPr b="1" i="0" sz="2000" u="none" cap="none" strike="noStrike">
              <a:solidFill>
                <a:srgbClr val="8182EF"/>
              </a:solidFill>
              <a:latin typeface="Roboto"/>
              <a:ea typeface="Roboto"/>
              <a:cs typeface="Roboto"/>
              <a:sym typeface="Roboto"/>
            </a:endParaRPr>
          </a:p>
        </p:txBody>
      </p:sp>
      <p:sp>
        <p:nvSpPr>
          <p:cNvPr id="246" name="Google Shape;246;g31b9cb688cf_0_426"/>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First is study of second.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1b9cb688cf_0_315"/>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52" name="Google Shape;252;g31b9cb688cf_0_315"/>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a:t>
            </a:r>
            <a:r>
              <a:rPr lang="en-US" sz="2000">
                <a:solidFill>
                  <a:srgbClr val="8182EF"/>
                </a:solidFill>
                <a:latin typeface="Roboto Black"/>
                <a:ea typeface="Roboto Black"/>
                <a:cs typeface="Roboto Black"/>
                <a:sym typeface="Roboto Black"/>
              </a:rPr>
              <a:t>09</a:t>
            </a:r>
            <a:endParaRPr b="0" i="0" sz="2000" u="none" cap="none" strike="noStrike">
              <a:solidFill>
                <a:srgbClr val="6D9EEB"/>
              </a:solidFill>
              <a:latin typeface="Roboto Black"/>
              <a:ea typeface="Roboto Black"/>
              <a:cs typeface="Roboto Black"/>
              <a:sym typeface="Roboto Black"/>
            </a:endParaRPr>
          </a:p>
        </p:txBody>
      </p:sp>
      <p:sp>
        <p:nvSpPr>
          <p:cNvPr id="253" name="Google Shape;253;g31b9cb688cf_0_315"/>
          <p:cNvSpPr txBox="1"/>
          <p:nvPr/>
        </p:nvSpPr>
        <p:spPr>
          <a:xfrm>
            <a:off x="773650" y="1367975"/>
            <a:ext cx="5547600" cy="29148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Novice : Learner :: Harbinger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Messenger</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Thief</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Pickpocket</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Robber</a:t>
            </a:r>
            <a:endParaRPr sz="1800">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254" name="Google Shape;254;g31b9cb688cf_0_315"/>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55" name="Google Shape;255;g31b9cb688cf_0_315"/>
          <p:cNvSpPr txBox="1"/>
          <p:nvPr/>
        </p:nvSpPr>
        <p:spPr>
          <a:xfrm>
            <a:off x="3072000" y="1276600"/>
            <a:ext cx="3410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56" name="Google Shape;256;g31b9cb688cf_0_315"/>
          <p:cNvSpPr txBox="1"/>
          <p:nvPr/>
        </p:nvSpPr>
        <p:spPr>
          <a:xfrm>
            <a:off x="3072000" y="1276600"/>
            <a:ext cx="3410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0" name="Shape 260"/>
        <p:cNvGrpSpPr/>
        <p:nvPr/>
      </p:nvGrpSpPr>
      <p:grpSpPr>
        <a:xfrm>
          <a:off x="0" y="0"/>
          <a:ext cx="0" cy="0"/>
          <a:chOff x="0" y="0"/>
          <a:chExt cx="0" cy="0"/>
        </a:xfrm>
      </p:grpSpPr>
      <p:sp>
        <p:nvSpPr>
          <p:cNvPr id="261" name="Google Shape;261;g31b9cb688cf_0_43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62" name="Google Shape;262;g31b9cb688cf_0_432"/>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a:t>
            </a:r>
            <a:r>
              <a:rPr b="1" lang="en-US" sz="2000">
                <a:solidFill>
                  <a:srgbClr val="8182EF"/>
                </a:solidFill>
                <a:latin typeface="Roboto"/>
                <a:ea typeface="Roboto"/>
                <a:cs typeface="Roboto"/>
                <a:sym typeface="Roboto"/>
              </a:rPr>
              <a:t>09</a:t>
            </a:r>
            <a:endParaRPr b="1" i="0" sz="2000" u="none" cap="none" strike="noStrike">
              <a:solidFill>
                <a:srgbClr val="8182EF"/>
              </a:solidFill>
              <a:latin typeface="Roboto"/>
              <a:ea typeface="Roboto"/>
              <a:cs typeface="Roboto"/>
              <a:sym typeface="Roboto"/>
            </a:endParaRPr>
          </a:p>
        </p:txBody>
      </p:sp>
      <p:sp>
        <p:nvSpPr>
          <p:cNvPr id="263" name="Google Shape;263;g31b9cb688cf_0_432"/>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Words in each pair are synonyms.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1b9cb688cf_0_32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69" name="Google Shape;269;g31b9cb688cf_0_322"/>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0</a:t>
            </a:r>
            <a:endParaRPr b="0" i="0" sz="2000" u="none" cap="none" strike="noStrike">
              <a:solidFill>
                <a:srgbClr val="6D9EEB"/>
              </a:solidFill>
              <a:latin typeface="Roboto Black"/>
              <a:ea typeface="Roboto Black"/>
              <a:cs typeface="Roboto Black"/>
              <a:sym typeface="Roboto Black"/>
            </a:endParaRPr>
          </a:p>
        </p:txBody>
      </p:sp>
      <p:sp>
        <p:nvSpPr>
          <p:cNvPr id="270" name="Google Shape;270;g31b9cb688cf_0_322"/>
          <p:cNvSpPr txBox="1"/>
          <p:nvPr/>
        </p:nvSpPr>
        <p:spPr>
          <a:xfrm>
            <a:off x="773650" y="1367975"/>
            <a:ext cx="5547600" cy="31917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t>Mattock : Dig :: Shovel : ?</a:t>
            </a:r>
            <a:endParaRPr sz="1800"/>
          </a:p>
          <a:p>
            <a:pPr indent="-342900" lvl="0" marL="457200" rtl="0" algn="l">
              <a:lnSpc>
                <a:spcPct val="150000"/>
              </a:lnSpc>
              <a:spcBef>
                <a:spcPts val="800"/>
              </a:spcBef>
              <a:spcAft>
                <a:spcPts val="0"/>
              </a:spcAft>
              <a:buSzPts val="1800"/>
              <a:buAutoNum type="alphaUcParenR"/>
            </a:pPr>
            <a:r>
              <a:rPr lang="en-US" sz="1800"/>
              <a:t>Break</a:t>
            </a:r>
            <a:endParaRPr sz="1800"/>
          </a:p>
          <a:p>
            <a:pPr indent="-342900" lvl="0" marL="457200" rtl="0" algn="l">
              <a:lnSpc>
                <a:spcPct val="150000"/>
              </a:lnSpc>
              <a:spcBef>
                <a:spcPts val="0"/>
              </a:spcBef>
              <a:spcAft>
                <a:spcPts val="0"/>
              </a:spcAft>
              <a:buSzPts val="1800"/>
              <a:buAutoNum type="alphaUcParenR"/>
            </a:pPr>
            <a:r>
              <a:rPr lang="en-US" sz="1800"/>
              <a:t>Push</a:t>
            </a:r>
            <a:endParaRPr sz="1800"/>
          </a:p>
          <a:p>
            <a:pPr indent="-342900" lvl="0" marL="457200" rtl="0" algn="l">
              <a:lnSpc>
                <a:spcPct val="150000"/>
              </a:lnSpc>
              <a:spcBef>
                <a:spcPts val="0"/>
              </a:spcBef>
              <a:spcAft>
                <a:spcPts val="0"/>
              </a:spcAft>
              <a:buSzPts val="1800"/>
              <a:buAutoNum type="alphaUcParenR"/>
            </a:pPr>
            <a:r>
              <a:rPr lang="en-US" sz="1800"/>
              <a:t>Scoop</a:t>
            </a:r>
            <a:endParaRPr sz="1800"/>
          </a:p>
          <a:p>
            <a:pPr indent="-342900" lvl="0" marL="457200" rtl="0" algn="l">
              <a:lnSpc>
                <a:spcPct val="150000"/>
              </a:lnSpc>
              <a:spcBef>
                <a:spcPts val="0"/>
              </a:spcBef>
              <a:spcAft>
                <a:spcPts val="0"/>
              </a:spcAft>
              <a:buSzPts val="1800"/>
              <a:buAutoNum type="alphaUcParenR"/>
            </a:pPr>
            <a:r>
              <a:rPr lang="en-US" sz="1800"/>
              <a:t>Whittle</a:t>
            </a:r>
            <a:endParaRPr sz="1800"/>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b="0" i="0" sz="1800" u="none" cap="none" strike="noStrike">
              <a:solidFill>
                <a:srgbClr val="000000"/>
              </a:solidFill>
              <a:latin typeface="Roboto"/>
              <a:ea typeface="Roboto"/>
              <a:cs typeface="Roboto"/>
              <a:sym typeface="Roboto"/>
            </a:endParaRPr>
          </a:p>
        </p:txBody>
      </p:sp>
      <p:sp>
        <p:nvSpPr>
          <p:cNvPr id="271" name="Google Shape;271;g31b9cb688cf_0_322"/>
          <p:cNvSpPr txBox="1"/>
          <p:nvPr/>
        </p:nvSpPr>
        <p:spPr>
          <a:xfrm>
            <a:off x="3072000" y="1437700"/>
            <a:ext cx="3856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272" name="Google Shape;272;g31b9cb688cf_0_322"/>
          <p:cNvSpPr txBox="1"/>
          <p:nvPr/>
        </p:nvSpPr>
        <p:spPr>
          <a:xfrm>
            <a:off x="4384050" y="2071475"/>
            <a:ext cx="3564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sp>
        <p:nvSpPr>
          <p:cNvPr id="277" name="Google Shape;277;g31b9cb688cf_0_43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78" name="Google Shape;278;g31b9cb688cf_0_438"/>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0</a:t>
            </a:r>
            <a:endParaRPr b="1" i="0" sz="2000" u="none" cap="none" strike="noStrike">
              <a:solidFill>
                <a:srgbClr val="8182EF"/>
              </a:solidFill>
              <a:latin typeface="Roboto"/>
              <a:ea typeface="Roboto"/>
              <a:cs typeface="Roboto"/>
              <a:sym typeface="Roboto"/>
            </a:endParaRPr>
          </a:p>
        </p:txBody>
      </p:sp>
      <p:sp>
        <p:nvSpPr>
          <p:cNvPr id="279" name="Google Shape;279;g31b9cb688cf_0_438"/>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FFFFFF"/>
                </a:highlight>
                <a:latin typeface="Arial"/>
                <a:ea typeface="Arial"/>
                <a:cs typeface="Arial"/>
                <a:sym typeface="Arial"/>
              </a:rPr>
              <a:t>First is a tool for second.</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1b9cb688cf_0_329"/>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85" name="Google Shape;285;g31b9cb688cf_0_329"/>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a:t>
            </a:r>
            <a:r>
              <a:rPr lang="en-US" sz="2000">
                <a:solidFill>
                  <a:srgbClr val="8182EF"/>
                </a:solidFill>
                <a:latin typeface="Roboto Black"/>
                <a:ea typeface="Roboto Black"/>
                <a:cs typeface="Roboto Black"/>
                <a:sym typeface="Roboto Black"/>
              </a:rPr>
              <a:t>11</a:t>
            </a:r>
            <a:endParaRPr b="0" i="0" sz="2000" u="none" cap="none" strike="noStrike">
              <a:solidFill>
                <a:srgbClr val="6D9EEB"/>
              </a:solidFill>
              <a:latin typeface="Roboto Black"/>
              <a:ea typeface="Roboto Black"/>
              <a:cs typeface="Roboto Black"/>
              <a:sym typeface="Roboto Black"/>
            </a:endParaRPr>
          </a:p>
        </p:txBody>
      </p:sp>
      <p:sp>
        <p:nvSpPr>
          <p:cNvPr id="286" name="Google Shape;286;g31b9cb688cf_0_329"/>
          <p:cNvSpPr txBox="1"/>
          <p:nvPr/>
        </p:nvSpPr>
        <p:spPr>
          <a:xfrm>
            <a:off x="773650" y="1367975"/>
            <a:ext cx="5547600" cy="35613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"Life" is related to "Death" in the same way as "Hope" is related to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Sad</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Despair</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Pain</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Cry</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0" name="Shape 290"/>
        <p:cNvGrpSpPr/>
        <p:nvPr/>
      </p:nvGrpSpPr>
      <p:grpSpPr>
        <a:xfrm>
          <a:off x="0" y="0"/>
          <a:ext cx="0" cy="0"/>
          <a:chOff x="0" y="0"/>
          <a:chExt cx="0" cy="0"/>
        </a:xfrm>
      </p:grpSpPr>
      <p:sp>
        <p:nvSpPr>
          <p:cNvPr id="291" name="Google Shape;291;g31b9cb688cf_0_44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292" name="Google Shape;292;g31b9cb688cf_0_444"/>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1</a:t>
            </a:r>
            <a:endParaRPr b="1" i="0" sz="2000" u="none" cap="none" strike="noStrike">
              <a:solidFill>
                <a:srgbClr val="8182EF"/>
              </a:solidFill>
              <a:latin typeface="Roboto"/>
              <a:ea typeface="Roboto"/>
              <a:cs typeface="Roboto"/>
              <a:sym typeface="Roboto"/>
            </a:endParaRPr>
          </a:p>
        </p:txBody>
      </p:sp>
      <p:sp>
        <p:nvSpPr>
          <p:cNvPr id="293" name="Google Shape;293;g31b9cb688cf_0_444"/>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FFFFFF"/>
                </a:highlight>
                <a:latin typeface="Arial"/>
                <a:ea typeface="Arial"/>
                <a:cs typeface="Arial"/>
                <a:sym typeface="Arial"/>
              </a:rPr>
              <a:t>Word in each pair are antonym to each other.</a:t>
            </a:r>
            <a:endParaRPr b="0" i="0" sz="1800" u="none" cap="none" strike="noStrike">
              <a:solidFill>
                <a:srgbClr val="000000"/>
              </a:solidFill>
              <a:highlight>
                <a:srgbClr val="FFFFFF"/>
              </a:highlight>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1b9cb688cf_0_33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299" name="Google Shape;299;g31b9cb688cf_0_336"/>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2</a:t>
            </a:r>
            <a:endParaRPr b="0" i="0" sz="2000" u="none" cap="none" strike="noStrike">
              <a:solidFill>
                <a:srgbClr val="6D9EEB"/>
              </a:solidFill>
              <a:latin typeface="Roboto Black"/>
              <a:ea typeface="Roboto Black"/>
              <a:cs typeface="Roboto Black"/>
              <a:sym typeface="Roboto Black"/>
            </a:endParaRPr>
          </a:p>
        </p:txBody>
      </p:sp>
      <p:sp>
        <p:nvSpPr>
          <p:cNvPr id="300" name="Google Shape;300;g31b9cb688cf_0_336"/>
          <p:cNvSpPr txBox="1"/>
          <p:nvPr/>
        </p:nvSpPr>
        <p:spPr>
          <a:xfrm>
            <a:off x="773650" y="1367975"/>
            <a:ext cx="5547600" cy="35196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 "Radical" is related to "Moderate" in the same way as "Revolution" is related to .. ?</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Change</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Chaos</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Peace</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Reformation</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301" name="Google Shape;301;g31b9cb688cf_0_336"/>
          <p:cNvSpPr txBox="1"/>
          <p:nvPr/>
        </p:nvSpPr>
        <p:spPr>
          <a:xfrm>
            <a:off x="2528375" y="1586100"/>
            <a:ext cx="36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5" name="Shape 305"/>
        <p:cNvGrpSpPr/>
        <p:nvPr/>
      </p:nvGrpSpPr>
      <p:grpSpPr>
        <a:xfrm>
          <a:off x="0" y="0"/>
          <a:ext cx="0" cy="0"/>
          <a:chOff x="0" y="0"/>
          <a:chExt cx="0" cy="0"/>
        </a:xfrm>
      </p:grpSpPr>
      <p:sp>
        <p:nvSpPr>
          <p:cNvPr id="306" name="Google Shape;306;g31b9cb688cf_0_45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07" name="Google Shape;307;g31b9cb688cf_0_450"/>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2</a:t>
            </a:r>
            <a:endParaRPr b="1" i="0" sz="2000" u="none" cap="none" strike="noStrike">
              <a:solidFill>
                <a:srgbClr val="8182EF"/>
              </a:solidFill>
              <a:latin typeface="Roboto"/>
              <a:ea typeface="Roboto"/>
              <a:cs typeface="Roboto"/>
              <a:sym typeface="Roboto"/>
            </a:endParaRPr>
          </a:p>
        </p:txBody>
      </p:sp>
      <p:sp>
        <p:nvSpPr>
          <p:cNvPr id="308" name="Google Shape;308;g31b9cb688cf_0_450"/>
          <p:cNvSpPr txBox="1"/>
          <p:nvPr/>
        </p:nvSpPr>
        <p:spPr>
          <a:xfrm>
            <a:off x="150350" y="1400350"/>
            <a:ext cx="842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FFFFFF"/>
                </a:highlight>
                <a:latin typeface="Arial"/>
                <a:ea typeface="Arial"/>
                <a:cs typeface="Arial"/>
                <a:sym typeface="Arial"/>
              </a:rPr>
              <a:t>Words in each pair are antonym to each other.</a:t>
            </a:r>
            <a:endParaRPr b="0" i="0" sz="1800" u="none" cap="none" strike="noStrike">
              <a:solidFill>
                <a:srgbClr val="000000"/>
              </a:solidFill>
              <a:highlight>
                <a:srgbClr val="FFFFFF"/>
              </a:highlight>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1b9cb688cf_0_343"/>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14" name="Google Shape;314;g31b9cb688cf_0_343"/>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3</a:t>
            </a:r>
            <a:endParaRPr b="0" i="0" sz="2000" u="none" cap="none" strike="noStrike">
              <a:solidFill>
                <a:srgbClr val="6D9EEB"/>
              </a:solidFill>
              <a:latin typeface="Roboto Black"/>
              <a:ea typeface="Roboto Black"/>
              <a:cs typeface="Roboto Black"/>
              <a:sym typeface="Roboto Black"/>
            </a:endParaRPr>
          </a:p>
        </p:txBody>
      </p:sp>
      <p:sp>
        <p:nvSpPr>
          <p:cNvPr id="315" name="Google Shape;315;g31b9cb688cf_0_343"/>
          <p:cNvSpPr txBox="1"/>
          <p:nvPr/>
        </p:nvSpPr>
        <p:spPr>
          <a:xfrm>
            <a:off x="773650" y="1367975"/>
            <a:ext cx="5547600" cy="2873100"/>
          </a:xfrm>
          <a:prstGeom prst="rect">
            <a:avLst/>
          </a:prstGeom>
          <a:noFill/>
          <a:ln>
            <a:noFill/>
          </a:ln>
        </p:spPr>
        <p:txBody>
          <a:bodyPr anchorCtr="0" anchor="t" bIns="91425" lIns="91425" spcFirstLastPara="1" rIns="91425" wrap="square" tIns="91425">
            <a:spAutoFit/>
          </a:bodyPr>
          <a:lstStyle/>
          <a:p>
            <a:pPr indent="0" lvl="0" marL="0" rtl="0" algn="l">
              <a:lnSpc>
                <a:spcPct val="133333"/>
              </a:lnSpc>
              <a:spcBef>
                <a:spcPts val="800"/>
              </a:spcBef>
              <a:spcAft>
                <a:spcPts val="0"/>
              </a:spcAft>
              <a:buClr>
                <a:srgbClr val="000000"/>
              </a:buClr>
              <a:buSzPts val="1400"/>
              <a:buFont typeface="Arial"/>
              <a:buNone/>
            </a:pPr>
            <a:r>
              <a:rPr lang="en-US" sz="1800">
                <a:latin typeface="Roboto"/>
                <a:ea typeface="Roboto"/>
                <a:cs typeface="Roboto"/>
                <a:sym typeface="Roboto"/>
              </a:rPr>
              <a:t>Find analogous pair of Sound : Muffled</a:t>
            </a:r>
            <a:endParaRPr sz="1800">
              <a:latin typeface="Roboto"/>
              <a:ea typeface="Roboto"/>
              <a:cs typeface="Roboto"/>
              <a:sym typeface="Roboto"/>
            </a:endParaRPr>
          </a:p>
          <a:p>
            <a:pPr indent="-342900" lvl="0" marL="457200" rtl="0" algn="l">
              <a:lnSpc>
                <a:spcPct val="150000"/>
              </a:lnSpc>
              <a:spcBef>
                <a:spcPts val="800"/>
              </a:spcBef>
              <a:spcAft>
                <a:spcPts val="0"/>
              </a:spcAft>
              <a:buSzPts val="1800"/>
              <a:buFont typeface="Roboto"/>
              <a:buAutoNum type="alphaUcParenR"/>
            </a:pPr>
            <a:r>
              <a:rPr lang="en-US" sz="1800">
                <a:latin typeface="Roboto"/>
                <a:ea typeface="Roboto"/>
                <a:cs typeface="Roboto"/>
                <a:sym typeface="Roboto"/>
              </a:rPr>
              <a:t>Moisture : Humid</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Colour : Faded</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Despair : Anger</a:t>
            </a:r>
            <a:endParaRPr sz="1800">
              <a:latin typeface="Roboto"/>
              <a:ea typeface="Roboto"/>
              <a:cs typeface="Roboto"/>
              <a:sym typeface="Roboto"/>
            </a:endParaRPr>
          </a:p>
          <a:p>
            <a:pPr indent="-342900" lvl="0" marL="457200" rtl="0" algn="l">
              <a:lnSpc>
                <a:spcPct val="150000"/>
              </a:lnSpc>
              <a:spcBef>
                <a:spcPts val="0"/>
              </a:spcBef>
              <a:spcAft>
                <a:spcPts val="0"/>
              </a:spcAft>
              <a:buSzPts val="1800"/>
              <a:buFont typeface="Roboto"/>
              <a:buAutoNum type="alphaUcParenR"/>
            </a:pPr>
            <a:r>
              <a:rPr lang="en-US" sz="1800">
                <a:latin typeface="Roboto"/>
                <a:ea typeface="Roboto"/>
                <a:cs typeface="Roboto"/>
                <a:sym typeface="Roboto"/>
              </a:rPr>
              <a:t>Odour : Pungent</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316" name="Google Shape;316;g31b9cb688cf_0_343"/>
          <p:cNvSpPr txBox="1"/>
          <p:nvPr/>
        </p:nvSpPr>
        <p:spPr>
          <a:xfrm>
            <a:off x="3950050" y="1367975"/>
            <a:ext cx="4699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
        <p:nvSpPr>
          <p:cNvPr id="317" name="Google Shape;317;g31b9cb688cf_0_343"/>
          <p:cNvSpPr txBox="1"/>
          <p:nvPr/>
        </p:nvSpPr>
        <p:spPr>
          <a:xfrm>
            <a:off x="4444500" y="1860575"/>
            <a:ext cx="4699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1" name="Shape 321"/>
        <p:cNvGrpSpPr/>
        <p:nvPr/>
      </p:nvGrpSpPr>
      <p:grpSpPr>
        <a:xfrm>
          <a:off x="0" y="0"/>
          <a:ext cx="0" cy="0"/>
          <a:chOff x="0" y="0"/>
          <a:chExt cx="0" cy="0"/>
        </a:xfrm>
      </p:grpSpPr>
      <p:sp>
        <p:nvSpPr>
          <p:cNvPr id="322" name="Google Shape;322;g31b9cb688cf_0_456"/>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23" name="Google Shape;323;g31b9cb688cf_0_456"/>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3</a:t>
            </a:r>
            <a:endParaRPr b="1" i="0" sz="2000" u="none" cap="none" strike="noStrike">
              <a:solidFill>
                <a:srgbClr val="8182EF"/>
              </a:solidFill>
              <a:latin typeface="Roboto"/>
              <a:ea typeface="Roboto"/>
              <a:cs typeface="Roboto"/>
              <a:sym typeface="Roboto"/>
            </a:endParaRPr>
          </a:p>
        </p:txBody>
      </p:sp>
      <p:sp>
        <p:nvSpPr>
          <p:cNvPr id="324" name="Google Shape;324;g31b9cb688cf_0_456"/>
          <p:cNvSpPr txBox="1"/>
          <p:nvPr/>
        </p:nvSpPr>
        <p:spPr>
          <a:xfrm>
            <a:off x="2488950" y="1202200"/>
            <a:ext cx="4699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highlight>
                  <a:srgbClr val="FFFFFF"/>
                </a:highlight>
              </a:rPr>
              <a:t>Second is the process of gradual disappearance of first.</a:t>
            </a:r>
            <a:endParaRPr sz="1800">
              <a:highlight>
                <a:srgbClr val="FFFFFF"/>
              </a:highlight>
            </a:endParaRPr>
          </a:p>
          <a:p>
            <a:pPr indent="0" lvl="0" marL="0" marR="0" rtl="0" algn="l">
              <a:lnSpc>
                <a:spcPct val="100000"/>
              </a:lnSpc>
              <a:spcBef>
                <a:spcPts val="0"/>
              </a:spcBef>
              <a:spcAft>
                <a:spcPts val="0"/>
              </a:spcAft>
              <a:buClr>
                <a:srgbClr val="000000"/>
              </a:buClr>
              <a:buSzPts val="2000"/>
              <a:buFont typeface="Arial"/>
              <a:buNone/>
            </a:pPr>
            <a:r>
              <a:t/>
            </a:r>
            <a:endParaRPr sz="20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1b9cb688cf_0_35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30" name="Google Shape;330;g31b9cb688cf_0_350"/>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4</a:t>
            </a:r>
            <a:endParaRPr b="0" i="0" sz="2000" u="none" cap="none" strike="noStrike">
              <a:solidFill>
                <a:srgbClr val="6D9EEB"/>
              </a:solidFill>
              <a:latin typeface="Roboto Black"/>
              <a:ea typeface="Roboto Black"/>
              <a:cs typeface="Roboto Black"/>
              <a:sym typeface="Roboto Black"/>
            </a:endParaRPr>
          </a:p>
        </p:txBody>
      </p:sp>
      <p:sp>
        <p:nvSpPr>
          <p:cNvPr id="331" name="Google Shape;331;g31b9cb688cf_0_350"/>
          <p:cNvSpPr txBox="1"/>
          <p:nvPr/>
        </p:nvSpPr>
        <p:spPr>
          <a:xfrm>
            <a:off x="773650" y="1367975"/>
            <a:ext cx="5547600" cy="305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latin typeface="Roboto"/>
                <a:ea typeface="Roboto"/>
                <a:cs typeface="Roboto"/>
                <a:sym typeface="Roboto"/>
              </a:rPr>
              <a:t>Communicable disease: Malaria :: Non-Communicable disease: ?</a:t>
            </a:r>
            <a:endParaRPr sz="1800">
              <a:latin typeface="Roboto"/>
              <a:ea typeface="Roboto"/>
              <a:cs typeface="Roboto"/>
              <a:sym typeface="Roboto"/>
            </a:endParaRPr>
          </a:p>
          <a:p>
            <a:pPr indent="0" lvl="0" marL="0" rtl="0" algn="l">
              <a:spcBef>
                <a:spcPts val="0"/>
              </a:spcBef>
              <a:spcAft>
                <a:spcPts val="0"/>
              </a:spcAft>
              <a:buClr>
                <a:srgbClr val="000000"/>
              </a:buClr>
              <a:buSzPts val="1400"/>
              <a:buFont typeface="Arial"/>
              <a:buNone/>
            </a:pPr>
            <a:r>
              <a:t/>
            </a:r>
            <a:endParaRPr sz="1800">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latin typeface="Roboto"/>
                <a:ea typeface="Roboto"/>
                <a:cs typeface="Roboto"/>
                <a:sym typeface="Roboto"/>
              </a:rPr>
              <a:t>Tuberculosis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Hepatitis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AIDS</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Cancer</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1"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
        <p:nvSpPr>
          <p:cNvPr id="332" name="Google Shape;332;g31b9cb688cf_0_350"/>
          <p:cNvSpPr txBox="1"/>
          <p:nvPr/>
        </p:nvSpPr>
        <p:spPr>
          <a:xfrm>
            <a:off x="5314900" y="2554625"/>
            <a:ext cx="4699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6" name="Shape 336"/>
        <p:cNvGrpSpPr/>
        <p:nvPr/>
      </p:nvGrpSpPr>
      <p:grpSpPr>
        <a:xfrm>
          <a:off x="0" y="0"/>
          <a:ext cx="0" cy="0"/>
          <a:chOff x="0" y="0"/>
          <a:chExt cx="0" cy="0"/>
        </a:xfrm>
      </p:grpSpPr>
      <p:sp>
        <p:nvSpPr>
          <p:cNvPr id="337" name="Google Shape;337;g31b9cb688cf_0_462"/>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38" name="Google Shape;338;g31b9cb688cf_0_462"/>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4</a:t>
            </a:r>
            <a:endParaRPr b="1" i="0" sz="2000" u="none" cap="none" strike="noStrike">
              <a:solidFill>
                <a:srgbClr val="8182EF"/>
              </a:solidFill>
              <a:latin typeface="Roboto"/>
              <a:ea typeface="Roboto"/>
              <a:cs typeface="Roboto"/>
              <a:sym typeface="Roboto"/>
            </a:endParaRPr>
          </a:p>
        </p:txBody>
      </p:sp>
      <p:sp>
        <p:nvSpPr>
          <p:cNvPr id="339" name="Google Shape;339;g31b9cb688cf_0_462"/>
          <p:cNvSpPr txBox="1"/>
          <p:nvPr/>
        </p:nvSpPr>
        <p:spPr>
          <a:xfrm>
            <a:off x="2488950" y="1202200"/>
            <a:ext cx="4699500" cy="107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t>Cancer is Non-Communicable disease</a:t>
            </a:r>
            <a:endParaRPr sz="1800">
              <a:highlight>
                <a:srgbClr val="FFFFFF"/>
              </a:highlight>
            </a:endParaRPr>
          </a:p>
          <a:p>
            <a:pPr indent="0" lvl="0" marL="0" marR="0" rtl="0" algn="l">
              <a:lnSpc>
                <a:spcPct val="100000"/>
              </a:lnSpc>
              <a:spcBef>
                <a:spcPts val="0"/>
              </a:spcBef>
              <a:spcAft>
                <a:spcPts val="0"/>
              </a:spcAft>
              <a:buClr>
                <a:srgbClr val="000000"/>
              </a:buClr>
              <a:buSzPts val="2000"/>
              <a:buFont typeface="Arial"/>
              <a:buNone/>
            </a:pPr>
            <a:r>
              <a:t/>
            </a:r>
            <a:endParaRPr sz="2000"/>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1b9cb688cf_0_357"/>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45" name="Google Shape;345;g31b9cb688cf_0_357"/>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5</a:t>
            </a:r>
            <a:endParaRPr b="0" i="0" sz="2000" u="none" cap="none" strike="noStrike">
              <a:solidFill>
                <a:srgbClr val="6D9EEB"/>
              </a:solidFill>
              <a:latin typeface="Roboto Black"/>
              <a:ea typeface="Roboto Black"/>
              <a:cs typeface="Roboto Black"/>
              <a:sym typeface="Roboto Black"/>
            </a:endParaRPr>
          </a:p>
        </p:txBody>
      </p:sp>
      <p:sp>
        <p:nvSpPr>
          <p:cNvPr id="346" name="Google Shape;346;g31b9cb688cf_0_357"/>
          <p:cNvSpPr txBox="1"/>
          <p:nvPr/>
        </p:nvSpPr>
        <p:spPr>
          <a:xfrm>
            <a:off x="773650" y="1367975"/>
            <a:ext cx="55476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400"/>
              <a:buFont typeface="Arial"/>
              <a:buNone/>
            </a:pPr>
            <a:r>
              <a:rPr lang="en-US" sz="1800">
                <a:latin typeface="Roboto"/>
                <a:ea typeface="Roboto"/>
                <a:cs typeface="Roboto"/>
                <a:sym typeface="Roboto"/>
              </a:rPr>
              <a:t>Aerie : Eagle ::</a:t>
            </a:r>
            <a:endParaRPr sz="1800">
              <a:latin typeface="Roboto"/>
              <a:ea typeface="Roboto"/>
              <a:cs typeface="Roboto"/>
              <a:sym typeface="Roboto"/>
            </a:endParaRPr>
          </a:p>
          <a:p>
            <a:pPr indent="0" lvl="0" marL="0" rtl="0" algn="l">
              <a:spcBef>
                <a:spcPts val="0"/>
              </a:spcBef>
              <a:spcAft>
                <a:spcPts val="0"/>
              </a:spcAft>
              <a:buClr>
                <a:srgbClr val="000000"/>
              </a:buClr>
              <a:buSzPts val="1400"/>
              <a:buFont typeface="Arial"/>
              <a:buNone/>
            </a:pPr>
            <a:r>
              <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Capital : Government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Bridge: Architect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Unit : Apartment</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Kennel : Veterinarian</a:t>
            </a:r>
            <a:endParaRPr sz="1800">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latin typeface="Roboto"/>
                <a:ea typeface="Roboto"/>
                <a:cs typeface="Roboto"/>
                <a:sym typeface="Roboto"/>
              </a:rPr>
              <a:t>House : Person</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0" name="Shape 350"/>
        <p:cNvGrpSpPr/>
        <p:nvPr/>
      </p:nvGrpSpPr>
      <p:grpSpPr>
        <a:xfrm>
          <a:off x="0" y="0"/>
          <a:ext cx="0" cy="0"/>
          <a:chOff x="0" y="0"/>
          <a:chExt cx="0" cy="0"/>
        </a:xfrm>
      </p:grpSpPr>
      <p:sp>
        <p:nvSpPr>
          <p:cNvPr id="351" name="Google Shape;351;g31b9cb688cf_0_468"/>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52" name="Google Shape;352;g31b9cb688cf_0_468"/>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
        <p:nvSpPr>
          <p:cNvPr id="353" name="Google Shape;353;g31b9cb688cf_0_468"/>
          <p:cNvSpPr txBox="1"/>
          <p:nvPr/>
        </p:nvSpPr>
        <p:spPr>
          <a:xfrm>
            <a:off x="2488950" y="1202200"/>
            <a:ext cx="4699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t>An aerie is where an eagle lives ; a house is where a person lives</a:t>
            </a:r>
            <a:endParaRPr sz="1800">
              <a:highlight>
                <a:srgbClr val="FFFFFF"/>
              </a:highlight>
            </a:endParaRPr>
          </a:p>
          <a:p>
            <a:pPr indent="0" lvl="0" marL="0" marR="0" rtl="0" algn="l">
              <a:lnSpc>
                <a:spcPct val="100000"/>
              </a:lnSpc>
              <a:spcBef>
                <a:spcPts val="0"/>
              </a:spcBef>
              <a:spcAft>
                <a:spcPts val="0"/>
              </a:spcAft>
              <a:buClr>
                <a:srgbClr val="000000"/>
              </a:buClr>
              <a:buSzPts val="2000"/>
              <a:buFont typeface="Arial"/>
              <a:buNone/>
            </a:pPr>
            <a:r>
              <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31b9cb688cf_0_36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59" name="Google Shape;359;g31b9cb688cf_0_364"/>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1</a:t>
            </a:r>
            <a:r>
              <a:rPr lang="en-US" sz="2000">
                <a:solidFill>
                  <a:srgbClr val="8182EF"/>
                </a:solidFill>
                <a:latin typeface="Roboto Black"/>
                <a:ea typeface="Roboto Black"/>
                <a:cs typeface="Roboto Black"/>
                <a:sym typeface="Roboto Black"/>
              </a:rPr>
              <a:t>6</a:t>
            </a:r>
            <a:endParaRPr b="0" i="0" sz="2000" u="none" cap="none" strike="noStrike">
              <a:solidFill>
                <a:srgbClr val="6D9EEB"/>
              </a:solidFill>
              <a:latin typeface="Roboto Black"/>
              <a:ea typeface="Roboto Black"/>
              <a:cs typeface="Roboto Black"/>
              <a:sym typeface="Roboto Black"/>
            </a:endParaRPr>
          </a:p>
        </p:txBody>
      </p:sp>
      <p:sp>
        <p:nvSpPr>
          <p:cNvPr id="360" name="Google Shape;360;g31b9cb688cf_0_364"/>
          <p:cNvSpPr txBox="1"/>
          <p:nvPr/>
        </p:nvSpPr>
        <p:spPr>
          <a:xfrm>
            <a:off x="773650" y="1367975"/>
            <a:ext cx="5547600" cy="278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highlight>
                  <a:srgbClr val="FFFFFF"/>
                </a:highlight>
                <a:latin typeface="Roboto"/>
                <a:ea typeface="Roboto"/>
                <a:cs typeface="Roboto"/>
                <a:sym typeface="Roboto"/>
              </a:rPr>
              <a:t>Mathematics is related to Numbers in the same way as History is related to ......</a:t>
            </a:r>
            <a:endParaRPr sz="1800">
              <a:highlight>
                <a:srgbClr val="FFFFFF"/>
              </a:highlight>
              <a:latin typeface="Roboto"/>
              <a:ea typeface="Roboto"/>
              <a:cs typeface="Roboto"/>
              <a:sym typeface="Roboto"/>
            </a:endParaRPr>
          </a:p>
          <a:p>
            <a:pPr indent="0" lvl="0" marL="0" rtl="0" algn="l">
              <a:spcBef>
                <a:spcPts val="0"/>
              </a:spcBef>
              <a:spcAft>
                <a:spcPts val="0"/>
              </a:spcAft>
              <a:buClr>
                <a:srgbClr val="000000"/>
              </a:buClr>
              <a:buSzPts val="1400"/>
              <a:buFont typeface="Arial"/>
              <a:buNone/>
            </a:pPr>
            <a:r>
              <a:t/>
            </a:r>
            <a:endParaRPr sz="1800">
              <a:highlight>
                <a:srgbClr val="FFFFFF"/>
              </a:highlight>
              <a:latin typeface="Roboto"/>
              <a:ea typeface="Roboto"/>
              <a:cs typeface="Roboto"/>
              <a:sym typeface="Roboto"/>
            </a:endParaRPr>
          </a:p>
          <a:p>
            <a:pPr indent="-342900" lvl="0" marL="457200" rtl="0" algn="l">
              <a:spcBef>
                <a:spcPts val="800"/>
              </a:spcBef>
              <a:spcAft>
                <a:spcPts val="0"/>
              </a:spcAft>
              <a:buSzPts val="1800"/>
              <a:buFont typeface="Roboto"/>
              <a:buAutoNum type="alphaUcParenR"/>
            </a:pPr>
            <a:r>
              <a:rPr lang="en-US" sz="1800">
                <a:highlight>
                  <a:srgbClr val="FFFFFF"/>
                </a:highlight>
                <a:latin typeface="Roboto"/>
                <a:ea typeface="Roboto"/>
                <a:cs typeface="Roboto"/>
                <a:sym typeface="Roboto"/>
              </a:rPr>
              <a:t>People</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Events</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Dates</a:t>
            </a:r>
            <a:endParaRPr sz="1800">
              <a:highlight>
                <a:srgbClr val="FFFFFF"/>
              </a:highlight>
              <a:latin typeface="Roboto"/>
              <a:ea typeface="Roboto"/>
              <a:cs typeface="Roboto"/>
              <a:sym typeface="Roboto"/>
            </a:endParaRPr>
          </a:p>
          <a:p>
            <a:pPr indent="-342900" lvl="0" marL="457200" rtl="0" algn="l">
              <a:spcBef>
                <a:spcPts val="0"/>
              </a:spcBef>
              <a:spcAft>
                <a:spcPts val="0"/>
              </a:spcAft>
              <a:buSzPts val="1800"/>
              <a:buFont typeface="Roboto"/>
              <a:buAutoNum type="alphaUcParenR"/>
            </a:pPr>
            <a:r>
              <a:rPr lang="en-US" sz="1800">
                <a:highlight>
                  <a:srgbClr val="FFFFFF"/>
                </a:highlight>
                <a:latin typeface="Roboto"/>
                <a:ea typeface="Roboto"/>
                <a:cs typeface="Roboto"/>
                <a:sym typeface="Roboto"/>
              </a:rPr>
              <a:t>Wars</a:t>
            </a:r>
            <a:endParaRPr sz="1800">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sz="1800">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i="0" sz="1800" u="none" cap="none" strike="noStrike">
              <a:solidFill>
                <a:srgbClr val="000000"/>
              </a:solidFill>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 name="Shape 364"/>
        <p:cNvGrpSpPr/>
        <p:nvPr/>
      </p:nvGrpSpPr>
      <p:grpSpPr>
        <a:xfrm>
          <a:off x="0" y="0"/>
          <a:ext cx="0" cy="0"/>
          <a:chOff x="0" y="0"/>
          <a:chExt cx="0" cy="0"/>
        </a:xfrm>
      </p:grpSpPr>
      <p:sp>
        <p:nvSpPr>
          <p:cNvPr id="365" name="Google Shape;365;g31b9cb688cf_0_474"/>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66" name="Google Shape;366;g31b9cb688cf_0_474"/>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1</a:t>
            </a:r>
            <a:r>
              <a:rPr b="1" lang="en-US" sz="2000">
                <a:solidFill>
                  <a:srgbClr val="8182EF"/>
                </a:solidFill>
                <a:latin typeface="Roboto"/>
                <a:ea typeface="Roboto"/>
                <a:cs typeface="Roboto"/>
                <a:sym typeface="Roboto"/>
              </a:rPr>
              <a:t>6</a:t>
            </a:r>
            <a:endParaRPr b="1" i="0" sz="2000" u="none" cap="none" strike="noStrike">
              <a:solidFill>
                <a:srgbClr val="8182EF"/>
              </a:solidFill>
              <a:latin typeface="Roboto"/>
              <a:ea typeface="Roboto"/>
              <a:cs typeface="Roboto"/>
              <a:sym typeface="Roboto"/>
            </a:endParaRPr>
          </a:p>
        </p:txBody>
      </p:sp>
      <p:sp>
        <p:nvSpPr>
          <p:cNvPr id="367" name="Google Shape;367;g31b9cb688cf_0_474"/>
          <p:cNvSpPr txBox="1"/>
          <p:nvPr/>
        </p:nvSpPr>
        <p:spPr>
          <a:xfrm>
            <a:off x="2488950" y="1202200"/>
            <a:ext cx="4699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1800"/>
              <a:buFont typeface="Arial"/>
              <a:buNone/>
            </a:pPr>
            <a:r>
              <a:rPr lang="en-US" sz="1800"/>
              <a:t>Mathematics is the theory of numbers and History is the theory of past events.</a:t>
            </a:r>
            <a:endParaRPr sz="1800"/>
          </a:p>
          <a:p>
            <a:pPr indent="0" lvl="0" marL="0" marR="0" rtl="0" algn="l">
              <a:lnSpc>
                <a:spcPct val="100000"/>
              </a:lnSpc>
              <a:spcBef>
                <a:spcPts val="0"/>
              </a:spcBef>
              <a:spcAft>
                <a:spcPts val="0"/>
              </a:spcAft>
              <a:buClr>
                <a:srgbClr val="000000"/>
              </a:buClr>
              <a:buSzPts val="2000"/>
              <a:buFont typeface="Arial"/>
              <a:buNone/>
            </a:pPr>
            <a:r>
              <a:t/>
            </a: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1b9cb688cf_0_371"/>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174625"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Roboto"/>
                <a:ea typeface="Roboto"/>
                <a:cs typeface="Roboto"/>
                <a:sym typeface="Roboto"/>
              </a:rPr>
              <a:t>Question: 01</a:t>
            </a:r>
            <a:endParaRPr b="1" i="0" sz="2000" u="none" cap="none" strike="noStrike">
              <a:solidFill>
                <a:schemeClr val="lt1"/>
              </a:solidFill>
              <a:latin typeface="Roboto"/>
              <a:ea typeface="Roboto"/>
              <a:cs typeface="Roboto"/>
              <a:sym typeface="Roboto"/>
            </a:endParaRPr>
          </a:p>
        </p:txBody>
      </p:sp>
      <p:sp>
        <p:nvSpPr>
          <p:cNvPr id="373" name="Google Shape;373;g31b9cb688cf_0_371"/>
          <p:cNvSpPr txBox="1"/>
          <p:nvPr/>
        </p:nvSpPr>
        <p:spPr>
          <a:xfrm>
            <a:off x="773650" y="985350"/>
            <a:ext cx="31764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US" sz="2000" u="none" cap="none" strike="noStrike">
                <a:solidFill>
                  <a:srgbClr val="8182EF"/>
                </a:solidFill>
                <a:latin typeface="Roboto Black"/>
                <a:ea typeface="Roboto Black"/>
                <a:cs typeface="Roboto Black"/>
                <a:sym typeface="Roboto Black"/>
              </a:rPr>
              <a:t>QUESTION : </a:t>
            </a:r>
            <a:r>
              <a:rPr lang="en-US" sz="2000">
                <a:solidFill>
                  <a:srgbClr val="8182EF"/>
                </a:solidFill>
                <a:latin typeface="Roboto Black"/>
                <a:ea typeface="Roboto Black"/>
                <a:cs typeface="Roboto Black"/>
                <a:sym typeface="Roboto Black"/>
              </a:rPr>
              <a:t>17</a:t>
            </a:r>
            <a:endParaRPr b="0" i="0" sz="2000" u="none" cap="none" strike="noStrike">
              <a:solidFill>
                <a:srgbClr val="6D9EEB"/>
              </a:solidFill>
              <a:latin typeface="Roboto Black"/>
              <a:ea typeface="Roboto Black"/>
              <a:cs typeface="Roboto Black"/>
              <a:sym typeface="Roboto Black"/>
            </a:endParaRPr>
          </a:p>
        </p:txBody>
      </p:sp>
      <p:sp>
        <p:nvSpPr>
          <p:cNvPr id="374" name="Google Shape;374;g31b9cb688cf_0_371"/>
          <p:cNvSpPr txBox="1"/>
          <p:nvPr/>
        </p:nvSpPr>
        <p:spPr>
          <a:xfrm>
            <a:off x="773650" y="1385550"/>
            <a:ext cx="55476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en-US" sz="1800" u="none" cap="none" strike="noStrike">
                <a:solidFill>
                  <a:schemeClr val="dk1"/>
                </a:solidFill>
                <a:latin typeface="Roboto"/>
                <a:ea typeface="Roboto"/>
                <a:cs typeface="Roboto"/>
                <a:sym typeface="Roboto"/>
              </a:rPr>
              <a:t>Eminent</a:t>
            </a:r>
            <a:endParaRPr b="1"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t/>
            </a:r>
            <a:endParaRPr b="1"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rPr b="0" i="0" lang="en-US" sz="1800" u="none" cap="none" strike="noStrike">
                <a:solidFill>
                  <a:schemeClr val="dk1"/>
                </a:solidFill>
                <a:latin typeface="Roboto"/>
                <a:ea typeface="Roboto"/>
                <a:cs typeface="Roboto"/>
                <a:sym typeface="Roboto"/>
              </a:rPr>
              <a:t>a. imminent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rPr b="0" i="0" lang="en-US" sz="1800" u="none" cap="none" strike="noStrike">
                <a:solidFill>
                  <a:schemeClr val="dk1"/>
                </a:solidFill>
                <a:latin typeface="Roboto"/>
                <a:ea typeface="Roboto"/>
                <a:cs typeface="Roboto"/>
                <a:sym typeface="Roboto"/>
              </a:rPr>
              <a:t>b. obscure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rPr b="0" i="0" lang="en-US" sz="1800" u="none" cap="none" strike="noStrike">
                <a:solidFill>
                  <a:schemeClr val="dk1"/>
                </a:solidFill>
                <a:latin typeface="Roboto"/>
                <a:ea typeface="Roboto"/>
                <a:cs typeface="Roboto"/>
                <a:sym typeface="Roboto"/>
              </a:rPr>
              <a:t>c. retire </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Arial"/>
              <a:buNone/>
            </a:pPr>
            <a:r>
              <a:rPr b="0" i="0" lang="en-US" sz="1800" u="none" cap="none" strike="noStrike">
                <a:solidFill>
                  <a:schemeClr val="dk1"/>
                </a:solidFill>
                <a:latin typeface="Roboto"/>
                <a:ea typeface="Roboto"/>
                <a:cs typeface="Roboto"/>
                <a:sym typeface="Roboto"/>
              </a:rPr>
              <a:t>d. Unsure</a:t>
            </a:r>
            <a:endParaRPr b="1" i="0" sz="18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700"/>
              <a:buFont typeface="Arial"/>
              <a:buNone/>
            </a:pPr>
            <a:r>
              <a:t/>
            </a:r>
            <a:endParaRPr b="0" i="0" sz="1800" u="none" cap="none" strike="noStrike">
              <a:solidFill>
                <a:srgbClr val="000000"/>
              </a:solidFill>
              <a:latin typeface="Roboto"/>
              <a:ea typeface="Roboto"/>
              <a:cs typeface="Roboto"/>
              <a:sym typeface="Roboto"/>
            </a:endParaRPr>
          </a:p>
        </p:txBody>
      </p:sp>
      <p:sp>
        <p:nvSpPr>
          <p:cNvPr id="375" name="Google Shape;375;g31b9cb688cf_0_371"/>
          <p:cNvSpPr txBox="1"/>
          <p:nvPr/>
        </p:nvSpPr>
        <p:spPr>
          <a:xfrm>
            <a:off x="3377100" y="3059275"/>
            <a:ext cx="4699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9" name="Shape 379"/>
        <p:cNvGrpSpPr/>
        <p:nvPr/>
      </p:nvGrpSpPr>
      <p:grpSpPr>
        <a:xfrm>
          <a:off x="0" y="0"/>
          <a:ext cx="0" cy="0"/>
          <a:chOff x="0" y="0"/>
          <a:chExt cx="0" cy="0"/>
        </a:xfrm>
      </p:grpSpPr>
      <p:sp>
        <p:nvSpPr>
          <p:cNvPr id="380" name="Google Shape;380;g31b9cb688cf_0_480"/>
          <p:cNvSpPr txBox="1"/>
          <p:nvPr/>
        </p:nvSpPr>
        <p:spPr>
          <a:xfrm>
            <a:off x="0" y="203917"/>
            <a:ext cx="3176400" cy="400200"/>
          </a:xfrm>
          <a:prstGeom prst="rect">
            <a:avLst/>
          </a:prstGeom>
          <a:noFill/>
          <a:ln>
            <a:noFill/>
          </a:ln>
        </p:spPr>
        <p:txBody>
          <a:bodyPr anchorCtr="0" anchor="t" bIns="45700" lIns="91425" spcFirstLastPara="1" rIns="91425" wrap="square" tIns="45700">
            <a:spAutoFit/>
          </a:bodyPr>
          <a:lstStyle/>
          <a:p>
            <a:pPr indent="0" lvl="0" marL="174625"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Roboto"/>
                <a:ea typeface="Roboto"/>
                <a:cs typeface="Roboto"/>
                <a:sym typeface="Roboto"/>
              </a:rPr>
              <a:t>Explanation:</a:t>
            </a:r>
            <a:endParaRPr b="1" i="0" sz="2000" u="none" cap="none" strike="noStrike">
              <a:solidFill>
                <a:srgbClr val="FFFFFF"/>
              </a:solidFill>
              <a:latin typeface="Roboto"/>
              <a:ea typeface="Roboto"/>
              <a:cs typeface="Roboto"/>
              <a:sym typeface="Roboto"/>
            </a:endParaRPr>
          </a:p>
        </p:txBody>
      </p:sp>
      <p:sp>
        <p:nvSpPr>
          <p:cNvPr id="381" name="Google Shape;381;g31b9cb688cf_0_480"/>
          <p:cNvSpPr txBox="1"/>
          <p:nvPr/>
        </p:nvSpPr>
        <p:spPr>
          <a:xfrm>
            <a:off x="722375" y="67740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8182EF"/>
                </a:solidFill>
                <a:latin typeface="Roboto"/>
                <a:ea typeface="Roboto"/>
                <a:cs typeface="Roboto"/>
                <a:sym typeface="Roboto"/>
              </a:rPr>
              <a:t>Explanation: </a:t>
            </a:r>
            <a:r>
              <a:rPr b="1" lang="en-US" sz="2000">
                <a:solidFill>
                  <a:srgbClr val="8182EF"/>
                </a:solidFill>
                <a:latin typeface="Roboto"/>
                <a:ea typeface="Roboto"/>
                <a:cs typeface="Roboto"/>
                <a:sym typeface="Roboto"/>
              </a:rPr>
              <a:t>17</a:t>
            </a:r>
            <a:endParaRPr b="1" i="0" sz="2000" u="none" cap="none" strike="noStrike">
              <a:solidFill>
                <a:srgbClr val="8182EF"/>
              </a:solidFill>
              <a:latin typeface="Roboto"/>
              <a:ea typeface="Roboto"/>
              <a:cs typeface="Roboto"/>
              <a:sym typeface="Roboto"/>
            </a:endParaRPr>
          </a:p>
        </p:txBody>
      </p:sp>
      <p:sp>
        <p:nvSpPr>
          <p:cNvPr id="382" name="Google Shape;382;g31b9cb688cf_0_480"/>
          <p:cNvSpPr txBox="1"/>
          <p:nvPr/>
        </p:nvSpPr>
        <p:spPr>
          <a:xfrm>
            <a:off x="2488950" y="1202200"/>
            <a:ext cx="4699500" cy="1416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b. eminent means prominent, or famous; obscure means not prominent, or unknown</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9"/>
          <p:cNvSpPr/>
          <p:nvPr/>
        </p:nvSpPr>
        <p:spPr>
          <a:xfrm>
            <a:off x="555120" y="91584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88" name="Google Shape;388;p9"/>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89" name="Google Shape;389;p9"/>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1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95" name="Google Shape;395;p1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96" name="Google Shape;396;p1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97" name="Google Shape;397;p11"/>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98" name="Google Shape;398;p1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99" name="Google Shape;399;p1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400" name="Google Shape;400;p11"/>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401" name="Google Shape;401;p1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402" name="Google Shape;402;p11"/>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403" name="Google Shape;403;p1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404" name="Google Shape;404;p11"/>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405" name="Google Shape;405;p1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2019-12-04T07:36:33Z</dcterms:created>
  <dc:creator>sushmitha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