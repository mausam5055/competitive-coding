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y="5143500" cx="9144000"/>
  <p:notesSz cx="6858000" cy="9144000"/>
  <p:embeddedFontLst>
    <p:embeddedFont>
      <p:font typeface="Roboto Black"/>
      <p:bold r:id="rId48"/>
      <p:boldItalic r:id="rId49"/>
    </p:embeddedFont>
    <p:embeddedFont>
      <p:font typeface="Robot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9AA0A6"/>
          </p15:clr>
        </p15:guide>
        <p15:guide id="2" orient="horz" pos="2755">
          <p15:clr>
            <a:srgbClr val="0000FF"/>
          </p15:clr>
        </p15:guide>
        <p15:guide id="3" orient="horz" pos="844">
          <p15:clr>
            <a:srgbClr val="0000FF"/>
          </p15:clr>
        </p15:guide>
        <p15:guide id="4" pos="5272">
          <p15:clr>
            <a:srgbClr val="9AA0A6"/>
          </p15:clr>
        </p15:guide>
        <p15:guide id="5" orient="horz" pos="737">
          <p15:clr>
            <a:srgbClr val="FF0000"/>
          </p15:clr>
        </p15:guide>
        <p15:guide id="6" orient="horz" pos="397">
          <p15:clr>
            <a:srgbClr val="FF0000"/>
          </p15:clr>
        </p15:guide>
      </p15:sldGuideLst>
    </p:ext>
    <p:ext uri="GoogleSlidesCustomDataVersion2">
      <go:slidesCustomData xmlns:go="http://customooxmlschemas.google.com/" r:id="rId54" roundtripDataSignature="AMtx7mjOI8OeQyKGt4ej08ojv5TBrYMb3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618B669-B023-4C4C-950B-89AD03402AAA}">
  <a:tblStyle styleId="{9618B669-B023-4C4C-950B-89AD03402AA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844" orient="horz"/>
        <p:guide pos="5272"/>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obotoBlack-bold.fntdata"/><Relationship Id="rId47" Type="http://schemas.openxmlformats.org/officeDocument/2006/relationships/slide" Target="slides/slide41.xml"/><Relationship Id="rId49" Type="http://schemas.openxmlformats.org/officeDocument/2006/relationships/font" Target="fonts/RobotoBlack-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bold.fntdata"/><Relationship Id="rId50" Type="http://schemas.openxmlformats.org/officeDocument/2006/relationships/font" Target="fonts/Roboto-regular.fntdata"/><Relationship Id="rId53" Type="http://schemas.openxmlformats.org/officeDocument/2006/relationships/font" Target="fonts/Roboto-boldItalic.fntdata"/><Relationship Id="rId52" Type="http://schemas.openxmlformats.org/officeDocument/2006/relationships/font" Target="fonts/Roboto-italic.fntdata"/><Relationship Id="rId11" Type="http://schemas.openxmlformats.org/officeDocument/2006/relationships/slide" Target="slides/slide5.xml"/><Relationship Id="rId10" Type="http://schemas.openxmlformats.org/officeDocument/2006/relationships/slide" Target="slides/slide4.xml"/><Relationship Id="rId54"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 name="Google Shape;54;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f457c7e49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 name="Google Shape;63;g2f457c7e49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b3a98e794b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g1b3a98e794b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b3a98e794b_0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g1b3a98e794b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b3a98e794b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g1b3a98e794b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b3a98e794b_0_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g1b3a98e794b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ee1645c92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g2ee1645c92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ee1645c92c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g2ee1645c92c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ee1645c92c_0_1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g2ee1645c92c_0_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ee1645c92c_0_1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g2ee1645c92c_0_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8: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p48: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5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5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5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3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2" name="Google Shape;22;p3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3" name="Google Shape;23;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3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6" name="Google Shape;26;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4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4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3" name="Google Shape;33;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4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4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9" name="Google Shape;39;p4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4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4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2" name="Google Shape;42;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4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45" name="Google Shape;45;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4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4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9" name="Google Shape;49;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p3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3.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forms.gle/zBeHJBfVrX8U319Y7" TargetMode="Externa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11.png"/><Relationship Id="rId4" Type="http://schemas.openxmlformats.org/officeDocument/2006/relationships/hyperlink" Target="https://learn.codemithra.com/"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2.jpg"/><Relationship Id="rId4" Type="http://schemas.openxmlformats.org/officeDocument/2006/relationships/image" Target="../media/image8.png"/><Relationship Id="rId5" Type="http://schemas.openxmlformats.org/officeDocument/2006/relationships/image" Target="../media/image13.png"/><Relationship Id="rId6"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4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7" name="Google Shape;57;p4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58" name="Google Shape;58;p46"/>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59" name="Google Shape;59;p46"/>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60" name="Google Shape;60;p46"/>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g2f457c7e492_0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GB" sz="1600">
                <a:solidFill>
                  <a:schemeClr val="dk1"/>
                </a:solidFill>
                <a:highlight>
                  <a:srgbClr val="FFFFFF"/>
                </a:highlight>
                <a:latin typeface="Roboto"/>
                <a:ea typeface="Roboto"/>
                <a:cs typeface="Roboto"/>
                <a:sym typeface="Roboto"/>
              </a:rPr>
              <a:t>URL</a:t>
            </a:r>
            <a:r>
              <a:rPr b="1" lang="en-GB" sz="1600">
                <a:solidFill>
                  <a:srgbClr val="373737"/>
                </a:solidFill>
                <a:highlight>
                  <a:srgbClr val="FFFFFF"/>
                </a:highlight>
                <a:latin typeface="Roboto"/>
                <a:ea typeface="Roboto"/>
                <a:cs typeface="Roboto"/>
                <a:sym typeface="Roboto"/>
              </a:rPr>
              <a:t>: </a:t>
            </a:r>
            <a:r>
              <a:rPr b="1" lang="en-GB" sz="1600" u="sng">
                <a:solidFill>
                  <a:schemeClr val="hlink"/>
                </a:solidFill>
                <a:highlight>
                  <a:srgbClr val="FFFFFF"/>
                </a:highlight>
                <a:latin typeface="Roboto"/>
                <a:ea typeface="Roboto"/>
                <a:cs typeface="Roboto"/>
                <a:sym typeface="Roboto"/>
                <a:hlinkClick r:id="rId3"/>
              </a:rPr>
              <a:t>https://forms.gle/zBeHJBfVrX8U319Y7</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chemeClr val="dk1"/>
                </a:solidFill>
                <a:highlight>
                  <a:srgbClr val="FFFFFF"/>
                </a:highlight>
                <a:latin typeface="Roboto"/>
                <a:ea typeface="Roboto"/>
                <a:cs typeface="Roboto"/>
                <a:sym typeface="Roboto"/>
              </a:rPr>
              <a:t>QR CODE</a:t>
            </a:r>
            <a:r>
              <a:rPr b="1" lang="en-GB"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p:txBody>
      </p:sp>
      <p:sp>
        <p:nvSpPr>
          <p:cNvPr id="66" name="Google Shape;66;g2f457c7e492_0_0"/>
          <p:cNvSpPr txBox="1"/>
          <p:nvPr/>
        </p:nvSpPr>
        <p:spPr>
          <a:xfrm>
            <a:off x="812625" y="622125"/>
            <a:ext cx="7527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Roboto"/>
                <a:ea typeface="Roboto"/>
                <a:cs typeface="Roboto"/>
                <a:sym typeface="Roboto"/>
              </a:rPr>
              <a:t>                                             TEST TIME ON CASELET PROBLEMS  </a:t>
            </a:r>
            <a:endParaRPr b="1" sz="1600">
              <a:latin typeface="Roboto"/>
              <a:ea typeface="Roboto"/>
              <a:cs typeface="Roboto"/>
              <a:sym typeface="Roboto"/>
            </a:endParaRPr>
          </a:p>
        </p:txBody>
      </p:sp>
      <p:pic>
        <p:nvPicPr>
          <p:cNvPr id="67" name="Google Shape;67;g2f457c7e492_0_0"/>
          <p:cNvPicPr preferRelativeResize="0"/>
          <p:nvPr/>
        </p:nvPicPr>
        <p:blipFill>
          <a:blip r:embed="rId4">
            <a:alphaModFix/>
          </a:blip>
          <a:stretch>
            <a:fillRect/>
          </a:stretch>
        </p:blipFill>
        <p:spPr>
          <a:xfrm>
            <a:off x="3271425" y="2135725"/>
            <a:ext cx="3001751" cy="23956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4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73" name="Google Shape;73;p4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74" name="Google Shape;74;p47"/>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75" name="Google Shape;75;p47"/>
          <p:cNvSpPr txBox="1"/>
          <p:nvPr/>
        </p:nvSpPr>
        <p:spPr>
          <a:xfrm>
            <a:off x="230040" y="1273459"/>
            <a:ext cx="4690800" cy="25242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rgbClr val="000000"/>
              </a:buClr>
              <a:buSzPts val="1400"/>
              <a:buFont typeface="Arial"/>
              <a:buNone/>
            </a:pPr>
            <a:r>
              <a:rPr b="1" i="0" lang="en-GB" sz="1800" u="none" cap="none" strike="noStrike">
                <a:solidFill>
                  <a:srgbClr val="000000"/>
                </a:solidFill>
                <a:latin typeface="Roboto"/>
                <a:ea typeface="Roboto"/>
                <a:cs typeface="Roboto"/>
                <a:sym typeface="Roboto"/>
              </a:rPr>
              <a:t>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800"/>
              </a:spcBef>
              <a:spcAft>
                <a:spcPts val="0"/>
              </a:spcAft>
              <a:buClr>
                <a:srgbClr val="000000"/>
              </a:buClr>
              <a:buSzPts val="1400"/>
              <a:buFont typeface="Arial"/>
              <a:buNone/>
            </a:pPr>
            <a:r>
              <a:t/>
            </a:r>
            <a:endParaRPr b="1" i="0" sz="2400" u="none" cap="none" strike="noStrike">
              <a:solidFill>
                <a:schemeClr val="lt1"/>
              </a:solidFill>
              <a:latin typeface="Roboto"/>
              <a:ea typeface="Roboto"/>
              <a:cs typeface="Roboto"/>
              <a:sym typeface="Roboto"/>
            </a:endParaRPr>
          </a:p>
          <a:p>
            <a:pPr indent="0" lvl="0" marL="0" marR="0" rtl="0" algn="l">
              <a:lnSpc>
                <a:spcPct val="100000"/>
              </a:lnSpc>
              <a:spcBef>
                <a:spcPts val="800"/>
              </a:spcBef>
              <a:spcAft>
                <a:spcPts val="0"/>
              </a:spcAft>
              <a:buClr>
                <a:srgbClr val="000000"/>
              </a:buClr>
              <a:buSzPts val="2400"/>
              <a:buFont typeface="Arial"/>
              <a:buNone/>
            </a:pPr>
            <a:r>
              <a:rPr b="1" i="0" lang="en-GB" sz="2400" u="none" cap="none" strike="noStrike">
                <a:solidFill>
                  <a:schemeClr val="lt1"/>
                </a:solidFill>
                <a:latin typeface="Roboto"/>
                <a:ea typeface="Roboto"/>
                <a:cs typeface="Roboto"/>
                <a:sym typeface="Roboto"/>
              </a:rPr>
              <a:t>TIME AND WORK </a:t>
            </a:r>
            <a:endParaRPr b="1" i="0" sz="2400" u="none" cap="none" strike="noStrike">
              <a:solidFill>
                <a:schemeClr val="lt1"/>
              </a:solidFill>
              <a:latin typeface="Roboto"/>
              <a:ea typeface="Roboto"/>
              <a:cs typeface="Roboto"/>
              <a:sym typeface="Roboto"/>
            </a:endParaRPr>
          </a:p>
          <a:p>
            <a:pPr indent="0" lvl="0" marL="0" marR="0" rtl="0" algn="l">
              <a:lnSpc>
                <a:spcPct val="100000"/>
              </a:lnSpc>
              <a:spcBef>
                <a:spcPts val="800"/>
              </a:spcBef>
              <a:spcAft>
                <a:spcPts val="0"/>
              </a:spcAft>
              <a:buClr>
                <a:srgbClr val="000000"/>
              </a:buClr>
              <a:buSzPts val="2400"/>
              <a:buFont typeface="Arial"/>
              <a:buNone/>
            </a:pPr>
            <a:r>
              <a:rPr b="1" i="0" lang="en-GB" sz="2400" u="none" cap="none" strike="noStrike">
                <a:solidFill>
                  <a:schemeClr val="lt1"/>
                </a:solidFill>
                <a:latin typeface="Roboto"/>
                <a:ea typeface="Roboto"/>
                <a:cs typeface="Roboto"/>
                <a:sym typeface="Roboto"/>
              </a:rPr>
              <a:t>(WORK WITH DIFFERENT EFFICIENCIES)</a:t>
            </a:r>
            <a:endParaRPr b="1" i="0" sz="2400" u="none" cap="none" strike="noStrike">
              <a:solidFill>
                <a:schemeClr val="lt1"/>
              </a:solidFill>
              <a:latin typeface="Roboto"/>
              <a:ea typeface="Roboto"/>
              <a:cs typeface="Roboto"/>
              <a:sym typeface="Roboto"/>
            </a:endParaRPr>
          </a:p>
          <a:p>
            <a:pPr indent="0" lvl="0" marL="0" marR="0" rtl="0" algn="ctr">
              <a:lnSpc>
                <a:spcPct val="115000"/>
              </a:lnSpc>
              <a:spcBef>
                <a:spcPts val="0"/>
              </a:spcBef>
              <a:spcAft>
                <a:spcPts val="0"/>
              </a:spcAft>
              <a:buClr>
                <a:srgbClr val="000000"/>
              </a:buClr>
              <a:buSzPts val="1800"/>
              <a:buFont typeface="Arial"/>
              <a:buNone/>
            </a:pPr>
            <a:r>
              <a:t/>
            </a:r>
            <a:endParaRPr b="1" i="0" sz="1800" u="none" cap="none" strike="noStrike">
              <a:solidFill>
                <a:schemeClr val="lt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g1b3a98e794b_0_10"/>
          <p:cNvSpPr txBox="1"/>
          <p:nvPr/>
        </p:nvSpPr>
        <p:spPr>
          <a:xfrm>
            <a:off x="720000" y="1519575"/>
            <a:ext cx="6991800" cy="25557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1" i="0" lang="en-GB" sz="1400" u="none" cap="none" strike="noStrike">
                <a:solidFill>
                  <a:schemeClr val="dk1"/>
                </a:solidFill>
                <a:latin typeface="Roboto"/>
                <a:ea typeface="Roboto"/>
                <a:cs typeface="Roboto"/>
                <a:sym typeface="Roboto"/>
              </a:rPr>
              <a:t>Definition:</a:t>
            </a:r>
            <a:endParaRPr b="1" i="0" sz="1400" u="none" cap="none" strike="noStrike">
              <a:solidFill>
                <a:schemeClr val="dk1"/>
              </a:solidFill>
              <a:latin typeface="Roboto"/>
              <a:ea typeface="Roboto"/>
              <a:cs typeface="Roboto"/>
              <a:sym typeface="Roboto"/>
            </a:endParaRPr>
          </a:p>
          <a:p>
            <a:pPr indent="0" lvl="0" marL="0" marR="0" rtl="0" algn="l">
              <a:lnSpc>
                <a:spcPct val="115000"/>
              </a:lnSpc>
              <a:spcBef>
                <a:spcPts val="80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Work is defined as something which has an effect or outcome; often the one desired or expected. The basic concept of Time and Work is similar to that across all Arithmetic topics, i.e. the concept of Proportionality.</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80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Efficiency is inversely proportional to the Time taken when the amount of work done is constant.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80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80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80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The complete work can also be considered as 1 unit. Then if A takes 4 days to finish a work, it means he can finish 1/4th of the work in 1 day.</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800"/>
              </a:spcBef>
              <a:spcAft>
                <a:spcPts val="0"/>
              </a:spcAft>
              <a:buClr>
                <a:schemeClr val="dk1"/>
              </a:buClr>
              <a:buSzPts val="1100"/>
              <a:buFont typeface="Arial"/>
              <a:buNone/>
            </a:pPr>
            <a:r>
              <a:t/>
            </a:r>
            <a:endParaRPr b="0" i="0" sz="1400" u="none" cap="none" strike="noStrike">
              <a:solidFill>
                <a:srgbClr val="000000"/>
              </a:solidFill>
              <a:latin typeface="Roboto"/>
              <a:ea typeface="Roboto"/>
              <a:cs typeface="Roboto"/>
              <a:sym typeface="Roboto"/>
            </a:endParaRPr>
          </a:p>
        </p:txBody>
      </p:sp>
      <p:pic>
        <p:nvPicPr>
          <p:cNvPr id="81" name="Google Shape;81;g1b3a98e794b_0_10"/>
          <p:cNvPicPr preferRelativeResize="0"/>
          <p:nvPr/>
        </p:nvPicPr>
        <p:blipFill rotWithShape="1">
          <a:blip r:embed="rId3">
            <a:alphaModFix/>
          </a:blip>
          <a:srcRect b="0" l="0" r="0" t="0"/>
          <a:stretch/>
        </p:blipFill>
        <p:spPr>
          <a:xfrm>
            <a:off x="2409625" y="3140275"/>
            <a:ext cx="2761750" cy="713850"/>
          </a:xfrm>
          <a:prstGeom prst="rect">
            <a:avLst/>
          </a:prstGeom>
          <a:noFill/>
          <a:ln>
            <a:noFill/>
          </a:ln>
        </p:spPr>
      </p:pic>
      <p:sp>
        <p:nvSpPr>
          <p:cNvPr id="82" name="Google Shape;82;g1b3a98e794b_0_10"/>
          <p:cNvSpPr txBox="1"/>
          <p:nvPr/>
        </p:nvSpPr>
        <p:spPr>
          <a:xfrm>
            <a:off x="720000" y="354900"/>
            <a:ext cx="7995900" cy="10851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1" i="0" lang="en-GB" sz="3000" u="none" cap="none" strike="noStrike">
                <a:solidFill>
                  <a:srgbClr val="8182EF"/>
                </a:solidFill>
                <a:latin typeface="Roboto"/>
                <a:ea typeface="Roboto"/>
                <a:cs typeface="Roboto"/>
                <a:sym typeface="Roboto"/>
              </a:rPr>
              <a:t>TIME AND WORK (WORK WITH DIFFERENT EFFICIENCIES)</a:t>
            </a:r>
            <a:endParaRPr b="0" i="0" sz="3000" u="none" cap="none" strike="noStrike">
              <a:solidFill>
                <a:srgbClr val="8182EF"/>
              </a:solidFill>
              <a:latin typeface="Roboto Black"/>
              <a:ea typeface="Roboto Black"/>
              <a:cs typeface="Roboto Black"/>
              <a:sym typeface="Roboto Black"/>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g1b3a98e794b_0_20"/>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Concept </a:t>
            </a:r>
            <a:endParaRPr b="0" i="0" sz="2000" u="none" cap="none" strike="noStrike">
              <a:solidFill>
                <a:schemeClr val="lt1"/>
              </a:solidFill>
              <a:latin typeface="Roboto"/>
              <a:ea typeface="Roboto"/>
              <a:cs typeface="Roboto"/>
              <a:sym typeface="Roboto"/>
            </a:endParaRPr>
          </a:p>
        </p:txBody>
      </p:sp>
      <p:sp>
        <p:nvSpPr>
          <p:cNvPr id="88" name="Google Shape;88;g1b3a98e794b_0_20"/>
          <p:cNvSpPr txBox="1"/>
          <p:nvPr/>
        </p:nvSpPr>
        <p:spPr>
          <a:xfrm>
            <a:off x="546025" y="513550"/>
            <a:ext cx="6991800" cy="3072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0000"/>
              </a:lnSpc>
              <a:spcBef>
                <a:spcPts val="1500"/>
              </a:spcBef>
              <a:spcAft>
                <a:spcPts val="0"/>
              </a:spcAft>
              <a:buClr>
                <a:schemeClr val="dk1"/>
              </a:buClr>
              <a:buSzPts val="1100"/>
              <a:buFont typeface="Arial"/>
              <a:buNone/>
            </a:pPr>
            <a:r>
              <a:rPr b="1" i="0" lang="en-GB" sz="1400" u="none" cap="none" strike="noStrike">
                <a:solidFill>
                  <a:schemeClr val="dk1"/>
                </a:solidFill>
                <a:latin typeface="Roboto"/>
                <a:ea typeface="Roboto"/>
                <a:cs typeface="Roboto"/>
                <a:sym typeface="Roboto"/>
              </a:rPr>
              <a:t>Time and Work Shortcut Tricks</a:t>
            </a:r>
            <a:r>
              <a:rPr b="0" i="0" lang="en-GB" sz="1400" u="none" cap="none" strike="noStrike">
                <a:solidFill>
                  <a:schemeClr val="dk1"/>
                </a:solidFill>
                <a:latin typeface="Roboto"/>
                <a:ea typeface="Roboto"/>
                <a:cs typeface="Roboto"/>
                <a:sym typeface="Roboto"/>
              </a:rPr>
              <a: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800"/>
              </a:spcBef>
              <a:spcAft>
                <a:spcPts val="0"/>
              </a:spcAft>
              <a:buClr>
                <a:schemeClr val="dk1"/>
              </a:buClr>
              <a:buSzPts val="1100"/>
              <a:buFont typeface="Arial"/>
              <a:buNone/>
            </a:pPr>
            <a:r>
              <a:t/>
            </a:r>
            <a:endParaRPr b="1" i="0" sz="1400" u="none" cap="none" strike="noStrike">
              <a:solidFill>
                <a:schemeClr val="dk1"/>
              </a:solidFill>
              <a:latin typeface="Roboto"/>
              <a:ea typeface="Roboto"/>
              <a:cs typeface="Roboto"/>
              <a:sym typeface="Roboto"/>
            </a:endParaRPr>
          </a:p>
          <a:p>
            <a:pPr indent="0" lvl="0" marL="0" marR="0" rtl="0" algn="l">
              <a:lnSpc>
                <a:spcPct val="115000"/>
              </a:lnSpc>
              <a:spcBef>
                <a:spcPts val="800"/>
              </a:spcBef>
              <a:spcAft>
                <a:spcPts val="0"/>
              </a:spcAft>
              <a:buClr>
                <a:schemeClr val="dk1"/>
              </a:buClr>
              <a:buSzPts val="1100"/>
              <a:buFont typeface="Arial"/>
              <a:buNone/>
            </a:pPr>
            <a:r>
              <a:t/>
            </a:r>
            <a:endParaRPr b="0" i="0" sz="1400" u="none" cap="none" strike="noStrike">
              <a:solidFill>
                <a:srgbClr val="000000"/>
              </a:solidFill>
              <a:latin typeface="Roboto"/>
              <a:ea typeface="Roboto"/>
              <a:cs typeface="Roboto"/>
              <a:sym typeface="Roboto"/>
            </a:endParaRPr>
          </a:p>
        </p:txBody>
      </p:sp>
      <p:graphicFrame>
        <p:nvGraphicFramePr>
          <p:cNvPr id="89" name="Google Shape;89;g1b3a98e794b_0_20"/>
          <p:cNvGraphicFramePr/>
          <p:nvPr/>
        </p:nvGraphicFramePr>
        <p:xfrm>
          <a:off x="2201700" y="937488"/>
          <a:ext cx="3000000" cy="3000000"/>
        </p:xfrm>
        <a:graphic>
          <a:graphicData uri="http://schemas.openxmlformats.org/drawingml/2006/table">
            <a:tbl>
              <a:tblPr>
                <a:noFill/>
                <a:tableStyleId>{9618B669-B023-4C4C-950B-89AD03402AAA}</a:tableStyleId>
              </a:tblPr>
              <a:tblGrid>
                <a:gridCol w="2619100"/>
                <a:gridCol w="2619100"/>
              </a:tblGrid>
              <a:tr h="455400">
                <a:tc>
                  <a:txBody>
                    <a:bodyPr/>
                    <a:lstStyle/>
                    <a:p>
                      <a:pPr indent="0" lvl="0" marL="0" rtl="0" algn="ctr">
                        <a:spcBef>
                          <a:spcPts val="0"/>
                        </a:spcBef>
                        <a:spcAft>
                          <a:spcPts val="0"/>
                        </a:spcAft>
                        <a:buNone/>
                      </a:pPr>
                      <a:r>
                        <a:rPr lang="en-GB"/>
                        <a:t>Number of days</a:t>
                      </a:r>
                      <a:endParaRPr/>
                    </a:p>
                  </a:txBody>
                  <a:tcPr marT="91425" marB="91425" marR="91425" marL="91425"/>
                </a:tc>
                <a:tc>
                  <a:txBody>
                    <a:bodyPr/>
                    <a:lstStyle/>
                    <a:p>
                      <a:pPr indent="0" lvl="0" marL="0" rtl="0" algn="ctr">
                        <a:spcBef>
                          <a:spcPts val="0"/>
                        </a:spcBef>
                        <a:spcAft>
                          <a:spcPts val="0"/>
                        </a:spcAft>
                        <a:buNone/>
                      </a:pPr>
                      <a:r>
                        <a:rPr lang="en-GB"/>
                        <a:t>Percentage value</a:t>
                      </a:r>
                      <a:endParaRPr/>
                    </a:p>
                  </a:txBody>
                  <a:tcPr marT="91425" marB="91425" marR="91425" marL="91425"/>
                </a:tc>
              </a:tr>
              <a:tr h="411900">
                <a:tc>
                  <a:txBody>
                    <a:bodyPr/>
                    <a:lstStyle/>
                    <a:p>
                      <a:pPr indent="0" lvl="0" marL="0" rtl="0" algn="ctr">
                        <a:spcBef>
                          <a:spcPts val="0"/>
                        </a:spcBef>
                        <a:spcAft>
                          <a:spcPts val="0"/>
                        </a:spcAft>
                        <a:buNone/>
                      </a:pPr>
                      <a:r>
                        <a:rPr lang="en-GB"/>
                        <a:t>2</a:t>
                      </a:r>
                      <a:endParaRPr/>
                    </a:p>
                  </a:txBody>
                  <a:tcPr marT="91425" marB="91425" marR="91425" marL="91425"/>
                </a:tc>
                <a:tc>
                  <a:txBody>
                    <a:bodyPr/>
                    <a:lstStyle/>
                    <a:p>
                      <a:pPr indent="0" lvl="0" marL="0" rtl="0" algn="ctr">
                        <a:spcBef>
                          <a:spcPts val="0"/>
                        </a:spcBef>
                        <a:spcAft>
                          <a:spcPts val="0"/>
                        </a:spcAft>
                        <a:buNone/>
                      </a:pPr>
                      <a:r>
                        <a:rPr lang="en-GB"/>
                        <a:t>50%</a:t>
                      </a:r>
                      <a:endParaRPr/>
                    </a:p>
                  </a:txBody>
                  <a:tcPr marT="91425" marB="91425" marR="91425" marL="91425"/>
                </a:tc>
              </a:tr>
              <a:tr h="411900">
                <a:tc>
                  <a:txBody>
                    <a:bodyPr/>
                    <a:lstStyle/>
                    <a:p>
                      <a:pPr indent="0" lvl="0" marL="0" rtl="0" algn="ctr">
                        <a:spcBef>
                          <a:spcPts val="0"/>
                        </a:spcBef>
                        <a:spcAft>
                          <a:spcPts val="0"/>
                        </a:spcAft>
                        <a:buNone/>
                      </a:pPr>
                      <a:r>
                        <a:rPr lang="en-GB"/>
                        <a:t>3</a:t>
                      </a:r>
                      <a:endParaRPr/>
                    </a:p>
                  </a:txBody>
                  <a:tcPr marT="91425" marB="91425" marR="91425" marL="91425"/>
                </a:tc>
                <a:tc>
                  <a:txBody>
                    <a:bodyPr/>
                    <a:lstStyle/>
                    <a:p>
                      <a:pPr indent="0" lvl="0" marL="0" rtl="0" algn="ctr">
                        <a:spcBef>
                          <a:spcPts val="0"/>
                        </a:spcBef>
                        <a:spcAft>
                          <a:spcPts val="0"/>
                        </a:spcAft>
                        <a:buNone/>
                      </a:pPr>
                      <a:r>
                        <a:rPr lang="en-GB"/>
                        <a:t>33%</a:t>
                      </a:r>
                      <a:endParaRPr/>
                    </a:p>
                  </a:txBody>
                  <a:tcPr marT="91425" marB="91425" marR="91425" marL="91425"/>
                </a:tc>
              </a:tr>
              <a:tr h="411900">
                <a:tc>
                  <a:txBody>
                    <a:bodyPr/>
                    <a:lstStyle/>
                    <a:p>
                      <a:pPr indent="0" lvl="0" marL="0" rtl="0" algn="ctr">
                        <a:spcBef>
                          <a:spcPts val="0"/>
                        </a:spcBef>
                        <a:spcAft>
                          <a:spcPts val="0"/>
                        </a:spcAft>
                        <a:buNone/>
                      </a:pPr>
                      <a:r>
                        <a:rPr lang="en-GB"/>
                        <a:t>4</a:t>
                      </a:r>
                      <a:endParaRPr/>
                    </a:p>
                  </a:txBody>
                  <a:tcPr marT="91425" marB="91425" marR="91425" marL="91425"/>
                </a:tc>
                <a:tc>
                  <a:txBody>
                    <a:bodyPr/>
                    <a:lstStyle/>
                    <a:p>
                      <a:pPr indent="0" lvl="0" marL="0" rtl="0" algn="ctr">
                        <a:spcBef>
                          <a:spcPts val="0"/>
                        </a:spcBef>
                        <a:spcAft>
                          <a:spcPts val="0"/>
                        </a:spcAft>
                        <a:buNone/>
                      </a:pPr>
                      <a:r>
                        <a:rPr lang="en-GB"/>
                        <a:t>25%</a:t>
                      </a:r>
                      <a:endParaRPr/>
                    </a:p>
                  </a:txBody>
                  <a:tcPr marT="91425" marB="91425" marR="91425" marL="91425"/>
                </a:tc>
              </a:tr>
              <a:tr h="411900">
                <a:tc>
                  <a:txBody>
                    <a:bodyPr/>
                    <a:lstStyle/>
                    <a:p>
                      <a:pPr indent="0" lvl="0" marL="0" rtl="0" algn="ctr">
                        <a:spcBef>
                          <a:spcPts val="0"/>
                        </a:spcBef>
                        <a:spcAft>
                          <a:spcPts val="0"/>
                        </a:spcAft>
                        <a:buNone/>
                      </a:pPr>
                      <a:r>
                        <a:rPr lang="en-GB"/>
                        <a:t>5</a:t>
                      </a:r>
                      <a:endParaRPr/>
                    </a:p>
                  </a:txBody>
                  <a:tcPr marT="91425" marB="91425" marR="91425" marL="91425"/>
                </a:tc>
                <a:tc>
                  <a:txBody>
                    <a:bodyPr/>
                    <a:lstStyle/>
                    <a:p>
                      <a:pPr indent="0" lvl="0" marL="0" rtl="0" algn="ctr">
                        <a:spcBef>
                          <a:spcPts val="0"/>
                        </a:spcBef>
                        <a:spcAft>
                          <a:spcPts val="0"/>
                        </a:spcAft>
                        <a:buNone/>
                      </a:pPr>
                      <a:r>
                        <a:rPr lang="en-GB"/>
                        <a:t>20%</a:t>
                      </a:r>
                      <a:endParaRPr/>
                    </a:p>
                  </a:txBody>
                  <a:tcPr marT="91425" marB="91425" marR="91425" marL="91425"/>
                </a:tc>
              </a:tr>
              <a:tr h="411900">
                <a:tc>
                  <a:txBody>
                    <a:bodyPr/>
                    <a:lstStyle/>
                    <a:p>
                      <a:pPr indent="0" lvl="0" marL="0" rtl="0" algn="ctr">
                        <a:spcBef>
                          <a:spcPts val="0"/>
                        </a:spcBef>
                        <a:spcAft>
                          <a:spcPts val="0"/>
                        </a:spcAft>
                        <a:buNone/>
                      </a:pPr>
                      <a:r>
                        <a:rPr lang="en-GB"/>
                        <a:t>6</a:t>
                      </a:r>
                      <a:endParaRPr/>
                    </a:p>
                  </a:txBody>
                  <a:tcPr marT="91425" marB="91425" marR="91425" marL="91425"/>
                </a:tc>
                <a:tc>
                  <a:txBody>
                    <a:bodyPr/>
                    <a:lstStyle/>
                    <a:p>
                      <a:pPr indent="0" lvl="0" marL="0" rtl="0" algn="l">
                        <a:spcBef>
                          <a:spcPts val="0"/>
                        </a:spcBef>
                        <a:spcAft>
                          <a:spcPts val="0"/>
                        </a:spcAft>
                        <a:buNone/>
                      </a:pPr>
                      <a:r>
                        <a:rPr lang="en-GB"/>
                        <a:t>         approx.16.67%</a:t>
                      </a:r>
                      <a:endParaRPr/>
                    </a:p>
                  </a:txBody>
                  <a:tcPr marT="91425" marB="91425" marR="91425" marL="91425"/>
                </a:tc>
              </a:tr>
              <a:tr h="411900">
                <a:tc>
                  <a:txBody>
                    <a:bodyPr/>
                    <a:lstStyle/>
                    <a:p>
                      <a:pPr indent="0" lvl="0" marL="0" rtl="0" algn="ctr">
                        <a:spcBef>
                          <a:spcPts val="0"/>
                        </a:spcBef>
                        <a:spcAft>
                          <a:spcPts val="0"/>
                        </a:spcAft>
                        <a:buNone/>
                      </a:pPr>
                      <a:r>
                        <a:rPr lang="en-GB"/>
                        <a:t>7</a:t>
                      </a:r>
                      <a:endParaRPr/>
                    </a:p>
                  </a:txBody>
                  <a:tcPr marT="91425" marB="91425" marR="91425" marL="91425"/>
                </a:tc>
                <a:tc>
                  <a:txBody>
                    <a:bodyPr/>
                    <a:lstStyle/>
                    <a:p>
                      <a:pPr indent="0" lvl="0" marL="0" rtl="0" algn="l">
                        <a:spcBef>
                          <a:spcPts val="0"/>
                        </a:spcBef>
                        <a:spcAft>
                          <a:spcPts val="0"/>
                        </a:spcAft>
                        <a:buNone/>
                      </a:pPr>
                      <a:r>
                        <a:rPr lang="en-GB">
                          <a:solidFill>
                            <a:schemeClr val="dk1"/>
                          </a:solidFill>
                        </a:rPr>
                        <a:t>         </a:t>
                      </a:r>
                      <a:r>
                        <a:rPr lang="en-GB">
                          <a:solidFill>
                            <a:schemeClr val="dk1"/>
                          </a:solidFill>
                        </a:rPr>
                        <a:t>approx.</a:t>
                      </a:r>
                      <a:r>
                        <a:rPr lang="en-GB"/>
                        <a:t>14%</a:t>
                      </a:r>
                      <a:endParaRPr/>
                    </a:p>
                  </a:txBody>
                  <a:tcPr marT="91425" marB="91425" marR="91425" marL="91425"/>
                </a:tc>
              </a:tr>
              <a:tr h="411900">
                <a:tc>
                  <a:txBody>
                    <a:bodyPr/>
                    <a:lstStyle/>
                    <a:p>
                      <a:pPr indent="0" lvl="0" marL="0" rtl="0" algn="ctr">
                        <a:spcBef>
                          <a:spcPts val="0"/>
                        </a:spcBef>
                        <a:spcAft>
                          <a:spcPts val="0"/>
                        </a:spcAft>
                        <a:buNone/>
                      </a:pPr>
                      <a:r>
                        <a:rPr lang="en-GB"/>
                        <a:t>8</a:t>
                      </a:r>
                      <a:endParaRPr/>
                    </a:p>
                  </a:txBody>
                  <a:tcPr marT="91425" marB="91425" marR="91425" marL="91425"/>
                </a:tc>
                <a:tc>
                  <a:txBody>
                    <a:bodyPr/>
                    <a:lstStyle/>
                    <a:p>
                      <a:pPr indent="0" lvl="0" marL="0" rtl="0" algn="l">
                        <a:spcBef>
                          <a:spcPts val="0"/>
                        </a:spcBef>
                        <a:spcAft>
                          <a:spcPts val="0"/>
                        </a:spcAft>
                        <a:buNone/>
                      </a:pPr>
                      <a:r>
                        <a:rPr lang="en-GB">
                          <a:solidFill>
                            <a:schemeClr val="dk1"/>
                          </a:solidFill>
                        </a:rPr>
                        <a:t>         </a:t>
                      </a:r>
                      <a:r>
                        <a:rPr lang="en-GB">
                          <a:solidFill>
                            <a:schemeClr val="dk1"/>
                          </a:solidFill>
                        </a:rPr>
                        <a:t>approx.</a:t>
                      </a:r>
                      <a:r>
                        <a:rPr lang="en-GB"/>
                        <a:t>12%</a:t>
                      </a:r>
                      <a:endParaRPr/>
                    </a:p>
                  </a:txBody>
                  <a:tcPr marT="91425" marB="91425" marR="91425" marL="91425"/>
                </a:tc>
              </a:tr>
              <a:tr h="411900">
                <a:tc>
                  <a:txBody>
                    <a:bodyPr/>
                    <a:lstStyle/>
                    <a:p>
                      <a:pPr indent="0" lvl="0" marL="0" rtl="0" algn="ctr">
                        <a:spcBef>
                          <a:spcPts val="0"/>
                        </a:spcBef>
                        <a:spcAft>
                          <a:spcPts val="0"/>
                        </a:spcAft>
                        <a:buNone/>
                      </a:pPr>
                      <a:r>
                        <a:rPr lang="en-GB"/>
                        <a:t>9</a:t>
                      </a:r>
                      <a:endParaRPr/>
                    </a:p>
                  </a:txBody>
                  <a:tcPr marT="91425" marB="91425" marR="91425" marL="91425"/>
                </a:tc>
                <a:tc>
                  <a:txBody>
                    <a:bodyPr/>
                    <a:lstStyle/>
                    <a:p>
                      <a:pPr indent="0" lvl="0" marL="0" rtl="0" algn="l">
                        <a:spcBef>
                          <a:spcPts val="0"/>
                        </a:spcBef>
                        <a:spcAft>
                          <a:spcPts val="0"/>
                        </a:spcAft>
                        <a:buNone/>
                      </a:pPr>
                      <a:r>
                        <a:rPr lang="en-GB">
                          <a:solidFill>
                            <a:schemeClr val="dk1"/>
                          </a:solidFill>
                        </a:rPr>
                        <a:t>         </a:t>
                      </a:r>
                      <a:r>
                        <a:rPr lang="en-GB">
                          <a:solidFill>
                            <a:schemeClr val="dk1"/>
                          </a:solidFill>
                        </a:rPr>
                        <a:t>approx.</a:t>
                      </a:r>
                      <a:r>
                        <a:rPr lang="en-GB"/>
                        <a:t>11%</a:t>
                      </a:r>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1b3a98e794b_0_32"/>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Concept </a:t>
            </a:r>
            <a:endParaRPr b="0" i="0" sz="2000" u="none" cap="none" strike="noStrike">
              <a:solidFill>
                <a:schemeClr val="lt1"/>
              </a:solidFill>
              <a:latin typeface="Roboto"/>
              <a:ea typeface="Roboto"/>
              <a:cs typeface="Roboto"/>
              <a:sym typeface="Roboto"/>
            </a:endParaRPr>
          </a:p>
        </p:txBody>
      </p:sp>
      <p:sp>
        <p:nvSpPr>
          <p:cNvPr id="95" name="Google Shape;95;g1b3a98e794b_0_32"/>
          <p:cNvSpPr txBox="1"/>
          <p:nvPr/>
        </p:nvSpPr>
        <p:spPr>
          <a:xfrm>
            <a:off x="720000" y="1170000"/>
            <a:ext cx="6991800" cy="290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Approach 1: Using Fractions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Ram can finish the work in 10 days i.e. in one day he will do 1/10th of the work.</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Rahim can finish the work in 40 days i.e. in one day he will do 1/40th of the work.</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So, in one day, both working together can finish= (1/10) + (1/40) = 5/40 = 1/8th of the work. So, to complete the work they will take 8 days.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Approach 2: Using Percentage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Rahim can finish 100 % of work in 10 days i.e. in one day he finishes 10% of the work.</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Ram can finish 100% of the work in 40 days i.e. in one day he finishes 2.5 % of the work.</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So, working together, in a single day they can finish 12.5% of the work. So, to complete 100% of the work, they will take 100/12.5 = 8 days.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1b3a98e794b_0_41"/>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Concept </a:t>
            </a:r>
            <a:endParaRPr b="0" i="0" sz="2000" u="none" cap="none" strike="noStrike">
              <a:solidFill>
                <a:schemeClr val="lt1"/>
              </a:solidFill>
              <a:latin typeface="Roboto"/>
              <a:ea typeface="Roboto"/>
              <a:cs typeface="Roboto"/>
              <a:sym typeface="Roboto"/>
            </a:endParaRPr>
          </a:p>
        </p:txBody>
      </p:sp>
      <p:sp>
        <p:nvSpPr>
          <p:cNvPr id="101" name="Google Shape;101;g1b3a98e794b_0_41"/>
          <p:cNvSpPr txBox="1"/>
          <p:nvPr/>
        </p:nvSpPr>
        <p:spPr>
          <a:xfrm>
            <a:off x="720000" y="1170000"/>
            <a:ext cx="6991800" cy="290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Work from Days: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If A can do a piece of work in n days, then A's 1 day's work = 1/ n.</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Days from Work:</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If A's 1 day's work = 1/ n, then A can finish the work in n days.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Ratio:</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If A is thrice as good a workman as B, then:</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Ratio of work done by A and B = 3 : 1.</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Ratio of times taken by A and B to finish a work = 1 : 3.</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nvSpPr>
        <p:spPr>
          <a:xfrm>
            <a:off x="327600" y="525149"/>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01</a:t>
            </a:r>
            <a:endParaRPr b="0" i="0" sz="2000" u="none" cap="none" strike="noStrike">
              <a:solidFill>
                <a:schemeClr val="lt1"/>
              </a:solidFill>
              <a:latin typeface="Roboto"/>
              <a:ea typeface="Roboto"/>
              <a:cs typeface="Roboto"/>
              <a:sym typeface="Roboto"/>
            </a:endParaRPr>
          </a:p>
        </p:txBody>
      </p:sp>
      <p:sp>
        <p:nvSpPr>
          <p:cNvPr id="107" name="Google Shape;107;p3"/>
          <p:cNvSpPr txBox="1"/>
          <p:nvPr/>
        </p:nvSpPr>
        <p:spPr>
          <a:xfrm>
            <a:off x="720000" y="1440000"/>
            <a:ext cx="699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400"/>
              <a:buFont typeface="Arial"/>
              <a:buNone/>
            </a:pPr>
            <a:r>
              <a:rPr b="0" i="0" lang="en-GB" sz="1600" u="none" cap="none" strike="noStrike">
                <a:solidFill>
                  <a:schemeClr val="dk1"/>
                </a:solidFill>
                <a:latin typeface="Roboto"/>
                <a:ea typeface="Roboto"/>
                <a:cs typeface="Roboto"/>
                <a:sym typeface="Roboto"/>
              </a:rPr>
              <a:t>A, B and C can do a piece of work in 20, 30 and 60 days respectively. In how many days can A do the work if he is assisted by B and C on every third day?</a:t>
            </a:r>
            <a:endParaRPr b="0" i="0" sz="1600" u="none" cap="none" strike="noStrike">
              <a:solidFill>
                <a:schemeClr val="dk1"/>
              </a:solidFill>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Arial"/>
              <a:buAutoNum type="alphaUcPeriod"/>
            </a:pPr>
            <a:r>
              <a:rPr b="0" i="0" lang="en-GB" sz="1600" u="none" cap="none" strike="noStrike">
                <a:solidFill>
                  <a:schemeClr val="dk1"/>
                </a:solidFill>
                <a:latin typeface="Roboto"/>
                <a:ea typeface="Roboto"/>
                <a:cs typeface="Roboto"/>
                <a:sym typeface="Roboto"/>
              </a:rPr>
              <a:t>12 days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Arial"/>
              <a:buAutoNum type="alphaUcPeriod"/>
            </a:pPr>
            <a:r>
              <a:rPr b="0" i="0" lang="en-GB" sz="1600" u="none" cap="none" strike="noStrike">
                <a:solidFill>
                  <a:schemeClr val="dk1"/>
                </a:solidFill>
                <a:latin typeface="Roboto"/>
                <a:ea typeface="Roboto"/>
                <a:cs typeface="Roboto"/>
                <a:sym typeface="Roboto"/>
              </a:rPr>
              <a:t>15 days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Arial"/>
              <a:buAutoNum type="alphaUcPeriod"/>
            </a:pPr>
            <a:r>
              <a:rPr b="0" i="0" lang="en-GB" sz="1600" u="none" cap="none" strike="noStrike">
                <a:solidFill>
                  <a:schemeClr val="dk1"/>
                </a:solidFill>
                <a:latin typeface="Roboto"/>
                <a:ea typeface="Roboto"/>
                <a:cs typeface="Roboto"/>
                <a:sym typeface="Roboto"/>
              </a:rPr>
              <a:t>16 days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Arial"/>
              <a:buAutoNum type="alphaUcPeriod"/>
            </a:pPr>
            <a:r>
              <a:rPr b="0" i="0" lang="en-GB" sz="1600" u="none" cap="none" strike="noStrike">
                <a:solidFill>
                  <a:schemeClr val="dk1"/>
                </a:solidFill>
                <a:latin typeface="Roboto"/>
                <a:ea typeface="Roboto"/>
                <a:cs typeface="Roboto"/>
                <a:sym typeface="Roboto"/>
              </a:rPr>
              <a:t>18 days</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108" name="Google Shape;108;p3"/>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B </a:t>
            </a:r>
            <a:endParaRPr b="1" i="0" sz="1400" u="none" cap="none" strike="noStrike">
              <a:solidFill>
                <a:srgbClr val="000000"/>
              </a:solidFill>
              <a:latin typeface="Roboto"/>
              <a:ea typeface="Roboto"/>
              <a:cs typeface="Roboto"/>
              <a:sym typeface="Roboto"/>
            </a:endParaRPr>
          </a:p>
        </p:txBody>
      </p:sp>
      <p:sp>
        <p:nvSpPr>
          <p:cNvPr id="109" name="Google Shape;109;p3"/>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0" st="0"/>
                                            </p:txEl>
                                          </p:spTgt>
                                        </p:tgtEl>
                                        <p:attrNameLst>
                                          <p:attrName>style.visibility</p:attrName>
                                        </p:attrNameLst>
                                      </p:cBhvr>
                                      <p:to>
                                        <p:strVal val="visible"/>
                                      </p:to>
                                    </p:set>
                                    <p:animEffect filter="fade" transition="in">
                                      <p:cBhvr>
                                        <p:cTn dur="1000"/>
                                        <p:tgtEl>
                                          <p:spTgt spid="10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1" st="1"/>
                                            </p:txEl>
                                          </p:spTgt>
                                        </p:tgtEl>
                                        <p:attrNameLst>
                                          <p:attrName>style.visibility</p:attrName>
                                        </p:attrNameLst>
                                      </p:cBhvr>
                                      <p:to>
                                        <p:strVal val="visible"/>
                                      </p:to>
                                    </p:set>
                                    <p:animEffect filter="fade" transition="in">
                                      <p:cBhvr>
                                        <p:cTn dur="1000"/>
                                        <p:tgtEl>
                                          <p:spTgt spid="10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2" st="2"/>
                                            </p:txEl>
                                          </p:spTgt>
                                        </p:tgtEl>
                                        <p:attrNameLst>
                                          <p:attrName>style.visibility</p:attrName>
                                        </p:attrNameLst>
                                      </p:cBhvr>
                                      <p:to>
                                        <p:strVal val="visible"/>
                                      </p:to>
                                    </p:set>
                                    <p:animEffect filter="fade" transition="in">
                                      <p:cBhvr>
                                        <p:cTn dur="1000"/>
                                        <p:tgtEl>
                                          <p:spTgt spid="10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3" st="3"/>
                                            </p:txEl>
                                          </p:spTgt>
                                        </p:tgtEl>
                                        <p:attrNameLst>
                                          <p:attrName>style.visibility</p:attrName>
                                        </p:attrNameLst>
                                      </p:cBhvr>
                                      <p:to>
                                        <p:strVal val="visible"/>
                                      </p:to>
                                    </p:set>
                                    <p:animEffect filter="fade" transition="in">
                                      <p:cBhvr>
                                        <p:cTn dur="1000"/>
                                        <p:tgtEl>
                                          <p:spTgt spid="10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4" st="4"/>
                                            </p:txEl>
                                          </p:spTgt>
                                        </p:tgtEl>
                                        <p:attrNameLst>
                                          <p:attrName>style.visibility</p:attrName>
                                        </p:attrNameLst>
                                      </p:cBhvr>
                                      <p:to>
                                        <p:strVal val="visible"/>
                                      </p:to>
                                    </p:set>
                                    <p:animEffect filter="fade" transition="in">
                                      <p:cBhvr>
                                        <p:cTn dur="1000"/>
                                        <p:tgtEl>
                                          <p:spTgt spid="10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5" st="5"/>
                                            </p:txEl>
                                          </p:spTgt>
                                        </p:tgtEl>
                                        <p:attrNameLst>
                                          <p:attrName>style.visibility</p:attrName>
                                        </p:attrNameLst>
                                      </p:cBhvr>
                                      <p:to>
                                        <p:strVal val="visible"/>
                                      </p:to>
                                    </p:set>
                                    <p:animEffect filter="fade" transition="in">
                                      <p:cBhvr>
                                        <p:cTn dur="1000"/>
                                        <p:tgtEl>
                                          <p:spTgt spid="10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6" st="6"/>
                                            </p:txEl>
                                          </p:spTgt>
                                        </p:tgtEl>
                                        <p:attrNameLst>
                                          <p:attrName>style.visibility</p:attrName>
                                        </p:attrNameLst>
                                      </p:cBhvr>
                                      <p:to>
                                        <p:strVal val="visible"/>
                                      </p:to>
                                    </p:set>
                                    <p:animEffect filter="fade" transition="in">
                                      <p:cBhvr>
                                        <p:cTn dur="1000"/>
                                        <p:tgtEl>
                                          <p:spTgt spid="10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1000"/>
                                        <p:tgtEl>
                                          <p:spTgt spid="1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3" name="Shape 113"/>
        <p:cNvGrpSpPr/>
        <p:nvPr/>
      </p:nvGrpSpPr>
      <p:grpSpPr>
        <a:xfrm>
          <a:off x="0" y="0"/>
          <a:ext cx="0" cy="0"/>
          <a:chOff x="0" y="0"/>
          <a:chExt cx="0" cy="0"/>
        </a:xfrm>
      </p:grpSpPr>
      <p:sp>
        <p:nvSpPr>
          <p:cNvPr id="114" name="Google Shape;114;p4"/>
          <p:cNvSpPr txBox="1"/>
          <p:nvPr/>
        </p:nvSpPr>
        <p:spPr>
          <a:xfrm>
            <a:off x="720000" y="1543050"/>
            <a:ext cx="6991800" cy="2532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A’s 2 day’s work = (1/ 20)*2 = 1/ 10</a:t>
            </a:r>
            <a:endParaRPr b="0" i="0" sz="1400" u="none" cap="none" strike="noStrike">
              <a:solidFill>
                <a:srgbClr val="000000"/>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(A+B+C)’s 1 day’s work = (1/ 20)+(1/ 30)+(1/ 60)</a:t>
            </a:r>
            <a:endParaRPr b="0" i="0" sz="1400" u="none" cap="none" strike="noStrike">
              <a:solidFill>
                <a:srgbClr val="000000"/>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                                       = 6/ 60 = 1/10</a:t>
            </a:r>
            <a:endParaRPr b="0" i="0" sz="1400" u="none" cap="none" strike="noStrike">
              <a:solidFill>
                <a:srgbClr val="000000"/>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 Work done in 3 days = (1/ 10)+(1/ 10)</a:t>
            </a:r>
            <a:endParaRPr b="0" i="0" sz="1400" u="none" cap="none" strike="noStrike">
              <a:solidFill>
                <a:srgbClr val="000000"/>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                                   = 1/ 5</a:t>
            </a:r>
            <a:endParaRPr b="0" i="0" sz="1400" u="none" cap="none" strike="noStrike">
              <a:solidFill>
                <a:srgbClr val="000000"/>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 Now, 1/ 5 work is done in 3 days.</a:t>
            </a:r>
            <a:endParaRPr b="0" i="0" sz="1400" u="none" cap="none" strike="noStrike">
              <a:solidFill>
                <a:srgbClr val="000000"/>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Therefore, Whole work will be done in (3*5) =15 days.</a:t>
            </a:r>
            <a:endParaRPr b="0" i="0" sz="1400" u="none" cap="none" strike="noStrike">
              <a:solidFill>
                <a:srgbClr val="000000"/>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Hence, option B is correct.</a:t>
            </a:r>
            <a:endParaRPr b="0" i="0" sz="1400" u="none" cap="none" strike="noStrike">
              <a:solidFill>
                <a:srgbClr val="000000"/>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Roboto"/>
              <a:ea typeface="Roboto"/>
              <a:cs typeface="Roboto"/>
              <a:sym typeface="Roboto"/>
            </a:endParaRPr>
          </a:p>
        </p:txBody>
      </p:sp>
      <p:sp>
        <p:nvSpPr>
          <p:cNvPr id="115" name="Google Shape;115;p4"/>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a:t>
            </a:r>
            <a:r>
              <a:rPr b="1" lang="en-GB" sz="2000">
                <a:solidFill>
                  <a:srgbClr val="8182EF"/>
                </a:solidFill>
                <a:latin typeface="Roboto"/>
                <a:ea typeface="Roboto"/>
                <a:cs typeface="Roboto"/>
                <a:sym typeface="Roboto"/>
              </a:rPr>
              <a:t>nation: 01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animEffect filter="fade" transition="in">
                                      <p:cBhvr>
                                        <p:cTn dur="1000"/>
                                        <p:tgtEl>
                                          <p:spTgt spid="1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 st="1"/>
                                            </p:txEl>
                                          </p:spTgt>
                                        </p:tgtEl>
                                        <p:attrNameLst>
                                          <p:attrName>style.visibility</p:attrName>
                                        </p:attrNameLst>
                                      </p:cBhvr>
                                      <p:to>
                                        <p:strVal val="visible"/>
                                      </p:to>
                                    </p:set>
                                    <p:animEffect filter="fade" transition="in">
                                      <p:cBhvr>
                                        <p:cTn dur="1000"/>
                                        <p:tgtEl>
                                          <p:spTgt spid="1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2" st="2"/>
                                            </p:txEl>
                                          </p:spTgt>
                                        </p:tgtEl>
                                        <p:attrNameLst>
                                          <p:attrName>style.visibility</p:attrName>
                                        </p:attrNameLst>
                                      </p:cBhvr>
                                      <p:to>
                                        <p:strVal val="visible"/>
                                      </p:to>
                                    </p:set>
                                    <p:animEffect filter="fade" transition="in">
                                      <p:cBhvr>
                                        <p:cTn dur="1000"/>
                                        <p:tgtEl>
                                          <p:spTgt spid="1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3" st="3"/>
                                            </p:txEl>
                                          </p:spTgt>
                                        </p:tgtEl>
                                        <p:attrNameLst>
                                          <p:attrName>style.visibility</p:attrName>
                                        </p:attrNameLst>
                                      </p:cBhvr>
                                      <p:to>
                                        <p:strVal val="visible"/>
                                      </p:to>
                                    </p:set>
                                    <p:animEffect filter="fade" transition="in">
                                      <p:cBhvr>
                                        <p:cTn dur="1000"/>
                                        <p:tgtEl>
                                          <p:spTgt spid="11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4" st="4"/>
                                            </p:txEl>
                                          </p:spTgt>
                                        </p:tgtEl>
                                        <p:attrNameLst>
                                          <p:attrName>style.visibility</p:attrName>
                                        </p:attrNameLst>
                                      </p:cBhvr>
                                      <p:to>
                                        <p:strVal val="visible"/>
                                      </p:to>
                                    </p:set>
                                    <p:animEffect filter="fade" transition="in">
                                      <p:cBhvr>
                                        <p:cTn dur="1000"/>
                                        <p:tgtEl>
                                          <p:spTgt spid="11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5" st="5"/>
                                            </p:txEl>
                                          </p:spTgt>
                                        </p:tgtEl>
                                        <p:attrNameLst>
                                          <p:attrName>style.visibility</p:attrName>
                                        </p:attrNameLst>
                                      </p:cBhvr>
                                      <p:to>
                                        <p:strVal val="visible"/>
                                      </p:to>
                                    </p:set>
                                    <p:animEffect filter="fade" transition="in">
                                      <p:cBhvr>
                                        <p:cTn dur="1000"/>
                                        <p:tgtEl>
                                          <p:spTgt spid="11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6" st="6"/>
                                            </p:txEl>
                                          </p:spTgt>
                                        </p:tgtEl>
                                        <p:attrNameLst>
                                          <p:attrName>style.visibility</p:attrName>
                                        </p:attrNameLst>
                                      </p:cBhvr>
                                      <p:to>
                                        <p:strVal val="visible"/>
                                      </p:to>
                                    </p:set>
                                    <p:animEffect filter="fade" transition="in">
                                      <p:cBhvr>
                                        <p:cTn dur="1000"/>
                                        <p:tgtEl>
                                          <p:spTgt spid="11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7" st="7"/>
                                            </p:txEl>
                                          </p:spTgt>
                                        </p:tgtEl>
                                        <p:attrNameLst>
                                          <p:attrName>style.visibility</p:attrName>
                                        </p:attrNameLst>
                                      </p:cBhvr>
                                      <p:to>
                                        <p:strVal val="visible"/>
                                      </p:to>
                                    </p:set>
                                    <p:animEffect filter="fade" transition="in">
                                      <p:cBhvr>
                                        <p:cTn dur="1000"/>
                                        <p:tgtEl>
                                          <p:spTgt spid="11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8" st="8"/>
                                            </p:txEl>
                                          </p:spTgt>
                                        </p:tgtEl>
                                        <p:attrNameLst>
                                          <p:attrName>style.visibility</p:attrName>
                                        </p:attrNameLst>
                                      </p:cBhvr>
                                      <p:to>
                                        <p:strVal val="visible"/>
                                      </p:to>
                                    </p:set>
                                    <p:animEffect filter="fade" transition="in">
                                      <p:cBhvr>
                                        <p:cTn dur="1000"/>
                                        <p:tgtEl>
                                          <p:spTgt spid="11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9" st="9"/>
                                            </p:txEl>
                                          </p:spTgt>
                                        </p:tgtEl>
                                        <p:attrNameLst>
                                          <p:attrName>style.visibility</p:attrName>
                                        </p:attrNameLst>
                                      </p:cBhvr>
                                      <p:to>
                                        <p:strVal val="visible"/>
                                      </p:to>
                                    </p:set>
                                    <p:animEffect filter="fade" transition="in">
                                      <p:cBhvr>
                                        <p:cTn dur="1000"/>
                                        <p:tgtEl>
                                          <p:spTgt spid="114">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5"/>
          <p:cNvSpPr txBox="1"/>
          <p:nvPr/>
        </p:nvSpPr>
        <p:spPr>
          <a:xfrm>
            <a:off x="720000" y="1439999"/>
            <a:ext cx="699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GB" sz="1600" u="none" cap="none" strike="noStrike">
                <a:solidFill>
                  <a:schemeClr val="dk1"/>
                </a:solidFill>
                <a:latin typeface="Roboto"/>
                <a:ea typeface="Roboto"/>
                <a:cs typeface="Roboto"/>
                <a:sym typeface="Roboto"/>
              </a:rPr>
              <a:t>A can lay railway track between two given stations in 16 days and B can do the same job in 12 days. With help of C, they did the job in 4 days only. Then, C alone can do the job in:</a:t>
            </a:r>
            <a:endParaRPr b="0" i="0" sz="1600" u="none" cap="none" strike="noStrike">
              <a:solidFill>
                <a:schemeClr val="dk1"/>
              </a:solidFill>
              <a:latin typeface="Roboto"/>
              <a:ea typeface="Roboto"/>
              <a:cs typeface="Roboto"/>
              <a:sym typeface="Roboto"/>
            </a:endParaRPr>
          </a:p>
          <a:p>
            <a:pPr indent="0" lvl="0" marL="457200" marR="0" rtl="0" algn="l">
              <a:lnSpc>
                <a:spcPct val="115000"/>
              </a:lnSpc>
              <a:spcBef>
                <a:spcPts val="0"/>
              </a:spcBef>
              <a:spcAft>
                <a:spcPts val="0"/>
              </a:spcAft>
              <a:buNone/>
            </a:pPr>
            <a:r>
              <a:t/>
            </a:r>
            <a:endParaRPr sz="1600">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46/ 5</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lang="en-GB" sz="1600">
                <a:solidFill>
                  <a:schemeClr val="dk1"/>
                </a:solidFill>
                <a:latin typeface="Roboto"/>
                <a:ea typeface="Roboto"/>
                <a:cs typeface="Roboto"/>
                <a:sym typeface="Roboto"/>
              </a:rPr>
              <a:t>47/5</a:t>
            </a:r>
            <a:endParaRPr sz="1600">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lang="en-GB" sz="1600">
                <a:solidFill>
                  <a:schemeClr val="dk1"/>
                </a:solidFill>
                <a:latin typeface="Roboto"/>
                <a:ea typeface="Roboto"/>
                <a:cs typeface="Roboto"/>
                <a:sym typeface="Roboto"/>
              </a:rPr>
              <a:t>48/5</a:t>
            </a:r>
            <a:endParaRPr sz="1600">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lang="en-GB" sz="1600">
                <a:solidFill>
                  <a:schemeClr val="dk1"/>
                </a:solidFill>
                <a:latin typeface="Roboto"/>
                <a:ea typeface="Roboto"/>
                <a:cs typeface="Roboto"/>
                <a:sym typeface="Roboto"/>
              </a:rPr>
              <a:t>10</a:t>
            </a:r>
            <a:endParaRPr sz="1600">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121" name="Google Shape;121;p5"/>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C </a:t>
            </a:r>
            <a:endParaRPr b="1" i="0" sz="1400" u="none" cap="none" strike="noStrike">
              <a:solidFill>
                <a:srgbClr val="000000"/>
              </a:solidFill>
              <a:latin typeface="Roboto"/>
              <a:ea typeface="Roboto"/>
              <a:cs typeface="Roboto"/>
              <a:sym typeface="Roboto"/>
            </a:endParaRPr>
          </a:p>
        </p:txBody>
      </p:sp>
      <p:sp>
        <p:nvSpPr>
          <p:cNvPr id="122" name="Google Shape;122;p5"/>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0" st="0"/>
                                            </p:txEl>
                                          </p:spTgt>
                                        </p:tgtEl>
                                        <p:attrNameLst>
                                          <p:attrName>style.visibility</p:attrName>
                                        </p:attrNameLst>
                                      </p:cBhvr>
                                      <p:to>
                                        <p:strVal val="visible"/>
                                      </p:to>
                                    </p:set>
                                    <p:animEffect filter="fade" transition="in">
                                      <p:cBhvr>
                                        <p:cTn dur="1000"/>
                                        <p:tgtEl>
                                          <p:spTgt spid="1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1" st="1"/>
                                            </p:txEl>
                                          </p:spTgt>
                                        </p:tgtEl>
                                        <p:attrNameLst>
                                          <p:attrName>style.visibility</p:attrName>
                                        </p:attrNameLst>
                                      </p:cBhvr>
                                      <p:to>
                                        <p:strVal val="visible"/>
                                      </p:to>
                                    </p:set>
                                    <p:animEffect filter="fade" transition="in">
                                      <p:cBhvr>
                                        <p:cTn dur="1000"/>
                                        <p:tgtEl>
                                          <p:spTgt spid="1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2" st="2"/>
                                            </p:txEl>
                                          </p:spTgt>
                                        </p:tgtEl>
                                        <p:attrNameLst>
                                          <p:attrName>style.visibility</p:attrName>
                                        </p:attrNameLst>
                                      </p:cBhvr>
                                      <p:to>
                                        <p:strVal val="visible"/>
                                      </p:to>
                                    </p:set>
                                    <p:animEffect filter="fade" transition="in">
                                      <p:cBhvr>
                                        <p:cTn dur="1000"/>
                                        <p:tgtEl>
                                          <p:spTgt spid="12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3" st="3"/>
                                            </p:txEl>
                                          </p:spTgt>
                                        </p:tgtEl>
                                        <p:attrNameLst>
                                          <p:attrName>style.visibility</p:attrName>
                                        </p:attrNameLst>
                                      </p:cBhvr>
                                      <p:to>
                                        <p:strVal val="visible"/>
                                      </p:to>
                                    </p:set>
                                    <p:animEffect filter="fade" transition="in">
                                      <p:cBhvr>
                                        <p:cTn dur="1000"/>
                                        <p:tgtEl>
                                          <p:spTgt spid="12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4" st="4"/>
                                            </p:txEl>
                                          </p:spTgt>
                                        </p:tgtEl>
                                        <p:attrNameLst>
                                          <p:attrName>style.visibility</p:attrName>
                                        </p:attrNameLst>
                                      </p:cBhvr>
                                      <p:to>
                                        <p:strVal val="visible"/>
                                      </p:to>
                                    </p:set>
                                    <p:animEffect filter="fade" transition="in">
                                      <p:cBhvr>
                                        <p:cTn dur="1000"/>
                                        <p:tgtEl>
                                          <p:spTgt spid="12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5" st="5"/>
                                            </p:txEl>
                                          </p:spTgt>
                                        </p:tgtEl>
                                        <p:attrNameLst>
                                          <p:attrName>style.visibility</p:attrName>
                                        </p:attrNameLst>
                                      </p:cBhvr>
                                      <p:to>
                                        <p:strVal val="visible"/>
                                      </p:to>
                                    </p:set>
                                    <p:animEffect filter="fade" transition="in">
                                      <p:cBhvr>
                                        <p:cTn dur="1000"/>
                                        <p:tgtEl>
                                          <p:spTgt spid="12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6" st="6"/>
                                            </p:txEl>
                                          </p:spTgt>
                                        </p:tgtEl>
                                        <p:attrNameLst>
                                          <p:attrName>style.visibility</p:attrName>
                                        </p:attrNameLst>
                                      </p:cBhvr>
                                      <p:to>
                                        <p:strVal val="visible"/>
                                      </p:to>
                                    </p:set>
                                    <p:animEffect filter="fade" transition="in">
                                      <p:cBhvr>
                                        <p:cTn dur="1000"/>
                                        <p:tgtEl>
                                          <p:spTgt spid="12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0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6" name="Shape 126"/>
        <p:cNvGrpSpPr/>
        <p:nvPr/>
      </p:nvGrpSpPr>
      <p:grpSpPr>
        <a:xfrm>
          <a:off x="0" y="0"/>
          <a:ext cx="0" cy="0"/>
          <a:chOff x="0" y="0"/>
          <a:chExt cx="0" cy="0"/>
        </a:xfrm>
      </p:grpSpPr>
      <p:sp>
        <p:nvSpPr>
          <p:cNvPr id="127" name="Google Shape;127;p6"/>
          <p:cNvSpPr txBox="1"/>
          <p:nvPr/>
        </p:nvSpPr>
        <p:spPr>
          <a:xfrm>
            <a:off x="720000" y="1440000"/>
            <a:ext cx="699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(A+B+C)’s 1 day work = 1/ 4</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80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A’s 1 day work = 1/ 16</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80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B’s 1 day work = 1/ 12</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80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Therefore, C’s 1 day work = [(1/ 4) - (1/ 16)+(1/ 12)]</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80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                                      	= (1/ 4) - (7/ 48) = 5/ 48</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80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So C alone can do the work in 48/ 5.</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80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Hence , option C is correct.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Roboto"/>
              <a:ea typeface="Roboto"/>
              <a:cs typeface="Roboto"/>
              <a:sym typeface="Roboto"/>
            </a:endParaRPr>
          </a:p>
        </p:txBody>
      </p:sp>
      <p:sp>
        <p:nvSpPr>
          <p:cNvPr id="128" name="Google Shape;128;p6"/>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animEffect filter="fade" transition="in">
                                      <p:cBhvr>
                                        <p:cTn dur="1000"/>
                                        <p:tgtEl>
                                          <p:spTgt spid="1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animEffect filter="fade" transition="in">
                                      <p:cBhvr>
                                        <p:cTn dur="1000"/>
                                        <p:tgtEl>
                                          <p:spTgt spid="1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2" st="2"/>
                                            </p:txEl>
                                          </p:spTgt>
                                        </p:tgtEl>
                                        <p:attrNameLst>
                                          <p:attrName>style.visibility</p:attrName>
                                        </p:attrNameLst>
                                      </p:cBhvr>
                                      <p:to>
                                        <p:strVal val="visible"/>
                                      </p:to>
                                    </p:set>
                                    <p:animEffect filter="fade" transition="in">
                                      <p:cBhvr>
                                        <p:cTn dur="1000"/>
                                        <p:tgtEl>
                                          <p:spTgt spid="12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3" st="3"/>
                                            </p:txEl>
                                          </p:spTgt>
                                        </p:tgtEl>
                                        <p:attrNameLst>
                                          <p:attrName>style.visibility</p:attrName>
                                        </p:attrNameLst>
                                      </p:cBhvr>
                                      <p:to>
                                        <p:strVal val="visible"/>
                                      </p:to>
                                    </p:set>
                                    <p:animEffect filter="fade" transition="in">
                                      <p:cBhvr>
                                        <p:cTn dur="1000"/>
                                        <p:tgtEl>
                                          <p:spTgt spid="12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4" st="4"/>
                                            </p:txEl>
                                          </p:spTgt>
                                        </p:tgtEl>
                                        <p:attrNameLst>
                                          <p:attrName>style.visibility</p:attrName>
                                        </p:attrNameLst>
                                      </p:cBhvr>
                                      <p:to>
                                        <p:strVal val="visible"/>
                                      </p:to>
                                    </p:set>
                                    <p:animEffect filter="fade" transition="in">
                                      <p:cBhvr>
                                        <p:cTn dur="1000"/>
                                        <p:tgtEl>
                                          <p:spTgt spid="12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5" st="5"/>
                                            </p:txEl>
                                          </p:spTgt>
                                        </p:tgtEl>
                                        <p:attrNameLst>
                                          <p:attrName>style.visibility</p:attrName>
                                        </p:attrNameLst>
                                      </p:cBhvr>
                                      <p:to>
                                        <p:strVal val="visible"/>
                                      </p:to>
                                    </p:set>
                                    <p:animEffect filter="fade" transition="in">
                                      <p:cBhvr>
                                        <p:cTn dur="1000"/>
                                        <p:tgtEl>
                                          <p:spTgt spid="12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6" st="6"/>
                                            </p:txEl>
                                          </p:spTgt>
                                        </p:tgtEl>
                                        <p:attrNameLst>
                                          <p:attrName>style.visibility</p:attrName>
                                        </p:attrNameLst>
                                      </p:cBhvr>
                                      <p:to>
                                        <p:strVal val="visible"/>
                                      </p:to>
                                    </p:set>
                                    <p:animEffect filter="fade" transition="in">
                                      <p:cBhvr>
                                        <p:cTn dur="1000"/>
                                        <p:tgtEl>
                                          <p:spTgt spid="12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7" st="7"/>
                                            </p:txEl>
                                          </p:spTgt>
                                        </p:tgtEl>
                                        <p:attrNameLst>
                                          <p:attrName>style.visibility</p:attrName>
                                        </p:attrNameLst>
                                      </p:cBhvr>
                                      <p:to>
                                        <p:strVal val="visible"/>
                                      </p:to>
                                    </p:set>
                                    <p:animEffect filter="fade" transition="in">
                                      <p:cBhvr>
                                        <p:cTn dur="1000"/>
                                        <p:tgtEl>
                                          <p:spTgt spid="127">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7"/>
          <p:cNvSpPr txBox="1"/>
          <p:nvPr/>
        </p:nvSpPr>
        <p:spPr>
          <a:xfrm>
            <a:off x="327600" y="45537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03</a:t>
            </a:r>
            <a:endParaRPr b="0" i="0" sz="2000" u="none" cap="none" strike="noStrike">
              <a:solidFill>
                <a:schemeClr val="lt1"/>
              </a:solidFill>
              <a:latin typeface="Roboto"/>
              <a:ea typeface="Roboto"/>
              <a:cs typeface="Roboto"/>
              <a:sym typeface="Roboto"/>
            </a:endParaRPr>
          </a:p>
        </p:txBody>
      </p:sp>
      <p:sp>
        <p:nvSpPr>
          <p:cNvPr id="134" name="Google Shape;134;p7"/>
          <p:cNvSpPr txBox="1"/>
          <p:nvPr/>
        </p:nvSpPr>
        <p:spPr>
          <a:xfrm>
            <a:off x="720725" y="1403600"/>
            <a:ext cx="6991800" cy="290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400"/>
              <a:buFont typeface="Arial"/>
              <a:buNone/>
            </a:pPr>
            <a:r>
              <a:rPr b="0" i="0" lang="en-GB" sz="1600" u="none" cap="none" strike="noStrike">
                <a:solidFill>
                  <a:schemeClr val="dk1"/>
                </a:solidFill>
                <a:latin typeface="Roboto"/>
                <a:ea typeface="Roboto"/>
                <a:cs typeface="Roboto"/>
                <a:sym typeface="Roboto"/>
              </a:rPr>
              <a:t>Aadi can do a piece of work in 12 days alone, Bunny can do the same work in 16 days alone. After Aadi has been working for 5 days and Bunny for 7 days, Charan finishes it in 14 days. In how many days will Charan alone be able to do the work?</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80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96 days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48 days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24 days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12 days</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135" name="Google Shape;135;p7"/>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A  </a:t>
            </a:r>
            <a:endParaRPr b="1" i="0" sz="1400" u="none" cap="none" strike="noStrike">
              <a:solidFill>
                <a:srgbClr val="000000"/>
              </a:solidFill>
              <a:latin typeface="Roboto"/>
              <a:ea typeface="Roboto"/>
              <a:cs typeface="Roboto"/>
              <a:sym typeface="Roboto"/>
            </a:endParaRPr>
          </a:p>
        </p:txBody>
      </p:sp>
      <p:sp>
        <p:nvSpPr>
          <p:cNvPr id="136" name="Google Shape;136;p7"/>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animEffect filter="fade" transition="in">
                                      <p:cBhvr>
                                        <p:cTn dur="1000"/>
                                        <p:tgtEl>
                                          <p:spTgt spid="1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1" st="1"/>
                                            </p:txEl>
                                          </p:spTgt>
                                        </p:tgtEl>
                                        <p:attrNameLst>
                                          <p:attrName>style.visibility</p:attrName>
                                        </p:attrNameLst>
                                      </p:cBhvr>
                                      <p:to>
                                        <p:strVal val="visible"/>
                                      </p:to>
                                    </p:set>
                                    <p:animEffect filter="fade" transition="in">
                                      <p:cBhvr>
                                        <p:cTn dur="1000"/>
                                        <p:tgtEl>
                                          <p:spTgt spid="1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2" st="2"/>
                                            </p:txEl>
                                          </p:spTgt>
                                        </p:tgtEl>
                                        <p:attrNameLst>
                                          <p:attrName>style.visibility</p:attrName>
                                        </p:attrNameLst>
                                      </p:cBhvr>
                                      <p:to>
                                        <p:strVal val="visible"/>
                                      </p:to>
                                    </p:set>
                                    <p:animEffect filter="fade" transition="in">
                                      <p:cBhvr>
                                        <p:cTn dur="1000"/>
                                        <p:tgtEl>
                                          <p:spTgt spid="1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3" st="3"/>
                                            </p:txEl>
                                          </p:spTgt>
                                        </p:tgtEl>
                                        <p:attrNameLst>
                                          <p:attrName>style.visibility</p:attrName>
                                        </p:attrNameLst>
                                      </p:cBhvr>
                                      <p:to>
                                        <p:strVal val="visible"/>
                                      </p:to>
                                    </p:set>
                                    <p:animEffect filter="fade" transition="in">
                                      <p:cBhvr>
                                        <p:cTn dur="1000"/>
                                        <p:tgtEl>
                                          <p:spTgt spid="1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4" st="4"/>
                                            </p:txEl>
                                          </p:spTgt>
                                        </p:tgtEl>
                                        <p:attrNameLst>
                                          <p:attrName>style.visibility</p:attrName>
                                        </p:attrNameLst>
                                      </p:cBhvr>
                                      <p:to>
                                        <p:strVal val="visible"/>
                                      </p:to>
                                    </p:set>
                                    <p:animEffect filter="fade" transition="in">
                                      <p:cBhvr>
                                        <p:cTn dur="1000"/>
                                        <p:tgtEl>
                                          <p:spTgt spid="1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5" st="5"/>
                                            </p:txEl>
                                          </p:spTgt>
                                        </p:tgtEl>
                                        <p:attrNameLst>
                                          <p:attrName>style.visibility</p:attrName>
                                        </p:attrNameLst>
                                      </p:cBhvr>
                                      <p:to>
                                        <p:strVal val="visible"/>
                                      </p:to>
                                    </p:set>
                                    <p:animEffect filter="fade" transition="in">
                                      <p:cBhvr>
                                        <p:cTn dur="1000"/>
                                        <p:tgtEl>
                                          <p:spTgt spid="13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1000"/>
                                        <p:tgtEl>
                                          <p:spTgt spid="1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0" name="Shape 140"/>
        <p:cNvGrpSpPr/>
        <p:nvPr/>
      </p:nvGrpSpPr>
      <p:grpSpPr>
        <a:xfrm>
          <a:off x="0" y="0"/>
          <a:ext cx="0" cy="0"/>
          <a:chOff x="0" y="0"/>
          <a:chExt cx="0" cy="0"/>
        </a:xfrm>
      </p:grpSpPr>
      <p:sp>
        <p:nvSpPr>
          <p:cNvPr id="141" name="Google Shape;141;p8"/>
          <p:cNvSpPr txBox="1"/>
          <p:nvPr/>
        </p:nvSpPr>
        <p:spPr>
          <a:xfrm>
            <a:off x="720000" y="1369200"/>
            <a:ext cx="69918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According to the given data,</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5/12 + 7/16 + 14/d = 1</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or, 14/d = 1 - (5/12 + 7/16)</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or, 14/d = 1 - (20+21)/48</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or, 14/d = (48 - 41)/48</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or, 2/d = 1/48</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or, d = 2×48 = 96 days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Therefore, Charan alone can complete the work in 96 days.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Hence, option A is work.</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142" name="Google Shape;142;p8"/>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animEffect filter="fade" transition="in">
                                      <p:cBhvr>
                                        <p:cTn dur="1000"/>
                                        <p:tgtEl>
                                          <p:spTgt spid="1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animEffect filter="fade" transition="in">
                                      <p:cBhvr>
                                        <p:cTn dur="1000"/>
                                        <p:tgtEl>
                                          <p:spTgt spid="1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animEffect filter="fade" transition="in">
                                      <p:cBhvr>
                                        <p:cTn dur="1000"/>
                                        <p:tgtEl>
                                          <p:spTgt spid="1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3" st="3"/>
                                            </p:txEl>
                                          </p:spTgt>
                                        </p:tgtEl>
                                        <p:attrNameLst>
                                          <p:attrName>style.visibility</p:attrName>
                                        </p:attrNameLst>
                                      </p:cBhvr>
                                      <p:to>
                                        <p:strVal val="visible"/>
                                      </p:to>
                                    </p:set>
                                    <p:animEffect filter="fade" transition="in">
                                      <p:cBhvr>
                                        <p:cTn dur="1000"/>
                                        <p:tgtEl>
                                          <p:spTgt spid="1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4" st="4"/>
                                            </p:txEl>
                                          </p:spTgt>
                                        </p:tgtEl>
                                        <p:attrNameLst>
                                          <p:attrName>style.visibility</p:attrName>
                                        </p:attrNameLst>
                                      </p:cBhvr>
                                      <p:to>
                                        <p:strVal val="visible"/>
                                      </p:to>
                                    </p:set>
                                    <p:animEffect filter="fade" transition="in">
                                      <p:cBhvr>
                                        <p:cTn dur="1000"/>
                                        <p:tgtEl>
                                          <p:spTgt spid="14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5" st="5"/>
                                            </p:txEl>
                                          </p:spTgt>
                                        </p:tgtEl>
                                        <p:attrNameLst>
                                          <p:attrName>style.visibility</p:attrName>
                                        </p:attrNameLst>
                                      </p:cBhvr>
                                      <p:to>
                                        <p:strVal val="visible"/>
                                      </p:to>
                                    </p:set>
                                    <p:animEffect filter="fade" transition="in">
                                      <p:cBhvr>
                                        <p:cTn dur="1000"/>
                                        <p:tgtEl>
                                          <p:spTgt spid="14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6" st="6"/>
                                            </p:txEl>
                                          </p:spTgt>
                                        </p:tgtEl>
                                        <p:attrNameLst>
                                          <p:attrName>style.visibility</p:attrName>
                                        </p:attrNameLst>
                                      </p:cBhvr>
                                      <p:to>
                                        <p:strVal val="visible"/>
                                      </p:to>
                                    </p:set>
                                    <p:animEffect filter="fade" transition="in">
                                      <p:cBhvr>
                                        <p:cTn dur="1000"/>
                                        <p:tgtEl>
                                          <p:spTgt spid="14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7" st="7"/>
                                            </p:txEl>
                                          </p:spTgt>
                                        </p:tgtEl>
                                        <p:attrNameLst>
                                          <p:attrName>style.visibility</p:attrName>
                                        </p:attrNameLst>
                                      </p:cBhvr>
                                      <p:to>
                                        <p:strVal val="visible"/>
                                      </p:to>
                                    </p:set>
                                    <p:animEffect filter="fade" transition="in">
                                      <p:cBhvr>
                                        <p:cTn dur="1000"/>
                                        <p:tgtEl>
                                          <p:spTgt spid="14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8" st="8"/>
                                            </p:txEl>
                                          </p:spTgt>
                                        </p:tgtEl>
                                        <p:attrNameLst>
                                          <p:attrName>style.visibility</p:attrName>
                                        </p:attrNameLst>
                                      </p:cBhvr>
                                      <p:to>
                                        <p:strVal val="visible"/>
                                      </p:to>
                                    </p:set>
                                    <p:animEffect filter="fade" transition="in">
                                      <p:cBhvr>
                                        <p:cTn dur="1000"/>
                                        <p:tgtEl>
                                          <p:spTgt spid="14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9" st="9"/>
                                            </p:txEl>
                                          </p:spTgt>
                                        </p:tgtEl>
                                        <p:attrNameLst>
                                          <p:attrName>style.visibility</p:attrName>
                                        </p:attrNameLst>
                                      </p:cBhvr>
                                      <p:to>
                                        <p:strVal val="visible"/>
                                      </p:to>
                                    </p:set>
                                    <p:animEffect filter="fade" transition="in">
                                      <p:cBhvr>
                                        <p:cTn dur="1000"/>
                                        <p:tgtEl>
                                          <p:spTgt spid="141">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9"/>
          <p:cNvSpPr txBox="1"/>
          <p:nvPr/>
        </p:nvSpPr>
        <p:spPr>
          <a:xfrm>
            <a:off x="350100" y="39240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04</a:t>
            </a:r>
            <a:endParaRPr b="0" i="0" sz="2000" u="none" cap="none" strike="noStrike">
              <a:solidFill>
                <a:schemeClr val="lt1"/>
              </a:solidFill>
              <a:latin typeface="Roboto"/>
              <a:ea typeface="Roboto"/>
              <a:cs typeface="Roboto"/>
              <a:sym typeface="Roboto"/>
            </a:endParaRPr>
          </a:p>
        </p:txBody>
      </p:sp>
      <p:sp>
        <p:nvSpPr>
          <p:cNvPr id="148" name="Google Shape;148;p9"/>
          <p:cNvSpPr txBox="1"/>
          <p:nvPr/>
        </p:nvSpPr>
        <p:spPr>
          <a:xfrm>
            <a:off x="720725" y="1468375"/>
            <a:ext cx="6991800" cy="290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400"/>
              <a:buFont typeface="Arial"/>
              <a:buNone/>
            </a:pPr>
            <a:r>
              <a:rPr b="0" i="0" lang="en-GB" sz="1600" u="none" cap="none" strike="noStrike">
                <a:solidFill>
                  <a:schemeClr val="dk1"/>
                </a:solidFill>
                <a:latin typeface="Roboto"/>
                <a:ea typeface="Roboto"/>
                <a:cs typeface="Roboto"/>
                <a:sym typeface="Roboto"/>
              </a:rPr>
              <a:t>Kaushalya can do a work in 20 days, while kaikeyi can do the same work in 25 days. They started the work jointly Few days later Sumitra also joined them and thus all of them completed the whole work in 10 days. All of them were paid total Rs.700. What is the Share of Sumitra?</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80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Rs.130</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Rs.185</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Rs.70</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can't be determined</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149" name="Google Shape;149;p9"/>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C  </a:t>
            </a:r>
            <a:endParaRPr b="1" i="0" sz="1400" u="none" cap="none" strike="noStrike">
              <a:solidFill>
                <a:srgbClr val="000000"/>
              </a:solidFill>
              <a:latin typeface="Roboto"/>
              <a:ea typeface="Roboto"/>
              <a:cs typeface="Roboto"/>
              <a:sym typeface="Roboto"/>
            </a:endParaRPr>
          </a:p>
        </p:txBody>
      </p:sp>
      <p:sp>
        <p:nvSpPr>
          <p:cNvPr id="150" name="Google Shape;150;p9"/>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xEl>
                                              <p:pRg end="0" st="0"/>
                                            </p:txEl>
                                          </p:spTgt>
                                        </p:tgtEl>
                                        <p:attrNameLst>
                                          <p:attrName>style.visibility</p:attrName>
                                        </p:attrNameLst>
                                      </p:cBhvr>
                                      <p:to>
                                        <p:strVal val="visible"/>
                                      </p:to>
                                    </p:set>
                                    <p:animEffect filter="fade" transition="in">
                                      <p:cBhvr>
                                        <p:cTn dur="1000"/>
                                        <p:tgtEl>
                                          <p:spTgt spid="14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xEl>
                                              <p:pRg end="1" st="1"/>
                                            </p:txEl>
                                          </p:spTgt>
                                        </p:tgtEl>
                                        <p:attrNameLst>
                                          <p:attrName>style.visibility</p:attrName>
                                        </p:attrNameLst>
                                      </p:cBhvr>
                                      <p:to>
                                        <p:strVal val="visible"/>
                                      </p:to>
                                    </p:set>
                                    <p:animEffect filter="fade" transition="in">
                                      <p:cBhvr>
                                        <p:cTn dur="1000"/>
                                        <p:tgtEl>
                                          <p:spTgt spid="14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xEl>
                                              <p:pRg end="2" st="2"/>
                                            </p:txEl>
                                          </p:spTgt>
                                        </p:tgtEl>
                                        <p:attrNameLst>
                                          <p:attrName>style.visibility</p:attrName>
                                        </p:attrNameLst>
                                      </p:cBhvr>
                                      <p:to>
                                        <p:strVal val="visible"/>
                                      </p:to>
                                    </p:set>
                                    <p:animEffect filter="fade" transition="in">
                                      <p:cBhvr>
                                        <p:cTn dur="1000"/>
                                        <p:tgtEl>
                                          <p:spTgt spid="14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xEl>
                                              <p:pRg end="3" st="3"/>
                                            </p:txEl>
                                          </p:spTgt>
                                        </p:tgtEl>
                                        <p:attrNameLst>
                                          <p:attrName>style.visibility</p:attrName>
                                        </p:attrNameLst>
                                      </p:cBhvr>
                                      <p:to>
                                        <p:strVal val="visible"/>
                                      </p:to>
                                    </p:set>
                                    <p:animEffect filter="fade" transition="in">
                                      <p:cBhvr>
                                        <p:cTn dur="1000"/>
                                        <p:tgtEl>
                                          <p:spTgt spid="14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xEl>
                                              <p:pRg end="4" st="4"/>
                                            </p:txEl>
                                          </p:spTgt>
                                        </p:tgtEl>
                                        <p:attrNameLst>
                                          <p:attrName>style.visibility</p:attrName>
                                        </p:attrNameLst>
                                      </p:cBhvr>
                                      <p:to>
                                        <p:strVal val="visible"/>
                                      </p:to>
                                    </p:set>
                                    <p:animEffect filter="fade" transition="in">
                                      <p:cBhvr>
                                        <p:cTn dur="1000"/>
                                        <p:tgtEl>
                                          <p:spTgt spid="14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xEl>
                                              <p:pRg end="5" st="5"/>
                                            </p:txEl>
                                          </p:spTgt>
                                        </p:tgtEl>
                                        <p:attrNameLst>
                                          <p:attrName>style.visibility</p:attrName>
                                        </p:attrNameLst>
                                      </p:cBhvr>
                                      <p:to>
                                        <p:strVal val="visible"/>
                                      </p:to>
                                    </p:set>
                                    <p:animEffect filter="fade" transition="in">
                                      <p:cBhvr>
                                        <p:cTn dur="1000"/>
                                        <p:tgtEl>
                                          <p:spTgt spid="14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1000"/>
                                        <p:tgtEl>
                                          <p:spTgt spid="1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4" name="Shape 154"/>
        <p:cNvGrpSpPr/>
        <p:nvPr/>
      </p:nvGrpSpPr>
      <p:grpSpPr>
        <a:xfrm>
          <a:off x="0" y="0"/>
          <a:ext cx="0" cy="0"/>
          <a:chOff x="0" y="0"/>
          <a:chExt cx="0" cy="0"/>
        </a:xfrm>
      </p:grpSpPr>
      <p:sp>
        <p:nvSpPr>
          <p:cNvPr id="155" name="Google Shape;155;p10"/>
          <p:cNvSpPr txBox="1"/>
          <p:nvPr/>
        </p:nvSpPr>
        <p:spPr>
          <a:xfrm>
            <a:off x="671700" y="1378650"/>
            <a:ext cx="7040100" cy="26967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Efficiency of kaushalya = 5%</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Efficiency of kaikeyi  = 4%</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Thus, in 10 days working together they will complete only 90% of the work.</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     	So,  [(5+4)*10] =90</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Hence, the remaining work will surely done by sumitra, which is 10%.</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Thus, sumitra will get 10% of Rs. 700, which is Rs.70</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Hence, option C is correct.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Roboto"/>
              <a:ea typeface="Roboto"/>
              <a:cs typeface="Roboto"/>
              <a:sym typeface="Roboto"/>
            </a:endParaRPr>
          </a:p>
        </p:txBody>
      </p:sp>
      <p:sp>
        <p:nvSpPr>
          <p:cNvPr id="156" name="Google Shape;156;p10"/>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04</a:t>
            </a:r>
            <a:endParaRPr b="1" sz="2000">
              <a:solidFill>
                <a:srgbClr val="8182EF"/>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1"/>
          <p:cNvSpPr txBox="1"/>
          <p:nvPr/>
        </p:nvSpPr>
        <p:spPr>
          <a:xfrm>
            <a:off x="268900" y="59312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05</a:t>
            </a:r>
            <a:endParaRPr b="0" i="0" sz="2000" u="none" cap="none" strike="noStrike">
              <a:solidFill>
                <a:schemeClr val="lt1"/>
              </a:solidFill>
              <a:latin typeface="Roboto"/>
              <a:ea typeface="Roboto"/>
              <a:cs typeface="Roboto"/>
              <a:sym typeface="Roboto"/>
            </a:endParaRPr>
          </a:p>
        </p:txBody>
      </p:sp>
      <p:sp>
        <p:nvSpPr>
          <p:cNvPr id="162" name="Google Shape;162;p11"/>
          <p:cNvSpPr txBox="1"/>
          <p:nvPr/>
        </p:nvSpPr>
        <p:spPr>
          <a:xfrm>
            <a:off x="720000" y="1440000"/>
            <a:ext cx="699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400"/>
              <a:buFont typeface="Arial"/>
              <a:buNone/>
            </a:pPr>
            <a:r>
              <a:rPr b="0" i="0" lang="en-GB" sz="1600" u="none" cap="none" strike="noStrike">
                <a:solidFill>
                  <a:schemeClr val="dk1"/>
                </a:solidFill>
                <a:latin typeface="Roboto"/>
                <a:ea typeface="Roboto"/>
                <a:cs typeface="Roboto"/>
                <a:sym typeface="Roboto"/>
              </a:rPr>
              <a:t>When A, B and C are deployed for a task , A and B together do 70% of the work and B and C together do 50% of the work. who is most efficient?</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800"/>
              </a:spcBef>
              <a:spcAft>
                <a:spcPts val="0"/>
              </a:spcAft>
              <a:buClr>
                <a:schemeClr val="dk1"/>
              </a:buClr>
              <a:buSzPts val="1600"/>
              <a:buFont typeface="Arial"/>
              <a:buAutoNum type="alphaUcPeriod"/>
            </a:pPr>
            <a:r>
              <a:rPr b="0" i="0" lang="en-GB"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Arial"/>
              <a:buAutoNum type="alphaUcPeriod"/>
            </a:pPr>
            <a:r>
              <a:rPr b="0"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Arial"/>
              <a:buAutoNum type="alphaUcPeriod"/>
            </a:pPr>
            <a:r>
              <a:rPr b="0"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Arial"/>
              <a:buAutoNum type="alphaUcPeriod"/>
            </a:pPr>
            <a:r>
              <a:rPr b="0" i="0" lang="en-GB" sz="1600" u="none" cap="none" strike="noStrike">
                <a:solidFill>
                  <a:schemeClr val="dk1"/>
                </a:solidFill>
                <a:latin typeface="Roboto"/>
                <a:ea typeface="Roboto"/>
                <a:cs typeface="Roboto"/>
                <a:sym typeface="Roboto"/>
              </a:rPr>
              <a:t>Can't be determined</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163" name="Google Shape;163;p11"/>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A  </a:t>
            </a:r>
            <a:endParaRPr b="1" i="0" sz="1400" u="none" cap="none" strike="noStrike">
              <a:solidFill>
                <a:srgbClr val="000000"/>
              </a:solidFill>
              <a:latin typeface="Roboto"/>
              <a:ea typeface="Roboto"/>
              <a:cs typeface="Roboto"/>
              <a:sym typeface="Roboto"/>
            </a:endParaRPr>
          </a:p>
        </p:txBody>
      </p:sp>
      <p:sp>
        <p:nvSpPr>
          <p:cNvPr id="164" name="Google Shape;164;p11"/>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0" st="0"/>
                                            </p:txEl>
                                          </p:spTgt>
                                        </p:tgtEl>
                                        <p:attrNameLst>
                                          <p:attrName>style.visibility</p:attrName>
                                        </p:attrNameLst>
                                      </p:cBhvr>
                                      <p:to>
                                        <p:strVal val="visible"/>
                                      </p:to>
                                    </p:set>
                                    <p:animEffect filter="fade" transition="in">
                                      <p:cBhvr>
                                        <p:cTn dur="1000"/>
                                        <p:tgtEl>
                                          <p:spTgt spid="1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1" st="1"/>
                                            </p:txEl>
                                          </p:spTgt>
                                        </p:tgtEl>
                                        <p:attrNameLst>
                                          <p:attrName>style.visibility</p:attrName>
                                        </p:attrNameLst>
                                      </p:cBhvr>
                                      <p:to>
                                        <p:strVal val="visible"/>
                                      </p:to>
                                    </p:set>
                                    <p:animEffect filter="fade" transition="in">
                                      <p:cBhvr>
                                        <p:cTn dur="1000"/>
                                        <p:tgtEl>
                                          <p:spTgt spid="1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2" st="2"/>
                                            </p:txEl>
                                          </p:spTgt>
                                        </p:tgtEl>
                                        <p:attrNameLst>
                                          <p:attrName>style.visibility</p:attrName>
                                        </p:attrNameLst>
                                      </p:cBhvr>
                                      <p:to>
                                        <p:strVal val="visible"/>
                                      </p:to>
                                    </p:set>
                                    <p:animEffect filter="fade" transition="in">
                                      <p:cBhvr>
                                        <p:cTn dur="1000"/>
                                        <p:tgtEl>
                                          <p:spTgt spid="1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3" st="3"/>
                                            </p:txEl>
                                          </p:spTgt>
                                        </p:tgtEl>
                                        <p:attrNameLst>
                                          <p:attrName>style.visibility</p:attrName>
                                        </p:attrNameLst>
                                      </p:cBhvr>
                                      <p:to>
                                        <p:strVal val="visible"/>
                                      </p:to>
                                    </p:set>
                                    <p:animEffect filter="fade" transition="in">
                                      <p:cBhvr>
                                        <p:cTn dur="1000"/>
                                        <p:tgtEl>
                                          <p:spTgt spid="16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4" st="4"/>
                                            </p:txEl>
                                          </p:spTgt>
                                        </p:tgtEl>
                                        <p:attrNameLst>
                                          <p:attrName>style.visibility</p:attrName>
                                        </p:attrNameLst>
                                      </p:cBhvr>
                                      <p:to>
                                        <p:strVal val="visible"/>
                                      </p:to>
                                    </p:set>
                                    <p:animEffect filter="fade" transition="in">
                                      <p:cBhvr>
                                        <p:cTn dur="1000"/>
                                        <p:tgtEl>
                                          <p:spTgt spid="16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5" st="5"/>
                                            </p:txEl>
                                          </p:spTgt>
                                        </p:tgtEl>
                                        <p:attrNameLst>
                                          <p:attrName>style.visibility</p:attrName>
                                        </p:attrNameLst>
                                      </p:cBhvr>
                                      <p:to>
                                        <p:strVal val="visible"/>
                                      </p:to>
                                    </p:set>
                                    <p:animEffect filter="fade" transition="in">
                                      <p:cBhvr>
                                        <p:cTn dur="1000"/>
                                        <p:tgtEl>
                                          <p:spTgt spid="16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8" name="Shape 168"/>
        <p:cNvGrpSpPr/>
        <p:nvPr/>
      </p:nvGrpSpPr>
      <p:grpSpPr>
        <a:xfrm>
          <a:off x="0" y="0"/>
          <a:ext cx="0" cy="0"/>
          <a:chOff x="0" y="0"/>
          <a:chExt cx="0" cy="0"/>
        </a:xfrm>
      </p:grpSpPr>
      <p:sp>
        <p:nvSpPr>
          <p:cNvPr id="169" name="Google Shape;169;p12"/>
          <p:cNvSpPr txBox="1"/>
          <p:nvPr/>
        </p:nvSpPr>
        <p:spPr>
          <a:xfrm>
            <a:off x="327600" y="525149"/>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170" name="Google Shape;170;p12"/>
          <p:cNvSpPr txBox="1"/>
          <p:nvPr/>
        </p:nvSpPr>
        <p:spPr>
          <a:xfrm>
            <a:off x="720000" y="1440000"/>
            <a:ext cx="7043700" cy="29919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 + B = 0.7 W</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20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B + C = 0.5 W</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20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A+B+C = 1</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20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C = 1 - 0.7 = 0.3</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20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B = 0.5 - 0.3 = 0.2</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20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 = 0.7 - 0.2 = 0.5</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20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So A is most efficient.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20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Hence, option A is correct.</a:t>
            </a:r>
            <a:endParaRPr b="0" i="0" sz="1400" u="none" cap="none" strike="noStrike">
              <a:solidFill>
                <a:schemeClr val="dk1"/>
              </a:solidFill>
              <a:latin typeface="Roboto"/>
              <a:ea typeface="Roboto"/>
              <a:cs typeface="Roboto"/>
              <a:sym typeface="Roboto"/>
            </a:endParaRPr>
          </a:p>
          <a:p>
            <a:pPr indent="0" lvl="0" marL="15240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171" name="Google Shape;171;p12"/>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05</a:t>
            </a:r>
            <a:endParaRPr b="1" sz="2000">
              <a:solidFill>
                <a:srgbClr val="8182EF"/>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3"/>
          <p:cNvSpPr txBox="1"/>
          <p:nvPr/>
        </p:nvSpPr>
        <p:spPr>
          <a:xfrm>
            <a:off x="720000" y="1345575"/>
            <a:ext cx="6991800" cy="27297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400"/>
              <a:buFont typeface="Arial"/>
              <a:buNone/>
            </a:pPr>
            <a:r>
              <a:rPr b="0" i="0" lang="en-GB" sz="1600" u="none" cap="none" strike="noStrike">
                <a:solidFill>
                  <a:schemeClr val="dk1"/>
                </a:solidFill>
                <a:latin typeface="Roboto"/>
                <a:ea typeface="Roboto"/>
                <a:cs typeface="Roboto"/>
                <a:sym typeface="Roboto"/>
              </a:rPr>
              <a:t>A does half as much work as B and C does half as much work as A and B together. If C alone can finish the work in 40 days, then together ,all will finish the work in:</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80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17 + 4/7 days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13 + 1/3 days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15 + 3/2 days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16 days</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177" name="Google Shape;177;p13"/>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B  </a:t>
            </a:r>
            <a:endParaRPr b="1" i="0" sz="1400" u="none" cap="none" strike="noStrike">
              <a:solidFill>
                <a:srgbClr val="000000"/>
              </a:solidFill>
              <a:latin typeface="Roboto"/>
              <a:ea typeface="Roboto"/>
              <a:cs typeface="Roboto"/>
              <a:sym typeface="Roboto"/>
            </a:endParaRPr>
          </a:p>
        </p:txBody>
      </p:sp>
      <p:sp>
        <p:nvSpPr>
          <p:cNvPr id="178" name="Google Shape;178;p13"/>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06</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1000"/>
                                        <p:tgtEl>
                                          <p:spTgt spid="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animEffect filter="fade" transition="in">
                                      <p:cBhvr>
                                        <p:cTn dur="1000"/>
                                        <p:tgtEl>
                                          <p:spTgt spid="1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1" st="1"/>
                                            </p:txEl>
                                          </p:spTgt>
                                        </p:tgtEl>
                                        <p:attrNameLst>
                                          <p:attrName>style.visibility</p:attrName>
                                        </p:attrNameLst>
                                      </p:cBhvr>
                                      <p:to>
                                        <p:strVal val="visible"/>
                                      </p:to>
                                    </p:set>
                                    <p:animEffect filter="fade" transition="in">
                                      <p:cBhvr>
                                        <p:cTn dur="1000"/>
                                        <p:tgtEl>
                                          <p:spTgt spid="1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2" st="2"/>
                                            </p:txEl>
                                          </p:spTgt>
                                        </p:tgtEl>
                                        <p:attrNameLst>
                                          <p:attrName>style.visibility</p:attrName>
                                        </p:attrNameLst>
                                      </p:cBhvr>
                                      <p:to>
                                        <p:strVal val="visible"/>
                                      </p:to>
                                    </p:set>
                                    <p:animEffect filter="fade" transition="in">
                                      <p:cBhvr>
                                        <p:cTn dur="1000"/>
                                        <p:tgtEl>
                                          <p:spTgt spid="17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3" st="3"/>
                                            </p:txEl>
                                          </p:spTgt>
                                        </p:tgtEl>
                                        <p:attrNameLst>
                                          <p:attrName>style.visibility</p:attrName>
                                        </p:attrNameLst>
                                      </p:cBhvr>
                                      <p:to>
                                        <p:strVal val="visible"/>
                                      </p:to>
                                    </p:set>
                                    <p:animEffect filter="fade" transition="in">
                                      <p:cBhvr>
                                        <p:cTn dur="1000"/>
                                        <p:tgtEl>
                                          <p:spTgt spid="17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4" st="4"/>
                                            </p:txEl>
                                          </p:spTgt>
                                        </p:tgtEl>
                                        <p:attrNameLst>
                                          <p:attrName>style.visibility</p:attrName>
                                        </p:attrNameLst>
                                      </p:cBhvr>
                                      <p:to>
                                        <p:strVal val="visible"/>
                                      </p:to>
                                    </p:set>
                                    <p:animEffect filter="fade" transition="in">
                                      <p:cBhvr>
                                        <p:cTn dur="1000"/>
                                        <p:tgtEl>
                                          <p:spTgt spid="17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5" st="5"/>
                                            </p:txEl>
                                          </p:spTgt>
                                        </p:tgtEl>
                                        <p:attrNameLst>
                                          <p:attrName>style.visibility</p:attrName>
                                        </p:attrNameLst>
                                      </p:cBhvr>
                                      <p:to>
                                        <p:strVal val="visible"/>
                                      </p:to>
                                    </p:set>
                                    <p:animEffect filter="fade" transition="in">
                                      <p:cBhvr>
                                        <p:cTn dur="1000"/>
                                        <p:tgtEl>
                                          <p:spTgt spid="17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1000"/>
                                        <p:tgtEl>
                                          <p:spTgt spid="1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2" name="Shape 182"/>
        <p:cNvGrpSpPr/>
        <p:nvPr/>
      </p:nvGrpSpPr>
      <p:grpSpPr>
        <a:xfrm>
          <a:off x="0" y="0"/>
          <a:ext cx="0" cy="0"/>
          <a:chOff x="0" y="0"/>
          <a:chExt cx="0" cy="0"/>
        </a:xfrm>
      </p:grpSpPr>
      <p:sp>
        <p:nvSpPr>
          <p:cNvPr id="183" name="Google Shape;183;p14"/>
          <p:cNvSpPr txBox="1"/>
          <p:nvPr/>
        </p:nvSpPr>
        <p:spPr>
          <a:xfrm>
            <a:off x="327600" y="525149"/>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184" name="Google Shape;184;p14"/>
          <p:cNvSpPr txBox="1"/>
          <p:nvPr/>
        </p:nvSpPr>
        <p:spPr>
          <a:xfrm>
            <a:off x="720000" y="1440000"/>
            <a:ext cx="6991800" cy="29028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C alone can finish the work in 40 days.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As given C does half as much work as A and B together</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=&gt; (A + B) can do it in 20 days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 + B)’s 1 days wok = 1/20.</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A's 1 days work : B's 1 days Work = 1/2 : 1 = 1:2(given)</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A's 1 day’s work = (1/20) x (1/3) = (1/60) [Divide 1/20 in the ratio 1:2]</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B's 1 days work = (1/20) x (2/3) = 1/30</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(A+B+C)'s 1 day's work = (1/60) + (1/30) + (1/40) = 9/120 = 3/40</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All the three together will finish it in 40/3 = 13 and 1/3 days.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Hence, option B is correct.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Roboto"/>
              <a:ea typeface="Roboto"/>
              <a:cs typeface="Roboto"/>
              <a:sym typeface="Roboto"/>
            </a:endParaRPr>
          </a:p>
        </p:txBody>
      </p:sp>
      <p:sp>
        <p:nvSpPr>
          <p:cNvPr id="185" name="Google Shape;185;p14"/>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06</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0" st="0"/>
                                            </p:txEl>
                                          </p:spTgt>
                                        </p:tgtEl>
                                        <p:attrNameLst>
                                          <p:attrName>style.visibility</p:attrName>
                                        </p:attrNameLst>
                                      </p:cBhvr>
                                      <p:to>
                                        <p:strVal val="visible"/>
                                      </p:to>
                                    </p:set>
                                    <p:animEffect filter="fade" transition="in">
                                      <p:cBhvr>
                                        <p:cTn dur="1000"/>
                                        <p:tgtEl>
                                          <p:spTgt spid="1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1" st="1"/>
                                            </p:txEl>
                                          </p:spTgt>
                                        </p:tgtEl>
                                        <p:attrNameLst>
                                          <p:attrName>style.visibility</p:attrName>
                                        </p:attrNameLst>
                                      </p:cBhvr>
                                      <p:to>
                                        <p:strVal val="visible"/>
                                      </p:to>
                                    </p:set>
                                    <p:animEffect filter="fade" transition="in">
                                      <p:cBhvr>
                                        <p:cTn dur="1000"/>
                                        <p:tgtEl>
                                          <p:spTgt spid="1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2" st="2"/>
                                            </p:txEl>
                                          </p:spTgt>
                                        </p:tgtEl>
                                        <p:attrNameLst>
                                          <p:attrName>style.visibility</p:attrName>
                                        </p:attrNameLst>
                                      </p:cBhvr>
                                      <p:to>
                                        <p:strVal val="visible"/>
                                      </p:to>
                                    </p:set>
                                    <p:animEffect filter="fade" transition="in">
                                      <p:cBhvr>
                                        <p:cTn dur="1000"/>
                                        <p:tgtEl>
                                          <p:spTgt spid="1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3" st="3"/>
                                            </p:txEl>
                                          </p:spTgt>
                                        </p:tgtEl>
                                        <p:attrNameLst>
                                          <p:attrName>style.visibility</p:attrName>
                                        </p:attrNameLst>
                                      </p:cBhvr>
                                      <p:to>
                                        <p:strVal val="visible"/>
                                      </p:to>
                                    </p:set>
                                    <p:animEffect filter="fade" transition="in">
                                      <p:cBhvr>
                                        <p:cTn dur="1000"/>
                                        <p:tgtEl>
                                          <p:spTgt spid="18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4" st="4"/>
                                            </p:txEl>
                                          </p:spTgt>
                                        </p:tgtEl>
                                        <p:attrNameLst>
                                          <p:attrName>style.visibility</p:attrName>
                                        </p:attrNameLst>
                                      </p:cBhvr>
                                      <p:to>
                                        <p:strVal val="visible"/>
                                      </p:to>
                                    </p:set>
                                    <p:animEffect filter="fade" transition="in">
                                      <p:cBhvr>
                                        <p:cTn dur="1000"/>
                                        <p:tgtEl>
                                          <p:spTgt spid="18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5" st="5"/>
                                            </p:txEl>
                                          </p:spTgt>
                                        </p:tgtEl>
                                        <p:attrNameLst>
                                          <p:attrName>style.visibility</p:attrName>
                                        </p:attrNameLst>
                                      </p:cBhvr>
                                      <p:to>
                                        <p:strVal val="visible"/>
                                      </p:to>
                                    </p:set>
                                    <p:animEffect filter="fade" transition="in">
                                      <p:cBhvr>
                                        <p:cTn dur="1000"/>
                                        <p:tgtEl>
                                          <p:spTgt spid="18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6" st="6"/>
                                            </p:txEl>
                                          </p:spTgt>
                                        </p:tgtEl>
                                        <p:attrNameLst>
                                          <p:attrName>style.visibility</p:attrName>
                                        </p:attrNameLst>
                                      </p:cBhvr>
                                      <p:to>
                                        <p:strVal val="visible"/>
                                      </p:to>
                                    </p:set>
                                    <p:animEffect filter="fade" transition="in">
                                      <p:cBhvr>
                                        <p:cTn dur="1000"/>
                                        <p:tgtEl>
                                          <p:spTgt spid="18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7" st="7"/>
                                            </p:txEl>
                                          </p:spTgt>
                                        </p:tgtEl>
                                        <p:attrNameLst>
                                          <p:attrName>style.visibility</p:attrName>
                                        </p:attrNameLst>
                                      </p:cBhvr>
                                      <p:to>
                                        <p:strVal val="visible"/>
                                      </p:to>
                                    </p:set>
                                    <p:animEffect filter="fade" transition="in">
                                      <p:cBhvr>
                                        <p:cTn dur="1000"/>
                                        <p:tgtEl>
                                          <p:spTgt spid="18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8" st="8"/>
                                            </p:txEl>
                                          </p:spTgt>
                                        </p:tgtEl>
                                        <p:attrNameLst>
                                          <p:attrName>style.visibility</p:attrName>
                                        </p:attrNameLst>
                                      </p:cBhvr>
                                      <p:to>
                                        <p:strVal val="visible"/>
                                      </p:to>
                                    </p:set>
                                    <p:animEffect filter="fade" transition="in">
                                      <p:cBhvr>
                                        <p:cTn dur="1000"/>
                                        <p:tgtEl>
                                          <p:spTgt spid="18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9" st="9"/>
                                            </p:txEl>
                                          </p:spTgt>
                                        </p:tgtEl>
                                        <p:attrNameLst>
                                          <p:attrName>style.visibility</p:attrName>
                                        </p:attrNameLst>
                                      </p:cBhvr>
                                      <p:to>
                                        <p:strVal val="visible"/>
                                      </p:to>
                                    </p:set>
                                    <p:animEffect filter="fade" transition="in">
                                      <p:cBhvr>
                                        <p:cTn dur="1000"/>
                                        <p:tgtEl>
                                          <p:spTgt spid="18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10" st="10"/>
                                            </p:txEl>
                                          </p:spTgt>
                                        </p:tgtEl>
                                        <p:attrNameLst>
                                          <p:attrName>style.visibility</p:attrName>
                                        </p:attrNameLst>
                                      </p:cBhvr>
                                      <p:to>
                                        <p:strVal val="visible"/>
                                      </p:to>
                                    </p:set>
                                    <p:animEffect filter="fade" transition="in">
                                      <p:cBhvr>
                                        <p:cTn dur="1000"/>
                                        <p:tgtEl>
                                          <p:spTgt spid="184">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5"/>
          <p:cNvSpPr txBox="1"/>
          <p:nvPr/>
        </p:nvSpPr>
        <p:spPr>
          <a:xfrm>
            <a:off x="772550" y="1339850"/>
            <a:ext cx="6910800" cy="290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400"/>
              <a:buFont typeface="Arial"/>
              <a:buNone/>
            </a:pPr>
            <a:r>
              <a:rPr b="0" i="0" lang="en-GB" sz="1600" u="none" cap="none" strike="noStrike">
                <a:solidFill>
                  <a:schemeClr val="dk1"/>
                </a:solidFill>
                <a:latin typeface="Roboto"/>
                <a:ea typeface="Roboto"/>
                <a:cs typeface="Roboto"/>
                <a:sym typeface="Roboto"/>
              </a:rPr>
              <a:t>A, B and C can do a job in 6 days. 12 days and 15 days respectively. After 1/ 8 of the work is completed, C leaves the job. Rest of the work is done by A and B together, Time taken to finish the remaining work is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80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7/ 2 Days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9/ 2 Days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17/ 2 Days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13/ 2 Days</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191" name="Google Shape;191;p15"/>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A</a:t>
            </a:r>
            <a:endParaRPr b="1" i="0" sz="1400" u="none" cap="none" strike="noStrike">
              <a:solidFill>
                <a:srgbClr val="000000"/>
              </a:solidFill>
              <a:latin typeface="Roboto"/>
              <a:ea typeface="Roboto"/>
              <a:cs typeface="Roboto"/>
              <a:sym typeface="Roboto"/>
            </a:endParaRPr>
          </a:p>
        </p:txBody>
      </p:sp>
      <p:sp>
        <p:nvSpPr>
          <p:cNvPr id="192" name="Google Shape;192;p15"/>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07</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0" st="0"/>
                                            </p:txEl>
                                          </p:spTgt>
                                        </p:tgtEl>
                                        <p:attrNameLst>
                                          <p:attrName>style.visibility</p:attrName>
                                        </p:attrNameLst>
                                      </p:cBhvr>
                                      <p:to>
                                        <p:strVal val="visible"/>
                                      </p:to>
                                    </p:set>
                                    <p:animEffect filter="fade" transition="in">
                                      <p:cBhvr>
                                        <p:cTn dur="1000"/>
                                        <p:tgtEl>
                                          <p:spTgt spid="1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1" st="1"/>
                                            </p:txEl>
                                          </p:spTgt>
                                        </p:tgtEl>
                                        <p:attrNameLst>
                                          <p:attrName>style.visibility</p:attrName>
                                        </p:attrNameLst>
                                      </p:cBhvr>
                                      <p:to>
                                        <p:strVal val="visible"/>
                                      </p:to>
                                    </p:set>
                                    <p:animEffect filter="fade" transition="in">
                                      <p:cBhvr>
                                        <p:cTn dur="1000"/>
                                        <p:tgtEl>
                                          <p:spTgt spid="1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2" st="2"/>
                                            </p:txEl>
                                          </p:spTgt>
                                        </p:tgtEl>
                                        <p:attrNameLst>
                                          <p:attrName>style.visibility</p:attrName>
                                        </p:attrNameLst>
                                      </p:cBhvr>
                                      <p:to>
                                        <p:strVal val="visible"/>
                                      </p:to>
                                    </p:set>
                                    <p:animEffect filter="fade" transition="in">
                                      <p:cBhvr>
                                        <p:cTn dur="1000"/>
                                        <p:tgtEl>
                                          <p:spTgt spid="1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3" st="3"/>
                                            </p:txEl>
                                          </p:spTgt>
                                        </p:tgtEl>
                                        <p:attrNameLst>
                                          <p:attrName>style.visibility</p:attrName>
                                        </p:attrNameLst>
                                      </p:cBhvr>
                                      <p:to>
                                        <p:strVal val="visible"/>
                                      </p:to>
                                    </p:set>
                                    <p:animEffect filter="fade" transition="in">
                                      <p:cBhvr>
                                        <p:cTn dur="1000"/>
                                        <p:tgtEl>
                                          <p:spTgt spid="19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4" st="4"/>
                                            </p:txEl>
                                          </p:spTgt>
                                        </p:tgtEl>
                                        <p:attrNameLst>
                                          <p:attrName>style.visibility</p:attrName>
                                        </p:attrNameLst>
                                      </p:cBhvr>
                                      <p:to>
                                        <p:strVal val="visible"/>
                                      </p:to>
                                    </p:set>
                                    <p:animEffect filter="fade" transition="in">
                                      <p:cBhvr>
                                        <p:cTn dur="1000"/>
                                        <p:tgtEl>
                                          <p:spTgt spid="19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5" st="5"/>
                                            </p:txEl>
                                          </p:spTgt>
                                        </p:tgtEl>
                                        <p:attrNameLst>
                                          <p:attrName>style.visibility</p:attrName>
                                        </p:attrNameLst>
                                      </p:cBhvr>
                                      <p:to>
                                        <p:strVal val="visible"/>
                                      </p:to>
                                    </p:set>
                                    <p:animEffect filter="fade" transition="in">
                                      <p:cBhvr>
                                        <p:cTn dur="1000"/>
                                        <p:tgtEl>
                                          <p:spTgt spid="19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1000"/>
                                        <p:tgtEl>
                                          <p:spTgt spid="1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6" name="Shape 196"/>
        <p:cNvGrpSpPr/>
        <p:nvPr/>
      </p:nvGrpSpPr>
      <p:grpSpPr>
        <a:xfrm>
          <a:off x="0" y="0"/>
          <a:ext cx="0" cy="0"/>
          <a:chOff x="0" y="0"/>
          <a:chExt cx="0" cy="0"/>
        </a:xfrm>
      </p:grpSpPr>
      <p:sp>
        <p:nvSpPr>
          <p:cNvPr id="197" name="Google Shape;197;p16"/>
          <p:cNvSpPr txBox="1"/>
          <p:nvPr/>
        </p:nvSpPr>
        <p:spPr>
          <a:xfrm>
            <a:off x="720000" y="1214525"/>
            <a:ext cx="6991800" cy="28608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1/ 8 of work  = 60/ 8 = 15/ 2 units.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Rest work = 60-(15/ 2) = 105/ 2 units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Rest of work completed by A+B = Rest work/ (A+B)’s eff</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                                                   = 105/ (2*15)</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                                                   = 7/ 2.</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Hence, option A is correct.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Roboto"/>
              <a:ea typeface="Roboto"/>
              <a:cs typeface="Roboto"/>
              <a:sym typeface="Roboto"/>
            </a:endParaRPr>
          </a:p>
        </p:txBody>
      </p:sp>
      <p:pic>
        <p:nvPicPr>
          <p:cNvPr id="198" name="Google Shape;198;p16"/>
          <p:cNvPicPr preferRelativeResize="0"/>
          <p:nvPr/>
        </p:nvPicPr>
        <p:blipFill rotWithShape="1">
          <a:blip r:embed="rId3">
            <a:alphaModFix/>
          </a:blip>
          <a:srcRect b="0" l="0" r="0" t="0"/>
          <a:stretch/>
        </p:blipFill>
        <p:spPr>
          <a:xfrm>
            <a:off x="5062500" y="1574100"/>
            <a:ext cx="3420650" cy="2860650"/>
          </a:xfrm>
          <a:prstGeom prst="rect">
            <a:avLst/>
          </a:prstGeom>
          <a:noFill/>
          <a:ln>
            <a:noFill/>
          </a:ln>
        </p:spPr>
      </p:pic>
      <p:sp>
        <p:nvSpPr>
          <p:cNvPr id="199" name="Google Shape;199;p16"/>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07</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Effect filter="fade" transition="in">
                                      <p:cBhvr>
                                        <p:cTn dur="1000"/>
                                        <p:tgtEl>
                                          <p:spTgt spid="1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1" st="1"/>
                                            </p:txEl>
                                          </p:spTgt>
                                        </p:tgtEl>
                                        <p:attrNameLst>
                                          <p:attrName>style.visibility</p:attrName>
                                        </p:attrNameLst>
                                      </p:cBhvr>
                                      <p:to>
                                        <p:strVal val="visible"/>
                                      </p:to>
                                    </p:set>
                                    <p:animEffect filter="fade" transition="in">
                                      <p:cBhvr>
                                        <p:cTn dur="1000"/>
                                        <p:tgtEl>
                                          <p:spTgt spid="1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2" st="2"/>
                                            </p:txEl>
                                          </p:spTgt>
                                        </p:tgtEl>
                                        <p:attrNameLst>
                                          <p:attrName>style.visibility</p:attrName>
                                        </p:attrNameLst>
                                      </p:cBhvr>
                                      <p:to>
                                        <p:strVal val="visible"/>
                                      </p:to>
                                    </p:set>
                                    <p:animEffect filter="fade" transition="in">
                                      <p:cBhvr>
                                        <p:cTn dur="1000"/>
                                        <p:tgtEl>
                                          <p:spTgt spid="1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3" st="3"/>
                                            </p:txEl>
                                          </p:spTgt>
                                        </p:tgtEl>
                                        <p:attrNameLst>
                                          <p:attrName>style.visibility</p:attrName>
                                        </p:attrNameLst>
                                      </p:cBhvr>
                                      <p:to>
                                        <p:strVal val="visible"/>
                                      </p:to>
                                    </p:set>
                                    <p:animEffect filter="fade" transition="in">
                                      <p:cBhvr>
                                        <p:cTn dur="1000"/>
                                        <p:tgtEl>
                                          <p:spTgt spid="19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4" st="4"/>
                                            </p:txEl>
                                          </p:spTgt>
                                        </p:tgtEl>
                                        <p:attrNameLst>
                                          <p:attrName>style.visibility</p:attrName>
                                        </p:attrNameLst>
                                      </p:cBhvr>
                                      <p:to>
                                        <p:strVal val="visible"/>
                                      </p:to>
                                    </p:set>
                                    <p:animEffect filter="fade" transition="in">
                                      <p:cBhvr>
                                        <p:cTn dur="1000"/>
                                        <p:tgtEl>
                                          <p:spTgt spid="19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5" st="5"/>
                                            </p:txEl>
                                          </p:spTgt>
                                        </p:tgtEl>
                                        <p:attrNameLst>
                                          <p:attrName>style.visibility</p:attrName>
                                        </p:attrNameLst>
                                      </p:cBhvr>
                                      <p:to>
                                        <p:strVal val="visible"/>
                                      </p:to>
                                    </p:set>
                                    <p:animEffect filter="fade" transition="in">
                                      <p:cBhvr>
                                        <p:cTn dur="1000"/>
                                        <p:tgtEl>
                                          <p:spTgt spid="19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6" st="6"/>
                                            </p:txEl>
                                          </p:spTgt>
                                        </p:tgtEl>
                                        <p:attrNameLst>
                                          <p:attrName>style.visibility</p:attrName>
                                        </p:attrNameLst>
                                      </p:cBhvr>
                                      <p:to>
                                        <p:strVal val="visible"/>
                                      </p:to>
                                    </p:set>
                                    <p:animEffect filter="fade" transition="in">
                                      <p:cBhvr>
                                        <p:cTn dur="1000"/>
                                        <p:tgtEl>
                                          <p:spTgt spid="19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7"/>
          <p:cNvSpPr txBox="1"/>
          <p:nvPr/>
        </p:nvSpPr>
        <p:spPr>
          <a:xfrm>
            <a:off x="327600" y="551551"/>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08</a:t>
            </a:r>
            <a:endParaRPr b="0" i="0" sz="2000" u="none" cap="none" strike="noStrike">
              <a:solidFill>
                <a:schemeClr val="lt1"/>
              </a:solidFill>
              <a:latin typeface="Roboto"/>
              <a:ea typeface="Roboto"/>
              <a:cs typeface="Roboto"/>
              <a:sym typeface="Roboto"/>
            </a:endParaRPr>
          </a:p>
        </p:txBody>
      </p:sp>
      <p:sp>
        <p:nvSpPr>
          <p:cNvPr id="205" name="Google Shape;205;p17"/>
          <p:cNvSpPr txBox="1"/>
          <p:nvPr/>
        </p:nvSpPr>
        <p:spPr>
          <a:xfrm>
            <a:off x="720000" y="1264350"/>
            <a:ext cx="7051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Among four persons Prince, Queen, Raj and Sashi. Prince takes thrice as much time as Queen to complete a piece of work. Queen takes thrice as much time as Raj and Raj takes thrice as much time as Sashi to complete the same work. One group of three of the four men can complete the work in 13 days while another group of three can do so in 31 days. Which is the group that takes 13 days?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80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Prince , Queen , Raj</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Prince ,Queen , Sashi</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Queen , Raj , Sashi</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Prince , Raj , Sashi</a:t>
            </a:r>
            <a:endParaRPr b="0" i="0" sz="1600" u="none" cap="none" strike="noStrike">
              <a:solidFill>
                <a:schemeClr val="dk1"/>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p:txBody>
      </p:sp>
      <p:sp>
        <p:nvSpPr>
          <p:cNvPr id="206" name="Google Shape;206;p17"/>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B  </a:t>
            </a:r>
            <a:endParaRPr b="1" i="0" sz="1400" u="none" cap="none" strike="noStrike">
              <a:solidFill>
                <a:srgbClr val="000000"/>
              </a:solidFill>
              <a:latin typeface="Roboto"/>
              <a:ea typeface="Roboto"/>
              <a:cs typeface="Roboto"/>
              <a:sym typeface="Roboto"/>
            </a:endParaRPr>
          </a:p>
        </p:txBody>
      </p:sp>
      <p:sp>
        <p:nvSpPr>
          <p:cNvPr id="207" name="Google Shape;207;p17"/>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08</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0" st="0"/>
                                            </p:txEl>
                                          </p:spTgt>
                                        </p:tgtEl>
                                        <p:attrNameLst>
                                          <p:attrName>style.visibility</p:attrName>
                                        </p:attrNameLst>
                                      </p:cBhvr>
                                      <p:to>
                                        <p:strVal val="visible"/>
                                      </p:to>
                                    </p:set>
                                    <p:animEffect filter="fade" transition="in">
                                      <p:cBhvr>
                                        <p:cTn dur="1000"/>
                                        <p:tgtEl>
                                          <p:spTgt spid="2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1" st="1"/>
                                            </p:txEl>
                                          </p:spTgt>
                                        </p:tgtEl>
                                        <p:attrNameLst>
                                          <p:attrName>style.visibility</p:attrName>
                                        </p:attrNameLst>
                                      </p:cBhvr>
                                      <p:to>
                                        <p:strVal val="visible"/>
                                      </p:to>
                                    </p:set>
                                    <p:animEffect filter="fade" transition="in">
                                      <p:cBhvr>
                                        <p:cTn dur="1000"/>
                                        <p:tgtEl>
                                          <p:spTgt spid="2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2" st="2"/>
                                            </p:txEl>
                                          </p:spTgt>
                                        </p:tgtEl>
                                        <p:attrNameLst>
                                          <p:attrName>style.visibility</p:attrName>
                                        </p:attrNameLst>
                                      </p:cBhvr>
                                      <p:to>
                                        <p:strVal val="visible"/>
                                      </p:to>
                                    </p:set>
                                    <p:animEffect filter="fade" transition="in">
                                      <p:cBhvr>
                                        <p:cTn dur="1000"/>
                                        <p:tgtEl>
                                          <p:spTgt spid="20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3" st="3"/>
                                            </p:txEl>
                                          </p:spTgt>
                                        </p:tgtEl>
                                        <p:attrNameLst>
                                          <p:attrName>style.visibility</p:attrName>
                                        </p:attrNameLst>
                                      </p:cBhvr>
                                      <p:to>
                                        <p:strVal val="visible"/>
                                      </p:to>
                                    </p:set>
                                    <p:animEffect filter="fade" transition="in">
                                      <p:cBhvr>
                                        <p:cTn dur="1000"/>
                                        <p:tgtEl>
                                          <p:spTgt spid="20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4" st="4"/>
                                            </p:txEl>
                                          </p:spTgt>
                                        </p:tgtEl>
                                        <p:attrNameLst>
                                          <p:attrName>style.visibility</p:attrName>
                                        </p:attrNameLst>
                                      </p:cBhvr>
                                      <p:to>
                                        <p:strVal val="visible"/>
                                      </p:to>
                                    </p:set>
                                    <p:animEffect filter="fade" transition="in">
                                      <p:cBhvr>
                                        <p:cTn dur="1000"/>
                                        <p:tgtEl>
                                          <p:spTgt spid="20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5" st="5"/>
                                            </p:txEl>
                                          </p:spTgt>
                                        </p:tgtEl>
                                        <p:attrNameLst>
                                          <p:attrName>style.visibility</p:attrName>
                                        </p:attrNameLst>
                                      </p:cBhvr>
                                      <p:to>
                                        <p:strVal val="visible"/>
                                      </p:to>
                                    </p:set>
                                    <p:animEffect filter="fade" transition="in">
                                      <p:cBhvr>
                                        <p:cTn dur="1000"/>
                                        <p:tgtEl>
                                          <p:spTgt spid="20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1000"/>
                                        <p:tgtEl>
                                          <p:spTgt spid="2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1" name="Shape 211"/>
        <p:cNvGrpSpPr/>
        <p:nvPr/>
      </p:nvGrpSpPr>
      <p:grpSpPr>
        <a:xfrm>
          <a:off x="0" y="0"/>
          <a:ext cx="0" cy="0"/>
          <a:chOff x="0" y="0"/>
          <a:chExt cx="0" cy="0"/>
        </a:xfrm>
      </p:grpSpPr>
      <p:sp>
        <p:nvSpPr>
          <p:cNvPr id="212" name="Google Shape;212;p18"/>
          <p:cNvSpPr txBox="1"/>
          <p:nvPr/>
        </p:nvSpPr>
        <p:spPr>
          <a:xfrm>
            <a:off x="720000" y="1397625"/>
            <a:ext cx="6991800" cy="26775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From the given information Q is thrice as efficient as P.</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R is thrice as efficient as Q.</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S is thrice efficient as R.</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If work done by P in a day is 'n' units, the work done in a day by Q, R and S would be 3n, 9n and 27n units respectively.</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It can be seem that, P,Q and R working together can do 13n units in a day while P,Q and S working together can do 31n units in a day.</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Hence, the ratio of times taken to complete the work by the former and later groups is 31:13</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P,Q and S take 13 days.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Hence, option B is correct.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Roboto"/>
              <a:ea typeface="Roboto"/>
              <a:cs typeface="Roboto"/>
              <a:sym typeface="Roboto"/>
            </a:endParaRPr>
          </a:p>
        </p:txBody>
      </p:sp>
      <p:sp>
        <p:nvSpPr>
          <p:cNvPr id="213" name="Google Shape;213;p18"/>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08</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0" st="0"/>
                                            </p:txEl>
                                          </p:spTgt>
                                        </p:tgtEl>
                                        <p:attrNameLst>
                                          <p:attrName>style.visibility</p:attrName>
                                        </p:attrNameLst>
                                      </p:cBhvr>
                                      <p:to>
                                        <p:strVal val="visible"/>
                                      </p:to>
                                    </p:set>
                                    <p:animEffect filter="fade" transition="in">
                                      <p:cBhvr>
                                        <p:cTn dur="1000"/>
                                        <p:tgtEl>
                                          <p:spTgt spid="2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1" st="1"/>
                                            </p:txEl>
                                          </p:spTgt>
                                        </p:tgtEl>
                                        <p:attrNameLst>
                                          <p:attrName>style.visibility</p:attrName>
                                        </p:attrNameLst>
                                      </p:cBhvr>
                                      <p:to>
                                        <p:strVal val="visible"/>
                                      </p:to>
                                    </p:set>
                                    <p:animEffect filter="fade" transition="in">
                                      <p:cBhvr>
                                        <p:cTn dur="1000"/>
                                        <p:tgtEl>
                                          <p:spTgt spid="2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2" st="2"/>
                                            </p:txEl>
                                          </p:spTgt>
                                        </p:tgtEl>
                                        <p:attrNameLst>
                                          <p:attrName>style.visibility</p:attrName>
                                        </p:attrNameLst>
                                      </p:cBhvr>
                                      <p:to>
                                        <p:strVal val="visible"/>
                                      </p:to>
                                    </p:set>
                                    <p:animEffect filter="fade" transition="in">
                                      <p:cBhvr>
                                        <p:cTn dur="1000"/>
                                        <p:tgtEl>
                                          <p:spTgt spid="2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3" st="3"/>
                                            </p:txEl>
                                          </p:spTgt>
                                        </p:tgtEl>
                                        <p:attrNameLst>
                                          <p:attrName>style.visibility</p:attrName>
                                        </p:attrNameLst>
                                      </p:cBhvr>
                                      <p:to>
                                        <p:strVal val="visible"/>
                                      </p:to>
                                    </p:set>
                                    <p:animEffect filter="fade" transition="in">
                                      <p:cBhvr>
                                        <p:cTn dur="1000"/>
                                        <p:tgtEl>
                                          <p:spTgt spid="2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4" st="4"/>
                                            </p:txEl>
                                          </p:spTgt>
                                        </p:tgtEl>
                                        <p:attrNameLst>
                                          <p:attrName>style.visibility</p:attrName>
                                        </p:attrNameLst>
                                      </p:cBhvr>
                                      <p:to>
                                        <p:strVal val="visible"/>
                                      </p:to>
                                    </p:set>
                                    <p:animEffect filter="fade" transition="in">
                                      <p:cBhvr>
                                        <p:cTn dur="1000"/>
                                        <p:tgtEl>
                                          <p:spTgt spid="21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5" st="5"/>
                                            </p:txEl>
                                          </p:spTgt>
                                        </p:tgtEl>
                                        <p:attrNameLst>
                                          <p:attrName>style.visibility</p:attrName>
                                        </p:attrNameLst>
                                      </p:cBhvr>
                                      <p:to>
                                        <p:strVal val="visible"/>
                                      </p:to>
                                    </p:set>
                                    <p:animEffect filter="fade" transition="in">
                                      <p:cBhvr>
                                        <p:cTn dur="1000"/>
                                        <p:tgtEl>
                                          <p:spTgt spid="21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6" st="6"/>
                                            </p:txEl>
                                          </p:spTgt>
                                        </p:tgtEl>
                                        <p:attrNameLst>
                                          <p:attrName>style.visibility</p:attrName>
                                        </p:attrNameLst>
                                      </p:cBhvr>
                                      <p:to>
                                        <p:strVal val="visible"/>
                                      </p:to>
                                    </p:set>
                                    <p:animEffect filter="fade" transition="in">
                                      <p:cBhvr>
                                        <p:cTn dur="1000"/>
                                        <p:tgtEl>
                                          <p:spTgt spid="21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7" st="7"/>
                                            </p:txEl>
                                          </p:spTgt>
                                        </p:tgtEl>
                                        <p:attrNameLst>
                                          <p:attrName>style.visibility</p:attrName>
                                        </p:attrNameLst>
                                      </p:cBhvr>
                                      <p:to>
                                        <p:strVal val="visible"/>
                                      </p:to>
                                    </p:set>
                                    <p:animEffect filter="fade" transition="in">
                                      <p:cBhvr>
                                        <p:cTn dur="1000"/>
                                        <p:tgtEl>
                                          <p:spTgt spid="21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8" st="8"/>
                                            </p:txEl>
                                          </p:spTgt>
                                        </p:tgtEl>
                                        <p:attrNameLst>
                                          <p:attrName>style.visibility</p:attrName>
                                        </p:attrNameLst>
                                      </p:cBhvr>
                                      <p:to>
                                        <p:strVal val="visible"/>
                                      </p:to>
                                    </p:set>
                                    <p:animEffect filter="fade" transition="in">
                                      <p:cBhvr>
                                        <p:cTn dur="1000"/>
                                        <p:tgtEl>
                                          <p:spTgt spid="212">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9"/>
          <p:cNvSpPr txBox="1"/>
          <p:nvPr/>
        </p:nvSpPr>
        <p:spPr>
          <a:xfrm>
            <a:off x="720000" y="1440000"/>
            <a:ext cx="699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400"/>
              <a:buFont typeface="Arial"/>
              <a:buNone/>
            </a:pPr>
            <a:r>
              <a:rPr b="0" i="0" lang="en-GB" sz="1600" u="none" cap="none" strike="noStrike">
                <a:solidFill>
                  <a:schemeClr val="dk1"/>
                </a:solidFill>
                <a:latin typeface="Roboto"/>
                <a:ea typeface="Roboto"/>
                <a:cs typeface="Roboto"/>
                <a:sym typeface="Roboto"/>
              </a:rPr>
              <a:t>Rama can do a piece of work in 10 days and Rami alone can do it in 5 days. Rama and Rami undertook to do it for Rs.400. With the help of their neighbour Snooty, they finished it in 2 days. The share of Snooty out of the remuneration is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80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Rs.120</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Rs.200</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Rs.160</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Rs.180</a:t>
            </a:r>
            <a:endParaRPr b="0" i="0" sz="1600" u="none" cap="none" strike="noStrike">
              <a:solidFill>
                <a:schemeClr val="dk1"/>
              </a:solidFill>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19" name="Google Shape;219;p19"/>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C</a:t>
            </a:r>
            <a:endParaRPr b="1" i="0" sz="1400" u="none" cap="none" strike="noStrike">
              <a:solidFill>
                <a:srgbClr val="000000"/>
              </a:solidFill>
              <a:latin typeface="Roboto"/>
              <a:ea typeface="Roboto"/>
              <a:cs typeface="Roboto"/>
              <a:sym typeface="Roboto"/>
            </a:endParaRPr>
          </a:p>
        </p:txBody>
      </p:sp>
      <p:sp>
        <p:nvSpPr>
          <p:cNvPr id="220" name="Google Shape;220;p19"/>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09</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0" st="0"/>
                                            </p:txEl>
                                          </p:spTgt>
                                        </p:tgtEl>
                                        <p:attrNameLst>
                                          <p:attrName>style.visibility</p:attrName>
                                        </p:attrNameLst>
                                      </p:cBhvr>
                                      <p:to>
                                        <p:strVal val="visible"/>
                                      </p:to>
                                    </p:set>
                                    <p:animEffect filter="fade" transition="in">
                                      <p:cBhvr>
                                        <p:cTn dur="1000"/>
                                        <p:tgtEl>
                                          <p:spTgt spid="2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1" st="1"/>
                                            </p:txEl>
                                          </p:spTgt>
                                        </p:tgtEl>
                                        <p:attrNameLst>
                                          <p:attrName>style.visibility</p:attrName>
                                        </p:attrNameLst>
                                      </p:cBhvr>
                                      <p:to>
                                        <p:strVal val="visible"/>
                                      </p:to>
                                    </p:set>
                                    <p:animEffect filter="fade" transition="in">
                                      <p:cBhvr>
                                        <p:cTn dur="1000"/>
                                        <p:tgtEl>
                                          <p:spTgt spid="2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2" st="2"/>
                                            </p:txEl>
                                          </p:spTgt>
                                        </p:tgtEl>
                                        <p:attrNameLst>
                                          <p:attrName>style.visibility</p:attrName>
                                        </p:attrNameLst>
                                      </p:cBhvr>
                                      <p:to>
                                        <p:strVal val="visible"/>
                                      </p:to>
                                    </p:set>
                                    <p:animEffect filter="fade" transition="in">
                                      <p:cBhvr>
                                        <p:cTn dur="1000"/>
                                        <p:tgtEl>
                                          <p:spTgt spid="2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3" st="3"/>
                                            </p:txEl>
                                          </p:spTgt>
                                        </p:tgtEl>
                                        <p:attrNameLst>
                                          <p:attrName>style.visibility</p:attrName>
                                        </p:attrNameLst>
                                      </p:cBhvr>
                                      <p:to>
                                        <p:strVal val="visible"/>
                                      </p:to>
                                    </p:set>
                                    <p:animEffect filter="fade" transition="in">
                                      <p:cBhvr>
                                        <p:cTn dur="1000"/>
                                        <p:tgtEl>
                                          <p:spTgt spid="21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4" st="4"/>
                                            </p:txEl>
                                          </p:spTgt>
                                        </p:tgtEl>
                                        <p:attrNameLst>
                                          <p:attrName>style.visibility</p:attrName>
                                        </p:attrNameLst>
                                      </p:cBhvr>
                                      <p:to>
                                        <p:strVal val="visible"/>
                                      </p:to>
                                    </p:set>
                                    <p:animEffect filter="fade" transition="in">
                                      <p:cBhvr>
                                        <p:cTn dur="1000"/>
                                        <p:tgtEl>
                                          <p:spTgt spid="21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5" st="5"/>
                                            </p:txEl>
                                          </p:spTgt>
                                        </p:tgtEl>
                                        <p:attrNameLst>
                                          <p:attrName>style.visibility</p:attrName>
                                        </p:attrNameLst>
                                      </p:cBhvr>
                                      <p:to>
                                        <p:strVal val="visible"/>
                                      </p:to>
                                    </p:set>
                                    <p:animEffect filter="fade" transition="in">
                                      <p:cBhvr>
                                        <p:cTn dur="1000"/>
                                        <p:tgtEl>
                                          <p:spTgt spid="21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1000"/>
                                        <p:tgtEl>
                                          <p:spTgt spid="2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4" name="Shape 224"/>
        <p:cNvGrpSpPr/>
        <p:nvPr/>
      </p:nvGrpSpPr>
      <p:grpSpPr>
        <a:xfrm>
          <a:off x="0" y="0"/>
          <a:ext cx="0" cy="0"/>
          <a:chOff x="0" y="0"/>
          <a:chExt cx="0" cy="0"/>
        </a:xfrm>
      </p:grpSpPr>
      <p:sp>
        <p:nvSpPr>
          <p:cNvPr id="225" name="Google Shape;225;p20"/>
          <p:cNvSpPr txBox="1"/>
          <p:nvPr/>
        </p:nvSpPr>
        <p:spPr>
          <a:xfrm>
            <a:off x="720000" y="1397625"/>
            <a:ext cx="6991800" cy="26775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(Rama + Rami + Snooty)'s one day's work = 1/10 + 1/5 + 1/X.</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(Rama + Rami + Snooty)'s two day's work = 2 x (1110 + 1/5 + 1/X).</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{because they need 2 days to do the job)</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=&gt; 2 [ 1/10 + 115 + 1/X ] = 1 = On solving we get, X = 5 days.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This means that Snooty can do the whole work alone in 5 days.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=&gt; In one day, he does 1/5 of the work.</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=&gt;In two days, he does (2 x 1/5) of the work.</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=&gt; Snooty's share = 1/5 x 2 x 400 = Rs.160.</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Hence, option C is correct.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Roboto"/>
              <a:ea typeface="Roboto"/>
              <a:cs typeface="Roboto"/>
              <a:sym typeface="Roboto"/>
            </a:endParaRPr>
          </a:p>
        </p:txBody>
      </p:sp>
      <p:sp>
        <p:nvSpPr>
          <p:cNvPr id="226" name="Google Shape;226;p20"/>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09</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0" st="0"/>
                                            </p:txEl>
                                          </p:spTgt>
                                        </p:tgtEl>
                                        <p:attrNameLst>
                                          <p:attrName>style.visibility</p:attrName>
                                        </p:attrNameLst>
                                      </p:cBhvr>
                                      <p:to>
                                        <p:strVal val="visible"/>
                                      </p:to>
                                    </p:set>
                                    <p:animEffect filter="fade" transition="in">
                                      <p:cBhvr>
                                        <p:cTn dur="1000"/>
                                        <p:tgtEl>
                                          <p:spTgt spid="2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1" st="1"/>
                                            </p:txEl>
                                          </p:spTgt>
                                        </p:tgtEl>
                                        <p:attrNameLst>
                                          <p:attrName>style.visibility</p:attrName>
                                        </p:attrNameLst>
                                      </p:cBhvr>
                                      <p:to>
                                        <p:strVal val="visible"/>
                                      </p:to>
                                    </p:set>
                                    <p:animEffect filter="fade" transition="in">
                                      <p:cBhvr>
                                        <p:cTn dur="1000"/>
                                        <p:tgtEl>
                                          <p:spTgt spid="22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2" st="2"/>
                                            </p:txEl>
                                          </p:spTgt>
                                        </p:tgtEl>
                                        <p:attrNameLst>
                                          <p:attrName>style.visibility</p:attrName>
                                        </p:attrNameLst>
                                      </p:cBhvr>
                                      <p:to>
                                        <p:strVal val="visible"/>
                                      </p:to>
                                    </p:set>
                                    <p:animEffect filter="fade" transition="in">
                                      <p:cBhvr>
                                        <p:cTn dur="1000"/>
                                        <p:tgtEl>
                                          <p:spTgt spid="22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3" st="3"/>
                                            </p:txEl>
                                          </p:spTgt>
                                        </p:tgtEl>
                                        <p:attrNameLst>
                                          <p:attrName>style.visibility</p:attrName>
                                        </p:attrNameLst>
                                      </p:cBhvr>
                                      <p:to>
                                        <p:strVal val="visible"/>
                                      </p:to>
                                    </p:set>
                                    <p:animEffect filter="fade" transition="in">
                                      <p:cBhvr>
                                        <p:cTn dur="1000"/>
                                        <p:tgtEl>
                                          <p:spTgt spid="22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4" st="4"/>
                                            </p:txEl>
                                          </p:spTgt>
                                        </p:tgtEl>
                                        <p:attrNameLst>
                                          <p:attrName>style.visibility</p:attrName>
                                        </p:attrNameLst>
                                      </p:cBhvr>
                                      <p:to>
                                        <p:strVal val="visible"/>
                                      </p:to>
                                    </p:set>
                                    <p:animEffect filter="fade" transition="in">
                                      <p:cBhvr>
                                        <p:cTn dur="1000"/>
                                        <p:tgtEl>
                                          <p:spTgt spid="22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5" st="5"/>
                                            </p:txEl>
                                          </p:spTgt>
                                        </p:tgtEl>
                                        <p:attrNameLst>
                                          <p:attrName>style.visibility</p:attrName>
                                        </p:attrNameLst>
                                      </p:cBhvr>
                                      <p:to>
                                        <p:strVal val="visible"/>
                                      </p:to>
                                    </p:set>
                                    <p:animEffect filter="fade" transition="in">
                                      <p:cBhvr>
                                        <p:cTn dur="1000"/>
                                        <p:tgtEl>
                                          <p:spTgt spid="22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6" st="6"/>
                                            </p:txEl>
                                          </p:spTgt>
                                        </p:tgtEl>
                                        <p:attrNameLst>
                                          <p:attrName>style.visibility</p:attrName>
                                        </p:attrNameLst>
                                      </p:cBhvr>
                                      <p:to>
                                        <p:strVal val="visible"/>
                                      </p:to>
                                    </p:set>
                                    <p:animEffect filter="fade" transition="in">
                                      <p:cBhvr>
                                        <p:cTn dur="1000"/>
                                        <p:tgtEl>
                                          <p:spTgt spid="22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7" st="7"/>
                                            </p:txEl>
                                          </p:spTgt>
                                        </p:tgtEl>
                                        <p:attrNameLst>
                                          <p:attrName>style.visibility</p:attrName>
                                        </p:attrNameLst>
                                      </p:cBhvr>
                                      <p:to>
                                        <p:strVal val="visible"/>
                                      </p:to>
                                    </p:set>
                                    <p:animEffect filter="fade" transition="in">
                                      <p:cBhvr>
                                        <p:cTn dur="1000"/>
                                        <p:tgtEl>
                                          <p:spTgt spid="22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8" st="8"/>
                                            </p:txEl>
                                          </p:spTgt>
                                        </p:tgtEl>
                                        <p:attrNameLst>
                                          <p:attrName>style.visibility</p:attrName>
                                        </p:attrNameLst>
                                      </p:cBhvr>
                                      <p:to>
                                        <p:strVal val="visible"/>
                                      </p:to>
                                    </p:set>
                                    <p:animEffect filter="fade" transition="in">
                                      <p:cBhvr>
                                        <p:cTn dur="1000"/>
                                        <p:tgtEl>
                                          <p:spTgt spid="22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9" st="9"/>
                                            </p:txEl>
                                          </p:spTgt>
                                        </p:tgtEl>
                                        <p:attrNameLst>
                                          <p:attrName>style.visibility</p:attrName>
                                        </p:attrNameLst>
                                      </p:cBhvr>
                                      <p:to>
                                        <p:strVal val="visible"/>
                                      </p:to>
                                    </p:set>
                                    <p:animEffect filter="fade" transition="in">
                                      <p:cBhvr>
                                        <p:cTn dur="1000"/>
                                        <p:tgtEl>
                                          <p:spTgt spid="225">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1"/>
          <p:cNvSpPr txBox="1"/>
          <p:nvPr/>
        </p:nvSpPr>
        <p:spPr>
          <a:xfrm>
            <a:off x="350100" y="525149"/>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10</a:t>
            </a:r>
            <a:endParaRPr b="0" i="0" sz="2000" u="none" cap="none" strike="noStrike">
              <a:solidFill>
                <a:schemeClr val="lt1"/>
              </a:solidFill>
              <a:latin typeface="Roboto"/>
              <a:ea typeface="Roboto"/>
              <a:cs typeface="Roboto"/>
              <a:sym typeface="Roboto"/>
            </a:endParaRPr>
          </a:p>
        </p:txBody>
      </p:sp>
      <p:sp>
        <p:nvSpPr>
          <p:cNvPr id="232" name="Google Shape;232;p21"/>
          <p:cNvSpPr txBox="1"/>
          <p:nvPr/>
        </p:nvSpPr>
        <p:spPr>
          <a:xfrm>
            <a:off x="720000" y="1340350"/>
            <a:ext cx="71070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400"/>
              <a:buFont typeface="Arial"/>
              <a:buNone/>
            </a:pPr>
            <a:r>
              <a:rPr b="0" i="0" lang="en-GB" sz="1600" u="none" cap="none" strike="noStrike">
                <a:solidFill>
                  <a:schemeClr val="dk1"/>
                </a:solidFill>
                <a:latin typeface="Roboto"/>
                <a:ea typeface="Roboto"/>
                <a:cs typeface="Roboto"/>
                <a:sym typeface="Roboto"/>
              </a:rPr>
              <a:t>Billy is four times as good a workman as Silly and can build a wall in 45 days less than the number of days required by Silly. What is the time they will take, working together, to build two such walls?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80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12 days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24 days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9 days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18 days</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33" name="Google Shape;233;p21"/>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B</a:t>
            </a:r>
            <a:endParaRPr b="1" i="0" sz="1400" u="none" cap="none" strike="noStrike">
              <a:solidFill>
                <a:srgbClr val="000000"/>
              </a:solidFill>
              <a:latin typeface="Roboto"/>
              <a:ea typeface="Roboto"/>
              <a:cs typeface="Roboto"/>
              <a:sym typeface="Roboto"/>
            </a:endParaRPr>
          </a:p>
        </p:txBody>
      </p:sp>
      <p:sp>
        <p:nvSpPr>
          <p:cNvPr id="234" name="Google Shape;234;p21"/>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10</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0" st="0"/>
                                            </p:txEl>
                                          </p:spTgt>
                                        </p:tgtEl>
                                        <p:attrNameLst>
                                          <p:attrName>style.visibility</p:attrName>
                                        </p:attrNameLst>
                                      </p:cBhvr>
                                      <p:to>
                                        <p:strVal val="visible"/>
                                      </p:to>
                                    </p:set>
                                    <p:animEffect filter="fade" transition="in">
                                      <p:cBhvr>
                                        <p:cTn dur="1000"/>
                                        <p:tgtEl>
                                          <p:spTgt spid="2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1" st="1"/>
                                            </p:txEl>
                                          </p:spTgt>
                                        </p:tgtEl>
                                        <p:attrNameLst>
                                          <p:attrName>style.visibility</p:attrName>
                                        </p:attrNameLst>
                                      </p:cBhvr>
                                      <p:to>
                                        <p:strVal val="visible"/>
                                      </p:to>
                                    </p:set>
                                    <p:animEffect filter="fade" transition="in">
                                      <p:cBhvr>
                                        <p:cTn dur="1000"/>
                                        <p:tgtEl>
                                          <p:spTgt spid="23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2" st="2"/>
                                            </p:txEl>
                                          </p:spTgt>
                                        </p:tgtEl>
                                        <p:attrNameLst>
                                          <p:attrName>style.visibility</p:attrName>
                                        </p:attrNameLst>
                                      </p:cBhvr>
                                      <p:to>
                                        <p:strVal val="visible"/>
                                      </p:to>
                                    </p:set>
                                    <p:animEffect filter="fade" transition="in">
                                      <p:cBhvr>
                                        <p:cTn dur="1000"/>
                                        <p:tgtEl>
                                          <p:spTgt spid="23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3" st="3"/>
                                            </p:txEl>
                                          </p:spTgt>
                                        </p:tgtEl>
                                        <p:attrNameLst>
                                          <p:attrName>style.visibility</p:attrName>
                                        </p:attrNameLst>
                                      </p:cBhvr>
                                      <p:to>
                                        <p:strVal val="visible"/>
                                      </p:to>
                                    </p:set>
                                    <p:animEffect filter="fade" transition="in">
                                      <p:cBhvr>
                                        <p:cTn dur="1000"/>
                                        <p:tgtEl>
                                          <p:spTgt spid="23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4" st="4"/>
                                            </p:txEl>
                                          </p:spTgt>
                                        </p:tgtEl>
                                        <p:attrNameLst>
                                          <p:attrName>style.visibility</p:attrName>
                                        </p:attrNameLst>
                                      </p:cBhvr>
                                      <p:to>
                                        <p:strVal val="visible"/>
                                      </p:to>
                                    </p:set>
                                    <p:animEffect filter="fade" transition="in">
                                      <p:cBhvr>
                                        <p:cTn dur="1000"/>
                                        <p:tgtEl>
                                          <p:spTgt spid="23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5" st="5"/>
                                            </p:txEl>
                                          </p:spTgt>
                                        </p:tgtEl>
                                        <p:attrNameLst>
                                          <p:attrName>style.visibility</p:attrName>
                                        </p:attrNameLst>
                                      </p:cBhvr>
                                      <p:to>
                                        <p:strVal val="visible"/>
                                      </p:to>
                                    </p:set>
                                    <p:animEffect filter="fade" transition="in">
                                      <p:cBhvr>
                                        <p:cTn dur="1000"/>
                                        <p:tgtEl>
                                          <p:spTgt spid="23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1000"/>
                                        <p:tgtEl>
                                          <p:spTgt spid="2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8" name="Shape 238"/>
        <p:cNvGrpSpPr/>
        <p:nvPr/>
      </p:nvGrpSpPr>
      <p:grpSpPr>
        <a:xfrm>
          <a:off x="0" y="0"/>
          <a:ext cx="0" cy="0"/>
          <a:chOff x="0" y="0"/>
          <a:chExt cx="0" cy="0"/>
        </a:xfrm>
      </p:grpSpPr>
      <p:sp>
        <p:nvSpPr>
          <p:cNvPr id="239" name="Google Shape;239;p22"/>
          <p:cNvSpPr txBox="1"/>
          <p:nvPr/>
        </p:nvSpPr>
        <p:spPr>
          <a:xfrm>
            <a:off x="720000" y="1440000"/>
            <a:ext cx="699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Let Billy's time to complete one work = x days.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Then, Silly's time to complete one work = 4x days.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Since Billy take 45 days less than Silly to build a wall.</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i.e., 4x - x = 45 =&gt; x = 15 and 4x = 60.</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Working together they will take 1/(1/15+1/60)=12 days to build one wall.</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So, to build two such walls, 24 days will be required.</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Hence, option B is correct.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240" name="Google Shape;240;p22"/>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10</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animEffect filter="fade" transition="in">
                                      <p:cBhvr>
                                        <p:cTn dur="1000"/>
                                        <p:tgtEl>
                                          <p:spTgt spid="2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animEffect filter="fade" transition="in">
                                      <p:cBhvr>
                                        <p:cTn dur="1000"/>
                                        <p:tgtEl>
                                          <p:spTgt spid="2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animEffect filter="fade" transition="in">
                                      <p:cBhvr>
                                        <p:cTn dur="1000"/>
                                        <p:tgtEl>
                                          <p:spTgt spid="23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animEffect filter="fade" transition="in">
                                      <p:cBhvr>
                                        <p:cTn dur="1000"/>
                                        <p:tgtEl>
                                          <p:spTgt spid="23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4" st="4"/>
                                            </p:txEl>
                                          </p:spTgt>
                                        </p:tgtEl>
                                        <p:attrNameLst>
                                          <p:attrName>style.visibility</p:attrName>
                                        </p:attrNameLst>
                                      </p:cBhvr>
                                      <p:to>
                                        <p:strVal val="visible"/>
                                      </p:to>
                                    </p:set>
                                    <p:animEffect filter="fade" transition="in">
                                      <p:cBhvr>
                                        <p:cTn dur="1000"/>
                                        <p:tgtEl>
                                          <p:spTgt spid="23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5" st="5"/>
                                            </p:txEl>
                                          </p:spTgt>
                                        </p:tgtEl>
                                        <p:attrNameLst>
                                          <p:attrName>style.visibility</p:attrName>
                                        </p:attrNameLst>
                                      </p:cBhvr>
                                      <p:to>
                                        <p:strVal val="visible"/>
                                      </p:to>
                                    </p:set>
                                    <p:animEffect filter="fade" transition="in">
                                      <p:cBhvr>
                                        <p:cTn dur="1000"/>
                                        <p:tgtEl>
                                          <p:spTgt spid="23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6" st="6"/>
                                            </p:txEl>
                                          </p:spTgt>
                                        </p:tgtEl>
                                        <p:attrNameLst>
                                          <p:attrName>style.visibility</p:attrName>
                                        </p:attrNameLst>
                                      </p:cBhvr>
                                      <p:to>
                                        <p:strVal val="visible"/>
                                      </p:to>
                                    </p:set>
                                    <p:animEffect filter="fade" transition="in">
                                      <p:cBhvr>
                                        <p:cTn dur="1000"/>
                                        <p:tgtEl>
                                          <p:spTgt spid="23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7" st="7"/>
                                            </p:txEl>
                                          </p:spTgt>
                                        </p:tgtEl>
                                        <p:attrNameLst>
                                          <p:attrName>style.visibility</p:attrName>
                                        </p:attrNameLst>
                                      </p:cBhvr>
                                      <p:to>
                                        <p:strVal val="visible"/>
                                      </p:to>
                                    </p:set>
                                    <p:animEffect filter="fade" transition="in">
                                      <p:cBhvr>
                                        <p:cTn dur="1000"/>
                                        <p:tgtEl>
                                          <p:spTgt spid="239">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3"/>
          <p:cNvSpPr txBox="1"/>
          <p:nvPr/>
        </p:nvSpPr>
        <p:spPr>
          <a:xfrm>
            <a:off x="720000" y="1440000"/>
            <a:ext cx="699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400"/>
              <a:buFont typeface="Arial"/>
              <a:buNone/>
            </a:pPr>
            <a:r>
              <a:rPr b="0" i="0" lang="en-GB" sz="1600" u="none" cap="none" strike="noStrike">
                <a:solidFill>
                  <a:schemeClr val="dk1"/>
                </a:solidFill>
                <a:latin typeface="Roboto"/>
                <a:ea typeface="Roboto"/>
                <a:cs typeface="Roboto"/>
                <a:sym typeface="Roboto"/>
              </a:rPr>
              <a:t>Two men undertake to do a piece of work for Rs.200. One alone could do it in 6 days, the other In 8 days. With the assistance of a boy they finish it in 3 clays. What Is the share of the boy?</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80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Rs.25</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Rs.50</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Rs.60</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Rs.30</a:t>
            </a:r>
            <a:endParaRPr b="0" i="0" sz="1600" u="none" cap="none" strike="noStrike">
              <a:solidFill>
                <a:schemeClr val="dk1"/>
              </a:solidFill>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46" name="Google Shape;246;p23"/>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A </a:t>
            </a:r>
            <a:endParaRPr b="1" i="0" sz="1400" u="none" cap="none" strike="noStrike">
              <a:solidFill>
                <a:srgbClr val="000000"/>
              </a:solidFill>
              <a:latin typeface="Roboto"/>
              <a:ea typeface="Roboto"/>
              <a:cs typeface="Roboto"/>
              <a:sym typeface="Roboto"/>
            </a:endParaRPr>
          </a:p>
        </p:txBody>
      </p:sp>
      <p:sp>
        <p:nvSpPr>
          <p:cNvPr id="247" name="Google Shape;247;p23"/>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0" st="0"/>
                                            </p:txEl>
                                          </p:spTgt>
                                        </p:tgtEl>
                                        <p:attrNameLst>
                                          <p:attrName>style.visibility</p:attrName>
                                        </p:attrNameLst>
                                      </p:cBhvr>
                                      <p:to>
                                        <p:strVal val="visible"/>
                                      </p:to>
                                    </p:set>
                                    <p:animEffect filter="fade" transition="in">
                                      <p:cBhvr>
                                        <p:cTn dur="1000"/>
                                        <p:tgtEl>
                                          <p:spTgt spid="2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1" st="1"/>
                                            </p:txEl>
                                          </p:spTgt>
                                        </p:tgtEl>
                                        <p:attrNameLst>
                                          <p:attrName>style.visibility</p:attrName>
                                        </p:attrNameLst>
                                      </p:cBhvr>
                                      <p:to>
                                        <p:strVal val="visible"/>
                                      </p:to>
                                    </p:set>
                                    <p:animEffect filter="fade" transition="in">
                                      <p:cBhvr>
                                        <p:cTn dur="1000"/>
                                        <p:tgtEl>
                                          <p:spTgt spid="2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2" st="2"/>
                                            </p:txEl>
                                          </p:spTgt>
                                        </p:tgtEl>
                                        <p:attrNameLst>
                                          <p:attrName>style.visibility</p:attrName>
                                        </p:attrNameLst>
                                      </p:cBhvr>
                                      <p:to>
                                        <p:strVal val="visible"/>
                                      </p:to>
                                    </p:set>
                                    <p:animEffect filter="fade" transition="in">
                                      <p:cBhvr>
                                        <p:cTn dur="1000"/>
                                        <p:tgtEl>
                                          <p:spTgt spid="2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3" st="3"/>
                                            </p:txEl>
                                          </p:spTgt>
                                        </p:tgtEl>
                                        <p:attrNameLst>
                                          <p:attrName>style.visibility</p:attrName>
                                        </p:attrNameLst>
                                      </p:cBhvr>
                                      <p:to>
                                        <p:strVal val="visible"/>
                                      </p:to>
                                    </p:set>
                                    <p:animEffect filter="fade" transition="in">
                                      <p:cBhvr>
                                        <p:cTn dur="1000"/>
                                        <p:tgtEl>
                                          <p:spTgt spid="2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4" st="4"/>
                                            </p:txEl>
                                          </p:spTgt>
                                        </p:tgtEl>
                                        <p:attrNameLst>
                                          <p:attrName>style.visibility</p:attrName>
                                        </p:attrNameLst>
                                      </p:cBhvr>
                                      <p:to>
                                        <p:strVal val="visible"/>
                                      </p:to>
                                    </p:set>
                                    <p:animEffect filter="fade" transition="in">
                                      <p:cBhvr>
                                        <p:cTn dur="1000"/>
                                        <p:tgtEl>
                                          <p:spTgt spid="24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5" st="5"/>
                                            </p:txEl>
                                          </p:spTgt>
                                        </p:tgtEl>
                                        <p:attrNameLst>
                                          <p:attrName>style.visibility</p:attrName>
                                        </p:attrNameLst>
                                      </p:cBhvr>
                                      <p:to>
                                        <p:strVal val="visible"/>
                                      </p:to>
                                    </p:set>
                                    <p:animEffect filter="fade" transition="in">
                                      <p:cBhvr>
                                        <p:cTn dur="1000"/>
                                        <p:tgtEl>
                                          <p:spTgt spid="24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1000"/>
                                        <p:tgtEl>
                                          <p:spTgt spid="2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1" name="Shape 251"/>
        <p:cNvGrpSpPr/>
        <p:nvPr/>
      </p:nvGrpSpPr>
      <p:grpSpPr>
        <a:xfrm>
          <a:off x="0" y="0"/>
          <a:ext cx="0" cy="0"/>
          <a:chOff x="0" y="0"/>
          <a:chExt cx="0" cy="0"/>
        </a:xfrm>
      </p:grpSpPr>
      <p:sp>
        <p:nvSpPr>
          <p:cNvPr id="252" name="Google Shape;252;p24"/>
          <p:cNvSpPr txBox="1"/>
          <p:nvPr/>
        </p:nvSpPr>
        <p:spPr>
          <a:xfrm>
            <a:off x="720000" y="1440000"/>
            <a:ext cx="699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1st man's a days work = 3/6, 2nd man's 3 days work = 3/8.</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The boy's 3 days' work = 1 — (3/6 + 3/8) = 1/8.</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Clearly Rs.200 should be divided amongst them in the proportion of 3/6 : 3/8 : 1/8 or 4 : 3 : 1.</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1st man's share = 4/8 of Rs.200 = Rs.100.</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2nd man's share = 3/8 of Rs.200 = Rs.75.</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The boy's share = 1/8 of Rs.200 = Rs.25.</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Hence, option A is correct.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253" name="Google Shape;253;p24"/>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11</a:t>
            </a:r>
            <a:endParaRPr b="1" sz="2000">
              <a:solidFill>
                <a:srgbClr val="8182EF"/>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5"/>
          <p:cNvSpPr txBox="1"/>
          <p:nvPr/>
        </p:nvSpPr>
        <p:spPr>
          <a:xfrm>
            <a:off x="720000" y="1440000"/>
            <a:ext cx="699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400"/>
              <a:buFont typeface="Arial"/>
              <a:buNone/>
            </a:pPr>
            <a:r>
              <a:rPr b="0" i="0" lang="en-GB" sz="1600" u="none" cap="none" strike="noStrike">
                <a:solidFill>
                  <a:schemeClr val="dk1"/>
                </a:solidFill>
                <a:latin typeface="Roboto"/>
                <a:ea typeface="Roboto"/>
                <a:cs typeface="Roboto"/>
                <a:sym typeface="Roboto"/>
              </a:rPr>
              <a:t>Two coal loading machines each working 12 hours per day for 8 days handles 9 tons of coal with an efficiency of 90%. While 3 other coal loading machines at an efficiency of 80% set to handle 12 tons of coal In 6 days. Find how many hours per day each should work?</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80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12 hrs/day</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16 hrs/day</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20 hrs /day</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18 hrs/day</a:t>
            </a:r>
            <a:endParaRPr b="0" i="0" sz="1600" u="none" cap="none" strike="noStrike">
              <a:solidFill>
                <a:schemeClr val="dk1"/>
              </a:solidFill>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59" name="Google Shape;259;p25"/>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B </a:t>
            </a:r>
            <a:endParaRPr b="1" i="0" sz="1400" u="none" cap="none" strike="noStrike">
              <a:solidFill>
                <a:srgbClr val="000000"/>
              </a:solidFill>
              <a:latin typeface="Roboto"/>
              <a:ea typeface="Roboto"/>
              <a:cs typeface="Roboto"/>
              <a:sym typeface="Roboto"/>
            </a:endParaRPr>
          </a:p>
        </p:txBody>
      </p:sp>
      <p:sp>
        <p:nvSpPr>
          <p:cNvPr id="260" name="Google Shape;260;p25"/>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0" st="0"/>
                                            </p:txEl>
                                          </p:spTgt>
                                        </p:tgtEl>
                                        <p:attrNameLst>
                                          <p:attrName>style.visibility</p:attrName>
                                        </p:attrNameLst>
                                      </p:cBhvr>
                                      <p:to>
                                        <p:strVal val="visible"/>
                                      </p:to>
                                    </p:set>
                                    <p:animEffect filter="fade" transition="in">
                                      <p:cBhvr>
                                        <p:cTn dur="1000"/>
                                        <p:tgtEl>
                                          <p:spTgt spid="2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1" st="1"/>
                                            </p:txEl>
                                          </p:spTgt>
                                        </p:tgtEl>
                                        <p:attrNameLst>
                                          <p:attrName>style.visibility</p:attrName>
                                        </p:attrNameLst>
                                      </p:cBhvr>
                                      <p:to>
                                        <p:strVal val="visible"/>
                                      </p:to>
                                    </p:set>
                                    <p:animEffect filter="fade" transition="in">
                                      <p:cBhvr>
                                        <p:cTn dur="1000"/>
                                        <p:tgtEl>
                                          <p:spTgt spid="2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2" st="2"/>
                                            </p:txEl>
                                          </p:spTgt>
                                        </p:tgtEl>
                                        <p:attrNameLst>
                                          <p:attrName>style.visibility</p:attrName>
                                        </p:attrNameLst>
                                      </p:cBhvr>
                                      <p:to>
                                        <p:strVal val="visible"/>
                                      </p:to>
                                    </p:set>
                                    <p:animEffect filter="fade" transition="in">
                                      <p:cBhvr>
                                        <p:cTn dur="1000"/>
                                        <p:tgtEl>
                                          <p:spTgt spid="2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3" st="3"/>
                                            </p:txEl>
                                          </p:spTgt>
                                        </p:tgtEl>
                                        <p:attrNameLst>
                                          <p:attrName>style.visibility</p:attrName>
                                        </p:attrNameLst>
                                      </p:cBhvr>
                                      <p:to>
                                        <p:strVal val="visible"/>
                                      </p:to>
                                    </p:set>
                                    <p:animEffect filter="fade" transition="in">
                                      <p:cBhvr>
                                        <p:cTn dur="1000"/>
                                        <p:tgtEl>
                                          <p:spTgt spid="2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4" st="4"/>
                                            </p:txEl>
                                          </p:spTgt>
                                        </p:tgtEl>
                                        <p:attrNameLst>
                                          <p:attrName>style.visibility</p:attrName>
                                        </p:attrNameLst>
                                      </p:cBhvr>
                                      <p:to>
                                        <p:strVal val="visible"/>
                                      </p:to>
                                    </p:set>
                                    <p:animEffect filter="fade" transition="in">
                                      <p:cBhvr>
                                        <p:cTn dur="1000"/>
                                        <p:tgtEl>
                                          <p:spTgt spid="25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xEl>
                                              <p:pRg end="5" st="5"/>
                                            </p:txEl>
                                          </p:spTgt>
                                        </p:tgtEl>
                                        <p:attrNameLst>
                                          <p:attrName>style.visibility</p:attrName>
                                        </p:attrNameLst>
                                      </p:cBhvr>
                                      <p:to>
                                        <p:strVal val="visible"/>
                                      </p:to>
                                    </p:set>
                                    <p:animEffect filter="fade" transition="in">
                                      <p:cBhvr>
                                        <p:cTn dur="1000"/>
                                        <p:tgtEl>
                                          <p:spTgt spid="25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1000"/>
                                        <p:tgtEl>
                                          <p:spTgt spid="2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4" name="Shape 264"/>
        <p:cNvGrpSpPr/>
        <p:nvPr/>
      </p:nvGrpSpPr>
      <p:grpSpPr>
        <a:xfrm>
          <a:off x="0" y="0"/>
          <a:ext cx="0" cy="0"/>
          <a:chOff x="0" y="0"/>
          <a:chExt cx="0" cy="0"/>
        </a:xfrm>
      </p:grpSpPr>
      <p:sp>
        <p:nvSpPr>
          <p:cNvPr id="265" name="Google Shape;265;p26"/>
          <p:cNvSpPr txBox="1"/>
          <p:nvPr/>
        </p:nvSpPr>
        <p:spPr>
          <a:xfrm>
            <a:off x="720000" y="1440000"/>
            <a:ext cx="699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(N1×D1×H1×E1)/W1=(N2×D2×H2×E2)/W2 (By chain Rule).</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=(2×8×12×90)/9=(3×6×H2×80)/12⇒H2=16 hours/day</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Hence, option B is correct.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Roboto"/>
              <a:ea typeface="Roboto"/>
              <a:cs typeface="Roboto"/>
              <a:sym typeface="Roboto"/>
            </a:endParaRPr>
          </a:p>
        </p:txBody>
      </p:sp>
      <p:sp>
        <p:nvSpPr>
          <p:cNvPr id="266" name="Google Shape;266;p26"/>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0" st="0"/>
                                            </p:txEl>
                                          </p:spTgt>
                                        </p:tgtEl>
                                        <p:attrNameLst>
                                          <p:attrName>style.visibility</p:attrName>
                                        </p:attrNameLst>
                                      </p:cBhvr>
                                      <p:to>
                                        <p:strVal val="visible"/>
                                      </p:to>
                                    </p:set>
                                    <p:animEffect filter="fade" transition="in">
                                      <p:cBhvr>
                                        <p:cTn dur="1000"/>
                                        <p:tgtEl>
                                          <p:spTgt spid="2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1" st="1"/>
                                            </p:txEl>
                                          </p:spTgt>
                                        </p:tgtEl>
                                        <p:attrNameLst>
                                          <p:attrName>style.visibility</p:attrName>
                                        </p:attrNameLst>
                                      </p:cBhvr>
                                      <p:to>
                                        <p:strVal val="visible"/>
                                      </p:to>
                                    </p:set>
                                    <p:animEffect filter="fade" transition="in">
                                      <p:cBhvr>
                                        <p:cTn dur="1000"/>
                                        <p:tgtEl>
                                          <p:spTgt spid="2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2" st="2"/>
                                            </p:txEl>
                                          </p:spTgt>
                                        </p:tgtEl>
                                        <p:attrNameLst>
                                          <p:attrName>style.visibility</p:attrName>
                                        </p:attrNameLst>
                                      </p:cBhvr>
                                      <p:to>
                                        <p:strVal val="visible"/>
                                      </p:to>
                                    </p:set>
                                    <p:animEffect filter="fade" transition="in">
                                      <p:cBhvr>
                                        <p:cTn dur="1000"/>
                                        <p:tgtEl>
                                          <p:spTgt spid="2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xEl>
                                              <p:pRg end="3" st="3"/>
                                            </p:txEl>
                                          </p:spTgt>
                                        </p:tgtEl>
                                        <p:attrNameLst>
                                          <p:attrName>style.visibility</p:attrName>
                                        </p:attrNameLst>
                                      </p:cBhvr>
                                      <p:to>
                                        <p:strVal val="visible"/>
                                      </p:to>
                                    </p:set>
                                    <p:animEffect filter="fade" transition="in">
                                      <p:cBhvr>
                                        <p:cTn dur="1000"/>
                                        <p:tgtEl>
                                          <p:spTgt spid="26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7"/>
          <p:cNvSpPr txBox="1"/>
          <p:nvPr/>
        </p:nvSpPr>
        <p:spPr>
          <a:xfrm>
            <a:off x="720725" y="1437450"/>
            <a:ext cx="6991800" cy="2268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To do a certain piece of work, B would take three times as long as A and C together and C twice as long as A and B together. The three men working together can complete the work in 10 days. How long would B take by himself to complete the same piece of work?</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80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24 days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30 days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40 days</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36 days</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72" name="Google Shape;272;p27"/>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C</a:t>
            </a:r>
            <a:endParaRPr b="1" i="0" sz="1400" u="none" cap="none" strike="noStrike">
              <a:solidFill>
                <a:srgbClr val="000000"/>
              </a:solidFill>
              <a:latin typeface="Roboto"/>
              <a:ea typeface="Roboto"/>
              <a:cs typeface="Roboto"/>
              <a:sym typeface="Roboto"/>
            </a:endParaRPr>
          </a:p>
        </p:txBody>
      </p:sp>
      <p:sp>
        <p:nvSpPr>
          <p:cNvPr id="273" name="Google Shape;273;p27"/>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0" st="0"/>
                                            </p:txEl>
                                          </p:spTgt>
                                        </p:tgtEl>
                                        <p:attrNameLst>
                                          <p:attrName>style.visibility</p:attrName>
                                        </p:attrNameLst>
                                      </p:cBhvr>
                                      <p:to>
                                        <p:strVal val="visible"/>
                                      </p:to>
                                    </p:set>
                                    <p:animEffect filter="fade" transition="in">
                                      <p:cBhvr>
                                        <p:cTn dur="1000"/>
                                        <p:tgtEl>
                                          <p:spTgt spid="2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1" st="1"/>
                                            </p:txEl>
                                          </p:spTgt>
                                        </p:tgtEl>
                                        <p:attrNameLst>
                                          <p:attrName>style.visibility</p:attrName>
                                        </p:attrNameLst>
                                      </p:cBhvr>
                                      <p:to>
                                        <p:strVal val="visible"/>
                                      </p:to>
                                    </p:set>
                                    <p:animEffect filter="fade" transition="in">
                                      <p:cBhvr>
                                        <p:cTn dur="1000"/>
                                        <p:tgtEl>
                                          <p:spTgt spid="2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2" st="2"/>
                                            </p:txEl>
                                          </p:spTgt>
                                        </p:tgtEl>
                                        <p:attrNameLst>
                                          <p:attrName>style.visibility</p:attrName>
                                        </p:attrNameLst>
                                      </p:cBhvr>
                                      <p:to>
                                        <p:strVal val="visible"/>
                                      </p:to>
                                    </p:set>
                                    <p:animEffect filter="fade" transition="in">
                                      <p:cBhvr>
                                        <p:cTn dur="1000"/>
                                        <p:tgtEl>
                                          <p:spTgt spid="27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3" st="3"/>
                                            </p:txEl>
                                          </p:spTgt>
                                        </p:tgtEl>
                                        <p:attrNameLst>
                                          <p:attrName>style.visibility</p:attrName>
                                        </p:attrNameLst>
                                      </p:cBhvr>
                                      <p:to>
                                        <p:strVal val="visible"/>
                                      </p:to>
                                    </p:set>
                                    <p:animEffect filter="fade" transition="in">
                                      <p:cBhvr>
                                        <p:cTn dur="1000"/>
                                        <p:tgtEl>
                                          <p:spTgt spid="27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4" st="4"/>
                                            </p:txEl>
                                          </p:spTgt>
                                        </p:tgtEl>
                                        <p:attrNameLst>
                                          <p:attrName>style.visibility</p:attrName>
                                        </p:attrNameLst>
                                      </p:cBhvr>
                                      <p:to>
                                        <p:strVal val="visible"/>
                                      </p:to>
                                    </p:set>
                                    <p:animEffect filter="fade" transition="in">
                                      <p:cBhvr>
                                        <p:cTn dur="1000"/>
                                        <p:tgtEl>
                                          <p:spTgt spid="27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5" st="5"/>
                                            </p:txEl>
                                          </p:spTgt>
                                        </p:tgtEl>
                                        <p:attrNameLst>
                                          <p:attrName>style.visibility</p:attrName>
                                        </p:attrNameLst>
                                      </p:cBhvr>
                                      <p:to>
                                        <p:strVal val="visible"/>
                                      </p:to>
                                    </p:set>
                                    <p:animEffect filter="fade" transition="in">
                                      <p:cBhvr>
                                        <p:cTn dur="1000"/>
                                        <p:tgtEl>
                                          <p:spTgt spid="27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1000"/>
                                        <p:tgtEl>
                                          <p:spTgt spid="2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7" name="Shape 277"/>
        <p:cNvGrpSpPr/>
        <p:nvPr/>
      </p:nvGrpSpPr>
      <p:grpSpPr>
        <a:xfrm>
          <a:off x="0" y="0"/>
          <a:ext cx="0" cy="0"/>
          <a:chOff x="0" y="0"/>
          <a:chExt cx="0" cy="0"/>
        </a:xfrm>
      </p:grpSpPr>
      <p:sp>
        <p:nvSpPr>
          <p:cNvPr id="278" name="Google Shape;278;p28"/>
          <p:cNvSpPr txBox="1"/>
          <p:nvPr/>
        </p:nvSpPr>
        <p:spPr>
          <a:xfrm>
            <a:off x="720000" y="1440000"/>
            <a:ext cx="699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By the question, 3 times B's daily work = (A + C)'s daily work.</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Add B's daily work to both sides.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=&gt; 4 times B's daily work = (A + B + C)'s daily work = 1/10.</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=&gt;B's daily work = 1/40 .... (1)</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Also, 2 times C's daily work = (A + B)'s daily work.</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Add C's daily work to both sides.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=&gt;3 times C's daily work = (A + B + C)'s daily work = 1/10.</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=&gt;C's daily work = 1/30 .... (2)</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Now A's daily work = 1/10 — (1/40 + 1/30) = 1/24 ...(3)</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=&gt;A, B and C can do the work in 24, 40 and 30 days respectively.</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Hence, option C is correct.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279" name="Google Shape;279;p28"/>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0" st="0"/>
                                            </p:txEl>
                                          </p:spTgt>
                                        </p:tgtEl>
                                        <p:attrNameLst>
                                          <p:attrName>style.visibility</p:attrName>
                                        </p:attrNameLst>
                                      </p:cBhvr>
                                      <p:to>
                                        <p:strVal val="visible"/>
                                      </p:to>
                                    </p:set>
                                    <p:animEffect filter="fade" transition="in">
                                      <p:cBhvr>
                                        <p:cTn dur="1000"/>
                                        <p:tgtEl>
                                          <p:spTgt spid="2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1" st="1"/>
                                            </p:txEl>
                                          </p:spTgt>
                                        </p:tgtEl>
                                        <p:attrNameLst>
                                          <p:attrName>style.visibility</p:attrName>
                                        </p:attrNameLst>
                                      </p:cBhvr>
                                      <p:to>
                                        <p:strVal val="visible"/>
                                      </p:to>
                                    </p:set>
                                    <p:animEffect filter="fade" transition="in">
                                      <p:cBhvr>
                                        <p:cTn dur="1000"/>
                                        <p:tgtEl>
                                          <p:spTgt spid="2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2" st="2"/>
                                            </p:txEl>
                                          </p:spTgt>
                                        </p:tgtEl>
                                        <p:attrNameLst>
                                          <p:attrName>style.visibility</p:attrName>
                                        </p:attrNameLst>
                                      </p:cBhvr>
                                      <p:to>
                                        <p:strVal val="visible"/>
                                      </p:to>
                                    </p:set>
                                    <p:animEffect filter="fade" transition="in">
                                      <p:cBhvr>
                                        <p:cTn dur="1000"/>
                                        <p:tgtEl>
                                          <p:spTgt spid="27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3" st="3"/>
                                            </p:txEl>
                                          </p:spTgt>
                                        </p:tgtEl>
                                        <p:attrNameLst>
                                          <p:attrName>style.visibility</p:attrName>
                                        </p:attrNameLst>
                                      </p:cBhvr>
                                      <p:to>
                                        <p:strVal val="visible"/>
                                      </p:to>
                                    </p:set>
                                    <p:animEffect filter="fade" transition="in">
                                      <p:cBhvr>
                                        <p:cTn dur="1000"/>
                                        <p:tgtEl>
                                          <p:spTgt spid="27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4" st="4"/>
                                            </p:txEl>
                                          </p:spTgt>
                                        </p:tgtEl>
                                        <p:attrNameLst>
                                          <p:attrName>style.visibility</p:attrName>
                                        </p:attrNameLst>
                                      </p:cBhvr>
                                      <p:to>
                                        <p:strVal val="visible"/>
                                      </p:to>
                                    </p:set>
                                    <p:animEffect filter="fade" transition="in">
                                      <p:cBhvr>
                                        <p:cTn dur="1000"/>
                                        <p:tgtEl>
                                          <p:spTgt spid="27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5" st="5"/>
                                            </p:txEl>
                                          </p:spTgt>
                                        </p:tgtEl>
                                        <p:attrNameLst>
                                          <p:attrName>style.visibility</p:attrName>
                                        </p:attrNameLst>
                                      </p:cBhvr>
                                      <p:to>
                                        <p:strVal val="visible"/>
                                      </p:to>
                                    </p:set>
                                    <p:animEffect filter="fade" transition="in">
                                      <p:cBhvr>
                                        <p:cTn dur="1000"/>
                                        <p:tgtEl>
                                          <p:spTgt spid="27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6" st="6"/>
                                            </p:txEl>
                                          </p:spTgt>
                                        </p:tgtEl>
                                        <p:attrNameLst>
                                          <p:attrName>style.visibility</p:attrName>
                                        </p:attrNameLst>
                                      </p:cBhvr>
                                      <p:to>
                                        <p:strVal val="visible"/>
                                      </p:to>
                                    </p:set>
                                    <p:animEffect filter="fade" transition="in">
                                      <p:cBhvr>
                                        <p:cTn dur="1000"/>
                                        <p:tgtEl>
                                          <p:spTgt spid="27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7" st="7"/>
                                            </p:txEl>
                                          </p:spTgt>
                                        </p:tgtEl>
                                        <p:attrNameLst>
                                          <p:attrName>style.visibility</p:attrName>
                                        </p:attrNameLst>
                                      </p:cBhvr>
                                      <p:to>
                                        <p:strVal val="visible"/>
                                      </p:to>
                                    </p:set>
                                    <p:animEffect filter="fade" transition="in">
                                      <p:cBhvr>
                                        <p:cTn dur="1000"/>
                                        <p:tgtEl>
                                          <p:spTgt spid="27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8" st="8"/>
                                            </p:txEl>
                                          </p:spTgt>
                                        </p:tgtEl>
                                        <p:attrNameLst>
                                          <p:attrName>style.visibility</p:attrName>
                                        </p:attrNameLst>
                                      </p:cBhvr>
                                      <p:to>
                                        <p:strVal val="visible"/>
                                      </p:to>
                                    </p:set>
                                    <p:animEffect filter="fade" transition="in">
                                      <p:cBhvr>
                                        <p:cTn dur="1000"/>
                                        <p:tgtEl>
                                          <p:spTgt spid="27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9" st="9"/>
                                            </p:txEl>
                                          </p:spTgt>
                                        </p:tgtEl>
                                        <p:attrNameLst>
                                          <p:attrName>style.visibility</p:attrName>
                                        </p:attrNameLst>
                                      </p:cBhvr>
                                      <p:to>
                                        <p:strVal val="visible"/>
                                      </p:to>
                                    </p:set>
                                    <p:animEffect filter="fade" transition="in">
                                      <p:cBhvr>
                                        <p:cTn dur="1000"/>
                                        <p:tgtEl>
                                          <p:spTgt spid="27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10" st="10"/>
                                            </p:txEl>
                                          </p:spTgt>
                                        </p:tgtEl>
                                        <p:attrNameLst>
                                          <p:attrName>style.visibility</p:attrName>
                                        </p:attrNameLst>
                                      </p:cBhvr>
                                      <p:to>
                                        <p:strVal val="visible"/>
                                      </p:to>
                                    </p:set>
                                    <p:animEffect filter="fade" transition="in">
                                      <p:cBhvr>
                                        <p:cTn dur="1000"/>
                                        <p:tgtEl>
                                          <p:spTgt spid="27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xEl>
                                              <p:pRg end="11" st="11"/>
                                            </p:txEl>
                                          </p:spTgt>
                                        </p:tgtEl>
                                        <p:attrNameLst>
                                          <p:attrName>style.visibility</p:attrName>
                                        </p:attrNameLst>
                                      </p:cBhvr>
                                      <p:to>
                                        <p:strVal val="visible"/>
                                      </p:to>
                                    </p:set>
                                    <p:animEffect filter="fade" transition="in">
                                      <p:cBhvr>
                                        <p:cTn dur="1000"/>
                                        <p:tgtEl>
                                          <p:spTgt spid="278">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1"/>
          <p:cNvSpPr txBox="1"/>
          <p:nvPr/>
        </p:nvSpPr>
        <p:spPr>
          <a:xfrm>
            <a:off x="720000" y="1479400"/>
            <a:ext cx="6991800" cy="25959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400"/>
              <a:buFont typeface="Arial"/>
              <a:buNone/>
            </a:pPr>
            <a:r>
              <a:rPr b="0" i="0" lang="en-GB" sz="1600" u="none" cap="none" strike="noStrike">
                <a:solidFill>
                  <a:schemeClr val="dk1"/>
                </a:solidFill>
                <a:latin typeface="Roboto"/>
                <a:ea typeface="Roboto"/>
                <a:cs typeface="Roboto"/>
                <a:sym typeface="Roboto"/>
              </a:rPr>
              <a:t>Three factories of Conglomerate Corporation are capable of manufacturing hubcaps. Two of the factories can each produce 100,000 hubcaps in 15 days. The third factory can produce hubcaps 30% faster. Approximately how many days would it take to produce a million hubcaps with all three factories working simultaneously?</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80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38</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42</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46</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50</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85" name="Google Shape;285;p31"/>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C</a:t>
            </a:r>
            <a:endParaRPr b="1" i="0" sz="1400" u="none" cap="none" strike="noStrike">
              <a:solidFill>
                <a:srgbClr val="000000"/>
              </a:solidFill>
              <a:latin typeface="Roboto"/>
              <a:ea typeface="Roboto"/>
              <a:cs typeface="Roboto"/>
              <a:sym typeface="Roboto"/>
            </a:endParaRPr>
          </a:p>
        </p:txBody>
      </p:sp>
      <p:sp>
        <p:nvSpPr>
          <p:cNvPr id="286" name="Google Shape;286;p31"/>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xEl>
                                              <p:pRg end="0" st="0"/>
                                            </p:txEl>
                                          </p:spTgt>
                                        </p:tgtEl>
                                        <p:attrNameLst>
                                          <p:attrName>style.visibility</p:attrName>
                                        </p:attrNameLst>
                                      </p:cBhvr>
                                      <p:to>
                                        <p:strVal val="visible"/>
                                      </p:to>
                                    </p:set>
                                    <p:animEffect filter="fade" transition="in">
                                      <p:cBhvr>
                                        <p:cTn dur="1000"/>
                                        <p:tgtEl>
                                          <p:spTgt spid="2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xEl>
                                              <p:pRg end="1" st="1"/>
                                            </p:txEl>
                                          </p:spTgt>
                                        </p:tgtEl>
                                        <p:attrNameLst>
                                          <p:attrName>style.visibility</p:attrName>
                                        </p:attrNameLst>
                                      </p:cBhvr>
                                      <p:to>
                                        <p:strVal val="visible"/>
                                      </p:to>
                                    </p:set>
                                    <p:animEffect filter="fade" transition="in">
                                      <p:cBhvr>
                                        <p:cTn dur="1000"/>
                                        <p:tgtEl>
                                          <p:spTgt spid="2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xEl>
                                              <p:pRg end="2" st="2"/>
                                            </p:txEl>
                                          </p:spTgt>
                                        </p:tgtEl>
                                        <p:attrNameLst>
                                          <p:attrName>style.visibility</p:attrName>
                                        </p:attrNameLst>
                                      </p:cBhvr>
                                      <p:to>
                                        <p:strVal val="visible"/>
                                      </p:to>
                                    </p:set>
                                    <p:animEffect filter="fade" transition="in">
                                      <p:cBhvr>
                                        <p:cTn dur="1000"/>
                                        <p:tgtEl>
                                          <p:spTgt spid="2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xEl>
                                              <p:pRg end="3" st="3"/>
                                            </p:txEl>
                                          </p:spTgt>
                                        </p:tgtEl>
                                        <p:attrNameLst>
                                          <p:attrName>style.visibility</p:attrName>
                                        </p:attrNameLst>
                                      </p:cBhvr>
                                      <p:to>
                                        <p:strVal val="visible"/>
                                      </p:to>
                                    </p:set>
                                    <p:animEffect filter="fade" transition="in">
                                      <p:cBhvr>
                                        <p:cTn dur="1000"/>
                                        <p:tgtEl>
                                          <p:spTgt spid="28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xEl>
                                              <p:pRg end="4" st="4"/>
                                            </p:txEl>
                                          </p:spTgt>
                                        </p:tgtEl>
                                        <p:attrNameLst>
                                          <p:attrName>style.visibility</p:attrName>
                                        </p:attrNameLst>
                                      </p:cBhvr>
                                      <p:to>
                                        <p:strVal val="visible"/>
                                      </p:to>
                                    </p:set>
                                    <p:animEffect filter="fade" transition="in">
                                      <p:cBhvr>
                                        <p:cTn dur="1000"/>
                                        <p:tgtEl>
                                          <p:spTgt spid="28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xEl>
                                              <p:pRg end="5" st="5"/>
                                            </p:txEl>
                                          </p:spTgt>
                                        </p:tgtEl>
                                        <p:attrNameLst>
                                          <p:attrName>style.visibility</p:attrName>
                                        </p:attrNameLst>
                                      </p:cBhvr>
                                      <p:to>
                                        <p:strVal val="visible"/>
                                      </p:to>
                                    </p:set>
                                    <p:animEffect filter="fade" transition="in">
                                      <p:cBhvr>
                                        <p:cTn dur="1000"/>
                                        <p:tgtEl>
                                          <p:spTgt spid="28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1000"/>
                                        <p:tgtEl>
                                          <p:spTgt spid="2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0" name="Shape 290"/>
        <p:cNvGrpSpPr/>
        <p:nvPr/>
      </p:nvGrpSpPr>
      <p:grpSpPr>
        <a:xfrm>
          <a:off x="0" y="0"/>
          <a:ext cx="0" cy="0"/>
          <a:chOff x="0" y="0"/>
          <a:chExt cx="0" cy="0"/>
        </a:xfrm>
      </p:grpSpPr>
      <p:sp>
        <p:nvSpPr>
          <p:cNvPr id="291" name="Google Shape;291;p32"/>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92" name="Google Shape;292;p32"/>
          <p:cNvSpPr txBox="1"/>
          <p:nvPr/>
        </p:nvSpPr>
        <p:spPr>
          <a:xfrm>
            <a:off x="720000" y="1225975"/>
            <a:ext cx="6991800" cy="28491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since third factory is 30% faster , thus it will create 130,000 hubcaps in 15 days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in 15 days total number of hubcaps made by all three will be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100,000+100,000+130,000 = 330,000</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in 30 days: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330,000+330,000 = 660,000</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in 45 days: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660,000+330,000 = 990,000</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now only 10,000 more hubcaps are required , which will take 1 day</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thus in all 46 days.</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400" u="none" cap="none" strike="noStrike">
                <a:solidFill>
                  <a:schemeClr val="dk1"/>
                </a:solidFill>
                <a:latin typeface="Roboto"/>
                <a:ea typeface="Roboto"/>
                <a:cs typeface="Roboto"/>
                <a:sym typeface="Roboto"/>
              </a:rPr>
              <a:t>Hence, option C is correct.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Roboto"/>
              <a:ea typeface="Roboto"/>
              <a:cs typeface="Roboto"/>
              <a:sym typeface="Roboto"/>
            </a:endParaRPr>
          </a:p>
        </p:txBody>
      </p:sp>
      <p:sp>
        <p:nvSpPr>
          <p:cNvPr id="293" name="Google Shape;293;p32"/>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1000"/>
                                        <p:tgtEl>
                                          <p:spTgt spid="2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2ee1645c92c_0_0"/>
          <p:cNvSpPr txBox="1"/>
          <p:nvPr/>
        </p:nvSpPr>
        <p:spPr>
          <a:xfrm>
            <a:off x="720725" y="1440550"/>
            <a:ext cx="6991800" cy="25959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600">
                <a:solidFill>
                  <a:schemeClr val="dk1"/>
                </a:solidFill>
                <a:latin typeface="Roboto"/>
                <a:ea typeface="Roboto"/>
                <a:cs typeface="Roboto"/>
                <a:sym typeface="Roboto"/>
              </a:rPr>
              <a:t>A can finish a work in 18 days and B can do the same work in 15 days. B worked for 10 days and left the job. In how many days, A alone can finish the remaining work?    </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latin typeface="Roboto"/>
                <a:ea typeface="Roboto"/>
                <a:cs typeface="Roboto"/>
                <a:sym typeface="Roboto"/>
              </a:rPr>
              <a:t>5</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latin typeface="Roboto"/>
                <a:ea typeface="Roboto"/>
                <a:cs typeface="Roboto"/>
                <a:sym typeface="Roboto"/>
              </a:rPr>
              <a:t>6</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latin typeface="Roboto"/>
                <a:ea typeface="Roboto"/>
                <a:cs typeface="Roboto"/>
                <a:sym typeface="Roboto"/>
              </a:rPr>
              <a:t>7 </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latin typeface="Roboto"/>
                <a:ea typeface="Roboto"/>
                <a:cs typeface="Roboto"/>
                <a:sym typeface="Roboto"/>
              </a:rPr>
              <a:t>8</a:t>
            </a:r>
            <a:endParaRPr sz="1600">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sz="1600">
              <a:solidFill>
                <a:schemeClr val="dk1"/>
              </a:solidFill>
              <a:latin typeface="Roboto"/>
              <a:ea typeface="Roboto"/>
              <a:cs typeface="Roboto"/>
              <a:sym typeface="Roboto"/>
            </a:endParaRPr>
          </a:p>
        </p:txBody>
      </p:sp>
      <p:sp>
        <p:nvSpPr>
          <p:cNvPr id="299" name="Google Shape;299;g2ee1645c92c_0_0"/>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a:t>
            </a:r>
            <a:r>
              <a:rPr b="1" lang="en-GB">
                <a:latin typeface="Roboto"/>
                <a:ea typeface="Roboto"/>
                <a:cs typeface="Roboto"/>
                <a:sym typeface="Roboto"/>
              </a:rPr>
              <a:t>B</a:t>
            </a:r>
            <a:endParaRPr b="1" i="0" sz="1400" u="none" cap="none" strike="noStrike">
              <a:solidFill>
                <a:srgbClr val="000000"/>
              </a:solidFill>
              <a:latin typeface="Roboto"/>
              <a:ea typeface="Roboto"/>
              <a:cs typeface="Roboto"/>
              <a:sym typeface="Roboto"/>
            </a:endParaRPr>
          </a:p>
        </p:txBody>
      </p:sp>
      <p:sp>
        <p:nvSpPr>
          <p:cNvPr id="300" name="Google Shape;300;g2ee1645c92c_0_0"/>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xEl>
                                              <p:pRg end="0" st="0"/>
                                            </p:txEl>
                                          </p:spTgt>
                                        </p:tgtEl>
                                        <p:attrNameLst>
                                          <p:attrName>style.visibility</p:attrName>
                                        </p:attrNameLst>
                                      </p:cBhvr>
                                      <p:to>
                                        <p:strVal val="visible"/>
                                      </p:to>
                                    </p:set>
                                    <p:animEffect filter="fade" transition="in">
                                      <p:cBhvr>
                                        <p:cTn dur="1000"/>
                                        <p:tgtEl>
                                          <p:spTgt spid="2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xEl>
                                              <p:pRg end="1" st="1"/>
                                            </p:txEl>
                                          </p:spTgt>
                                        </p:tgtEl>
                                        <p:attrNameLst>
                                          <p:attrName>style.visibility</p:attrName>
                                        </p:attrNameLst>
                                      </p:cBhvr>
                                      <p:to>
                                        <p:strVal val="visible"/>
                                      </p:to>
                                    </p:set>
                                    <p:animEffect filter="fade" transition="in">
                                      <p:cBhvr>
                                        <p:cTn dur="1000"/>
                                        <p:tgtEl>
                                          <p:spTgt spid="2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xEl>
                                              <p:pRg end="2" st="2"/>
                                            </p:txEl>
                                          </p:spTgt>
                                        </p:tgtEl>
                                        <p:attrNameLst>
                                          <p:attrName>style.visibility</p:attrName>
                                        </p:attrNameLst>
                                      </p:cBhvr>
                                      <p:to>
                                        <p:strVal val="visible"/>
                                      </p:to>
                                    </p:set>
                                    <p:animEffect filter="fade" transition="in">
                                      <p:cBhvr>
                                        <p:cTn dur="1000"/>
                                        <p:tgtEl>
                                          <p:spTgt spid="2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xEl>
                                              <p:pRg end="3" st="3"/>
                                            </p:txEl>
                                          </p:spTgt>
                                        </p:tgtEl>
                                        <p:attrNameLst>
                                          <p:attrName>style.visibility</p:attrName>
                                        </p:attrNameLst>
                                      </p:cBhvr>
                                      <p:to>
                                        <p:strVal val="visible"/>
                                      </p:to>
                                    </p:set>
                                    <p:animEffect filter="fade" transition="in">
                                      <p:cBhvr>
                                        <p:cTn dur="1000"/>
                                        <p:tgtEl>
                                          <p:spTgt spid="29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xEl>
                                              <p:pRg end="4" st="4"/>
                                            </p:txEl>
                                          </p:spTgt>
                                        </p:tgtEl>
                                        <p:attrNameLst>
                                          <p:attrName>style.visibility</p:attrName>
                                        </p:attrNameLst>
                                      </p:cBhvr>
                                      <p:to>
                                        <p:strVal val="visible"/>
                                      </p:to>
                                    </p:set>
                                    <p:animEffect filter="fade" transition="in">
                                      <p:cBhvr>
                                        <p:cTn dur="1000"/>
                                        <p:tgtEl>
                                          <p:spTgt spid="29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xEl>
                                              <p:pRg end="5" st="5"/>
                                            </p:txEl>
                                          </p:spTgt>
                                        </p:tgtEl>
                                        <p:attrNameLst>
                                          <p:attrName>style.visibility</p:attrName>
                                        </p:attrNameLst>
                                      </p:cBhvr>
                                      <p:to>
                                        <p:strVal val="visible"/>
                                      </p:to>
                                    </p:set>
                                    <p:animEffect filter="fade" transition="in">
                                      <p:cBhvr>
                                        <p:cTn dur="1000"/>
                                        <p:tgtEl>
                                          <p:spTgt spid="29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1000"/>
                                        <p:tgtEl>
                                          <p:spTgt spid="2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4" name="Shape 304"/>
        <p:cNvGrpSpPr/>
        <p:nvPr/>
      </p:nvGrpSpPr>
      <p:grpSpPr>
        <a:xfrm>
          <a:off x="0" y="0"/>
          <a:ext cx="0" cy="0"/>
          <a:chOff x="0" y="0"/>
          <a:chExt cx="0" cy="0"/>
        </a:xfrm>
      </p:grpSpPr>
      <p:sp>
        <p:nvSpPr>
          <p:cNvPr id="305" name="Google Shape;305;g2ee1645c92c_0_6"/>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306" name="Google Shape;306;g2ee1645c92c_0_6"/>
          <p:cNvSpPr txBox="1"/>
          <p:nvPr/>
        </p:nvSpPr>
        <p:spPr>
          <a:xfrm>
            <a:off x="720000" y="1225975"/>
            <a:ext cx="6991800" cy="28491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Roboto"/>
              <a:ea typeface="Roboto"/>
              <a:cs typeface="Roboto"/>
              <a:sym typeface="Roboto"/>
            </a:endParaRPr>
          </a:p>
        </p:txBody>
      </p:sp>
      <p:pic>
        <p:nvPicPr>
          <p:cNvPr id="307" name="Google Shape;307;g2ee1645c92c_0_6"/>
          <p:cNvPicPr preferRelativeResize="0"/>
          <p:nvPr/>
        </p:nvPicPr>
        <p:blipFill>
          <a:blip r:embed="rId3">
            <a:alphaModFix/>
          </a:blip>
          <a:stretch>
            <a:fillRect/>
          </a:stretch>
        </p:blipFill>
        <p:spPr>
          <a:xfrm>
            <a:off x="720000" y="1671650"/>
            <a:ext cx="5383400" cy="1800225"/>
          </a:xfrm>
          <a:prstGeom prst="rect">
            <a:avLst/>
          </a:prstGeom>
          <a:noFill/>
          <a:ln>
            <a:noFill/>
          </a:ln>
        </p:spPr>
      </p:pic>
      <p:sp>
        <p:nvSpPr>
          <p:cNvPr id="308" name="Google Shape;308;g2ee1645c92c_0_6"/>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1000"/>
                                        <p:tgtEl>
                                          <p:spTgt spid="3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2ee1645c92c_0_107"/>
          <p:cNvSpPr txBox="1"/>
          <p:nvPr/>
        </p:nvSpPr>
        <p:spPr>
          <a:xfrm>
            <a:off x="720000" y="1479400"/>
            <a:ext cx="6991800" cy="25959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GB" sz="1600">
                <a:solidFill>
                  <a:schemeClr val="dk1"/>
                </a:solidFill>
                <a:highlight>
                  <a:schemeClr val="lt1"/>
                </a:highlight>
                <a:latin typeface="Roboto"/>
                <a:ea typeface="Roboto"/>
                <a:cs typeface="Roboto"/>
                <a:sym typeface="Roboto"/>
              </a:rPr>
              <a:t>Two pipes A and B independently can fill a tank in 20 hours and 25 hours. Both are opened together for 5 hours after which the second pipe is turned off. What is the time taken by first pipe alone to fill the remaining portion of the tank?</a:t>
            </a:r>
            <a:endParaRPr sz="1600">
              <a:solidFill>
                <a:schemeClr val="dk1"/>
              </a:solidFill>
              <a:highlight>
                <a:schemeClr val="lt1"/>
              </a:highlight>
              <a:latin typeface="Roboto"/>
              <a:ea typeface="Roboto"/>
              <a:cs typeface="Roboto"/>
              <a:sym typeface="Roboto"/>
            </a:endParaRPr>
          </a:p>
          <a:p>
            <a:pPr indent="-330200" lvl="0" marL="457200" rtl="0" algn="l">
              <a:lnSpc>
                <a:spcPct val="100000"/>
              </a:lnSpc>
              <a:spcBef>
                <a:spcPts val="600"/>
              </a:spcBef>
              <a:spcAft>
                <a:spcPts val="0"/>
              </a:spcAft>
              <a:buClr>
                <a:schemeClr val="dk1"/>
              </a:buClr>
              <a:buSzPts val="1600"/>
              <a:buFont typeface="Roboto"/>
              <a:buAutoNum type="alphaUcPeriod"/>
            </a:pPr>
            <a:r>
              <a:rPr lang="en-GB" sz="1600">
                <a:solidFill>
                  <a:schemeClr val="dk1"/>
                </a:solidFill>
                <a:highlight>
                  <a:schemeClr val="lt1"/>
                </a:highlight>
                <a:latin typeface="Roboto"/>
                <a:ea typeface="Roboto"/>
                <a:cs typeface="Roboto"/>
                <a:sym typeface="Roboto"/>
              </a:rPr>
              <a:t>11 hours</a:t>
            </a:r>
            <a:endParaRPr sz="1600">
              <a:solidFill>
                <a:schemeClr val="dk1"/>
              </a:solidFill>
              <a:highlight>
                <a:schemeClr val="lt1"/>
              </a:highlight>
              <a:latin typeface="Roboto"/>
              <a:ea typeface="Roboto"/>
              <a:cs typeface="Roboto"/>
              <a:sym typeface="Roboto"/>
            </a:endParaRPr>
          </a:p>
          <a:p>
            <a:pPr indent="-330200" lvl="0" marL="457200" rtl="0" algn="l">
              <a:lnSpc>
                <a:spcPct val="100000"/>
              </a:lnSpc>
              <a:spcBef>
                <a:spcPts val="0"/>
              </a:spcBef>
              <a:spcAft>
                <a:spcPts val="0"/>
              </a:spcAft>
              <a:buClr>
                <a:schemeClr val="dk1"/>
              </a:buClr>
              <a:buSzPts val="1600"/>
              <a:buFont typeface="Roboto"/>
              <a:buAutoNum type="alphaUcPeriod"/>
            </a:pPr>
            <a:r>
              <a:rPr lang="en-GB" sz="1600">
                <a:solidFill>
                  <a:schemeClr val="dk1"/>
                </a:solidFill>
                <a:highlight>
                  <a:schemeClr val="lt1"/>
                </a:highlight>
                <a:latin typeface="Roboto"/>
                <a:ea typeface="Roboto"/>
                <a:cs typeface="Roboto"/>
                <a:sym typeface="Roboto"/>
              </a:rPr>
              <a:t>22 hours</a:t>
            </a:r>
            <a:endParaRPr sz="1600">
              <a:solidFill>
                <a:schemeClr val="dk1"/>
              </a:solidFill>
              <a:highlight>
                <a:schemeClr val="lt1"/>
              </a:highlight>
              <a:latin typeface="Roboto"/>
              <a:ea typeface="Roboto"/>
              <a:cs typeface="Roboto"/>
              <a:sym typeface="Roboto"/>
            </a:endParaRPr>
          </a:p>
          <a:p>
            <a:pPr indent="-330200" lvl="0" marL="457200" rtl="0" algn="l">
              <a:lnSpc>
                <a:spcPct val="100000"/>
              </a:lnSpc>
              <a:spcBef>
                <a:spcPts val="0"/>
              </a:spcBef>
              <a:spcAft>
                <a:spcPts val="0"/>
              </a:spcAft>
              <a:buClr>
                <a:schemeClr val="dk1"/>
              </a:buClr>
              <a:buSzPts val="1600"/>
              <a:buFont typeface="Roboto"/>
              <a:buAutoNum type="alphaUcPeriod"/>
            </a:pPr>
            <a:r>
              <a:rPr lang="en-GB" sz="1600">
                <a:solidFill>
                  <a:schemeClr val="dk1"/>
                </a:solidFill>
                <a:highlight>
                  <a:schemeClr val="lt1"/>
                </a:highlight>
                <a:latin typeface="Roboto"/>
                <a:ea typeface="Roboto"/>
                <a:cs typeface="Roboto"/>
                <a:sym typeface="Roboto"/>
              </a:rPr>
              <a:t>55 hours</a:t>
            </a:r>
            <a:endParaRPr sz="1600">
              <a:solidFill>
                <a:schemeClr val="dk1"/>
              </a:solidFill>
              <a:highlight>
                <a:schemeClr val="lt1"/>
              </a:highlight>
              <a:latin typeface="Roboto"/>
              <a:ea typeface="Roboto"/>
              <a:cs typeface="Roboto"/>
              <a:sym typeface="Roboto"/>
            </a:endParaRPr>
          </a:p>
          <a:p>
            <a:pPr indent="-330200" lvl="0" marL="457200" rtl="0" algn="l">
              <a:lnSpc>
                <a:spcPct val="100000"/>
              </a:lnSpc>
              <a:spcBef>
                <a:spcPts val="0"/>
              </a:spcBef>
              <a:spcAft>
                <a:spcPts val="0"/>
              </a:spcAft>
              <a:buClr>
                <a:schemeClr val="dk1"/>
              </a:buClr>
              <a:buSzPts val="1600"/>
              <a:buFont typeface="Roboto"/>
              <a:buAutoNum type="alphaUcPeriod"/>
            </a:pPr>
            <a:r>
              <a:rPr lang="en-GB" sz="1600">
                <a:solidFill>
                  <a:schemeClr val="dk1"/>
                </a:solidFill>
                <a:highlight>
                  <a:schemeClr val="lt1"/>
                </a:highlight>
                <a:latin typeface="Roboto"/>
                <a:ea typeface="Roboto"/>
                <a:cs typeface="Roboto"/>
                <a:sym typeface="Roboto"/>
              </a:rPr>
              <a:t>9 hours</a:t>
            </a:r>
            <a:endParaRPr sz="1600">
              <a:solidFill>
                <a:schemeClr val="dk1"/>
              </a:solidFill>
              <a:latin typeface="Roboto"/>
              <a:ea typeface="Roboto"/>
              <a:cs typeface="Roboto"/>
              <a:sym typeface="Roboto"/>
            </a:endParaRPr>
          </a:p>
        </p:txBody>
      </p:sp>
      <p:sp>
        <p:nvSpPr>
          <p:cNvPr id="314" name="Google Shape;314;g2ee1645c92c_0_107"/>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Answer: </a:t>
            </a:r>
            <a:r>
              <a:rPr b="1" lang="en-GB">
                <a:latin typeface="Roboto"/>
                <a:ea typeface="Roboto"/>
                <a:cs typeface="Roboto"/>
                <a:sym typeface="Roboto"/>
              </a:rPr>
              <a:t>B</a:t>
            </a:r>
            <a:endParaRPr b="1" i="0" sz="1400" u="none" cap="none" strike="noStrike">
              <a:solidFill>
                <a:srgbClr val="000000"/>
              </a:solidFill>
              <a:latin typeface="Roboto"/>
              <a:ea typeface="Roboto"/>
              <a:cs typeface="Roboto"/>
              <a:sym typeface="Roboto"/>
            </a:endParaRPr>
          </a:p>
        </p:txBody>
      </p:sp>
      <p:sp>
        <p:nvSpPr>
          <p:cNvPr id="315" name="Google Shape;315;g2ee1645c92c_0_107"/>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a:t>
            </a:r>
            <a:r>
              <a:rPr b="1" lang="en-GB" sz="2000">
                <a:solidFill>
                  <a:srgbClr val="8182EF"/>
                </a:solidFill>
                <a:latin typeface="Roboto"/>
                <a:ea typeface="Roboto"/>
                <a:cs typeface="Roboto"/>
                <a:sym typeface="Roboto"/>
              </a:rPr>
              <a:t>: 16</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0" st="0"/>
                                            </p:txEl>
                                          </p:spTgt>
                                        </p:tgtEl>
                                        <p:attrNameLst>
                                          <p:attrName>style.visibility</p:attrName>
                                        </p:attrNameLst>
                                      </p:cBhvr>
                                      <p:to>
                                        <p:strVal val="visible"/>
                                      </p:to>
                                    </p:set>
                                    <p:animEffect filter="fade" transition="in">
                                      <p:cBhvr>
                                        <p:cTn dur="1000"/>
                                        <p:tgtEl>
                                          <p:spTgt spid="3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1" st="1"/>
                                            </p:txEl>
                                          </p:spTgt>
                                        </p:tgtEl>
                                        <p:attrNameLst>
                                          <p:attrName>style.visibility</p:attrName>
                                        </p:attrNameLst>
                                      </p:cBhvr>
                                      <p:to>
                                        <p:strVal val="visible"/>
                                      </p:to>
                                    </p:set>
                                    <p:animEffect filter="fade" transition="in">
                                      <p:cBhvr>
                                        <p:cTn dur="1000"/>
                                        <p:tgtEl>
                                          <p:spTgt spid="3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2" st="2"/>
                                            </p:txEl>
                                          </p:spTgt>
                                        </p:tgtEl>
                                        <p:attrNameLst>
                                          <p:attrName>style.visibility</p:attrName>
                                        </p:attrNameLst>
                                      </p:cBhvr>
                                      <p:to>
                                        <p:strVal val="visible"/>
                                      </p:to>
                                    </p:set>
                                    <p:animEffect filter="fade" transition="in">
                                      <p:cBhvr>
                                        <p:cTn dur="1000"/>
                                        <p:tgtEl>
                                          <p:spTgt spid="3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3" st="3"/>
                                            </p:txEl>
                                          </p:spTgt>
                                        </p:tgtEl>
                                        <p:attrNameLst>
                                          <p:attrName>style.visibility</p:attrName>
                                        </p:attrNameLst>
                                      </p:cBhvr>
                                      <p:to>
                                        <p:strVal val="visible"/>
                                      </p:to>
                                    </p:set>
                                    <p:animEffect filter="fade" transition="in">
                                      <p:cBhvr>
                                        <p:cTn dur="1000"/>
                                        <p:tgtEl>
                                          <p:spTgt spid="3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4" st="4"/>
                                            </p:txEl>
                                          </p:spTgt>
                                        </p:tgtEl>
                                        <p:attrNameLst>
                                          <p:attrName>style.visibility</p:attrName>
                                        </p:attrNameLst>
                                      </p:cBhvr>
                                      <p:to>
                                        <p:strVal val="visible"/>
                                      </p:to>
                                    </p:set>
                                    <p:animEffect filter="fade" transition="in">
                                      <p:cBhvr>
                                        <p:cTn dur="1000"/>
                                        <p:tgtEl>
                                          <p:spTgt spid="31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1000"/>
                                        <p:tgtEl>
                                          <p:spTgt spid="3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9" name="Shape 319"/>
        <p:cNvGrpSpPr/>
        <p:nvPr/>
      </p:nvGrpSpPr>
      <p:grpSpPr>
        <a:xfrm>
          <a:off x="0" y="0"/>
          <a:ext cx="0" cy="0"/>
          <a:chOff x="0" y="0"/>
          <a:chExt cx="0" cy="0"/>
        </a:xfrm>
      </p:grpSpPr>
      <p:sp>
        <p:nvSpPr>
          <p:cNvPr id="320" name="Google Shape;320;g2ee1645c92c_0_113"/>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321" name="Google Shape;321;g2ee1645c92c_0_113"/>
          <p:cNvSpPr txBox="1"/>
          <p:nvPr/>
        </p:nvSpPr>
        <p:spPr>
          <a:xfrm>
            <a:off x="720000" y="1225975"/>
            <a:ext cx="6991800" cy="28491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rgbClr val="000000"/>
              </a:solidFill>
              <a:latin typeface="Roboto"/>
              <a:ea typeface="Roboto"/>
              <a:cs typeface="Roboto"/>
              <a:sym typeface="Roboto"/>
            </a:endParaRPr>
          </a:p>
        </p:txBody>
      </p:sp>
      <p:sp>
        <p:nvSpPr>
          <p:cNvPr id="322" name="Google Shape;322;g2ee1645c92c_0_113"/>
          <p:cNvSpPr txBox="1"/>
          <p:nvPr/>
        </p:nvSpPr>
        <p:spPr>
          <a:xfrm>
            <a:off x="720000" y="1372975"/>
            <a:ext cx="8031000" cy="2555100"/>
          </a:xfrm>
          <a:prstGeom prst="rect">
            <a:avLst/>
          </a:prstGeom>
          <a:noFill/>
          <a:ln>
            <a:noFill/>
          </a:ln>
        </p:spPr>
        <p:txBody>
          <a:bodyPr anchorCtr="0" anchor="t" bIns="91425" lIns="91425" spcFirstLastPara="1" rIns="91425" wrap="square" tIns="91425">
            <a:spAutoFit/>
          </a:bodyPr>
          <a:lstStyle/>
          <a:p>
            <a:pPr indent="-234950" lvl="0" marL="342900" rtl="0" algn="l">
              <a:lnSpc>
                <a:spcPct val="200000"/>
              </a:lnSpc>
              <a:spcBef>
                <a:spcPts val="0"/>
              </a:spcBef>
              <a:spcAft>
                <a:spcPts val="0"/>
              </a:spcAft>
              <a:buClr>
                <a:schemeClr val="dk1"/>
              </a:buClr>
              <a:buSzPts val="1100"/>
              <a:buFont typeface="Roboto"/>
              <a:buChar char="➔"/>
            </a:pPr>
            <a:r>
              <a:rPr lang="en-GB">
                <a:solidFill>
                  <a:schemeClr val="dk1"/>
                </a:solidFill>
                <a:highlight>
                  <a:schemeClr val="lt1"/>
                </a:highlight>
                <a:latin typeface="Roboto"/>
                <a:ea typeface="Roboto"/>
                <a:cs typeface="Roboto"/>
                <a:sym typeface="Roboto"/>
              </a:rPr>
              <a:t>Total unit water = LCM(20, 25) = 100 unit</a:t>
            </a:r>
            <a:endParaRPr>
              <a:solidFill>
                <a:schemeClr val="dk1"/>
              </a:solidFill>
              <a:highlight>
                <a:schemeClr val="lt1"/>
              </a:highlight>
              <a:latin typeface="Roboto"/>
              <a:ea typeface="Roboto"/>
              <a:cs typeface="Roboto"/>
              <a:sym typeface="Roboto"/>
            </a:endParaRPr>
          </a:p>
          <a:p>
            <a:pPr indent="-234950" lvl="0" marL="342900" rtl="0" algn="l">
              <a:lnSpc>
                <a:spcPct val="200000"/>
              </a:lnSpc>
              <a:spcBef>
                <a:spcPts val="0"/>
              </a:spcBef>
              <a:spcAft>
                <a:spcPts val="0"/>
              </a:spcAft>
              <a:buClr>
                <a:schemeClr val="dk1"/>
              </a:buClr>
              <a:buSzPts val="1100"/>
              <a:buFont typeface="Roboto"/>
              <a:buChar char="➔"/>
            </a:pPr>
            <a:r>
              <a:rPr lang="en-GB">
                <a:solidFill>
                  <a:schemeClr val="dk1"/>
                </a:solidFill>
                <a:highlight>
                  <a:schemeClr val="lt1"/>
                </a:highlight>
                <a:latin typeface="Roboto"/>
                <a:ea typeface="Roboto"/>
                <a:cs typeface="Roboto"/>
                <a:sym typeface="Roboto"/>
              </a:rPr>
              <a:t>A’s efficiency = 100/20 = 5 unit/hour</a:t>
            </a:r>
            <a:endParaRPr>
              <a:solidFill>
                <a:schemeClr val="dk1"/>
              </a:solidFill>
              <a:highlight>
                <a:schemeClr val="lt1"/>
              </a:highlight>
              <a:latin typeface="Roboto"/>
              <a:ea typeface="Roboto"/>
              <a:cs typeface="Roboto"/>
              <a:sym typeface="Roboto"/>
            </a:endParaRPr>
          </a:p>
          <a:p>
            <a:pPr indent="-234950" lvl="0" marL="342900" rtl="0" algn="l">
              <a:lnSpc>
                <a:spcPct val="200000"/>
              </a:lnSpc>
              <a:spcBef>
                <a:spcPts val="0"/>
              </a:spcBef>
              <a:spcAft>
                <a:spcPts val="0"/>
              </a:spcAft>
              <a:buClr>
                <a:schemeClr val="dk1"/>
              </a:buClr>
              <a:buSzPts val="1100"/>
              <a:buFont typeface="Roboto"/>
              <a:buChar char="➔"/>
            </a:pPr>
            <a:r>
              <a:rPr lang="en-GB">
                <a:solidFill>
                  <a:schemeClr val="dk1"/>
                </a:solidFill>
                <a:highlight>
                  <a:schemeClr val="lt1"/>
                </a:highlight>
                <a:latin typeface="Roboto"/>
                <a:ea typeface="Roboto"/>
                <a:cs typeface="Roboto"/>
                <a:sym typeface="Roboto"/>
              </a:rPr>
              <a:t>B’s efficiency =100/25 = 4 unit/hour</a:t>
            </a:r>
            <a:endParaRPr>
              <a:solidFill>
                <a:schemeClr val="dk1"/>
              </a:solidFill>
              <a:highlight>
                <a:schemeClr val="lt1"/>
              </a:highlight>
              <a:latin typeface="Roboto"/>
              <a:ea typeface="Roboto"/>
              <a:cs typeface="Roboto"/>
              <a:sym typeface="Roboto"/>
            </a:endParaRPr>
          </a:p>
          <a:p>
            <a:pPr indent="-234950" lvl="0" marL="342900" rtl="0" algn="l">
              <a:lnSpc>
                <a:spcPct val="200000"/>
              </a:lnSpc>
              <a:spcBef>
                <a:spcPts val="0"/>
              </a:spcBef>
              <a:spcAft>
                <a:spcPts val="0"/>
              </a:spcAft>
              <a:buClr>
                <a:schemeClr val="dk1"/>
              </a:buClr>
              <a:buSzPts val="1100"/>
              <a:buFont typeface="Roboto"/>
              <a:buChar char="➔"/>
            </a:pPr>
            <a:r>
              <a:rPr lang="en-GB">
                <a:solidFill>
                  <a:schemeClr val="dk1"/>
                </a:solidFill>
                <a:highlight>
                  <a:schemeClr val="lt1"/>
                </a:highlight>
                <a:latin typeface="Roboto"/>
                <a:ea typeface="Roboto"/>
                <a:cs typeface="Roboto"/>
                <a:sym typeface="Roboto"/>
              </a:rPr>
              <a:t>After 5 hour the water filled by A and B together = 5 x 9 =45 unit</a:t>
            </a:r>
            <a:endParaRPr>
              <a:solidFill>
                <a:schemeClr val="dk1"/>
              </a:solidFill>
              <a:highlight>
                <a:schemeClr val="lt1"/>
              </a:highlight>
              <a:latin typeface="Roboto"/>
              <a:ea typeface="Roboto"/>
              <a:cs typeface="Roboto"/>
              <a:sym typeface="Roboto"/>
            </a:endParaRPr>
          </a:p>
          <a:p>
            <a:pPr indent="-234950" lvl="0" marL="342900" rtl="0" algn="l">
              <a:lnSpc>
                <a:spcPct val="200000"/>
              </a:lnSpc>
              <a:spcBef>
                <a:spcPts val="0"/>
              </a:spcBef>
              <a:spcAft>
                <a:spcPts val="0"/>
              </a:spcAft>
              <a:buClr>
                <a:schemeClr val="dk1"/>
              </a:buClr>
              <a:buSzPts val="1100"/>
              <a:buFont typeface="Roboto"/>
              <a:buChar char="➔"/>
            </a:pPr>
            <a:r>
              <a:rPr lang="en-GB">
                <a:solidFill>
                  <a:schemeClr val="dk1"/>
                </a:solidFill>
                <a:highlight>
                  <a:schemeClr val="lt1"/>
                </a:highlight>
                <a:latin typeface="Roboto"/>
                <a:ea typeface="Roboto"/>
                <a:cs typeface="Roboto"/>
                <a:sym typeface="Roboto"/>
              </a:rPr>
              <a:t>Remaining unit = 100 – 45 = 55 unit</a:t>
            </a:r>
            <a:endParaRPr>
              <a:solidFill>
                <a:schemeClr val="dk1"/>
              </a:solidFill>
              <a:highlight>
                <a:schemeClr val="lt1"/>
              </a:highlight>
              <a:latin typeface="Roboto"/>
              <a:ea typeface="Roboto"/>
              <a:cs typeface="Roboto"/>
              <a:sym typeface="Roboto"/>
            </a:endParaRPr>
          </a:p>
          <a:p>
            <a:pPr indent="-234950" lvl="0" marL="342900" rtl="0" algn="l">
              <a:lnSpc>
                <a:spcPct val="200000"/>
              </a:lnSpc>
              <a:spcBef>
                <a:spcPts val="0"/>
              </a:spcBef>
              <a:spcAft>
                <a:spcPts val="0"/>
              </a:spcAft>
              <a:buClr>
                <a:schemeClr val="dk1"/>
              </a:buClr>
              <a:buSzPts val="1100"/>
              <a:buChar char="➔"/>
            </a:pPr>
            <a:r>
              <a:rPr lang="en-GB">
                <a:solidFill>
                  <a:schemeClr val="dk1"/>
                </a:solidFill>
                <a:highlight>
                  <a:schemeClr val="lt1"/>
                </a:highlight>
                <a:latin typeface="Roboto"/>
                <a:ea typeface="Roboto"/>
                <a:cs typeface="Roboto"/>
                <a:sym typeface="Roboto"/>
              </a:rPr>
              <a:t>Time taken by A alone = 55/5 = </a:t>
            </a:r>
            <a:r>
              <a:rPr b="1" lang="en-GB">
                <a:solidFill>
                  <a:schemeClr val="dk1"/>
                </a:solidFill>
                <a:highlight>
                  <a:schemeClr val="lt1"/>
                </a:highlight>
                <a:latin typeface="Roboto"/>
                <a:ea typeface="Roboto"/>
                <a:cs typeface="Roboto"/>
                <a:sym typeface="Roboto"/>
              </a:rPr>
              <a:t>11 hours</a:t>
            </a:r>
            <a:endParaRPr>
              <a:solidFill>
                <a:schemeClr val="dk1"/>
              </a:solidFill>
              <a:latin typeface="Roboto"/>
              <a:ea typeface="Roboto"/>
              <a:cs typeface="Roboto"/>
              <a:sym typeface="Roboto"/>
            </a:endParaRPr>
          </a:p>
        </p:txBody>
      </p:sp>
      <p:sp>
        <p:nvSpPr>
          <p:cNvPr id="323" name="Google Shape;323;g2ee1645c92c_0_113"/>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16</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1000"/>
                                        <p:tgtEl>
                                          <p:spTgt spid="3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8"/>
          <p:cNvSpPr/>
          <p:nvPr/>
        </p:nvSpPr>
        <p:spPr>
          <a:xfrm>
            <a:off x="555120" y="915840"/>
            <a:ext cx="7544880"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329" name="Google Shape;329;p48"/>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330" name="Google Shape;330;p48"/>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336" name="Google Shape;336;p4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337" name="Google Shape;337;p49"/>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38" name="Google Shape;338;p49"/>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339" name="Google Shape;339;p49"/>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40" name="Google Shape;340;p49"/>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41" name="Google Shape;341;p49"/>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342" name="Google Shape;342;p49"/>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43" name="Google Shape;343;p49"/>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344" name="Google Shape;344;p49"/>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45" name="Google Shape;345;p49"/>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346" name="Google Shape;346;p49"/>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