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  <p:embeddedFont>
      <p:font typeface="Roboto Light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21">
          <p15:clr>
            <a:srgbClr val="FF0000"/>
          </p15:clr>
        </p15:guide>
        <p15:guide id="2" orient="horz" pos="1134">
          <p15:clr>
            <a:srgbClr val="FF0000"/>
          </p15:clr>
        </p15:guide>
        <p15:guide id="3" orient="horz" pos="70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792">
          <p15:clr>
            <a:srgbClr val="FF00FF"/>
          </p15:clr>
        </p15:guide>
        <p15:guide id="6" pos="5272">
          <p15:clr>
            <a:srgbClr val="FF00FF"/>
          </p15:clr>
        </p15:guide>
        <p15:guide id="7" pos="3572">
          <p15:clr>
            <a:srgbClr val="747775"/>
          </p15:clr>
        </p15:guide>
      </p15:sldGuideLst>
    </p:ext>
    <p:ext uri="GoogleSlidesCustomDataVersion2">
      <go:slidesCustomData xmlns:go="http://customooxmlschemas.google.com/" r:id="rId55" roundtripDataSignature="AMtx7mgpSlpz7xRFk8mRKKkaYNKt62+5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21" orient="horz"/>
        <p:guide pos="1134" orient="horz"/>
        <p:guide pos="707" orient="horz"/>
        <p:guide pos="397" orient="horz"/>
        <p:guide pos="792"/>
        <p:guide pos="5272"/>
        <p:guide pos="35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Light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RobotoLight-italic.fntdata"/><Relationship Id="rId52" Type="http://schemas.openxmlformats.org/officeDocument/2006/relationships/font" Target="fonts/RobotoLight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Roboto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aa3dbf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2aa3dbfb4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d0adb26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1ed0adb26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f2d4a4c12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1f2d4a4c1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b3f0b72b1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1b3f0b72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f0e54f78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1f0e54f7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f0faaad2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1f0faaad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f0e54f785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1f0e54f78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f0faaad28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1f0faaad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f0faaad2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1f0faaad2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f0faaad28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1f0faaad2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f0faaad28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1f0faaad2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f0faaad28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1f0faaad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f0faaad28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1f0faaad2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f0faaad28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1f0faaad2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f0faaad28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1f0faaad2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f0faaad28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1f0faaad2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f0faaad28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1f0faaad2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f2d4a4c1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1f2d4a4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f2d4a4c1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1f2d4a4c1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f2d4a4c12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1f2d4a4c1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f2d4a4c12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1f2d4a4c1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f2d4a4c12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1f2d4a4c1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f2d4a4c12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1f2d4a4c1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f2d4a4c12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1f2d4a4c1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f2d4a4c12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1f2d4a4c1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f2d4a4c12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1f2d4a4c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f2d4a4c12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1f2d4a4c1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f2d4a4c12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1f2d4a4c1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f2d4a4c12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1f2d4a4c1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2d4a4c12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1f2d4a4c1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1f2d4a4c12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1f2d4a4c1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f2d4a4c12_0_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1f2d4a4c12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1f2d4a4c12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1f2d4a4c12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f2d4a4c12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1f2d4a4c1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1f2d4a4c12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1f2d4a4c1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f2d4a4c12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1f2d4a4c1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1f2d4a4c12_0_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1f2d4a4c1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8" name="Google Shape;3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4" name="Google Shape;44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6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56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56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56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jp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554725" y="2208725"/>
            <a:ext cx="364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ARRANGEMENT - (Linear Relationship)</a:t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aa3dbfb4d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3dbfb4d_0_0"/>
          <p:cNvSpPr txBox="1"/>
          <p:nvPr/>
        </p:nvSpPr>
        <p:spPr>
          <a:xfrm>
            <a:off x="577325" y="622125"/>
            <a:ext cx="77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800">
                <a:latin typeface="Roboto"/>
                <a:ea typeface="Roboto"/>
                <a:cs typeface="Roboto"/>
                <a:sym typeface="Roboto"/>
              </a:rPr>
              <a:t>                                    Test time on :</a:t>
            </a:r>
            <a:r>
              <a:rPr b="1" i="0" lang="en-I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2aa3dbfb4d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977800" y="1202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LINEAR ARRANGEMENT</a:t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77800" y="1601000"/>
            <a:ext cx="7391400" cy="3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Linear arrangement can be defined as a straight line arrangement typically involving not more than two dimensions. The key factor to be noted here is that arrangements are done only on one axis. When A is said to be on the left or ahead of B, in a linear arrangement, it cannot be assumed that A is to the immediate left of B or immediately ahead of B unless it is mentioned so specifically.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</a:pPr>
            <a:r>
              <a:rPr lang="en-IN" sz="16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directions given are relative in nature as it depends on from whose perspective the test-taker is deciding the directions.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ed0adb26e_0_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31ed0adb26e_0_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g31ed0adb26e_0_6"/>
          <p:cNvSpPr txBox="1"/>
          <p:nvPr/>
        </p:nvSpPr>
        <p:spPr>
          <a:xfrm>
            <a:off x="977900" y="1122375"/>
            <a:ext cx="7391400" cy="3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example,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if four people P, Q, R, S are sitting at a table from left to right in the same order, then Q is sitting to the left of R but to the right of P. Change in orientation, left and right, depends on two possible scenarios i.e. whether the test-taker assumes people to be facing the direction he is facing or whether he assumes them to be facing the opposite direction.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f2d4a4c12_0_15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g31f2d4a4c12_0_15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g31f2d4a4c12_0_152"/>
          <p:cNvSpPr txBox="1"/>
          <p:nvPr/>
        </p:nvSpPr>
        <p:spPr>
          <a:xfrm>
            <a:off x="977900" y="1122375"/>
            <a:ext cx="73914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But as long as consistency is maintained in incorporating the directions, this fact should not change the solution as the two scenarios are mirror images of each other.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b3f0b72b1_0_47"/>
          <p:cNvSpPr txBox="1"/>
          <p:nvPr/>
        </p:nvSpPr>
        <p:spPr>
          <a:xfrm>
            <a:off x="2381850" y="510625"/>
            <a:ext cx="438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DIRECTION:Q01-Q04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g31b3f0b72b1_0_4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g31b3f0b72b1_0_47"/>
          <p:cNvSpPr txBox="1"/>
          <p:nvPr/>
        </p:nvSpPr>
        <p:spPr>
          <a:xfrm>
            <a:off x="1149850" y="1311025"/>
            <a:ext cx="90414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A, B, C, D, E, F and G are sitting in a row facing North 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1) F is to the immediate right of E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2) E is 4th to the right of G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3) C is the neighbour of B and D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4) Person who is third to the left of D is at one of ends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31b3f0b72b1_0_47"/>
          <p:cNvSpPr txBox="1"/>
          <p:nvPr/>
        </p:nvSpPr>
        <p:spPr>
          <a:xfrm>
            <a:off x="6762150" y="39147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f0e54f785_0_5"/>
          <p:cNvSpPr txBox="1"/>
          <p:nvPr/>
        </p:nvSpPr>
        <p:spPr>
          <a:xfrm>
            <a:off x="19650" y="510625"/>
            <a:ext cx="4380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g31f0e54f785_0_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g31f0e54f785_0_5"/>
          <p:cNvSpPr txBox="1"/>
          <p:nvPr/>
        </p:nvSpPr>
        <p:spPr>
          <a:xfrm>
            <a:off x="1257125" y="1194150"/>
            <a:ext cx="90414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What is the position of A ?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Between E and D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Extreme left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Centre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Extreme right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31f0e54f785_0_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f0faaad28_0_0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g31f0faaad28_0_0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g31f0faaad2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200" y="1897550"/>
            <a:ext cx="6920100" cy="16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0e54f785_0_16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g31f0e54f785_0_16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g31f0e54f785_0_16"/>
          <p:cNvSpPr txBox="1"/>
          <p:nvPr/>
        </p:nvSpPr>
        <p:spPr>
          <a:xfrm>
            <a:off x="1257125" y="1194150"/>
            <a:ext cx="90414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Who are the neighbours of B ?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A.	C and D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B.	C and G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C.	G and F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D.	C and E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1f0e54f785_0_16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f0faaad28_0_7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g31f0faaad28_0_7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2" name="Google Shape;132;g31f0faaad2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200" y="1897550"/>
            <a:ext cx="6920100" cy="16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1f0faaad28_0_7"/>
          <p:cNvSpPr txBox="1"/>
          <p:nvPr/>
        </p:nvSpPr>
        <p:spPr>
          <a:xfrm>
            <a:off x="1381850" y="3582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rgbClr val="FEFEFE"/>
                </a:highlight>
              </a:rPr>
              <a:t>C and G are the neighbours of 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f0faaad28_0_15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g31f0faaad28_0_1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g31f0faaad28_0_15"/>
          <p:cNvSpPr txBox="1"/>
          <p:nvPr/>
        </p:nvSpPr>
        <p:spPr>
          <a:xfrm>
            <a:off x="1257125" y="1194150"/>
            <a:ext cx="90414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Which of the following statement is not true ?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A.	E is to the immediate left of D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B.	A is at one of the ends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C.	G is to the immediate left of B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D.	F is second to the right of D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1f0faaad28_0_1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f0faaad28_0_2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g31f0faaad28_0_2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g31f0faaad28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200" y="1897550"/>
            <a:ext cx="6920100" cy="16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f0faaad28_0_29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g31f0faaad28_0_29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1f0faaad28_0_29"/>
          <p:cNvSpPr txBox="1"/>
          <p:nvPr/>
        </p:nvSpPr>
        <p:spPr>
          <a:xfrm>
            <a:off x="1257125" y="1194150"/>
            <a:ext cx="90414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Who are to the left of C ?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A.	Only B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B.	G, B and D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C.	G and B 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D.	D, E, F and A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1f0faaad28_0_29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f0faaad28_0_3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31f0faaad28_0_3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g31f0faaad28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200" y="1897550"/>
            <a:ext cx="6920100" cy="16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1f0faaad28_0_36"/>
          <p:cNvSpPr txBox="1"/>
          <p:nvPr/>
        </p:nvSpPr>
        <p:spPr>
          <a:xfrm>
            <a:off x="1381850" y="3582100"/>
            <a:ext cx="30000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>
                <a:solidFill>
                  <a:schemeClr val="dk1"/>
                </a:solidFill>
                <a:highlight>
                  <a:srgbClr val="FEFEFE"/>
                </a:highlight>
              </a:rPr>
              <a:t>G an B are to the left of C</a:t>
            </a:r>
            <a:r>
              <a:rPr lang="en-IN" sz="1200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EFEFE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1f0faaad28_0_50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-Q05-Q07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1f0faaad28_0_50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1f0faaad28_0_50"/>
          <p:cNvSpPr txBox="1"/>
          <p:nvPr/>
        </p:nvSpPr>
        <p:spPr>
          <a:xfrm>
            <a:off x="1300800" y="1187625"/>
            <a:ext cx="6999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Five girls are sitting on a bench to be photographed. Seema is to the left of Rani and to the right of Bindu. Mary is to the right of Rani. Reeta is between Rani and Mary.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1f0faaad28_0_50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f0faaad28_0_57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g31f0faaad28_0_5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1f0faaad28_0_57"/>
          <p:cNvSpPr txBox="1"/>
          <p:nvPr/>
        </p:nvSpPr>
        <p:spPr>
          <a:xfrm>
            <a:off x="1257125" y="1194150"/>
            <a:ext cx="9041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 is sitting immediate right to Reeta?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Bindu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Rani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Mary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Seema</a:t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g31f0faaad28_0_5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f0faaad28_0_64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g31f0faaad28_0_64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Q05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g31f0faaad28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600" y="2103550"/>
            <a:ext cx="5622800" cy="11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f0faaad28_0_71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g31f0faaad28_0_71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1f0faaad28_0_71"/>
          <p:cNvSpPr txBox="1"/>
          <p:nvPr/>
        </p:nvSpPr>
        <p:spPr>
          <a:xfrm>
            <a:off x="1257125" y="1194150"/>
            <a:ext cx="9041400" cy="2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 is in the middle of the photograph?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Bindu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Rani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Mary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Seema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g31f0faaad28_0_71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0faaad28_0_78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g31f0faaad28_0_78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2" name="Google Shape;202;g31f0faaad28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600" y="2103550"/>
            <a:ext cx="5622800" cy="11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f2d4a4c12_0_0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g31f2d4a4c12_0_0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1f2d4a4c12_0_0"/>
          <p:cNvSpPr txBox="1"/>
          <p:nvPr/>
        </p:nvSpPr>
        <p:spPr>
          <a:xfrm>
            <a:off x="1257125" y="1194150"/>
            <a:ext cx="90414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Who is second from the right?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Bindu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Reeta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Mary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Seema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31f2d4a4c12_0_0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f2d4a4c12_0_7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31f2d4a4c12_0_7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Q07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31f2d4a4c12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0600" y="2103550"/>
            <a:ext cx="5622800" cy="11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f2d4a4c12_0_13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1f2d4a4c12_0_13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1f2d4a4c12_0_13"/>
          <p:cNvSpPr txBox="1"/>
          <p:nvPr/>
        </p:nvSpPr>
        <p:spPr>
          <a:xfrm>
            <a:off x="1257125" y="1194150"/>
            <a:ext cx="71121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A, P, R, X, S and Z are sitting in a row. S and Z are in the centre. A and P are at the ends. R is sitting to the left of A.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is to the right of P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X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Z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1f2d4a4c12_0_13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f2d4a4c12_0_22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1f2d4a4c12_0_22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1f2d4a4c12_0_22"/>
          <p:cNvSpPr txBox="1"/>
          <p:nvPr/>
        </p:nvSpPr>
        <p:spPr>
          <a:xfrm>
            <a:off x="1257125" y="1194150"/>
            <a:ext cx="90414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seating arrangement is as follows: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  X  S  Z  R  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Therefore, right of P is X.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Option 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f2d4a4c12_0_29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g31f2d4a4c12_0_29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1f2d4a4c12_0_29"/>
          <p:cNvSpPr txBox="1"/>
          <p:nvPr/>
        </p:nvSpPr>
        <p:spPr>
          <a:xfrm>
            <a:off x="1257125" y="1194150"/>
            <a:ext cx="71121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A, B, C, D and E are sitting on a bench. A is sitting next to B, C is sitting next to D, D is not sitting with E who is on the left end of the bench. C is on the second position from the right. A is to the right of B and E. A and C are sitting together. In which position A is sitting?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Between B and 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Between B and 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Between E and 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Between C and E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g31f2d4a4c12_0_29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f2d4a4c12_0_36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g31f2d4a4c12_0_36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Q09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g31f2d4a4c12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150" y="2188350"/>
            <a:ext cx="5607700" cy="7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1f2d4a4c12_0_36"/>
          <p:cNvSpPr txBox="1"/>
          <p:nvPr/>
        </p:nvSpPr>
        <p:spPr>
          <a:xfrm>
            <a:off x="1918650" y="3427300"/>
            <a:ext cx="46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Therefore, A is sitting in between B and C.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f2d4a4c12_0_45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QUESTION-Q10-Q15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31f2d4a4c12_0_4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g31f2d4a4c12_0_45"/>
          <p:cNvSpPr txBox="1"/>
          <p:nvPr/>
        </p:nvSpPr>
        <p:spPr>
          <a:xfrm>
            <a:off x="1300800" y="1187625"/>
            <a:ext cx="6999000" cy="3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,B, C, D and E are five men sitting in a line facing to south - while M, N, O, P and Q are five ladies sitting in a second line parallel to the first line and are facing to North.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 who is just next to the left of D, is opposite to Q.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 and N are diagonally opposite to each other.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 is opposite to O who is just next right of M.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who is just to the left of Q, is opposite to D.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 is at one end of the line.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31f2d4a4c12_0_4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f2d4a4c12_0_52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g31f2d4a4c12_0_52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g31f2d4a4c12_0_52"/>
          <p:cNvSpPr txBox="1"/>
          <p:nvPr/>
        </p:nvSpPr>
        <p:spPr>
          <a:xfrm>
            <a:off x="1257125" y="1194150"/>
            <a:ext cx="9041400" cy="2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is sitting third to the right of O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Q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g31f2d4a4c12_0_52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f2d4a4c12_0_59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g31f2d4a4c12_0_59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Q10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1" name="Google Shape;271;g31f2d4a4c12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575" y="1929350"/>
            <a:ext cx="4485350" cy="19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f2d4a4c12_0_67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31f2d4a4c12_0_6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g31f2d4a4c12_0_67"/>
          <p:cNvSpPr txBox="1"/>
          <p:nvPr/>
        </p:nvSpPr>
        <p:spPr>
          <a:xfrm>
            <a:off x="1257125" y="1194150"/>
            <a:ext cx="7112100" cy="3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B shifts to the place of E, E shifts to the place of Q, and Q shifts to the place of B, then who will be the second to the left of the person opposite to O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Q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P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D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g31f2d4a4c12_0_6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f2d4a4c12_0_74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g31f2d4a4c12_0_74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Q11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g31f2d4a4c12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575" y="1800225"/>
            <a:ext cx="4485350" cy="10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1f2d4a4c12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1575" y="3072100"/>
            <a:ext cx="2402475" cy="11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1f2d4a4c12_0_74"/>
          <p:cNvSpPr txBox="1"/>
          <p:nvPr/>
        </p:nvSpPr>
        <p:spPr>
          <a:xfrm>
            <a:off x="266350" y="1800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Initial arrangement: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g31f2d4a4c12_0_74"/>
          <p:cNvSpPr txBox="1"/>
          <p:nvPr/>
        </p:nvSpPr>
        <p:spPr>
          <a:xfrm>
            <a:off x="247950" y="3072100"/>
            <a:ext cx="20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New arrangement after shifting 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g31f2d4a4c12_0_74"/>
          <p:cNvSpPr txBox="1"/>
          <p:nvPr/>
        </p:nvSpPr>
        <p:spPr>
          <a:xfrm>
            <a:off x="1478881" y="4411600"/>
            <a:ext cx="45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B is opposite to O and second person left to B is Q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f2d4a4c12_0_87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g31f2d4a4c12_0_87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g31f2d4a4c12_0_87"/>
          <p:cNvSpPr txBox="1"/>
          <p:nvPr/>
        </p:nvSpPr>
        <p:spPr>
          <a:xfrm>
            <a:off x="1257125" y="1194150"/>
            <a:ext cx="7112100" cy="2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Which of the following pair is diagonally opposite to each other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EQ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BO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AN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AM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31f2d4a4c12_0_87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D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f2d4a4c12_0_94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31f2d4a4c12_0_94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Q12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5" name="Google Shape;305;g31f2d4a4c12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913" y="2010325"/>
            <a:ext cx="4022175" cy="16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f2d4a4c12_0_101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g31f2d4a4c12_0_101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1f2d4a4c12_0_101"/>
          <p:cNvSpPr txBox="1"/>
          <p:nvPr/>
        </p:nvSpPr>
        <p:spPr>
          <a:xfrm>
            <a:off x="1257125" y="1194150"/>
            <a:ext cx="7112100" cy="3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O and P, A and E and B and Q interchange their positions, then who will be the second person to the right of the person who is opposite to the person second of the right of P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O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g31f2d4a4c12_0_101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f2d4a4c12_0_108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g31f2d4a4c12_0_108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Q13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g31f2d4a4c12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1894800"/>
            <a:ext cx="3528000" cy="19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f2d4a4c12_0_115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31f2d4a4c12_0_115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g31f2d4a4c12_0_115"/>
          <p:cNvSpPr txBox="1"/>
          <p:nvPr/>
        </p:nvSpPr>
        <p:spPr>
          <a:xfrm>
            <a:off x="1257125" y="1194150"/>
            <a:ext cx="71121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 the original arrangement who is sitting just opposite to N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A.	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B.	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C.	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D.	D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g31f2d4a4c12_0_115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f2d4a4c12_0_122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g31f2d4a4c12_0_122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Q14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g31f2d4a4c12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788" y="2169800"/>
            <a:ext cx="3800425" cy="18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1f2d4a4c12_0_129"/>
          <p:cNvSpPr txBox="1"/>
          <p:nvPr/>
        </p:nvSpPr>
        <p:spPr>
          <a:xfrm>
            <a:off x="23818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DIRECTION</a:t>
            </a: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-Q15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31f2d4a4c12_0_129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31f2d4a4c12_0_129"/>
          <p:cNvSpPr txBox="1"/>
          <p:nvPr/>
        </p:nvSpPr>
        <p:spPr>
          <a:xfrm>
            <a:off x="1300800" y="1187625"/>
            <a:ext cx="69990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A, B, C, D, E, F and G are sitting in a row facing North :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 is to the immediate right of E.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 is 4</a:t>
            </a:r>
            <a:r>
              <a:rPr baseline="30000"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to the right of G.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 is the neighbour of B and D.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Person who is third to the left of D is at one of ends.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31f2d4a4c12_0_129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f2d4a4c12_0_136"/>
          <p:cNvSpPr txBox="1"/>
          <p:nvPr/>
        </p:nvSpPr>
        <p:spPr>
          <a:xfrm>
            <a:off x="19650" y="510625"/>
            <a:ext cx="438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QUESTION-Q15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g31f2d4a4c12_0_136"/>
          <p:cNvSpPr txBox="1"/>
          <p:nvPr/>
        </p:nvSpPr>
        <p:spPr>
          <a:xfrm>
            <a:off x="1257125" y="2049475"/>
            <a:ext cx="728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31f2d4a4c12_0_136"/>
          <p:cNvSpPr txBox="1"/>
          <p:nvPr/>
        </p:nvSpPr>
        <p:spPr>
          <a:xfrm>
            <a:off x="1257125" y="1194150"/>
            <a:ext cx="7112100" cy="2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Who are to the left of C ?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A.	Only B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B.	G, B and D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C.	G and B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D.	D, E, F and A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g31f2d4a4c12_0_136"/>
          <p:cNvSpPr txBox="1"/>
          <p:nvPr/>
        </p:nvSpPr>
        <p:spPr>
          <a:xfrm>
            <a:off x="6762150" y="38579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Answer: </a:t>
            </a:r>
            <a:r>
              <a:rPr b="1" lang="en-I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endParaRPr b="1" i="0" sz="1600" u="none" cap="none" strike="noStrike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1f2d4a4c12_0_143"/>
          <p:cNvSpPr txBox="1"/>
          <p:nvPr/>
        </p:nvSpPr>
        <p:spPr>
          <a:xfrm>
            <a:off x="5139975" y="25795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g31f2d4a4c12_0_143"/>
          <p:cNvSpPr txBox="1"/>
          <p:nvPr/>
        </p:nvSpPr>
        <p:spPr>
          <a:xfrm>
            <a:off x="3266350" y="6302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Q16</a:t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8" name="Google Shape;358;g31f2d4a4c12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2925" y="1586750"/>
            <a:ext cx="5978150" cy="16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1f2d4a4c12_0_143"/>
          <p:cNvSpPr txBox="1"/>
          <p:nvPr/>
        </p:nvSpPr>
        <p:spPr>
          <a:xfrm>
            <a:off x="2489550" y="3415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highlight>
                  <a:schemeClr val="lt1"/>
                </a:highlight>
              </a:rPr>
              <a:t>G an B are to the left of C.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65" name="Google Shape;365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66" name="Google Shape;36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8" name="Google Shape;36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4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4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I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4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</cp:coreProperties>
</file>