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Lst>
  <p:sldSz cy="5143500" cx="9144000"/>
  <p:notesSz cx="6858000" cy="9144000"/>
  <p:embeddedFontLst>
    <p:embeddedFont>
      <p:font typeface="Roboto Black"/>
      <p:bold r:id="rId74"/>
      <p:boldItalic r:id="rId75"/>
    </p:embeddedFont>
    <p:embeddedFont>
      <p:font typeface="Roboto"/>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753">
          <p15:clr>
            <a:srgbClr val="FF0000"/>
          </p15:clr>
        </p15:guide>
        <p15:guide id="2" orient="horz" pos="904">
          <p15:clr>
            <a:srgbClr val="FF0000"/>
          </p15:clr>
        </p15:guide>
        <p15:guide id="3" orient="horz" pos="737">
          <p15:clr>
            <a:srgbClr val="00FF00"/>
          </p15:clr>
        </p15:guide>
        <p15:guide id="4" orient="horz" pos="397">
          <p15:clr>
            <a:srgbClr val="00FF00"/>
          </p15:clr>
        </p15:guide>
        <p15:guide id="5" pos="455">
          <p15:clr>
            <a:srgbClr val="FF00FF"/>
          </p15:clr>
        </p15:guide>
        <p15:guide id="6" pos="5270">
          <p15:clr>
            <a:srgbClr val="FF00FF"/>
          </p15:clr>
        </p15:guide>
      </p15:sldGuideLst>
    </p:ext>
    <p:ext uri="GoogleSlidesCustomDataVersion2">
      <go:slidesCustomData xmlns:go="http://customooxmlschemas.google.com/" r:id="rId80" roundtripDataSignature="AMtx7mhPxIN25h+sHlyzBxWMPmE5+nN1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C71507-511F-48EA-8214-E873954C8FB8}">
  <a:tblStyle styleId="{CFC71507-511F-48EA-8214-E873954C8FB8}" styleName="Table_0">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753" orient="horz"/>
        <p:guide pos="904" orient="horz"/>
        <p:guide pos="737" orient="horz"/>
        <p:guide pos="397" orient="horz"/>
        <p:guide pos="455"/>
        <p:guide pos="527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font" Target="fonts/RobotoBlack-boldItalic.fntdata"/><Relationship Id="rId30" Type="http://schemas.openxmlformats.org/officeDocument/2006/relationships/slide" Target="slides/slide24.xml"/><Relationship Id="rId74" Type="http://schemas.openxmlformats.org/officeDocument/2006/relationships/font" Target="fonts/RobotoBlack-bold.fntdata"/><Relationship Id="rId33" Type="http://schemas.openxmlformats.org/officeDocument/2006/relationships/slide" Target="slides/slide27.xml"/><Relationship Id="rId77" Type="http://schemas.openxmlformats.org/officeDocument/2006/relationships/font" Target="fonts/Roboto-bold.fntdata"/><Relationship Id="rId32" Type="http://schemas.openxmlformats.org/officeDocument/2006/relationships/slide" Target="slides/slide26.xml"/><Relationship Id="rId76" Type="http://schemas.openxmlformats.org/officeDocument/2006/relationships/font" Target="fonts/Roboto-regular.fntdata"/><Relationship Id="rId35" Type="http://schemas.openxmlformats.org/officeDocument/2006/relationships/slide" Target="slides/slide29.xml"/><Relationship Id="rId79" Type="http://schemas.openxmlformats.org/officeDocument/2006/relationships/font" Target="fonts/Roboto-boldItalic.fntdata"/><Relationship Id="rId34" Type="http://schemas.openxmlformats.org/officeDocument/2006/relationships/slide" Target="slides/slide28.xml"/><Relationship Id="rId78" Type="http://schemas.openxmlformats.org/officeDocument/2006/relationships/font" Target="fonts/Roboto-italic.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2aa3bfc97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 name="Google Shape;68;g32aa3bfc97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1ed013771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g31ed013771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1ed0d13181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g31ed0d13181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1ed0d13181_0_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31ed0d13181_0_1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1ed0d13181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31ed0d13181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1ed0d13181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31ed0d13181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1c41871386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31c41871386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1c41871386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1c41871386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1c41871386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31c41871386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1c41871386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31c41871386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1c41871386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31c41871386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1c41871386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31c41871386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1c41871386_0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31c41871386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1c41871386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31c41871386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1c41871386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g31c41871386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1c41871386_0_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31c41871386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1c41871386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1c41871386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1c41871386_0_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31c41871386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1c41871386_0_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g31c41871386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1c41871386_0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31c41871386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1c41871386_0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31c41871386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1c41871386_0_1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g31c41871386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1c41871386_0_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g31c41871386_0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1c41871386_0_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31c41871386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1c41871386_0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31c41871386_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1c41871386_0_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g31c41871386_0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1c41871386_0_1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g31c41871386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1c41871386_0_1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31c41871386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1c41871386_0_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31c41871386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1c41871386_0_3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g31c41871386_0_3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1c41871386_0_4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g31c41871386_0_4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1c41871386_0_3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g31c41871386_0_3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1c41871386_0_4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g31c41871386_0_4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1c41871386_0_3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g31c41871386_0_3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1c41871386_0_4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g31c41871386_0_4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1c41871386_0_3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g31c41871386_0_3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1c41871386_0_4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g31c41871386_0_4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1c41871386_0_3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g31c41871386_0_3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1c41871386_0_4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g31c41871386_0_4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1c41871386_0_3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g31c41871386_0_3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1c41871386_0_4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g31c41871386_0_4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1c41871386_0_3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g31c41871386_0_3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1c41871386_0_5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g31c41871386_0_5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1c41871386_0_4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g31c41871386_0_4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1c41871386_0_5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g31c41871386_0_5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1c41871386_0_4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7" name="Google Shape;427;g31c41871386_0_4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1c41871386_0_5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5" name="Google Shape;435;g31c41871386_0_5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1c41871386_0_4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g31c41871386_0_4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1c41871386_0_5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g31c41871386_0_5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1c41871386_0_4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8" name="Google Shape;458;g31c41871386_0_4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1c41871386_0_5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g31c41871386_0_5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1c41871386_0_4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4" name="Google Shape;474;g31c41871386_0_4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1c41871386_0_5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g31c41871386_0_5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1c41871386_0_4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0" name="Google Shape;490;g31c41871386_0_4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1c41871386_0_5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8" name="Google Shape;498;g31c41871386_0_5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1c41871386_0_4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6" name="Google Shape;506;g31c41871386_0_4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1c41871386_0_5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4" name="Google Shape;514;g31c41871386_0_5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1c41871386_0_4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2" name="Google Shape;522;g31c41871386_0_4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1c41871386_0_5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9" name="Google Shape;529;g31c41871386_0_5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1c41871386_0_4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6" name="Google Shape;536;g31c41871386_0_4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1c41871386_0_5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4" name="Google Shape;544;g31c41871386_0_5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1c41871386_0_4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2" name="Google Shape;552;g31c41871386_0_4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1c41871386_0_5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g31c41871386_0_5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9: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8" name="Google Shape;568;p9: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5" name="Google Shape;57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g13caba5e1c5_0_1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g13caba5e1c5_0_1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g13caba5e1c5_0_1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1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1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6" name="Shape 26"/>
        <p:cNvGrpSpPr/>
        <p:nvPr/>
      </p:nvGrpSpPr>
      <p:grpSpPr>
        <a:xfrm>
          <a:off x="0" y="0"/>
          <a:ext cx="0" cy="0"/>
          <a:chOff x="0" y="0"/>
          <a:chExt cx="0" cy="0"/>
        </a:xfrm>
      </p:grpSpPr>
      <p:sp>
        <p:nvSpPr>
          <p:cNvPr id="27" name="Google Shape;27;p3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8" name="Google Shape;2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 name="Shape 29"/>
        <p:cNvGrpSpPr/>
        <p:nvPr/>
      </p:nvGrpSpPr>
      <p:grpSpPr>
        <a:xfrm>
          <a:off x="0" y="0"/>
          <a:ext cx="0" cy="0"/>
          <a:chOff x="0" y="0"/>
          <a:chExt cx="0" cy="0"/>
        </a:xfrm>
      </p:grpSpPr>
      <p:sp>
        <p:nvSpPr>
          <p:cNvPr id="30" name="Google Shape;30;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1" name="Google Shape;31;p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2" name="Google Shape;32;p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3" name="Google Shape;33;p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4" name="Google Shape;34;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 name="Shape 35"/>
        <p:cNvGrpSpPr/>
        <p:nvPr/>
      </p:nvGrpSpPr>
      <p:grpSpPr>
        <a:xfrm>
          <a:off x="0" y="0"/>
          <a:ext cx="0" cy="0"/>
          <a:chOff x="0" y="0"/>
          <a:chExt cx="0" cy="0"/>
        </a:xfrm>
      </p:grpSpPr>
      <p:sp>
        <p:nvSpPr>
          <p:cNvPr id="36" name="Google Shape;36;p4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7" name="Google Shape;37;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 name="Shape 38"/>
        <p:cNvGrpSpPr/>
        <p:nvPr/>
      </p:nvGrpSpPr>
      <p:grpSpPr>
        <a:xfrm>
          <a:off x="0" y="0"/>
          <a:ext cx="0" cy="0"/>
          <a:chOff x="0" y="0"/>
          <a:chExt cx="0" cy="0"/>
        </a:xfrm>
      </p:grpSpPr>
      <p:sp>
        <p:nvSpPr>
          <p:cNvPr id="39" name="Google Shape;39;p4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0" name="Google Shape;40;p4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1" name="Google Shape;4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42" name="Shape 42"/>
        <p:cNvGrpSpPr/>
        <p:nvPr/>
      </p:nvGrpSpPr>
      <p:grpSpPr>
        <a:xfrm>
          <a:off x="0" y="0"/>
          <a:ext cx="0" cy="0"/>
          <a:chOff x="0" y="0"/>
          <a:chExt cx="0" cy="0"/>
        </a:xfrm>
      </p:grpSpPr>
      <p:pic>
        <p:nvPicPr>
          <p:cNvPr descr="A close up of a logo&#10;&#10;Description generated with high confidence" id="43" name="Google Shape;43;p4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pic>
        <p:nvPicPr>
          <p:cNvPr descr="A picture containing colorful, colored&#10;&#10;Description generated with very high confidence" id="44" name="Google Shape;44;p42"/>
          <p:cNvPicPr preferRelativeResize="0"/>
          <p:nvPr/>
        </p:nvPicPr>
        <p:blipFill rotWithShape="1">
          <a:blip r:embed="rId3">
            <a:alphaModFix/>
          </a:blip>
          <a:srcRect b="37530" l="0" r="0" t="55603"/>
          <a:stretch/>
        </p:blipFill>
        <p:spPr>
          <a:xfrm>
            <a:off x="0" y="4849200"/>
            <a:ext cx="9144000" cy="294300"/>
          </a:xfrm>
          <a:prstGeom prst="rect">
            <a:avLst/>
          </a:prstGeom>
          <a:noFill/>
          <a:ln>
            <a:noFill/>
          </a:ln>
        </p:spPr>
      </p:pic>
      <p:sp>
        <p:nvSpPr>
          <p:cNvPr id="45" name="Google Shape;45;p4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6" name="Google Shape;46;p4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7" name="Google Shape;47;p4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8" name="Google Shape;48;p4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3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9.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www.thoughtco.com/coarse-and-course-differences-1689737" TargetMode="External"/><Relationship Id="rId4" Type="http://schemas.openxmlformats.org/officeDocument/2006/relationships/hyperlink" Target="https://www.thoughtco.com/how-to-run-for-student-council-1857201"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www.thoughtco.com/discreet-and-discrete-168955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www.thoughtco.com/flew-flu-and-flue-1689393"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www.thoughtco.com/plain-and-plane-1689593"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3.png"/><Relationship Id="rId4" Type="http://schemas.openxmlformats.org/officeDocument/2006/relationships/hyperlink" Target="https://learn.codemithra.com/"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4.jpg"/><Relationship Id="rId4" Type="http://schemas.openxmlformats.org/officeDocument/2006/relationships/image" Target="../media/image16.png"/><Relationship Id="rId5" Type="http://schemas.openxmlformats.org/officeDocument/2006/relationships/image" Target="../media/image15.png"/><Relationship Id="rId6"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4" name="Google Shape;54;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55" name="Google Shape;55;p4"/>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6" name="Google Shape;56;p4"/>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7" name="Google Shape;57;p4"/>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3" name="Google Shape;63;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64" name="Google Shape;64;p5"/>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65" name="Google Shape;65;p5"/>
          <p:cNvSpPr txBox="1"/>
          <p:nvPr/>
        </p:nvSpPr>
        <p:spPr>
          <a:xfrm>
            <a:off x="148264" y="1741810"/>
            <a:ext cx="4690800" cy="1200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4000"/>
              <a:buFont typeface="Arial"/>
              <a:buNone/>
            </a:pPr>
            <a:r>
              <a:rPr b="1" lang="en-US" sz="2000">
                <a:solidFill>
                  <a:schemeClr val="lt1"/>
                </a:solidFill>
                <a:latin typeface="Roboto"/>
                <a:ea typeface="Roboto"/>
                <a:cs typeface="Roboto"/>
                <a:sym typeface="Roboto"/>
              </a:rPr>
              <a:t>V</a:t>
            </a:r>
            <a:r>
              <a:rPr b="1" lang="en-US" sz="2000">
                <a:solidFill>
                  <a:schemeClr val="lt1"/>
                </a:solidFill>
                <a:latin typeface="Roboto"/>
                <a:ea typeface="Roboto"/>
                <a:cs typeface="Roboto"/>
                <a:sym typeface="Roboto"/>
              </a:rPr>
              <a:t>OCABULARY (HOMOPHONES,HOMONYMS,</a:t>
            </a:r>
            <a:endParaRPr b="1" sz="2000">
              <a:solidFill>
                <a:schemeClr val="lt1"/>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4000"/>
              <a:buFont typeface="Arial"/>
              <a:buNone/>
            </a:pPr>
            <a:r>
              <a:rPr b="1" lang="en-US" sz="2000">
                <a:solidFill>
                  <a:schemeClr val="lt1"/>
                </a:solidFill>
                <a:latin typeface="Roboto"/>
                <a:ea typeface="Roboto"/>
                <a:cs typeface="Roboto"/>
                <a:sym typeface="Roboto"/>
              </a:rPr>
              <a:t>HETERONYMS)</a:t>
            </a:r>
            <a:endParaRPr b="1" i="0" sz="20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2aa3bfc97f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US" sz="1600">
                <a:solidFill>
                  <a:schemeClr val="dk1"/>
                </a:solidFill>
                <a:highlight>
                  <a:srgbClr val="FFFFFF"/>
                </a:highlight>
                <a:latin typeface="Roboto"/>
                <a:ea typeface="Roboto"/>
                <a:cs typeface="Roboto"/>
                <a:sym typeface="Roboto"/>
              </a:rPr>
              <a:t>QR CODE</a:t>
            </a:r>
            <a:r>
              <a:rPr b="1" lang="en-US"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US"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71" name="Google Shape;71;g32aa3bfc97f_0_0"/>
          <p:cNvSpPr txBox="1"/>
          <p:nvPr/>
        </p:nvSpPr>
        <p:spPr>
          <a:xfrm>
            <a:off x="577325" y="622125"/>
            <a:ext cx="77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lang="en-US" sz="1800">
                <a:latin typeface="Roboto"/>
                <a:ea typeface="Roboto"/>
                <a:cs typeface="Roboto"/>
                <a:sym typeface="Roboto"/>
              </a:rPr>
              <a:t>                                    Test time on :</a:t>
            </a:r>
            <a:r>
              <a:rPr b="1" i="0" lang="en-US" sz="1800" u="none" cap="none" strike="noStrike">
                <a:solidFill>
                  <a:srgbClr val="000000"/>
                </a:solidFill>
                <a:latin typeface="Roboto"/>
                <a:ea typeface="Roboto"/>
                <a:cs typeface="Roboto"/>
                <a:sym typeface="Roboto"/>
              </a:rPr>
              <a:t> Analogies</a:t>
            </a:r>
            <a:endParaRPr b="1" i="0" sz="1800" u="none" cap="none" strike="noStrike">
              <a:solidFill>
                <a:srgbClr val="000000"/>
              </a:solidFill>
              <a:latin typeface="Roboto"/>
              <a:ea typeface="Roboto"/>
              <a:cs typeface="Roboto"/>
              <a:sym typeface="Roboto"/>
            </a:endParaRPr>
          </a:p>
        </p:txBody>
      </p:sp>
      <p:sp>
        <p:nvSpPr>
          <p:cNvPr id="72" name="Google Shape;72;g32aa3bfc97f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73" name="Google Shape;73;g32aa3bfc97f_0_0"/>
          <p:cNvPicPr preferRelativeResize="0"/>
          <p:nvPr/>
        </p:nvPicPr>
        <p:blipFill>
          <a:blip r:embed="rId3">
            <a:alphaModFix/>
          </a:blip>
          <a:stretch>
            <a:fillRect/>
          </a:stretch>
        </p:blipFill>
        <p:spPr>
          <a:xfrm>
            <a:off x="3331606" y="1938356"/>
            <a:ext cx="1883350" cy="1855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31ed013771c_0_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79" name="Google Shape;79;g31ed013771c_0_0"/>
          <p:cNvSpPr txBox="1"/>
          <p:nvPr/>
        </p:nvSpPr>
        <p:spPr>
          <a:xfrm>
            <a:off x="3817800" y="6302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80" name="Google Shape;80;g31ed013771c_0_0"/>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pic>
        <p:nvPicPr>
          <p:cNvPr id="81" name="Google Shape;81;g31ed013771c_0_0"/>
          <p:cNvPicPr preferRelativeResize="0"/>
          <p:nvPr/>
        </p:nvPicPr>
        <p:blipFill rotWithShape="1">
          <a:blip r:embed="rId3">
            <a:alphaModFix/>
          </a:blip>
          <a:srcRect b="0" l="0" r="0" t="0"/>
          <a:stretch/>
        </p:blipFill>
        <p:spPr>
          <a:xfrm>
            <a:off x="1072050" y="1633554"/>
            <a:ext cx="3114225" cy="2405875"/>
          </a:xfrm>
          <a:prstGeom prst="rect">
            <a:avLst/>
          </a:prstGeom>
          <a:noFill/>
          <a:ln>
            <a:noFill/>
          </a:ln>
        </p:spPr>
      </p:pic>
      <p:sp>
        <p:nvSpPr>
          <p:cNvPr id="82" name="Google Shape;82;g31ed013771c_0_0"/>
          <p:cNvSpPr txBox="1"/>
          <p:nvPr/>
        </p:nvSpPr>
        <p:spPr>
          <a:xfrm>
            <a:off x="5617450" y="1901650"/>
            <a:ext cx="3000000" cy="172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Roboto"/>
                <a:ea typeface="Roboto"/>
                <a:cs typeface="Roboto"/>
                <a:sym typeface="Roboto"/>
              </a:rPr>
              <a:t>What are homonyms, heterographs and heteronyms?</a:t>
            </a:r>
            <a:endParaRPr b="1" i="0" sz="20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Roboto"/>
                <a:ea typeface="Roboto"/>
                <a:cs typeface="Roboto"/>
                <a:sym typeface="Roboto"/>
              </a:rPr>
              <a:t>What’s in the name?</a:t>
            </a:r>
            <a:endParaRPr b="1" i="0" sz="20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31ed0d13181_0_3"/>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88" name="Google Shape;88;g31ed0d13181_0_3"/>
          <p:cNvSpPr txBox="1"/>
          <p:nvPr/>
        </p:nvSpPr>
        <p:spPr>
          <a:xfrm>
            <a:off x="3817800" y="6302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pic>
        <p:nvPicPr>
          <p:cNvPr id="89" name="Google Shape;89;g31ed0d13181_0_3"/>
          <p:cNvPicPr preferRelativeResize="0"/>
          <p:nvPr/>
        </p:nvPicPr>
        <p:blipFill rotWithShape="1">
          <a:blip r:embed="rId3">
            <a:alphaModFix/>
          </a:blip>
          <a:srcRect b="0" l="0" r="0" t="0"/>
          <a:stretch/>
        </p:blipFill>
        <p:spPr>
          <a:xfrm>
            <a:off x="1072050" y="1633554"/>
            <a:ext cx="3114225" cy="2405875"/>
          </a:xfrm>
          <a:prstGeom prst="rect">
            <a:avLst/>
          </a:prstGeom>
          <a:noFill/>
          <a:ln>
            <a:noFill/>
          </a:ln>
        </p:spPr>
      </p:pic>
      <p:sp>
        <p:nvSpPr>
          <p:cNvPr id="90" name="Google Shape;90;g31ed0d13181_0_3"/>
          <p:cNvSpPr txBox="1"/>
          <p:nvPr/>
        </p:nvSpPr>
        <p:spPr>
          <a:xfrm>
            <a:off x="5447700" y="2350675"/>
            <a:ext cx="30000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2000"/>
              <a:buFont typeface="Arial"/>
              <a:buNone/>
            </a:pPr>
            <a:r>
              <a:rPr b="1" lang="en-US" sz="2000"/>
              <a:t>What are homophones and heterographs?</a:t>
            </a:r>
            <a:endParaRPr b="1" sz="2000"/>
          </a:p>
          <a:p>
            <a:pPr indent="0" lvl="0" marL="0" rtl="0" algn="l">
              <a:spcBef>
                <a:spcPts val="0"/>
              </a:spcBef>
              <a:spcAft>
                <a:spcPts val="0"/>
              </a:spcAft>
              <a:buClr>
                <a:srgbClr val="000000"/>
              </a:buClr>
              <a:buSzPts val="2000"/>
              <a:buFont typeface="Arial"/>
              <a:buNone/>
            </a:pPr>
            <a:r>
              <a:t/>
            </a:r>
            <a:endParaRPr b="1" sz="2000"/>
          </a:p>
          <a:p>
            <a:pPr indent="0" lvl="0" marL="0" rtl="0" algn="l">
              <a:spcBef>
                <a:spcPts val="0"/>
              </a:spcBef>
              <a:spcAft>
                <a:spcPts val="0"/>
              </a:spcAft>
              <a:buClr>
                <a:srgbClr val="000000"/>
              </a:buClr>
              <a:buSzPts val="2000"/>
              <a:buFont typeface="Arial"/>
              <a:buNone/>
            </a:pPr>
            <a:r>
              <a:t/>
            </a:r>
            <a:endParaRPr b="1" sz="2000"/>
          </a:p>
          <a:p>
            <a:pPr indent="0" lvl="0" marL="0" marR="0" rtl="0" algn="l">
              <a:lnSpc>
                <a:spcPct val="100000"/>
              </a:lnSpc>
              <a:spcBef>
                <a:spcPts val="0"/>
              </a:spcBef>
              <a:spcAft>
                <a:spcPts val="0"/>
              </a:spcAft>
              <a:buClr>
                <a:srgbClr val="000000"/>
              </a:buClr>
              <a:buSzPts val="2000"/>
              <a:buFont typeface="Arial"/>
              <a:buNone/>
            </a:pPr>
            <a:r>
              <a:t/>
            </a:r>
            <a:endParaRPr b="1" sz="2000">
              <a:latin typeface="Roboto"/>
              <a:ea typeface="Roboto"/>
              <a:cs typeface="Roboto"/>
              <a:sym typeface="Robo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Roboto"/>
              <a:ea typeface="Roboto"/>
              <a:cs typeface="Roboto"/>
              <a:sym typeface="Roboto"/>
            </a:endParaRPr>
          </a:p>
        </p:txBody>
      </p:sp>
      <p:pic>
        <p:nvPicPr>
          <p:cNvPr id="91" name="Google Shape;91;g31ed0d13181_0_3"/>
          <p:cNvPicPr preferRelativeResize="0"/>
          <p:nvPr/>
        </p:nvPicPr>
        <p:blipFill rotWithShape="1">
          <a:blip r:embed="rId4">
            <a:alphaModFix/>
          </a:blip>
          <a:srcRect b="0" l="0" r="0" t="0"/>
          <a:stretch/>
        </p:blipFill>
        <p:spPr>
          <a:xfrm>
            <a:off x="1072050" y="1633550"/>
            <a:ext cx="3183400" cy="2405875"/>
          </a:xfrm>
          <a:prstGeom prst="rect">
            <a:avLst/>
          </a:prstGeom>
          <a:noFill/>
          <a:ln>
            <a:noFill/>
          </a:ln>
        </p:spPr>
      </p:pic>
      <p:pic>
        <p:nvPicPr>
          <p:cNvPr id="92" name="Google Shape;92;g31ed0d13181_0_3"/>
          <p:cNvPicPr preferRelativeResize="0"/>
          <p:nvPr/>
        </p:nvPicPr>
        <p:blipFill rotWithShape="1">
          <a:blip r:embed="rId5">
            <a:alphaModFix/>
          </a:blip>
          <a:srcRect b="0" l="0" r="0" t="0"/>
          <a:stretch/>
        </p:blipFill>
        <p:spPr>
          <a:xfrm>
            <a:off x="1072050" y="1633550"/>
            <a:ext cx="3176400" cy="2555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1ed0d13181_0_189"/>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98" name="Google Shape;98;g31ed0d13181_0_189"/>
          <p:cNvSpPr txBox="1"/>
          <p:nvPr/>
        </p:nvSpPr>
        <p:spPr>
          <a:xfrm>
            <a:off x="3817800" y="6302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pic>
        <p:nvPicPr>
          <p:cNvPr id="99" name="Google Shape;99;g31ed0d13181_0_189"/>
          <p:cNvPicPr preferRelativeResize="0"/>
          <p:nvPr/>
        </p:nvPicPr>
        <p:blipFill rotWithShape="1">
          <a:blip r:embed="rId3">
            <a:alphaModFix/>
          </a:blip>
          <a:srcRect b="0" l="0" r="0" t="0"/>
          <a:stretch/>
        </p:blipFill>
        <p:spPr>
          <a:xfrm>
            <a:off x="1072050" y="1633554"/>
            <a:ext cx="3114225" cy="2405875"/>
          </a:xfrm>
          <a:prstGeom prst="rect">
            <a:avLst/>
          </a:prstGeom>
          <a:noFill/>
          <a:ln>
            <a:noFill/>
          </a:ln>
        </p:spPr>
      </p:pic>
      <p:sp>
        <p:nvSpPr>
          <p:cNvPr id="100" name="Google Shape;100;g31ed0d13181_0_189"/>
          <p:cNvSpPr txBox="1"/>
          <p:nvPr/>
        </p:nvSpPr>
        <p:spPr>
          <a:xfrm>
            <a:off x="5447700" y="2350675"/>
            <a:ext cx="30000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2000"/>
              <a:buFont typeface="Arial"/>
              <a:buNone/>
            </a:pPr>
            <a:r>
              <a:rPr b="1" lang="en-US" sz="2000"/>
              <a:t>What are homophones and heteronyms?</a:t>
            </a:r>
            <a:endParaRPr b="1" sz="2000"/>
          </a:p>
          <a:p>
            <a:pPr indent="0" lvl="0" marL="0" rtl="0" algn="l">
              <a:spcBef>
                <a:spcPts val="0"/>
              </a:spcBef>
              <a:spcAft>
                <a:spcPts val="0"/>
              </a:spcAft>
              <a:buClr>
                <a:srgbClr val="000000"/>
              </a:buClr>
              <a:buSzPts val="2000"/>
              <a:buFont typeface="Arial"/>
              <a:buNone/>
            </a:pPr>
            <a:r>
              <a:t/>
            </a:r>
            <a:endParaRPr b="1" sz="2000"/>
          </a:p>
          <a:p>
            <a:pPr indent="0" lvl="0" marL="0" rtl="0" algn="l">
              <a:spcBef>
                <a:spcPts val="0"/>
              </a:spcBef>
              <a:spcAft>
                <a:spcPts val="0"/>
              </a:spcAft>
              <a:buClr>
                <a:srgbClr val="000000"/>
              </a:buClr>
              <a:buSzPts val="2000"/>
              <a:buFont typeface="Arial"/>
              <a:buNone/>
            </a:pPr>
            <a:r>
              <a:t/>
            </a:r>
            <a:endParaRPr b="1" sz="2000"/>
          </a:p>
          <a:p>
            <a:pPr indent="0" lvl="0" marL="0" marR="0" rtl="0" algn="l">
              <a:lnSpc>
                <a:spcPct val="100000"/>
              </a:lnSpc>
              <a:spcBef>
                <a:spcPts val="0"/>
              </a:spcBef>
              <a:spcAft>
                <a:spcPts val="0"/>
              </a:spcAft>
              <a:buClr>
                <a:srgbClr val="000000"/>
              </a:buClr>
              <a:buSzPts val="2000"/>
              <a:buFont typeface="Arial"/>
              <a:buNone/>
            </a:pPr>
            <a:r>
              <a:t/>
            </a:r>
            <a:endParaRPr b="1" sz="2000">
              <a:latin typeface="Roboto"/>
              <a:ea typeface="Roboto"/>
              <a:cs typeface="Roboto"/>
              <a:sym typeface="Robo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Roboto"/>
              <a:ea typeface="Roboto"/>
              <a:cs typeface="Roboto"/>
              <a:sym typeface="Roboto"/>
            </a:endParaRPr>
          </a:p>
        </p:txBody>
      </p:sp>
      <p:pic>
        <p:nvPicPr>
          <p:cNvPr id="101" name="Google Shape;101;g31ed0d13181_0_189"/>
          <p:cNvPicPr preferRelativeResize="0"/>
          <p:nvPr/>
        </p:nvPicPr>
        <p:blipFill rotWithShape="1">
          <a:blip r:embed="rId4">
            <a:alphaModFix/>
          </a:blip>
          <a:srcRect b="0" l="0" r="0" t="0"/>
          <a:stretch/>
        </p:blipFill>
        <p:spPr>
          <a:xfrm>
            <a:off x="1072050" y="1633550"/>
            <a:ext cx="3183400" cy="2405875"/>
          </a:xfrm>
          <a:prstGeom prst="rect">
            <a:avLst/>
          </a:prstGeom>
          <a:noFill/>
          <a:ln>
            <a:noFill/>
          </a:ln>
        </p:spPr>
      </p:pic>
      <p:pic>
        <p:nvPicPr>
          <p:cNvPr id="102" name="Google Shape;102;g31ed0d13181_0_189"/>
          <p:cNvPicPr preferRelativeResize="0"/>
          <p:nvPr/>
        </p:nvPicPr>
        <p:blipFill rotWithShape="1">
          <a:blip r:embed="rId5">
            <a:alphaModFix/>
          </a:blip>
          <a:srcRect b="0" l="0" r="0" t="0"/>
          <a:stretch/>
        </p:blipFill>
        <p:spPr>
          <a:xfrm>
            <a:off x="1072050" y="1633550"/>
            <a:ext cx="3176400" cy="2555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1ed0d13181_0_11"/>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08" name="Google Shape;108;g31ed0d13181_0_11"/>
          <p:cNvSpPr txBox="1"/>
          <p:nvPr/>
        </p:nvSpPr>
        <p:spPr>
          <a:xfrm>
            <a:off x="3817800" y="6302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109" name="Google Shape;109;g31ed0d13181_0_11"/>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110" name="Google Shape;110;g31ed0d13181_0_11"/>
          <p:cNvSpPr txBox="1"/>
          <p:nvPr/>
        </p:nvSpPr>
        <p:spPr>
          <a:xfrm>
            <a:off x="6131325" y="1863750"/>
            <a:ext cx="3000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2000"/>
              <a:buFont typeface="Arial"/>
              <a:buNone/>
            </a:pPr>
            <a:r>
              <a:rPr b="1" lang="en-US" sz="2000"/>
              <a:t>What does this mean for you?</a:t>
            </a:r>
            <a:endParaRPr b="1" sz="2000"/>
          </a:p>
          <a:p>
            <a:pPr indent="0" lvl="0" marL="0" marR="0" rtl="0" algn="l">
              <a:lnSpc>
                <a:spcPct val="100000"/>
              </a:lnSpc>
              <a:spcBef>
                <a:spcPts val="0"/>
              </a:spcBef>
              <a:spcAft>
                <a:spcPts val="0"/>
              </a:spcAft>
              <a:buClr>
                <a:srgbClr val="000000"/>
              </a:buClr>
              <a:buSzPts val="2000"/>
              <a:buFont typeface="Arial"/>
              <a:buNone/>
            </a:pPr>
            <a:r>
              <a:t/>
            </a:r>
            <a:endParaRPr b="1" sz="2000">
              <a:latin typeface="Roboto"/>
              <a:ea typeface="Roboto"/>
              <a:cs typeface="Roboto"/>
              <a:sym typeface="Robo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Roboto"/>
              <a:ea typeface="Roboto"/>
              <a:cs typeface="Roboto"/>
              <a:sym typeface="Roboto"/>
            </a:endParaRPr>
          </a:p>
        </p:txBody>
      </p:sp>
      <p:pic>
        <p:nvPicPr>
          <p:cNvPr descr="homonyms homographs heterographs homophones" id="111" name="Google Shape;111;g31ed0d13181_0_11" title="homonyms"/>
          <p:cNvPicPr preferRelativeResize="0"/>
          <p:nvPr/>
        </p:nvPicPr>
        <p:blipFill rotWithShape="1">
          <a:blip r:embed="rId3">
            <a:alphaModFix/>
          </a:blip>
          <a:srcRect b="0" l="0" r="0" t="0"/>
          <a:stretch/>
        </p:blipFill>
        <p:spPr>
          <a:xfrm>
            <a:off x="485035" y="1547255"/>
            <a:ext cx="5646300" cy="2823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1ed0d13181_0_19"/>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17" name="Google Shape;117;g31ed0d13181_0_19"/>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118" name="Google Shape;118;g31ed0d13181_0_19"/>
          <p:cNvSpPr txBox="1"/>
          <p:nvPr/>
        </p:nvSpPr>
        <p:spPr>
          <a:xfrm>
            <a:off x="1600750" y="756525"/>
            <a:ext cx="6946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2000"/>
              <a:buFont typeface="Arial"/>
              <a:buNone/>
            </a:pPr>
            <a:r>
              <a:rPr b="1" lang="en-US" sz="2000"/>
              <a:t>Homonyms, Homophones, and Homographs </a:t>
            </a:r>
            <a:endParaRPr sz="1700"/>
          </a:p>
        </p:txBody>
      </p:sp>
      <p:sp>
        <p:nvSpPr>
          <p:cNvPr id="119" name="Google Shape;119;g31ed0d13181_0_19"/>
          <p:cNvSpPr txBox="1"/>
          <p:nvPr/>
        </p:nvSpPr>
        <p:spPr>
          <a:xfrm>
            <a:off x="458575" y="1239025"/>
            <a:ext cx="80190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i="0" lang="en-US" sz="1800" u="none" cap="none" strike="noStrike">
                <a:solidFill>
                  <a:srgbClr val="000000"/>
                </a:solidFill>
                <a:latin typeface="Roboto"/>
                <a:ea typeface="Roboto"/>
                <a:cs typeface="Roboto"/>
                <a:sym typeface="Roboto"/>
              </a:rPr>
              <a:t>Here is a listing of some the most common homonyms, homophones, and homographs. The first column contains homonyms in alphabetical order, while the second and third columns list the corresponding homonym, homophone, or homograph as applicable.</a:t>
            </a:r>
            <a:endParaRPr i="0" sz="1800" u="none" cap="none" strike="noStrike">
              <a:solidFill>
                <a:srgbClr val="000000"/>
              </a:solidFill>
              <a:latin typeface="Roboto"/>
              <a:ea typeface="Roboto"/>
              <a:cs typeface="Roboto"/>
              <a:sym typeface="Roboto"/>
            </a:endParaRPr>
          </a:p>
        </p:txBody>
      </p:sp>
      <p:graphicFrame>
        <p:nvGraphicFramePr>
          <p:cNvPr id="120" name="Google Shape;120;g31ed0d13181_0_19"/>
          <p:cNvGraphicFramePr/>
          <p:nvPr/>
        </p:nvGraphicFramePr>
        <p:xfrm>
          <a:off x="1939588" y="2532025"/>
          <a:ext cx="3000000" cy="3000000"/>
        </p:xfrm>
        <a:graphic>
          <a:graphicData uri="http://schemas.openxmlformats.org/drawingml/2006/table">
            <a:tbl>
              <a:tblPr>
                <a:noFill/>
                <a:tableStyleId>{CFC71507-511F-48EA-8214-E873954C8FB8}</a:tableStyleId>
              </a:tblPr>
              <a:tblGrid>
                <a:gridCol w="3136125"/>
                <a:gridCol w="2803400"/>
              </a:tblGrid>
              <a:tr h="33362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accept - take in</a:t>
                      </a:r>
                      <a:endParaRPr sz="16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except - other than</a:t>
                      </a:r>
                      <a:endParaRPr sz="16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417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ad - advertisement</a:t>
                      </a:r>
                      <a:endParaRPr sz="16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add - join, combine</a:t>
                      </a:r>
                      <a:endParaRPr sz="16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417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advice - guidance</a:t>
                      </a:r>
                      <a:endParaRPr sz="16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advise - recommend</a:t>
                      </a:r>
                      <a:endParaRPr sz="16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5530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aid - assist, assistance</a:t>
                      </a:r>
                      <a:endParaRPr sz="16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aide - one who gives assistance</a:t>
                      </a:r>
                      <a:endParaRPr sz="16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752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ail - to suffer poor health</a:t>
                      </a:r>
                      <a:endParaRPr sz="16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ale - a beverage</a:t>
                      </a:r>
                      <a:endParaRPr sz="16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1c41871386_0_1"/>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26" name="Google Shape;126;g31c41871386_0_1"/>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127" name="Google Shape;127;g31c41871386_0_1"/>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128" name="Google Shape;128;g31c41871386_0_1"/>
          <p:cNvGraphicFramePr/>
          <p:nvPr/>
        </p:nvGraphicFramePr>
        <p:xfrm>
          <a:off x="1099988" y="1255450"/>
          <a:ext cx="3000000" cy="3000000"/>
        </p:xfrm>
        <a:graphic>
          <a:graphicData uri="http://schemas.openxmlformats.org/drawingml/2006/table">
            <a:tbl>
              <a:tblPr>
                <a:noFill/>
                <a:tableStyleId>{CFC71507-511F-48EA-8214-E873954C8FB8}</a:tableStyleId>
              </a:tblPr>
              <a:tblGrid>
                <a:gridCol w="2154675"/>
                <a:gridCol w="2633875"/>
                <a:gridCol w="2556175"/>
              </a:tblGrid>
              <a:tr h="570775">
                <a:tc>
                  <a:txBody>
                    <a:bodyPr/>
                    <a:lstStyle/>
                    <a:p>
                      <a:pPr indent="0" lvl="0" marL="0" marR="0" rtl="0" algn="ctr">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air - atmosphere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ere - before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heir - one who inherits property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ctr">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aisle - a passage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I'll - contraction of I will</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isle - island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ctr">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allusion - an indirect reference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illusion - false appearance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ctr">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altar - table in a church</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alter - to change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ctr">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ate - past tense of eat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eight - the number 8</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1c41871386_0_7"/>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34" name="Google Shape;134;g31c41871386_0_7"/>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135" name="Google Shape;135;g31c41871386_0_7"/>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136" name="Google Shape;136;g31c41871386_0_7"/>
          <p:cNvGraphicFramePr/>
          <p:nvPr/>
        </p:nvGraphicFramePr>
        <p:xfrm>
          <a:off x="484713" y="1194388"/>
          <a:ext cx="3000000" cy="3000000"/>
        </p:xfrm>
        <a:graphic>
          <a:graphicData uri="http://schemas.openxmlformats.org/drawingml/2006/table">
            <a:tbl>
              <a:tblPr>
                <a:noFill/>
                <a:tableStyleId>{CFC71507-511F-48EA-8214-E873954C8FB8}</a:tableStyleId>
              </a:tblPr>
              <a:tblGrid>
                <a:gridCol w="2706850"/>
                <a:gridCol w="3308825"/>
                <a:gridCol w="2425925"/>
              </a:tblGrid>
              <a:tr h="68080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bail - to clear water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bail - release of a prisoner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bale - a large bundle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band - a ring, something that binds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band - a group</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banned - prohibited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bare - uncovered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bear - large animal</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bear - support, yield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bases - starting points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bases - four stations on a baseball field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basis - a basic principle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beat - to strike, overcome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beat - exhausted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beet - a plant with red roots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1c41871386_0_13"/>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42" name="Google Shape;142;g31c41871386_0_13"/>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143" name="Google Shape;143;g31c41871386_0_13"/>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144" name="Google Shape;144;g31c41871386_0_13"/>
          <p:cNvGraphicFramePr/>
          <p:nvPr/>
        </p:nvGraphicFramePr>
        <p:xfrm>
          <a:off x="545425" y="1101925"/>
          <a:ext cx="3000000" cy="3000000"/>
        </p:xfrm>
        <a:graphic>
          <a:graphicData uri="http://schemas.openxmlformats.org/drawingml/2006/table">
            <a:tbl>
              <a:tblPr>
                <a:noFill/>
                <a:tableStyleId>{CFC71507-511F-48EA-8214-E873954C8FB8}</a:tableStyleId>
              </a:tblPr>
              <a:tblGrid>
                <a:gridCol w="2631150"/>
                <a:gridCol w="3216325"/>
                <a:gridCol w="2358075"/>
              </a:tblGrid>
              <a:tr h="6699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blew - past tense of blow</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blue - the color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bread - baked food item</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bred - produced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buy - purchase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by - near, through</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bye - goodbye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860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capital - punishable by death</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capital - chief city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capitol - building where legislature meets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ceiling - top of a room</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sealing - setting, fastening</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1c41871386_0_19"/>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50" name="Google Shape;150;g31c41871386_0_19"/>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151" name="Google Shape;151;g31c41871386_0_19"/>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152" name="Google Shape;152;g31c41871386_0_19"/>
          <p:cNvGraphicFramePr/>
          <p:nvPr/>
        </p:nvGraphicFramePr>
        <p:xfrm>
          <a:off x="348413" y="934213"/>
          <a:ext cx="3000000" cy="3000000"/>
        </p:xfrm>
        <a:graphic>
          <a:graphicData uri="http://schemas.openxmlformats.org/drawingml/2006/table">
            <a:tbl>
              <a:tblPr>
                <a:noFill/>
                <a:tableStyleId>{CFC71507-511F-48EA-8214-E873954C8FB8}</a:tableStyleId>
              </a:tblPr>
              <a:tblGrid>
                <a:gridCol w="2742400"/>
                <a:gridCol w="3352350"/>
                <a:gridCol w="2457775"/>
              </a:tblGrid>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cell - compartment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sell - vend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cent - penny coin</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scent - an odor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sent - past tense of send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cereal - breakfast food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serial - sequential</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chews - gnaws with teeth</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choose - to select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Chile- country in South America</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chili - bean stew</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chilly - frosty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chord - musical tone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cord - rope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cite - quote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site - location</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sight - view</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1c41871386_0_25"/>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58" name="Google Shape;158;g31c41871386_0_25"/>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159" name="Google Shape;159;g31c41871386_0_25"/>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160" name="Google Shape;160;g31c41871386_0_25"/>
          <p:cNvGraphicFramePr/>
          <p:nvPr/>
        </p:nvGraphicFramePr>
        <p:xfrm>
          <a:off x="1245938" y="1182688"/>
          <a:ext cx="3000000" cy="3000000"/>
        </p:xfrm>
        <a:graphic>
          <a:graphicData uri="http://schemas.openxmlformats.org/drawingml/2006/table">
            <a:tbl>
              <a:tblPr>
                <a:noFill/>
                <a:tableStyleId>{CFC71507-511F-48EA-8214-E873954C8FB8}</a:tableStyleId>
              </a:tblPr>
              <a:tblGrid>
                <a:gridCol w="2993225"/>
                <a:gridCol w="3658900"/>
              </a:tblGrid>
              <a:tr h="669925">
                <a:tc>
                  <a:txBody>
                    <a:bodyPr/>
                    <a:lstStyle/>
                    <a:p>
                      <a:pPr indent="0" lvl="0" marL="0" marR="0" rtl="0" algn="l">
                        <a:lnSpc>
                          <a:spcPct val="115000"/>
                        </a:lnSpc>
                        <a:spcBef>
                          <a:spcPts val="0"/>
                        </a:spcBef>
                        <a:spcAft>
                          <a:spcPts val="0"/>
                        </a:spcAft>
                        <a:buClr>
                          <a:srgbClr val="000000"/>
                        </a:buClr>
                        <a:buSzPts val="1300"/>
                        <a:buFont typeface="Arial"/>
                        <a:buNone/>
                      </a:pPr>
                      <a:r>
                        <a:rPr lang="en-US" sz="1800" u="none" cap="none" strike="noStrike">
                          <a:solidFill>
                            <a:srgbClr val="282828"/>
                          </a:solidFill>
                          <a:highlight>
                            <a:srgbClr val="FFFFFF"/>
                          </a:highlight>
                          <a:latin typeface="Roboto"/>
                          <a:ea typeface="Roboto"/>
                          <a:cs typeface="Roboto"/>
                          <a:sym typeface="Roboto"/>
                        </a:rPr>
                        <a:t>close - opposite of open</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rPr lang="en-US" sz="1800" u="none" cap="none" strike="noStrike">
                          <a:solidFill>
                            <a:srgbClr val="282828"/>
                          </a:solidFill>
                          <a:highlight>
                            <a:srgbClr val="FFFFFF"/>
                          </a:highlight>
                          <a:latin typeface="Roboto"/>
                          <a:ea typeface="Roboto"/>
                          <a:cs typeface="Roboto"/>
                          <a:sym typeface="Roboto"/>
                        </a:rPr>
                        <a:t>clothes - clothing</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15000"/>
                        </a:lnSpc>
                        <a:spcBef>
                          <a:spcPts val="0"/>
                        </a:spcBef>
                        <a:spcAft>
                          <a:spcPts val="0"/>
                        </a:spcAft>
                        <a:buClr>
                          <a:srgbClr val="000000"/>
                        </a:buClr>
                        <a:buSzPts val="1300"/>
                        <a:buFont typeface="Arial"/>
                        <a:buNone/>
                      </a:pPr>
                      <a:r>
                        <a:rPr lang="en-US" sz="1800" u="none" cap="none" strike="noStrike">
                          <a:solidFill>
                            <a:srgbClr val="282828"/>
                          </a:solidFill>
                          <a:highlight>
                            <a:srgbClr val="FFFFFF"/>
                          </a:highlight>
                          <a:uFill>
                            <a:noFill/>
                          </a:uFill>
                          <a:latin typeface="Roboto"/>
                          <a:ea typeface="Roboto"/>
                          <a:cs typeface="Roboto"/>
                          <a:sym typeface="Roboto"/>
                          <a:hlinkClick r:id="rId3">
                            <a:extLst>
                              <a:ext uri="{A12FA001-AC4F-418D-AE19-62706E023703}">
                                <ahyp:hlinkClr val="tx"/>
                              </a:ext>
                            </a:extLst>
                          </a:hlinkClick>
                        </a:rPr>
                        <a:t>coarse</a:t>
                      </a:r>
                      <a:r>
                        <a:rPr lang="en-US" sz="1800" u="none" cap="none" strike="noStrike">
                          <a:solidFill>
                            <a:srgbClr val="282828"/>
                          </a:solidFill>
                          <a:highlight>
                            <a:srgbClr val="FFFFFF"/>
                          </a:highlight>
                          <a:latin typeface="Roboto"/>
                          <a:ea typeface="Roboto"/>
                          <a:cs typeface="Roboto"/>
                          <a:sym typeface="Roboto"/>
                        </a:rPr>
                        <a:t> - rough</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rPr lang="en-US" sz="1800" u="none" cap="none" strike="noStrike">
                          <a:solidFill>
                            <a:srgbClr val="282828"/>
                          </a:solidFill>
                          <a:highlight>
                            <a:srgbClr val="FFFFFF"/>
                          </a:highlight>
                          <a:latin typeface="Roboto"/>
                          <a:ea typeface="Roboto"/>
                          <a:cs typeface="Roboto"/>
                          <a:sym typeface="Roboto"/>
                        </a:rPr>
                        <a:t>course - path, procedure</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l">
                        <a:lnSpc>
                          <a:spcPct val="115000"/>
                        </a:lnSpc>
                        <a:spcBef>
                          <a:spcPts val="0"/>
                        </a:spcBef>
                        <a:spcAft>
                          <a:spcPts val="0"/>
                        </a:spcAft>
                        <a:buClr>
                          <a:srgbClr val="000000"/>
                        </a:buClr>
                        <a:buSzPts val="1300"/>
                        <a:buFont typeface="Arial"/>
                        <a:buNone/>
                      </a:pPr>
                      <a:r>
                        <a:rPr lang="en-US" sz="1800" u="none" cap="none" strike="noStrike">
                          <a:solidFill>
                            <a:srgbClr val="282828"/>
                          </a:solidFill>
                          <a:highlight>
                            <a:srgbClr val="FFFFFF"/>
                          </a:highlight>
                          <a:latin typeface="Roboto"/>
                          <a:ea typeface="Roboto"/>
                          <a:cs typeface="Roboto"/>
                          <a:sym typeface="Roboto"/>
                        </a:rPr>
                        <a:t>complement – enhance; go together</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rPr lang="en-US" sz="1800" u="none" cap="none" strike="noStrike">
                          <a:solidFill>
                            <a:srgbClr val="282828"/>
                          </a:solidFill>
                          <a:highlight>
                            <a:srgbClr val="FFFFFF"/>
                          </a:highlight>
                          <a:latin typeface="Roboto"/>
                          <a:ea typeface="Roboto"/>
                          <a:cs typeface="Roboto"/>
                          <a:sym typeface="Roboto"/>
                        </a:rPr>
                        <a:t>compliment - praise</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15000"/>
                        </a:lnSpc>
                        <a:spcBef>
                          <a:spcPts val="0"/>
                        </a:spcBef>
                        <a:spcAft>
                          <a:spcPts val="0"/>
                        </a:spcAft>
                        <a:buClr>
                          <a:srgbClr val="000000"/>
                        </a:buClr>
                        <a:buSzPts val="1300"/>
                        <a:buFont typeface="Arial"/>
                        <a:buNone/>
                      </a:pPr>
                      <a:r>
                        <a:rPr lang="en-US" sz="1800" u="none" cap="none" strike="noStrike">
                          <a:solidFill>
                            <a:srgbClr val="282828"/>
                          </a:solidFill>
                          <a:highlight>
                            <a:srgbClr val="FFFFFF"/>
                          </a:highlight>
                          <a:latin typeface="Roboto"/>
                          <a:ea typeface="Roboto"/>
                          <a:cs typeface="Roboto"/>
                          <a:sym typeface="Roboto"/>
                        </a:rPr>
                        <a:t>conduct - behavior</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rPr lang="en-US" sz="1800" u="none" cap="none" strike="noStrike">
                          <a:solidFill>
                            <a:srgbClr val="282828"/>
                          </a:solidFill>
                          <a:highlight>
                            <a:srgbClr val="FFFFFF"/>
                          </a:highlight>
                          <a:latin typeface="Roboto"/>
                          <a:ea typeface="Roboto"/>
                          <a:cs typeface="Roboto"/>
                          <a:sym typeface="Roboto"/>
                        </a:rPr>
                        <a:t>conduct - to lead</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15000"/>
                        </a:lnSpc>
                        <a:spcBef>
                          <a:spcPts val="0"/>
                        </a:spcBef>
                        <a:spcAft>
                          <a:spcPts val="0"/>
                        </a:spcAft>
                        <a:buClr>
                          <a:srgbClr val="000000"/>
                        </a:buClr>
                        <a:buSzPts val="1300"/>
                        <a:buFont typeface="Arial"/>
                        <a:buNone/>
                      </a:pPr>
                      <a:r>
                        <a:rPr lang="en-US" sz="1800" u="none" cap="none" strike="noStrike">
                          <a:solidFill>
                            <a:srgbClr val="282828"/>
                          </a:solidFill>
                          <a:highlight>
                            <a:srgbClr val="FFFFFF"/>
                          </a:highlight>
                          <a:uFill>
                            <a:noFill/>
                          </a:uFill>
                          <a:latin typeface="Roboto"/>
                          <a:ea typeface="Roboto"/>
                          <a:cs typeface="Roboto"/>
                          <a:sym typeface="Roboto"/>
                          <a:hlinkClick r:id="rId4">
                            <a:extLst>
                              <a:ext uri="{A12FA001-AC4F-418D-AE19-62706E023703}">
                                <ahyp:hlinkClr val="tx"/>
                              </a:ext>
                            </a:extLst>
                          </a:hlinkClick>
                        </a:rPr>
                        <a:t>council</a:t>
                      </a:r>
                      <a:r>
                        <a:rPr lang="en-US" sz="1800" u="none" cap="none" strike="noStrike">
                          <a:solidFill>
                            <a:srgbClr val="282828"/>
                          </a:solidFill>
                          <a:highlight>
                            <a:srgbClr val="FFFFFF"/>
                          </a:highlight>
                          <a:latin typeface="Roboto"/>
                          <a:ea typeface="Roboto"/>
                          <a:cs typeface="Roboto"/>
                          <a:sym typeface="Roboto"/>
                        </a:rPr>
                        <a:t> - committee</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rPr lang="en-US" sz="1800" u="none" cap="none" strike="noStrike">
                          <a:solidFill>
                            <a:srgbClr val="282828"/>
                          </a:solidFill>
                          <a:highlight>
                            <a:srgbClr val="FFFFFF"/>
                          </a:highlight>
                          <a:latin typeface="Roboto"/>
                          <a:ea typeface="Roboto"/>
                          <a:cs typeface="Roboto"/>
                          <a:sym typeface="Roboto"/>
                        </a:rPr>
                        <a:t>counsel - guidance</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1c41871386_0_31"/>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66" name="Google Shape;166;g31c41871386_0_31"/>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167" name="Google Shape;167;g31c41871386_0_31"/>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168" name="Google Shape;168;g31c41871386_0_31"/>
          <p:cNvGraphicFramePr/>
          <p:nvPr/>
        </p:nvGraphicFramePr>
        <p:xfrm>
          <a:off x="505625" y="934225"/>
          <a:ext cx="3000000" cy="3000000"/>
        </p:xfrm>
        <a:graphic>
          <a:graphicData uri="http://schemas.openxmlformats.org/drawingml/2006/table">
            <a:tbl>
              <a:tblPr>
                <a:noFill/>
                <a:tableStyleId>{CFC71507-511F-48EA-8214-E873954C8FB8}</a:tableStyleId>
              </a:tblPr>
              <a:tblGrid>
                <a:gridCol w="2445475"/>
                <a:gridCol w="2908450"/>
                <a:gridCol w="2171275"/>
              </a:tblGrid>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creak - squeak</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creek - stream of water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crews - gangs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cruise - ride on a boat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days - plural of day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daze - stun</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dear - darling</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deer- woodland animal</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desert - to abandon</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desert - dry land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dessert - after-dinner treat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dew - morning mist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do - operate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due - payable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die - cease to exist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dye - color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1c41871386_0_37"/>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74" name="Google Shape;174;g31c41871386_0_37"/>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175" name="Google Shape;175;g31c41871386_0_37"/>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176" name="Google Shape;176;g31c41871386_0_37"/>
          <p:cNvGraphicFramePr/>
          <p:nvPr/>
        </p:nvGraphicFramePr>
        <p:xfrm>
          <a:off x="952325" y="1008325"/>
          <a:ext cx="3000000" cy="3000000"/>
        </p:xfrm>
        <a:graphic>
          <a:graphicData uri="http://schemas.openxmlformats.org/drawingml/2006/table">
            <a:tbl>
              <a:tblPr>
                <a:noFill/>
                <a:tableStyleId>{CFC71507-511F-48EA-8214-E873954C8FB8}</a:tableStyleId>
              </a:tblPr>
              <a:tblGrid>
                <a:gridCol w="2176625"/>
                <a:gridCol w="5062725"/>
              </a:tblGrid>
              <a:tr h="414250">
                <a:tc>
                  <a:txBody>
                    <a:bodyPr/>
                    <a:lstStyle/>
                    <a:p>
                      <a:pPr indent="0" lvl="0" marL="0" marR="0" rtl="0" algn="l">
                        <a:lnSpc>
                          <a:spcPct val="115000"/>
                        </a:lnSpc>
                        <a:spcBef>
                          <a:spcPts val="0"/>
                        </a:spcBef>
                        <a:spcAft>
                          <a:spcPts val="0"/>
                        </a:spcAft>
                        <a:buClr>
                          <a:srgbClr val="000000"/>
                        </a:buClr>
                        <a:buSzPts val="1500"/>
                        <a:buFont typeface="Arial"/>
                        <a:buNone/>
                      </a:pPr>
                      <a:r>
                        <a:rPr lang="en-US" sz="1800" u="none" cap="none" strike="noStrike">
                          <a:solidFill>
                            <a:srgbClr val="282828"/>
                          </a:solidFill>
                          <a:highlight>
                            <a:srgbClr val="FFFFFF"/>
                          </a:highlight>
                          <a:uFill>
                            <a:noFill/>
                          </a:uFill>
                          <a:latin typeface="Roboto"/>
                          <a:ea typeface="Roboto"/>
                          <a:cs typeface="Roboto"/>
                          <a:sym typeface="Roboto"/>
                          <a:hlinkClick r:id="rId3">
                            <a:extLst>
                              <a:ext uri="{A12FA001-AC4F-418D-AE19-62706E023703}">
                                <ahyp:hlinkClr val="tx"/>
                              </a:ext>
                            </a:extLst>
                          </a:hlinkClick>
                        </a:rPr>
                        <a:t>discreet</a:t>
                      </a:r>
                      <a:r>
                        <a:rPr lang="en-US" sz="1800" u="none" cap="none" strike="noStrike">
                          <a:solidFill>
                            <a:srgbClr val="282828"/>
                          </a:solidFill>
                          <a:highlight>
                            <a:srgbClr val="FFFFFF"/>
                          </a:highlight>
                          <a:latin typeface="Roboto"/>
                          <a:ea typeface="Roboto"/>
                          <a:cs typeface="Roboto"/>
                          <a:sym typeface="Roboto"/>
                        </a:rPr>
                        <a:t> - tactful</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rPr lang="en-US" sz="1800" u="none" cap="none" strike="noStrike">
                          <a:solidFill>
                            <a:srgbClr val="282828"/>
                          </a:solidFill>
                          <a:highlight>
                            <a:srgbClr val="FFFFFF"/>
                          </a:highlight>
                          <a:latin typeface="Roboto"/>
                          <a:ea typeface="Roboto"/>
                          <a:cs typeface="Roboto"/>
                          <a:sym typeface="Roboto"/>
                        </a:rPr>
                        <a:t>discrete - distinct</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14250">
                <a:tc>
                  <a:txBody>
                    <a:bodyPr/>
                    <a:lstStyle/>
                    <a:p>
                      <a:pPr indent="0" lvl="0" marL="0" marR="0" rtl="0" algn="l">
                        <a:lnSpc>
                          <a:spcPct val="115000"/>
                        </a:lnSpc>
                        <a:spcBef>
                          <a:spcPts val="0"/>
                        </a:spcBef>
                        <a:spcAft>
                          <a:spcPts val="0"/>
                        </a:spcAft>
                        <a:buClr>
                          <a:srgbClr val="000000"/>
                        </a:buClr>
                        <a:buSzPts val="1500"/>
                        <a:buFont typeface="Arial"/>
                        <a:buNone/>
                      </a:pPr>
                      <a:r>
                        <a:rPr lang="en-US" sz="1800" u="none" cap="none" strike="noStrike">
                          <a:solidFill>
                            <a:srgbClr val="282828"/>
                          </a:solidFill>
                          <a:highlight>
                            <a:srgbClr val="FFFFFF"/>
                          </a:highlight>
                          <a:latin typeface="Roboto"/>
                          <a:ea typeface="Roboto"/>
                          <a:cs typeface="Roboto"/>
                          <a:sym typeface="Roboto"/>
                        </a:rPr>
                        <a:t>doe - female deer</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rPr lang="en-US" sz="1800" u="none" cap="none" strike="noStrike">
                          <a:solidFill>
                            <a:srgbClr val="282828"/>
                          </a:solidFill>
                          <a:highlight>
                            <a:srgbClr val="FFFFFF"/>
                          </a:highlight>
                          <a:latin typeface="Roboto"/>
                          <a:ea typeface="Roboto"/>
                          <a:cs typeface="Roboto"/>
                          <a:sym typeface="Roboto"/>
                        </a:rPr>
                        <a:t>dough - uncooked bread</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14250">
                <a:tc>
                  <a:txBody>
                    <a:bodyPr/>
                    <a:lstStyle/>
                    <a:p>
                      <a:pPr indent="0" lvl="0" marL="0" marR="0" rtl="0" algn="l">
                        <a:lnSpc>
                          <a:spcPct val="115000"/>
                        </a:lnSpc>
                        <a:spcBef>
                          <a:spcPts val="0"/>
                        </a:spcBef>
                        <a:spcAft>
                          <a:spcPts val="0"/>
                        </a:spcAft>
                        <a:buClr>
                          <a:srgbClr val="000000"/>
                        </a:buClr>
                        <a:buSzPts val="1500"/>
                        <a:buFont typeface="Arial"/>
                        <a:buNone/>
                      </a:pPr>
                      <a:r>
                        <a:rPr lang="en-US" sz="1800" u="none" cap="none" strike="noStrike">
                          <a:solidFill>
                            <a:srgbClr val="282828"/>
                          </a:solidFill>
                          <a:highlight>
                            <a:srgbClr val="FFFFFF"/>
                          </a:highlight>
                          <a:latin typeface="Roboto"/>
                          <a:ea typeface="Roboto"/>
                          <a:cs typeface="Roboto"/>
                          <a:sym typeface="Roboto"/>
                        </a:rPr>
                        <a:t>dual - double</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rPr lang="en-US" sz="1800" u="none" cap="none" strike="noStrike">
                          <a:solidFill>
                            <a:srgbClr val="282828"/>
                          </a:solidFill>
                          <a:highlight>
                            <a:srgbClr val="FFFFFF"/>
                          </a:highlight>
                          <a:latin typeface="Roboto"/>
                          <a:ea typeface="Roboto"/>
                          <a:cs typeface="Roboto"/>
                          <a:sym typeface="Roboto"/>
                        </a:rPr>
                        <a:t>duel - battle</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14250">
                <a:tc>
                  <a:txBody>
                    <a:bodyPr/>
                    <a:lstStyle/>
                    <a:p>
                      <a:pPr indent="0" lvl="0" marL="0" marR="0" rtl="0" algn="l">
                        <a:lnSpc>
                          <a:spcPct val="115000"/>
                        </a:lnSpc>
                        <a:spcBef>
                          <a:spcPts val="0"/>
                        </a:spcBef>
                        <a:spcAft>
                          <a:spcPts val="0"/>
                        </a:spcAft>
                        <a:buClr>
                          <a:srgbClr val="000000"/>
                        </a:buClr>
                        <a:buSzPts val="1500"/>
                        <a:buFont typeface="Arial"/>
                        <a:buNone/>
                      </a:pPr>
                      <a:r>
                        <a:rPr lang="en-US" sz="1800" u="none" cap="none" strike="noStrike">
                          <a:solidFill>
                            <a:srgbClr val="282828"/>
                          </a:solidFill>
                          <a:highlight>
                            <a:srgbClr val="FFFFFF"/>
                          </a:highlight>
                          <a:latin typeface="Roboto"/>
                          <a:ea typeface="Roboto"/>
                          <a:cs typeface="Roboto"/>
                          <a:sym typeface="Roboto"/>
                        </a:rPr>
                        <a:t>elicit - draw out</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rPr lang="en-US" sz="1800" u="none" cap="none" strike="noStrike">
                          <a:solidFill>
                            <a:srgbClr val="282828"/>
                          </a:solidFill>
                          <a:highlight>
                            <a:srgbClr val="FFFFFF"/>
                          </a:highlight>
                          <a:latin typeface="Roboto"/>
                          <a:ea typeface="Roboto"/>
                          <a:cs typeface="Roboto"/>
                          <a:sym typeface="Roboto"/>
                        </a:rPr>
                        <a:t>illicit - illegal</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8750">
                <a:tc>
                  <a:txBody>
                    <a:bodyPr/>
                    <a:lstStyle/>
                    <a:p>
                      <a:pPr indent="0" lvl="0" marL="0" marR="0" rtl="0" algn="l">
                        <a:lnSpc>
                          <a:spcPct val="115000"/>
                        </a:lnSpc>
                        <a:spcBef>
                          <a:spcPts val="0"/>
                        </a:spcBef>
                        <a:spcAft>
                          <a:spcPts val="0"/>
                        </a:spcAft>
                        <a:buClr>
                          <a:srgbClr val="000000"/>
                        </a:buClr>
                        <a:buSzPts val="1500"/>
                        <a:buFont typeface="Arial"/>
                        <a:buNone/>
                      </a:pPr>
                      <a:r>
                        <a:rPr lang="en-US" sz="1800" u="none" cap="none" strike="noStrike">
                          <a:solidFill>
                            <a:srgbClr val="282828"/>
                          </a:solidFill>
                          <a:highlight>
                            <a:srgbClr val="FFFFFF"/>
                          </a:highlight>
                          <a:latin typeface="Roboto"/>
                          <a:ea typeface="Roboto"/>
                          <a:cs typeface="Roboto"/>
                          <a:sym typeface="Roboto"/>
                        </a:rPr>
                        <a:t>eminent - distinguished</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rPr lang="en-US" sz="1800" u="none" cap="none" strike="noStrike">
                          <a:solidFill>
                            <a:srgbClr val="282828"/>
                          </a:solidFill>
                          <a:highlight>
                            <a:srgbClr val="FFFFFF"/>
                          </a:highlight>
                          <a:latin typeface="Roboto"/>
                          <a:ea typeface="Roboto"/>
                          <a:cs typeface="Roboto"/>
                          <a:sym typeface="Roboto"/>
                        </a:rPr>
                        <a:t>imminent - soon</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578875">
                <a:tc>
                  <a:txBody>
                    <a:bodyPr/>
                    <a:lstStyle/>
                    <a:p>
                      <a:pPr indent="0" lvl="0" marL="0" marR="0" rtl="0" algn="l">
                        <a:lnSpc>
                          <a:spcPct val="115000"/>
                        </a:lnSpc>
                        <a:spcBef>
                          <a:spcPts val="0"/>
                        </a:spcBef>
                        <a:spcAft>
                          <a:spcPts val="0"/>
                        </a:spcAft>
                        <a:buClr>
                          <a:srgbClr val="000000"/>
                        </a:buClr>
                        <a:buSzPts val="1500"/>
                        <a:buFont typeface="Arial"/>
                        <a:buNone/>
                      </a:pPr>
                      <a:r>
                        <a:rPr lang="en-US" sz="1800" u="none" cap="none" strike="noStrike">
                          <a:solidFill>
                            <a:srgbClr val="282828"/>
                          </a:solidFill>
                          <a:highlight>
                            <a:srgbClr val="FFFFFF"/>
                          </a:highlight>
                          <a:latin typeface="Roboto"/>
                          <a:ea typeface="Roboto"/>
                          <a:cs typeface="Roboto"/>
                          <a:sym typeface="Roboto"/>
                        </a:rPr>
                        <a:t>ewe - female sheep</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rPr lang="en-US" sz="1800" u="none" cap="none" strike="noStrike">
                          <a:solidFill>
                            <a:srgbClr val="282828"/>
                          </a:solidFill>
                          <a:highlight>
                            <a:srgbClr val="FFFFFF"/>
                          </a:highlight>
                          <a:latin typeface="Roboto"/>
                          <a:ea typeface="Roboto"/>
                          <a:cs typeface="Roboto"/>
                          <a:sym typeface="Roboto"/>
                        </a:rPr>
                        <a:t>you - second-person personal pronoun</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578875">
                <a:tc>
                  <a:txBody>
                    <a:bodyPr/>
                    <a:lstStyle/>
                    <a:p>
                      <a:pPr indent="0" lvl="0" marL="0" marR="0" rtl="0" algn="l">
                        <a:lnSpc>
                          <a:spcPct val="115000"/>
                        </a:lnSpc>
                        <a:spcBef>
                          <a:spcPts val="0"/>
                        </a:spcBef>
                        <a:spcAft>
                          <a:spcPts val="0"/>
                        </a:spcAft>
                        <a:buClr>
                          <a:srgbClr val="000000"/>
                        </a:buClr>
                        <a:buSzPts val="1500"/>
                        <a:buFont typeface="Arial"/>
                        <a:buNone/>
                      </a:pPr>
                      <a:r>
                        <a:rPr lang="en-US" sz="1800" u="none" cap="none" strike="noStrike">
                          <a:solidFill>
                            <a:srgbClr val="282828"/>
                          </a:solidFill>
                          <a:highlight>
                            <a:srgbClr val="FFFFFF"/>
                          </a:highlight>
                          <a:latin typeface="Roboto"/>
                          <a:ea typeface="Roboto"/>
                          <a:cs typeface="Roboto"/>
                          <a:sym typeface="Roboto"/>
                        </a:rPr>
                        <a:t>eye - sight organ</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rPr lang="en-US" sz="1800" u="none" cap="none" strike="noStrike">
                          <a:solidFill>
                            <a:srgbClr val="282828"/>
                          </a:solidFill>
                          <a:highlight>
                            <a:srgbClr val="FFFFFF"/>
                          </a:highlight>
                          <a:latin typeface="Roboto"/>
                          <a:ea typeface="Roboto"/>
                          <a:cs typeface="Roboto"/>
                          <a:sym typeface="Roboto"/>
                        </a:rPr>
                        <a:t>I - first-person personal pronoun</a:t>
                      </a:r>
                      <a:endParaRPr sz="1800" u="none" cap="none" strike="noStrike">
                        <a:solidFill>
                          <a:srgbClr val="282828"/>
                        </a:solidFill>
                        <a:highlight>
                          <a:srgbClr val="FFFFFF"/>
                        </a:highlight>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1c41871386_0_49"/>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82" name="Google Shape;182;g31c41871386_0_49"/>
          <p:cNvSpPr txBox="1"/>
          <p:nvPr/>
        </p:nvSpPr>
        <p:spPr>
          <a:xfrm>
            <a:off x="3833250" y="2492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183" name="Google Shape;183;g31c41871386_0_49"/>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184" name="Google Shape;184;g31c41871386_0_49"/>
          <p:cNvGraphicFramePr/>
          <p:nvPr/>
        </p:nvGraphicFramePr>
        <p:xfrm>
          <a:off x="785013" y="752350"/>
          <a:ext cx="3000000" cy="3000000"/>
        </p:xfrm>
        <a:graphic>
          <a:graphicData uri="http://schemas.openxmlformats.org/drawingml/2006/table">
            <a:tbl>
              <a:tblPr>
                <a:noFill/>
                <a:tableStyleId>{CFC71507-511F-48EA-8214-E873954C8FB8}</a:tableStyleId>
              </a:tblPr>
              <a:tblGrid>
                <a:gridCol w="3459500"/>
                <a:gridCol w="4114475"/>
              </a:tblGrid>
              <a:tr h="57075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facts - true things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fax - a document transmitted via telephone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0845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fair - equal</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fare - price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57075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fairy - elf like creature with wings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ferry - boat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0845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faze - impact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phase - stage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0845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feat - achievement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feet - plural of foot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0845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find - to discover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fined - charged a penalty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0845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fir - type of tree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fur - animal hair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57075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flea - small biting insect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flee - run</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1c41871386_0_43"/>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90" name="Google Shape;190;g31c41871386_0_43"/>
          <p:cNvSpPr txBox="1"/>
          <p:nvPr/>
        </p:nvSpPr>
        <p:spPr>
          <a:xfrm>
            <a:off x="3833250" y="2492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191" name="Google Shape;191;g31c41871386_0_43"/>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192" name="Google Shape;192;g31c41871386_0_43"/>
          <p:cNvGraphicFramePr/>
          <p:nvPr/>
        </p:nvGraphicFramePr>
        <p:xfrm>
          <a:off x="786350" y="734588"/>
          <a:ext cx="3000000" cy="3000000"/>
        </p:xfrm>
        <a:graphic>
          <a:graphicData uri="http://schemas.openxmlformats.org/drawingml/2006/table">
            <a:tbl>
              <a:tblPr>
                <a:noFill/>
                <a:tableStyleId>{CFC71507-511F-48EA-8214-E873954C8FB8}</a:tableStyleId>
              </a:tblPr>
              <a:tblGrid>
                <a:gridCol w="2475700"/>
                <a:gridCol w="2944400"/>
                <a:gridCol w="2151200"/>
              </a:tblGrid>
              <a:tr h="382725">
                <a:tc>
                  <a:txBody>
                    <a:bodyPr/>
                    <a:lstStyle/>
                    <a:p>
                      <a:pPr indent="0" lvl="0" marL="0" marR="0" rtl="0" algn="l">
                        <a:lnSpc>
                          <a:spcPct val="100000"/>
                        </a:lnSpc>
                        <a:spcBef>
                          <a:spcPts val="0"/>
                        </a:spcBef>
                        <a:spcAft>
                          <a:spcPts val="0"/>
                        </a:spcAft>
                        <a:buClr>
                          <a:srgbClr val="000000"/>
                        </a:buClr>
                        <a:buSzPts val="1400"/>
                        <a:buFont typeface="Arial"/>
                        <a:buNone/>
                      </a:pPr>
                      <a:r>
                        <a:rPr lang="en-US" sz="1800" u="sng" cap="none" strike="noStrike">
                          <a:solidFill>
                            <a:srgbClr val="0097A7"/>
                          </a:solidFill>
                          <a:latin typeface="Roboto"/>
                          <a:ea typeface="Roboto"/>
                          <a:cs typeface="Roboto"/>
                          <a:sym typeface="Roboto"/>
                          <a:hlinkClick r:id="rId3">
                            <a:extLst>
                              <a:ext uri="{A12FA001-AC4F-418D-AE19-62706E023703}">
                                <ahyp:hlinkClr val="tx"/>
                              </a:ext>
                            </a:extLst>
                          </a:hlinkClick>
                        </a:rPr>
                        <a:t>flew</a:t>
                      </a:r>
                      <a:r>
                        <a:rPr lang="en-US" sz="1800" u="none" cap="none" strike="noStrike">
                          <a:latin typeface="Roboto"/>
                          <a:ea typeface="Roboto"/>
                          <a:cs typeface="Roboto"/>
                          <a:sym typeface="Roboto"/>
                        </a:rPr>
                        <a:t> - did fly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flu - illness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094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flour - powdery, ground up grain</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flower - blooming plant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094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for - on behalf of</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fore - front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four - three plus one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827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forth - onward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fourth - number four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85695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foreword - introduction to a book</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forward - advancing</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827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gene - a chromosome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jean - fabric; pants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827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gorilla - big ape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guerrilla - warrior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1c41871386_0_66"/>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98" name="Google Shape;198;g31c41871386_0_66"/>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199" name="Google Shape;199;g31c41871386_0_66"/>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200" name="Google Shape;200;g31c41871386_0_66"/>
          <p:cNvGraphicFramePr/>
          <p:nvPr/>
        </p:nvGraphicFramePr>
        <p:xfrm>
          <a:off x="599813" y="1076938"/>
          <a:ext cx="3000000" cy="3000000"/>
        </p:xfrm>
        <a:graphic>
          <a:graphicData uri="http://schemas.openxmlformats.org/drawingml/2006/table">
            <a:tbl>
              <a:tblPr>
                <a:noFill/>
                <a:tableStyleId>{CFC71507-511F-48EA-8214-E873954C8FB8}</a:tableStyleId>
              </a:tblPr>
              <a:tblGrid>
                <a:gridCol w="3628700"/>
                <a:gridCol w="4315675"/>
              </a:tblGrid>
              <a:tr h="41817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grease - fat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Greece - country in Europe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1817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groan - moan</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grown - form of grow</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1817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hair - head covering</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hare - rabbit-like animal</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1817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hall - passageway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haul - tow</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1817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halve - cut in two parts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have - possess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584350">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hay - animal food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hey - interjection to get attention</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1817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heal - mend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heel - back of foot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1817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hear - to listen</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here - at this place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1c41871386_0_72"/>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06" name="Google Shape;206;g31c41871386_0_72"/>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207" name="Google Shape;207;g31c41871386_0_72"/>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208" name="Google Shape;208;g31c41871386_0_72"/>
          <p:cNvGraphicFramePr/>
          <p:nvPr/>
        </p:nvGraphicFramePr>
        <p:xfrm>
          <a:off x="658075" y="882650"/>
          <a:ext cx="3000000" cy="3000000"/>
        </p:xfrm>
        <a:graphic>
          <a:graphicData uri="http://schemas.openxmlformats.org/drawingml/2006/table">
            <a:tbl>
              <a:tblPr>
                <a:noFill/>
                <a:tableStyleId>{CFC71507-511F-48EA-8214-E873954C8FB8}</a:tableStyleId>
              </a:tblPr>
              <a:tblGrid>
                <a:gridCol w="2240900"/>
                <a:gridCol w="2665175"/>
                <a:gridCol w="3136200"/>
              </a:tblGrid>
              <a:tr h="359100">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hi - hello</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high - up far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59100">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hoarse - croaky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horse - riding animal</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59100">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hole - opening</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whole - entire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0457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holey - full of holes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holy - divine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wholly - entirely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0457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hoarse - rough voice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horse - animal</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0457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hour - sixty minutes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our - belonging to us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59100">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knead - massage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need - desire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59100">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knew - did know</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new - not old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1c41871386_0_78"/>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14" name="Google Shape;214;g31c41871386_0_78"/>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215" name="Google Shape;215;g31c41871386_0_78"/>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216" name="Google Shape;216;g31c41871386_0_78"/>
          <p:cNvGraphicFramePr/>
          <p:nvPr/>
        </p:nvGraphicFramePr>
        <p:xfrm>
          <a:off x="1347000" y="743300"/>
          <a:ext cx="3000000" cy="3000000"/>
        </p:xfrm>
        <a:graphic>
          <a:graphicData uri="http://schemas.openxmlformats.org/drawingml/2006/table">
            <a:tbl>
              <a:tblPr>
                <a:noFill/>
                <a:tableStyleId>{CFC71507-511F-48EA-8214-E873954C8FB8}</a:tableStyleId>
              </a:tblPr>
              <a:tblGrid>
                <a:gridCol w="3428500"/>
                <a:gridCol w="3658375"/>
              </a:tblGrid>
              <a:tr h="6699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knight - feudal horseman</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night - evening</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knot - tied rope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not - negative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know - have knowledge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no - opposite of yes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lead - metal</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led - was the leader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leased - past tense of lease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least - the minimum</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lessen - make smaller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lesson - class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loan - lend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lone - solitary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1c41871386_0_84"/>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222" name="Google Shape;222;g31c41871386_0_84"/>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223" name="Google Shape;223;g31c41871386_0_84"/>
          <p:cNvGraphicFramePr/>
          <p:nvPr/>
        </p:nvGraphicFramePr>
        <p:xfrm>
          <a:off x="799250" y="930350"/>
          <a:ext cx="3000000" cy="3000000"/>
        </p:xfrm>
        <a:graphic>
          <a:graphicData uri="http://schemas.openxmlformats.org/drawingml/2006/table">
            <a:tbl>
              <a:tblPr>
                <a:noFill/>
                <a:tableStyleId>{CFC71507-511F-48EA-8214-E873954C8FB8}</a:tableStyleId>
              </a:tblPr>
              <a:tblGrid>
                <a:gridCol w="3233400"/>
                <a:gridCol w="4464500"/>
              </a:tblGrid>
              <a:tr h="5163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made - did make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maid - servant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455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mail - postage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male - opposite of female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7996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material - matter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materiel - supplies for an organization, particularly the military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455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marry - to wed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merry - very happy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455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meat - animal protein</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meet - encounter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455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mince - to chop finely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mints - type of sweet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226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morning - a.m.</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mourning - remember the dead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1c41871386_0_9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29" name="Google Shape;229;g31c41871386_0_90"/>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230" name="Google Shape;230;g31c41871386_0_90"/>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231" name="Google Shape;231;g31c41871386_0_90"/>
          <p:cNvGraphicFramePr/>
          <p:nvPr/>
        </p:nvGraphicFramePr>
        <p:xfrm>
          <a:off x="767975" y="801850"/>
          <a:ext cx="3000000" cy="3000000"/>
        </p:xfrm>
        <a:graphic>
          <a:graphicData uri="http://schemas.openxmlformats.org/drawingml/2006/table">
            <a:tbl>
              <a:tblPr>
                <a:noFill/>
                <a:tableStyleId>{CFC71507-511F-48EA-8214-E873954C8FB8}</a:tableStyleId>
              </a:tblPr>
              <a:tblGrid>
                <a:gridCol w="2665675"/>
                <a:gridCol w="3055975"/>
                <a:gridCol w="2212600"/>
              </a:tblGrid>
              <a:tr h="5954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none - not any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nun - woman who takes special vows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5370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oar - boat paddle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or - otherwise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ore - mineral</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5954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oh - expression of surprise or awe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owe - be obligated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5370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one - single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won - did win</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5954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overdo - do too much</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overdue - past due date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5370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pail - bucket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pale - not bright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53700">
                <a:tc>
                  <a:txBody>
                    <a:bodyPr/>
                    <a:lstStyle/>
                    <a:p>
                      <a:pPr indent="0" lvl="0" marL="0" marR="0" rtl="0" algn="l">
                        <a:lnSpc>
                          <a:spcPct val="100000"/>
                        </a:lnSpc>
                        <a:spcBef>
                          <a:spcPts val="0"/>
                        </a:spcBef>
                        <a:spcAft>
                          <a:spcPts val="0"/>
                        </a:spcAft>
                        <a:buClr>
                          <a:srgbClr val="000000"/>
                        </a:buClr>
                        <a:buSzPts val="1400"/>
                        <a:buFont typeface="Arial"/>
                        <a:buNone/>
                      </a:pPr>
                      <a:r>
                        <a:rPr lang="en-US" sz="1800" u="sng" cap="none" strike="noStrike">
                          <a:solidFill>
                            <a:srgbClr val="0097A7"/>
                          </a:solidFill>
                          <a:latin typeface="Roboto"/>
                          <a:ea typeface="Roboto"/>
                          <a:cs typeface="Roboto"/>
                          <a:sym typeface="Roboto"/>
                          <a:hlinkClick r:id="rId3">
                            <a:extLst>
                              <a:ext uri="{A12FA001-AC4F-418D-AE19-62706E023703}">
                                <ahyp:hlinkClr val="tx"/>
                              </a:ext>
                            </a:extLst>
                          </a:hlinkClick>
                        </a:rPr>
                        <a:t>pain</a:t>
                      </a:r>
                      <a:r>
                        <a:rPr lang="en-US" sz="1800" u="none" cap="none" strike="noStrike">
                          <a:latin typeface="Roboto"/>
                          <a:ea typeface="Roboto"/>
                          <a:cs typeface="Roboto"/>
                          <a:sym typeface="Roboto"/>
                        </a:rPr>
                        <a:t> - hurt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pane - window glass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5370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peace - calm</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piece - segment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1c41871386_0_96"/>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37" name="Google Shape;237;g31c41871386_0_96"/>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238" name="Google Shape;238;g31c41871386_0_96"/>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239" name="Google Shape;239;g31c41871386_0_96"/>
          <p:cNvGraphicFramePr/>
          <p:nvPr/>
        </p:nvGraphicFramePr>
        <p:xfrm>
          <a:off x="963450" y="1079350"/>
          <a:ext cx="3000000" cy="3000000"/>
        </p:xfrm>
        <a:graphic>
          <a:graphicData uri="http://schemas.openxmlformats.org/drawingml/2006/table">
            <a:tbl>
              <a:tblPr>
                <a:noFill/>
                <a:tableStyleId>{CFC71507-511F-48EA-8214-E873954C8FB8}</a:tableStyleId>
              </a:tblPr>
              <a:tblGrid>
                <a:gridCol w="3366100"/>
                <a:gridCol w="4003375"/>
              </a:tblGrid>
              <a:tr h="38720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peak – highest point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peek - glance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195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patience - being willing to wait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patients - person treated in a hospital or by a doctor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5410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pear - a type of fruit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pair - two (usually matching)</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195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plain - ordinary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plane - flight machine plane; flat surface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8720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pole - post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poll - survey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875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poor - not rich</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pour - make flow</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1c41871386_0_102"/>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45" name="Google Shape;245;g31c41871386_0_102"/>
          <p:cNvSpPr txBox="1"/>
          <p:nvPr/>
        </p:nvSpPr>
        <p:spPr>
          <a:xfrm>
            <a:off x="3833250" y="2492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246" name="Google Shape;246;g31c41871386_0_102"/>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247" name="Google Shape;247;g31c41871386_0_102"/>
          <p:cNvGraphicFramePr/>
          <p:nvPr/>
        </p:nvGraphicFramePr>
        <p:xfrm>
          <a:off x="1067613" y="907600"/>
          <a:ext cx="3000000" cy="3000000"/>
        </p:xfrm>
        <a:graphic>
          <a:graphicData uri="http://schemas.openxmlformats.org/drawingml/2006/table">
            <a:tbl>
              <a:tblPr>
                <a:noFill/>
                <a:tableStyleId>{CFC71507-511F-48EA-8214-E873954C8FB8}</a:tableStyleId>
              </a:tblPr>
              <a:tblGrid>
                <a:gridCol w="3226500"/>
                <a:gridCol w="3782275"/>
              </a:tblGrid>
              <a:tr h="3781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pray - implore God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prey - quarry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52845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principal - most important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principle - belief</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781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rain – water from sky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rein - bridle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781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rap - tap</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wrap - drape around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5329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read - past tense of the verb to read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red - color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781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real - factual</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reel - roll</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781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right - correct; not left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write - scribble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781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ring - encircle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wring - squeeze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1c41871386_0_120"/>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253" name="Google Shape;253;g31c41871386_0_120"/>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254" name="Google Shape;254;g31c41871386_0_120"/>
          <p:cNvGraphicFramePr/>
          <p:nvPr/>
        </p:nvGraphicFramePr>
        <p:xfrm>
          <a:off x="892938" y="801850"/>
          <a:ext cx="3000000" cy="3000000"/>
        </p:xfrm>
        <a:graphic>
          <a:graphicData uri="http://schemas.openxmlformats.org/drawingml/2006/table">
            <a:tbl>
              <a:tblPr>
                <a:noFill/>
                <a:tableStyleId>{CFC71507-511F-48EA-8214-E873954C8FB8}</a:tableStyleId>
              </a:tblPr>
              <a:tblGrid>
                <a:gridCol w="2617950"/>
                <a:gridCol w="2893225"/>
                <a:gridCol w="1846950"/>
              </a:tblGrid>
              <a:tr h="49740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road - street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rode - past tense of ride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450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role - function</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roll - rotate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450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rose - flower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rows - lines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5809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sail - move by wind power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sale - bargain price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450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scene - landscape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seen - viewed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97400">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sea - ocean segment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see - observe with eyes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3450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seam - joining edge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seem - appear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58097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sew - connect with thread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so - as a result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sow - plant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1c41871386_0_126"/>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60" name="Google Shape;260;g31c41871386_0_126"/>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261" name="Google Shape;261;g31c41871386_0_126"/>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262" name="Google Shape;262;g31c41871386_0_126"/>
          <p:cNvGraphicFramePr/>
          <p:nvPr/>
        </p:nvGraphicFramePr>
        <p:xfrm>
          <a:off x="1657750" y="835925"/>
          <a:ext cx="3000000" cy="3000000"/>
        </p:xfrm>
        <a:graphic>
          <a:graphicData uri="http://schemas.openxmlformats.org/drawingml/2006/table">
            <a:tbl>
              <a:tblPr>
                <a:noFill/>
                <a:tableStyleId>{CFC71507-511F-48EA-8214-E873954C8FB8}</a:tableStyleId>
              </a:tblPr>
              <a:tblGrid>
                <a:gridCol w="2875300"/>
                <a:gridCol w="3722425"/>
              </a:tblGrid>
              <a:tr h="4794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soar - ascend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sore - hurt place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sole - single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soul - essence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son - male child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sun - the star that lights the solar system</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some - a few</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sum - amount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stair - step</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stare - to look at steadily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steal - swipe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steel - alloy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suite - large room in a hotel</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sweet - the opposite of sour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1c41871386_0_132"/>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68" name="Google Shape;268;g31c41871386_0_132"/>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269" name="Google Shape;269;g31c41871386_0_132"/>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270" name="Google Shape;270;g31c41871386_0_132"/>
          <p:cNvGraphicFramePr/>
          <p:nvPr/>
        </p:nvGraphicFramePr>
        <p:xfrm>
          <a:off x="884775" y="1114350"/>
          <a:ext cx="3000000" cy="3000000"/>
        </p:xfrm>
        <a:graphic>
          <a:graphicData uri="http://schemas.openxmlformats.org/drawingml/2006/table">
            <a:tbl>
              <a:tblPr>
                <a:noFill/>
                <a:tableStyleId>{CFC71507-511F-48EA-8214-E873954C8FB8}</a:tableStyleId>
              </a:tblPr>
              <a:tblGrid>
                <a:gridCol w="2411325"/>
                <a:gridCol w="2867850"/>
                <a:gridCol w="2095275"/>
              </a:tblGrid>
              <a:tr h="6699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threw - past tense of throw</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through - passing from one place to another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to - toward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too - also</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two - the number2</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toe - foot appendage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tow - pull along</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vary - differ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very - wail - howl</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wail - howl</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whale - huge sea mammal</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waist - area below ribs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waste - squander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 </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1c41871386_0_138"/>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76" name="Google Shape;276;g31c41871386_0_138"/>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277" name="Google Shape;277;g31c41871386_0_138"/>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278" name="Google Shape;278;g31c41871386_0_138"/>
          <p:cNvGraphicFramePr/>
          <p:nvPr/>
        </p:nvGraphicFramePr>
        <p:xfrm>
          <a:off x="468988" y="1102725"/>
          <a:ext cx="3000000" cy="3000000"/>
        </p:xfrm>
        <a:graphic>
          <a:graphicData uri="http://schemas.openxmlformats.org/drawingml/2006/table">
            <a:tbl>
              <a:tblPr>
                <a:noFill/>
                <a:tableStyleId>{CFC71507-511F-48EA-8214-E873954C8FB8}</a:tableStyleId>
              </a:tblPr>
              <a:tblGrid>
                <a:gridCol w="3702925"/>
                <a:gridCol w="4403975"/>
              </a:tblGrid>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wait – kill time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weight - measurable load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war - battle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wore - did wear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warn - caution</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worn - used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way - path</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weigh - measure mass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we - us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wee - tiny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weak - not strong</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week - seven days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wear - to don attire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where - question word</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1c41871386_0_144"/>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84" name="Google Shape;284;g31c41871386_0_144"/>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285" name="Google Shape;285;g31c41871386_0_144"/>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graphicFrame>
        <p:nvGraphicFramePr>
          <p:cNvPr id="286" name="Google Shape;286;g31c41871386_0_144"/>
          <p:cNvGraphicFramePr/>
          <p:nvPr/>
        </p:nvGraphicFramePr>
        <p:xfrm>
          <a:off x="1131913" y="1422400"/>
          <a:ext cx="3000000" cy="3000000"/>
        </p:xfrm>
        <a:graphic>
          <a:graphicData uri="http://schemas.openxmlformats.org/drawingml/2006/table">
            <a:tbl>
              <a:tblPr>
                <a:noFill/>
                <a:tableStyleId>{CFC71507-511F-48EA-8214-E873954C8FB8}</a:tableStyleId>
              </a:tblPr>
              <a:tblGrid>
                <a:gridCol w="3672525"/>
                <a:gridCol w="3610225"/>
              </a:tblGrid>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weather - climate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whether - if</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4794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which - that</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witch - sorcerer</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wood - material coming from trees</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would - conditional auxiliary</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669925">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your - belonging to you</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800" u="none" cap="none" strike="noStrike">
                          <a:latin typeface="Roboto"/>
                          <a:ea typeface="Roboto"/>
                          <a:cs typeface="Roboto"/>
                          <a:sym typeface="Roboto"/>
                        </a:rPr>
                        <a:t>you’re - you are</a:t>
                      </a:r>
                      <a:endParaRPr sz="1800" u="none" cap="none" strike="noStrike">
                        <a:latin typeface="Roboto"/>
                        <a:ea typeface="Roboto"/>
                        <a:cs typeface="Roboto"/>
                        <a:sym typeface="Roboto"/>
                      </a:endParaRPr>
                    </a:p>
                  </a:txBody>
                  <a:tcPr marT="63500" marB="63500" marR="63500" marL="635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1c41871386_0_15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92" name="Google Shape;292;g31c41871386_0_150"/>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293" name="Google Shape;293;g31c41871386_0_150"/>
          <p:cNvSpPr txBox="1"/>
          <p:nvPr/>
        </p:nvSpPr>
        <p:spPr>
          <a:xfrm>
            <a:off x="1003925" y="1499675"/>
            <a:ext cx="66927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1.“He simply sat down on the ledge and forgot everything _____ [accept or except] the marvelous mystery.”— Lawrence Sargent Hall</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7" name="Shape 297"/>
        <p:cNvGrpSpPr/>
        <p:nvPr/>
      </p:nvGrpSpPr>
      <p:grpSpPr>
        <a:xfrm>
          <a:off x="0" y="0"/>
          <a:ext cx="0" cy="0"/>
          <a:chOff x="0" y="0"/>
          <a:chExt cx="0" cy="0"/>
        </a:xfrm>
      </p:grpSpPr>
      <p:sp>
        <p:nvSpPr>
          <p:cNvPr id="298" name="Google Shape;298;g31c41871386_0_156"/>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99" name="Google Shape;299;g31c41871386_0_156"/>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300" name="Google Shape;300;g31c41871386_0_156"/>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301" name="Google Shape;301;g31c41871386_0_156"/>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 except</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31c41871386_0_362"/>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07" name="Google Shape;307;g31c41871386_0_362"/>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308" name="Google Shape;308;g31c41871386_0_362"/>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309" name="Google Shape;309;g31c41871386_0_362"/>
          <p:cNvSpPr txBox="1"/>
          <p:nvPr/>
        </p:nvSpPr>
        <p:spPr>
          <a:xfrm>
            <a:off x="1003925" y="1499675"/>
            <a:ext cx="6692700" cy="184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2."I live in the Oakland Hills in a tiny house on a street so windy you can’t drive more than ten miles per hour. I rented it because the _____ [ad or add] said this: 'Small house in the trees with a garden and a fireplace. Dogs welcome, of course.'"— Pam Houston</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3" name="Shape 313"/>
        <p:cNvGrpSpPr/>
        <p:nvPr/>
      </p:nvGrpSpPr>
      <p:grpSpPr>
        <a:xfrm>
          <a:off x="0" y="0"/>
          <a:ext cx="0" cy="0"/>
          <a:chOff x="0" y="0"/>
          <a:chExt cx="0" cy="0"/>
        </a:xfrm>
      </p:grpSpPr>
      <p:sp>
        <p:nvSpPr>
          <p:cNvPr id="314" name="Google Shape;314;g31c41871386_0_464"/>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15" name="Google Shape;315;g31c41871386_0_464"/>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316" name="Google Shape;316;g31c41871386_0_464"/>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317" name="Google Shape;317;g31c41871386_0_464"/>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2. ad</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31c41871386_0_368"/>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23" name="Google Shape;323;g31c41871386_0_368"/>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324" name="Google Shape;324;g31c41871386_0_368"/>
          <p:cNvSpPr txBox="1"/>
          <p:nvPr/>
        </p:nvSpPr>
        <p:spPr>
          <a:xfrm>
            <a:off x="1003925" y="1499675"/>
            <a:ext cx="66927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3."Francis wondered what _____ [advice or advise] a psychiatrist would have for him."— John Cheever</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8" name="Shape 328"/>
        <p:cNvGrpSpPr/>
        <p:nvPr/>
      </p:nvGrpSpPr>
      <p:grpSpPr>
        <a:xfrm>
          <a:off x="0" y="0"/>
          <a:ext cx="0" cy="0"/>
          <a:chOff x="0" y="0"/>
          <a:chExt cx="0" cy="0"/>
        </a:xfrm>
      </p:grpSpPr>
      <p:sp>
        <p:nvSpPr>
          <p:cNvPr id="329" name="Google Shape;329;g31c41871386_0_47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30" name="Google Shape;330;g31c41871386_0_470"/>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331" name="Google Shape;331;g31c41871386_0_470"/>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332" name="Google Shape;332;g31c41871386_0_470"/>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3. advice</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1c41871386_0_374"/>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38" name="Google Shape;338;g31c41871386_0_374"/>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339" name="Google Shape;339;g31c41871386_0_374"/>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340" name="Google Shape;340;g31c41871386_0_374"/>
          <p:cNvSpPr txBox="1"/>
          <p:nvPr/>
        </p:nvSpPr>
        <p:spPr>
          <a:xfrm>
            <a:off x="1003925" y="1499675"/>
            <a:ext cx="66927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4."The _____ [aid or aide] gets out of the way, picking her skirt out of the rubble of children at her feet."— Rosellen Brown</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4" name="Shape 344"/>
        <p:cNvGrpSpPr/>
        <p:nvPr/>
      </p:nvGrpSpPr>
      <p:grpSpPr>
        <a:xfrm>
          <a:off x="0" y="0"/>
          <a:ext cx="0" cy="0"/>
          <a:chOff x="0" y="0"/>
          <a:chExt cx="0" cy="0"/>
        </a:xfrm>
      </p:grpSpPr>
      <p:sp>
        <p:nvSpPr>
          <p:cNvPr id="345" name="Google Shape;345;g31c41871386_0_476"/>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46" name="Google Shape;346;g31c41871386_0_476"/>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347" name="Google Shape;347;g31c41871386_0_476"/>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348" name="Google Shape;348;g31c41871386_0_476"/>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4. aide</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1c41871386_0_38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54" name="Google Shape;354;g31c41871386_0_380"/>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355" name="Google Shape;355;g31c41871386_0_380"/>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356" name="Google Shape;356;g31c41871386_0_380"/>
          <p:cNvSpPr txBox="1"/>
          <p:nvPr/>
        </p:nvSpPr>
        <p:spPr>
          <a:xfrm>
            <a:off x="1003925" y="1499675"/>
            <a:ext cx="6692700" cy="267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5."He seemed to want to recapture the cosseted feeling he'd had when he'd been sick as a child and she would serve him flat ginger _____ [ail or ale], and toast soaked in cream, and play endless card games with him, using his blanket-covered legs as a table."— Alice Elliott Dark</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0" name="Shape 360"/>
        <p:cNvGrpSpPr/>
        <p:nvPr/>
      </p:nvGrpSpPr>
      <p:grpSpPr>
        <a:xfrm>
          <a:off x="0" y="0"/>
          <a:ext cx="0" cy="0"/>
          <a:chOff x="0" y="0"/>
          <a:chExt cx="0" cy="0"/>
        </a:xfrm>
      </p:grpSpPr>
      <p:sp>
        <p:nvSpPr>
          <p:cNvPr id="361" name="Google Shape;361;g31c41871386_0_482"/>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62" name="Google Shape;362;g31c41871386_0_482"/>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363" name="Google Shape;363;g31c41871386_0_482"/>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364" name="Google Shape;364;g31c41871386_0_482"/>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5. ale</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31c41871386_0_386"/>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70" name="Google Shape;370;g31c41871386_0_386"/>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371" name="Google Shape;371;g31c41871386_0_386"/>
          <p:cNvSpPr txBox="1"/>
          <p:nvPr/>
        </p:nvSpPr>
        <p:spPr>
          <a:xfrm>
            <a:off x="1003925" y="1499675"/>
            <a:ext cx="66927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6."He sat down and leaned forward, pulling the chair's rear legs into the _____ [air, ere, or heir] so that the waitress could get by."— Stanley Elkins</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5" name="Shape 375"/>
        <p:cNvGrpSpPr/>
        <p:nvPr/>
      </p:nvGrpSpPr>
      <p:grpSpPr>
        <a:xfrm>
          <a:off x="0" y="0"/>
          <a:ext cx="0" cy="0"/>
          <a:chOff x="0" y="0"/>
          <a:chExt cx="0" cy="0"/>
        </a:xfrm>
      </p:grpSpPr>
      <p:sp>
        <p:nvSpPr>
          <p:cNvPr id="376" name="Google Shape;376;g31c41871386_0_488"/>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77" name="Google Shape;377;g31c41871386_0_488"/>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378" name="Google Shape;378;g31c41871386_0_488"/>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6. air</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31c41871386_0_392"/>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84" name="Google Shape;384;g31c41871386_0_392"/>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385" name="Google Shape;385;g31c41871386_0_392"/>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386" name="Google Shape;386;g31c41871386_0_392"/>
          <p:cNvSpPr txBox="1"/>
          <p:nvPr/>
        </p:nvSpPr>
        <p:spPr>
          <a:xfrm>
            <a:off x="1003925" y="1499675"/>
            <a:ext cx="66927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7."[T]he stewardess was moving down the _____ [aisle, I'll, or isle], like a trained nurse taking temperatures in a hospital ward, to see that they were all properly strapped in for the take-off."— Martha Gellhorn</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0" name="Shape 390"/>
        <p:cNvGrpSpPr/>
        <p:nvPr/>
      </p:nvGrpSpPr>
      <p:grpSpPr>
        <a:xfrm>
          <a:off x="0" y="0"/>
          <a:ext cx="0" cy="0"/>
          <a:chOff x="0" y="0"/>
          <a:chExt cx="0" cy="0"/>
        </a:xfrm>
      </p:grpSpPr>
      <p:sp>
        <p:nvSpPr>
          <p:cNvPr id="391" name="Google Shape;391;g31c41871386_0_494"/>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92" name="Google Shape;392;g31c41871386_0_494"/>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393" name="Google Shape;393;g31c41871386_0_494"/>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7. aisle</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31c41871386_0_398"/>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99" name="Google Shape;399;g31c41871386_0_398"/>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400" name="Google Shape;400;g31c41871386_0_398"/>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401" name="Google Shape;401;g31c41871386_0_398"/>
          <p:cNvSpPr txBox="1"/>
          <p:nvPr/>
        </p:nvSpPr>
        <p:spPr>
          <a:xfrm>
            <a:off x="1003925" y="1499675"/>
            <a:ext cx="66927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8."Mrs. Parmenter laughed at his _____ [allusion or illusion] to their summer at Mrs. Sterrett's, in Rome, and gave him her coat to hold."— Willa Cather</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5" name="Shape 405"/>
        <p:cNvGrpSpPr/>
        <p:nvPr/>
      </p:nvGrpSpPr>
      <p:grpSpPr>
        <a:xfrm>
          <a:off x="0" y="0"/>
          <a:ext cx="0" cy="0"/>
          <a:chOff x="0" y="0"/>
          <a:chExt cx="0" cy="0"/>
        </a:xfrm>
      </p:grpSpPr>
      <p:sp>
        <p:nvSpPr>
          <p:cNvPr id="406" name="Google Shape;406;g31c41871386_0_50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407" name="Google Shape;407;g31c41871386_0_500"/>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408" name="Google Shape;408;g31c41871386_0_500"/>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409" name="Google Shape;409;g31c41871386_0_500"/>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8. allusion</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g31c41871386_0_404"/>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415" name="Google Shape;415;g31c41871386_0_404"/>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416" name="Google Shape;416;g31c41871386_0_404"/>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417" name="Google Shape;417;g31c41871386_0_404"/>
          <p:cNvSpPr txBox="1"/>
          <p:nvPr/>
        </p:nvSpPr>
        <p:spPr>
          <a:xfrm>
            <a:off x="1003925" y="1499675"/>
            <a:ext cx="66927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9."In the long years between, she had fashioned many fine dresses—gowned gay girls for their conquests and robed fair brides for the _____ [altar or alter]."— Mary Lerner</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1" name="Shape 421"/>
        <p:cNvGrpSpPr/>
        <p:nvPr/>
      </p:nvGrpSpPr>
      <p:grpSpPr>
        <a:xfrm>
          <a:off x="0" y="0"/>
          <a:ext cx="0" cy="0"/>
          <a:chOff x="0" y="0"/>
          <a:chExt cx="0" cy="0"/>
        </a:xfrm>
      </p:grpSpPr>
      <p:sp>
        <p:nvSpPr>
          <p:cNvPr id="422" name="Google Shape;422;g31c41871386_0_506"/>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423" name="Google Shape;423;g31c41871386_0_506"/>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424" name="Google Shape;424;g31c41871386_0_506"/>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9. altar</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g31c41871386_0_41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430" name="Google Shape;430;g31c41871386_0_410"/>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431" name="Google Shape;431;g31c41871386_0_410"/>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432" name="Google Shape;432;g31c41871386_0_410"/>
          <p:cNvSpPr txBox="1"/>
          <p:nvPr/>
        </p:nvSpPr>
        <p:spPr>
          <a:xfrm>
            <a:off x="1003925" y="1499675"/>
            <a:ext cx="66927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10."On a Saturday morning soon after he came to live with her, he turned over her garbage while she was at the grocery store and _____ [ate or eight] rancid bacon drippings out of a small Crisco can."— Pam Durban</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6" name="Shape 436"/>
        <p:cNvGrpSpPr/>
        <p:nvPr/>
      </p:nvGrpSpPr>
      <p:grpSpPr>
        <a:xfrm>
          <a:off x="0" y="0"/>
          <a:ext cx="0" cy="0"/>
          <a:chOff x="0" y="0"/>
          <a:chExt cx="0" cy="0"/>
        </a:xfrm>
      </p:grpSpPr>
      <p:sp>
        <p:nvSpPr>
          <p:cNvPr id="437" name="Google Shape;437;g31c41871386_0_512"/>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438" name="Google Shape;438;g31c41871386_0_512"/>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439" name="Google Shape;439;g31c41871386_0_512"/>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440" name="Google Shape;440;g31c41871386_0_512"/>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10. ate</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g31c41871386_0_416"/>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446" name="Google Shape;446;g31c41871386_0_416"/>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447" name="Google Shape;447;g31c41871386_0_416"/>
          <p:cNvSpPr txBox="1"/>
          <p:nvPr/>
        </p:nvSpPr>
        <p:spPr>
          <a:xfrm>
            <a:off x="1003925" y="1499675"/>
            <a:ext cx="66927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11."The barn was bigger than a church, and the fall's fresh hay _____ [bails or bales] were stacked to the roof in the side mows."— John Updike</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1" name="Shape 451"/>
        <p:cNvGrpSpPr/>
        <p:nvPr/>
      </p:nvGrpSpPr>
      <p:grpSpPr>
        <a:xfrm>
          <a:off x="0" y="0"/>
          <a:ext cx="0" cy="0"/>
          <a:chOff x="0" y="0"/>
          <a:chExt cx="0" cy="0"/>
        </a:xfrm>
      </p:grpSpPr>
      <p:sp>
        <p:nvSpPr>
          <p:cNvPr id="452" name="Google Shape;452;g31c41871386_0_518"/>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453" name="Google Shape;453;g31c41871386_0_518"/>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454" name="Google Shape;454;g31c41871386_0_518"/>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455" name="Google Shape;455;g31c41871386_0_518"/>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11. bales</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g31c41871386_0_422"/>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461" name="Google Shape;461;g31c41871386_0_422"/>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462" name="Google Shape;462;g31c41871386_0_422"/>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463" name="Google Shape;463;g31c41871386_0_422"/>
          <p:cNvSpPr txBox="1"/>
          <p:nvPr/>
        </p:nvSpPr>
        <p:spPr>
          <a:xfrm>
            <a:off x="1003925" y="1499675"/>
            <a:ext cx="6692700" cy="2955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12."Her two spare dresses were gone, her comb was gone, her checkered coat was gone, and so was the mauve hair-_____ [band or banned] with a mauve bow that had been her hat."— Vladimir Nabokov</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7" name="Shape 467"/>
        <p:cNvGrpSpPr/>
        <p:nvPr/>
      </p:nvGrpSpPr>
      <p:grpSpPr>
        <a:xfrm>
          <a:off x="0" y="0"/>
          <a:ext cx="0" cy="0"/>
          <a:chOff x="0" y="0"/>
          <a:chExt cx="0" cy="0"/>
        </a:xfrm>
      </p:grpSpPr>
      <p:sp>
        <p:nvSpPr>
          <p:cNvPr id="468" name="Google Shape;468;g31c41871386_0_524"/>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469" name="Google Shape;469;g31c41871386_0_524"/>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470" name="Google Shape;470;g31c41871386_0_524"/>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471" name="Google Shape;471;g31c41871386_0_524"/>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12. band</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g31c41871386_0_428"/>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477" name="Google Shape;477;g31c41871386_0_428"/>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478" name="Google Shape;478;g31c41871386_0_428"/>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479" name="Google Shape;479;g31c41871386_0_428"/>
          <p:cNvSpPr txBox="1"/>
          <p:nvPr/>
        </p:nvSpPr>
        <p:spPr>
          <a:xfrm>
            <a:off x="1003925" y="1499675"/>
            <a:ext cx="66927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13."Without the shelter of those trees, there is a great exposure—back yards, clotheslines, woodpiles, patchy sheds and barns and privies—all _____ [bare or bear], exposed, provisional looking."— Alice Munro</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g31c41871386_0_53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485" name="Google Shape;485;g31c41871386_0_530"/>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486" name="Google Shape;486;g31c41871386_0_530"/>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487" name="Google Shape;487;g31c41871386_0_530"/>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13. bare</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31c41871386_0_434"/>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493" name="Google Shape;493;g31c41871386_0_434"/>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494" name="Google Shape;494;g31c41871386_0_434"/>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495" name="Google Shape;495;g31c41871386_0_434"/>
          <p:cNvSpPr txBox="1"/>
          <p:nvPr/>
        </p:nvSpPr>
        <p:spPr>
          <a:xfrm>
            <a:off x="1003925" y="1499675"/>
            <a:ext cx="6692700" cy="184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14."This was the time when outfields were larger than they are today and well-hit balls would roll for a long time, giving runners ample time to round the _____ [bases or basis] for a home run."— Deidre Silva and Jackie Koney</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9" name="Shape 499"/>
        <p:cNvGrpSpPr/>
        <p:nvPr/>
      </p:nvGrpSpPr>
      <p:grpSpPr>
        <a:xfrm>
          <a:off x="0" y="0"/>
          <a:ext cx="0" cy="0"/>
          <a:chOff x="0" y="0"/>
          <a:chExt cx="0" cy="0"/>
        </a:xfrm>
      </p:grpSpPr>
      <p:sp>
        <p:nvSpPr>
          <p:cNvPr id="500" name="Google Shape;500;g31c41871386_0_536"/>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501" name="Google Shape;501;g31c41871386_0_536"/>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502" name="Google Shape;502;g31c41871386_0_536"/>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03" name="Google Shape;503;g31c41871386_0_536"/>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14. bases</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g31c41871386_0_44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509" name="Google Shape;509;g31c41871386_0_440"/>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510" name="Google Shape;510;g31c41871386_0_440"/>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11" name="Google Shape;511;g31c41871386_0_440"/>
          <p:cNvSpPr txBox="1"/>
          <p:nvPr/>
        </p:nvSpPr>
        <p:spPr>
          <a:xfrm>
            <a:off x="1003925" y="1499675"/>
            <a:ext cx="6692700" cy="184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15."The conductor had his knotted signal cord to pull, and the motorman _____ [beat or beet] the foot gong with his mad heel."— Saul Bellow</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5" name="Shape 515"/>
        <p:cNvGrpSpPr/>
        <p:nvPr/>
      </p:nvGrpSpPr>
      <p:grpSpPr>
        <a:xfrm>
          <a:off x="0" y="0"/>
          <a:ext cx="0" cy="0"/>
          <a:chOff x="0" y="0"/>
          <a:chExt cx="0" cy="0"/>
        </a:xfrm>
      </p:grpSpPr>
      <p:sp>
        <p:nvSpPr>
          <p:cNvPr id="516" name="Google Shape;516;g31c41871386_0_542"/>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517" name="Google Shape;517;g31c41871386_0_542"/>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518" name="Google Shape;518;g31c41871386_0_542"/>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19" name="Google Shape;519;g31c41871386_0_542"/>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15. beat</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g31c41871386_0_446"/>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525" name="Google Shape;525;g31c41871386_0_446"/>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526" name="Google Shape;526;g31c41871386_0_446"/>
          <p:cNvSpPr txBox="1"/>
          <p:nvPr/>
        </p:nvSpPr>
        <p:spPr>
          <a:xfrm>
            <a:off x="1003925" y="1499675"/>
            <a:ext cx="6692700" cy="184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16."Nancy held the cup to her mouth and _____ [blew or blue] into the cup."— William Faulkner</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g31c41871386_0_548"/>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532" name="Google Shape;532;g31c41871386_0_548"/>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533" name="Google Shape;533;g31c41871386_0_548"/>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16. blew</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1c41871386_0_452"/>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539" name="Google Shape;539;g31c41871386_0_452"/>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540" name="Google Shape;540;g31c41871386_0_452"/>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41" name="Google Shape;541;g31c41871386_0_452"/>
          <p:cNvSpPr txBox="1"/>
          <p:nvPr/>
        </p:nvSpPr>
        <p:spPr>
          <a:xfrm>
            <a:off x="1003925" y="1499675"/>
            <a:ext cx="66927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17."A pigeon landed nearby. It hopped on its little red feet and pecked into something that might have been a dirty piece of stale _____ [bread or bred] or dried mud."— Isaac Bashevis Singer</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5" name="Shape 545"/>
        <p:cNvGrpSpPr/>
        <p:nvPr/>
      </p:nvGrpSpPr>
      <p:grpSpPr>
        <a:xfrm>
          <a:off x="0" y="0"/>
          <a:ext cx="0" cy="0"/>
          <a:chOff x="0" y="0"/>
          <a:chExt cx="0" cy="0"/>
        </a:xfrm>
      </p:grpSpPr>
      <p:sp>
        <p:nvSpPr>
          <p:cNvPr id="546" name="Google Shape;546;g31c41871386_0_554"/>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547" name="Google Shape;547;g31c41871386_0_554"/>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548" name="Google Shape;548;g31c41871386_0_554"/>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49" name="Google Shape;549;g31c41871386_0_554"/>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17. bread</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g31c41871386_0_458"/>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555" name="Google Shape;555;g31c41871386_0_458"/>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QUESTION</a:t>
            </a:r>
            <a:endParaRPr b="0" i="0" sz="2000" u="none" cap="none" strike="noStrike">
              <a:solidFill>
                <a:srgbClr val="6D9EEB"/>
              </a:solidFill>
              <a:latin typeface="Roboto Black"/>
              <a:ea typeface="Roboto Black"/>
              <a:cs typeface="Roboto Black"/>
              <a:sym typeface="Roboto Black"/>
            </a:endParaRPr>
          </a:p>
        </p:txBody>
      </p:sp>
      <p:sp>
        <p:nvSpPr>
          <p:cNvPr id="556" name="Google Shape;556;g31c41871386_0_458"/>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57" name="Google Shape;557;g31c41871386_0_458"/>
          <p:cNvSpPr txBox="1"/>
          <p:nvPr/>
        </p:nvSpPr>
        <p:spPr>
          <a:xfrm>
            <a:off x="1003925" y="1499675"/>
            <a:ext cx="66927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18."He was wearing a new hat of a pretty biscuit shade, for it never occurred to him to _____ [buy, by, or bye] anything of a practical color; he had put it on for the first time and the rain was spoiling it."— Katherine Anne Porter</a:t>
            </a:r>
            <a:endParaRPr b="1"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1" name="Shape 561"/>
        <p:cNvGrpSpPr/>
        <p:nvPr/>
      </p:nvGrpSpPr>
      <p:grpSpPr>
        <a:xfrm>
          <a:off x="0" y="0"/>
          <a:ext cx="0" cy="0"/>
          <a:chOff x="0" y="0"/>
          <a:chExt cx="0" cy="0"/>
        </a:xfrm>
      </p:grpSpPr>
      <p:sp>
        <p:nvSpPr>
          <p:cNvPr id="562" name="Google Shape;562;g31c41871386_0_56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563" name="Google Shape;563;g31c41871386_0_560"/>
          <p:cNvSpPr txBox="1"/>
          <p:nvPr/>
        </p:nvSpPr>
        <p:spPr>
          <a:xfrm>
            <a:off x="3833250" y="4016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ANSWER</a:t>
            </a:r>
            <a:endParaRPr b="0" i="0" sz="2000" u="none" cap="none" strike="noStrike">
              <a:solidFill>
                <a:srgbClr val="6D9EEB"/>
              </a:solidFill>
              <a:latin typeface="Roboto Black"/>
              <a:ea typeface="Roboto Black"/>
              <a:cs typeface="Roboto Black"/>
              <a:sym typeface="Roboto Black"/>
            </a:endParaRPr>
          </a:p>
        </p:txBody>
      </p:sp>
      <p:sp>
        <p:nvSpPr>
          <p:cNvPr id="564" name="Google Shape;564;g31c41871386_0_560"/>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565" name="Google Shape;565;g31c41871386_0_560"/>
          <p:cNvSpPr txBox="1"/>
          <p:nvPr/>
        </p:nvSpPr>
        <p:spPr>
          <a:xfrm>
            <a:off x="3564400" y="16979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18. buy</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9"/>
          <p:cNvSpPr/>
          <p:nvPr/>
        </p:nvSpPr>
        <p:spPr>
          <a:xfrm>
            <a:off x="555120" y="91584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571" name="Google Shape;571;p9"/>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572" name="Google Shape;572;p9"/>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1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78" name="Google Shape;578;p1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579" name="Google Shape;579;p11"/>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580" name="Google Shape;580;p11"/>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581" name="Google Shape;581;p11"/>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582" name="Google Shape;582;p11"/>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583" name="Google Shape;583;p11"/>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584" name="Google Shape;584;p11"/>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585" name="Google Shape;585;p11"/>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586" name="Google Shape;586;p11"/>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587" name="Google Shape;587;p11"/>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588" name="Google Shape;588;p11"/>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2019-12-04T07:36:33Z</dcterms:created>
  <dc:creator>sushmitha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1033-11.2.0.9052</vt:lpwstr>
  </property>
</Properties>
</file>