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embeddedFontLst>
    <p:embeddedFont>
      <p:font typeface="Robot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83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1" roundtripDataSignature="AMtx7mgscTp2hTtF1BjYh2Uxoo/hdzdM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83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Robo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425d591c3c_1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06" name="Google Shape;106;g1425d591c3c_1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425d591c3c_1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3" name="Google Shape;113;g1425d591c3c_1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425d591c3c_1_2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1425d591c3c_1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425d591c3c_1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1425d591c3c_1_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425d591c3c_1_3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1425d591c3c_1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25d591c3c_1_3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1425d591c3c_1_3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425d591c3c_1_4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1425d591c3c_1_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425d591c3c_1_4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1425d591c3c_1_4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425d591c3c_1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1425d591c3c_1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425d591c3c_1_4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1425d591c3c_1_4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425d591c3c_1_4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1425d591c3c_1_4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425d591c3c_1_4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1425d591c3c_1_4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425d591c3c_1_4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1425d591c3c_1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425d591c3c_1_4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1425d591c3c_1_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425d591c3c_1_4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1425d591c3c_1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425d591c3c_1_4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1425d591c3c_1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425d591c3c_1_5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1425d591c3c_1_5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425d591c3c_1_5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1425d591c3c_1_5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425d591c3c_1_5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1425d591c3c_1_5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425d591c3c_1_5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1425d591c3c_1_5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425d591c3c_1_5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1425d591c3c_1_5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425d591c3c_1_5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1425d591c3c_1_5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425d591c3c_1_5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1425d591c3c_1_5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425d591c3c_1_5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1425d591c3c_1_5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425d591c3c_1_5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1425d591c3c_1_5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425d591c3c_1_5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1425d591c3c_1_5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425d591c3c_1_5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g1425d591c3c_1_5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425d591c3c_1_6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1425d591c3c_1_6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425d591c3c_1_6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1425d591c3c_1_6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425d591c3c_1_6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1425d591c3c_1_6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425d591c3c_1_6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1425d591c3c_1_6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425d591c3c_1_6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1425d591c3c_1_6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425d591c3c_1_6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1425d591c3c_1_6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425d591c3c_1_6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1425d591c3c_1_6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425d591c3c_1_6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1425d591c3c_1_6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425d591c3c_1_7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g1425d591c3c_1_7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25d591c3c_1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25d591c3c_1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25d591c3c_1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25d591c3c_1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25d591c3c_1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25d591c3c_1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25d591c3c_1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25d591c3c_1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25d591c3c_1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25d591c3c_1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25d591c3c_1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25d591c3c_1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25d591c3c_1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25d591c3c_1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25d591c3c_1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25d591c3c_1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25d591c3c_1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25d591c3c_1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25d591c3c_1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25d591c3c_1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25d591c3c_1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25d591c3c_1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 name="Shape 48"/>
        <p:cNvGrpSpPr/>
        <p:nvPr/>
      </p:nvGrpSpPr>
      <p:grpSpPr>
        <a:xfrm>
          <a:off x="0" y="0"/>
          <a:ext cx="0" cy="0"/>
          <a:chOff x="0" y="0"/>
          <a:chExt cx="0" cy="0"/>
        </a:xfrm>
      </p:grpSpPr>
      <p:sp>
        <p:nvSpPr>
          <p:cNvPr id="49" name="Google Shape;49;g1425d591c3c_1_3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g1425d591c3c_1_361"/>
          <p:cNvSpPr txBox="1"/>
          <p:nvPr>
            <p:ph idx="1" type="body"/>
          </p:nvPr>
        </p:nvSpPr>
        <p:spPr>
          <a:xfrm>
            <a:off x="855800" y="1152475"/>
            <a:ext cx="7725900" cy="31440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1" name="Google Shape;51;g1425d591c3c_1_3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sp>
        <p:nvSpPr>
          <p:cNvPr id="53" name="Google Shape;53;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 name="Google Shape;54;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5" name="Google Shape;55;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9" name="Google Shape;59;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0" name="Google Shape;6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1" name="Shape 6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25d591c3c_1_3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25d591c3c_1_3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 name="Shape 65"/>
        <p:cNvGrpSpPr/>
        <p:nvPr/>
      </p:nvGrpSpPr>
      <p:grpSpPr>
        <a:xfrm>
          <a:off x="0" y="0"/>
          <a:ext cx="0" cy="0"/>
          <a:chOff x="0" y="0"/>
          <a:chExt cx="0" cy="0"/>
        </a:xfrm>
      </p:grpSpPr>
      <p:sp>
        <p:nvSpPr>
          <p:cNvPr id="66" name="Google Shape;66;g1425d591c3c_1_36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7" name="Google Shape;67;g1425d591c3c_1_3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 name="Shape 68"/>
        <p:cNvGrpSpPr/>
        <p:nvPr/>
      </p:nvGrpSpPr>
      <p:grpSpPr>
        <a:xfrm>
          <a:off x="0" y="0"/>
          <a:ext cx="0" cy="0"/>
          <a:chOff x="0" y="0"/>
          <a:chExt cx="0" cy="0"/>
        </a:xfrm>
      </p:grpSpPr>
      <p:sp>
        <p:nvSpPr>
          <p:cNvPr id="69" name="Google Shape;69;g1425d591c3c_1_37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0" name="Google Shape;70;g1425d591c3c_1_37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1" name="Google Shape;71;g1425d591c3c_1_37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2" name="Google Shape;72;g1425d591c3c_1_37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3" name="Google Shape;73;g1425d591c3c_1_3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g1425d591c3c_1_37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76" name="Google Shape;76;g1425d591c3c_1_3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7" name="Shape 77"/>
        <p:cNvGrpSpPr/>
        <p:nvPr/>
      </p:nvGrpSpPr>
      <p:grpSpPr>
        <a:xfrm>
          <a:off x="0" y="0"/>
          <a:ext cx="0" cy="0"/>
          <a:chOff x="0" y="0"/>
          <a:chExt cx="0" cy="0"/>
        </a:xfrm>
      </p:grpSpPr>
      <p:sp>
        <p:nvSpPr>
          <p:cNvPr id="78" name="Google Shape;78;g1425d591c3c_1_38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9" name="Google Shape;79;g1425d591c3c_1_38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0" name="Google Shape;80;g1425d591c3c_1_3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81" name="Shape 81"/>
        <p:cNvGrpSpPr/>
        <p:nvPr/>
      </p:nvGrpSpPr>
      <p:grpSpPr>
        <a:xfrm>
          <a:off x="0" y="0"/>
          <a:ext cx="0" cy="0"/>
          <a:chOff x="0" y="0"/>
          <a:chExt cx="0" cy="0"/>
        </a:xfrm>
      </p:grpSpPr>
      <p:pic>
        <p:nvPicPr>
          <p:cNvPr descr="A close up of a logo&#10;&#10;Description generated with high confidence" id="82" name="Google Shape;82;g1425d591c3c_1_384"/>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83" name="Google Shape;83;g1425d591c3c_1_384"/>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4" name="Google Shape;84;g1425d591c3c_1_384"/>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5" name="Google Shape;85;g1425d591c3c_1_384"/>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6" name="Google Shape;86;g1425d591c3c_1_384"/>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2" Type="http://schemas.openxmlformats.org/officeDocument/2006/relationships/theme" Target="../theme/theme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25d591c3c_1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25d591c3c_1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25d591c3c_1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pic>
        <p:nvPicPr>
          <p:cNvPr id="9" name="Google Shape;9;g1425d591c3c_1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g1425d591c3c_1_3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25d591c3c_1_356"/>
          <p:cNvSpPr txBox="1"/>
          <p:nvPr>
            <p:ph idx="1" type="body"/>
          </p:nvPr>
        </p:nvSpPr>
        <p:spPr>
          <a:xfrm>
            <a:off x="855800" y="1152475"/>
            <a:ext cx="7725900" cy="31440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pic>
        <p:nvPicPr>
          <p:cNvPr id="47" name="Google Shape;47;g1425d591c3c_1_35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jp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CjrdddBi8D3GBYJCA" TargetMode="Externa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14.jp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hyperlink" Target="https://learn.codemithra.co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28.jpg"/><Relationship Id="rId4" Type="http://schemas.openxmlformats.org/officeDocument/2006/relationships/image" Target="../media/image25.png"/><Relationship Id="rId5" Type="http://schemas.openxmlformats.org/officeDocument/2006/relationships/image" Target="../media/image24.png"/><Relationship Id="rId6"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p3"/>
          <p:cNvSpPr txBox="1"/>
          <p:nvPr/>
        </p:nvSpPr>
        <p:spPr>
          <a:xfrm>
            <a:off x="178001" y="2109682"/>
            <a:ext cx="4690948" cy="750945"/>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IN" sz="3200" u="none" cap="none" strike="noStrike">
                <a:solidFill>
                  <a:schemeClr val="lt1"/>
                </a:solidFill>
                <a:latin typeface="Roboto"/>
                <a:ea typeface="Roboto"/>
                <a:cs typeface="Roboto"/>
                <a:sym typeface="Roboto"/>
              </a:rPr>
              <a:t>DIRECTIONS</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 name="Shape 107"/>
        <p:cNvGrpSpPr/>
        <p:nvPr/>
      </p:nvGrpSpPr>
      <p:grpSpPr>
        <a:xfrm>
          <a:off x="0" y="0"/>
          <a:ext cx="0" cy="0"/>
          <a:chOff x="0" y="0"/>
          <a:chExt cx="0" cy="0"/>
        </a:xfrm>
      </p:grpSpPr>
      <p:sp>
        <p:nvSpPr>
          <p:cNvPr id="108" name="Google Shape;108;g1425d591c3c_1_44"/>
          <p:cNvSpPr txBox="1"/>
          <p:nvPr>
            <p:ph idx="1" type="body"/>
          </p:nvPr>
        </p:nvSpPr>
        <p:spPr>
          <a:xfrm>
            <a:off x="774025" y="14400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IN" sz="2500">
                <a:solidFill>
                  <a:srgbClr val="373737"/>
                </a:solidFill>
                <a:highlight>
                  <a:srgbClr val="FFFFFF"/>
                </a:highlight>
              </a:rPr>
              <a:t>URL: </a:t>
            </a:r>
            <a:r>
              <a:rPr lang="en-IN" sz="2000" u="sng">
                <a:solidFill>
                  <a:srgbClr val="FF0000"/>
                </a:solidFill>
                <a:latin typeface="Roboto"/>
                <a:ea typeface="Roboto"/>
                <a:cs typeface="Roboto"/>
                <a:sym typeface="Roboto"/>
                <a:hlinkClick r:id="rId3">
                  <a:extLst>
                    <a:ext uri="{A12FA001-AC4F-418D-AE19-62706E023703}">
                      <ahyp:hlinkClr val="tx"/>
                    </a:ext>
                  </a:extLst>
                </a:hlinkClick>
              </a:rPr>
              <a:t>https://forms.gle/CjrdddBi8D3GBYJCA</a:t>
            </a:r>
            <a:endParaRPr b="1" sz="1900">
              <a:solidFill>
                <a:srgbClr val="FF0000"/>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900">
              <a:solidFill>
                <a:srgbClr val="373737"/>
              </a:solidFill>
              <a:highlight>
                <a:srgbClr val="FFFFFF"/>
              </a:highlight>
            </a:endParaRPr>
          </a:p>
          <a:p>
            <a:pPr indent="0" lvl="0" marL="0" rtl="0" algn="l">
              <a:lnSpc>
                <a:spcPct val="115000"/>
              </a:lnSpc>
              <a:spcBef>
                <a:spcPts val="0"/>
              </a:spcBef>
              <a:spcAft>
                <a:spcPts val="0"/>
              </a:spcAft>
              <a:buSzPts val="1800"/>
              <a:buNone/>
            </a:pPr>
            <a:r>
              <a:t/>
            </a:r>
            <a:endParaRPr b="1" sz="1900">
              <a:solidFill>
                <a:srgbClr val="373737"/>
              </a:solidFill>
              <a:highlight>
                <a:srgbClr val="FFFFFF"/>
              </a:highlight>
            </a:endParaRPr>
          </a:p>
          <a:p>
            <a:pPr indent="0" lvl="0" marL="0" rtl="0" algn="l">
              <a:lnSpc>
                <a:spcPct val="115000"/>
              </a:lnSpc>
              <a:spcBef>
                <a:spcPts val="0"/>
              </a:spcBef>
              <a:spcAft>
                <a:spcPts val="0"/>
              </a:spcAft>
              <a:buSzPts val="1800"/>
              <a:buNone/>
            </a:pPr>
            <a:r>
              <a:rPr b="1" lang="en-IN" sz="2400">
                <a:solidFill>
                  <a:srgbClr val="373737"/>
                </a:solidFill>
                <a:highlight>
                  <a:srgbClr val="FFFFFF"/>
                </a:highlight>
              </a:rPr>
              <a:t>QR CODE:</a:t>
            </a:r>
            <a:endParaRPr b="1" sz="2400">
              <a:solidFill>
                <a:srgbClr val="373737"/>
              </a:solidFill>
              <a:highlight>
                <a:srgbClr val="FFFFFF"/>
              </a:highlight>
            </a:endParaRPr>
          </a:p>
        </p:txBody>
      </p:sp>
      <p:pic>
        <p:nvPicPr>
          <p:cNvPr id="109" name="Google Shape;109;g1425d591c3c_1_44"/>
          <p:cNvPicPr preferRelativeResize="0"/>
          <p:nvPr/>
        </p:nvPicPr>
        <p:blipFill rotWithShape="1">
          <a:blip r:embed="rId4">
            <a:alphaModFix/>
          </a:blip>
          <a:srcRect b="0" l="0" r="0" t="0"/>
          <a:stretch/>
        </p:blipFill>
        <p:spPr>
          <a:xfrm>
            <a:off x="3197700" y="2223700"/>
            <a:ext cx="2446551" cy="2125751"/>
          </a:xfrm>
          <a:prstGeom prst="rect">
            <a:avLst/>
          </a:prstGeom>
          <a:noFill/>
          <a:ln>
            <a:noFill/>
          </a:ln>
        </p:spPr>
      </p:pic>
      <p:sp>
        <p:nvSpPr>
          <p:cNvPr id="110" name="Google Shape;110;g1425d591c3c_1_44"/>
          <p:cNvSpPr txBox="1"/>
          <p:nvPr/>
        </p:nvSpPr>
        <p:spPr>
          <a:xfrm>
            <a:off x="2196668" y="862222"/>
            <a:ext cx="45720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700"/>
              <a:buFont typeface="Arial"/>
              <a:buNone/>
            </a:pPr>
            <a:r>
              <a:rPr b="1" i="0" lang="en-IN" sz="1400" u="none" cap="none" strike="noStrike">
                <a:solidFill>
                  <a:schemeClr val="dk1"/>
                </a:solidFill>
                <a:latin typeface="Roboto"/>
                <a:ea typeface="Roboto"/>
                <a:cs typeface="Roboto"/>
                <a:sym typeface="Roboto"/>
              </a:rPr>
              <a:t>TEST TIME ON CALENDARS</a:t>
            </a:r>
            <a:endParaRPr b="1" i="0" sz="1600" u="none" cap="none" strike="noStrike">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g1425d591c3c_1_216"/>
          <p:cNvPicPr preferRelativeResize="0"/>
          <p:nvPr/>
        </p:nvPicPr>
        <p:blipFill rotWithShape="1">
          <a:blip r:embed="rId3">
            <a:alphaModFix/>
          </a:blip>
          <a:srcRect b="0" l="0" r="0" t="0"/>
          <a:stretch/>
        </p:blipFill>
        <p:spPr>
          <a:xfrm>
            <a:off x="1164225" y="1589175"/>
            <a:ext cx="2055100" cy="2911400"/>
          </a:xfrm>
          <a:prstGeom prst="rect">
            <a:avLst/>
          </a:prstGeom>
          <a:noFill/>
          <a:ln>
            <a:noFill/>
          </a:ln>
        </p:spPr>
      </p:pic>
      <p:pic>
        <p:nvPicPr>
          <p:cNvPr id="116" name="Google Shape;116;g1425d591c3c_1_216"/>
          <p:cNvPicPr preferRelativeResize="0"/>
          <p:nvPr/>
        </p:nvPicPr>
        <p:blipFill rotWithShape="1">
          <a:blip r:embed="rId4">
            <a:alphaModFix/>
          </a:blip>
          <a:srcRect b="0" l="0" r="0" t="0"/>
          <a:stretch/>
        </p:blipFill>
        <p:spPr>
          <a:xfrm>
            <a:off x="5187764" y="2799150"/>
            <a:ext cx="2507837" cy="1701424"/>
          </a:xfrm>
          <a:prstGeom prst="rect">
            <a:avLst/>
          </a:prstGeom>
          <a:noFill/>
          <a:ln>
            <a:noFill/>
          </a:ln>
        </p:spPr>
      </p:pic>
      <p:pic>
        <p:nvPicPr>
          <p:cNvPr descr="A clock that is on a pole&#10;&#10;Description automatically generated" id="117" name="Google Shape;117;g1425d591c3c_1_216"/>
          <p:cNvPicPr preferRelativeResize="0"/>
          <p:nvPr/>
        </p:nvPicPr>
        <p:blipFill rotWithShape="1">
          <a:blip r:embed="rId5">
            <a:alphaModFix/>
          </a:blip>
          <a:srcRect b="0" l="0" r="0" t="0"/>
          <a:stretch/>
        </p:blipFill>
        <p:spPr>
          <a:xfrm>
            <a:off x="4489950" y="1419575"/>
            <a:ext cx="2342300" cy="18395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1425d591c3c_1_262"/>
          <p:cNvSpPr txBox="1"/>
          <p:nvPr/>
        </p:nvSpPr>
        <p:spPr>
          <a:xfrm>
            <a:off x="720000" y="1439999"/>
            <a:ext cx="84723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IN" sz="1600" u="none" cap="none" strike="noStrike">
                <a:solidFill>
                  <a:schemeClr val="dk1"/>
                </a:solidFill>
                <a:latin typeface="Roboto"/>
                <a:ea typeface="Roboto"/>
                <a:cs typeface="Roboto"/>
                <a:sym typeface="Roboto"/>
              </a:rPr>
              <a:t>A man goes 50 Km north , then turned left walked 40 Km, then turned right ? In which direction he is?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 North </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 </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East </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West</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123" name="Google Shape;123;g1425d591c3c_1_262"/>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124" name="Google Shape;124;g1425d591c3c_1_26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10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sp>
        <p:nvSpPr>
          <p:cNvPr id="129" name="Google Shape;129;g1425d591c3c_1_34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30" name="Google Shape;130;g1425d591c3c_1_348"/>
          <p:cNvSpPr txBox="1"/>
          <p:nvPr/>
        </p:nvSpPr>
        <p:spPr>
          <a:xfrm>
            <a:off x="720000" y="1440000"/>
            <a:ext cx="6827100" cy="1015800"/>
          </a:xfrm>
          <a:prstGeom prst="rect">
            <a:avLst/>
          </a:prstGeom>
          <a:noFill/>
          <a:ln>
            <a:noFill/>
          </a:ln>
        </p:spPr>
        <p:txBody>
          <a:bodyPr anchorCtr="0" anchor="t" bIns="91425" lIns="91425" spcFirstLastPara="1" rIns="91425" wrap="square" tIns="91425">
            <a:spAutoFit/>
          </a:bodyPr>
          <a:lstStyle/>
          <a:p>
            <a:pPr indent="0" lvl="0" marL="158750" marR="0" rtl="0" algn="l">
              <a:lnSpc>
                <a:spcPct val="100000"/>
              </a:lnSpc>
              <a:spcBef>
                <a:spcPts val="0"/>
              </a:spcBef>
              <a:spcAft>
                <a:spcPts val="0"/>
              </a:spcAft>
              <a:buClr>
                <a:schemeClr val="dk1"/>
              </a:buClr>
              <a:buSzPts val="1100"/>
              <a:buFont typeface="Arial"/>
              <a:buNone/>
            </a:pPr>
            <a:r>
              <a:rPr b="0" i="0" lang="en-IN" sz="1800" u="none" cap="none" strike="noStrike">
                <a:solidFill>
                  <a:schemeClr val="dk1"/>
                </a:solidFill>
                <a:latin typeface="Roboto"/>
                <a:ea typeface="Roboto"/>
                <a:cs typeface="Roboto"/>
                <a:sym typeface="Roboto"/>
              </a:rPr>
              <a:t>5okm-north--&gt;north</a:t>
            </a:r>
            <a:br>
              <a:rPr b="0" i="0" lang="en-IN" sz="1800" u="none" cap="none" strike="noStrike">
                <a:solidFill>
                  <a:schemeClr val="dk1"/>
                </a:solidFill>
                <a:latin typeface="Roboto"/>
                <a:ea typeface="Roboto"/>
                <a:cs typeface="Roboto"/>
                <a:sym typeface="Roboto"/>
              </a:rPr>
            </a:br>
            <a:r>
              <a:rPr b="0" i="0" lang="en-IN" sz="1800" u="none" cap="none" strike="noStrike">
                <a:solidFill>
                  <a:schemeClr val="dk1"/>
                </a:solidFill>
                <a:latin typeface="Roboto"/>
                <a:ea typeface="Roboto"/>
                <a:cs typeface="Roboto"/>
                <a:sym typeface="Roboto"/>
              </a:rPr>
              <a:t>left-west---&gt;west</a:t>
            </a:r>
            <a:br>
              <a:rPr b="0" i="0" lang="en-IN" sz="1800" u="none" cap="none" strike="noStrike">
                <a:solidFill>
                  <a:schemeClr val="dk1"/>
                </a:solidFill>
                <a:latin typeface="Roboto"/>
                <a:ea typeface="Roboto"/>
                <a:cs typeface="Roboto"/>
                <a:sym typeface="Roboto"/>
              </a:rPr>
            </a:br>
            <a:r>
              <a:rPr b="0" i="0" lang="en-IN" sz="1800" u="none" cap="none" strike="noStrike">
                <a:solidFill>
                  <a:schemeClr val="dk1"/>
                </a:solidFill>
                <a:latin typeface="Roboto"/>
                <a:ea typeface="Roboto"/>
                <a:cs typeface="Roboto"/>
                <a:sym typeface="Roboto"/>
              </a:rPr>
              <a:t>turned right-north---&gt;north</a:t>
            </a:r>
            <a:endParaRPr b="1" i="0" sz="2100" u="none" cap="none" strike="noStrike">
              <a:solidFill>
                <a:schemeClr val="dk1"/>
              </a:solidFill>
              <a:highlight>
                <a:schemeClr val="lt1"/>
              </a:highlight>
              <a:latin typeface="Roboto"/>
              <a:ea typeface="Roboto"/>
              <a:cs typeface="Roboto"/>
              <a:sym typeface="Roboto"/>
            </a:endParaRPr>
          </a:p>
        </p:txBody>
      </p:sp>
      <p:sp>
        <p:nvSpPr>
          <p:cNvPr id="131" name="Google Shape;131;g1425d591c3c_1_34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animEffect filter="fade" transition="in">
                                      <p:cBhvr>
                                        <p:cTn dur="1000"/>
                                        <p:tgtEl>
                                          <p:spTgt spid="12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1425d591c3c_1_391"/>
          <p:cNvSpPr txBox="1"/>
          <p:nvPr/>
        </p:nvSpPr>
        <p:spPr>
          <a:xfrm>
            <a:off x="720000" y="1439999"/>
            <a:ext cx="8472300" cy="206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One afternoon, Manisha and Madhuri were talking to each other face to face in Bhopal on M.G. Road. If Manisha's shadow was exactly to the  left of Madhuri, which direction was Manisha facing?</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East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Data inadequate</a:t>
            </a:r>
            <a:endParaRPr b="0" i="0" sz="1600" u="none" cap="none" strike="noStrike">
              <a:solidFill>
                <a:schemeClr val="dk1"/>
              </a:solidFill>
              <a:latin typeface="Roboto"/>
              <a:ea typeface="Roboto"/>
              <a:cs typeface="Roboto"/>
              <a:sym typeface="Roboto"/>
            </a:endParaRPr>
          </a:p>
        </p:txBody>
      </p:sp>
      <p:sp>
        <p:nvSpPr>
          <p:cNvPr id="137" name="Google Shape;137;g1425d591c3c_1_39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138" name="Google Shape;138;g1425d591c3c_1_39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 name="Shape 142"/>
        <p:cNvGrpSpPr/>
        <p:nvPr/>
      </p:nvGrpSpPr>
      <p:grpSpPr>
        <a:xfrm>
          <a:off x="0" y="0"/>
          <a:ext cx="0" cy="0"/>
          <a:chOff x="0" y="0"/>
          <a:chExt cx="0" cy="0"/>
        </a:xfrm>
      </p:grpSpPr>
      <p:sp>
        <p:nvSpPr>
          <p:cNvPr id="143" name="Google Shape;143;g1425d591c3c_1_39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44" name="Google Shape;144;g1425d591c3c_1_399"/>
          <p:cNvSpPr txBox="1"/>
          <p:nvPr/>
        </p:nvSpPr>
        <p:spPr>
          <a:xfrm>
            <a:off x="720000" y="1440000"/>
            <a:ext cx="7166100" cy="12774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In the afternoon the sun is in the west. Hence, the shadow is in the East. Now, East is to the left of Madhuri. So, Madhuri is facing South. Therefore, Manisha, who is face to face with Madhuri, is facing North.</a:t>
            </a:r>
            <a:endParaRPr b="0" i="0" sz="16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Roboto"/>
              <a:ea typeface="Roboto"/>
              <a:cs typeface="Roboto"/>
              <a:sym typeface="Roboto"/>
            </a:endParaRPr>
          </a:p>
        </p:txBody>
      </p:sp>
      <p:sp>
        <p:nvSpPr>
          <p:cNvPr id="145" name="Google Shape;145;g1425d591c3c_1_39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1000"/>
                                        <p:tgtEl>
                                          <p:spTgt spid="1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1425d591c3c_1_407"/>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51" name="Google Shape;151;g1425d591c3c_1_40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152" name="Google Shape;152;g1425d591c3c_1_407"/>
          <p:cNvSpPr txBox="1"/>
          <p:nvPr/>
        </p:nvSpPr>
        <p:spPr>
          <a:xfrm>
            <a:off x="720000" y="1440000"/>
            <a:ext cx="79860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I am facing West. I turn 45° in the clockwise direction and then 180° in the same direction and then 270° anti-clockwise. which direction am facing now?</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South-west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West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North-west</a:t>
            </a:r>
            <a:endParaRPr b="0" i="0" sz="1400" u="none" cap="none" strike="noStrike">
              <a:solidFill>
                <a:schemeClr val="dk1"/>
              </a:solidFill>
              <a:latin typeface="Roboto"/>
              <a:ea typeface="Roboto"/>
              <a:cs typeface="Roboto"/>
              <a:sym typeface="Roboto"/>
            </a:endParaRPr>
          </a:p>
        </p:txBody>
      </p:sp>
      <p:sp>
        <p:nvSpPr>
          <p:cNvPr id="153" name="Google Shape;153;g1425d591c3c_1_40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 name="Shape 157"/>
        <p:cNvGrpSpPr/>
        <p:nvPr/>
      </p:nvGrpSpPr>
      <p:grpSpPr>
        <a:xfrm>
          <a:off x="0" y="0"/>
          <a:ext cx="0" cy="0"/>
          <a:chOff x="0" y="0"/>
          <a:chExt cx="0" cy="0"/>
        </a:xfrm>
      </p:grpSpPr>
      <p:sp>
        <p:nvSpPr>
          <p:cNvPr id="158" name="Google Shape;158;g1425d591c3c_1_41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59" name="Google Shape;159;g1425d591c3c_1_415"/>
          <p:cNvSpPr txBox="1"/>
          <p:nvPr/>
        </p:nvSpPr>
        <p:spPr>
          <a:xfrm>
            <a:off x="720000" y="1600200"/>
            <a:ext cx="6827100" cy="1923900"/>
          </a:xfrm>
          <a:prstGeom prst="rect">
            <a:avLst/>
          </a:prstGeom>
          <a:noFill/>
          <a:ln>
            <a:noFill/>
          </a:ln>
        </p:spPr>
        <p:txBody>
          <a:bodyPr anchorCtr="0" anchor="t" bIns="91425" lIns="91425" spcFirstLastPara="1" rIns="91425" wrap="square" tIns="91425">
            <a:spAutoFit/>
          </a:bodyPr>
          <a:lstStyle/>
          <a:p>
            <a:pPr indent="0" lvl="0" marL="158750" marR="0" rtl="0" algn="l">
              <a:lnSpc>
                <a:spcPct val="100000"/>
              </a:lnSpc>
              <a:spcBef>
                <a:spcPts val="0"/>
              </a:spcBef>
              <a:spcAft>
                <a:spcPts val="0"/>
              </a:spcAft>
              <a:buClr>
                <a:srgbClr val="000000"/>
              </a:buClr>
              <a:buSzPts val="1250"/>
              <a:buFont typeface="Arial"/>
              <a:buNone/>
            </a:pPr>
            <a:r>
              <a:rPr b="0" i="0" lang="en-IN" sz="1250" u="none" cap="none" strike="noStrike">
                <a:solidFill>
                  <a:srgbClr val="888888"/>
                </a:solidFill>
                <a:highlight>
                  <a:srgbClr val="FFFFFF"/>
                </a:highlight>
                <a:latin typeface="Roboto"/>
                <a:ea typeface="Roboto"/>
                <a:cs typeface="Roboto"/>
                <a:sym typeface="Roboto"/>
              </a:rPr>
              <a:t>             North</a:t>
            </a:r>
            <a:endParaRPr b="0" i="0" sz="1250" u="none" cap="none" strike="noStrike">
              <a:solidFill>
                <a:srgbClr val="888888"/>
              </a:solidFill>
              <a:highlight>
                <a:srgbClr val="FFFFFF"/>
              </a:highlight>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50"/>
              <a:buFont typeface="Arial"/>
              <a:buNone/>
            </a:pPr>
            <a:r>
              <a:rPr b="0" i="0" lang="en-IN" sz="1250" u="none" cap="none" strike="noStrike">
                <a:solidFill>
                  <a:srgbClr val="888888"/>
                </a:solidFill>
                <a:highlight>
                  <a:srgbClr val="FFFFFF"/>
                </a:highlight>
                <a:latin typeface="Roboto"/>
                <a:ea typeface="Roboto"/>
                <a:cs typeface="Roboto"/>
                <a:sym typeface="Roboto"/>
              </a:rPr>
              <a:t>West ___ | ___East</a:t>
            </a:r>
            <a:endParaRPr b="0" i="0" sz="1250" u="none" cap="none" strike="noStrike">
              <a:solidFill>
                <a:srgbClr val="888888"/>
              </a:solidFill>
              <a:highlight>
                <a:srgbClr val="FFFFFF"/>
              </a:highlight>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50"/>
              <a:buFont typeface="Arial"/>
              <a:buNone/>
            </a:pPr>
            <a:r>
              <a:rPr b="0" i="0" lang="en-IN" sz="1250" u="none" cap="none" strike="noStrike">
                <a:solidFill>
                  <a:srgbClr val="888888"/>
                </a:solidFill>
                <a:highlight>
                  <a:srgbClr val="FFFFFF"/>
                </a:highlight>
                <a:latin typeface="Roboto"/>
                <a:ea typeface="Roboto"/>
                <a:cs typeface="Roboto"/>
                <a:sym typeface="Roboto"/>
              </a:rPr>
              <a:t>   	     	|</a:t>
            </a:r>
            <a:endParaRPr b="0" i="0" sz="1250" u="none" cap="none" strike="noStrike">
              <a:solidFill>
                <a:srgbClr val="888888"/>
              </a:solidFill>
              <a:highlight>
                <a:srgbClr val="FFFFFF"/>
              </a:highlight>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50"/>
              <a:buFont typeface="Arial"/>
              <a:buNone/>
            </a:pPr>
            <a:r>
              <a:rPr b="0" i="0" lang="en-IN" sz="1250" u="none" cap="none" strike="noStrike">
                <a:solidFill>
                  <a:srgbClr val="888888"/>
                </a:solidFill>
                <a:highlight>
                  <a:srgbClr val="FFFFFF"/>
                </a:highlight>
                <a:latin typeface="Roboto"/>
                <a:ea typeface="Roboto"/>
                <a:cs typeface="Roboto"/>
                <a:sym typeface="Roboto"/>
              </a:rPr>
              <a:t>         	South</a:t>
            </a:r>
            <a:endParaRPr b="0" i="0" sz="1250" u="none" cap="none" strike="noStrike">
              <a:solidFill>
                <a:srgbClr val="888888"/>
              </a:solidFill>
              <a:highlight>
                <a:srgbClr val="FFFFFF"/>
              </a:highlight>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50"/>
              <a:buFont typeface="Arial"/>
              <a:buNone/>
            </a:pPr>
            <a:r>
              <a:rPr b="0" i="0" lang="en-IN" sz="1250" u="none" cap="none" strike="noStrike">
                <a:solidFill>
                  <a:srgbClr val="888888"/>
                </a:solidFill>
                <a:highlight>
                  <a:srgbClr val="FFFFFF"/>
                </a:highlight>
                <a:latin typeface="Roboto"/>
                <a:ea typeface="Roboto"/>
                <a:cs typeface="Roboto"/>
                <a:sym typeface="Roboto"/>
              </a:rPr>
              <a:t>According to given Question,</a:t>
            </a:r>
            <a:endParaRPr b="0" i="0" sz="1250" u="none" cap="none" strike="noStrike">
              <a:solidFill>
                <a:srgbClr val="888888"/>
              </a:solidFill>
              <a:highlight>
                <a:srgbClr val="FFFFFF"/>
              </a:highlight>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50"/>
              <a:buFont typeface="Arial"/>
              <a:buNone/>
            </a:pPr>
            <a:r>
              <a:rPr b="0" i="0" lang="en-IN" sz="1250" u="none" cap="none" strike="noStrike">
                <a:solidFill>
                  <a:srgbClr val="888888"/>
                </a:solidFill>
                <a:highlight>
                  <a:srgbClr val="FFFFFF"/>
                </a:highlight>
                <a:latin typeface="Roboto"/>
                <a:ea typeface="Roboto"/>
                <a:cs typeface="Roboto"/>
                <a:sym typeface="Roboto"/>
              </a:rPr>
              <a:t>I am facing West.</a:t>
            </a:r>
            <a:endParaRPr b="0" i="0" sz="1250" u="none" cap="none" strike="noStrike">
              <a:solidFill>
                <a:srgbClr val="888888"/>
              </a:solidFill>
              <a:highlight>
                <a:srgbClr val="FFFFFF"/>
              </a:highlight>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50"/>
              <a:buFont typeface="Arial"/>
              <a:buNone/>
            </a:pPr>
            <a:r>
              <a:rPr b="0" i="0" lang="en-IN" sz="1250" u="none" cap="none" strike="noStrike">
                <a:solidFill>
                  <a:srgbClr val="888888"/>
                </a:solidFill>
                <a:highlight>
                  <a:srgbClr val="FFFFFF"/>
                </a:highlight>
                <a:latin typeface="Roboto"/>
                <a:ea typeface="Roboto"/>
                <a:cs typeface="Roboto"/>
                <a:sym typeface="Roboto"/>
              </a:rPr>
              <a:t>45° + 180° - 270° = -45°</a:t>
            </a:r>
            <a:endParaRPr b="0" i="0" sz="1250" u="none" cap="none" strike="noStrike">
              <a:solidFill>
                <a:srgbClr val="888888"/>
              </a:solidFill>
              <a:highlight>
                <a:srgbClr val="FFFFFF"/>
              </a:highlight>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50"/>
              <a:buFont typeface="Arial"/>
              <a:buNone/>
            </a:pPr>
            <a:r>
              <a:rPr b="0" i="0" lang="en-IN" sz="1250" u="none" cap="none" strike="noStrike">
                <a:solidFill>
                  <a:srgbClr val="888888"/>
                </a:solidFill>
                <a:highlight>
                  <a:srgbClr val="FFFFFF"/>
                </a:highlight>
                <a:latin typeface="Roboto"/>
                <a:ea typeface="Roboto"/>
                <a:cs typeface="Roboto"/>
                <a:sym typeface="Roboto"/>
              </a:rPr>
              <a:t>Anticlockwise from initial position. Hence, the required direction is south - west.</a:t>
            </a:r>
            <a:endParaRPr b="0" i="0" sz="1300" u="none" cap="none" strike="noStrike">
              <a:solidFill>
                <a:schemeClr val="dk1"/>
              </a:solidFill>
              <a:latin typeface="Roboto"/>
              <a:ea typeface="Roboto"/>
              <a:cs typeface="Roboto"/>
              <a:sym typeface="Roboto"/>
            </a:endParaRPr>
          </a:p>
        </p:txBody>
      </p:sp>
      <p:sp>
        <p:nvSpPr>
          <p:cNvPr id="160" name="Google Shape;160;g1425d591c3c_1_41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1000"/>
                                        <p:tgtEl>
                                          <p:spTgt spid="15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1425d591c3c_1_426"/>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66" name="Google Shape;166;g1425d591c3c_1_426"/>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167" name="Google Shape;167;g1425d591c3c_1_426"/>
          <p:cNvSpPr txBox="1"/>
          <p:nvPr/>
        </p:nvSpPr>
        <p:spPr>
          <a:xfrm>
            <a:off x="720000" y="1460963"/>
            <a:ext cx="8248800" cy="215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Of the 5 towns A,B,C,D and E situated close to each other. A is to the west of B, C is to the south of A,E is to the north of B and D is to the east of E. Then C is in which direction with respect to D?</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North-East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North-West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South-West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South-East</a:t>
            </a:r>
            <a:endParaRPr b="0" i="0" sz="1600" u="none" cap="none" strike="noStrike">
              <a:solidFill>
                <a:schemeClr val="dk1"/>
              </a:solidFill>
              <a:latin typeface="Roboto"/>
              <a:ea typeface="Roboto"/>
              <a:cs typeface="Roboto"/>
              <a:sym typeface="Roboto"/>
            </a:endParaRPr>
          </a:p>
        </p:txBody>
      </p:sp>
      <p:sp>
        <p:nvSpPr>
          <p:cNvPr id="168" name="Google Shape;168;g1425d591c3c_1_42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 name="Shape 172"/>
        <p:cNvGrpSpPr/>
        <p:nvPr/>
      </p:nvGrpSpPr>
      <p:grpSpPr>
        <a:xfrm>
          <a:off x="0" y="0"/>
          <a:ext cx="0" cy="0"/>
          <a:chOff x="0" y="0"/>
          <a:chExt cx="0" cy="0"/>
        </a:xfrm>
      </p:grpSpPr>
      <p:sp>
        <p:nvSpPr>
          <p:cNvPr id="173" name="Google Shape;173;g1425d591c3c_1_43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74" name="Google Shape;174;g1425d591c3c_1_435"/>
          <p:cNvSpPr txBox="1"/>
          <p:nvPr/>
        </p:nvSpPr>
        <p:spPr>
          <a:xfrm>
            <a:off x="720000" y="1417350"/>
            <a:ext cx="71661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 Town C is to the south-west of Town D.</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50"/>
              <a:buFont typeface="Arial"/>
              <a:buNone/>
            </a:pPr>
            <a:r>
              <a:t/>
            </a:r>
            <a:endParaRPr b="0" i="0" sz="1250" u="none" cap="none" strike="noStrike">
              <a:solidFill>
                <a:srgbClr val="888888"/>
              </a:solidFill>
              <a:highlight>
                <a:srgbClr val="FFFFFF"/>
              </a:highlight>
              <a:latin typeface="Roboto"/>
              <a:ea typeface="Roboto"/>
              <a:cs typeface="Roboto"/>
              <a:sym typeface="Roboto"/>
            </a:endParaRPr>
          </a:p>
        </p:txBody>
      </p:sp>
      <p:pic>
        <p:nvPicPr>
          <p:cNvPr id="175" name="Google Shape;175;g1425d591c3c_1_435"/>
          <p:cNvPicPr preferRelativeResize="0"/>
          <p:nvPr/>
        </p:nvPicPr>
        <p:blipFill rotWithShape="1">
          <a:blip r:embed="rId3">
            <a:alphaModFix/>
          </a:blip>
          <a:srcRect b="0" l="0" r="0" t="0"/>
          <a:stretch/>
        </p:blipFill>
        <p:spPr>
          <a:xfrm>
            <a:off x="3453475" y="2141600"/>
            <a:ext cx="3564400" cy="2662275"/>
          </a:xfrm>
          <a:prstGeom prst="rect">
            <a:avLst/>
          </a:prstGeom>
          <a:noFill/>
          <a:ln>
            <a:noFill/>
          </a:ln>
        </p:spPr>
      </p:pic>
      <p:sp>
        <p:nvSpPr>
          <p:cNvPr id="176" name="Google Shape;176;g1425d591c3c_1_43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Effect filter="fade" transition="in">
                                      <p:cBhvr>
                                        <p:cTn dur="1000"/>
                                        <p:tgtEl>
                                          <p:spTgt spid="1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1425d591c3c_1_444"/>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82" name="Google Shape;182;g1425d591c3c_1_44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183" name="Google Shape;183;g1425d591c3c_1_444"/>
          <p:cNvSpPr txBox="1"/>
          <p:nvPr/>
        </p:nvSpPr>
        <p:spPr>
          <a:xfrm>
            <a:off x="720000" y="1440000"/>
            <a:ext cx="8112300" cy="1908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Radhika went 50 metres south from her house then turned left and went 20 metres then turning, to north she went 30 metres. In which direction is her home from this point?</a:t>
            </a:r>
            <a:endParaRPr b="0" i="0" sz="1600" u="none" cap="none" strike="noStrike">
              <a:solidFill>
                <a:schemeClr val="dk1"/>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just">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a:t>
            </a:r>
            <a:endParaRPr b="0" i="0" sz="1400" u="none" cap="none" strike="noStrike">
              <a:solidFill>
                <a:schemeClr val="dk1"/>
              </a:solidFill>
              <a:latin typeface="Roboto"/>
              <a:ea typeface="Roboto"/>
              <a:cs typeface="Roboto"/>
              <a:sym typeface="Roboto"/>
            </a:endParaRPr>
          </a:p>
          <a:p>
            <a:pPr indent="-330200" lvl="0" marL="457200" marR="0" rtl="0" algn="just">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South-West</a:t>
            </a:r>
            <a:endParaRPr b="0" i="0" sz="1400" u="none" cap="none" strike="noStrike">
              <a:solidFill>
                <a:schemeClr val="dk1"/>
              </a:solidFill>
              <a:latin typeface="Roboto"/>
              <a:ea typeface="Roboto"/>
              <a:cs typeface="Roboto"/>
              <a:sym typeface="Roboto"/>
            </a:endParaRPr>
          </a:p>
          <a:p>
            <a:pPr indent="-330200" lvl="0" marL="457200" marR="0" rtl="0" algn="just">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East</a:t>
            </a:r>
            <a:endParaRPr b="0" i="0" sz="1400" u="none" cap="none" strike="noStrike">
              <a:solidFill>
                <a:schemeClr val="dk1"/>
              </a:solidFill>
              <a:latin typeface="Roboto"/>
              <a:ea typeface="Roboto"/>
              <a:cs typeface="Roboto"/>
              <a:sym typeface="Roboto"/>
            </a:endParaRPr>
          </a:p>
          <a:p>
            <a:pPr indent="-330200" lvl="0" marL="457200" marR="0" rtl="0" algn="just">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North-West</a:t>
            </a:r>
            <a:endParaRPr b="0" i="0" sz="1600" u="none" cap="none" strike="noStrike">
              <a:solidFill>
                <a:schemeClr val="dk1"/>
              </a:solidFill>
              <a:latin typeface="Roboto"/>
              <a:ea typeface="Roboto"/>
              <a:cs typeface="Roboto"/>
              <a:sym typeface="Roboto"/>
            </a:endParaRPr>
          </a:p>
        </p:txBody>
      </p:sp>
      <p:sp>
        <p:nvSpPr>
          <p:cNvPr id="184" name="Google Shape;184;g1425d591c3c_1_44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 name="Shape 188"/>
        <p:cNvGrpSpPr/>
        <p:nvPr/>
      </p:nvGrpSpPr>
      <p:grpSpPr>
        <a:xfrm>
          <a:off x="0" y="0"/>
          <a:ext cx="0" cy="0"/>
          <a:chOff x="0" y="0"/>
          <a:chExt cx="0" cy="0"/>
        </a:xfrm>
      </p:grpSpPr>
      <p:sp>
        <p:nvSpPr>
          <p:cNvPr id="189" name="Google Shape;189;g1425d591c3c_1_453"/>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90" name="Google Shape;190;g1425d591c3c_1_453"/>
          <p:cNvSpPr txBox="1"/>
          <p:nvPr/>
        </p:nvSpPr>
        <p:spPr>
          <a:xfrm>
            <a:off x="720000" y="1458500"/>
            <a:ext cx="71661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a:t>
            </a:r>
            <a:endParaRPr b="0" i="0" sz="16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pic>
        <p:nvPicPr>
          <p:cNvPr descr="A close up of a logo&#10;&#10;Description automatically generated" id="191" name="Google Shape;191;g1425d591c3c_1_453"/>
          <p:cNvPicPr preferRelativeResize="0"/>
          <p:nvPr/>
        </p:nvPicPr>
        <p:blipFill rotWithShape="1">
          <a:blip r:embed="rId3">
            <a:alphaModFix/>
          </a:blip>
          <a:srcRect b="0" l="0" r="0" t="0"/>
          <a:stretch/>
        </p:blipFill>
        <p:spPr>
          <a:xfrm>
            <a:off x="3030825" y="2237900"/>
            <a:ext cx="4457700" cy="2575325"/>
          </a:xfrm>
          <a:prstGeom prst="rect">
            <a:avLst/>
          </a:prstGeom>
          <a:noFill/>
          <a:ln>
            <a:noFill/>
          </a:ln>
        </p:spPr>
      </p:pic>
      <p:sp>
        <p:nvSpPr>
          <p:cNvPr id="192" name="Google Shape;192;g1425d591c3c_1_45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animEffect filter="fade" transition="in">
                                      <p:cBhvr>
                                        <p:cTn dur="1000"/>
                                        <p:tgtEl>
                                          <p:spTgt spid="18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1425d591c3c_1_463"/>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98" name="Google Shape;198;g1425d591c3c_1_46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199" name="Google Shape;199;g1425d591c3c_1_463"/>
          <p:cNvSpPr txBox="1"/>
          <p:nvPr/>
        </p:nvSpPr>
        <p:spPr>
          <a:xfrm>
            <a:off x="720000" y="1440000"/>
            <a:ext cx="81123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 direction pole was situated on the Road Crossing. Due to an accident, the pole turned in such a manner that the pointer which was showing East, started showing South. Sita, a traveller went to the wrong direction thinking it to be West. In what direction actually she was travelling?</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East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West</a:t>
            </a:r>
            <a:endParaRPr b="0" i="0" sz="1600" u="none" cap="none" strike="noStrike">
              <a:solidFill>
                <a:schemeClr val="dk1"/>
              </a:solidFill>
              <a:latin typeface="Roboto"/>
              <a:ea typeface="Roboto"/>
              <a:cs typeface="Roboto"/>
              <a:sym typeface="Roboto"/>
            </a:endParaRPr>
          </a:p>
        </p:txBody>
      </p:sp>
      <p:sp>
        <p:nvSpPr>
          <p:cNvPr id="200" name="Google Shape;200;g1425d591c3c_1_4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g1425d591c3c_1_472"/>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06" name="Google Shape;206;g1425d591c3c_1_472"/>
          <p:cNvSpPr txBox="1"/>
          <p:nvPr/>
        </p:nvSpPr>
        <p:spPr>
          <a:xfrm>
            <a:off x="720000" y="1440000"/>
            <a:ext cx="78600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 Due to an accident, the pointer showing East, started showing South. It means, the pole has been rotated through 90° clockwise. So, when she was travelling towards West, actually it was North.</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br>
              <a:rPr b="0" i="0" lang="en-IN" sz="1600" u="none" cap="none" strike="noStrike">
                <a:solidFill>
                  <a:schemeClr val="dk1"/>
                </a:solidFill>
                <a:latin typeface="Roboto"/>
                <a:ea typeface="Roboto"/>
                <a:cs typeface="Roboto"/>
                <a:sym typeface="Roboto"/>
              </a:rPr>
            </a:br>
            <a:endParaRPr b="0" i="0" sz="16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pic>
        <p:nvPicPr>
          <p:cNvPr id="207" name="Google Shape;207;g1425d591c3c_1_472"/>
          <p:cNvPicPr preferRelativeResize="0"/>
          <p:nvPr/>
        </p:nvPicPr>
        <p:blipFill rotWithShape="1">
          <a:blip r:embed="rId3">
            <a:alphaModFix/>
          </a:blip>
          <a:srcRect b="0" l="0" r="0" t="0"/>
          <a:stretch/>
        </p:blipFill>
        <p:spPr>
          <a:xfrm>
            <a:off x="4273850" y="2736775"/>
            <a:ext cx="3779450" cy="2062350"/>
          </a:xfrm>
          <a:prstGeom prst="rect">
            <a:avLst/>
          </a:prstGeom>
          <a:noFill/>
          <a:ln>
            <a:noFill/>
          </a:ln>
        </p:spPr>
      </p:pic>
      <p:sp>
        <p:nvSpPr>
          <p:cNvPr id="208" name="Google Shape;208;g1425d591c3c_1_47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1000"/>
                                        <p:tgtEl>
                                          <p:spTgt spid="20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1425d591c3c_1_482"/>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14" name="Google Shape;214;g1425d591c3c_1_482"/>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215" name="Google Shape;215;g1425d591c3c_1_482"/>
          <p:cNvSpPr txBox="1"/>
          <p:nvPr/>
        </p:nvSpPr>
        <p:spPr>
          <a:xfrm>
            <a:off x="720000" y="1440000"/>
            <a:ext cx="8112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 man drives his car 6 km towards West, then turns left and drives 3 km and again turns left and drives 3 km. Find out the final direction of the man from his original position.</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South-West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North-West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North-East</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South-East</a:t>
            </a:r>
            <a:endParaRPr b="0" i="0" sz="1600" u="none" cap="none" strike="noStrike">
              <a:solidFill>
                <a:schemeClr val="dk1"/>
              </a:solidFill>
              <a:latin typeface="Roboto"/>
              <a:ea typeface="Roboto"/>
              <a:cs typeface="Roboto"/>
              <a:sym typeface="Roboto"/>
            </a:endParaRPr>
          </a:p>
        </p:txBody>
      </p:sp>
      <p:sp>
        <p:nvSpPr>
          <p:cNvPr id="216" name="Google Shape;216;g1425d591c3c_1_48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g1425d591c3c_1_491"/>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22" name="Google Shape;222;g1425d591c3c_1_491"/>
          <p:cNvSpPr txBox="1"/>
          <p:nvPr/>
        </p:nvSpPr>
        <p:spPr>
          <a:xfrm>
            <a:off x="720000" y="1440000"/>
            <a:ext cx="78600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 the man is to the South West from his original position.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br>
              <a:rPr b="0" i="0" lang="en-IN" sz="1600" u="none" cap="none" strike="noStrike">
                <a:solidFill>
                  <a:schemeClr val="dk1"/>
                </a:solidFill>
                <a:latin typeface="Roboto"/>
                <a:ea typeface="Roboto"/>
                <a:cs typeface="Roboto"/>
                <a:sym typeface="Roboto"/>
              </a:rPr>
            </a:br>
            <a:endParaRPr b="0" i="0" sz="16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pic>
        <p:nvPicPr>
          <p:cNvPr id="223" name="Google Shape;223;g1425d591c3c_1_491"/>
          <p:cNvPicPr preferRelativeResize="0"/>
          <p:nvPr/>
        </p:nvPicPr>
        <p:blipFill rotWithShape="1">
          <a:blip r:embed="rId3">
            <a:alphaModFix/>
          </a:blip>
          <a:srcRect b="0" l="0" r="0" t="0"/>
          <a:stretch/>
        </p:blipFill>
        <p:spPr>
          <a:xfrm>
            <a:off x="1092200" y="2058053"/>
            <a:ext cx="6908800" cy="2510821"/>
          </a:xfrm>
          <a:prstGeom prst="rect">
            <a:avLst/>
          </a:prstGeom>
          <a:noFill/>
          <a:ln>
            <a:noFill/>
          </a:ln>
        </p:spPr>
      </p:pic>
      <p:sp>
        <p:nvSpPr>
          <p:cNvPr id="224" name="Google Shape;224;g1425d591c3c_1_49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1425d591c3c_1_501"/>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30" name="Google Shape;230;g1425d591c3c_1_50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231" name="Google Shape;231;g1425d591c3c_1_501"/>
          <p:cNvSpPr txBox="1"/>
          <p:nvPr/>
        </p:nvSpPr>
        <p:spPr>
          <a:xfrm>
            <a:off x="720000" y="1440000"/>
            <a:ext cx="7511700" cy="3263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Mr. A travelled from a point ‘X’ straight towards east at a distance of 80 m. He turned to his right and walked 40 m. He again turned to his right and walked 80 m. He then turned his left and walked 20 m and took left and again walked 80m. Now he turned towards his left and walked 60 m and stopped. How far and in which direction is he from the starting point ‘X’?</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80 m towards North</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60 m towards East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80 m towards West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80 m towards East</a:t>
            </a:r>
            <a:endParaRPr b="0" i="0" sz="1800" u="none" cap="none" strike="noStrike">
              <a:solidFill>
                <a:schemeClr val="dk2"/>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32" name="Google Shape;232;g1425d591c3c_1_50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6" name="Shape 236"/>
        <p:cNvGrpSpPr/>
        <p:nvPr/>
      </p:nvGrpSpPr>
      <p:grpSpPr>
        <a:xfrm>
          <a:off x="0" y="0"/>
          <a:ext cx="0" cy="0"/>
          <a:chOff x="0" y="0"/>
          <a:chExt cx="0" cy="0"/>
        </a:xfrm>
      </p:grpSpPr>
      <p:sp>
        <p:nvSpPr>
          <p:cNvPr id="237" name="Google Shape;237;g1425d591c3c_1_510"/>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38" name="Google Shape;238;g1425d591c3c_1_510"/>
          <p:cNvSpPr txBox="1"/>
          <p:nvPr/>
        </p:nvSpPr>
        <p:spPr>
          <a:xfrm>
            <a:off x="720000" y="1440000"/>
            <a:ext cx="7860000" cy="15993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chemeClr val="dk1"/>
              </a:buClr>
              <a:buSzPts val="18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 It is clear from the above diagram that he is 80 meter towards East from the point X.</a:t>
            </a:r>
            <a:br>
              <a:rPr b="0" i="0" lang="en-IN" sz="1800" u="none" cap="none" strike="noStrike">
                <a:solidFill>
                  <a:schemeClr val="dk1"/>
                </a:solidFill>
                <a:latin typeface="Roboto"/>
                <a:ea typeface="Roboto"/>
                <a:cs typeface="Roboto"/>
                <a:sym typeface="Roboto"/>
              </a:rPr>
            </a:br>
            <a:endParaRPr b="0" i="0" sz="18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pic>
        <p:nvPicPr>
          <p:cNvPr id="239" name="Google Shape;239;g1425d591c3c_1_510"/>
          <p:cNvPicPr preferRelativeResize="0"/>
          <p:nvPr/>
        </p:nvPicPr>
        <p:blipFill rotWithShape="1">
          <a:blip r:embed="rId3">
            <a:alphaModFix/>
          </a:blip>
          <a:srcRect b="0" l="0" r="0" t="0"/>
          <a:stretch/>
        </p:blipFill>
        <p:spPr>
          <a:xfrm>
            <a:off x="3355075" y="2339375"/>
            <a:ext cx="4557025" cy="2160625"/>
          </a:xfrm>
          <a:prstGeom prst="rect">
            <a:avLst/>
          </a:prstGeom>
          <a:noFill/>
          <a:ln>
            <a:noFill/>
          </a:ln>
        </p:spPr>
      </p:pic>
      <p:sp>
        <p:nvSpPr>
          <p:cNvPr id="240" name="Google Shape;240;g1425d591c3c_1_51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Effect filter="fade" transition="in">
                                      <p:cBhvr>
                                        <p:cTn dur="1000"/>
                                        <p:tgtEl>
                                          <p:spTgt spid="23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1425d591c3c_1_520"/>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46" name="Google Shape;246;g1425d591c3c_1_520"/>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247" name="Google Shape;247;g1425d591c3c_1_520"/>
          <p:cNvSpPr txBox="1"/>
          <p:nvPr/>
        </p:nvSpPr>
        <p:spPr>
          <a:xfrm>
            <a:off x="720000" y="1440000"/>
            <a:ext cx="79743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 car travelling from south covers a distance of 8 kms, then turns right and runs another 9 kms and again turns to the right and was stopped. Which direction does it face now?</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West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East</a:t>
            </a:r>
            <a:endParaRPr b="0" i="0" sz="1600" u="none" cap="none" strike="noStrike">
              <a:solidFill>
                <a:schemeClr val="dk1"/>
              </a:solidFill>
              <a:latin typeface="Roboto"/>
              <a:ea typeface="Roboto"/>
              <a:cs typeface="Roboto"/>
              <a:sym typeface="Roboto"/>
            </a:endParaRPr>
          </a:p>
        </p:txBody>
      </p:sp>
      <p:sp>
        <p:nvSpPr>
          <p:cNvPr id="248" name="Google Shape;248;g1425d591c3c_1_52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2" name="Shape 252"/>
        <p:cNvGrpSpPr/>
        <p:nvPr/>
      </p:nvGrpSpPr>
      <p:grpSpPr>
        <a:xfrm>
          <a:off x="0" y="0"/>
          <a:ext cx="0" cy="0"/>
          <a:chOff x="0" y="0"/>
          <a:chExt cx="0" cy="0"/>
        </a:xfrm>
      </p:grpSpPr>
      <p:sp>
        <p:nvSpPr>
          <p:cNvPr id="253" name="Google Shape;253;g1425d591c3c_1_52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54" name="Google Shape;254;g1425d591c3c_1_529"/>
          <p:cNvSpPr txBox="1"/>
          <p:nvPr/>
        </p:nvSpPr>
        <p:spPr>
          <a:xfrm>
            <a:off x="720000" y="1440000"/>
            <a:ext cx="7860000" cy="7143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chemeClr val="dk1"/>
              </a:buClr>
              <a:buSzPts val="18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 travelling from south means movement from south to north.</a:t>
            </a:r>
            <a:endParaRPr b="0" i="0" sz="1600" u="none" cap="none" strike="noStrike">
              <a:solidFill>
                <a:schemeClr val="dk1"/>
              </a:solidFill>
              <a:latin typeface="Roboto"/>
              <a:ea typeface="Roboto"/>
              <a:cs typeface="Roboto"/>
              <a:sym typeface="Roboto"/>
            </a:endParaRPr>
          </a:p>
        </p:txBody>
      </p:sp>
      <p:pic>
        <p:nvPicPr>
          <p:cNvPr id="255" name="Google Shape;255;g1425d591c3c_1_529"/>
          <p:cNvPicPr preferRelativeResize="0"/>
          <p:nvPr/>
        </p:nvPicPr>
        <p:blipFill rotWithShape="1">
          <a:blip r:embed="rId3">
            <a:alphaModFix/>
          </a:blip>
          <a:srcRect b="0" l="0" r="0" t="0"/>
          <a:stretch/>
        </p:blipFill>
        <p:spPr>
          <a:xfrm>
            <a:off x="3634075" y="2338200"/>
            <a:ext cx="3935125" cy="1970025"/>
          </a:xfrm>
          <a:prstGeom prst="rect">
            <a:avLst/>
          </a:prstGeom>
          <a:noFill/>
          <a:ln>
            <a:noFill/>
          </a:ln>
        </p:spPr>
      </p:pic>
      <p:sp>
        <p:nvSpPr>
          <p:cNvPr id="256" name="Google Shape;256;g1425d591c3c_1_52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animEffect filter="fade" transition="in">
                                      <p:cBhvr>
                                        <p:cTn dur="1000"/>
                                        <p:tgtEl>
                                          <p:spTgt spid="25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1425d591c3c_1_539"/>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62" name="Google Shape;262;g1425d591c3c_1_53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263" name="Google Shape;263;g1425d591c3c_1_539"/>
          <p:cNvSpPr txBox="1"/>
          <p:nvPr/>
        </p:nvSpPr>
        <p:spPr>
          <a:xfrm>
            <a:off x="720000" y="1378500"/>
            <a:ext cx="7974300" cy="297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 tourist drives 10 km towards West and turns to left and takes a drive of another 4 km. He then drives towards East another 4 km and then turns to his right and drives 5 km. Afterwards he turns to his left and travels 6 km. In which direction is he from the starting point?</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East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West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a:t>
            </a:r>
            <a:endParaRPr b="0" i="0" sz="1800" u="none" cap="none" strike="noStrike">
              <a:solidFill>
                <a:schemeClr val="dk2"/>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64" name="Google Shape;264;g1425d591c3c_1_53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8" name="Shape 268"/>
        <p:cNvGrpSpPr/>
        <p:nvPr/>
      </p:nvGrpSpPr>
      <p:grpSpPr>
        <a:xfrm>
          <a:off x="0" y="0"/>
          <a:ext cx="0" cy="0"/>
          <a:chOff x="0" y="0"/>
          <a:chExt cx="0" cy="0"/>
        </a:xfrm>
      </p:grpSpPr>
      <p:sp>
        <p:nvSpPr>
          <p:cNvPr id="269" name="Google Shape;269;g1425d591c3c_1_54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70" name="Google Shape;270;g1425d591c3c_1_548"/>
          <p:cNvSpPr txBox="1"/>
          <p:nvPr/>
        </p:nvSpPr>
        <p:spPr>
          <a:xfrm>
            <a:off x="720000" y="1440000"/>
            <a:ext cx="7860000" cy="9975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 he is in south direction from the starting point.</a:t>
            </a:r>
            <a:endParaRPr b="0" i="0" sz="18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pic>
        <p:nvPicPr>
          <p:cNvPr id="271" name="Google Shape;271;g1425d591c3c_1_548"/>
          <p:cNvPicPr preferRelativeResize="0"/>
          <p:nvPr/>
        </p:nvPicPr>
        <p:blipFill rotWithShape="1">
          <a:blip r:embed="rId3">
            <a:alphaModFix/>
          </a:blip>
          <a:srcRect b="0" l="0" r="0" t="0"/>
          <a:stretch/>
        </p:blipFill>
        <p:spPr>
          <a:xfrm>
            <a:off x="2514600" y="1956936"/>
            <a:ext cx="5278438" cy="3029214"/>
          </a:xfrm>
          <a:prstGeom prst="rect">
            <a:avLst/>
          </a:prstGeom>
          <a:noFill/>
          <a:ln>
            <a:noFill/>
          </a:ln>
        </p:spPr>
      </p:pic>
      <p:sp>
        <p:nvSpPr>
          <p:cNvPr id="272" name="Google Shape;272;g1425d591c3c_1_54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1000"/>
                                        <p:tgtEl>
                                          <p:spTgt spid="26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1425d591c3c_1_558"/>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78" name="Google Shape;278;g1425d591c3c_1_55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279" name="Google Shape;279;g1425d591c3c_1_558"/>
          <p:cNvSpPr txBox="1"/>
          <p:nvPr/>
        </p:nvSpPr>
        <p:spPr>
          <a:xfrm>
            <a:off x="720000" y="1440000"/>
            <a:ext cx="7511700" cy="297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Raghu starts from his house in his car and travels 8 km towards the North, then 6 km towards East then 10 km towards his right, 4 km towards his left, 10 km towards North and finally 4 km towards his right. In which direction is he now with reference to the starting point?</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 East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 East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a:t>
            </a:r>
            <a:endParaRPr b="0" i="0" sz="1800" u="none" cap="none" strike="noStrike">
              <a:solidFill>
                <a:schemeClr val="dk2"/>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80" name="Google Shape;280;g1425d591c3c_1_55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4" name="Shape 284"/>
        <p:cNvGrpSpPr/>
        <p:nvPr/>
      </p:nvGrpSpPr>
      <p:grpSpPr>
        <a:xfrm>
          <a:off x="0" y="0"/>
          <a:ext cx="0" cy="0"/>
          <a:chOff x="0" y="0"/>
          <a:chExt cx="0" cy="0"/>
        </a:xfrm>
      </p:grpSpPr>
      <p:sp>
        <p:nvSpPr>
          <p:cNvPr id="285" name="Google Shape;285;g1425d591c3c_1_567"/>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86" name="Google Shape;286;g1425d591c3c_1_567"/>
          <p:cNvSpPr txBox="1"/>
          <p:nvPr/>
        </p:nvSpPr>
        <p:spPr>
          <a:xfrm>
            <a:off x="720000" y="1440000"/>
            <a:ext cx="7860000" cy="7143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a:t>
            </a:r>
            <a:endParaRPr b="0" i="0" sz="1600" u="none" cap="none" strike="noStrike">
              <a:solidFill>
                <a:schemeClr val="dk1"/>
              </a:solidFill>
              <a:latin typeface="Roboto"/>
              <a:ea typeface="Roboto"/>
              <a:cs typeface="Roboto"/>
              <a:sym typeface="Roboto"/>
            </a:endParaRPr>
          </a:p>
        </p:txBody>
      </p:sp>
      <p:pic>
        <p:nvPicPr>
          <p:cNvPr descr="A close up of text on a black background&#10;&#10;Description automatically generated" id="287" name="Google Shape;287;g1425d591c3c_1_567"/>
          <p:cNvPicPr preferRelativeResize="0"/>
          <p:nvPr/>
        </p:nvPicPr>
        <p:blipFill rotWithShape="1">
          <a:blip r:embed="rId3">
            <a:alphaModFix/>
          </a:blip>
          <a:srcRect b="0" l="0" r="0" t="0"/>
          <a:stretch/>
        </p:blipFill>
        <p:spPr>
          <a:xfrm>
            <a:off x="2878275" y="2071200"/>
            <a:ext cx="4995725" cy="2656750"/>
          </a:xfrm>
          <a:prstGeom prst="rect">
            <a:avLst/>
          </a:prstGeom>
          <a:noFill/>
          <a:ln>
            <a:noFill/>
          </a:ln>
        </p:spPr>
      </p:pic>
      <p:sp>
        <p:nvSpPr>
          <p:cNvPr id="288" name="Google Shape;288;g1425d591c3c_1_56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animEffect filter="fade" transition="in">
                                      <p:cBhvr>
                                        <p:cTn dur="1000"/>
                                        <p:tgtEl>
                                          <p:spTgt spid="28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1425d591c3c_1_577"/>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94" name="Google Shape;294;g1425d591c3c_1_57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295" name="Google Shape;295;g1425d591c3c_1_577"/>
          <p:cNvSpPr txBox="1"/>
          <p:nvPr/>
        </p:nvSpPr>
        <p:spPr>
          <a:xfrm>
            <a:off x="720000" y="1440000"/>
            <a:ext cx="79743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Raju is standing facing north. He goes 30 metres ahead and turns left and goes for 15 metres. Now he turns right and goes for 50 metres and finally turns to his right and walks. In which direction is he heading?</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East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West</a:t>
            </a:r>
            <a:endParaRPr b="0" i="0" sz="1600" u="none" cap="none" strike="noStrike">
              <a:solidFill>
                <a:schemeClr val="dk1"/>
              </a:solidFill>
              <a:latin typeface="Roboto"/>
              <a:ea typeface="Roboto"/>
              <a:cs typeface="Roboto"/>
              <a:sym typeface="Roboto"/>
            </a:endParaRPr>
          </a:p>
        </p:txBody>
      </p:sp>
      <p:sp>
        <p:nvSpPr>
          <p:cNvPr id="296" name="Google Shape;296;g1425d591c3c_1_57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g1425d591c3c_1_58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02" name="Google Shape;302;g1425d591c3c_1_586"/>
          <p:cNvSpPr txBox="1"/>
          <p:nvPr/>
        </p:nvSpPr>
        <p:spPr>
          <a:xfrm>
            <a:off x="720000" y="1440000"/>
            <a:ext cx="7860000" cy="9975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Draw a figure as per given instruction in the question. We can see that according to graph he is heading towards east.</a:t>
            </a:r>
            <a:endParaRPr b="0" i="0" sz="18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pic>
        <p:nvPicPr>
          <p:cNvPr descr="A picture containing object&#10;&#10;Description automatically generated" id="303" name="Google Shape;303;g1425d591c3c_1_586"/>
          <p:cNvPicPr preferRelativeResize="0"/>
          <p:nvPr/>
        </p:nvPicPr>
        <p:blipFill rotWithShape="1">
          <a:blip r:embed="rId3">
            <a:alphaModFix/>
          </a:blip>
          <a:srcRect b="0" l="0" r="0" t="0"/>
          <a:stretch/>
        </p:blipFill>
        <p:spPr>
          <a:xfrm>
            <a:off x="3200400" y="2047453"/>
            <a:ext cx="4305300" cy="2510260"/>
          </a:xfrm>
          <a:prstGeom prst="rect">
            <a:avLst/>
          </a:prstGeom>
          <a:noFill/>
          <a:ln>
            <a:noFill/>
          </a:ln>
        </p:spPr>
      </p:pic>
      <p:sp>
        <p:nvSpPr>
          <p:cNvPr id="304" name="Google Shape;304;g1425d591c3c_1_58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animEffect filter="fade" transition="in">
                                      <p:cBhvr>
                                        <p:cTn dur="1000"/>
                                        <p:tgtEl>
                                          <p:spTgt spid="30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1425d591c3c_1_596"/>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310" name="Google Shape;310;g1425d591c3c_1_596"/>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11" name="Google Shape;311;g1425d591c3c_1_596"/>
          <p:cNvSpPr txBox="1"/>
          <p:nvPr/>
        </p:nvSpPr>
        <p:spPr>
          <a:xfrm>
            <a:off x="720000" y="1440000"/>
            <a:ext cx="7974300" cy="24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Alok walked 30 metres east and took a right turn and walked 40 metres. He again took a right turn and walked 50 metres. Towards which direction is he from his starting point?</a:t>
            </a:r>
            <a:endParaRPr b="0" i="0" sz="20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700"/>
              <a:buFont typeface="Arial"/>
              <a:buNone/>
            </a:pPr>
            <a:r>
              <a:t/>
            </a:r>
            <a:endParaRPr b="0" i="0" sz="17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West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South-West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South-East</a:t>
            </a:r>
            <a:endParaRPr b="0" i="0" sz="1600" u="none" cap="none" strike="noStrike">
              <a:solidFill>
                <a:schemeClr val="dk1"/>
              </a:solidFill>
              <a:latin typeface="Roboto"/>
              <a:ea typeface="Roboto"/>
              <a:cs typeface="Roboto"/>
              <a:sym typeface="Roboto"/>
            </a:endParaRPr>
          </a:p>
        </p:txBody>
      </p:sp>
      <p:sp>
        <p:nvSpPr>
          <p:cNvPr id="312" name="Google Shape;312;g1425d591c3c_1_59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 name="Shape 316"/>
        <p:cNvGrpSpPr/>
        <p:nvPr/>
      </p:nvGrpSpPr>
      <p:grpSpPr>
        <a:xfrm>
          <a:off x="0" y="0"/>
          <a:ext cx="0" cy="0"/>
          <a:chOff x="0" y="0"/>
          <a:chExt cx="0" cy="0"/>
        </a:xfrm>
      </p:grpSpPr>
      <p:sp>
        <p:nvSpPr>
          <p:cNvPr id="317" name="Google Shape;317;g1425d591c3c_1_60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pic>
        <p:nvPicPr>
          <p:cNvPr id="318" name="Google Shape;318;g1425d591c3c_1_605"/>
          <p:cNvPicPr preferRelativeResize="0"/>
          <p:nvPr/>
        </p:nvPicPr>
        <p:blipFill rotWithShape="1">
          <a:blip r:embed="rId3">
            <a:alphaModFix/>
          </a:blip>
          <a:srcRect b="0" l="0" r="0" t="0"/>
          <a:stretch/>
        </p:blipFill>
        <p:spPr>
          <a:xfrm>
            <a:off x="1645350" y="1802700"/>
            <a:ext cx="4292200" cy="1767000"/>
          </a:xfrm>
          <a:prstGeom prst="rect">
            <a:avLst/>
          </a:prstGeom>
          <a:noFill/>
          <a:ln>
            <a:noFill/>
          </a:ln>
        </p:spPr>
      </p:pic>
      <p:sp>
        <p:nvSpPr>
          <p:cNvPr id="319" name="Google Shape;319;g1425d591c3c_1_60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Effect filter="fade" transition="in">
                                      <p:cBhvr>
                                        <p:cTn dur="1000"/>
                                        <p:tgtEl>
                                          <p:spTgt spid="31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1425d591c3c_1_620"/>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325" name="Google Shape;325;g1425d591c3c_1_620"/>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26" name="Google Shape;326;g1425d591c3c_1_620"/>
          <p:cNvSpPr txBox="1"/>
          <p:nvPr/>
        </p:nvSpPr>
        <p:spPr>
          <a:xfrm>
            <a:off x="720000" y="1440000"/>
            <a:ext cx="79743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M is to the East of D, F is to the South of D and K is to the East of F. M is in which direction with respect to K?</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South-West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North-West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North-East</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South-East</a:t>
            </a:r>
            <a:endParaRPr b="0" i="0" sz="1800" u="none" cap="none" strike="noStrike">
              <a:solidFill>
                <a:schemeClr val="dk2"/>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327" name="Google Shape;327;g1425d591c3c_1_62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g1425d591c3c_1_62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pic>
        <p:nvPicPr>
          <p:cNvPr descr="A picture containing object&#10;&#10;Description automatically generated" id="333" name="Google Shape;333;g1425d591c3c_1_629"/>
          <p:cNvPicPr preferRelativeResize="0"/>
          <p:nvPr/>
        </p:nvPicPr>
        <p:blipFill rotWithShape="1">
          <a:blip r:embed="rId3">
            <a:alphaModFix/>
          </a:blip>
          <a:srcRect b="0" l="0" r="0" t="12296"/>
          <a:stretch/>
        </p:blipFill>
        <p:spPr>
          <a:xfrm>
            <a:off x="2247900" y="1600900"/>
            <a:ext cx="4178300" cy="1888550"/>
          </a:xfrm>
          <a:prstGeom prst="rect">
            <a:avLst/>
          </a:prstGeom>
          <a:noFill/>
          <a:ln>
            <a:noFill/>
          </a:ln>
        </p:spPr>
      </p:pic>
      <p:sp>
        <p:nvSpPr>
          <p:cNvPr id="334" name="Google Shape;334;g1425d591c3c_1_62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animEffect filter="fade" transition="in">
                                      <p:cBhvr>
                                        <p:cTn dur="1000"/>
                                        <p:tgtEl>
                                          <p:spTgt spid="33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1425d591c3c_1_658"/>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340" name="Google Shape;340;g1425d591c3c_1_65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41" name="Google Shape;341;g1425d591c3c_1_658"/>
          <p:cNvSpPr txBox="1"/>
          <p:nvPr/>
        </p:nvSpPr>
        <p:spPr>
          <a:xfrm>
            <a:off x="720000" y="1440000"/>
            <a:ext cx="79743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 man walks 1 km towards East and then he turns to South and walks 5 km. Again he turns to East and walks 2 km, after this he turns to North and walks 9 km. Now, how far is he from his starting point?</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3 km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4 km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5 km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7 km</a:t>
            </a:r>
            <a:endParaRPr b="0" i="0" sz="1600" u="none" cap="none" strike="noStrike">
              <a:solidFill>
                <a:schemeClr val="dk1"/>
              </a:solidFill>
              <a:latin typeface="Roboto"/>
              <a:ea typeface="Roboto"/>
              <a:cs typeface="Roboto"/>
              <a:sym typeface="Roboto"/>
            </a:endParaRPr>
          </a:p>
        </p:txBody>
      </p:sp>
      <p:sp>
        <p:nvSpPr>
          <p:cNvPr id="342" name="Google Shape;342;g1425d591c3c_1_65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6" name="Shape 346"/>
        <p:cNvGrpSpPr/>
        <p:nvPr/>
      </p:nvGrpSpPr>
      <p:grpSpPr>
        <a:xfrm>
          <a:off x="0" y="0"/>
          <a:ext cx="0" cy="0"/>
          <a:chOff x="0" y="0"/>
          <a:chExt cx="0" cy="0"/>
        </a:xfrm>
      </p:grpSpPr>
      <p:sp>
        <p:nvSpPr>
          <p:cNvPr id="347" name="Google Shape;347;g1425d591c3c_1_667"/>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48" name="Google Shape;348;g1425d591c3c_1_667"/>
          <p:cNvSpPr txBox="1"/>
          <p:nvPr/>
        </p:nvSpPr>
        <p:spPr>
          <a:xfrm>
            <a:off x="1115975" y="1905000"/>
            <a:ext cx="37128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pic>
        <p:nvPicPr>
          <p:cNvPr descr="A picture containing screenshot&#10;&#10;Description automatically generated" id="349" name="Google Shape;349;g1425d591c3c_1_667"/>
          <p:cNvPicPr preferRelativeResize="0"/>
          <p:nvPr/>
        </p:nvPicPr>
        <p:blipFill rotWithShape="1">
          <a:blip r:embed="rId3">
            <a:alphaModFix/>
          </a:blip>
          <a:srcRect b="0" l="0" r="0" t="0"/>
          <a:stretch/>
        </p:blipFill>
        <p:spPr>
          <a:xfrm>
            <a:off x="1676400" y="1709725"/>
            <a:ext cx="4606200" cy="2690825"/>
          </a:xfrm>
          <a:prstGeom prst="rect">
            <a:avLst/>
          </a:prstGeom>
          <a:noFill/>
          <a:ln>
            <a:noFill/>
          </a:ln>
        </p:spPr>
      </p:pic>
      <p:sp>
        <p:nvSpPr>
          <p:cNvPr id="350" name="Google Shape;350;g1425d591c3c_1_66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xEl>
                                              <p:pRg end="0" st="0"/>
                                            </p:txEl>
                                          </p:spTgt>
                                        </p:tgtEl>
                                        <p:attrNameLst>
                                          <p:attrName>style.visibility</p:attrName>
                                        </p:attrNameLst>
                                      </p:cBhvr>
                                      <p:to>
                                        <p:strVal val="visible"/>
                                      </p:to>
                                    </p:set>
                                    <p:animEffect filter="fade" transition="in">
                                      <p:cBhvr>
                                        <p:cTn dur="1000"/>
                                        <p:tgtEl>
                                          <p:spTgt spid="34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1425d591c3c_1_676"/>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356" name="Google Shape;356;g1425d591c3c_1_676"/>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357" name="Google Shape;357;g1425d591c3c_1_676"/>
          <p:cNvSpPr txBox="1"/>
          <p:nvPr/>
        </p:nvSpPr>
        <p:spPr>
          <a:xfrm>
            <a:off x="720000" y="1440000"/>
            <a:ext cx="79743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Laxman travels 7 km towards south and then 5 km towards his left. He further travels 5 km towards south. How far is he from the starting point?</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13 km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9 km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√149 km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√119 km</a:t>
            </a:r>
            <a:endParaRPr b="0" i="0" sz="18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358" name="Google Shape;358;g1425d591c3c_1_67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2" name="Shape 362"/>
        <p:cNvGrpSpPr/>
        <p:nvPr/>
      </p:nvGrpSpPr>
      <p:grpSpPr>
        <a:xfrm>
          <a:off x="0" y="0"/>
          <a:ext cx="0" cy="0"/>
          <a:chOff x="0" y="0"/>
          <a:chExt cx="0" cy="0"/>
        </a:xfrm>
      </p:grpSpPr>
      <p:sp>
        <p:nvSpPr>
          <p:cNvPr id="363" name="Google Shape;363;g1425d591c3c_1_68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64" name="Google Shape;364;g1425d591c3c_1_685"/>
          <p:cNvSpPr txBox="1"/>
          <p:nvPr/>
        </p:nvSpPr>
        <p:spPr>
          <a:xfrm>
            <a:off x="1115975" y="1905000"/>
            <a:ext cx="37128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365" name="Google Shape;365;g1425d591c3c_1_685"/>
          <p:cNvSpPr txBox="1"/>
          <p:nvPr/>
        </p:nvSpPr>
        <p:spPr>
          <a:xfrm>
            <a:off x="726900" y="1440000"/>
            <a:ext cx="7690200" cy="1048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n-IN" sz="1700" u="none" cap="none" strike="noStrike">
                <a:solidFill>
                  <a:schemeClr val="dk1"/>
                </a:solidFill>
                <a:latin typeface="Roboto"/>
                <a:ea typeface="Roboto"/>
                <a:cs typeface="Roboto"/>
                <a:sym typeface="Roboto"/>
              </a:rPr>
              <a:t>A person box 4 km towards weds then turns to his right to travel 9 km he turns towards east and travels 12 km finally Travels 2 km to a South how far is he from the initial position in kilometre</a:t>
            </a:r>
            <a:endParaRPr b="0" i="0" sz="1700" u="none" cap="none" strike="noStrike">
              <a:solidFill>
                <a:schemeClr val="dk1"/>
              </a:solidFill>
              <a:latin typeface="Roboto"/>
              <a:ea typeface="Roboto"/>
              <a:cs typeface="Roboto"/>
              <a:sym typeface="Roboto"/>
            </a:endParaRPr>
          </a:p>
        </p:txBody>
      </p:sp>
      <p:sp>
        <p:nvSpPr>
          <p:cNvPr id="366" name="Google Shape;366;g1425d591c3c_1_68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0" st="0"/>
                                            </p:txEl>
                                          </p:spTgt>
                                        </p:tgtEl>
                                        <p:attrNameLst>
                                          <p:attrName>style.visibility</p:attrName>
                                        </p:attrNameLst>
                                      </p:cBhvr>
                                      <p:to>
                                        <p:strVal val="visible"/>
                                      </p:to>
                                    </p:set>
                                    <p:animEffect filter="fade" transition="in">
                                      <p:cBhvr>
                                        <p:cTn dur="1000"/>
                                        <p:tgtEl>
                                          <p:spTgt spid="36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1425d591c3c_1_697"/>
          <p:cNvSpPr txBox="1"/>
          <p:nvPr/>
        </p:nvSpPr>
        <p:spPr>
          <a:xfrm>
            <a:off x="342900" y="1314449"/>
            <a:ext cx="8472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372" name="Google Shape;372;g1425d591c3c_1_69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Roboto"/>
                <a:ea typeface="Roboto"/>
                <a:cs typeface="Roboto"/>
                <a:sym typeface="Roboto"/>
              </a:rPr>
              <a:t>Answer : </a:t>
            </a:r>
            <a:r>
              <a:rPr b="1" i="0" lang="en-IN"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373" name="Google Shape;373;g1425d591c3c_1_697"/>
          <p:cNvSpPr txBox="1"/>
          <p:nvPr/>
        </p:nvSpPr>
        <p:spPr>
          <a:xfrm>
            <a:off x="720000" y="1440000"/>
            <a:ext cx="7974300" cy="2345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0" i="0" lang="en-IN" sz="1500" u="none" cap="none" strike="noStrike">
                <a:solidFill>
                  <a:schemeClr val="dk1"/>
                </a:solidFill>
                <a:highlight>
                  <a:srgbClr val="FFFFFF"/>
                </a:highlight>
                <a:latin typeface="Roboto"/>
                <a:ea typeface="Roboto"/>
                <a:cs typeface="Roboto"/>
                <a:sym typeface="Roboto"/>
              </a:rPr>
              <a:t>Rahul put his timepiece on the table in such a way that at 6 P.M. hour hand points to North. In which direction the minute hand will point at 9.15 P.M. ?</a:t>
            </a:r>
            <a:endParaRPr b="0" i="0" sz="1500" u="none" cap="none" strike="noStrike">
              <a:solidFill>
                <a:srgbClr val="2A2A2A"/>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5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9.15 PM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9 Am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9 Pm</a:t>
            </a:r>
            <a:endParaRPr b="0" i="0" sz="1800" u="none" cap="none" strike="noStrike">
              <a:solidFill>
                <a:schemeClr val="dk2"/>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IN" sz="1600" u="none" cap="none" strike="noStrike">
                <a:solidFill>
                  <a:schemeClr val="dk1"/>
                </a:solidFill>
                <a:latin typeface="Roboto"/>
                <a:ea typeface="Roboto"/>
                <a:cs typeface="Roboto"/>
                <a:sym typeface="Roboto"/>
              </a:rPr>
              <a:t>2.15Pm</a:t>
            </a:r>
            <a:endParaRPr b="0" i="0" sz="1800" u="none" cap="none" strike="noStrike">
              <a:solidFill>
                <a:schemeClr val="dk2"/>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t/>
            </a:r>
            <a:endParaRPr b="0" i="0" sz="1500" u="none" cap="none" strike="noStrike">
              <a:solidFill>
                <a:srgbClr val="2A2A2A"/>
              </a:solidFill>
              <a:highlight>
                <a:srgbClr val="FFFFFF"/>
              </a:highlight>
              <a:latin typeface="Roboto"/>
              <a:ea typeface="Roboto"/>
              <a:cs typeface="Roboto"/>
              <a:sym typeface="Roboto"/>
            </a:endParaRPr>
          </a:p>
        </p:txBody>
      </p:sp>
      <p:sp>
        <p:nvSpPr>
          <p:cNvPr id="374" name="Google Shape;374;g1425d591c3c_1_69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8" name="Shape 378"/>
        <p:cNvGrpSpPr/>
        <p:nvPr/>
      </p:nvGrpSpPr>
      <p:grpSpPr>
        <a:xfrm>
          <a:off x="0" y="0"/>
          <a:ext cx="0" cy="0"/>
          <a:chOff x="0" y="0"/>
          <a:chExt cx="0" cy="0"/>
        </a:xfrm>
      </p:grpSpPr>
      <p:sp>
        <p:nvSpPr>
          <p:cNvPr id="379" name="Google Shape;379;g1425d591c3c_1_70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80" name="Google Shape;380;g1425d591c3c_1_706"/>
          <p:cNvSpPr txBox="1"/>
          <p:nvPr/>
        </p:nvSpPr>
        <p:spPr>
          <a:xfrm>
            <a:off x="1115975" y="1905000"/>
            <a:ext cx="3712800" cy="4617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pic>
        <p:nvPicPr>
          <p:cNvPr id="381" name="Google Shape;381;g1425d591c3c_1_706"/>
          <p:cNvPicPr preferRelativeResize="0"/>
          <p:nvPr/>
        </p:nvPicPr>
        <p:blipFill rotWithShape="1">
          <a:blip r:embed="rId3">
            <a:alphaModFix/>
          </a:blip>
          <a:srcRect b="0" l="0" r="0" t="0"/>
          <a:stretch/>
        </p:blipFill>
        <p:spPr>
          <a:xfrm>
            <a:off x="1600200" y="1833300"/>
            <a:ext cx="3457575" cy="1343025"/>
          </a:xfrm>
          <a:prstGeom prst="rect">
            <a:avLst/>
          </a:prstGeom>
          <a:noFill/>
          <a:ln>
            <a:noFill/>
          </a:ln>
        </p:spPr>
      </p:pic>
      <p:sp>
        <p:nvSpPr>
          <p:cNvPr id="382" name="Google Shape;382;g1425d591c3c_1_706"/>
          <p:cNvSpPr txBox="1"/>
          <p:nvPr/>
        </p:nvSpPr>
        <p:spPr>
          <a:xfrm>
            <a:off x="914400" y="3352800"/>
            <a:ext cx="441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IN" sz="1400" u="none" cap="none" strike="noStrike">
                <a:solidFill>
                  <a:srgbClr val="2A2A2A"/>
                </a:solidFill>
                <a:highlight>
                  <a:srgbClr val="FFFFFF"/>
                </a:highlight>
                <a:latin typeface="Roboto"/>
                <a:ea typeface="Roboto"/>
                <a:cs typeface="Roboto"/>
                <a:sym typeface="Roboto"/>
              </a:rPr>
              <a:t>At 9.15 P.M., the minute hand will point towards west.</a:t>
            </a:r>
            <a:endParaRPr b="0" i="0" sz="1400" u="none" cap="none" strike="noStrike">
              <a:solidFill>
                <a:srgbClr val="000000"/>
              </a:solidFill>
              <a:latin typeface="Roboto"/>
              <a:ea typeface="Roboto"/>
              <a:cs typeface="Roboto"/>
              <a:sym typeface="Roboto"/>
            </a:endParaRPr>
          </a:p>
        </p:txBody>
      </p:sp>
      <p:sp>
        <p:nvSpPr>
          <p:cNvPr id="383" name="Google Shape;383;g1425d591c3c_1_70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0" st="0"/>
                                            </p:txEl>
                                          </p:spTgt>
                                        </p:tgtEl>
                                        <p:attrNameLst>
                                          <p:attrName>style.visibility</p:attrName>
                                        </p:attrNameLst>
                                      </p:cBhvr>
                                      <p:to>
                                        <p:strVal val="visible"/>
                                      </p:to>
                                    </p:set>
                                    <p:animEffect filter="fade" transition="in">
                                      <p:cBhvr>
                                        <p:cTn dur="1000"/>
                                        <p:tgtEl>
                                          <p:spTgt spid="37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89" name="Google Shape;389;p4"/>
          <p:cNvPicPr preferRelativeResize="0"/>
          <p:nvPr/>
        </p:nvPicPr>
        <p:blipFill rotWithShape="1">
          <a:blip r:embed="rId3">
            <a:alphaModFix/>
          </a:blip>
          <a:srcRect b="0" l="0" r="0" t="0"/>
          <a:stretch/>
        </p:blipFill>
        <p:spPr>
          <a:xfrm>
            <a:off x="2900010" y="1024385"/>
            <a:ext cx="2855119" cy="2888456"/>
          </a:xfrm>
          <a:prstGeom prst="rect">
            <a:avLst/>
          </a:prstGeom>
          <a:noFill/>
          <a:ln>
            <a:noFill/>
          </a:ln>
        </p:spPr>
      </p:pic>
      <p:sp>
        <p:nvSpPr>
          <p:cNvPr id="390" name="Google Shape;390;p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96" name="Google Shape;396;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97" name="Google Shape;397;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98" name="Google Shape;398;p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I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99" name="Google Shape;399;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400" name="Google Shape;400;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01" name="Google Shape;401;p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402" name="Google Shape;402;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03" name="Google Shape;403;p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04" name="Google Shape;404;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05" name="Google Shape;405;p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06" name="Google Shape;406;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sushmitha</dc:creator>
</cp:coreProperties>
</file>