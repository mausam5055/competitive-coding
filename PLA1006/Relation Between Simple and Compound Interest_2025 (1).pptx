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y="5143500" cx="9144000"/>
  <p:notesSz cx="6858000" cy="9144000"/>
  <p:embeddedFontLst>
    <p:embeddedFont>
      <p:font typeface="Robot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5">
          <p15:clr>
            <a:srgbClr val="FF0000"/>
          </p15:clr>
        </p15:guide>
        <p15:guide id="2" orient="horz" pos="907">
          <p15:clr>
            <a:srgbClr val="FF0000"/>
          </p15:clr>
        </p15:guide>
        <p15:guide id="3" orient="horz" pos="737">
          <p15:clr>
            <a:srgbClr val="00FF00"/>
          </p15:clr>
        </p15:guide>
        <p15:guide id="4" orient="horz" pos="397">
          <p15:clr>
            <a:srgbClr val="00FF00"/>
          </p15:clr>
        </p15:guide>
        <p15:guide id="5" pos="454">
          <p15:clr>
            <a:srgbClr val="FF00FF"/>
          </p15:clr>
        </p15:guide>
        <p15:guide id="6" pos="5272">
          <p15:clr>
            <a:srgbClr val="FF00FF"/>
          </p15:clr>
        </p15:guide>
      </p15:sldGuideLst>
    </p:ext>
    <p:ext uri="GoogleSlidesCustomDataVersion2">
      <go:slidesCustomData xmlns:go="http://customooxmlschemas.google.com/" r:id="rId46" roundtripDataSignature="AMtx7mh9nhvx4bsiEg8MchA5ditmIhWp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5" orient="horz"/>
        <p:guide pos="907" orient="horz"/>
        <p:guide pos="737" orient="horz"/>
        <p:guide pos="397" orient="horz"/>
        <p:guide pos="454"/>
        <p:guide pos="5272"/>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font" Target="fonts/Roboto-regular.fntdata"/><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italic.fntdata"/><Relationship Id="rId21" Type="http://schemas.openxmlformats.org/officeDocument/2006/relationships/slide" Target="slides/slide16.xml"/><Relationship Id="rId43" Type="http://schemas.openxmlformats.org/officeDocument/2006/relationships/font" Target="fonts/Roboto-bold.fntdata"/><Relationship Id="rId24" Type="http://schemas.openxmlformats.org/officeDocument/2006/relationships/slide" Target="slides/slide19.xml"/><Relationship Id="rId46" Type="http://customschemas.google.com/relationships/presentationmetadata" Target="metadata"/><Relationship Id="rId23" Type="http://schemas.openxmlformats.org/officeDocument/2006/relationships/slide" Target="slides/slide18.xml"/><Relationship Id="rId45"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2aa40e403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g32aa40e403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1b3f087a09_1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g31b3f087a09_1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 name="Google Shape;140;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1b3f087a09_1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1b3f087a09_1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1b3f087a09_1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31b3f087a09_1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1b3f087a09_1_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g31b3f087a09_1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 name="Google Shape;198;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 name="Google Shape;23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1b3f087a09_1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1b3f087a09_1_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1b3f087a09_1_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1b3f087a09_1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1b3f087a09_1_8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31b3f087a09_1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1b3f087a09_1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g31b3f087a09_1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1ef1be9f21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31ef1be9f21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1ef1be9f21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g31ef1be9f21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6" name="Google Shape;276;p4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4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4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5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5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23" name="Shape 2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7" name="Shape 27"/>
        <p:cNvGrpSpPr/>
        <p:nvPr/>
      </p:nvGrpSpPr>
      <p:grpSpPr>
        <a:xfrm>
          <a:off x="0" y="0"/>
          <a:ext cx="0" cy="0"/>
          <a:chOff x="0" y="0"/>
          <a:chExt cx="0" cy="0"/>
        </a:xfrm>
      </p:grpSpPr>
      <p:sp>
        <p:nvSpPr>
          <p:cNvPr id="28" name="Google Shape;28;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9" name="Google Shape;29;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0" name="Shape 30"/>
        <p:cNvGrpSpPr/>
        <p:nvPr/>
      </p:nvGrpSpPr>
      <p:grpSpPr>
        <a:xfrm>
          <a:off x="0" y="0"/>
          <a:ext cx="0" cy="0"/>
          <a:chOff x="0" y="0"/>
          <a:chExt cx="0" cy="0"/>
        </a:xfrm>
      </p:grpSpPr>
      <p:sp>
        <p:nvSpPr>
          <p:cNvPr id="31" name="Google Shape;31;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2" name="Google Shape;32;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3" name="Google Shape;33;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4" name="Google Shape;34;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5" name="Google Shape;35;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8" name="Google Shape;38;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9" name="Shape 39"/>
        <p:cNvGrpSpPr/>
        <p:nvPr/>
      </p:nvGrpSpPr>
      <p:grpSpPr>
        <a:xfrm>
          <a:off x="0" y="0"/>
          <a:ext cx="0" cy="0"/>
          <a:chOff x="0" y="0"/>
          <a:chExt cx="0" cy="0"/>
        </a:xfrm>
      </p:grpSpPr>
      <p:sp>
        <p:nvSpPr>
          <p:cNvPr id="40" name="Google Shape;40;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1" name="Google Shape;41;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2" name="Google Shape;4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3" name="Shape 43"/>
        <p:cNvGrpSpPr/>
        <p:nvPr/>
      </p:nvGrpSpPr>
      <p:grpSpPr>
        <a:xfrm>
          <a:off x="0" y="0"/>
          <a:ext cx="0" cy="0"/>
          <a:chOff x="0" y="0"/>
          <a:chExt cx="0" cy="0"/>
        </a:xfrm>
      </p:grpSpPr>
      <p:pic>
        <p:nvPicPr>
          <p:cNvPr descr="A close up of a logo&#10;&#10;Description generated with high confidence" id="44" name="Google Shape;44;p56"/>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5" name="Google Shape;45;p56"/>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6" name="Google Shape;46;p56"/>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7" name="Google Shape;47;p56"/>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8" name="Google Shape;48;p56"/>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2.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IN"/>
              <a:t>‹#›</a:t>
            </a:fld>
            <a:endParaRPr/>
          </a:p>
        </p:txBody>
      </p:sp>
      <p:pic>
        <p:nvPicPr>
          <p:cNvPr id="9" name="Google Shape;9;p4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1.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6.png"/><Relationship Id="rId4" Type="http://schemas.openxmlformats.org/officeDocument/2006/relationships/hyperlink" Target="https://learn.codemithra.co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7.jp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4" name="Google Shape;54;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5" name="Google Shape;55;p1"/>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6" name="Google Shape;56;p1"/>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7" name="Google Shape;57;p1"/>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3" name="Google Shape;63;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4" name="Google Shape;64;p2"/>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5" name="Google Shape;65;p2"/>
          <p:cNvSpPr txBox="1"/>
          <p:nvPr/>
        </p:nvSpPr>
        <p:spPr>
          <a:xfrm>
            <a:off x="849014" y="2048410"/>
            <a:ext cx="46908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b="1" lang="en-IN" sz="2800">
                <a:solidFill>
                  <a:schemeClr val="lt1"/>
                </a:solidFill>
              </a:rPr>
              <a:t>Relation between</a:t>
            </a:r>
            <a:endParaRPr b="1" sz="2800">
              <a:solidFill>
                <a:schemeClr val="lt1"/>
              </a:solidFill>
            </a:endParaRPr>
          </a:p>
          <a:p>
            <a:pPr indent="0" lvl="0" marL="0" rtl="0" algn="l">
              <a:spcBef>
                <a:spcPts val="0"/>
              </a:spcBef>
              <a:spcAft>
                <a:spcPts val="0"/>
              </a:spcAft>
              <a:buClr>
                <a:schemeClr val="dk1"/>
              </a:buClr>
              <a:buFont typeface="Arial"/>
              <a:buNone/>
            </a:pPr>
            <a:r>
              <a:rPr b="1" lang="en-IN" sz="2800">
                <a:solidFill>
                  <a:schemeClr val="lt1"/>
                </a:solidFill>
              </a:rPr>
              <a:t>      SI &amp; CI</a:t>
            </a:r>
            <a:endParaRPr b="1" i="0" sz="35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g32aa40e4039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IN" sz="1600">
                <a:solidFill>
                  <a:schemeClr val="dk1"/>
                </a:solidFill>
                <a:highlight>
                  <a:srgbClr val="FFFFFF"/>
                </a:highlight>
                <a:latin typeface="Roboto"/>
                <a:ea typeface="Roboto"/>
                <a:cs typeface="Roboto"/>
                <a:sym typeface="Roboto"/>
              </a:rPr>
              <a:t>QR CODE</a:t>
            </a:r>
            <a:r>
              <a:rPr b="1" lang="en-IN"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IN"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1" name="Google Shape;71;g32aa40e4039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lang="en-IN" sz="1800">
                <a:latin typeface="Roboto"/>
                <a:ea typeface="Roboto"/>
                <a:cs typeface="Roboto"/>
                <a:sym typeface="Roboto"/>
              </a:rPr>
              <a:t>                                    Test time on :</a:t>
            </a:r>
            <a:r>
              <a:rPr b="1" i="0" lang="en-IN" sz="1800" u="none" cap="none" strike="noStrike">
                <a:solidFill>
                  <a:srgbClr val="000000"/>
                </a:solidFill>
                <a:latin typeface="Roboto"/>
                <a:ea typeface="Roboto"/>
                <a:cs typeface="Roboto"/>
                <a:sym typeface="Roboto"/>
              </a:rPr>
              <a:t> </a:t>
            </a:r>
            <a:endParaRPr b="1" i="0" sz="1800" u="none" cap="none" strike="noStrike">
              <a:solidFill>
                <a:srgbClr val="000000"/>
              </a:solidFill>
              <a:latin typeface="Roboto"/>
              <a:ea typeface="Roboto"/>
              <a:cs typeface="Roboto"/>
              <a:sym typeface="Roboto"/>
            </a:endParaRPr>
          </a:p>
        </p:txBody>
      </p:sp>
      <p:sp>
        <p:nvSpPr>
          <p:cNvPr id="72" name="Google Shape;72;g32aa40e4039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1b3f087a09_1_28"/>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Font typeface="Arial"/>
              <a:buNone/>
            </a:pPr>
            <a:r>
              <a:rPr lang="en-IN" sz="1600">
                <a:solidFill>
                  <a:srgbClr val="333333"/>
                </a:solidFill>
              </a:rPr>
              <a:t>There are two ways to calculate interest on a loan. Simple interest is easier to calculate than compound interest due to some fundamental relation between the two. The following example will tell us the relation between simple and compound interest.</a:t>
            </a:r>
            <a:endParaRPr sz="1600">
              <a:solidFill>
                <a:schemeClr val="dk1"/>
              </a:solidFill>
            </a:endParaRPr>
          </a:p>
          <a:p>
            <a:pPr indent="0" lvl="0" marL="0" rtl="0" algn="just">
              <a:lnSpc>
                <a:spcPct val="150000"/>
              </a:lnSpc>
              <a:spcBef>
                <a:spcPts val="0"/>
              </a:spcBef>
              <a:spcAft>
                <a:spcPts val="0"/>
              </a:spcAft>
              <a:buSzPts val="1100"/>
              <a:buNone/>
            </a:pPr>
            <a:r>
              <a:t/>
            </a:r>
            <a:endParaRPr sz="1600">
              <a:solidFill>
                <a:schemeClr val="dk1"/>
              </a:solidFill>
            </a:endParaRPr>
          </a:p>
        </p:txBody>
      </p:sp>
      <p:sp>
        <p:nvSpPr>
          <p:cNvPr id="78" name="Google Shape;78;g31b3f087a09_1_28"/>
          <p:cNvSpPr txBox="1"/>
          <p:nvPr/>
        </p:nvSpPr>
        <p:spPr>
          <a:xfrm>
            <a:off x="2120825" y="630250"/>
            <a:ext cx="4203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b="1" lang="en-IN" sz="2000">
                <a:solidFill>
                  <a:srgbClr val="3C78D8"/>
                </a:solidFill>
                <a:latin typeface="Roboto"/>
                <a:ea typeface="Roboto"/>
                <a:cs typeface="Roboto"/>
                <a:sym typeface="Roboto"/>
              </a:rPr>
              <a:t>Relation Between SI &amp; CI</a:t>
            </a:r>
            <a:endParaRPr b="1" i="0" sz="2000" u="none" cap="none" strike="noStrike">
              <a:solidFill>
                <a:srgbClr val="3C78D8"/>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7">
                                            <p:txEl>
                                              <p:pRg end="0" st="0"/>
                                            </p:txEl>
                                          </p:spTgt>
                                        </p:tgtEl>
                                        <p:attrNameLst>
                                          <p:attrName>style.visibility</p:attrName>
                                        </p:attrNameLst>
                                      </p:cBhvr>
                                      <p:to>
                                        <p:strVal val="visible"/>
                                      </p:to>
                                    </p:set>
                                    <p:anim calcmode="lin" valueType="num">
                                      <p:cBhvr additive="base">
                                        <p:cTn dur="500"/>
                                        <p:tgtEl>
                                          <p:spTgt spid="7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7">
                                            <p:txEl>
                                              <p:pRg end="1" st="1"/>
                                            </p:txEl>
                                          </p:spTgt>
                                        </p:tgtEl>
                                        <p:attrNameLst>
                                          <p:attrName>style.visibility</p:attrName>
                                        </p:attrNameLst>
                                      </p:cBhvr>
                                      <p:to>
                                        <p:strVal val="visible"/>
                                      </p:to>
                                    </p:set>
                                    <p:anim calcmode="lin" valueType="num">
                                      <p:cBhvr additive="base">
                                        <p:cTn dur="500"/>
                                        <p:tgtEl>
                                          <p:spTgt spid="7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nvSpPr>
        <p:spPr>
          <a:xfrm>
            <a:off x="6828313" y="4120738"/>
            <a:ext cx="15437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t>
            </a:r>
            <a:r>
              <a:rPr b="1" lang="en-IN" sz="1800">
                <a:latin typeface="Roboto"/>
                <a:ea typeface="Roboto"/>
                <a:cs typeface="Roboto"/>
                <a:sym typeface="Roboto"/>
              </a:rPr>
              <a:t>A</a:t>
            </a:r>
            <a:endParaRPr b="1" i="0" sz="1800" u="none" cap="none" strike="noStrike">
              <a:solidFill>
                <a:srgbClr val="000000"/>
              </a:solidFill>
              <a:latin typeface="Roboto"/>
              <a:ea typeface="Roboto"/>
              <a:cs typeface="Roboto"/>
              <a:sym typeface="Roboto"/>
            </a:endParaRPr>
          </a:p>
        </p:txBody>
      </p:sp>
      <p:sp>
        <p:nvSpPr>
          <p:cNvPr id="84" name="Google Shape;84;p16"/>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
        <p:nvSpPr>
          <p:cNvPr id="85" name="Google Shape;85;p16"/>
          <p:cNvSpPr txBox="1"/>
          <p:nvPr>
            <p:ph idx="1" type="body"/>
          </p:nvPr>
        </p:nvSpPr>
        <p:spPr>
          <a:xfrm>
            <a:off x="720000" y="1440000"/>
            <a:ext cx="80964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SzPts val="1400"/>
              <a:buNone/>
            </a:pPr>
            <a:r>
              <a:rPr lang="en-IN" sz="1600">
                <a:solidFill>
                  <a:srgbClr val="333333"/>
                </a:solidFill>
              </a:rPr>
              <a:t>Let us say Rimi has borrowed (principal) ₹100 at 5% per annum for 33 years at simple interest. How much will she pay if she pays the final amount  of 1st year/ 2nd year /</a:t>
            </a:r>
            <a:endParaRPr sz="1600">
              <a:solidFill>
                <a:srgbClr val="333333"/>
              </a:solidFill>
            </a:endParaRPr>
          </a:p>
          <a:p>
            <a:pPr indent="0" lvl="0" marL="0" rtl="0" algn="just">
              <a:lnSpc>
                <a:spcPct val="150000"/>
              </a:lnSpc>
              <a:spcBef>
                <a:spcPts val="0"/>
              </a:spcBef>
              <a:spcAft>
                <a:spcPts val="0"/>
              </a:spcAft>
              <a:buSzPts val="1400"/>
              <a:buNone/>
            </a:pPr>
            <a:r>
              <a:rPr lang="en-IN" sz="1600">
                <a:solidFill>
                  <a:srgbClr val="333333"/>
                </a:solidFill>
              </a:rPr>
              <a:t>3rd year?</a:t>
            </a:r>
            <a:endParaRPr sz="1600">
              <a:solidFill>
                <a:srgbClr val="333333"/>
              </a:solidFill>
            </a:endParaRPr>
          </a:p>
          <a:p>
            <a:pPr indent="0" lvl="0" marL="0" rtl="0" algn="just">
              <a:lnSpc>
                <a:spcPct val="150000"/>
              </a:lnSpc>
              <a:spcBef>
                <a:spcPts val="0"/>
              </a:spcBef>
              <a:spcAft>
                <a:spcPts val="0"/>
              </a:spcAft>
              <a:buSzPts val="1400"/>
              <a:buNone/>
            </a:pPr>
            <a:r>
              <a:t/>
            </a:r>
            <a:endParaRPr sz="1600">
              <a:solidFill>
                <a:srgbClr val="333333"/>
              </a:solidFill>
            </a:endParaRPr>
          </a:p>
          <a:p>
            <a:pPr indent="0" lvl="0" marL="0" rtl="0" algn="just">
              <a:lnSpc>
                <a:spcPct val="150000"/>
              </a:lnSpc>
              <a:spcBef>
                <a:spcPts val="0"/>
              </a:spcBef>
              <a:spcAft>
                <a:spcPts val="0"/>
              </a:spcAft>
              <a:buSzPts val="1800"/>
              <a:buNone/>
            </a:pPr>
            <a:r>
              <a:rPr lang="en-IN" sz="1600">
                <a:solidFill>
                  <a:schemeClr val="dk1"/>
                </a:solidFill>
              </a:rPr>
              <a:t>A. </a:t>
            </a:r>
            <a:r>
              <a:rPr lang="en-IN" sz="1600">
                <a:solidFill>
                  <a:srgbClr val="333333"/>
                </a:solidFill>
              </a:rPr>
              <a:t>₹115</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B. </a:t>
            </a:r>
            <a:r>
              <a:rPr lang="en-IN" sz="1600">
                <a:solidFill>
                  <a:srgbClr val="333333"/>
                </a:solidFill>
              </a:rPr>
              <a:t>₹100</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C. </a:t>
            </a:r>
            <a:r>
              <a:rPr lang="en-IN" sz="1600">
                <a:solidFill>
                  <a:srgbClr val="333333"/>
                </a:solidFill>
              </a:rPr>
              <a:t>₹105</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D. </a:t>
            </a:r>
            <a:r>
              <a:rPr lang="en-IN" sz="1600">
                <a:solidFill>
                  <a:srgbClr val="333333"/>
                </a:solidFill>
              </a:rPr>
              <a:t>₹110</a:t>
            </a:r>
            <a:endParaRPr sz="1600">
              <a:solidFill>
                <a:schemeClr val="dk1"/>
              </a:solidFill>
            </a:endParaRPr>
          </a:p>
          <a:p>
            <a:pPr indent="0" lvl="0" marL="457200" rtl="0" algn="just">
              <a:lnSpc>
                <a:spcPct val="150000"/>
              </a:lnSpc>
              <a:spcBef>
                <a:spcPts val="0"/>
              </a:spcBef>
              <a:spcAft>
                <a:spcPts val="0"/>
              </a:spcAft>
              <a:buSzPts val="1800"/>
              <a:buNone/>
            </a:pPr>
            <a:r>
              <a:t/>
            </a:r>
            <a:endParaRPr sz="16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
                                            <p:txEl>
                                              <p:pRg end="0" st="0"/>
                                            </p:txEl>
                                          </p:spTgt>
                                        </p:tgtEl>
                                        <p:attrNameLst>
                                          <p:attrName>style.visibility</p:attrName>
                                        </p:attrNameLst>
                                      </p:cBhvr>
                                      <p:to>
                                        <p:strVal val="visible"/>
                                      </p:to>
                                    </p:set>
                                    <p:anim calcmode="lin" valueType="num">
                                      <p:cBhvr additive="base">
                                        <p:cTn dur="500"/>
                                        <p:tgtEl>
                                          <p:spTgt spid="8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 name="Shape 89"/>
        <p:cNvGrpSpPr/>
        <p:nvPr/>
      </p:nvGrpSpPr>
      <p:grpSpPr>
        <a:xfrm>
          <a:off x="0" y="0"/>
          <a:ext cx="0" cy="0"/>
          <a:chOff x="0" y="0"/>
          <a:chExt cx="0" cy="0"/>
        </a:xfrm>
      </p:grpSpPr>
      <p:sp>
        <p:nvSpPr>
          <p:cNvPr id="90" name="Google Shape;90;p17"/>
          <p:cNvSpPr txBox="1"/>
          <p:nvPr>
            <p:ph idx="1" type="body"/>
          </p:nvPr>
        </p:nvSpPr>
        <p:spPr>
          <a:xfrm>
            <a:off x="720000" y="1440000"/>
            <a:ext cx="7800600" cy="3281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rgbClr val="333333"/>
              </a:buClr>
              <a:buSzPts val="1400"/>
              <a:buFont typeface="Arial"/>
              <a:buNone/>
            </a:pPr>
            <a:r>
              <a:rPr lang="en-IN" sz="1400">
                <a:solidFill>
                  <a:srgbClr val="333333"/>
                </a:solidFill>
              </a:rPr>
              <a:t>For 1st 1st  year the principal amount is P=₹100</a:t>
            </a:r>
            <a:br>
              <a:rPr lang="en-IN" sz="1400">
                <a:solidFill>
                  <a:srgbClr val="333333"/>
                </a:solidFill>
              </a:rPr>
            </a:br>
            <a:r>
              <a:rPr lang="en-IN" sz="1400">
                <a:solidFill>
                  <a:srgbClr val="333333"/>
                </a:solidFill>
              </a:rPr>
              <a:t>Simple Interest=₹5</a:t>
            </a:r>
            <a:br>
              <a:rPr lang="en-IN" sz="1400">
                <a:solidFill>
                  <a:srgbClr val="333333"/>
                </a:solidFill>
              </a:rPr>
            </a:br>
            <a:r>
              <a:rPr lang="en-IN" sz="1400">
                <a:solidFill>
                  <a:srgbClr val="333333"/>
                </a:solidFill>
              </a:rPr>
              <a:t>Amount =₹100+₹5 =₹105</a:t>
            </a:r>
            <a:br>
              <a:rPr lang="en-IN" sz="1400">
                <a:solidFill>
                  <a:srgbClr val="333333"/>
                </a:solidFill>
              </a:rPr>
            </a:br>
            <a:r>
              <a:rPr lang="en-IN" sz="1400">
                <a:solidFill>
                  <a:srgbClr val="333333"/>
                </a:solidFill>
              </a:rPr>
              <a:t>For 2nd year the principal amount is P=₹100</a:t>
            </a:r>
            <a:br>
              <a:rPr lang="en-IN" sz="1400">
                <a:solidFill>
                  <a:srgbClr val="333333"/>
                </a:solidFill>
              </a:rPr>
            </a:br>
            <a:r>
              <a:rPr lang="en-IN" sz="1400">
                <a:solidFill>
                  <a:srgbClr val="333333"/>
                </a:solidFill>
              </a:rPr>
              <a:t>Simple Interest=₹100×5×1/100 =₹5</a:t>
            </a:r>
            <a:br>
              <a:rPr lang="en-IN" sz="1400">
                <a:solidFill>
                  <a:srgbClr val="333333"/>
                </a:solidFill>
              </a:rPr>
            </a:br>
            <a:r>
              <a:rPr lang="en-IN" sz="1400">
                <a:solidFill>
                  <a:srgbClr val="333333"/>
                </a:solidFill>
              </a:rPr>
              <a:t>Amount =₹105+₹5   =₹110</a:t>
            </a:r>
            <a:br>
              <a:rPr lang="en-IN" sz="1400">
                <a:solidFill>
                  <a:srgbClr val="333333"/>
                </a:solidFill>
              </a:rPr>
            </a:br>
            <a:r>
              <a:rPr lang="en-IN" sz="1400">
                <a:solidFill>
                  <a:srgbClr val="333333"/>
                </a:solidFill>
              </a:rPr>
              <a:t>For 3rd year the principal amount is P=₹100</a:t>
            </a:r>
            <a:br>
              <a:rPr lang="en-IN" sz="1400">
                <a:solidFill>
                  <a:srgbClr val="333333"/>
                </a:solidFill>
              </a:rPr>
            </a:br>
            <a:r>
              <a:rPr lang="en-IN" sz="1400">
                <a:solidFill>
                  <a:srgbClr val="333333"/>
                </a:solidFill>
              </a:rPr>
              <a:t>Simple Interest=₹100×5×1/100   =₹5</a:t>
            </a:r>
            <a:br>
              <a:rPr lang="en-IN" sz="1400">
                <a:solidFill>
                  <a:srgbClr val="333333"/>
                </a:solidFill>
              </a:rPr>
            </a:br>
            <a:r>
              <a:rPr lang="en-IN" sz="1400">
                <a:solidFill>
                  <a:srgbClr val="333333"/>
                </a:solidFill>
              </a:rPr>
              <a:t>Amount =₹110+₹5 =₹115</a:t>
            </a:r>
            <a:br>
              <a:rPr lang="en-IN" sz="500">
                <a:solidFill>
                  <a:schemeClr val="dk1"/>
                </a:solidFill>
                <a:latin typeface="Arial"/>
                <a:ea typeface="Arial"/>
                <a:cs typeface="Arial"/>
                <a:sym typeface="Arial"/>
              </a:rPr>
            </a:br>
            <a:endParaRPr>
              <a:solidFill>
                <a:schemeClr val="dk1"/>
              </a:solidFill>
              <a:latin typeface="Arial"/>
              <a:ea typeface="Arial"/>
              <a:cs typeface="Arial"/>
              <a:sym typeface="Arial"/>
            </a:endParaRPr>
          </a:p>
          <a:p>
            <a:pPr indent="0" lvl="0" marL="457200" rtl="0" algn="just">
              <a:lnSpc>
                <a:spcPct val="150000"/>
              </a:lnSpc>
              <a:spcBef>
                <a:spcPts val="0"/>
              </a:spcBef>
              <a:spcAft>
                <a:spcPts val="0"/>
              </a:spcAft>
              <a:buNone/>
            </a:pPr>
            <a:r>
              <a:t/>
            </a:r>
            <a:endParaRPr>
              <a:solidFill>
                <a:schemeClr val="dk1"/>
              </a:solidFill>
              <a:latin typeface="Arial"/>
              <a:ea typeface="Arial"/>
              <a:cs typeface="Arial"/>
              <a:sym typeface="Arial"/>
            </a:endParaRPr>
          </a:p>
        </p:txBody>
      </p:sp>
      <p:sp>
        <p:nvSpPr>
          <p:cNvPr id="91" name="Google Shape;91;p1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Font typeface="Arial"/>
              <a:buNone/>
            </a:pPr>
            <a:r>
              <a:rPr lang="en-IN" sz="1600">
                <a:solidFill>
                  <a:srgbClr val="3A3A3A"/>
                </a:solidFill>
              </a:rPr>
              <a:t>If the simple interest on a sum of money for 2 years at 5% per annum is Rs. 50, what is the compound interest on the same at the same rate and for the same time?</a:t>
            </a:r>
            <a:endParaRPr sz="1600">
              <a:solidFill>
                <a:srgbClr val="3A3A3A"/>
              </a:solidFill>
            </a:endParaRPr>
          </a:p>
          <a:p>
            <a:pPr indent="0" lvl="0" marL="0" rtl="0" algn="just">
              <a:lnSpc>
                <a:spcPct val="150000"/>
              </a:lnSpc>
              <a:spcBef>
                <a:spcPts val="0"/>
              </a:spcBef>
              <a:spcAft>
                <a:spcPts val="0"/>
              </a:spcAft>
              <a:buClr>
                <a:schemeClr val="dk1"/>
              </a:buClr>
              <a:buFont typeface="Arial"/>
              <a:buNone/>
            </a:pPr>
            <a:r>
              <a:t/>
            </a:r>
            <a:endParaRPr sz="1600">
              <a:solidFill>
                <a:srgbClr val="3A3A3A"/>
              </a:solidFill>
            </a:endParaRPr>
          </a:p>
          <a:p>
            <a:pPr indent="0" lvl="0" marL="0" rtl="0" algn="just">
              <a:lnSpc>
                <a:spcPct val="150000"/>
              </a:lnSpc>
              <a:spcBef>
                <a:spcPts val="0"/>
              </a:spcBef>
              <a:spcAft>
                <a:spcPts val="0"/>
              </a:spcAft>
              <a:buSzPts val="1800"/>
              <a:buNone/>
            </a:pPr>
            <a:r>
              <a:rPr lang="en-IN" sz="1600">
                <a:solidFill>
                  <a:schemeClr val="dk1"/>
                </a:solidFill>
              </a:rPr>
              <a:t>A. Rs. 51.25</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B. </a:t>
            </a:r>
            <a:r>
              <a:rPr lang="en-IN" sz="1600">
                <a:solidFill>
                  <a:schemeClr val="dk1"/>
                </a:solidFill>
              </a:rPr>
              <a:t>Rs. 52</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C. </a:t>
            </a:r>
            <a:r>
              <a:rPr lang="en-IN" sz="1600">
                <a:solidFill>
                  <a:schemeClr val="dk1"/>
                </a:solidFill>
              </a:rPr>
              <a:t>Rs. 54.25</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D. </a:t>
            </a:r>
            <a:r>
              <a:rPr lang="en-IN" sz="1600">
                <a:solidFill>
                  <a:schemeClr val="dk1"/>
                </a:solidFill>
              </a:rPr>
              <a:t>Rs. 60</a:t>
            </a:r>
            <a:endParaRPr sz="1600">
              <a:solidFill>
                <a:schemeClr val="dk1"/>
              </a:solidFill>
            </a:endParaRPr>
          </a:p>
          <a:p>
            <a:pPr indent="0" lvl="0" marL="114300" rtl="0" algn="just">
              <a:lnSpc>
                <a:spcPct val="150000"/>
              </a:lnSpc>
              <a:spcBef>
                <a:spcPts val="0"/>
              </a:spcBef>
              <a:spcAft>
                <a:spcPts val="0"/>
              </a:spcAft>
              <a:buClr>
                <a:schemeClr val="dk2"/>
              </a:buClr>
              <a:buSzPts val="1800"/>
              <a:buNone/>
            </a:pPr>
            <a:r>
              <a:t/>
            </a:r>
            <a:endParaRPr sz="1600">
              <a:solidFill>
                <a:schemeClr val="dk1"/>
              </a:solidFill>
            </a:endParaRPr>
          </a:p>
        </p:txBody>
      </p:sp>
      <p:sp>
        <p:nvSpPr>
          <p:cNvPr id="97" name="Google Shape;97;p18"/>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02</a:t>
            </a:r>
            <a:endParaRPr b="1" i="0" sz="2000" u="none" cap="none" strike="noStrike">
              <a:solidFill>
                <a:srgbClr val="8182EF"/>
              </a:solidFill>
              <a:latin typeface="Roboto"/>
              <a:ea typeface="Roboto"/>
              <a:cs typeface="Roboto"/>
              <a:sym typeface="Roboto"/>
            </a:endParaRPr>
          </a:p>
        </p:txBody>
      </p:sp>
      <p:sp>
        <p:nvSpPr>
          <p:cNvPr id="98" name="Google Shape;98;p1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IN" sz="1400" u="none" cap="none" strike="noStrike">
                <a:solidFill>
                  <a:srgbClr val="000000"/>
                </a:solidFill>
                <a:latin typeface="Arial"/>
                <a:ea typeface="Arial"/>
                <a:cs typeface="Arial"/>
                <a:sym typeface="Arial"/>
              </a:rPr>
              <a:t>Answer: </a:t>
            </a:r>
            <a:r>
              <a:rPr b="1" lang="en-IN"/>
              <a:t>A</a:t>
            </a:r>
            <a:endParaRPr b="1"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anim calcmode="lin" valueType="num">
                                      <p:cBhvr additive="base">
                                        <p:cTn dur="500"/>
                                        <p:tgtEl>
                                          <p:spTgt spid="9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anim calcmode="lin" valueType="num">
                                      <p:cBhvr additive="base">
                                        <p:cTn dur="500"/>
                                        <p:tgtEl>
                                          <p:spTgt spid="9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anim calcmode="lin" valueType="num">
                                      <p:cBhvr additive="base">
                                        <p:cTn dur="500"/>
                                        <p:tgtEl>
                                          <p:spTgt spid="9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anim calcmode="lin" valueType="num">
                                      <p:cBhvr additive="base">
                                        <p:cTn dur="500"/>
                                        <p:tgtEl>
                                          <p:spTgt spid="9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anim calcmode="lin" valueType="num">
                                      <p:cBhvr additive="base">
                                        <p:cTn dur="500"/>
                                        <p:tgtEl>
                                          <p:spTgt spid="9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anim calcmode="lin" valueType="num">
                                      <p:cBhvr additive="base">
                                        <p:cTn dur="500"/>
                                        <p:tgtEl>
                                          <p:spTgt spid="9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xEl>
                                              <p:pRg end="6" st="6"/>
                                            </p:txEl>
                                          </p:spTgt>
                                        </p:tgtEl>
                                        <p:attrNameLst>
                                          <p:attrName>style.visibility</p:attrName>
                                        </p:attrNameLst>
                                      </p:cBhvr>
                                      <p:to>
                                        <p:strVal val="visible"/>
                                      </p:to>
                                    </p:set>
                                    <p:anim calcmode="lin" valueType="num">
                                      <p:cBhvr additive="base">
                                        <p:cTn dur="500"/>
                                        <p:tgtEl>
                                          <p:spTgt spid="9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2" name="Shape 102"/>
        <p:cNvGrpSpPr/>
        <p:nvPr/>
      </p:nvGrpSpPr>
      <p:grpSpPr>
        <a:xfrm>
          <a:off x="0" y="0"/>
          <a:ext cx="0" cy="0"/>
          <a:chOff x="0" y="0"/>
          <a:chExt cx="0" cy="0"/>
        </a:xfrm>
      </p:grpSpPr>
      <p:sp>
        <p:nvSpPr>
          <p:cNvPr id="103" name="Google Shape;103;p1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pic>
        <p:nvPicPr>
          <p:cNvPr id="104" name="Google Shape;104;p19"/>
          <p:cNvPicPr preferRelativeResize="0"/>
          <p:nvPr/>
        </p:nvPicPr>
        <p:blipFill rotWithShape="1">
          <a:blip r:embed="rId3">
            <a:alphaModFix/>
          </a:blip>
          <a:srcRect b="0" l="0" r="0" t="0"/>
          <a:stretch/>
        </p:blipFill>
        <p:spPr>
          <a:xfrm>
            <a:off x="626752" y="1102725"/>
            <a:ext cx="3386123" cy="321749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IN" sz="1600">
                <a:solidFill>
                  <a:srgbClr val="3A3A3A"/>
                </a:solidFill>
              </a:rPr>
              <a:t>Calculate the compound interest at the rate of 6% per annum for 2 years on the principle which in 2 years at the rate of 2% per annum gives Rs. 8000 as simple interest.</a:t>
            </a:r>
            <a:endParaRPr sz="1600">
              <a:solidFill>
                <a:srgbClr val="3A3A3A"/>
              </a:solidFill>
            </a:endParaRPr>
          </a:p>
          <a:p>
            <a:pPr indent="0" lvl="0" marL="0" rtl="0" algn="just">
              <a:lnSpc>
                <a:spcPct val="150000"/>
              </a:lnSpc>
              <a:spcBef>
                <a:spcPts val="0"/>
              </a:spcBef>
              <a:spcAft>
                <a:spcPts val="0"/>
              </a:spcAft>
              <a:buClr>
                <a:schemeClr val="dk1"/>
              </a:buClr>
              <a:buFont typeface="Arial"/>
              <a:buNone/>
            </a:pPr>
            <a:r>
              <a:t/>
            </a:r>
            <a:endParaRPr sz="1600">
              <a:solidFill>
                <a:srgbClr val="3A3A3A"/>
              </a:solidFill>
            </a:endParaRPr>
          </a:p>
          <a:p>
            <a:pPr indent="0" lvl="0" marL="0" rtl="0" algn="just">
              <a:lnSpc>
                <a:spcPct val="150000"/>
              </a:lnSpc>
              <a:spcBef>
                <a:spcPts val="0"/>
              </a:spcBef>
              <a:spcAft>
                <a:spcPts val="0"/>
              </a:spcAft>
              <a:buSzPts val="1800"/>
              <a:buNone/>
            </a:pPr>
            <a:r>
              <a:rPr lang="en-IN" sz="1600">
                <a:solidFill>
                  <a:schemeClr val="dk1"/>
                </a:solidFill>
              </a:rPr>
              <a:t>A. 50000</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B. 49440</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C. 59440</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D. 49000</a:t>
            </a:r>
            <a:endParaRPr sz="1600">
              <a:solidFill>
                <a:schemeClr val="dk1"/>
              </a:solidFill>
            </a:endParaRPr>
          </a:p>
          <a:p>
            <a:pPr indent="0" lvl="0" marL="457200" rtl="0" algn="just">
              <a:lnSpc>
                <a:spcPct val="150000"/>
              </a:lnSpc>
              <a:spcBef>
                <a:spcPts val="0"/>
              </a:spcBef>
              <a:spcAft>
                <a:spcPts val="0"/>
              </a:spcAft>
              <a:buSzPts val="1800"/>
              <a:buNone/>
            </a:pPr>
            <a:r>
              <a:t/>
            </a:r>
            <a:endParaRPr sz="1600">
              <a:solidFill>
                <a:schemeClr val="dk1"/>
              </a:solidFill>
            </a:endParaRPr>
          </a:p>
        </p:txBody>
      </p:sp>
      <p:sp>
        <p:nvSpPr>
          <p:cNvPr id="110" name="Google Shape;110;p20"/>
          <p:cNvSpPr txBox="1"/>
          <p:nvPr/>
        </p:nvSpPr>
        <p:spPr>
          <a:xfrm>
            <a:off x="6828313" y="4120738"/>
            <a:ext cx="15437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t>
            </a:r>
            <a:r>
              <a:rPr b="1" lang="en-IN" sz="1800">
                <a:latin typeface="Roboto"/>
                <a:ea typeface="Roboto"/>
                <a:cs typeface="Roboto"/>
                <a:sym typeface="Roboto"/>
              </a:rPr>
              <a:t>B</a:t>
            </a:r>
            <a:r>
              <a:rPr b="1" i="0" lang="en-IN" sz="1800" u="none" cap="none" strike="noStrike">
                <a:solidFill>
                  <a:srgbClr val="000000"/>
                </a:solidFill>
                <a:latin typeface="Roboto"/>
                <a:ea typeface="Roboto"/>
                <a:cs typeface="Roboto"/>
                <a:sym typeface="Roboto"/>
              </a:rPr>
              <a:t>  </a:t>
            </a:r>
            <a:endParaRPr b="1" i="0" sz="1800" u="none" cap="none" strike="noStrike">
              <a:solidFill>
                <a:srgbClr val="000000"/>
              </a:solidFill>
              <a:latin typeface="Roboto"/>
              <a:ea typeface="Roboto"/>
              <a:cs typeface="Roboto"/>
              <a:sym typeface="Roboto"/>
            </a:endParaRPr>
          </a:p>
        </p:txBody>
      </p:sp>
      <p:sp>
        <p:nvSpPr>
          <p:cNvPr id="111" name="Google Shape;111;p2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anim calcmode="lin" valueType="num">
                                      <p:cBhvr additive="base">
                                        <p:cTn dur="500"/>
                                        <p:tgtEl>
                                          <p:spTgt spid="10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anim calcmode="lin" valueType="num">
                                      <p:cBhvr additive="base">
                                        <p:cTn dur="500"/>
                                        <p:tgtEl>
                                          <p:spTgt spid="10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anim calcmode="lin" valueType="num">
                                      <p:cBhvr additive="base">
                                        <p:cTn dur="500"/>
                                        <p:tgtEl>
                                          <p:spTgt spid="10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anim calcmode="lin" valueType="num">
                                      <p:cBhvr additive="base">
                                        <p:cTn dur="500"/>
                                        <p:tgtEl>
                                          <p:spTgt spid="10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anim calcmode="lin" valueType="num">
                                      <p:cBhvr additive="base">
                                        <p:cTn dur="500"/>
                                        <p:tgtEl>
                                          <p:spTgt spid="10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5" st="5"/>
                                            </p:txEl>
                                          </p:spTgt>
                                        </p:tgtEl>
                                        <p:attrNameLst>
                                          <p:attrName>style.visibility</p:attrName>
                                        </p:attrNameLst>
                                      </p:cBhvr>
                                      <p:to>
                                        <p:strVal val="visible"/>
                                      </p:to>
                                    </p:set>
                                    <p:anim calcmode="lin" valueType="num">
                                      <p:cBhvr additive="base">
                                        <p:cTn dur="500"/>
                                        <p:tgtEl>
                                          <p:spTgt spid="10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9">
                                            <p:txEl>
                                              <p:pRg end="6" st="6"/>
                                            </p:txEl>
                                          </p:spTgt>
                                        </p:tgtEl>
                                        <p:attrNameLst>
                                          <p:attrName>style.visibility</p:attrName>
                                        </p:attrNameLst>
                                      </p:cBhvr>
                                      <p:to>
                                        <p:strVal val="visible"/>
                                      </p:to>
                                    </p:set>
                                    <p:anim calcmode="lin" valueType="num">
                                      <p:cBhvr additive="base">
                                        <p:cTn dur="500"/>
                                        <p:tgtEl>
                                          <p:spTgt spid="10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anim calcmode="lin" valueType="num">
                                      <p:cBhvr additive="base">
                                        <p:cTn dur="500"/>
                                        <p:tgtEl>
                                          <p:spTgt spid="1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5" name="Shape 115"/>
        <p:cNvGrpSpPr/>
        <p:nvPr/>
      </p:nvGrpSpPr>
      <p:grpSpPr>
        <a:xfrm>
          <a:off x="0" y="0"/>
          <a:ext cx="0" cy="0"/>
          <a:chOff x="0" y="0"/>
          <a:chExt cx="0" cy="0"/>
        </a:xfrm>
      </p:grpSpPr>
      <p:sp>
        <p:nvSpPr>
          <p:cNvPr id="116" name="Google Shape;116;p21"/>
          <p:cNvSpPr txBox="1"/>
          <p:nvPr>
            <p:ph idx="1" type="body"/>
          </p:nvPr>
        </p:nvSpPr>
        <p:spPr>
          <a:xfrm>
            <a:off x="720000" y="1440000"/>
            <a:ext cx="8017800" cy="1870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rgbClr val="3A3A3A"/>
              </a:buClr>
              <a:buSzPts val="1400"/>
              <a:buFont typeface="Arial"/>
              <a:buNone/>
            </a:pPr>
            <a:r>
              <a:rPr lang="en-IN" sz="1600">
                <a:solidFill>
                  <a:srgbClr val="3A3A3A"/>
                </a:solidFill>
              </a:rPr>
              <a:t>P = 8000 × 1002 × 2 = 400000</a:t>
            </a:r>
            <a:br>
              <a:rPr lang="en-IN" sz="1600">
                <a:solidFill>
                  <a:srgbClr val="3A3A3A"/>
                </a:solidFill>
              </a:rPr>
            </a:br>
            <a:r>
              <a:rPr lang="en-IN" sz="1600">
                <a:solidFill>
                  <a:srgbClr val="3A3A3A"/>
                </a:solidFill>
              </a:rPr>
              <a:t>A = 400000(1 + 6100)2 = 400000 (5350)2 = Rs. 449440</a:t>
            </a:r>
            <a:br>
              <a:rPr lang="en-IN" sz="1600">
                <a:solidFill>
                  <a:srgbClr val="3A3A3A"/>
                </a:solidFill>
              </a:rPr>
            </a:br>
            <a:r>
              <a:rPr lang="en-IN" sz="1600">
                <a:solidFill>
                  <a:srgbClr val="3A3A3A"/>
                </a:solidFill>
              </a:rPr>
              <a:t>C.I. = 449440 – 400000 = Rs. 49440. </a:t>
            </a:r>
            <a:endParaRPr sz="1600">
              <a:solidFill>
                <a:schemeClr val="dk1"/>
              </a:solidFill>
            </a:endParaRPr>
          </a:p>
          <a:p>
            <a:pPr indent="0" lvl="0" marL="114300" rtl="0" algn="l">
              <a:lnSpc>
                <a:spcPct val="115000"/>
              </a:lnSpc>
              <a:spcBef>
                <a:spcPts val="0"/>
              </a:spcBef>
              <a:spcAft>
                <a:spcPts val="0"/>
              </a:spcAft>
              <a:buSzPts val="1800"/>
              <a:buNone/>
            </a:pPr>
            <a:r>
              <a:t/>
            </a:r>
            <a:endParaRPr sz="1600">
              <a:solidFill>
                <a:schemeClr val="dk1"/>
              </a:solidFill>
            </a:endParaRPr>
          </a:p>
        </p:txBody>
      </p:sp>
      <p:sp>
        <p:nvSpPr>
          <p:cNvPr id="117" name="Google Shape;117;p2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2"/>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Font typeface="Arial"/>
              <a:buNone/>
            </a:pPr>
            <a:r>
              <a:rPr lang="en-IN" sz="1600">
                <a:solidFill>
                  <a:srgbClr val="3A3A3A"/>
                </a:solidFill>
              </a:rPr>
              <a:t>Compute the compound interest on Rs. 16000 for 2 years 10% per annum when compounded half yearly.</a:t>
            </a:r>
            <a:br>
              <a:rPr lang="en-IN" sz="1600">
                <a:solidFill>
                  <a:srgbClr val="3A3A3A"/>
                </a:solidFill>
              </a:rPr>
            </a:br>
            <a:endParaRPr sz="1600">
              <a:solidFill>
                <a:schemeClr val="dk1"/>
              </a:solidFill>
            </a:endParaRPr>
          </a:p>
          <a:p>
            <a:pPr indent="0" lvl="0" marL="0" rtl="0" algn="l">
              <a:lnSpc>
                <a:spcPct val="150000"/>
              </a:lnSpc>
              <a:spcBef>
                <a:spcPts val="0"/>
              </a:spcBef>
              <a:spcAft>
                <a:spcPts val="0"/>
              </a:spcAft>
              <a:buSzPts val="1800"/>
              <a:buNone/>
            </a:pPr>
            <a:r>
              <a:rPr lang="en-IN" sz="1600">
                <a:solidFill>
                  <a:schemeClr val="dk1"/>
                </a:solidFill>
              </a:rPr>
              <a:t>A. 18600</a:t>
            </a:r>
            <a:endParaRPr sz="1600">
              <a:solidFill>
                <a:schemeClr val="dk1"/>
              </a:solidFill>
            </a:endParaRPr>
          </a:p>
          <a:p>
            <a:pPr indent="0" lvl="0" marL="0" rtl="0" algn="l">
              <a:lnSpc>
                <a:spcPct val="150000"/>
              </a:lnSpc>
              <a:spcBef>
                <a:spcPts val="0"/>
              </a:spcBef>
              <a:spcAft>
                <a:spcPts val="0"/>
              </a:spcAft>
              <a:buSzPts val="1800"/>
              <a:buNone/>
            </a:pPr>
            <a:r>
              <a:rPr lang="en-IN" sz="1600">
                <a:solidFill>
                  <a:schemeClr val="dk1"/>
                </a:solidFill>
              </a:rPr>
              <a:t>B. 17640</a:t>
            </a:r>
            <a:endParaRPr sz="1600">
              <a:solidFill>
                <a:schemeClr val="dk1"/>
              </a:solidFill>
            </a:endParaRPr>
          </a:p>
          <a:p>
            <a:pPr indent="0" lvl="0" marL="0" rtl="0" algn="l">
              <a:lnSpc>
                <a:spcPct val="150000"/>
              </a:lnSpc>
              <a:spcBef>
                <a:spcPts val="0"/>
              </a:spcBef>
              <a:spcAft>
                <a:spcPts val="0"/>
              </a:spcAft>
              <a:buSzPts val="1800"/>
              <a:buNone/>
            </a:pPr>
            <a:r>
              <a:rPr lang="en-IN" sz="1600">
                <a:solidFill>
                  <a:schemeClr val="dk1"/>
                </a:solidFill>
              </a:rPr>
              <a:t>C. 18640</a:t>
            </a:r>
            <a:endParaRPr sz="1600">
              <a:solidFill>
                <a:schemeClr val="dk1"/>
              </a:solidFill>
            </a:endParaRPr>
          </a:p>
          <a:p>
            <a:pPr indent="0" lvl="0" marL="0" rtl="0" algn="l">
              <a:lnSpc>
                <a:spcPct val="150000"/>
              </a:lnSpc>
              <a:spcBef>
                <a:spcPts val="0"/>
              </a:spcBef>
              <a:spcAft>
                <a:spcPts val="0"/>
              </a:spcAft>
              <a:buSzPts val="1800"/>
              <a:buNone/>
            </a:pPr>
            <a:r>
              <a:rPr lang="en-IN" sz="1600">
                <a:solidFill>
                  <a:schemeClr val="dk1"/>
                </a:solidFill>
              </a:rPr>
              <a:t>D. 17600</a:t>
            </a:r>
            <a:endParaRPr sz="1600">
              <a:solidFill>
                <a:schemeClr val="dk1"/>
              </a:solidFill>
            </a:endParaRPr>
          </a:p>
          <a:p>
            <a:pPr indent="0" lvl="0" marL="114300" rtl="0" algn="l">
              <a:lnSpc>
                <a:spcPct val="150000"/>
              </a:lnSpc>
              <a:spcBef>
                <a:spcPts val="0"/>
              </a:spcBef>
              <a:spcAft>
                <a:spcPts val="0"/>
              </a:spcAft>
              <a:buSzPts val="1800"/>
              <a:buNone/>
            </a:pPr>
            <a:r>
              <a:t/>
            </a:r>
            <a:endParaRPr sz="1600">
              <a:solidFill>
                <a:schemeClr val="dk1"/>
              </a:solidFill>
            </a:endParaRPr>
          </a:p>
        </p:txBody>
      </p:sp>
      <p:sp>
        <p:nvSpPr>
          <p:cNvPr id="123" name="Google Shape;123;p22"/>
          <p:cNvSpPr txBox="1"/>
          <p:nvPr/>
        </p:nvSpPr>
        <p:spPr>
          <a:xfrm>
            <a:off x="6828313" y="4120738"/>
            <a:ext cx="15437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t>
            </a:r>
            <a:r>
              <a:rPr b="1" lang="en-IN" sz="1800">
                <a:latin typeface="Roboto"/>
                <a:ea typeface="Roboto"/>
                <a:cs typeface="Roboto"/>
                <a:sym typeface="Roboto"/>
              </a:rPr>
              <a:t>B</a:t>
            </a:r>
            <a:r>
              <a:rPr b="1" i="0" lang="en-IN" sz="1800" u="none" cap="none" strike="noStrike">
                <a:solidFill>
                  <a:srgbClr val="000000"/>
                </a:solidFill>
                <a:latin typeface="Roboto"/>
                <a:ea typeface="Roboto"/>
                <a:cs typeface="Roboto"/>
                <a:sym typeface="Roboto"/>
              </a:rPr>
              <a:t> </a:t>
            </a:r>
            <a:endParaRPr b="1" i="0" sz="1800" u="none" cap="none" strike="noStrike">
              <a:solidFill>
                <a:srgbClr val="000000"/>
              </a:solidFill>
              <a:latin typeface="Roboto"/>
              <a:ea typeface="Roboto"/>
              <a:cs typeface="Roboto"/>
              <a:sym typeface="Roboto"/>
            </a:endParaRPr>
          </a:p>
        </p:txBody>
      </p:sp>
      <p:sp>
        <p:nvSpPr>
          <p:cNvPr id="124" name="Google Shape;124;p2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0" st="0"/>
                                            </p:txEl>
                                          </p:spTgt>
                                        </p:tgtEl>
                                        <p:attrNameLst>
                                          <p:attrName>style.visibility</p:attrName>
                                        </p:attrNameLst>
                                      </p:cBhvr>
                                      <p:to>
                                        <p:strVal val="visible"/>
                                      </p:to>
                                    </p:set>
                                    <p:anim calcmode="lin" valueType="num">
                                      <p:cBhvr additive="base">
                                        <p:cTn dur="500"/>
                                        <p:tgtEl>
                                          <p:spTgt spid="12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1" st="1"/>
                                            </p:txEl>
                                          </p:spTgt>
                                        </p:tgtEl>
                                        <p:attrNameLst>
                                          <p:attrName>style.visibility</p:attrName>
                                        </p:attrNameLst>
                                      </p:cBhvr>
                                      <p:to>
                                        <p:strVal val="visible"/>
                                      </p:to>
                                    </p:set>
                                    <p:anim calcmode="lin" valueType="num">
                                      <p:cBhvr additive="base">
                                        <p:cTn dur="500"/>
                                        <p:tgtEl>
                                          <p:spTgt spid="12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2" st="2"/>
                                            </p:txEl>
                                          </p:spTgt>
                                        </p:tgtEl>
                                        <p:attrNameLst>
                                          <p:attrName>style.visibility</p:attrName>
                                        </p:attrNameLst>
                                      </p:cBhvr>
                                      <p:to>
                                        <p:strVal val="visible"/>
                                      </p:to>
                                    </p:set>
                                    <p:anim calcmode="lin" valueType="num">
                                      <p:cBhvr additive="base">
                                        <p:cTn dur="500"/>
                                        <p:tgtEl>
                                          <p:spTgt spid="12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3" st="3"/>
                                            </p:txEl>
                                          </p:spTgt>
                                        </p:tgtEl>
                                        <p:attrNameLst>
                                          <p:attrName>style.visibility</p:attrName>
                                        </p:attrNameLst>
                                      </p:cBhvr>
                                      <p:to>
                                        <p:strVal val="visible"/>
                                      </p:to>
                                    </p:set>
                                    <p:anim calcmode="lin" valueType="num">
                                      <p:cBhvr additive="base">
                                        <p:cTn dur="500"/>
                                        <p:tgtEl>
                                          <p:spTgt spid="12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4" st="4"/>
                                            </p:txEl>
                                          </p:spTgt>
                                        </p:tgtEl>
                                        <p:attrNameLst>
                                          <p:attrName>style.visibility</p:attrName>
                                        </p:attrNameLst>
                                      </p:cBhvr>
                                      <p:to>
                                        <p:strVal val="visible"/>
                                      </p:to>
                                    </p:set>
                                    <p:anim calcmode="lin" valueType="num">
                                      <p:cBhvr additive="base">
                                        <p:cTn dur="500"/>
                                        <p:tgtEl>
                                          <p:spTgt spid="12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2">
                                            <p:txEl>
                                              <p:pRg end="5" st="5"/>
                                            </p:txEl>
                                          </p:spTgt>
                                        </p:tgtEl>
                                        <p:attrNameLst>
                                          <p:attrName>style.visibility</p:attrName>
                                        </p:attrNameLst>
                                      </p:cBhvr>
                                      <p:to>
                                        <p:strVal val="visible"/>
                                      </p:to>
                                    </p:set>
                                    <p:anim calcmode="lin" valueType="num">
                                      <p:cBhvr additive="base">
                                        <p:cTn dur="500"/>
                                        <p:tgtEl>
                                          <p:spTgt spid="12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anim calcmode="lin" valueType="num">
                                      <p:cBhvr additive="base">
                                        <p:cTn dur="500"/>
                                        <p:tgtEl>
                                          <p:spTgt spid="12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 name="Shape 128"/>
        <p:cNvGrpSpPr/>
        <p:nvPr/>
      </p:nvGrpSpPr>
      <p:grpSpPr>
        <a:xfrm>
          <a:off x="0" y="0"/>
          <a:ext cx="0" cy="0"/>
          <a:chOff x="0" y="0"/>
          <a:chExt cx="0" cy="0"/>
        </a:xfrm>
      </p:grpSpPr>
      <p:sp>
        <p:nvSpPr>
          <p:cNvPr id="129" name="Google Shape;129;p23"/>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pic>
        <p:nvPicPr>
          <p:cNvPr id="130" name="Google Shape;130;p23"/>
          <p:cNvPicPr preferRelativeResize="0"/>
          <p:nvPr/>
        </p:nvPicPr>
        <p:blipFill rotWithShape="1">
          <a:blip r:embed="rId3">
            <a:alphaModFix/>
          </a:blip>
          <a:srcRect b="0" l="0" r="0" t="0"/>
          <a:stretch/>
        </p:blipFill>
        <p:spPr>
          <a:xfrm>
            <a:off x="440221" y="1448884"/>
            <a:ext cx="5438064" cy="97503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Font typeface="Arial"/>
              <a:buNone/>
            </a:pPr>
            <a:r>
              <a:rPr lang="en-IN" sz="1600">
                <a:solidFill>
                  <a:srgbClr val="3A3A3A"/>
                </a:solidFill>
              </a:rPr>
              <a:t>Ravi took a loan of Rs. 1200 with simple interest for as many years as the rate of interest. If she paid Rs. 432 as interest at the end of the loan period, what was the rate of interest ?</a:t>
            </a:r>
            <a:endParaRPr sz="1600">
              <a:solidFill>
                <a:srgbClr val="3A3A3A"/>
              </a:solidFill>
            </a:endParaRPr>
          </a:p>
          <a:p>
            <a:pPr indent="0" lvl="0" marL="0" rtl="0" algn="just">
              <a:lnSpc>
                <a:spcPct val="150000"/>
              </a:lnSpc>
              <a:spcBef>
                <a:spcPts val="0"/>
              </a:spcBef>
              <a:spcAft>
                <a:spcPts val="0"/>
              </a:spcAft>
              <a:buClr>
                <a:schemeClr val="dk1"/>
              </a:buClr>
              <a:buFont typeface="Arial"/>
              <a:buNone/>
            </a:pPr>
            <a:r>
              <a:t/>
            </a:r>
            <a:endParaRPr sz="1600">
              <a:solidFill>
                <a:srgbClr val="3A3A3A"/>
              </a:solidFill>
            </a:endParaRPr>
          </a:p>
          <a:p>
            <a:pPr indent="0" lvl="0" marL="0" rtl="0" algn="just">
              <a:lnSpc>
                <a:spcPct val="150000"/>
              </a:lnSpc>
              <a:spcBef>
                <a:spcPts val="0"/>
              </a:spcBef>
              <a:spcAft>
                <a:spcPts val="0"/>
              </a:spcAft>
              <a:buSzPts val="1800"/>
              <a:buNone/>
            </a:pPr>
            <a:r>
              <a:rPr lang="en-IN" sz="1600">
                <a:solidFill>
                  <a:schemeClr val="dk1"/>
                </a:solidFill>
              </a:rPr>
              <a:t>A. 3.6</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B. 6</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C. 18</a:t>
            </a:r>
            <a:endParaRPr sz="1600">
              <a:solidFill>
                <a:schemeClr val="dk1"/>
              </a:solidFill>
            </a:endParaRPr>
          </a:p>
          <a:p>
            <a:pPr indent="0" lvl="0" marL="0" rtl="0" algn="just">
              <a:lnSpc>
                <a:spcPct val="150000"/>
              </a:lnSpc>
              <a:spcBef>
                <a:spcPts val="0"/>
              </a:spcBef>
              <a:spcAft>
                <a:spcPts val="0"/>
              </a:spcAft>
              <a:buSzPts val="1800"/>
              <a:buNone/>
            </a:pPr>
            <a:r>
              <a:rPr lang="en-IN" sz="1600">
                <a:solidFill>
                  <a:schemeClr val="dk1"/>
                </a:solidFill>
              </a:rPr>
              <a:t>D. 17</a:t>
            </a:r>
            <a:endParaRPr sz="1600">
              <a:solidFill>
                <a:schemeClr val="dk1"/>
              </a:solidFill>
            </a:endParaRPr>
          </a:p>
          <a:p>
            <a:pPr indent="-228600" lvl="0" marL="457200" rtl="0" algn="just">
              <a:lnSpc>
                <a:spcPct val="150000"/>
              </a:lnSpc>
              <a:spcBef>
                <a:spcPts val="0"/>
              </a:spcBef>
              <a:spcAft>
                <a:spcPts val="0"/>
              </a:spcAft>
              <a:buSzPts val="1800"/>
              <a:buFont typeface="Arial"/>
              <a:buNone/>
            </a:pPr>
            <a:r>
              <a:t/>
            </a:r>
            <a:endParaRPr sz="1600">
              <a:solidFill>
                <a:schemeClr val="dk1"/>
              </a:solidFill>
            </a:endParaRPr>
          </a:p>
        </p:txBody>
      </p:sp>
      <p:sp>
        <p:nvSpPr>
          <p:cNvPr id="136" name="Google Shape;136;p24"/>
          <p:cNvSpPr txBox="1"/>
          <p:nvPr/>
        </p:nvSpPr>
        <p:spPr>
          <a:xfrm>
            <a:off x="6828313" y="4120738"/>
            <a:ext cx="15437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t>
            </a:r>
            <a:r>
              <a:rPr b="1" lang="en-IN" sz="1800">
                <a:latin typeface="Roboto"/>
                <a:ea typeface="Roboto"/>
                <a:cs typeface="Roboto"/>
                <a:sym typeface="Roboto"/>
              </a:rPr>
              <a:t>B</a:t>
            </a:r>
            <a:endParaRPr b="1" i="0" sz="1800" u="none" cap="none" strike="noStrike">
              <a:solidFill>
                <a:srgbClr val="000000"/>
              </a:solidFill>
              <a:latin typeface="Roboto"/>
              <a:ea typeface="Roboto"/>
              <a:cs typeface="Roboto"/>
              <a:sym typeface="Roboto"/>
            </a:endParaRPr>
          </a:p>
        </p:txBody>
      </p:sp>
      <p:sp>
        <p:nvSpPr>
          <p:cNvPr id="137" name="Google Shape;137;p24"/>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 calcmode="lin" valueType="num">
                                      <p:cBhvr additive="base">
                                        <p:cTn dur="500"/>
                                        <p:tgtEl>
                                          <p:spTgt spid="13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anim calcmode="lin" valueType="num">
                                      <p:cBhvr additive="base">
                                        <p:cTn dur="500"/>
                                        <p:tgtEl>
                                          <p:spTgt spid="13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anim calcmode="lin" valueType="num">
                                      <p:cBhvr additive="base">
                                        <p:cTn dur="500"/>
                                        <p:tgtEl>
                                          <p:spTgt spid="13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anim calcmode="lin" valueType="num">
                                      <p:cBhvr additive="base">
                                        <p:cTn dur="500"/>
                                        <p:tgtEl>
                                          <p:spTgt spid="13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anim calcmode="lin" valueType="num">
                                      <p:cBhvr additive="base">
                                        <p:cTn dur="500"/>
                                        <p:tgtEl>
                                          <p:spTgt spid="13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5" st="5"/>
                                            </p:txEl>
                                          </p:spTgt>
                                        </p:tgtEl>
                                        <p:attrNameLst>
                                          <p:attrName>style.visibility</p:attrName>
                                        </p:attrNameLst>
                                      </p:cBhvr>
                                      <p:to>
                                        <p:strVal val="visible"/>
                                      </p:to>
                                    </p:set>
                                    <p:anim calcmode="lin" valueType="num">
                                      <p:cBhvr additive="base">
                                        <p:cTn dur="500"/>
                                        <p:tgtEl>
                                          <p:spTgt spid="13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xEl>
                                              <p:pRg end="6" st="6"/>
                                            </p:txEl>
                                          </p:spTgt>
                                        </p:tgtEl>
                                        <p:attrNameLst>
                                          <p:attrName>style.visibility</p:attrName>
                                        </p:attrNameLst>
                                      </p:cBhvr>
                                      <p:to>
                                        <p:strVal val="visible"/>
                                      </p:to>
                                    </p:set>
                                    <p:anim calcmode="lin" valueType="num">
                                      <p:cBhvr additive="base">
                                        <p:cTn dur="500"/>
                                        <p:tgtEl>
                                          <p:spTgt spid="13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 calcmode="lin" valueType="num">
                                      <p:cBhvr additive="base">
                                        <p:cTn dur="500"/>
                                        <p:tgtEl>
                                          <p:spTgt spid="13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1" name="Shape 141"/>
        <p:cNvGrpSpPr/>
        <p:nvPr/>
      </p:nvGrpSpPr>
      <p:grpSpPr>
        <a:xfrm>
          <a:off x="0" y="0"/>
          <a:ext cx="0" cy="0"/>
          <a:chOff x="0" y="0"/>
          <a:chExt cx="0" cy="0"/>
        </a:xfrm>
      </p:grpSpPr>
      <p:sp>
        <p:nvSpPr>
          <p:cNvPr id="142" name="Google Shape;142;p25"/>
          <p:cNvSpPr txBox="1"/>
          <p:nvPr>
            <p:ph idx="1" type="body"/>
          </p:nvPr>
        </p:nvSpPr>
        <p:spPr>
          <a:xfrm>
            <a:off x="720000" y="1439998"/>
            <a:ext cx="7998000" cy="2767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Font typeface="Arial"/>
              <a:buNone/>
            </a:pPr>
            <a:r>
              <a:rPr lang="en-IN" sz="1600">
                <a:solidFill>
                  <a:srgbClr val="1A1A1A"/>
                </a:solidFill>
              </a:rPr>
              <a:t>Let rate = R% and time = R years.</a:t>
            </a:r>
            <a:endParaRPr sz="1600">
              <a:solidFill>
                <a:srgbClr val="1A1A1A"/>
              </a:solidFill>
            </a:endParaRPr>
          </a:p>
          <a:p>
            <a:pPr indent="0" lvl="0" marL="0" rtl="0" algn="l">
              <a:lnSpc>
                <a:spcPct val="150000"/>
              </a:lnSpc>
              <a:spcBef>
                <a:spcPts val="0"/>
              </a:spcBef>
              <a:spcAft>
                <a:spcPts val="0"/>
              </a:spcAft>
              <a:buClr>
                <a:schemeClr val="dk1"/>
              </a:buClr>
              <a:buFont typeface="Arial"/>
              <a:buNone/>
            </a:pPr>
            <a:r>
              <a:rPr lang="en-IN" sz="1600">
                <a:solidFill>
                  <a:srgbClr val="1A1A1A"/>
                </a:solidFill>
              </a:rPr>
              <a:t>Then, (1200 × R × R)/100 = 432</a:t>
            </a:r>
            <a:endParaRPr sz="1600">
              <a:solidFill>
                <a:srgbClr val="1A1A1A"/>
              </a:solidFill>
            </a:endParaRPr>
          </a:p>
          <a:p>
            <a:pPr indent="0" lvl="0" marL="0" rtl="0" algn="l">
              <a:lnSpc>
                <a:spcPct val="150000"/>
              </a:lnSpc>
              <a:spcBef>
                <a:spcPts val="0"/>
              </a:spcBef>
              <a:spcAft>
                <a:spcPts val="0"/>
              </a:spcAft>
              <a:buClr>
                <a:schemeClr val="dk1"/>
              </a:buClr>
              <a:buFont typeface="Arial"/>
              <a:buNone/>
            </a:pPr>
            <a:r>
              <a:rPr lang="en-IN" sz="1600">
                <a:solidFill>
                  <a:srgbClr val="1A1A1A"/>
                </a:solidFill>
              </a:rPr>
              <a:t>=&gt; 12R</a:t>
            </a:r>
            <a:r>
              <a:rPr baseline="30000" lang="en-IN" sz="1600">
                <a:solidFill>
                  <a:srgbClr val="1A1A1A"/>
                </a:solidFill>
              </a:rPr>
              <a:t>2</a:t>
            </a:r>
            <a:r>
              <a:rPr lang="en-IN" sz="1600">
                <a:solidFill>
                  <a:srgbClr val="1A1A1A"/>
                </a:solidFill>
              </a:rPr>
              <a:t> = 432</a:t>
            </a:r>
            <a:endParaRPr sz="1600">
              <a:solidFill>
                <a:srgbClr val="1A1A1A"/>
              </a:solidFill>
            </a:endParaRPr>
          </a:p>
          <a:p>
            <a:pPr indent="0" lvl="0" marL="0" rtl="0" algn="l">
              <a:lnSpc>
                <a:spcPct val="150000"/>
              </a:lnSpc>
              <a:spcBef>
                <a:spcPts val="0"/>
              </a:spcBef>
              <a:spcAft>
                <a:spcPts val="0"/>
              </a:spcAft>
              <a:buClr>
                <a:schemeClr val="dk1"/>
              </a:buClr>
              <a:buFont typeface="Arial"/>
              <a:buNone/>
            </a:pPr>
            <a:r>
              <a:rPr lang="en-IN" sz="1600">
                <a:solidFill>
                  <a:srgbClr val="1A1A1A"/>
                </a:solidFill>
              </a:rPr>
              <a:t>=&gt; R</a:t>
            </a:r>
            <a:r>
              <a:rPr baseline="30000" lang="en-IN" sz="1600">
                <a:solidFill>
                  <a:srgbClr val="1A1A1A"/>
                </a:solidFill>
              </a:rPr>
              <a:t>2</a:t>
            </a:r>
            <a:r>
              <a:rPr lang="en-IN" sz="1600">
                <a:solidFill>
                  <a:srgbClr val="1A1A1A"/>
                </a:solidFill>
              </a:rPr>
              <a:t> = 36</a:t>
            </a:r>
            <a:endParaRPr sz="1600">
              <a:solidFill>
                <a:srgbClr val="1A1A1A"/>
              </a:solidFill>
            </a:endParaRPr>
          </a:p>
          <a:p>
            <a:pPr indent="0" lvl="0" marL="0" rtl="0" algn="l">
              <a:lnSpc>
                <a:spcPct val="150000"/>
              </a:lnSpc>
              <a:spcBef>
                <a:spcPts val="0"/>
              </a:spcBef>
              <a:spcAft>
                <a:spcPts val="0"/>
              </a:spcAft>
              <a:buClr>
                <a:schemeClr val="dk1"/>
              </a:buClr>
              <a:buFont typeface="Arial"/>
              <a:buNone/>
            </a:pPr>
            <a:r>
              <a:rPr lang="en-IN" sz="1600">
                <a:solidFill>
                  <a:srgbClr val="1A1A1A"/>
                </a:solidFill>
              </a:rPr>
              <a:t>=&gt; R = 6.</a:t>
            </a:r>
            <a:endParaRPr sz="1600">
              <a:solidFill>
                <a:srgbClr val="1A1A1A"/>
              </a:solidFill>
            </a:endParaRPr>
          </a:p>
          <a:p>
            <a:pPr indent="0" lvl="0" marL="457200" rtl="0" algn="l">
              <a:lnSpc>
                <a:spcPct val="115000"/>
              </a:lnSpc>
              <a:spcBef>
                <a:spcPts val="0"/>
              </a:spcBef>
              <a:spcAft>
                <a:spcPts val="0"/>
              </a:spcAft>
              <a:buSzPts val="1800"/>
              <a:buNone/>
            </a:pPr>
            <a:r>
              <a:t/>
            </a:r>
            <a:endParaRPr sz="1600">
              <a:solidFill>
                <a:schemeClr val="dk1"/>
              </a:solidFill>
            </a:endParaRPr>
          </a:p>
        </p:txBody>
      </p:sp>
      <p:sp>
        <p:nvSpPr>
          <p:cNvPr id="143" name="Google Shape;143;p2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 calcmode="lin" valueType="num">
                                      <p:cBhvr additive="base">
                                        <p:cTn dur="500"/>
                                        <p:tgtEl>
                                          <p:spTgt spid="14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anim calcmode="lin" valueType="num">
                                      <p:cBhvr additive="base">
                                        <p:cTn dur="500"/>
                                        <p:tgtEl>
                                          <p:spTgt spid="14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anim calcmode="lin" valueType="num">
                                      <p:cBhvr additive="base">
                                        <p:cTn dur="500"/>
                                        <p:tgtEl>
                                          <p:spTgt spid="14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anim calcmode="lin" valueType="num">
                                      <p:cBhvr additive="base">
                                        <p:cTn dur="500"/>
                                        <p:tgtEl>
                                          <p:spTgt spid="14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anim calcmode="lin" valueType="num">
                                      <p:cBhvr additive="base">
                                        <p:cTn dur="500"/>
                                        <p:tgtEl>
                                          <p:spTgt spid="14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anim calcmode="lin" valueType="num">
                                      <p:cBhvr additive="base">
                                        <p:cTn dur="500"/>
                                        <p:tgtEl>
                                          <p:spTgt spid="14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IN" sz="1600">
                <a:solidFill>
                  <a:srgbClr val="3A3A3A"/>
                </a:solidFill>
              </a:rPr>
              <a:t>A sum of Rs. 725 is lent in the beginning of a year at a certain rate of interest. After 8 months, a sum of Rs. 362.50 more is lent but at the rate twice the former. At the end of the year, Rs. 33.50 is earned as interest from both the loans. What was the original rate of interest?</a:t>
            </a:r>
            <a:endParaRPr sz="1600">
              <a:solidFill>
                <a:schemeClr val="dk1"/>
              </a:solidFill>
            </a:endParaRPr>
          </a:p>
          <a:p>
            <a:pPr indent="0" lvl="0" marL="0" rtl="0" algn="just">
              <a:lnSpc>
                <a:spcPct val="150000"/>
              </a:lnSpc>
              <a:spcBef>
                <a:spcPts val="0"/>
              </a:spcBef>
              <a:spcAft>
                <a:spcPts val="0"/>
              </a:spcAft>
              <a:buSzPts val="1800"/>
              <a:buNone/>
            </a:pPr>
            <a:r>
              <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3.6%</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4.5%</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5%</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None of these</a:t>
            </a:r>
            <a:endParaRPr sz="1600">
              <a:solidFill>
                <a:schemeClr val="dk1"/>
              </a:solidFill>
            </a:endParaRPr>
          </a:p>
        </p:txBody>
      </p:sp>
      <p:sp>
        <p:nvSpPr>
          <p:cNvPr id="149" name="Google Shape;149;p26"/>
          <p:cNvSpPr txBox="1"/>
          <p:nvPr/>
        </p:nvSpPr>
        <p:spPr>
          <a:xfrm>
            <a:off x="6828313" y="4120738"/>
            <a:ext cx="15437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t>
            </a:r>
            <a:r>
              <a:rPr b="1" lang="en-IN" sz="1800">
                <a:latin typeface="Roboto"/>
                <a:ea typeface="Roboto"/>
                <a:cs typeface="Roboto"/>
                <a:sym typeface="Roboto"/>
              </a:rPr>
              <a:t>D</a:t>
            </a:r>
            <a:endParaRPr b="1" i="0" sz="1800" u="none" cap="none" strike="noStrike">
              <a:solidFill>
                <a:srgbClr val="000000"/>
              </a:solidFill>
              <a:latin typeface="Roboto"/>
              <a:ea typeface="Roboto"/>
              <a:cs typeface="Roboto"/>
              <a:sym typeface="Roboto"/>
            </a:endParaRPr>
          </a:p>
        </p:txBody>
      </p:sp>
      <p:sp>
        <p:nvSpPr>
          <p:cNvPr id="150" name="Google Shape;150;p26"/>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anim calcmode="lin" valueType="num">
                                      <p:cBhvr additive="base">
                                        <p:cTn dur="500"/>
                                        <p:tgtEl>
                                          <p:spTgt spid="14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anim calcmode="lin" valueType="num">
                                      <p:cBhvr additive="base">
                                        <p:cTn dur="500"/>
                                        <p:tgtEl>
                                          <p:spTgt spid="14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anim calcmode="lin" valueType="num">
                                      <p:cBhvr additive="base">
                                        <p:cTn dur="500"/>
                                        <p:tgtEl>
                                          <p:spTgt spid="14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
                                            <p:txEl>
                                              <p:pRg end="3" st="3"/>
                                            </p:txEl>
                                          </p:spTgt>
                                        </p:tgtEl>
                                        <p:attrNameLst>
                                          <p:attrName>style.visibility</p:attrName>
                                        </p:attrNameLst>
                                      </p:cBhvr>
                                      <p:to>
                                        <p:strVal val="visible"/>
                                      </p:to>
                                    </p:set>
                                    <p:anim calcmode="lin" valueType="num">
                                      <p:cBhvr additive="base">
                                        <p:cTn dur="500"/>
                                        <p:tgtEl>
                                          <p:spTgt spid="14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
                                            <p:txEl>
                                              <p:pRg end="4" st="4"/>
                                            </p:txEl>
                                          </p:spTgt>
                                        </p:tgtEl>
                                        <p:attrNameLst>
                                          <p:attrName>style.visibility</p:attrName>
                                        </p:attrNameLst>
                                      </p:cBhvr>
                                      <p:to>
                                        <p:strVal val="visible"/>
                                      </p:to>
                                    </p:set>
                                    <p:anim calcmode="lin" valueType="num">
                                      <p:cBhvr additive="base">
                                        <p:cTn dur="500"/>
                                        <p:tgtEl>
                                          <p:spTgt spid="14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
                                            <p:txEl>
                                              <p:pRg end="5" st="5"/>
                                            </p:txEl>
                                          </p:spTgt>
                                        </p:tgtEl>
                                        <p:attrNameLst>
                                          <p:attrName>style.visibility</p:attrName>
                                        </p:attrNameLst>
                                      </p:cBhvr>
                                      <p:to>
                                        <p:strVal val="visible"/>
                                      </p:to>
                                    </p:set>
                                    <p:anim calcmode="lin" valueType="num">
                                      <p:cBhvr additive="base">
                                        <p:cTn dur="500"/>
                                        <p:tgtEl>
                                          <p:spTgt spid="14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9">
                                            <p:txEl>
                                              <p:pRg end="0" st="0"/>
                                            </p:txEl>
                                          </p:spTgt>
                                        </p:tgtEl>
                                        <p:attrNameLst>
                                          <p:attrName>style.visibility</p:attrName>
                                        </p:attrNameLst>
                                      </p:cBhvr>
                                      <p:to>
                                        <p:strVal val="visible"/>
                                      </p:to>
                                    </p:set>
                                    <p:anim calcmode="lin" valueType="num">
                                      <p:cBhvr additive="base">
                                        <p:cTn dur="500"/>
                                        <p:tgtEl>
                                          <p:spTgt spid="14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4" name="Shape 154"/>
        <p:cNvGrpSpPr/>
        <p:nvPr/>
      </p:nvGrpSpPr>
      <p:grpSpPr>
        <a:xfrm>
          <a:off x="0" y="0"/>
          <a:ext cx="0" cy="0"/>
          <a:chOff x="0" y="0"/>
          <a:chExt cx="0" cy="0"/>
        </a:xfrm>
      </p:grpSpPr>
      <p:sp>
        <p:nvSpPr>
          <p:cNvPr id="155" name="Google Shape;155;p27"/>
          <p:cNvSpPr txBox="1"/>
          <p:nvPr>
            <p:ph idx="1" type="body"/>
          </p:nvPr>
        </p:nvSpPr>
        <p:spPr>
          <a:xfrm>
            <a:off x="720000" y="1440000"/>
            <a:ext cx="7880100" cy="2574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Font typeface="Arial"/>
              <a:buNone/>
            </a:pPr>
            <a:r>
              <a:rPr lang="en-IN" sz="1600">
                <a:solidFill>
                  <a:srgbClr val="3A3A3A"/>
                </a:solidFill>
              </a:rPr>
              <a:t>Let the original rate be R%. Then, new rate = (2R)%.</a:t>
            </a:r>
            <a:endParaRPr sz="1600">
              <a:solidFill>
                <a:schemeClr val="dk1"/>
              </a:solidFill>
            </a:endParaRPr>
          </a:p>
          <a:p>
            <a:pPr indent="0" lvl="0" marL="0" rtl="0" algn="l">
              <a:lnSpc>
                <a:spcPct val="150000"/>
              </a:lnSpc>
              <a:spcBef>
                <a:spcPts val="0"/>
              </a:spcBef>
              <a:spcAft>
                <a:spcPts val="0"/>
              </a:spcAft>
              <a:buClr>
                <a:schemeClr val="dk1"/>
              </a:buClr>
              <a:buFont typeface="Arial"/>
              <a:buNone/>
            </a:pPr>
            <a:r>
              <a:rPr lang="en-IN" sz="1600">
                <a:solidFill>
                  <a:srgbClr val="3A3A3A"/>
                </a:solidFill>
              </a:rPr>
              <a:t>Here, original rate is for 1 year(s); the new rate is for only 4 months i.e. for 1/3 year.</a:t>
            </a:r>
            <a:endParaRPr sz="1600">
              <a:solidFill>
                <a:schemeClr val="dk1"/>
              </a:solidFill>
            </a:endParaRPr>
          </a:p>
          <a:p>
            <a:pPr indent="0" lvl="0" marL="0" rtl="0" algn="l">
              <a:lnSpc>
                <a:spcPct val="150000"/>
              </a:lnSpc>
              <a:spcBef>
                <a:spcPts val="0"/>
              </a:spcBef>
              <a:spcAft>
                <a:spcPts val="0"/>
              </a:spcAft>
              <a:buClr>
                <a:schemeClr val="dk1"/>
              </a:buClr>
              <a:buFont typeface="Arial"/>
              <a:buNone/>
            </a:pPr>
            <a:r>
              <a:rPr lang="en-IN" sz="1600">
                <a:solidFill>
                  <a:srgbClr val="3A3A3A"/>
                </a:solidFill>
              </a:rPr>
              <a:t>∴ [(725 × R × 1)/100] + [362.50 × 2R × 1)/(100 × 3)] = 33.50</a:t>
            </a:r>
            <a:endParaRPr sz="1600">
              <a:solidFill>
                <a:schemeClr val="dk1"/>
              </a:solidFill>
            </a:endParaRPr>
          </a:p>
          <a:p>
            <a:pPr indent="0" lvl="0" marL="0" rtl="0" algn="l">
              <a:lnSpc>
                <a:spcPct val="150000"/>
              </a:lnSpc>
              <a:spcBef>
                <a:spcPts val="0"/>
              </a:spcBef>
              <a:spcAft>
                <a:spcPts val="0"/>
              </a:spcAft>
              <a:buClr>
                <a:schemeClr val="dk1"/>
              </a:buClr>
              <a:buFont typeface="Arial"/>
              <a:buNone/>
            </a:pPr>
            <a:r>
              <a:rPr lang="en-IN" sz="1600">
                <a:solidFill>
                  <a:srgbClr val="3A3A3A"/>
                </a:solidFill>
              </a:rPr>
              <a:t>=&gt; (2175 + 725) R = 33.50 × 100 × 3</a:t>
            </a:r>
            <a:endParaRPr sz="1600">
              <a:solidFill>
                <a:schemeClr val="dk1"/>
              </a:solidFill>
            </a:endParaRPr>
          </a:p>
          <a:p>
            <a:pPr indent="0" lvl="0" marL="0" rtl="0" algn="l">
              <a:lnSpc>
                <a:spcPct val="150000"/>
              </a:lnSpc>
              <a:spcBef>
                <a:spcPts val="0"/>
              </a:spcBef>
              <a:spcAft>
                <a:spcPts val="0"/>
              </a:spcAft>
              <a:buClr>
                <a:schemeClr val="dk1"/>
              </a:buClr>
              <a:buFont typeface="Arial"/>
              <a:buNone/>
            </a:pPr>
            <a:r>
              <a:rPr lang="en-IN" sz="1600">
                <a:solidFill>
                  <a:srgbClr val="3A3A3A"/>
                </a:solidFill>
              </a:rPr>
              <a:t>=&gt; (2175 + 725) R = 10050</a:t>
            </a:r>
            <a:endParaRPr sz="1600">
              <a:solidFill>
                <a:schemeClr val="dk1"/>
              </a:solidFill>
            </a:endParaRPr>
          </a:p>
          <a:p>
            <a:pPr indent="0" lvl="0" marL="0" rtl="0" algn="l">
              <a:lnSpc>
                <a:spcPct val="150000"/>
              </a:lnSpc>
              <a:spcBef>
                <a:spcPts val="0"/>
              </a:spcBef>
              <a:spcAft>
                <a:spcPts val="0"/>
              </a:spcAft>
              <a:buClr>
                <a:schemeClr val="dk1"/>
              </a:buClr>
              <a:buFont typeface="Arial"/>
              <a:buNone/>
            </a:pPr>
            <a:r>
              <a:rPr lang="en-IN" sz="1600">
                <a:solidFill>
                  <a:srgbClr val="3A3A3A"/>
                </a:solidFill>
              </a:rPr>
              <a:t>=&gt; (2900) R = 10050</a:t>
            </a:r>
            <a:endParaRPr sz="1600">
              <a:solidFill>
                <a:schemeClr val="dk1"/>
              </a:solidFill>
            </a:endParaRPr>
          </a:p>
          <a:p>
            <a:pPr indent="0" lvl="0" marL="0" rtl="0" algn="l">
              <a:lnSpc>
                <a:spcPct val="150000"/>
              </a:lnSpc>
              <a:spcBef>
                <a:spcPts val="0"/>
              </a:spcBef>
              <a:spcAft>
                <a:spcPts val="0"/>
              </a:spcAft>
              <a:buClr>
                <a:schemeClr val="dk1"/>
              </a:buClr>
              <a:buFont typeface="Arial"/>
              <a:buNone/>
            </a:pPr>
            <a:r>
              <a:rPr lang="en-IN" sz="1600">
                <a:solidFill>
                  <a:srgbClr val="3A3A3A"/>
                </a:solidFill>
              </a:rPr>
              <a:t>=&gt; R = (10050/2900) = 3.46</a:t>
            </a:r>
            <a:endParaRPr sz="1600">
              <a:solidFill>
                <a:schemeClr val="dk1"/>
              </a:solidFill>
            </a:endParaRPr>
          </a:p>
          <a:p>
            <a:pPr indent="0" lvl="0" marL="0" rtl="0" algn="l">
              <a:lnSpc>
                <a:spcPct val="150000"/>
              </a:lnSpc>
              <a:spcBef>
                <a:spcPts val="0"/>
              </a:spcBef>
              <a:spcAft>
                <a:spcPts val="0"/>
              </a:spcAft>
              <a:buClr>
                <a:schemeClr val="dk1"/>
              </a:buClr>
              <a:buFont typeface="Arial"/>
              <a:buNone/>
            </a:pPr>
            <a:r>
              <a:rPr lang="en-IN" sz="1600">
                <a:solidFill>
                  <a:srgbClr val="3A3A3A"/>
                </a:solidFill>
              </a:rPr>
              <a:t>∴ Original rate = 3.46%</a:t>
            </a:r>
            <a:endParaRPr sz="1600">
              <a:solidFill>
                <a:schemeClr val="dk1"/>
              </a:solidFill>
            </a:endParaRPr>
          </a:p>
          <a:p>
            <a:pPr indent="0" lvl="0" marL="457200" rtl="0" algn="l">
              <a:lnSpc>
                <a:spcPct val="115000"/>
              </a:lnSpc>
              <a:spcBef>
                <a:spcPts val="0"/>
              </a:spcBef>
              <a:spcAft>
                <a:spcPts val="0"/>
              </a:spcAft>
              <a:buSzPts val="1800"/>
              <a:buNone/>
            </a:pPr>
            <a:r>
              <a:t/>
            </a:r>
            <a:endParaRPr sz="1600">
              <a:solidFill>
                <a:schemeClr val="dk1"/>
              </a:solidFill>
            </a:endParaRPr>
          </a:p>
        </p:txBody>
      </p:sp>
      <p:sp>
        <p:nvSpPr>
          <p:cNvPr id="156" name="Google Shape;156;p2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 calcmode="lin" valueType="num">
                                      <p:cBhvr additive="base">
                                        <p:cTn dur="500"/>
                                        <p:tgtEl>
                                          <p:spTgt spid="15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anim calcmode="lin" valueType="num">
                                      <p:cBhvr additive="base">
                                        <p:cTn dur="500"/>
                                        <p:tgtEl>
                                          <p:spTgt spid="15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anim calcmode="lin" valueType="num">
                                      <p:cBhvr additive="base">
                                        <p:cTn dur="500"/>
                                        <p:tgtEl>
                                          <p:spTgt spid="15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anim calcmode="lin" valueType="num">
                                      <p:cBhvr additive="base">
                                        <p:cTn dur="500"/>
                                        <p:tgtEl>
                                          <p:spTgt spid="15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anim calcmode="lin" valueType="num">
                                      <p:cBhvr additive="base">
                                        <p:cTn dur="500"/>
                                        <p:tgtEl>
                                          <p:spTgt spid="15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anim calcmode="lin" valueType="num">
                                      <p:cBhvr additive="base">
                                        <p:cTn dur="500"/>
                                        <p:tgtEl>
                                          <p:spTgt spid="15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anim calcmode="lin" valueType="num">
                                      <p:cBhvr additive="base">
                                        <p:cTn dur="500"/>
                                        <p:tgtEl>
                                          <p:spTgt spid="15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7" st="7"/>
                                            </p:txEl>
                                          </p:spTgt>
                                        </p:tgtEl>
                                        <p:attrNameLst>
                                          <p:attrName>style.visibility</p:attrName>
                                        </p:attrNameLst>
                                      </p:cBhvr>
                                      <p:to>
                                        <p:strVal val="visible"/>
                                      </p:to>
                                    </p:set>
                                    <p:anim calcmode="lin" valueType="num">
                                      <p:cBhvr additive="base">
                                        <p:cTn dur="500"/>
                                        <p:tgtEl>
                                          <p:spTgt spid="15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xEl>
                                              <p:pRg end="8" st="8"/>
                                            </p:txEl>
                                          </p:spTgt>
                                        </p:tgtEl>
                                        <p:attrNameLst>
                                          <p:attrName>style.visibility</p:attrName>
                                        </p:attrNameLst>
                                      </p:cBhvr>
                                      <p:to>
                                        <p:strVal val="visible"/>
                                      </p:to>
                                    </p:set>
                                    <p:anim calcmode="lin" valueType="num">
                                      <p:cBhvr additive="base">
                                        <p:cTn dur="500"/>
                                        <p:tgtEl>
                                          <p:spTgt spid="15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1b3f087a09_1_51"/>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Font typeface="Arial"/>
              <a:buNone/>
            </a:pPr>
            <a:r>
              <a:rPr lang="en-IN" sz="1600">
                <a:solidFill>
                  <a:srgbClr val="3A3A3A"/>
                </a:solidFill>
              </a:rPr>
              <a:t>Simple interest on a certain sum of money for 3 years at 8% per annum is half the compound interest on Rs. 4000 for 2 years at 10% per annum. The sum placed on simple interest is:</a:t>
            </a:r>
            <a:endParaRPr sz="1600">
              <a:solidFill>
                <a:schemeClr val="dk1"/>
              </a:solidFill>
            </a:endParaRPr>
          </a:p>
          <a:p>
            <a:pPr indent="0" lvl="0" marL="0" rtl="0" algn="l">
              <a:lnSpc>
                <a:spcPct val="100000"/>
              </a:lnSpc>
              <a:spcBef>
                <a:spcPts val="0"/>
              </a:spcBef>
              <a:spcAft>
                <a:spcPts val="0"/>
              </a:spcAft>
              <a:buClr>
                <a:schemeClr val="dk1"/>
              </a:buClr>
              <a:buFont typeface="Arial"/>
              <a:buNone/>
            </a:pPr>
            <a:r>
              <a:t/>
            </a:r>
            <a:endParaRPr sz="1600">
              <a:solidFill>
                <a:srgbClr val="3A3A3A"/>
              </a:solidFill>
            </a:endParaRPr>
          </a:p>
          <a:p>
            <a:pPr indent="0" lvl="0" marL="0" rtl="0" algn="l">
              <a:lnSpc>
                <a:spcPct val="100000"/>
              </a:lnSpc>
              <a:spcBef>
                <a:spcPts val="0"/>
              </a:spcBef>
              <a:spcAft>
                <a:spcPts val="0"/>
              </a:spcAft>
              <a:buNone/>
            </a:pPr>
            <a:r>
              <a:rPr lang="en-IN" sz="1600">
                <a:solidFill>
                  <a:srgbClr val="3A3A3A"/>
                </a:solidFill>
              </a:rPr>
              <a:t>A. Rs. 1550</a:t>
            </a:r>
            <a:endParaRPr sz="1600">
              <a:solidFill>
                <a:schemeClr val="dk1"/>
              </a:solidFill>
            </a:endParaRPr>
          </a:p>
          <a:p>
            <a:pPr indent="0" lvl="0" marL="0" rtl="0" algn="l">
              <a:lnSpc>
                <a:spcPct val="100000"/>
              </a:lnSpc>
              <a:spcBef>
                <a:spcPts val="0"/>
              </a:spcBef>
              <a:spcAft>
                <a:spcPts val="0"/>
              </a:spcAft>
              <a:buNone/>
            </a:pPr>
            <a:r>
              <a:rPr lang="en-IN" sz="1600">
                <a:solidFill>
                  <a:srgbClr val="3A3A3A"/>
                </a:solidFill>
              </a:rPr>
              <a:t>B. Rs. 1650</a:t>
            </a:r>
            <a:endParaRPr sz="1600">
              <a:solidFill>
                <a:schemeClr val="dk1"/>
              </a:solidFill>
            </a:endParaRPr>
          </a:p>
          <a:p>
            <a:pPr indent="0" lvl="0" marL="0" rtl="0" algn="l">
              <a:lnSpc>
                <a:spcPct val="100000"/>
              </a:lnSpc>
              <a:spcBef>
                <a:spcPts val="0"/>
              </a:spcBef>
              <a:spcAft>
                <a:spcPts val="0"/>
              </a:spcAft>
              <a:buNone/>
            </a:pPr>
            <a:r>
              <a:rPr lang="en-IN" sz="1600">
                <a:solidFill>
                  <a:srgbClr val="3A3A3A"/>
                </a:solidFill>
              </a:rPr>
              <a:t>C. Rs. 1750</a:t>
            </a:r>
            <a:endParaRPr sz="1600">
              <a:solidFill>
                <a:schemeClr val="dk1"/>
              </a:solidFill>
            </a:endParaRPr>
          </a:p>
          <a:p>
            <a:pPr indent="0" lvl="0" marL="0" rtl="0" algn="l">
              <a:lnSpc>
                <a:spcPct val="100000"/>
              </a:lnSpc>
              <a:spcBef>
                <a:spcPts val="0"/>
              </a:spcBef>
              <a:spcAft>
                <a:spcPts val="0"/>
              </a:spcAft>
              <a:buNone/>
            </a:pPr>
            <a:r>
              <a:rPr lang="en-IN" sz="1600">
                <a:solidFill>
                  <a:srgbClr val="3A3A3A"/>
                </a:solidFill>
              </a:rPr>
              <a:t>D. Rs. 2000</a:t>
            </a:r>
            <a:endParaRPr sz="1600">
              <a:solidFill>
                <a:schemeClr val="dk1"/>
              </a:solidFill>
            </a:endParaRPr>
          </a:p>
          <a:p>
            <a:pPr indent="0" lvl="0" marL="0" rtl="0" algn="l">
              <a:lnSpc>
                <a:spcPct val="100000"/>
              </a:lnSpc>
              <a:spcBef>
                <a:spcPts val="0"/>
              </a:spcBef>
              <a:spcAft>
                <a:spcPts val="0"/>
              </a:spcAft>
              <a:buClr>
                <a:schemeClr val="dk1"/>
              </a:buClr>
              <a:buFont typeface="Arial"/>
              <a:buNone/>
            </a:pPr>
            <a:r>
              <a:t/>
            </a:r>
            <a:endParaRPr sz="1600">
              <a:solidFill>
                <a:schemeClr val="dk1"/>
              </a:solidFill>
            </a:endParaRPr>
          </a:p>
          <a:p>
            <a:pPr indent="0" lvl="0" marL="457200" rtl="0" algn="l">
              <a:lnSpc>
                <a:spcPct val="150000"/>
              </a:lnSpc>
              <a:spcBef>
                <a:spcPts val="0"/>
              </a:spcBef>
              <a:spcAft>
                <a:spcPts val="0"/>
              </a:spcAft>
              <a:buSzPts val="1800"/>
              <a:buNone/>
            </a:pPr>
            <a:r>
              <a:t/>
            </a:r>
            <a:endParaRPr sz="1600">
              <a:solidFill>
                <a:schemeClr val="dk1"/>
              </a:solidFill>
            </a:endParaRPr>
          </a:p>
        </p:txBody>
      </p:sp>
      <p:sp>
        <p:nvSpPr>
          <p:cNvPr id="162" name="Google Shape;162;g31b3f087a09_1_51"/>
          <p:cNvSpPr txBox="1"/>
          <p:nvPr/>
        </p:nvSpPr>
        <p:spPr>
          <a:xfrm>
            <a:off x="6828313" y="4120738"/>
            <a:ext cx="154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C</a:t>
            </a:r>
            <a:endParaRPr b="1" i="0" sz="1800" u="none" cap="none" strike="noStrike">
              <a:solidFill>
                <a:srgbClr val="000000"/>
              </a:solidFill>
              <a:latin typeface="Roboto"/>
              <a:ea typeface="Roboto"/>
              <a:cs typeface="Roboto"/>
              <a:sym typeface="Roboto"/>
            </a:endParaRPr>
          </a:p>
        </p:txBody>
      </p:sp>
      <p:sp>
        <p:nvSpPr>
          <p:cNvPr id="163" name="Google Shape;163;g31b3f087a09_1_5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0" st="0"/>
                                            </p:txEl>
                                          </p:spTgt>
                                        </p:tgtEl>
                                        <p:attrNameLst>
                                          <p:attrName>style.visibility</p:attrName>
                                        </p:attrNameLst>
                                      </p:cBhvr>
                                      <p:to>
                                        <p:strVal val="visible"/>
                                      </p:to>
                                    </p:set>
                                    <p:anim calcmode="lin" valueType="num">
                                      <p:cBhvr additive="base">
                                        <p:cTn dur="500"/>
                                        <p:tgtEl>
                                          <p:spTgt spid="16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1" st="1"/>
                                            </p:txEl>
                                          </p:spTgt>
                                        </p:tgtEl>
                                        <p:attrNameLst>
                                          <p:attrName>style.visibility</p:attrName>
                                        </p:attrNameLst>
                                      </p:cBhvr>
                                      <p:to>
                                        <p:strVal val="visible"/>
                                      </p:to>
                                    </p:set>
                                    <p:anim calcmode="lin" valueType="num">
                                      <p:cBhvr additive="base">
                                        <p:cTn dur="500"/>
                                        <p:tgtEl>
                                          <p:spTgt spid="16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2" st="2"/>
                                            </p:txEl>
                                          </p:spTgt>
                                        </p:tgtEl>
                                        <p:attrNameLst>
                                          <p:attrName>style.visibility</p:attrName>
                                        </p:attrNameLst>
                                      </p:cBhvr>
                                      <p:to>
                                        <p:strVal val="visible"/>
                                      </p:to>
                                    </p:set>
                                    <p:anim calcmode="lin" valueType="num">
                                      <p:cBhvr additive="base">
                                        <p:cTn dur="500"/>
                                        <p:tgtEl>
                                          <p:spTgt spid="16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3" st="3"/>
                                            </p:txEl>
                                          </p:spTgt>
                                        </p:tgtEl>
                                        <p:attrNameLst>
                                          <p:attrName>style.visibility</p:attrName>
                                        </p:attrNameLst>
                                      </p:cBhvr>
                                      <p:to>
                                        <p:strVal val="visible"/>
                                      </p:to>
                                    </p:set>
                                    <p:anim calcmode="lin" valueType="num">
                                      <p:cBhvr additive="base">
                                        <p:cTn dur="500"/>
                                        <p:tgtEl>
                                          <p:spTgt spid="16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4" st="4"/>
                                            </p:txEl>
                                          </p:spTgt>
                                        </p:tgtEl>
                                        <p:attrNameLst>
                                          <p:attrName>style.visibility</p:attrName>
                                        </p:attrNameLst>
                                      </p:cBhvr>
                                      <p:to>
                                        <p:strVal val="visible"/>
                                      </p:to>
                                    </p:set>
                                    <p:anim calcmode="lin" valueType="num">
                                      <p:cBhvr additive="base">
                                        <p:cTn dur="500"/>
                                        <p:tgtEl>
                                          <p:spTgt spid="16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5" st="5"/>
                                            </p:txEl>
                                          </p:spTgt>
                                        </p:tgtEl>
                                        <p:attrNameLst>
                                          <p:attrName>style.visibility</p:attrName>
                                        </p:attrNameLst>
                                      </p:cBhvr>
                                      <p:to>
                                        <p:strVal val="visible"/>
                                      </p:to>
                                    </p:set>
                                    <p:anim calcmode="lin" valueType="num">
                                      <p:cBhvr additive="base">
                                        <p:cTn dur="500"/>
                                        <p:tgtEl>
                                          <p:spTgt spid="16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6" st="6"/>
                                            </p:txEl>
                                          </p:spTgt>
                                        </p:tgtEl>
                                        <p:attrNameLst>
                                          <p:attrName>style.visibility</p:attrName>
                                        </p:attrNameLst>
                                      </p:cBhvr>
                                      <p:to>
                                        <p:strVal val="visible"/>
                                      </p:to>
                                    </p:set>
                                    <p:anim calcmode="lin" valueType="num">
                                      <p:cBhvr additive="base">
                                        <p:cTn dur="500"/>
                                        <p:tgtEl>
                                          <p:spTgt spid="16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1">
                                            <p:txEl>
                                              <p:pRg end="7" st="7"/>
                                            </p:txEl>
                                          </p:spTgt>
                                        </p:tgtEl>
                                        <p:attrNameLst>
                                          <p:attrName>style.visibility</p:attrName>
                                        </p:attrNameLst>
                                      </p:cBhvr>
                                      <p:to>
                                        <p:strVal val="visible"/>
                                      </p:to>
                                    </p:set>
                                    <p:anim calcmode="lin" valueType="num">
                                      <p:cBhvr additive="base">
                                        <p:cTn dur="500"/>
                                        <p:tgtEl>
                                          <p:spTgt spid="16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anim calcmode="lin" valueType="num">
                                      <p:cBhvr additive="base">
                                        <p:cTn dur="500"/>
                                        <p:tgtEl>
                                          <p:spTgt spid="16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 name="Shape 167"/>
        <p:cNvGrpSpPr/>
        <p:nvPr/>
      </p:nvGrpSpPr>
      <p:grpSpPr>
        <a:xfrm>
          <a:off x="0" y="0"/>
          <a:ext cx="0" cy="0"/>
          <a:chOff x="0" y="0"/>
          <a:chExt cx="0" cy="0"/>
        </a:xfrm>
      </p:grpSpPr>
      <p:sp>
        <p:nvSpPr>
          <p:cNvPr id="168" name="Google Shape;168;p3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pic>
        <p:nvPicPr>
          <p:cNvPr id="169" name="Google Shape;169;p30"/>
          <p:cNvPicPr preferRelativeResize="0"/>
          <p:nvPr/>
        </p:nvPicPr>
        <p:blipFill rotWithShape="1">
          <a:blip r:embed="rId3">
            <a:alphaModFix/>
          </a:blip>
          <a:srcRect b="0" l="0" r="0" t="0"/>
          <a:stretch/>
        </p:blipFill>
        <p:spPr>
          <a:xfrm>
            <a:off x="847831" y="1163550"/>
            <a:ext cx="3494263" cy="275792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1b3f087a09_1_59"/>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IN" sz="1600">
                <a:solidFill>
                  <a:srgbClr val="3A3A3A"/>
                </a:solidFill>
              </a:rPr>
              <a:t>The difference between simple interest and compound on Rs. 1200 for one year at 10% per annum reckoned half-yearly is:</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t/>
            </a:r>
            <a:endParaRPr sz="1600">
              <a:solidFill>
                <a:schemeClr val="dk1"/>
              </a:solidFill>
            </a:endParaRPr>
          </a:p>
          <a:p>
            <a:pPr indent="-330200" lvl="0" marL="457200" rtl="0" algn="l">
              <a:lnSpc>
                <a:spcPct val="150000"/>
              </a:lnSpc>
              <a:spcBef>
                <a:spcPts val="0"/>
              </a:spcBef>
              <a:spcAft>
                <a:spcPts val="0"/>
              </a:spcAft>
              <a:buClr>
                <a:schemeClr val="dk1"/>
              </a:buClr>
              <a:buSzPts val="1600"/>
              <a:buFont typeface="Roboto"/>
              <a:buAutoNum type="alphaUcPeriod"/>
            </a:pPr>
            <a:r>
              <a:rPr lang="en-IN" sz="1600">
                <a:solidFill>
                  <a:schemeClr val="dk1"/>
                </a:solidFill>
              </a:rPr>
              <a:t>Rs.2.50</a:t>
            </a:r>
            <a:endParaRPr sz="1600">
              <a:solidFill>
                <a:schemeClr val="dk1"/>
              </a:solidFill>
            </a:endParaRPr>
          </a:p>
          <a:p>
            <a:pPr indent="-330200" lvl="0" marL="457200" rtl="0" algn="l">
              <a:lnSpc>
                <a:spcPct val="150000"/>
              </a:lnSpc>
              <a:spcBef>
                <a:spcPts val="0"/>
              </a:spcBef>
              <a:spcAft>
                <a:spcPts val="0"/>
              </a:spcAft>
              <a:buClr>
                <a:schemeClr val="dk1"/>
              </a:buClr>
              <a:buSzPts val="1600"/>
              <a:buFont typeface="Roboto"/>
              <a:buAutoNum type="alphaUcPeriod"/>
            </a:pPr>
            <a:r>
              <a:rPr lang="en-IN" sz="1600">
                <a:solidFill>
                  <a:schemeClr val="dk1"/>
                </a:solidFill>
              </a:rPr>
              <a:t>Rs.3</a:t>
            </a:r>
            <a:endParaRPr sz="1600">
              <a:solidFill>
                <a:schemeClr val="dk1"/>
              </a:solidFill>
            </a:endParaRPr>
          </a:p>
          <a:p>
            <a:pPr indent="-330200" lvl="0" marL="457200" rtl="0" algn="l">
              <a:lnSpc>
                <a:spcPct val="150000"/>
              </a:lnSpc>
              <a:spcBef>
                <a:spcPts val="0"/>
              </a:spcBef>
              <a:spcAft>
                <a:spcPts val="0"/>
              </a:spcAft>
              <a:buClr>
                <a:schemeClr val="dk1"/>
              </a:buClr>
              <a:buSzPts val="1600"/>
              <a:buFont typeface="Roboto"/>
              <a:buAutoNum type="alphaUcPeriod"/>
            </a:pPr>
            <a:r>
              <a:rPr lang="en-IN" sz="1600">
                <a:solidFill>
                  <a:schemeClr val="dk1"/>
                </a:solidFill>
              </a:rPr>
              <a:t>Rs.3.75</a:t>
            </a:r>
            <a:endParaRPr sz="1600">
              <a:solidFill>
                <a:schemeClr val="dk1"/>
              </a:solidFill>
            </a:endParaRPr>
          </a:p>
          <a:p>
            <a:pPr indent="-330200" lvl="0" marL="457200" rtl="0" algn="l">
              <a:lnSpc>
                <a:spcPct val="150000"/>
              </a:lnSpc>
              <a:spcBef>
                <a:spcPts val="0"/>
              </a:spcBef>
              <a:spcAft>
                <a:spcPts val="0"/>
              </a:spcAft>
              <a:buClr>
                <a:schemeClr val="dk1"/>
              </a:buClr>
              <a:buSzPts val="1600"/>
              <a:buFont typeface="Roboto"/>
              <a:buAutoNum type="alphaUcPeriod"/>
            </a:pPr>
            <a:r>
              <a:rPr lang="en-IN" sz="1600">
                <a:solidFill>
                  <a:schemeClr val="dk1"/>
                </a:solidFill>
              </a:rPr>
              <a:t>Rs.4</a:t>
            </a:r>
            <a:endParaRPr sz="1600">
              <a:solidFill>
                <a:schemeClr val="dk1"/>
              </a:solidFill>
            </a:endParaRPr>
          </a:p>
          <a:p>
            <a:pPr indent="0" lvl="0" marL="457200" rtl="0" algn="l">
              <a:lnSpc>
                <a:spcPct val="150000"/>
              </a:lnSpc>
              <a:spcBef>
                <a:spcPts val="0"/>
              </a:spcBef>
              <a:spcAft>
                <a:spcPts val="0"/>
              </a:spcAft>
              <a:buSzPts val="1800"/>
              <a:buNone/>
            </a:pPr>
            <a:r>
              <a:t/>
            </a:r>
            <a:endParaRPr sz="1600">
              <a:solidFill>
                <a:schemeClr val="dk1"/>
              </a:solidFill>
            </a:endParaRPr>
          </a:p>
        </p:txBody>
      </p:sp>
      <p:sp>
        <p:nvSpPr>
          <p:cNvPr id="175" name="Google Shape;175;g31b3f087a09_1_59"/>
          <p:cNvSpPr txBox="1"/>
          <p:nvPr/>
        </p:nvSpPr>
        <p:spPr>
          <a:xfrm>
            <a:off x="6828313" y="4120738"/>
            <a:ext cx="154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t>
            </a:r>
            <a:r>
              <a:rPr b="1" lang="en-IN" sz="1800">
                <a:latin typeface="Roboto"/>
                <a:ea typeface="Roboto"/>
                <a:cs typeface="Roboto"/>
                <a:sym typeface="Roboto"/>
              </a:rPr>
              <a:t>b</a:t>
            </a:r>
            <a:endParaRPr b="1" i="0" sz="1800" u="none" cap="none" strike="noStrike">
              <a:solidFill>
                <a:srgbClr val="000000"/>
              </a:solidFill>
              <a:latin typeface="Roboto"/>
              <a:ea typeface="Roboto"/>
              <a:cs typeface="Roboto"/>
              <a:sym typeface="Roboto"/>
            </a:endParaRPr>
          </a:p>
        </p:txBody>
      </p:sp>
      <p:sp>
        <p:nvSpPr>
          <p:cNvPr id="176" name="Google Shape;176;g31b3f087a09_1_5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
                                            <p:txEl>
                                              <p:pRg end="0" st="0"/>
                                            </p:txEl>
                                          </p:spTgt>
                                        </p:tgtEl>
                                        <p:attrNameLst>
                                          <p:attrName>style.visibility</p:attrName>
                                        </p:attrNameLst>
                                      </p:cBhvr>
                                      <p:to>
                                        <p:strVal val="visible"/>
                                      </p:to>
                                    </p:set>
                                    <p:anim calcmode="lin" valueType="num">
                                      <p:cBhvr additive="base">
                                        <p:cTn dur="500"/>
                                        <p:tgtEl>
                                          <p:spTgt spid="17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
                                            <p:txEl>
                                              <p:pRg end="1" st="1"/>
                                            </p:txEl>
                                          </p:spTgt>
                                        </p:tgtEl>
                                        <p:attrNameLst>
                                          <p:attrName>style.visibility</p:attrName>
                                        </p:attrNameLst>
                                      </p:cBhvr>
                                      <p:to>
                                        <p:strVal val="visible"/>
                                      </p:to>
                                    </p:set>
                                    <p:anim calcmode="lin" valueType="num">
                                      <p:cBhvr additive="base">
                                        <p:cTn dur="500"/>
                                        <p:tgtEl>
                                          <p:spTgt spid="17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
                                            <p:txEl>
                                              <p:pRg end="2" st="2"/>
                                            </p:txEl>
                                          </p:spTgt>
                                        </p:tgtEl>
                                        <p:attrNameLst>
                                          <p:attrName>style.visibility</p:attrName>
                                        </p:attrNameLst>
                                      </p:cBhvr>
                                      <p:to>
                                        <p:strVal val="visible"/>
                                      </p:to>
                                    </p:set>
                                    <p:anim calcmode="lin" valueType="num">
                                      <p:cBhvr additive="base">
                                        <p:cTn dur="500"/>
                                        <p:tgtEl>
                                          <p:spTgt spid="17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
                                            <p:txEl>
                                              <p:pRg end="3" st="3"/>
                                            </p:txEl>
                                          </p:spTgt>
                                        </p:tgtEl>
                                        <p:attrNameLst>
                                          <p:attrName>style.visibility</p:attrName>
                                        </p:attrNameLst>
                                      </p:cBhvr>
                                      <p:to>
                                        <p:strVal val="visible"/>
                                      </p:to>
                                    </p:set>
                                    <p:anim calcmode="lin" valueType="num">
                                      <p:cBhvr additive="base">
                                        <p:cTn dur="500"/>
                                        <p:tgtEl>
                                          <p:spTgt spid="17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
                                            <p:txEl>
                                              <p:pRg end="4" st="4"/>
                                            </p:txEl>
                                          </p:spTgt>
                                        </p:tgtEl>
                                        <p:attrNameLst>
                                          <p:attrName>style.visibility</p:attrName>
                                        </p:attrNameLst>
                                      </p:cBhvr>
                                      <p:to>
                                        <p:strVal val="visible"/>
                                      </p:to>
                                    </p:set>
                                    <p:anim calcmode="lin" valueType="num">
                                      <p:cBhvr additive="base">
                                        <p:cTn dur="500"/>
                                        <p:tgtEl>
                                          <p:spTgt spid="17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
                                            <p:txEl>
                                              <p:pRg end="5" st="5"/>
                                            </p:txEl>
                                          </p:spTgt>
                                        </p:tgtEl>
                                        <p:attrNameLst>
                                          <p:attrName>style.visibility</p:attrName>
                                        </p:attrNameLst>
                                      </p:cBhvr>
                                      <p:to>
                                        <p:strVal val="visible"/>
                                      </p:to>
                                    </p:set>
                                    <p:anim calcmode="lin" valueType="num">
                                      <p:cBhvr additive="base">
                                        <p:cTn dur="500"/>
                                        <p:tgtEl>
                                          <p:spTgt spid="17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
                                            <p:txEl>
                                              <p:pRg end="6" st="6"/>
                                            </p:txEl>
                                          </p:spTgt>
                                        </p:tgtEl>
                                        <p:attrNameLst>
                                          <p:attrName>style.visibility</p:attrName>
                                        </p:attrNameLst>
                                      </p:cBhvr>
                                      <p:to>
                                        <p:strVal val="visible"/>
                                      </p:to>
                                    </p:set>
                                    <p:anim calcmode="lin" valueType="num">
                                      <p:cBhvr additive="base">
                                        <p:cTn dur="500"/>
                                        <p:tgtEl>
                                          <p:spTgt spid="17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5">
                                            <p:txEl>
                                              <p:pRg end="0" st="0"/>
                                            </p:txEl>
                                          </p:spTgt>
                                        </p:tgtEl>
                                        <p:attrNameLst>
                                          <p:attrName>style.visibility</p:attrName>
                                        </p:attrNameLst>
                                      </p:cBhvr>
                                      <p:to>
                                        <p:strVal val="visible"/>
                                      </p:to>
                                    </p:set>
                                    <p:anim calcmode="lin" valueType="num">
                                      <p:cBhvr additive="base">
                                        <p:cTn dur="500"/>
                                        <p:tgtEl>
                                          <p:spTgt spid="17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0" name="Shape 180"/>
        <p:cNvGrpSpPr/>
        <p:nvPr/>
      </p:nvGrpSpPr>
      <p:grpSpPr>
        <a:xfrm>
          <a:off x="0" y="0"/>
          <a:ext cx="0" cy="0"/>
          <a:chOff x="0" y="0"/>
          <a:chExt cx="0" cy="0"/>
        </a:xfrm>
      </p:grpSpPr>
      <p:sp>
        <p:nvSpPr>
          <p:cNvPr id="181" name="Google Shape;181;p3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pic>
        <p:nvPicPr>
          <p:cNvPr id="182" name="Google Shape;182;p32"/>
          <p:cNvPicPr preferRelativeResize="0"/>
          <p:nvPr/>
        </p:nvPicPr>
        <p:blipFill rotWithShape="1">
          <a:blip r:embed="rId3">
            <a:alphaModFix/>
          </a:blip>
          <a:srcRect b="0" l="0" r="0" t="0"/>
          <a:stretch/>
        </p:blipFill>
        <p:spPr>
          <a:xfrm>
            <a:off x="342900" y="1275154"/>
            <a:ext cx="4739813" cy="227271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1b3f087a09_1_65"/>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IN" sz="1600">
                <a:solidFill>
                  <a:srgbClr val="3A3A3A"/>
                </a:solidFill>
              </a:rPr>
              <a:t>The difference between compound interest and simple interest on an amount of Rs. 15,000 for 2 years is Rs. 96. What is the rate of interest per annum?</a:t>
            </a:r>
            <a:endParaRPr sz="1600">
              <a:solidFill>
                <a:schemeClr val="dk1"/>
              </a:solidFill>
            </a:endParaRPr>
          </a:p>
          <a:p>
            <a:pPr indent="0" lvl="0" marL="0" rtl="0" algn="just">
              <a:lnSpc>
                <a:spcPct val="150000"/>
              </a:lnSpc>
              <a:spcBef>
                <a:spcPts val="0"/>
              </a:spcBef>
              <a:spcAft>
                <a:spcPts val="0"/>
              </a:spcAft>
              <a:buClr>
                <a:schemeClr val="dk1"/>
              </a:buClr>
              <a:buSzPts val="1800"/>
              <a:buFont typeface="Arial"/>
              <a:buNone/>
            </a:pPr>
            <a:r>
              <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8</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10</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12</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Cannot be determined </a:t>
            </a:r>
            <a:endParaRPr sz="1600">
              <a:solidFill>
                <a:schemeClr val="dk1"/>
              </a:solidFill>
            </a:endParaRPr>
          </a:p>
          <a:p>
            <a:pPr indent="0" lvl="0" marL="457200" rtl="0" algn="just">
              <a:lnSpc>
                <a:spcPct val="150000"/>
              </a:lnSpc>
              <a:spcBef>
                <a:spcPts val="0"/>
              </a:spcBef>
              <a:spcAft>
                <a:spcPts val="0"/>
              </a:spcAft>
              <a:buSzPts val="1800"/>
              <a:buNone/>
            </a:pPr>
            <a:r>
              <a:t/>
            </a:r>
            <a:endParaRPr sz="1600">
              <a:solidFill>
                <a:schemeClr val="dk1"/>
              </a:solidFill>
            </a:endParaRPr>
          </a:p>
        </p:txBody>
      </p:sp>
      <p:sp>
        <p:nvSpPr>
          <p:cNvPr id="188" name="Google Shape;188;g31b3f087a09_1_65"/>
          <p:cNvSpPr txBox="1"/>
          <p:nvPr/>
        </p:nvSpPr>
        <p:spPr>
          <a:xfrm>
            <a:off x="6828313" y="4120738"/>
            <a:ext cx="154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t>
            </a:r>
            <a:r>
              <a:rPr b="1" lang="en-IN" sz="1800">
                <a:latin typeface="Roboto"/>
                <a:ea typeface="Roboto"/>
                <a:cs typeface="Roboto"/>
                <a:sym typeface="Roboto"/>
              </a:rPr>
              <a:t>A</a:t>
            </a:r>
            <a:endParaRPr b="1" i="0" sz="1800" u="none" cap="none" strike="noStrike">
              <a:solidFill>
                <a:srgbClr val="000000"/>
              </a:solidFill>
              <a:latin typeface="Roboto"/>
              <a:ea typeface="Roboto"/>
              <a:cs typeface="Roboto"/>
              <a:sym typeface="Roboto"/>
            </a:endParaRPr>
          </a:p>
        </p:txBody>
      </p:sp>
      <p:sp>
        <p:nvSpPr>
          <p:cNvPr id="189" name="Google Shape;189;g31b3f087a09_1_6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0" st="0"/>
                                            </p:txEl>
                                          </p:spTgt>
                                        </p:tgtEl>
                                        <p:attrNameLst>
                                          <p:attrName>style.visibility</p:attrName>
                                        </p:attrNameLst>
                                      </p:cBhvr>
                                      <p:to>
                                        <p:strVal val="visible"/>
                                      </p:to>
                                    </p:set>
                                    <p:anim calcmode="lin" valueType="num">
                                      <p:cBhvr additive="base">
                                        <p:cTn dur="500"/>
                                        <p:tgtEl>
                                          <p:spTgt spid="18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1" st="1"/>
                                            </p:txEl>
                                          </p:spTgt>
                                        </p:tgtEl>
                                        <p:attrNameLst>
                                          <p:attrName>style.visibility</p:attrName>
                                        </p:attrNameLst>
                                      </p:cBhvr>
                                      <p:to>
                                        <p:strVal val="visible"/>
                                      </p:to>
                                    </p:set>
                                    <p:anim calcmode="lin" valueType="num">
                                      <p:cBhvr additive="base">
                                        <p:cTn dur="500"/>
                                        <p:tgtEl>
                                          <p:spTgt spid="18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2" st="2"/>
                                            </p:txEl>
                                          </p:spTgt>
                                        </p:tgtEl>
                                        <p:attrNameLst>
                                          <p:attrName>style.visibility</p:attrName>
                                        </p:attrNameLst>
                                      </p:cBhvr>
                                      <p:to>
                                        <p:strVal val="visible"/>
                                      </p:to>
                                    </p:set>
                                    <p:anim calcmode="lin" valueType="num">
                                      <p:cBhvr additive="base">
                                        <p:cTn dur="500"/>
                                        <p:tgtEl>
                                          <p:spTgt spid="18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3" st="3"/>
                                            </p:txEl>
                                          </p:spTgt>
                                        </p:tgtEl>
                                        <p:attrNameLst>
                                          <p:attrName>style.visibility</p:attrName>
                                        </p:attrNameLst>
                                      </p:cBhvr>
                                      <p:to>
                                        <p:strVal val="visible"/>
                                      </p:to>
                                    </p:set>
                                    <p:anim calcmode="lin" valueType="num">
                                      <p:cBhvr additive="base">
                                        <p:cTn dur="500"/>
                                        <p:tgtEl>
                                          <p:spTgt spid="18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4" st="4"/>
                                            </p:txEl>
                                          </p:spTgt>
                                        </p:tgtEl>
                                        <p:attrNameLst>
                                          <p:attrName>style.visibility</p:attrName>
                                        </p:attrNameLst>
                                      </p:cBhvr>
                                      <p:to>
                                        <p:strVal val="visible"/>
                                      </p:to>
                                    </p:set>
                                    <p:anim calcmode="lin" valueType="num">
                                      <p:cBhvr additive="base">
                                        <p:cTn dur="500"/>
                                        <p:tgtEl>
                                          <p:spTgt spid="18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5" st="5"/>
                                            </p:txEl>
                                          </p:spTgt>
                                        </p:tgtEl>
                                        <p:attrNameLst>
                                          <p:attrName>style.visibility</p:attrName>
                                        </p:attrNameLst>
                                      </p:cBhvr>
                                      <p:to>
                                        <p:strVal val="visible"/>
                                      </p:to>
                                    </p:set>
                                    <p:anim calcmode="lin" valueType="num">
                                      <p:cBhvr additive="base">
                                        <p:cTn dur="500"/>
                                        <p:tgtEl>
                                          <p:spTgt spid="18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7">
                                            <p:txEl>
                                              <p:pRg end="6" st="6"/>
                                            </p:txEl>
                                          </p:spTgt>
                                        </p:tgtEl>
                                        <p:attrNameLst>
                                          <p:attrName>style.visibility</p:attrName>
                                        </p:attrNameLst>
                                      </p:cBhvr>
                                      <p:to>
                                        <p:strVal val="visible"/>
                                      </p:to>
                                    </p:set>
                                    <p:anim calcmode="lin" valueType="num">
                                      <p:cBhvr additive="base">
                                        <p:cTn dur="500"/>
                                        <p:tgtEl>
                                          <p:spTgt spid="18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8">
                                            <p:txEl>
                                              <p:pRg end="0" st="0"/>
                                            </p:txEl>
                                          </p:spTgt>
                                        </p:tgtEl>
                                        <p:attrNameLst>
                                          <p:attrName>style.visibility</p:attrName>
                                        </p:attrNameLst>
                                      </p:cBhvr>
                                      <p:to>
                                        <p:strVal val="visible"/>
                                      </p:to>
                                    </p:set>
                                    <p:anim calcmode="lin" valueType="num">
                                      <p:cBhvr additive="base">
                                        <p:cTn dur="500"/>
                                        <p:tgtEl>
                                          <p:spTgt spid="18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3" name="Shape 193"/>
        <p:cNvGrpSpPr/>
        <p:nvPr/>
      </p:nvGrpSpPr>
      <p:grpSpPr>
        <a:xfrm>
          <a:off x="0" y="0"/>
          <a:ext cx="0" cy="0"/>
          <a:chOff x="0" y="0"/>
          <a:chExt cx="0" cy="0"/>
        </a:xfrm>
      </p:grpSpPr>
      <p:sp>
        <p:nvSpPr>
          <p:cNvPr id="194" name="Google Shape;194;p3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pic>
        <p:nvPicPr>
          <p:cNvPr id="195" name="Google Shape;195;p37"/>
          <p:cNvPicPr preferRelativeResize="0"/>
          <p:nvPr/>
        </p:nvPicPr>
        <p:blipFill rotWithShape="1">
          <a:blip r:embed="rId3">
            <a:alphaModFix/>
          </a:blip>
          <a:srcRect b="0" l="0" r="0" t="0"/>
          <a:stretch/>
        </p:blipFill>
        <p:spPr>
          <a:xfrm>
            <a:off x="667213" y="1312151"/>
            <a:ext cx="3695781" cy="29391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8"/>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IN" sz="1600">
                <a:solidFill>
                  <a:srgbClr val="3A3A3A"/>
                </a:solidFill>
              </a:rPr>
              <a:t>The compound interest on a certain sum for 2 years at 10% per annum is Rs. 525. The simple interest on the same sum for double the time at half the rate percent per annum is:</a:t>
            </a:r>
            <a:endParaRPr sz="1600">
              <a:solidFill>
                <a:srgbClr val="3A3A3A"/>
              </a:solidFill>
            </a:endParaRPr>
          </a:p>
          <a:p>
            <a:pPr indent="0" lvl="0" marL="0" rtl="0" algn="just">
              <a:lnSpc>
                <a:spcPct val="150000"/>
              </a:lnSpc>
              <a:spcBef>
                <a:spcPts val="0"/>
              </a:spcBef>
              <a:spcAft>
                <a:spcPts val="0"/>
              </a:spcAft>
              <a:buNone/>
            </a:pPr>
            <a:r>
              <a:t/>
            </a:r>
            <a:endParaRPr sz="1600">
              <a:solidFill>
                <a:srgbClr val="3A3A3A"/>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Rs.400</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Rs.500</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Rs.600</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Rs.800</a:t>
            </a:r>
            <a:endParaRPr sz="1600">
              <a:solidFill>
                <a:schemeClr val="dk1"/>
              </a:solidFill>
            </a:endParaRPr>
          </a:p>
          <a:p>
            <a:pPr indent="0" lvl="0" marL="457200" rtl="0" algn="just">
              <a:lnSpc>
                <a:spcPct val="150000"/>
              </a:lnSpc>
              <a:spcBef>
                <a:spcPts val="0"/>
              </a:spcBef>
              <a:spcAft>
                <a:spcPts val="0"/>
              </a:spcAft>
              <a:buSzPts val="1800"/>
              <a:buNone/>
            </a:pPr>
            <a:r>
              <a:t/>
            </a:r>
            <a:endParaRPr sz="1600">
              <a:solidFill>
                <a:schemeClr val="dk1"/>
              </a:solidFill>
            </a:endParaRPr>
          </a:p>
        </p:txBody>
      </p:sp>
      <p:sp>
        <p:nvSpPr>
          <p:cNvPr id="201" name="Google Shape;201;p38"/>
          <p:cNvSpPr txBox="1"/>
          <p:nvPr/>
        </p:nvSpPr>
        <p:spPr>
          <a:xfrm>
            <a:off x="6828313" y="4120738"/>
            <a:ext cx="15437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B  </a:t>
            </a:r>
            <a:endParaRPr b="1" i="0" sz="1800" u="none" cap="none" strike="noStrike">
              <a:solidFill>
                <a:srgbClr val="000000"/>
              </a:solidFill>
              <a:latin typeface="Roboto"/>
              <a:ea typeface="Roboto"/>
              <a:cs typeface="Roboto"/>
              <a:sym typeface="Roboto"/>
            </a:endParaRPr>
          </a:p>
        </p:txBody>
      </p:sp>
      <p:sp>
        <p:nvSpPr>
          <p:cNvPr id="202" name="Google Shape;202;p38"/>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0" st="0"/>
                                            </p:txEl>
                                          </p:spTgt>
                                        </p:tgtEl>
                                        <p:attrNameLst>
                                          <p:attrName>style.visibility</p:attrName>
                                        </p:attrNameLst>
                                      </p:cBhvr>
                                      <p:to>
                                        <p:strVal val="visible"/>
                                      </p:to>
                                    </p:set>
                                    <p:anim calcmode="lin" valueType="num">
                                      <p:cBhvr additive="base">
                                        <p:cTn dur="500"/>
                                        <p:tgtEl>
                                          <p:spTgt spid="2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1" st="1"/>
                                            </p:txEl>
                                          </p:spTgt>
                                        </p:tgtEl>
                                        <p:attrNameLst>
                                          <p:attrName>style.visibility</p:attrName>
                                        </p:attrNameLst>
                                      </p:cBhvr>
                                      <p:to>
                                        <p:strVal val="visible"/>
                                      </p:to>
                                    </p:set>
                                    <p:anim calcmode="lin" valueType="num">
                                      <p:cBhvr additive="base">
                                        <p:cTn dur="500"/>
                                        <p:tgtEl>
                                          <p:spTgt spid="20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2" st="2"/>
                                            </p:txEl>
                                          </p:spTgt>
                                        </p:tgtEl>
                                        <p:attrNameLst>
                                          <p:attrName>style.visibility</p:attrName>
                                        </p:attrNameLst>
                                      </p:cBhvr>
                                      <p:to>
                                        <p:strVal val="visible"/>
                                      </p:to>
                                    </p:set>
                                    <p:anim calcmode="lin" valueType="num">
                                      <p:cBhvr additive="base">
                                        <p:cTn dur="500"/>
                                        <p:tgtEl>
                                          <p:spTgt spid="20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3" st="3"/>
                                            </p:txEl>
                                          </p:spTgt>
                                        </p:tgtEl>
                                        <p:attrNameLst>
                                          <p:attrName>style.visibility</p:attrName>
                                        </p:attrNameLst>
                                      </p:cBhvr>
                                      <p:to>
                                        <p:strVal val="visible"/>
                                      </p:to>
                                    </p:set>
                                    <p:anim calcmode="lin" valueType="num">
                                      <p:cBhvr additive="base">
                                        <p:cTn dur="500"/>
                                        <p:tgtEl>
                                          <p:spTgt spid="20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4" st="4"/>
                                            </p:txEl>
                                          </p:spTgt>
                                        </p:tgtEl>
                                        <p:attrNameLst>
                                          <p:attrName>style.visibility</p:attrName>
                                        </p:attrNameLst>
                                      </p:cBhvr>
                                      <p:to>
                                        <p:strVal val="visible"/>
                                      </p:to>
                                    </p:set>
                                    <p:anim calcmode="lin" valueType="num">
                                      <p:cBhvr additive="base">
                                        <p:cTn dur="500"/>
                                        <p:tgtEl>
                                          <p:spTgt spid="20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5" st="5"/>
                                            </p:txEl>
                                          </p:spTgt>
                                        </p:tgtEl>
                                        <p:attrNameLst>
                                          <p:attrName>style.visibility</p:attrName>
                                        </p:attrNameLst>
                                      </p:cBhvr>
                                      <p:to>
                                        <p:strVal val="visible"/>
                                      </p:to>
                                    </p:set>
                                    <p:anim calcmode="lin" valueType="num">
                                      <p:cBhvr additive="base">
                                        <p:cTn dur="500"/>
                                        <p:tgtEl>
                                          <p:spTgt spid="20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
                                            <p:txEl>
                                              <p:pRg end="6" st="6"/>
                                            </p:txEl>
                                          </p:spTgt>
                                        </p:tgtEl>
                                        <p:attrNameLst>
                                          <p:attrName>style.visibility</p:attrName>
                                        </p:attrNameLst>
                                      </p:cBhvr>
                                      <p:to>
                                        <p:strVal val="visible"/>
                                      </p:to>
                                    </p:set>
                                    <p:anim calcmode="lin" valueType="num">
                                      <p:cBhvr additive="base">
                                        <p:cTn dur="500"/>
                                        <p:tgtEl>
                                          <p:spTgt spid="20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1">
                                            <p:txEl>
                                              <p:pRg end="0" st="0"/>
                                            </p:txEl>
                                          </p:spTgt>
                                        </p:tgtEl>
                                        <p:attrNameLst>
                                          <p:attrName>style.visibility</p:attrName>
                                        </p:attrNameLst>
                                      </p:cBhvr>
                                      <p:to>
                                        <p:strVal val="visible"/>
                                      </p:to>
                                    </p:set>
                                    <p:anim calcmode="lin" valueType="num">
                                      <p:cBhvr additive="base">
                                        <p:cTn dur="500"/>
                                        <p:tgtEl>
                                          <p:spTgt spid="20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6" name="Shape 206"/>
        <p:cNvGrpSpPr/>
        <p:nvPr/>
      </p:nvGrpSpPr>
      <p:grpSpPr>
        <a:xfrm>
          <a:off x="0" y="0"/>
          <a:ext cx="0" cy="0"/>
          <a:chOff x="0" y="0"/>
          <a:chExt cx="0" cy="0"/>
        </a:xfrm>
      </p:grpSpPr>
      <p:sp>
        <p:nvSpPr>
          <p:cNvPr id="207" name="Google Shape;207;p3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pic>
        <p:nvPicPr>
          <p:cNvPr id="208" name="Google Shape;208;p39"/>
          <p:cNvPicPr preferRelativeResize="0"/>
          <p:nvPr/>
        </p:nvPicPr>
        <p:blipFill rotWithShape="1">
          <a:blip r:embed="rId3">
            <a:alphaModFix/>
          </a:blip>
          <a:srcRect b="0" l="0" r="0" t="0"/>
          <a:stretch/>
        </p:blipFill>
        <p:spPr>
          <a:xfrm>
            <a:off x="576675" y="1196527"/>
            <a:ext cx="2987723" cy="3101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0"/>
          <p:cNvSpPr txBox="1"/>
          <p:nvPr>
            <p:ph idx="1" type="body"/>
          </p:nvPr>
        </p:nvSpPr>
        <p:spPr>
          <a:xfrm>
            <a:off x="720000"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en-IN" sz="1600">
                <a:solidFill>
                  <a:srgbClr val="3A3A3A"/>
                </a:solidFill>
              </a:rPr>
              <a:t>The effective annual rate of interest corresponding to a nominal rate of 6% per annum payable half-yearly is:</a:t>
            </a:r>
            <a:endParaRPr sz="1600">
              <a:solidFill>
                <a:schemeClr val="dk1"/>
              </a:solidFill>
            </a:endParaRPr>
          </a:p>
          <a:p>
            <a:pPr indent="0" lvl="0" marL="0" rtl="0" algn="just">
              <a:lnSpc>
                <a:spcPct val="150000"/>
              </a:lnSpc>
              <a:spcBef>
                <a:spcPts val="0"/>
              </a:spcBef>
              <a:spcAft>
                <a:spcPts val="0"/>
              </a:spcAft>
              <a:buClr>
                <a:schemeClr val="dk1"/>
              </a:buClr>
              <a:buSzPts val="1800"/>
              <a:buNone/>
            </a:pPr>
            <a:r>
              <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6.06%</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6.07%</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6.08%</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6.09%</a:t>
            </a:r>
            <a:endParaRPr sz="1600">
              <a:solidFill>
                <a:schemeClr val="dk1"/>
              </a:solidFill>
            </a:endParaRPr>
          </a:p>
          <a:p>
            <a:pPr indent="0" lvl="0" marL="114300" rtl="0" algn="just">
              <a:lnSpc>
                <a:spcPct val="150000"/>
              </a:lnSpc>
              <a:spcBef>
                <a:spcPts val="0"/>
              </a:spcBef>
              <a:spcAft>
                <a:spcPts val="0"/>
              </a:spcAft>
              <a:buClr>
                <a:schemeClr val="dk1"/>
              </a:buClr>
              <a:buSzPts val="1800"/>
              <a:buNone/>
            </a:pPr>
            <a:r>
              <a:t/>
            </a:r>
            <a:endParaRPr sz="1600">
              <a:solidFill>
                <a:schemeClr val="dk1"/>
              </a:solidFill>
            </a:endParaRPr>
          </a:p>
        </p:txBody>
      </p:sp>
      <p:sp>
        <p:nvSpPr>
          <p:cNvPr id="214" name="Google Shape;214;p40"/>
          <p:cNvSpPr txBox="1"/>
          <p:nvPr/>
        </p:nvSpPr>
        <p:spPr>
          <a:xfrm>
            <a:off x="6828313" y="4120738"/>
            <a:ext cx="15437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a:t>
            </a:r>
            <a:r>
              <a:rPr b="1" lang="en-IN" sz="1800">
                <a:latin typeface="Roboto"/>
                <a:ea typeface="Roboto"/>
                <a:cs typeface="Roboto"/>
                <a:sym typeface="Roboto"/>
              </a:rPr>
              <a:t>D</a:t>
            </a:r>
            <a:r>
              <a:rPr b="1" i="0" lang="en-IN" sz="1800" u="none" cap="none" strike="noStrike">
                <a:solidFill>
                  <a:srgbClr val="000000"/>
                </a:solidFill>
                <a:latin typeface="Roboto"/>
                <a:ea typeface="Roboto"/>
                <a:cs typeface="Roboto"/>
                <a:sym typeface="Roboto"/>
              </a:rPr>
              <a:t>  </a:t>
            </a:r>
            <a:endParaRPr b="1" i="0" sz="1800" u="none" cap="none" strike="noStrike">
              <a:solidFill>
                <a:srgbClr val="000000"/>
              </a:solidFill>
              <a:latin typeface="Roboto"/>
              <a:ea typeface="Roboto"/>
              <a:cs typeface="Roboto"/>
              <a:sym typeface="Roboto"/>
            </a:endParaRPr>
          </a:p>
        </p:txBody>
      </p:sp>
      <p:sp>
        <p:nvSpPr>
          <p:cNvPr id="215" name="Google Shape;215;p4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anim calcmode="lin" valueType="num">
                                      <p:cBhvr additive="base">
                                        <p:cTn dur="500"/>
                                        <p:tgtEl>
                                          <p:spTgt spid="21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anim calcmode="lin" valueType="num">
                                      <p:cBhvr additive="base">
                                        <p:cTn dur="500"/>
                                        <p:tgtEl>
                                          <p:spTgt spid="21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anim calcmode="lin" valueType="num">
                                      <p:cBhvr additive="base">
                                        <p:cTn dur="500"/>
                                        <p:tgtEl>
                                          <p:spTgt spid="21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anim calcmode="lin" valueType="num">
                                      <p:cBhvr additive="base">
                                        <p:cTn dur="500"/>
                                        <p:tgtEl>
                                          <p:spTgt spid="21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4" st="4"/>
                                            </p:txEl>
                                          </p:spTgt>
                                        </p:tgtEl>
                                        <p:attrNameLst>
                                          <p:attrName>style.visibility</p:attrName>
                                        </p:attrNameLst>
                                      </p:cBhvr>
                                      <p:to>
                                        <p:strVal val="visible"/>
                                      </p:to>
                                    </p:set>
                                    <p:anim calcmode="lin" valueType="num">
                                      <p:cBhvr additive="base">
                                        <p:cTn dur="500"/>
                                        <p:tgtEl>
                                          <p:spTgt spid="21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5" st="5"/>
                                            </p:txEl>
                                          </p:spTgt>
                                        </p:tgtEl>
                                        <p:attrNameLst>
                                          <p:attrName>style.visibility</p:attrName>
                                        </p:attrNameLst>
                                      </p:cBhvr>
                                      <p:to>
                                        <p:strVal val="visible"/>
                                      </p:to>
                                    </p:set>
                                    <p:anim calcmode="lin" valueType="num">
                                      <p:cBhvr additive="base">
                                        <p:cTn dur="500"/>
                                        <p:tgtEl>
                                          <p:spTgt spid="21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3">
                                            <p:txEl>
                                              <p:pRg end="6" st="6"/>
                                            </p:txEl>
                                          </p:spTgt>
                                        </p:tgtEl>
                                        <p:attrNameLst>
                                          <p:attrName>style.visibility</p:attrName>
                                        </p:attrNameLst>
                                      </p:cBhvr>
                                      <p:to>
                                        <p:strVal val="visible"/>
                                      </p:to>
                                    </p:set>
                                    <p:anim calcmode="lin" valueType="num">
                                      <p:cBhvr additive="base">
                                        <p:cTn dur="500"/>
                                        <p:tgtEl>
                                          <p:spTgt spid="21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anim calcmode="lin" valueType="num">
                                      <p:cBhvr additive="base">
                                        <p:cTn dur="500"/>
                                        <p:tgtEl>
                                          <p:spTgt spid="21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9" name="Shape 219"/>
        <p:cNvGrpSpPr/>
        <p:nvPr/>
      </p:nvGrpSpPr>
      <p:grpSpPr>
        <a:xfrm>
          <a:off x="0" y="0"/>
          <a:ext cx="0" cy="0"/>
          <a:chOff x="0" y="0"/>
          <a:chExt cx="0" cy="0"/>
        </a:xfrm>
      </p:grpSpPr>
      <p:sp>
        <p:nvSpPr>
          <p:cNvPr id="220" name="Google Shape;220;p4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pic>
        <p:nvPicPr>
          <p:cNvPr id="221" name="Google Shape;221;p41"/>
          <p:cNvPicPr preferRelativeResize="0"/>
          <p:nvPr/>
        </p:nvPicPr>
        <p:blipFill rotWithShape="1">
          <a:blip r:embed="rId3">
            <a:alphaModFix/>
          </a:blip>
          <a:srcRect b="0" l="0" r="0" t="0"/>
          <a:stretch/>
        </p:blipFill>
        <p:spPr>
          <a:xfrm>
            <a:off x="435765" y="1427828"/>
            <a:ext cx="5962955" cy="126371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2"/>
          <p:cNvSpPr txBox="1"/>
          <p:nvPr>
            <p:ph idx="1" type="body"/>
          </p:nvPr>
        </p:nvSpPr>
        <p:spPr>
          <a:xfrm>
            <a:off x="719999"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Font typeface="Arial"/>
              <a:buNone/>
            </a:pPr>
            <a:r>
              <a:rPr lang="en-IN" sz="1600">
                <a:solidFill>
                  <a:schemeClr val="dk1"/>
                </a:solidFill>
              </a:rPr>
              <a:t>Albert invested an amount of Rs. 8000 in a fixed deposit scheme for 2 years at compound interest rate 5 p.c. How much amount will Albert get on maturity of the fixed deposit?</a:t>
            </a:r>
            <a:endParaRPr sz="1600">
              <a:solidFill>
                <a:schemeClr val="dk1"/>
              </a:solidFill>
            </a:endParaRPr>
          </a:p>
          <a:p>
            <a:pPr indent="0" lvl="0" marL="0" rtl="0" algn="just">
              <a:lnSpc>
                <a:spcPct val="100000"/>
              </a:lnSpc>
              <a:spcBef>
                <a:spcPts val="0"/>
              </a:spcBef>
              <a:spcAft>
                <a:spcPts val="0"/>
              </a:spcAft>
              <a:buClr>
                <a:schemeClr val="dk1"/>
              </a:buClr>
              <a:buFont typeface="Arial"/>
              <a:buNone/>
            </a:pPr>
            <a:r>
              <a:t/>
            </a:r>
            <a:endParaRPr sz="1600">
              <a:solidFill>
                <a:schemeClr val="dk1"/>
              </a:solidFill>
            </a:endParaRPr>
          </a:p>
          <a:p>
            <a:pPr indent="0" lvl="0" marL="0" rtl="0" algn="just">
              <a:lnSpc>
                <a:spcPct val="150000"/>
              </a:lnSpc>
              <a:spcBef>
                <a:spcPts val="0"/>
              </a:spcBef>
              <a:spcAft>
                <a:spcPts val="0"/>
              </a:spcAft>
              <a:buNone/>
            </a:pPr>
            <a:r>
              <a:rPr lang="en-IN" sz="1600">
                <a:solidFill>
                  <a:schemeClr val="dk1"/>
                </a:solidFill>
              </a:rPr>
              <a:t>A. Rs. 8600</a:t>
            </a:r>
            <a:endParaRPr sz="1600">
              <a:solidFill>
                <a:schemeClr val="dk1"/>
              </a:solidFill>
            </a:endParaRPr>
          </a:p>
          <a:p>
            <a:pPr indent="0" lvl="0" marL="0" rtl="0" algn="just">
              <a:lnSpc>
                <a:spcPct val="150000"/>
              </a:lnSpc>
              <a:spcBef>
                <a:spcPts val="0"/>
              </a:spcBef>
              <a:spcAft>
                <a:spcPts val="0"/>
              </a:spcAft>
              <a:buNone/>
            </a:pPr>
            <a:r>
              <a:rPr lang="en-IN" sz="1600">
                <a:solidFill>
                  <a:schemeClr val="dk1"/>
                </a:solidFill>
              </a:rPr>
              <a:t>B. Rs. 8620</a:t>
            </a:r>
            <a:endParaRPr sz="1600">
              <a:solidFill>
                <a:schemeClr val="dk1"/>
              </a:solidFill>
            </a:endParaRPr>
          </a:p>
          <a:p>
            <a:pPr indent="0" lvl="0" marL="0" rtl="0" algn="just">
              <a:lnSpc>
                <a:spcPct val="150000"/>
              </a:lnSpc>
              <a:spcBef>
                <a:spcPts val="0"/>
              </a:spcBef>
              <a:spcAft>
                <a:spcPts val="0"/>
              </a:spcAft>
              <a:buNone/>
            </a:pPr>
            <a:r>
              <a:rPr lang="en-IN" sz="1600">
                <a:solidFill>
                  <a:schemeClr val="dk1"/>
                </a:solidFill>
              </a:rPr>
              <a:t>C. Rs. 8820</a:t>
            </a:r>
            <a:endParaRPr sz="1600">
              <a:solidFill>
                <a:schemeClr val="dk1"/>
              </a:solidFill>
            </a:endParaRPr>
          </a:p>
          <a:p>
            <a:pPr indent="0" lvl="0" marL="0" rtl="0" algn="just">
              <a:lnSpc>
                <a:spcPct val="150000"/>
              </a:lnSpc>
              <a:spcBef>
                <a:spcPts val="0"/>
              </a:spcBef>
              <a:spcAft>
                <a:spcPts val="0"/>
              </a:spcAft>
              <a:buNone/>
            </a:pPr>
            <a:r>
              <a:rPr lang="en-IN" sz="1600">
                <a:solidFill>
                  <a:schemeClr val="dk1"/>
                </a:solidFill>
              </a:rPr>
              <a:t>D. None of these</a:t>
            </a:r>
            <a:endParaRPr sz="1600">
              <a:solidFill>
                <a:schemeClr val="dk1"/>
              </a:solidFill>
            </a:endParaRPr>
          </a:p>
          <a:p>
            <a:pPr indent="0" lvl="0" marL="457200" rtl="0" algn="just">
              <a:lnSpc>
                <a:spcPct val="150000"/>
              </a:lnSpc>
              <a:spcBef>
                <a:spcPts val="0"/>
              </a:spcBef>
              <a:spcAft>
                <a:spcPts val="0"/>
              </a:spcAft>
              <a:buSzPts val="1800"/>
              <a:buNone/>
            </a:pPr>
            <a:r>
              <a:t/>
            </a:r>
            <a:endParaRPr sz="1600">
              <a:solidFill>
                <a:schemeClr val="dk1"/>
              </a:solidFill>
            </a:endParaRPr>
          </a:p>
        </p:txBody>
      </p:sp>
      <p:sp>
        <p:nvSpPr>
          <p:cNvPr id="227" name="Google Shape;227;p42"/>
          <p:cNvSpPr txBox="1"/>
          <p:nvPr/>
        </p:nvSpPr>
        <p:spPr>
          <a:xfrm>
            <a:off x="6828313" y="4120738"/>
            <a:ext cx="154379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C</a:t>
            </a:r>
            <a:endParaRPr b="1" i="0" sz="1800" u="none" cap="none" strike="noStrike">
              <a:solidFill>
                <a:srgbClr val="000000"/>
              </a:solidFill>
              <a:latin typeface="Roboto"/>
              <a:ea typeface="Roboto"/>
              <a:cs typeface="Roboto"/>
              <a:sym typeface="Roboto"/>
            </a:endParaRPr>
          </a:p>
        </p:txBody>
      </p:sp>
      <p:sp>
        <p:nvSpPr>
          <p:cNvPr id="228" name="Google Shape;228;p4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0" st="0"/>
                                            </p:txEl>
                                          </p:spTgt>
                                        </p:tgtEl>
                                        <p:attrNameLst>
                                          <p:attrName>style.visibility</p:attrName>
                                        </p:attrNameLst>
                                      </p:cBhvr>
                                      <p:to>
                                        <p:strVal val="visible"/>
                                      </p:to>
                                    </p:set>
                                    <p:anim calcmode="lin" valueType="num">
                                      <p:cBhvr additive="base">
                                        <p:cTn dur="500"/>
                                        <p:tgtEl>
                                          <p:spTgt spid="22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1" st="1"/>
                                            </p:txEl>
                                          </p:spTgt>
                                        </p:tgtEl>
                                        <p:attrNameLst>
                                          <p:attrName>style.visibility</p:attrName>
                                        </p:attrNameLst>
                                      </p:cBhvr>
                                      <p:to>
                                        <p:strVal val="visible"/>
                                      </p:to>
                                    </p:set>
                                    <p:anim calcmode="lin" valueType="num">
                                      <p:cBhvr additive="base">
                                        <p:cTn dur="500"/>
                                        <p:tgtEl>
                                          <p:spTgt spid="22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2" st="2"/>
                                            </p:txEl>
                                          </p:spTgt>
                                        </p:tgtEl>
                                        <p:attrNameLst>
                                          <p:attrName>style.visibility</p:attrName>
                                        </p:attrNameLst>
                                      </p:cBhvr>
                                      <p:to>
                                        <p:strVal val="visible"/>
                                      </p:to>
                                    </p:set>
                                    <p:anim calcmode="lin" valueType="num">
                                      <p:cBhvr additive="base">
                                        <p:cTn dur="500"/>
                                        <p:tgtEl>
                                          <p:spTgt spid="22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3" st="3"/>
                                            </p:txEl>
                                          </p:spTgt>
                                        </p:tgtEl>
                                        <p:attrNameLst>
                                          <p:attrName>style.visibility</p:attrName>
                                        </p:attrNameLst>
                                      </p:cBhvr>
                                      <p:to>
                                        <p:strVal val="visible"/>
                                      </p:to>
                                    </p:set>
                                    <p:anim calcmode="lin" valueType="num">
                                      <p:cBhvr additive="base">
                                        <p:cTn dur="500"/>
                                        <p:tgtEl>
                                          <p:spTgt spid="22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4" st="4"/>
                                            </p:txEl>
                                          </p:spTgt>
                                        </p:tgtEl>
                                        <p:attrNameLst>
                                          <p:attrName>style.visibility</p:attrName>
                                        </p:attrNameLst>
                                      </p:cBhvr>
                                      <p:to>
                                        <p:strVal val="visible"/>
                                      </p:to>
                                    </p:set>
                                    <p:anim calcmode="lin" valueType="num">
                                      <p:cBhvr additive="base">
                                        <p:cTn dur="500"/>
                                        <p:tgtEl>
                                          <p:spTgt spid="22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5" st="5"/>
                                            </p:txEl>
                                          </p:spTgt>
                                        </p:tgtEl>
                                        <p:attrNameLst>
                                          <p:attrName>style.visibility</p:attrName>
                                        </p:attrNameLst>
                                      </p:cBhvr>
                                      <p:to>
                                        <p:strVal val="visible"/>
                                      </p:to>
                                    </p:set>
                                    <p:anim calcmode="lin" valueType="num">
                                      <p:cBhvr additive="base">
                                        <p:cTn dur="500"/>
                                        <p:tgtEl>
                                          <p:spTgt spid="22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6" st="6"/>
                                            </p:txEl>
                                          </p:spTgt>
                                        </p:tgtEl>
                                        <p:attrNameLst>
                                          <p:attrName>style.visibility</p:attrName>
                                        </p:attrNameLst>
                                      </p:cBhvr>
                                      <p:to>
                                        <p:strVal val="visible"/>
                                      </p:to>
                                    </p:set>
                                    <p:anim calcmode="lin" valueType="num">
                                      <p:cBhvr additive="base">
                                        <p:cTn dur="500"/>
                                        <p:tgtEl>
                                          <p:spTgt spid="22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anim calcmode="lin" valueType="num">
                                      <p:cBhvr additive="base">
                                        <p:cTn dur="500"/>
                                        <p:tgtEl>
                                          <p:spTgt spid="22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2" name="Shape 232"/>
        <p:cNvGrpSpPr/>
        <p:nvPr/>
      </p:nvGrpSpPr>
      <p:grpSpPr>
        <a:xfrm>
          <a:off x="0" y="0"/>
          <a:ext cx="0" cy="0"/>
          <a:chOff x="0" y="0"/>
          <a:chExt cx="0" cy="0"/>
        </a:xfrm>
      </p:grpSpPr>
      <p:sp>
        <p:nvSpPr>
          <p:cNvPr id="233" name="Google Shape;233;p43"/>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pic>
        <p:nvPicPr>
          <p:cNvPr id="234" name="Google Shape;234;p43"/>
          <p:cNvPicPr preferRelativeResize="0"/>
          <p:nvPr/>
        </p:nvPicPr>
        <p:blipFill rotWithShape="1">
          <a:blip r:embed="rId3">
            <a:alphaModFix/>
          </a:blip>
          <a:srcRect b="0" l="0" r="0" t="0"/>
          <a:stretch/>
        </p:blipFill>
        <p:spPr>
          <a:xfrm>
            <a:off x="563747" y="1259480"/>
            <a:ext cx="3156555" cy="18926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1b3f087a09_1_71"/>
          <p:cNvSpPr txBox="1"/>
          <p:nvPr>
            <p:ph idx="1" type="body"/>
          </p:nvPr>
        </p:nvSpPr>
        <p:spPr>
          <a:xfrm>
            <a:off x="719999"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IN" sz="1600">
                <a:solidFill>
                  <a:schemeClr val="dk1"/>
                </a:solidFill>
              </a:rPr>
              <a:t>The least number of complete years in which a sum of money put out at 20% compound interest will be more than doubled is:</a:t>
            </a:r>
            <a:endParaRPr sz="1600">
              <a:solidFill>
                <a:schemeClr val="dk1"/>
              </a:solidFill>
            </a:endParaRPr>
          </a:p>
          <a:p>
            <a:pPr indent="0" lvl="0" marL="0" rtl="0" algn="l">
              <a:lnSpc>
                <a:spcPct val="100000"/>
              </a:lnSpc>
              <a:spcBef>
                <a:spcPts val="0"/>
              </a:spcBef>
              <a:spcAft>
                <a:spcPts val="0"/>
              </a:spcAft>
              <a:buNone/>
            </a:pPr>
            <a:r>
              <a:t/>
            </a:r>
            <a:endParaRPr sz="1600">
              <a:solidFill>
                <a:schemeClr val="dk1"/>
              </a:solidFill>
            </a:endParaRPr>
          </a:p>
          <a:p>
            <a:pPr indent="-330200" lvl="0" marL="457200" rtl="0" algn="l">
              <a:lnSpc>
                <a:spcPct val="150000"/>
              </a:lnSpc>
              <a:spcBef>
                <a:spcPts val="0"/>
              </a:spcBef>
              <a:spcAft>
                <a:spcPts val="0"/>
              </a:spcAft>
              <a:buClr>
                <a:schemeClr val="dk1"/>
              </a:buClr>
              <a:buSzPts val="1600"/>
              <a:buFont typeface="Roboto"/>
              <a:buAutoNum type="alphaUcPeriod"/>
            </a:pPr>
            <a:r>
              <a:rPr lang="en-IN" sz="1600">
                <a:solidFill>
                  <a:schemeClr val="dk1"/>
                </a:solidFill>
              </a:rPr>
              <a:t>3</a:t>
            </a:r>
            <a:endParaRPr sz="1600">
              <a:solidFill>
                <a:schemeClr val="dk1"/>
              </a:solidFill>
            </a:endParaRPr>
          </a:p>
          <a:p>
            <a:pPr indent="-330200" lvl="0" marL="457200" rtl="0" algn="l">
              <a:lnSpc>
                <a:spcPct val="150000"/>
              </a:lnSpc>
              <a:spcBef>
                <a:spcPts val="0"/>
              </a:spcBef>
              <a:spcAft>
                <a:spcPts val="0"/>
              </a:spcAft>
              <a:buClr>
                <a:schemeClr val="dk1"/>
              </a:buClr>
              <a:buSzPts val="1600"/>
              <a:buFont typeface="Roboto"/>
              <a:buAutoNum type="alphaUcPeriod"/>
            </a:pPr>
            <a:r>
              <a:rPr lang="en-IN" sz="1600">
                <a:solidFill>
                  <a:schemeClr val="dk1"/>
                </a:solidFill>
              </a:rPr>
              <a:t>4</a:t>
            </a:r>
            <a:endParaRPr sz="1600">
              <a:solidFill>
                <a:schemeClr val="dk1"/>
              </a:solidFill>
            </a:endParaRPr>
          </a:p>
          <a:p>
            <a:pPr indent="-330200" lvl="0" marL="457200" rtl="0" algn="l">
              <a:lnSpc>
                <a:spcPct val="150000"/>
              </a:lnSpc>
              <a:spcBef>
                <a:spcPts val="0"/>
              </a:spcBef>
              <a:spcAft>
                <a:spcPts val="0"/>
              </a:spcAft>
              <a:buClr>
                <a:schemeClr val="dk1"/>
              </a:buClr>
              <a:buSzPts val="1600"/>
              <a:buFont typeface="Roboto"/>
              <a:buAutoNum type="alphaUcPeriod"/>
            </a:pPr>
            <a:r>
              <a:rPr lang="en-IN" sz="1600">
                <a:solidFill>
                  <a:schemeClr val="dk1"/>
                </a:solidFill>
              </a:rPr>
              <a:t>5</a:t>
            </a:r>
            <a:endParaRPr sz="1600">
              <a:solidFill>
                <a:schemeClr val="dk1"/>
              </a:solidFill>
            </a:endParaRPr>
          </a:p>
          <a:p>
            <a:pPr indent="-330200" lvl="0" marL="457200" rtl="0" algn="l">
              <a:lnSpc>
                <a:spcPct val="150000"/>
              </a:lnSpc>
              <a:spcBef>
                <a:spcPts val="0"/>
              </a:spcBef>
              <a:spcAft>
                <a:spcPts val="0"/>
              </a:spcAft>
              <a:buClr>
                <a:schemeClr val="dk1"/>
              </a:buClr>
              <a:buSzPts val="1600"/>
              <a:buFont typeface="Roboto"/>
              <a:buAutoNum type="alphaUcPeriod"/>
            </a:pPr>
            <a:r>
              <a:rPr lang="en-IN" sz="1600">
                <a:solidFill>
                  <a:schemeClr val="dk1"/>
                </a:solidFill>
              </a:rPr>
              <a:t>6</a:t>
            </a:r>
            <a:endParaRPr sz="1600">
              <a:solidFill>
                <a:schemeClr val="dk1"/>
              </a:solidFill>
            </a:endParaRPr>
          </a:p>
          <a:p>
            <a:pPr indent="0" lvl="0" marL="0" rtl="0" algn="l">
              <a:lnSpc>
                <a:spcPct val="150000"/>
              </a:lnSpc>
              <a:spcBef>
                <a:spcPts val="0"/>
              </a:spcBef>
              <a:spcAft>
                <a:spcPts val="0"/>
              </a:spcAft>
              <a:buClr>
                <a:schemeClr val="dk1"/>
              </a:buClr>
              <a:buSzPts val="1800"/>
              <a:buFont typeface="Arial"/>
              <a:buNone/>
            </a:pPr>
            <a:r>
              <a:t/>
            </a:r>
            <a:endParaRPr sz="1600">
              <a:solidFill>
                <a:schemeClr val="dk1"/>
              </a:solidFill>
            </a:endParaRPr>
          </a:p>
          <a:p>
            <a:pPr indent="0" lvl="0" marL="457200" rtl="0" algn="l">
              <a:lnSpc>
                <a:spcPct val="150000"/>
              </a:lnSpc>
              <a:spcBef>
                <a:spcPts val="0"/>
              </a:spcBef>
              <a:spcAft>
                <a:spcPts val="0"/>
              </a:spcAft>
              <a:buSzPts val="1800"/>
              <a:buNone/>
            </a:pPr>
            <a:r>
              <a:t/>
            </a:r>
            <a:endParaRPr sz="1600">
              <a:solidFill>
                <a:schemeClr val="dk1"/>
              </a:solidFill>
            </a:endParaRPr>
          </a:p>
        </p:txBody>
      </p:sp>
      <p:sp>
        <p:nvSpPr>
          <p:cNvPr id="240" name="Google Shape;240;g31b3f087a09_1_71"/>
          <p:cNvSpPr txBox="1"/>
          <p:nvPr/>
        </p:nvSpPr>
        <p:spPr>
          <a:xfrm>
            <a:off x="6828313" y="4120738"/>
            <a:ext cx="154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t>
            </a:r>
            <a:r>
              <a:rPr b="1" lang="en-IN" sz="1800">
                <a:latin typeface="Roboto"/>
                <a:ea typeface="Roboto"/>
                <a:cs typeface="Roboto"/>
                <a:sym typeface="Roboto"/>
              </a:rPr>
              <a:t>C</a:t>
            </a:r>
            <a:endParaRPr b="1" i="0" sz="1800" u="none" cap="none" strike="noStrike">
              <a:solidFill>
                <a:srgbClr val="000000"/>
              </a:solidFill>
              <a:latin typeface="Roboto"/>
              <a:ea typeface="Roboto"/>
              <a:cs typeface="Roboto"/>
              <a:sym typeface="Roboto"/>
            </a:endParaRPr>
          </a:p>
        </p:txBody>
      </p:sp>
      <p:sp>
        <p:nvSpPr>
          <p:cNvPr id="241" name="Google Shape;241;g31b3f087a09_1_7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 calcmode="lin" valueType="num">
                                      <p:cBhvr additive="base">
                                        <p:cTn dur="500"/>
                                        <p:tgtEl>
                                          <p:spTgt spid="23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anim calcmode="lin" valueType="num">
                                      <p:cBhvr additive="base">
                                        <p:cTn dur="500"/>
                                        <p:tgtEl>
                                          <p:spTgt spid="23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anim calcmode="lin" valueType="num">
                                      <p:cBhvr additive="base">
                                        <p:cTn dur="500"/>
                                        <p:tgtEl>
                                          <p:spTgt spid="23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anim calcmode="lin" valueType="num">
                                      <p:cBhvr additive="base">
                                        <p:cTn dur="500"/>
                                        <p:tgtEl>
                                          <p:spTgt spid="23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anim calcmode="lin" valueType="num">
                                      <p:cBhvr additive="base">
                                        <p:cTn dur="500"/>
                                        <p:tgtEl>
                                          <p:spTgt spid="23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anim calcmode="lin" valueType="num">
                                      <p:cBhvr additive="base">
                                        <p:cTn dur="500"/>
                                        <p:tgtEl>
                                          <p:spTgt spid="23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6" st="6"/>
                                            </p:txEl>
                                          </p:spTgt>
                                        </p:tgtEl>
                                        <p:attrNameLst>
                                          <p:attrName>style.visibility</p:attrName>
                                        </p:attrNameLst>
                                      </p:cBhvr>
                                      <p:to>
                                        <p:strVal val="visible"/>
                                      </p:to>
                                    </p:set>
                                    <p:anim calcmode="lin" valueType="num">
                                      <p:cBhvr additive="base">
                                        <p:cTn dur="500"/>
                                        <p:tgtEl>
                                          <p:spTgt spid="23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7" st="7"/>
                                            </p:txEl>
                                          </p:spTgt>
                                        </p:tgtEl>
                                        <p:attrNameLst>
                                          <p:attrName>style.visibility</p:attrName>
                                        </p:attrNameLst>
                                      </p:cBhvr>
                                      <p:to>
                                        <p:strVal val="visible"/>
                                      </p:to>
                                    </p:set>
                                    <p:anim calcmode="lin" valueType="num">
                                      <p:cBhvr additive="base">
                                        <p:cTn dur="500"/>
                                        <p:tgtEl>
                                          <p:spTgt spid="23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anim calcmode="lin" valueType="num">
                                      <p:cBhvr additive="base">
                                        <p:cTn dur="500"/>
                                        <p:tgtEl>
                                          <p:spTgt spid="24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5" name="Shape 245"/>
        <p:cNvGrpSpPr/>
        <p:nvPr/>
      </p:nvGrpSpPr>
      <p:grpSpPr>
        <a:xfrm>
          <a:off x="0" y="0"/>
          <a:ext cx="0" cy="0"/>
          <a:chOff x="0" y="0"/>
          <a:chExt cx="0" cy="0"/>
        </a:xfrm>
      </p:grpSpPr>
      <p:sp>
        <p:nvSpPr>
          <p:cNvPr id="246" name="Google Shape;246;g31b3f087a09_1_7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pic>
        <p:nvPicPr>
          <p:cNvPr id="247" name="Google Shape;247;g31b3f087a09_1_77"/>
          <p:cNvPicPr preferRelativeResize="0"/>
          <p:nvPr/>
        </p:nvPicPr>
        <p:blipFill rotWithShape="1">
          <a:blip r:embed="rId3">
            <a:alphaModFix/>
          </a:blip>
          <a:srcRect b="0" l="0" r="0" t="0"/>
          <a:stretch/>
        </p:blipFill>
        <p:spPr>
          <a:xfrm>
            <a:off x="527016" y="1415155"/>
            <a:ext cx="3308614" cy="190803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1b3f087a09_1_82"/>
          <p:cNvSpPr txBox="1"/>
          <p:nvPr>
            <p:ph idx="1" type="body"/>
          </p:nvPr>
        </p:nvSpPr>
        <p:spPr>
          <a:xfrm>
            <a:off x="719999"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IN" sz="1600">
                <a:solidFill>
                  <a:srgbClr val="3A3A3A"/>
                </a:solidFill>
              </a:rPr>
              <a:t>Calculate the compound interest on Rs. 4000 for 2 years at 20% per annum when compounded annually.</a:t>
            </a:r>
            <a:br>
              <a:rPr lang="en-IN" sz="1600">
                <a:solidFill>
                  <a:schemeClr val="dk1"/>
                </a:solidFill>
              </a:rPr>
            </a:b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1856.4</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1756.4</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1846.4</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1746.4</a:t>
            </a:r>
            <a:endParaRPr sz="1600">
              <a:solidFill>
                <a:schemeClr val="dk1"/>
              </a:solidFill>
            </a:endParaRPr>
          </a:p>
          <a:p>
            <a:pPr indent="0" lvl="0" marL="457200" rtl="0" algn="just">
              <a:lnSpc>
                <a:spcPct val="150000"/>
              </a:lnSpc>
              <a:spcBef>
                <a:spcPts val="0"/>
              </a:spcBef>
              <a:spcAft>
                <a:spcPts val="0"/>
              </a:spcAft>
              <a:buSzPts val="1800"/>
              <a:buNone/>
            </a:pPr>
            <a:r>
              <a:t/>
            </a:r>
            <a:endParaRPr sz="1600">
              <a:solidFill>
                <a:schemeClr val="dk1"/>
              </a:solidFill>
            </a:endParaRPr>
          </a:p>
        </p:txBody>
      </p:sp>
      <p:sp>
        <p:nvSpPr>
          <p:cNvPr id="253" name="Google Shape;253;g31b3f087a09_1_82"/>
          <p:cNvSpPr txBox="1"/>
          <p:nvPr/>
        </p:nvSpPr>
        <p:spPr>
          <a:xfrm>
            <a:off x="6828313" y="4120738"/>
            <a:ext cx="154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a:t>
            </a:r>
            <a:r>
              <a:rPr b="1" lang="en-IN" sz="1800">
                <a:latin typeface="Roboto"/>
                <a:ea typeface="Roboto"/>
                <a:cs typeface="Roboto"/>
                <a:sym typeface="Roboto"/>
              </a:rPr>
              <a:t>A</a:t>
            </a:r>
            <a:endParaRPr b="1" i="0" sz="1800" u="none" cap="none" strike="noStrike">
              <a:solidFill>
                <a:srgbClr val="000000"/>
              </a:solidFill>
              <a:latin typeface="Roboto"/>
              <a:ea typeface="Roboto"/>
              <a:cs typeface="Roboto"/>
              <a:sym typeface="Roboto"/>
            </a:endParaRPr>
          </a:p>
        </p:txBody>
      </p:sp>
      <p:sp>
        <p:nvSpPr>
          <p:cNvPr id="254" name="Google Shape;254;g31b3f087a09_1_82"/>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anim calcmode="lin" valueType="num">
                                      <p:cBhvr additive="base">
                                        <p:cTn dur="500"/>
                                        <p:tgtEl>
                                          <p:spTgt spid="25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anim calcmode="lin" valueType="num">
                                      <p:cBhvr additive="base">
                                        <p:cTn dur="500"/>
                                        <p:tgtEl>
                                          <p:spTgt spid="25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anim calcmode="lin" valueType="num">
                                      <p:cBhvr additive="base">
                                        <p:cTn dur="500"/>
                                        <p:tgtEl>
                                          <p:spTgt spid="25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3" st="3"/>
                                            </p:txEl>
                                          </p:spTgt>
                                        </p:tgtEl>
                                        <p:attrNameLst>
                                          <p:attrName>style.visibility</p:attrName>
                                        </p:attrNameLst>
                                      </p:cBhvr>
                                      <p:to>
                                        <p:strVal val="visible"/>
                                      </p:to>
                                    </p:set>
                                    <p:anim calcmode="lin" valueType="num">
                                      <p:cBhvr additive="base">
                                        <p:cTn dur="500"/>
                                        <p:tgtEl>
                                          <p:spTgt spid="25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4" st="4"/>
                                            </p:txEl>
                                          </p:spTgt>
                                        </p:tgtEl>
                                        <p:attrNameLst>
                                          <p:attrName>style.visibility</p:attrName>
                                        </p:attrNameLst>
                                      </p:cBhvr>
                                      <p:to>
                                        <p:strVal val="visible"/>
                                      </p:to>
                                    </p:set>
                                    <p:anim calcmode="lin" valueType="num">
                                      <p:cBhvr additive="base">
                                        <p:cTn dur="500"/>
                                        <p:tgtEl>
                                          <p:spTgt spid="25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2">
                                            <p:txEl>
                                              <p:pRg end="5" st="5"/>
                                            </p:txEl>
                                          </p:spTgt>
                                        </p:tgtEl>
                                        <p:attrNameLst>
                                          <p:attrName>style.visibility</p:attrName>
                                        </p:attrNameLst>
                                      </p:cBhvr>
                                      <p:to>
                                        <p:strVal val="visible"/>
                                      </p:to>
                                    </p:set>
                                    <p:anim calcmode="lin" valueType="num">
                                      <p:cBhvr additive="base">
                                        <p:cTn dur="500"/>
                                        <p:tgtEl>
                                          <p:spTgt spid="25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anim calcmode="lin" valueType="num">
                                      <p:cBhvr additive="base">
                                        <p:cTn dur="500"/>
                                        <p:tgtEl>
                                          <p:spTgt spid="25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8" name="Shape 258"/>
        <p:cNvGrpSpPr/>
        <p:nvPr/>
      </p:nvGrpSpPr>
      <p:grpSpPr>
        <a:xfrm>
          <a:off x="0" y="0"/>
          <a:ext cx="0" cy="0"/>
          <a:chOff x="0" y="0"/>
          <a:chExt cx="0" cy="0"/>
        </a:xfrm>
      </p:grpSpPr>
      <p:sp>
        <p:nvSpPr>
          <p:cNvPr id="259" name="Google Shape;259;g31b3f087a09_1_88"/>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
        <p:nvSpPr>
          <p:cNvPr id="260" name="Google Shape;260;g31b3f087a09_1_88"/>
          <p:cNvSpPr/>
          <p:nvPr/>
        </p:nvSpPr>
        <p:spPr>
          <a:xfrm>
            <a:off x="796555" y="1359662"/>
            <a:ext cx="3084300" cy="1077300"/>
          </a:xfrm>
          <a:prstGeom prst="rect">
            <a:avLst/>
          </a:prstGeom>
          <a:solidFill>
            <a:srgbClr val="FFFFF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33333"/>
              </a:buClr>
              <a:buSzPts val="1400"/>
              <a:buFont typeface="Arial"/>
              <a:buNone/>
            </a:pPr>
            <a:r>
              <a:rPr b="0" i="0" lang="en-IN" sz="1400" u="none" cap="none" strike="noStrike">
                <a:solidFill>
                  <a:srgbClr val="333333"/>
                </a:solidFill>
                <a:latin typeface="Roboto"/>
                <a:ea typeface="Roboto"/>
                <a:cs typeface="Roboto"/>
                <a:sym typeface="Roboto"/>
              </a:rPr>
              <a:t>A = P (1 + R/200)2n = 4000(11/10)^4 </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rgbClr val="333333"/>
              </a:buClr>
              <a:buSzPts val="1400"/>
              <a:buFont typeface="Arial"/>
              <a:buNone/>
            </a:pPr>
            <a:r>
              <a:rPr b="0" i="0" lang="en-IN" sz="1400" u="none" cap="none" strike="noStrike">
                <a:solidFill>
                  <a:srgbClr val="333333"/>
                </a:solidFill>
                <a:latin typeface="Roboto"/>
                <a:ea typeface="Roboto"/>
                <a:cs typeface="Roboto"/>
                <a:sym typeface="Roboto"/>
              </a:rPr>
              <a:t>= Rs. 5856.4</a:t>
            </a:r>
            <a:br>
              <a:rPr b="0" i="0" lang="en-IN" sz="1400" u="none" cap="none" strike="noStrike">
                <a:solidFill>
                  <a:srgbClr val="333333"/>
                </a:solidFill>
                <a:latin typeface="Roboto"/>
                <a:ea typeface="Roboto"/>
                <a:cs typeface="Roboto"/>
                <a:sym typeface="Roboto"/>
              </a:rPr>
            </a:br>
            <a:endParaRPr b="0" i="0" sz="1400" u="none" cap="none" strike="noStrike">
              <a:solidFill>
                <a:srgbClr val="333333"/>
              </a:solidFill>
              <a:latin typeface="Roboto"/>
              <a:ea typeface="Roboto"/>
              <a:cs typeface="Roboto"/>
              <a:sym typeface="Roboto"/>
            </a:endParaRPr>
          </a:p>
          <a:p>
            <a:pPr indent="0" lvl="0" marL="0" marR="0" rtl="0" algn="l">
              <a:lnSpc>
                <a:spcPct val="100000"/>
              </a:lnSpc>
              <a:spcBef>
                <a:spcPts val="0"/>
              </a:spcBef>
              <a:spcAft>
                <a:spcPts val="0"/>
              </a:spcAft>
              <a:buClr>
                <a:srgbClr val="333333"/>
              </a:buClr>
              <a:buSzPts val="1400"/>
              <a:buFont typeface="Arial"/>
              <a:buNone/>
            </a:pPr>
            <a:r>
              <a:rPr b="0" i="0" lang="en-IN" sz="1400" u="none" cap="none" strike="noStrike">
                <a:solidFill>
                  <a:srgbClr val="333333"/>
                </a:solidFill>
                <a:latin typeface="Roboto"/>
                <a:ea typeface="Roboto"/>
                <a:cs typeface="Roboto"/>
                <a:sym typeface="Roboto"/>
              </a:rPr>
              <a:t>C.I. = 5856.4 – 4000 = Rs. 1856.4</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1ef1be9f21_0_9"/>
          <p:cNvSpPr txBox="1"/>
          <p:nvPr>
            <p:ph idx="1" type="body"/>
          </p:nvPr>
        </p:nvSpPr>
        <p:spPr>
          <a:xfrm>
            <a:off x="719999" y="1440000"/>
            <a:ext cx="8091600" cy="370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IN" sz="1600">
                <a:solidFill>
                  <a:srgbClr val="3A3A3A"/>
                </a:solidFill>
              </a:rPr>
              <a:t>Find the amount on Rs. 5000 at the rate of 20% per annum for 18 months when interest is compounded half yearly.</a:t>
            </a:r>
            <a:endParaRPr sz="1600">
              <a:solidFill>
                <a:srgbClr val="3A3A3A"/>
              </a:solidFill>
            </a:endParaRPr>
          </a:p>
          <a:p>
            <a:pPr indent="0" lvl="0" marL="0" rtl="0" algn="just">
              <a:lnSpc>
                <a:spcPct val="150000"/>
              </a:lnSpc>
              <a:spcBef>
                <a:spcPts val="0"/>
              </a:spcBef>
              <a:spcAft>
                <a:spcPts val="0"/>
              </a:spcAft>
              <a:buNone/>
            </a:pPr>
            <a:r>
              <a:t/>
            </a:r>
            <a:endParaRPr sz="1600">
              <a:solidFill>
                <a:srgbClr val="3A3A3A"/>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6644</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6666</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6000</a:t>
            </a:r>
            <a:endParaRPr sz="1600">
              <a:solidFill>
                <a:schemeClr val="dk1"/>
              </a:solidFill>
            </a:endParaRPr>
          </a:p>
          <a:p>
            <a:pPr indent="-330200" lvl="0" marL="457200" rtl="0" algn="just">
              <a:lnSpc>
                <a:spcPct val="150000"/>
              </a:lnSpc>
              <a:spcBef>
                <a:spcPts val="0"/>
              </a:spcBef>
              <a:spcAft>
                <a:spcPts val="0"/>
              </a:spcAft>
              <a:buClr>
                <a:schemeClr val="dk1"/>
              </a:buClr>
              <a:buSzPts val="1600"/>
              <a:buFont typeface="Roboto"/>
              <a:buAutoNum type="alphaUcPeriod"/>
            </a:pPr>
            <a:r>
              <a:rPr lang="en-IN" sz="1600">
                <a:solidFill>
                  <a:schemeClr val="dk1"/>
                </a:solidFill>
              </a:rPr>
              <a:t>6655</a:t>
            </a:r>
            <a:endParaRPr sz="1600">
              <a:solidFill>
                <a:schemeClr val="dk1"/>
              </a:solidFill>
            </a:endParaRPr>
          </a:p>
          <a:p>
            <a:pPr indent="0" lvl="0" marL="457200" rtl="0" algn="just">
              <a:lnSpc>
                <a:spcPct val="150000"/>
              </a:lnSpc>
              <a:spcBef>
                <a:spcPts val="0"/>
              </a:spcBef>
              <a:spcAft>
                <a:spcPts val="0"/>
              </a:spcAft>
              <a:buSzPts val="1800"/>
              <a:buNone/>
            </a:pPr>
            <a:r>
              <a:t/>
            </a:r>
            <a:endParaRPr sz="1600">
              <a:solidFill>
                <a:schemeClr val="dk1"/>
              </a:solidFill>
            </a:endParaRPr>
          </a:p>
        </p:txBody>
      </p:sp>
      <p:sp>
        <p:nvSpPr>
          <p:cNvPr id="266" name="Google Shape;266;g31ef1be9f21_0_9"/>
          <p:cNvSpPr txBox="1"/>
          <p:nvPr/>
        </p:nvSpPr>
        <p:spPr>
          <a:xfrm>
            <a:off x="6828313" y="4120738"/>
            <a:ext cx="1543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IN" sz="1800" u="none" cap="none" strike="noStrike">
                <a:solidFill>
                  <a:srgbClr val="000000"/>
                </a:solidFill>
                <a:latin typeface="Roboto"/>
                <a:ea typeface="Roboto"/>
                <a:cs typeface="Roboto"/>
                <a:sym typeface="Roboto"/>
              </a:rPr>
              <a:t>Answer: D</a:t>
            </a:r>
            <a:endParaRPr b="1" i="0" sz="1800" u="none" cap="none" strike="noStrike">
              <a:solidFill>
                <a:srgbClr val="000000"/>
              </a:solidFill>
              <a:latin typeface="Roboto"/>
              <a:ea typeface="Roboto"/>
              <a:cs typeface="Roboto"/>
              <a:sym typeface="Roboto"/>
            </a:endParaRPr>
          </a:p>
        </p:txBody>
      </p:sp>
      <p:sp>
        <p:nvSpPr>
          <p:cNvPr id="267" name="Google Shape;267;g31ef1be9f21_0_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Question: 1</a:t>
            </a:r>
            <a:r>
              <a:rPr b="1" lang="en-IN" sz="2000">
                <a:solidFill>
                  <a:srgbClr val="8182EF"/>
                </a:solidFill>
                <a:latin typeface="Roboto"/>
                <a:ea typeface="Roboto"/>
                <a:cs typeface="Roboto"/>
                <a:sym typeface="Roboto"/>
              </a:rPr>
              <a:t>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0" st="0"/>
                                            </p:txEl>
                                          </p:spTgt>
                                        </p:tgtEl>
                                        <p:attrNameLst>
                                          <p:attrName>style.visibility</p:attrName>
                                        </p:attrNameLst>
                                      </p:cBhvr>
                                      <p:to>
                                        <p:strVal val="visible"/>
                                      </p:to>
                                    </p:set>
                                    <p:anim calcmode="lin" valueType="num">
                                      <p:cBhvr additive="base">
                                        <p:cTn dur="500"/>
                                        <p:tgtEl>
                                          <p:spTgt spid="26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1" st="1"/>
                                            </p:txEl>
                                          </p:spTgt>
                                        </p:tgtEl>
                                        <p:attrNameLst>
                                          <p:attrName>style.visibility</p:attrName>
                                        </p:attrNameLst>
                                      </p:cBhvr>
                                      <p:to>
                                        <p:strVal val="visible"/>
                                      </p:to>
                                    </p:set>
                                    <p:anim calcmode="lin" valueType="num">
                                      <p:cBhvr additive="base">
                                        <p:cTn dur="500"/>
                                        <p:tgtEl>
                                          <p:spTgt spid="26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2" st="2"/>
                                            </p:txEl>
                                          </p:spTgt>
                                        </p:tgtEl>
                                        <p:attrNameLst>
                                          <p:attrName>style.visibility</p:attrName>
                                        </p:attrNameLst>
                                      </p:cBhvr>
                                      <p:to>
                                        <p:strVal val="visible"/>
                                      </p:to>
                                    </p:set>
                                    <p:anim calcmode="lin" valueType="num">
                                      <p:cBhvr additive="base">
                                        <p:cTn dur="500"/>
                                        <p:tgtEl>
                                          <p:spTgt spid="26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3" st="3"/>
                                            </p:txEl>
                                          </p:spTgt>
                                        </p:tgtEl>
                                        <p:attrNameLst>
                                          <p:attrName>style.visibility</p:attrName>
                                        </p:attrNameLst>
                                      </p:cBhvr>
                                      <p:to>
                                        <p:strVal val="visible"/>
                                      </p:to>
                                    </p:set>
                                    <p:anim calcmode="lin" valueType="num">
                                      <p:cBhvr additive="base">
                                        <p:cTn dur="500"/>
                                        <p:tgtEl>
                                          <p:spTgt spid="26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4" st="4"/>
                                            </p:txEl>
                                          </p:spTgt>
                                        </p:tgtEl>
                                        <p:attrNameLst>
                                          <p:attrName>style.visibility</p:attrName>
                                        </p:attrNameLst>
                                      </p:cBhvr>
                                      <p:to>
                                        <p:strVal val="visible"/>
                                      </p:to>
                                    </p:set>
                                    <p:anim calcmode="lin" valueType="num">
                                      <p:cBhvr additive="base">
                                        <p:cTn dur="500"/>
                                        <p:tgtEl>
                                          <p:spTgt spid="26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5" st="5"/>
                                            </p:txEl>
                                          </p:spTgt>
                                        </p:tgtEl>
                                        <p:attrNameLst>
                                          <p:attrName>style.visibility</p:attrName>
                                        </p:attrNameLst>
                                      </p:cBhvr>
                                      <p:to>
                                        <p:strVal val="visible"/>
                                      </p:to>
                                    </p:set>
                                    <p:anim calcmode="lin" valueType="num">
                                      <p:cBhvr additive="base">
                                        <p:cTn dur="500"/>
                                        <p:tgtEl>
                                          <p:spTgt spid="26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5">
                                            <p:txEl>
                                              <p:pRg end="6" st="6"/>
                                            </p:txEl>
                                          </p:spTgt>
                                        </p:tgtEl>
                                        <p:attrNameLst>
                                          <p:attrName>style.visibility</p:attrName>
                                        </p:attrNameLst>
                                      </p:cBhvr>
                                      <p:to>
                                        <p:strVal val="visible"/>
                                      </p:to>
                                    </p:set>
                                    <p:anim calcmode="lin" valueType="num">
                                      <p:cBhvr additive="base">
                                        <p:cTn dur="500"/>
                                        <p:tgtEl>
                                          <p:spTgt spid="26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anim calcmode="lin" valueType="num">
                                      <p:cBhvr additive="base">
                                        <p:cTn dur="500"/>
                                        <p:tgtEl>
                                          <p:spTgt spid="26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1" name="Shape 271"/>
        <p:cNvGrpSpPr/>
        <p:nvPr/>
      </p:nvGrpSpPr>
      <p:grpSpPr>
        <a:xfrm>
          <a:off x="0" y="0"/>
          <a:ext cx="0" cy="0"/>
          <a:chOff x="0" y="0"/>
          <a:chExt cx="0" cy="0"/>
        </a:xfrm>
      </p:grpSpPr>
      <p:sp>
        <p:nvSpPr>
          <p:cNvPr id="272" name="Google Shape;272;g31ef1be9f21_0_15"/>
          <p:cNvSpPr txBox="1"/>
          <p:nvPr>
            <p:ph idx="1" type="body"/>
          </p:nvPr>
        </p:nvSpPr>
        <p:spPr>
          <a:xfrm>
            <a:off x="719999" y="1439999"/>
            <a:ext cx="8642400" cy="3009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333333"/>
              </a:buClr>
              <a:buSzPts val="1400"/>
              <a:buFont typeface="Arial"/>
              <a:buNone/>
            </a:pPr>
            <a:r>
              <a:rPr lang="en-IN" sz="1400">
                <a:solidFill>
                  <a:srgbClr val="333333"/>
                </a:solidFill>
              </a:rPr>
              <a:t>n = 18/12 = 3/2</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rgbClr val="333333"/>
              </a:buClr>
              <a:buSzPts val="1400"/>
              <a:buFont typeface="Arial"/>
              <a:buNone/>
            </a:pPr>
            <a:br>
              <a:rPr lang="en-IN" sz="1400">
                <a:solidFill>
                  <a:srgbClr val="333333"/>
                </a:solidFill>
              </a:rPr>
            </a:br>
            <a:r>
              <a:rPr lang="en-IN" sz="1400">
                <a:solidFill>
                  <a:srgbClr val="333333"/>
                </a:solidFill>
              </a:rPr>
              <a:t>A = P (1 + R200)2n </a:t>
            </a:r>
            <a:endParaRPr sz="1400">
              <a:solidFill>
                <a:schemeClr val="dk1"/>
              </a:solidFill>
              <a:latin typeface="Arial"/>
              <a:ea typeface="Arial"/>
              <a:cs typeface="Arial"/>
              <a:sym typeface="Arial"/>
            </a:endParaRPr>
          </a:p>
          <a:p>
            <a:pPr indent="0" lvl="0" marL="0" rtl="0" algn="l">
              <a:lnSpc>
                <a:spcPct val="100000"/>
              </a:lnSpc>
              <a:spcBef>
                <a:spcPts val="0"/>
              </a:spcBef>
              <a:spcAft>
                <a:spcPts val="0"/>
              </a:spcAft>
              <a:buClr>
                <a:schemeClr val="dk1"/>
              </a:buClr>
              <a:buSzPts val="1400"/>
              <a:buFont typeface="Arial"/>
              <a:buNone/>
            </a:pPr>
            <a:r>
              <a:t/>
            </a:r>
            <a:endParaRPr sz="1400">
              <a:solidFill>
                <a:srgbClr val="333333"/>
              </a:solidFill>
            </a:endParaRPr>
          </a:p>
          <a:p>
            <a:pPr indent="0" lvl="0" marL="0" rtl="0" algn="l">
              <a:lnSpc>
                <a:spcPct val="100000"/>
              </a:lnSpc>
              <a:spcBef>
                <a:spcPts val="0"/>
              </a:spcBef>
              <a:spcAft>
                <a:spcPts val="0"/>
              </a:spcAft>
              <a:buClr>
                <a:srgbClr val="333333"/>
              </a:buClr>
              <a:buSzPts val="1400"/>
              <a:buFont typeface="Arial"/>
              <a:buNone/>
            </a:pPr>
            <a:r>
              <a:rPr lang="en-IN" sz="1400">
                <a:solidFill>
                  <a:srgbClr val="333333"/>
                </a:solidFill>
              </a:rPr>
              <a:t>= 5000 (1 + 20200)2n = Rs. 6655. </a:t>
            </a:r>
            <a:endParaRPr sz="1400">
              <a:solidFill>
                <a:schemeClr val="dk1"/>
              </a:solidFill>
              <a:latin typeface="Arial"/>
              <a:ea typeface="Arial"/>
              <a:cs typeface="Arial"/>
              <a:sym typeface="Arial"/>
            </a:endParaRPr>
          </a:p>
          <a:p>
            <a:pPr indent="0" lvl="0" marL="114300" rtl="0" algn="l">
              <a:lnSpc>
                <a:spcPct val="115000"/>
              </a:lnSpc>
              <a:spcBef>
                <a:spcPts val="0"/>
              </a:spcBef>
              <a:spcAft>
                <a:spcPts val="0"/>
              </a:spcAft>
              <a:buSzPts val="1800"/>
              <a:buNone/>
            </a:pPr>
            <a:r>
              <a:t/>
            </a:r>
            <a:endParaRPr>
              <a:solidFill>
                <a:schemeClr val="dk1"/>
              </a:solidFill>
              <a:latin typeface="Arial"/>
              <a:ea typeface="Arial"/>
              <a:cs typeface="Arial"/>
              <a:sym typeface="Arial"/>
            </a:endParaRPr>
          </a:p>
        </p:txBody>
      </p:sp>
      <p:sp>
        <p:nvSpPr>
          <p:cNvPr id="273" name="Google Shape;273;g31ef1be9f21_0_1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IN" sz="2000" u="none" cap="none" strike="noStrike">
                <a:solidFill>
                  <a:srgbClr val="8182EF"/>
                </a:solidFill>
                <a:latin typeface="Roboto"/>
                <a:ea typeface="Roboto"/>
                <a:cs typeface="Roboto"/>
                <a:sym typeface="Roboto"/>
              </a:rPr>
              <a:t>Explanation: 1</a:t>
            </a:r>
            <a:r>
              <a:rPr b="1" lang="en-IN" sz="2000">
                <a:solidFill>
                  <a:srgbClr val="8182EF"/>
                </a:solidFill>
                <a:latin typeface="Roboto"/>
                <a:ea typeface="Roboto"/>
                <a:cs typeface="Roboto"/>
                <a:sym typeface="Roboto"/>
              </a:rPr>
              <a:t>5</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4"/>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79" name="Google Shape;279;p44"/>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280" name="Google Shape;280;p4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IN"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86" name="Google Shape;286;p4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87" name="Google Shape;287;p4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88" name="Google Shape;288;p45"/>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IN"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89" name="Google Shape;289;p4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90" name="Google Shape;290;p4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91" name="Google Shape;291;p45"/>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292" name="Google Shape;292;p4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93" name="Google Shape;293;p45"/>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294" name="Google Shape;294;p4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295" name="Google Shape;295;p45"/>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IN"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296" name="Google Shape;296;p4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pooja ram</dc:creator>
</cp:coreProperties>
</file>