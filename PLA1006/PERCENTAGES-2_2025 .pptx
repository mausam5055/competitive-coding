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oboto Black"/>
      <p:bold r:id="rId41"/>
      <p:boldItalic r:id="rId42"/>
    </p:embeddedFont>
    <p:embeddedFont>
      <p:font typeface="Roboto"/>
      <p:regular r:id="rId43"/>
      <p:bold r:id="rId44"/>
      <p:italic r:id="rId45"/>
      <p:boldItalic r:id="rId46"/>
    </p:embeddedFont>
    <p:embeddedFont>
      <p:font typeface="Roboto Medium"/>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944">
          <p15:clr>
            <a:srgbClr val="FF0000"/>
          </p15:clr>
        </p15:guide>
        <p15:guide id="3" pos="5256">
          <p15:clr>
            <a:srgbClr val="FF00FF"/>
          </p15:clr>
        </p15:guide>
        <p15:guide id="4" orient="horz" pos="2721">
          <p15:clr>
            <a:srgbClr val="FF0000"/>
          </p15:clr>
        </p15:guide>
        <p15:guide id="5" orient="horz" pos="788">
          <p15:clr>
            <a:srgbClr val="00FF00"/>
          </p15:clr>
        </p15:guide>
        <p15:guide id="6" orient="horz" pos="397">
          <p15:clr>
            <a:srgbClr val="00FF00"/>
          </p15:clr>
        </p15:guide>
        <p15:guide id="7" pos="4529">
          <p15:clr>
            <a:srgbClr val="747775"/>
          </p15:clr>
        </p15:guide>
        <p15:guide id="8" orient="horz" pos="1474">
          <p15:clr>
            <a:srgbClr val="747775"/>
          </p15:clr>
        </p15:guide>
        <p15:guide id="9" pos="397">
          <p15:clr>
            <a:srgbClr val="747775"/>
          </p15:clr>
        </p15:guide>
        <p15:guide id="10" pos="4365">
          <p15:clr>
            <a:srgbClr val="747775"/>
          </p15:clr>
        </p15:guide>
      </p15:sldGuideLst>
    </p:ext>
    <p:ext uri="GoogleSlidesCustomDataVersion2">
      <go:slidesCustomData xmlns:go="http://customooxmlschemas.google.com/" r:id="rId55" roundtripDataSignature="AMtx7miala6FmTG3pwn7ZxZdt1MVWhA/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944" orient="horz"/>
        <p:guide pos="5256"/>
        <p:guide pos="2721" orient="horz"/>
        <p:guide pos="788" orient="horz"/>
        <p:guide pos="397" orient="horz"/>
        <p:guide pos="4529"/>
        <p:guide pos="1474" orient="horz"/>
        <p:guide pos="397"/>
        <p:guide pos="436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Black-boldItalic.fntdata"/><Relationship Id="rId41" Type="http://schemas.openxmlformats.org/officeDocument/2006/relationships/font" Target="fonts/RobotoBlack-bold.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edium-bold.fntdata"/><Relationship Id="rId47" Type="http://schemas.openxmlformats.org/officeDocument/2006/relationships/font" Target="fonts/RobotoMedium-regular.fntdata"/><Relationship Id="rId49" Type="http://schemas.openxmlformats.org/officeDocument/2006/relationships/font" Target="fonts/Roboto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regular.fntdata"/><Relationship Id="rId50" Type="http://schemas.openxmlformats.org/officeDocument/2006/relationships/font" Target="fonts/RobotoMedium-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b9bf173ee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31b9bf173e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ee15abed17_3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2ee15abed17_3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aa44d674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2aa44d674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cf37506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1cf375067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ee15abed17_3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ee15abed17_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ee15abed17_3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2ee15abed17_3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e15abed17_3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2ee15abed17_3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ee15abed17_3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ee15abed17_3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ee15abed17_3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2ee15abed17_3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ee15abed17_3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2ee15abed17_3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b9bf173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1b9bf173e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ee15abed17_3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2ee15abed17_3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ee15abed17_3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2ee15abed17_3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ee15abed17_3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2ee15abed17_3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e15abed17_3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2ee15abed17_3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e15abed17_3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2ee15abed17_3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e15abed17_3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2ee15abed17_3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ee15abed17_3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2ee15abed17_3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ee15abed17_3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2ee15abed17_3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ee15abed17_3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2ee15abed17_3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e15abed17_3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2ee15abed17_3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ee15abed17_3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2ee15abed17_3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ee15abed17_3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2ee15abed17_3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ee15abed17_3_3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2ee15abed17_3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ee15abed17_3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2ee15abed17_3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ee15abed17_3_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2ee15abed17_3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ee15abed17_3_4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2ee15abed17_3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ee15abed17_3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2ee15abed17_3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ee15abed17_3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2ee15abed17_3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ee15abed17_3_4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2ee15abed17_3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e15abed17_3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2ee15abed17_3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ee15abed17_3_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2ee15abed17_3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ee15abed17_3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2ee15abed17_3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e15abed17_3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ee15abed17_3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ee15abed17_3_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2ee15abed17_3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1" name="Google Shape;4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7" name="Google Shape;4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0.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jp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jp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jp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6.jp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31b9bf173ee_0_28"/>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7" name="Google Shape;57;g31b9bf173ee_0_28"/>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8" name="Google Shape;58;g31b9bf173ee_0_28"/>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g2ee15abed17_3_27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4" name="Google Shape;64;g2ee15abed17_3_278"/>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GB" sz="3200" u="none" cap="none" strike="noStrike">
                <a:solidFill>
                  <a:schemeClr val="lt1"/>
                </a:solidFill>
                <a:latin typeface="Roboto"/>
                <a:ea typeface="Roboto"/>
                <a:cs typeface="Roboto"/>
                <a:sym typeface="Roboto"/>
              </a:rPr>
              <a:t>PERCENTAGES-</a:t>
            </a:r>
            <a:r>
              <a:rPr b="1" lang="en-GB" sz="3200">
                <a:solidFill>
                  <a:schemeClr val="lt1"/>
                </a:solidFill>
                <a:latin typeface="Roboto"/>
                <a:ea typeface="Roboto"/>
                <a:cs typeface="Roboto"/>
                <a:sym typeface="Roboto"/>
              </a:rPr>
              <a:t>2</a:t>
            </a:r>
            <a:endParaRPr b="1" i="0" sz="3200" u="none" cap="none" strike="noStrike">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3200"/>
              <a:buFont typeface="Arial"/>
              <a:buNone/>
            </a:pPr>
            <a:r>
              <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2aa44d674b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0" name="Google Shape;70;g32aa44d674b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GB" sz="1800">
                <a:solidFill>
                  <a:schemeClr val="dk1"/>
                </a:solidFill>
                <a:latin typeface="Roboto"/>
                <a:ea typeface="Roboto"/>
                <a:cs typeface="Roboto"/>
                <a:sym typeface="Roboto"/>
              </a:rPr>
              <a:t>                                    Test time on :</a:t>
            </a:r>
            <a:r>
              <a:rPr b="1" i="0" lang="en-GB" sz="1800" u="none" cap="none" strike="noStrike">
                <a:solidFill>
                  <a:schemeClr val="dk1"/>
                </a:solidFill>
                <a:latin typeface="Roboto"/>
                <a:ea typeface="Roboto"/>
                <a:cs typeface="Roboto"/>
                <a:sym typeface="Roboto"/>
              </a:rPr>
              <a:t> </a:t>
            </a:r>
            <a:r>
              <a:rPr b="1" lang="en-GB" sz="1800">
                <a:solidFill>
                  <a:schemeClr val="dk1"/>
                </a:solidFill>
                <a:highlight>
                  <a:srgbClr val="FFFFFF"/>
                </a:highlight>
              </a:rPr>
              <a:t>Parajumbles</a:t>
            </a:r>
            <a:endParaRPr b="1" i="0" sz="1800" u="none" cap="none" strike="noStrike">
              <a:solidFill>
                <a:schemeClr val="dk1"/>
              </a:solidFill>
              <a:latin typeface="Roboto"/>
              <a:ea typeface="Roboto"/>
              <a:cs typeface="Roboto"/>
              <a:sym typeface="Roboto"/>
            </a:endParaRPr>
          </a:p>
        </p:txBody>
      </p:sp>
      <p:sp>
        <p:nvSpPr>
          <p:cNvPr id="71" name="Google Shape;71;g32aa44d674b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2" name="Google Shape;72;g32aa44d674b_0_0"/>
          <p:cNvPicPr preferRelativeResize="0"/>
          <p:nvPr/>
        </p:nvPicPr>
        <p:blipFill>
          <a:blip r:embed="rId3">
            <a:alphaModFix/>
          </a:blip>
          <a:stretch>
            <a:fillRect/>
          </a:stretch>
        </p:blipFill>
        <p:spPr>
          <a:xfrm>
            <a:off x="3948113" y="2588688"/>
            <a:ext cx="1247775" cy="1209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1cf3750678_0_0"/>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Concepts</a:t>
            </a:r>
            <a:endParaRPr b="1" i="0" sz="2000" u="none" cap="none" strike="noStrike">
              <a:solidFill>
                <a:srgbClr val="8182EF"/>
              </a:solidFill>
              <a:latin typeface="Roboto"/>
              <a:ea typeface="Roboto"/>
              <a:cs typeface="Roboto"/>
              <a:sym typeface="Roboto"/>
            </a:endParaRPr>
          </a:p>
        </p:txBody>
      </p:sp>
      <p:sp>
        <p:nvSpPr>
          <p:cNvPr id="78" name="Google Shape;78;g31cf3750678_0_0"/>
          <p:cNvSpPr txBox="1"/>
          <p:nvPr/>
        </p:nvSpPr>
        <p:spPr>
          <a:xfrm>
            <a:off x="720725" y="1250950"/>
            <a:ext cx="7623300" cy="37866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Percentage is one topic that uses Arithmetic essentially. </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It essentially is the first topic that you study and is the topic that finds near universal application. </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In fact, right from our childhood, we have been calculating percentages in some form or the other and percentages form a ubiquitous part of our everyday lives. </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By solving these percentage questions, you learn the basic applications for this topic and how does this topic appear in different exams.</a:t>
            </a:r>
            <a:endParaRPr sz="22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2ee15abed17_3_283"/>
          <p:cNvSpPr txBox="1"/>
          <p:nvPr/>
        </p:nvSpPr>
        <p:spPr>
          <a:xfrm>
            <a:off x="720000" y="1250950"/>
            <a:ext cx="7677000" cy="3422700"/>
          </a:xfrm>
          <a:prstGeom prst="rect">
            <a:avLst/>
          </a:prstGeom>
          <a:noFill/>
          <a:ln cap="flat" cmpd="sng" w="9525">
            <a:solidFill>
              <a:schemeClr val="lt1"/>
            </a:solidFill>
            <a:prstDash val="solid"/>
            <a:round/>
            <a:headEnd len="sm" w="sm" type="none"/>
            <a:tailEnd len="sm" w="sm" type="none"/>
          </a:ln>
        </p:spPr>
        <p:txBody>
          <a:bodyPr anchorCtr="0" anchor="t" bIns="0" lIns="540000" spcFirstLastPara="1" rIns="154200" wrap="square" tIns="0">
            <a:no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 report consists of 20 sheets each of 55 lines and each such line consists of 65 characters. This report is reduced onto sheets each of 65 lines such that each line consists of 70 characters. The percentage reduction in number of sheets is closest to:</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20%</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5%</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30%</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 35%</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sz="1800">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800"/>
              <a:buFont typeface="Arial"/>
              <a:buNone/>
            </a:pPr>
            <a:r>
              <a:t/>
            </a:r>
            <a:endParaRPr i="0" sz="1800" u="none" cap="none" strike="noStrike">
              <a:solidFill>
                <a:schemeClr val="dk1"/>
              </a:solidFill>
              <a:latin typeface="Roboto"/>
              <a:ea typeface="Roboto"/>
              <a:cs typeface="Roboto"/>
              <a:sym typeface="Roboto"/>
            </a:endParaRPr>
          </a:p>
        </p:txBody>
      </p:sp>
      <p:sp>
        <p:nvSpPr>
          <p:cNvPr id="84" name="Google Shape;84;g2ee15abed17_3_283"/>
          <p:cNvSpPr txBox="1"/>
          <p:nvPr/>
        </p:nvSpPr>
        <p:spPr>
          <a:xfrm>
            <a:off x="720000" y="579950"/>
            <a:ext cx="2351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t/>
            </a:r>
            <a:endParaRPr b="0" i="0" sz="2100" u="none" cap="none" strike="noStrike">
              <a:solidFill>
                <a:srgbClr val="6D9EEB"/>
              </a:solidFill>
              <a:latin typeface="Roboto Black"/>
              <a:ea typeface="Roboto Black"/>
              <a:cs typeface="Roboto Black"/>
              <a:sym typeface="Roboto Black"/>
            </a:endParaRPr>
          </a:p>
        </p:txBody>
      </p:sp>
      <p:sp>
        <p:nvSpPr>
          <p:cNvPr id="85" name="Google Shape;85;g2ee15abed17_3_2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animEffect filter="fade" transition="in">
                                      <p:cBhvr>
                                        <p:cTn dur="1000"/>
                                        <p:tgtEl>
                                          <p:spTgt spid="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animEffect filter="fade" transition="in">
                                      <p:cBhvr>
                                        <p:cTn dur="1000"/>
                                        <p:tgtEl>
                                          <p:spTgt spid="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animEffect filter="fade" transition="in">
                                      <p:cBhvr>
                                        <p:cTn dur="1000"/>
                                        <p:tgtEl>
                                          <p:spTgt spid="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animEffect filter="fade" transition="in">
                                      <p:cBhvr>
                                        <p:cTn dur="1000"/>
                                        <p:tgtEl>
                                          <p:spTgt spid="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animEffect filter="fade" transition="in">
                                      <p:cBhvr>
                                        <p:cTn dur="1000"/>
                                        <p:tgtEl>
                                          <p:spTgt spid="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5" st="5"/>
                                            </p:txEl>
                                          </p:spTgt>
                                        </p:tgtEl>
                                        <p:attrNameLst>
                                          <p:attrName>style.visibility</p:attrName>
                                        </p:attrNameLst>
                                      </p:cBhvr>
                                      <p:to>
                                        <p:strVal val="visible"/>
                                      </p:to>
                                    </p:set>
                                    <p:animEffect filter="fade" transition="in">
                                      <p:cBhvr>
                                        <p:cTn dur="1000"/>
                                        <p:tgtEl>
                                          <p:spTgt spid="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6" st="6"/>
                                            </p:txEl>
                                          </p:spTgt>
                                        </p:tgtEl>
                                        <p:attrNameLst>
                                          <p:attrName>style.visibility</p:attrName>
                                        </p:attrNameLst>
                                      </p:cBhvr>
                                      <p:to>
                                        <p:strVal val="visible"/>
                                      </p:to>
                                    </p:set>
                                    <p:animEffect filter="fade" transition="in">
                                      <p:cBhvr>
                                        <p:cTn dur="1000"/>
                                        <p:tgtEl>
                                          <p:spTgt spid="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7" st="7"/>
                                            </p:txEl>
                                          </p:spTgt>
                                        </p:tgtEl>
                                        <p:attrNameLst>
                                          <p:attrName>style.visibility</p:attrName>
                                        </p:attrNameLst>
                                      </p:cBhvr>
                                      <p:to>
                                        <p:strVal val="visible"/>
                                      </p:to>
                                    </p:set>
                                    <p:animEffect filter="fade" transition="in">
                                      <p:cBhvr>
                                        <p:cTn dur="1000"/>
                                        <p:tgtEl>
                                          <p:spTgt spid="8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 name="Shape 89"/>
        <p:cNvGrpSpPr/>
        <p:nvPr/>
      </p:nvGrpSpPr>
      <p:grpSpPr>
        <a:xfrm>
          <a:off x="0" y="0"/>
          <a:ext cx="0" cy="0"/>
          <a:chOff x="0" y="0"/>
          <a:chExt cx="0" cy="0"/>
        </a:xfrm>
      </p:grpSpPr>
      <p:sp>
        <p:nvSpPr>
          <p:cNvPr id="90" name="Google Shape;90;g2ee15abed17_3_288"/>
          <p:cNvSpPr txBox="1"/>
          <p:nvPr/>
        </p:nvSpPr>
        <p:spPr>
          <a:xfrm>
            <a:off x="-34425" y="502200"/>
            <a:ext cx="4457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 </a:t>
            </a:r>
            <a:r>
              <a:rPr b="1" i="0" lang="en-GB" sz="2000" u="none" cap="none" strike="noStrike">
                <a:solidFill>
                  <a:schemeClr val="lt1"/>
                </a:solidFill>
                <a:latin typeface="Roboto"/>
                <a:ea typeface="Roboto"/>
                <a:cs typeface="Roboto"/>
                <a:sym typeface="Roboto"/>
              </a:rPr>
              <a:t> CLOCKS</a:t>
            </a:r>
            <a:endParaRPr b="1" i="0" sz="2000" u="none" cap="none" strike="noStrike">
              <a:solidFill>
                <a:schemeClr val="lt1"/>
              </a:solidFill>
              <a:latin typeface="Roboto"/>
              <a:ea typeface="Roboto"/>
              <a:cs typeface="Roboto"/>
              <a:sym typeface="Roboto"/>
            </a:endParaRPr>
          </a:p>
        </p:txBody>
      </p:sp>
      <p:sp>
        <p:nvSpPr>
          <p:cNvPr id="91" name="Google Shape;91;g2ee15abed17_3_288"/>
          <p:cNvSpPr txBox="1"/>
          <p:nvPr/>
        </p:nvSpPr>
        <p:spPr>
          <a:xfrm>
            <a:off x="711775" y="1439875"/>
            <a:ext cx="7657500" cy="2475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800"/>
              </a:spcBef>
              <a:spcAft>
                <a:spcPts val="0"/>
              </a:spcAft>
              <a:buClr>
                <a:schemeClr val="dk1"/>
              </a:buClr>
              <a:buSzPts val="1100"/>
              <a:buFont typeface="Arial"/>
              <a:buNone/>
            </a:pPr>
            <a:r>
              <a:t/>
            </a:r>
            <a:endParaRPr b="0" i="0" sz="2000" u="none" cap="none" strike="noStrike">
              <a:solidFill>
                <a:schemeClr val="dk1"/>
              </a:solidFill>
              <a:highlight>
                <a:schemeClr val="lt1"/>
              </a:highlight>
              <a:latin typeface="Roboto"/>
              <a:ea typeface="Roboto"/>
              <a:cs typeface="Roboto"/>
              <a:sym typeface="Roboto"/>
            </a:endParaRPr>
          </a:p>
        </p:txBody>
      </p:sp>
      <p:sp>
        <p:nvSpPr>
          <p:cNvPr id="92" name="Google Shape;92;g2ee15abed17_3_288"/>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pic>
        <p:nvPicPr>
          <p:cNvPr id="93" name="Google Shape;93;g2ee15abed17_3_288"/>
          <p:cNvPicPr preferRelativeResize="0"/>
          <p:nvPr/>
        </p:nvPicPr>
        <p:blipFill rotWithShape="1">
          <a:blip r:embed="rId3">
            <a:alphaModFix/>
          </a:blip>
          <a:srcRect b="0" l="0" r="0" t="0"/>
          <a:stretch/>
        </p:blipFill>
        <p:spPr>
          <a:xfrm>
            <a:off x="720725" y="1250950"/>
            <a:ext cx="7510875" cy="342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1000"/>
                                        <p:tgtEl>
                                          <p:spTgt spid="9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ee15abed17_3_293"/>
          <p:cNvSpPr txBox="1"/>
          <p:nvPr/>
        </p:nvSpPr>
        <p:spPr>
          <a:xfrm>
            <a:off x="747300" y="125095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The number of votes not cast for the PNC Party increased by 25% in the National General Election over those not cast for it in the previous Assembly Polls, and the PNC Party lost by a majority twice as large as that by which it had won the Assembly Polls. If a total 2,60,000 people voted each time, how many voted for the PNC Party in the previous Assembly Polls?</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1,10,000</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1,50,000</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1,40,000</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1,20,000</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800"/>
              <a:buFont typeface="Arial"/>
              <a:buNone/>
            </a:pPr>
            <a:r>
              <a:t/>
            </a:r>
            <a:endParaRPr sz="1800">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p:txBody>
      </p:sp>
      <p:sp>
        <p:nvSpPr>
          <p:cNvPr id="99" name="Google Shape;99;g2ee15abed17_3_29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animEffect filter="fade" transition="in">
                                      <p:cBhvr>
                                        <p:cTn dur="1000"/>
                                        <p:tgtEl>
                                          <p:spTgt spid="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animEffect filter="fade" transition="in">
                                      <p:cBhvr>
                                        <p:cTn dur="1000"/>
                                        <p:tgtEl>
                                          <p:spTgt spid="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animEffect filter="fade" transition="in">
                                      <p:cBhvr>
                                        <p:cTn dur="1000"/>
                                        <p:tgtEl>
                                          <p:spTgt spid="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animEffect filter="fade" transition="in">
                                      <p:cBhvr>
                                        <p:cTn dur="1000"/>
                                        <p:tgtEl>
                                          <p:spTgt spid="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animEffect filter="fade" transition="in">
                                      <p:cBhvr>
                                        <p:cTn dur="1000"/>
                                        <p:tgtEl>
                                          <p:spTgt spid="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animEffect filter="fade" transition="in">
                                      <p:cBhvr>
                                        <p:cTn dur="1000"/>
                                        <p:tgtEl>
                                          <p:spTgt spid="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animEffect filter="fade" transition="in">
                                      <p:cBhvr>
                                        <p:cTn dur="1000"/>
                                        <p:tgtEl>
                                          <p:spTgt spid="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animEffect filter="fade" transition="in">
                                      <p:cBhvr>
                                        <p:cTn dur="1000"/>
                                        <p:tgtEl>
                                          <p:spTgt spid="9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sp>
        <p:nvSpPr>
          <p:cNvPr id="104" name="Google Shape;104;g2ee15abed17_3_2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105" name="Google Shape;105;g2ee15abed17_3_297"/>
          <p:cNvSpPr txBox="1"/>
          <p:nvPr/>
        </p:nvSpPr>
        <p:spPr>
          <a:xfrm>
            <a:off x="720725" y="1250950"/>
            <a:ext cx="7576500" cy="414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Total Votes = 2,60,000</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Let </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voters voted against the party in the Assembly Poll.</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Then votes in favour = 260000 – </a:t>
            </a:r>
            <a:r>
              <a:rPr i="1" lang="en-GB" sz="1200">
                <a:solidFill>
                  <a:srgbClr val="201F1F"/>
                </a:solidFill>
                <a:highlight>
                  <a:schemeClr val="lt1"/>
                </a:highlight>
                <a:latin typeface="Roboto"/>
                <a:ea typeface="Roboto"/>
                <a:cs typeface="Roboto"/>
                <a:sym typeface="Roboto"/>
              </a:rPr>
              <a:t>x</a:t>
            </a:r>
            <a:endParaRPr i="1"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Therefore, majority of votes by which party won in previous poll = 260000– </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a:t>
            </a:r>
            <a:r>
              <a:rPr i="1" lang="en-GB" sz="1200">
                <a:solidFill>
                  <a:srgbClr val="201F1F"/>
                </a:solidFill>
                <a:highlight>
                  <a:schemeClr val="lt1"/>
                </a:highlight>
                <a:latin typeface="Roboto"/>
                <a:ea typeface="Roboto"/>
                <a:cs typeface="Roboto"/>
                <a:sym typeface="Roboto"/>
              </a:rPr>
              <a:t>260000</a:t>
            </a:r>
            <a:r>
              <a:rPr lang="en-GB" sz="1200">
                <a:solidFill>
                  <a:srgbClr val="201F1F"/>
                </a:solidFill>
                <a:highlight>
                  <a:schemeClr val="lt1"/>
                </a:highlight>
                <a:latin typeface="Roboto"/>
                <a:ea typeface="Roboto"/>
                <a:cs typeface="Roboto"/>
                <a:sym typeface="Roboto"/>
              </a:rPr>
              <a:t> – 2</a:t>
            </a:r>
            <a:r>
              <a:rPr i="1" lang="en-GB" sz="1200">
                <a:solidFill>
                  <a:srgbClr val="201F1F"/>
                </a:solidFill>
                <a:highlight>
                  <a:schemeClr val="lt1"/>
                </a:highlight>
                <a:latin typeface="Roboto"/>
                <a:ea typeface="Roboto"/>
                <a:cs typeface="Roboto"/>
                <a:sym typeface="Roboto"/>
              </a:rPr>
              <a:t>x</a:t>
            </a:r>
            <a:endParaRPr i="1"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Next year votes against the PNC party increase by 25%</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So, votes against the party in general election = 1.25 </a:t>
            </a:r>
            <a:r>
              <a:rPr i="1" lang="en-GB" sz="1200">
                <a:solidFill>
                  <a:srgbClr val="201F1F"/>
                </a:solidFill>
                <a:highlight>
                  <a:schemeClr val="lt1"/>
                </a:highlight>
                <a:latin typeface="Roboto"/>
                <a:ea typeface="Roboto"/>
                <a:cs typeface="Roboto"/>
                <a:sym typeface="Roboto"/>
              </a:rPr>
              <a:t>x</a:t>
            </a:r>
            <a:endParaRPr i="1"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And votes polled in favour of the party = total votes  – votes against = 260000 – 1.25x</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Therefore, majority of votes by which party lost in general election</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 1.25</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(260000 – 1.25</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2.5</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260000</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It is given that, PNC Party lost by a majority twice as large as that by which it had won the Assembly Polls, Therefore</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2.5</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260000 = 2(260000 – 2</a:t>
            </a:r>
            <a:r>
              <a:rPr i="1" lang="en-GB" sz="1200">
                <a:solidFill>
                  <a:srgbClr val="201F1F"/>
                </a:solidFill>
                <a:highlight>
                  <a:schemeClr val="lt1"/>
                </a:highlight>
                <a:latin typeface="Roboto"/>
                <a:ea typeface="Roboto"/>
                <a:cs typeface="Roboto"/>
                <a:sym typeface="Roboto"/>
              </a:rPr>
              <a:t> x</a:t>
            </a:r>
            <a:r>
              <a:rPr lang="en-GB" sz="1200">
                <a:solidFill>
                  <a:srgbClr val="201F1F"/>
                </a:solidFill>
                <a:highlight>
                  <a:schemeClr val="lt1"/>
                </a:highlight>
                <a:latin typeface="Roboto"/>
                <a:ea typeface="Roboto"/>
                <a:cs typeface="Roboto"/>
                <a:sym typeface="Roboto"/>
              </a:rPr>
              <a:t>)</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 2.5</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260000 = 2 260000 – 4</a:t>
            </a:r>
            <a:r>
              <a:rPr i="1" lang="en-GB" sz="1200">
                <a:solidFill>
                  <a:srgbClr val="201F1F"/>
                </a:solidFill>
                <a:highlight>
                  <a:schemeClr val="lt1"/>
                </a:highlight>
                <a:latin typeface="Roboto"/>
                <a:ea typeface="Roboto"/>
                <a:cs typeface="Roboto"/>
                <a:sym typeface="Roboto"/>
              </a:rPr>
              <a:t>x</a:t>
            </a:r>
            <a:endParaRPr i="1"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 6.5</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3260000⇒</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1,20,000</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Therefore, votes polled by the voters for the party in Assembly Polls for previous year</a:t>
            </a:r>
            <a:endParaRPr sz="12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200">
                <a:solidFill>
                  <a:srgbClr val="201F1F"/>
                </a:solidFill>
                <a:highlight>
                  <a:schemeClr val="lt1"/>
                </a:highlight>
                <a:latin typeface="Roboto"/>
                <a:ea typeface="Roboto"/>
                <a:cs typeface="Roboto"/>
                <a:sym typeface="Roboto"/>
              </a:rPr>
              <a:t>= (2,60,000 – </a:t>
            </a:r>
            <a:r>
              <a:rPr i="1" lang="en-GB" sz="1200">
                <a:solidFill>
                  <a:srgbClr val="201F1F"/>
                </a:solidFill>
                <a:highlight>
                  <a:schemeClr val="lt1"/>
                </a:highlight>
                <a:latin typeface="Roboto"/>
                <a:ea typeface="Roboto"/>
                <a:cs typeface="Roboto"/>
                <a:sym typeface="Roboto"/>
              </a:rPr>
              <a:t>x</a:t>
            </a:r>
            <a:r>
              <a:rPr lang="en-GB" sz="1200">
                <a:solidFill>
                  <a:srgbClr val="201F1F"/>
                </a:solidFill>
                <a:highlight>
                  <a:schemeClr val="lt1"/>
                </a:highlight>
                <a:latin typeface="Roboto"/>
                <a:ea typeface="Roboto"/>
                <a:cs typeface="Roboto"/>
                <a:sym typeface="Roboto"/>
              </a:rPr>
              <a:t>) = (2,60,000 – 1,20,000) = 1,40,000.</a:t>
            </a:r>
            <a:endParaRPr sz="1200">
              <a:solidFill>
                <a:srgbClr val="201F1F"/>
              </a:solidFill>
              <a:highlight>
                <a:schemeClr val="lt1"/>
              </a:highlight>
              <a:latin typeface="Roboto"/>
              <a:ea typeface="Roboto"/>
              <a:cs typeface="Roboto"/>
              <a:sym typeface="Roboto"/>
            </a:endParaRPr>
          </a:p>
          <a:p>
            <a:pPr indent="0" lvl="0" marL="0" rtl="0" algn="l">
              <a:lnSpc>
                <a:spcPct val="150000"/>
              </a:lnSpc>
              <a:spcBef>
                <a:spcPts val="0"/>
              </a:spcBef>
              <a:spcAft>
                <a:spcPts val="0"/>
              </a:spcAft>
              <a:buClr>
                <a:schemeClr val="dk1"/>
              </a:buClr>
              <a:buSzPts val="1800"/>
              <a:buFont typeface="Arial"/>
              <a:buNone/>
            </a:pPr>
            <a:r>
              <a:t/>
            </a:r>
            <a:endParaRPr sz="1200">
              <a:solidFill>
                <a:schemeClr val="dk1"/>
              </a:solidFill>
              <a:latin typeface="Roboto"/>
              <a:ea typeface="Roboto"/>
              <a:cs typeface="Roboto"/>
              <a:sym typeface="Roboto"/>
            </a:endParaRPr>
          </a:p>
          <a:p>
            <a:pPr indent="0" lvl="0" marL="0" marR="0" rtl="0" algn="just">
              <a:lnSpc>
                <a:spcPct val="115000"/>
              </a:lnSpc>
              <a:spcBef>
                <a:spcPts val="800"/>
              </a:spcBef>
              <a:spcAft>
                <a:spcPts val="0"/>
              </a:spcAft>
              <a:buClr>
                <a:schemeClr val="dk1"/>
              </a:buClr>
              <a:buSzPts val="1800"/>
              <a:buFont typeface="Arial"/>
              <a:buNone/>
            </a:pPr>
            <a:r>
              <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g2ee15abed17_3_301"/>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11" name="Google Shape;111;g2ee15abed17_3_301"/>
          <p:cNvSpPr txBox="1"/>
          <p:nvPr/>
        </p:nvSpPr>
        <p:spPr>
          <a:xfrm>
            <a:off x="720000" y="1439875"/>
            <a:ext cx="76494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t/>
            </a:r>
            <a:endParaRPr b="0" i="0" sz="3500" u="none" cap="none" strike="noStrike">
              <a:solidFill>
                <a:srgbClr val="8182EF"/>
              </a:solidFill>
              <a:latin typeface="Roboto Black"/>
              <a:ea typeface="Roboto Black"/>
              <a:cs typeface="Roboto Black"/>
              <a:sym typeface="Roboto Black"/>
            </a:endParaRPr>
          </a:p>
        </p:txBody>
      </p:sp>
      <p:sp>
        <p:nvSpPr>
          <p:cNvPr id="112" name="Google Shape;112;g2ee15abed17_3_301"/>
          <p:cNvSpPr txBox="1"/>
          <p:nvPr/>
        </p:nvSpPr>
        <p:spPr>
          <a:xfrm>
            <a:off x="747300" y="125095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2/5th of the voters promise to vote for A and the rest promised to vote for B. Of these, on the last day 15% of the voters went back of their promise to vote for A and 25% of voters went back of their promise to vote for B, and A lost by 200 votes. Then, the total number of voters is: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10000</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11000</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9000</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 9500</a:t>
            </a:r>
            <a:endParaRPr sz="1800">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p:txBody>
      </p:sp>
      <p:sp>
        <p:nvSpPr>
          <p:cNvPr id="113" name="Google Shape;113;g2ee15abed17_3_301"/>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7" name="Shape 117"/>
        <p:cNvGrpSpPr/>
        <p:nvPr/>
      </p:nvGrpSpPr>
      <p:grpSpPr>
        <a:xfrm>
          <a:off x="0" y="0"/>
          <a:ext cx="0" cy="0"/>
          <a:chOff x="0" y="0"/>
          <a:chExt cx="0" cy="0"/>
        </a:xfrm>
      </p:grpSpPr>
      <p:sp>
        <p:nvSpPr>
          <p:cNvPr id="118" name="Google Shape;118;g2ee15abed17_3_306"/>
          <p:cNvSpPr txBox="1"/>
          <p:nvPr/>
        </p:nvSpPr>
        <p:spPr>
          <a:xfrm>
            <a:off x="327600" y="338142"/>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19" name="Google Shape;119;g2ee15abed17_3_306"/>
          <p:cNvSpPr txBox="1"/>
          <p:nvPr/>
        </p:nvSpPr>
        <p:spPr>
          <a:xfrm>
            <a:off x="720000" y="1440000"/>
            <a:ext cx="7384200" cy="3261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500" u="none" cap="none" strike="noStrike">
              <a:solidFill>
                <a:schemeClr val="dk1"/>
              </a:solidFill>
              <a:latin typeface="Roboto"/>
              <a:ea typeface="Roboto"/>
              <a:cs typeface="Roboto"/>
              <a:sym typeface="Roboto"/>
            </a:endParaRPr>
          </a:p>
        </p:txBody>
      </p:sp>
      <p:sp>
        <p:nvSpPr>
          <p:cNvPr id="120" name="Google Shape;120;g2ee15abed17_3_30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pic>
        <p:nvPicPr>
          <p:cNvPr id="121" name="Google Shape;121;g2ee15abed17_3_306"/>
          <p:cNvPicPr preferRelativeResize="0"/>
          <p:nvPr/>
        </p:nvPicPr>
        <p:blipFill rotWithShape="1">
          <a:blip r:embed="rId3">
            <a:alphaModFix/>
          </a:blip>
          <a:srcRect b="0" l="0" r="0" t="0"/>
          <a:stretch/>
        </p:blipFill>
        <p:spPr>
          <a:xfrm>
            <a:off x="720725" y="1250950"/>
            <a:ext cx="6975950" cy="34509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1b9bf173ee_0_17"/>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127" name="Google Shape;127;g31b9bf173ee_0_17"/>
          <p:cNvSpPr txBox="1"/>
          <p:nvPr/>
        </p:nvSpPr>
        <p:spPr>
          <a:xfrm>
            <a:off x="720725" y="1250950"/>
            <a:ext cx="7720800" cy="343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 person who has a certain amount with him goes to market. He can buy 50 oranges or 40 mangoes. He retains 10% of the amount for taxi fares and buys 20 mangoes and of the balance, he purchases oranges. Number of oranges he can purchase is:</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36</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40</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15</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 20</a:t>
            </a:r>
            <a:endParaRPr sz="1800">
              <a:solidFill>
                <a:schemeClr val="dk1"/>
              </a:solidFill>
              <a:latin typeface="Roboto"/>
              <a:ea typeface="Roboto"/>
              <a:cs typeface="Roboto"/>
              <a:sym typeface="Roboto"/>
            </a:endParaRPr>
          </a:p>
          <a:p>
            <a:pPr indent="0" lvl="0" marL="0" marR="0" rtl="0" algn="l">
              <a:lnSpc>
                <a:spcPct val="150000"/>
              </a:lnSpc>
              <a:spcBef>
                <a:spcPts val="800"/>
              </a:spcBef>
              <a:spcAft>
                <a:spcPts val="800"/>
              </a:spcAft>
              <a:buClr>
                <a:schemeClr val="dk1"/>
              </a:buClr>
              <a:buSzPts val="1400"/>
              <a:buFont typeface="Arial"/>
              <a:buNone/>
            </a:pPr>
            <a:r>
              <a:t/>
            </a:r>
            <a:endParaRPr sz="18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 name="Shape 131"/>
        <p:cNvGrpSpPr/>
        <p:nvPr/>
      </p:nvGrpSpPr>
      <p:grpSpPr>
        <a:xfrm>
          <a:off x="0" y="0"/>
          <a:ext cx="0" cy="0"/>
          <a:chOff x="0" y="0"/>
          <a:chExt cx="0" cy="0"/>
        </a:xfrm>
      </p:grpSpPr>
      <p:sp>
        <p:nvSpPr>
          <p:cNvPr id="132" name="Google Shape;132;g2ee15abed17_3_313"/>
          <p:cNvSpPr txBox="1"/>
          <p:nvPr/>
        </p:nvSpPr>
        <p:spPr>
          <a:xfrm>
            <a:off x="747300" y="1250950"/>
            <a:ext cx="7649400" cy="3245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The person can buy 50 oranges or 40 mangoes.</a:t>
            </a:r>
            <a:endParaRPr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Let the price of one orange be Rs. </a:t>
            </a:r>
            <a:r>
              <a:rPr i="1" lang="en-GB" sz="1700">
                <a:solidFill>
                  <a:srgbClr val="201F1F"/>
                </a:solidFill>
                <a:highlight>
                  <a:schemeClr val="lt1"/>
                </a:highlight>
                <a:latin typeface="Roboto"/>
                <a:ea typeface="Roboto"/>
                <a:cs typeface="Roboto"/>
                <a:sym typeface="Roboto"/>
              </a:rPr>
              <a:t>x</a:t>
            </a:r>
            <a:endParaRPr i="1"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Total amount the person has = Rs. 50</a:t>
            </a:r>
            <a:r>
              <a:rPr i="1" lang="en-GB" sz="1700">
                <a:solidFill>
                  <a:srgbClr val="201F1F"/>
                </a:solidFill>
                <a:highlight>
                  <a:schemeClr val="lt1"/>
                </a:highlight>
                <a:latin typeface="Roboto"/>
                <a:ea typeface="Roboto"/>
                <a:cs typeface="Roboto"/>
                <a:sym typeface="Roboto"/>
              </a:rPr>
              <a:t>x</a:t>
            </a:r>
            <a:endParaRPr i="1"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40 mangoes cost 50</a:t>
            </a:r>
            <a:r>
              <a:rPr i="1" lang="en-GB" sz="1700">
                <a:solidFill>
                  <a:srgbClr val="201F1F"/>
                </a:solidFill>
                <a:highlight>
                  <a:schemeClr val="lt1"/>
                </a:highlight>
                <a:latin typeface="Roboto"/>
                <a:ea typeface="Roboto"/>
                <a:cs typeface="Roboto"/>
                <a:sym typeface="Roboto"/>
              </a:rPr>
              <a:t>x</a:t>
            </a:r>
            <a:r>
              <a:rPr lang="en-GB" sz="1700">
                <a:solidFill>
                  <a:srgbClr val="201F1F"/>
                </a:solidFill>
                <a:highlight>
                  <a:schemeClr val="lt1"/>
                </a:highlight>
                <a:latin typeface="Roboto"/>
                <a:ea typeface="Roboto"/>
                <a:cs typeface="Roboto"/>
                <a:sym typeface="Roboto"/>
              </a:rPr>
              <a:t>, So one mango costs 1.25</a:t>
            </a:r>
            <a:r>
              <a:rPr i="1" lang="en-GB" sz="1700">
                <a:solidFill>
                  <a:srgbClr val="201F1F"/>
                </a:solidFill>
                <a:highlight>
                  <a:schemeClr val="lt1"/>
                </a:highlight>
                <a:latin typeface="Roboto"/>
                <a:ea typeface="Roboto"/>
                <a:cs typeface="Roboto"/>
                <a:sym typeface="Roboto"/>
              </a:rPr>
              <a:t>x</a:t>
            </a:r>
            <a:endParaRPr i="1"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10% of the total amount is retained for taxi fare = 10% of 50</a:t>
            </a:r>
            <a:r>
              <a:rPr i="1" lang="en-GB" sz="1700">
                <a:solidFill>
                  <a:srgbClr val="201F1F"/>
                </a:solidFill>
                <a:highlight>
                  <a:schemeClr val="lt1"/>
                </a:highlight>
                <a:latin typeface="Roboto"/>
                <a:ea typeface="Roboto"/>
                <a:cs typeface="Roboto"/>
                <a:sym typeface="Roboto"/>
              </a:rPr>
              <a:t>x</a:t>
            </a:r>
            <a:r>
              <a:rPr lang="en-GB" sz="1700">
                <a:solidFill>
                  <a:srgbClr val="201F1F"/>
                </a:solidFill>
                <a:highlight>
                  <a:schemeClr val="lt1"/>
                </a:highlight>
                <a:latin typeface="Roboto"/>
                <a:ea typeface="Roboto"/>
                <a:cs typeface="Roboto"/>
                <a:sym typeface="Roboto"/>
              </a:rPr>
              <a:t> = 5</a:t>
            </a:r>
            <a:r>
              <a:rPr i="1" lang="en-GB" sz="1700">
                <a:solidFill>
                  <a:srgbClr val="201F1F"/>
                </a:solidFill>
                <a:highlight>
                  <a:schemeClr val="lt1"/>
                </a:highlight>
                <a:latin typeface="Roboto"/>
                <a:ea typeface="Roboto"/>
                <a:cs typeface="Roboto"/>
                <a:sym typeface="Roboto"/>
              </a:rPr>
              <a:t>x</a:t>
            </a:r>
            <a:endParaRPr i="1"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20 mangoes bought for 20 x 1.25</a:t>
            </a:r>
            <a:r>
              <a:rPr i="1" lang="en-GB" sz="1700">
                <a:solidFill>
                  <a:srgbClr val="201F1F"/>
                </a:solidFill>
                <a:highlight>
                  <a:schemeClr val="lt1"/>
                </a:highlight>
                <a:latin typeface="Roboto"/>
                <a:ea typeface="Roboto"/>
                <a:cs typeface="Roboto"/>
                <a:sym typeface="Roboto"/>
              </a:rPr>
              <a:t>x</a:t>
            </a:r>
            <a:r>
              <a:rPr lang="en-GB" sz="1700">
                <a:solidFill>
                  <a:srgbClr val="201F1F"/>
                </a:solidFill>
                <a:highlight>
                  <a:schemeClr val="lt1"/>
                </a:highlight>
                <a:latin typeface="Roboto"/>
                <a:ea typeface="Roboto"/>
                <a:cs typeface="Roboto"/>
                <a:sym typeface="Roboto"/>
              </a:rPr>
              <a:t> = 25</a:t>
            </a:r>
            <a:r>
              <a:rPr i="1" lang="en-GB" sz="1700">
                <a:solidFill>
                  <a:srgbClr val="201F1F"/>
                </a:solidFill>
                <a:highlight>
                  <a:schemeClr val="lt1"/>
                </a:highlight>
                <a:latin typeface="Roboto"/>
                <a:ea typeface="Roboto"/>
                <a:cs typeface="Roboto"/>
                <a:sym typeface="Roboto"/>
              </a:rPr>
              <a:t>x</a:t>
            </a:r>
            <a:endParaRPr i="1"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Money left with the person = 50</a:t>
            </a:r>
            <a:r>
              <a:rPr i="1" lang="en-GB" sz="1700">
                <a:solidFill>
                  <a:srgbClr val="201F1F"/>
                </a:solidFill>
                <a:highlight>
                  <a:schemeClr val="lt1"/>
                </a:highlight>
                <a:latin typeface="Roboto"/>
                <a:ea typeface="Roboto"/>
                <a:cs typeface="Roboto"/>
                <a:sym typeface="Roboto"/>
              </a:rPr>
              <a:t>x</a:t>
            </a:r>
            <a:r>
              <a:rPr lang="en-GB" sz="1700">
                <a:solidFill>
                  <a:srgbClr val="201F1F"/>
                </a:solidFill>
                <a:highlight>
                  <a:schemeClr val="lt1"/>
                </a:highlight>
                <a:latin typeface="Roboto"/>
                <a:ea typeface="Roboto"/>
                <a:cs typeface="Roboto"/>
                <a:sym typeface="Roboto"/>
              </a:rPr>
              <a:t> – (Taxi fare) – (Mangoes cost)</a:t>
            </a:r>
            <a:endParaRPr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 50</a:t>
            </a:r>
            <a:r>
              <a:rPr i="1" lang="en-GB" sz="1700">
                <a:solidFill>
                  <a:srgbClr val="201F1F"/>
                </a:solidFill>
                <a:highlight>
                  <a:schemeClr val="lt1"/>
                </a:highlight>
                <a:latin typeface="Roboto"/>
                <a:ea typeface="Roboto"/>
                <a:cs typeface="Roboto"/>
                <a:sym typeface="Roboto"/>
              </a:rPr>
              <a:t>x</a:t>
            </a:r>
            <a:r>
              <a:rPr lang="en-GB" sz="1700">
                <a:solidFill>
                  <a:srgbClr val="201F1F"/>
                </a:solidFill>
                <a:highlight>
                  <a:schemeClr val="lt1"/>
                </a:highlight>
                <a:latin typeface="Roboto"/>
                <a:ea typeface="Roboto"/>
                <a:cs typeface="Roboto"/>
                <a:sym typeface="Roboto"/>
              </a:rPr>
              <a:t> – 5</a:t>
            </a:r>
            <a:r>
              <a:rPr i="1" lang="en-GB" sz="1700">
                <a:solidFill>
                  <a:srgbClr val="201F1F"/>
                </a:solidFill>
                <a:highlight>
                  <a:schemeClr val="lt1"/>
                </a:highlight>
                <a:latin typeface="Roboto"/>
                <a:ea typeface="Roboto"/>
                <a:cs typeface="Roboto"/>
                <a:sym typeface="Roboto"/>
              </a:rPr>
              <a:t>x</a:t>
            </a:r>
            <a:r>
              <a:rPr lang="en-GB" sz="1700">
                <a:solidFill>
                  <a:srgbClr val="201F1F"/>
                </a:solidFill>
                <a:highlight>
                  <a:schemeClr val="lt1"/>
                </a:highlight>
                <a:latin typeface="Roboto"/>
                <a:ea typeface="Roboto"/>
                <a:cs typeface="Roboto"/>
                <a:sym typeface="Roboto"/>
              </a:rPr>
              <a:t> – 25</a:t>
            </a:r>
            <a:r>
              <a:rPr i="1" lang="en-GB" sz="1700">
                <a:solidFill>
                  <a:srgbClr val="201F1F"/>
                </a:solidFill>
                <a:highlight>
                  <a:schemeClr val="lt1"/>
                </a:highlight>
                <a:latin typeface="Roboto"/>
                <a:ea typeface="Roboto"/>
                <a:cs typeface="Roboto"/>
                <a:sym typeface="Roboto"/>
              </a:rPr>
              <a:t>x </a:t>
            </a:r>
            <a:r>
              <a:rPr lang="en-GB" sz="1700">
                <a:solidFill>
                  <a:srgbClr val="201F1F"/>
                </a:solidFill>
                <a:highlight>
                  <a:schemeClr val="lt1"/>
                </a:highlight>
                <a:latin typeface="Roboto"/>
                <a:ea typeface="Roboto"/>
                <a:cs typeface="Roboto"/>
                <a:sym typeface="Roboto"/>
              </a:rPr>
              <a:t>= 20</a:t>
            </a:r>
            <a:r>
              <a:rPr i="1" lang="en-GB" sz="1700">
                <a:solidFill>
                  <a:srgbClr val="201F1F"/>
                </a:solidFill>
                <a:highlight>
                  <a:schemeClr val="lt1"/>
                </a:highlight>
                <a:latin typeface="Roboto"/>
                <a:ea typeface="Roboto"/>
                <a:cs typeface="Roboto"/>
                <a:sym typeface="Roboto"/>
              </a:rPr>
              <a:t>x</a:t>
            </a:r>
            <a:endParaRPr i="1"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One Orange was for Rs. </a:t>
            </a:r>
            <a:r>
              <a:rPr i="1" lang="en-GB" sz="1700">
                <a:solidFill>
                  <a:srgbClr val="201F1F"/>
                </a:solidFill>
                <a:highlight>
                  <a:schemeClr val="lt1"/>
                </a:highlight>
                <a:latin typeface="Roboto"/>
                <a:ea typeface="Roboto"/>
                <a:cs typeface="Roboto"/>
                <a:sym typeface="Roboto"/>
              </a:rPr>
              <a:t>x</a:t>
            </a:r>
            <a:r>
              <a:rPr lang="en-GB" sz="1700">
                <a:solidFill>
                  <a:srgbClr val="201F1F"/>
                </a:solidFill>
                <a:highlight>
                  <a:schemeClr val="lt1"/>
                </a:highlight>
                <a:latin typeface="Roboto"/>
                <a:ea typeface="Roboto"/>
                <a:cs typeface="Roboto"/>
                <a:sym typeface="Roboto"/>
              </a:rPr>
              <a:t>, Therefore, 20 oranges can be bought with Rs. </a:t>
            </a:r>
            <a:r>
              <a:rPr i="1" lang="en-GB" sz="1700">
                <a:solidFill>
                  <a:srgbClr val="201F1F"/>
                </a:solidFill>
                <a:highlight>
                  <a:schemeClr val="lt1"/>
                </a:highlight>
                <a:latin typeface="Roboto"/>
                <a:ea typeface="Roboto"/>
                <a:cs typeface="Roboto"/>
                <a:sym typeface="Roboto"/>
              </a:rPr>
              <a:t>20 x</a:t>
            </a:r>
            <a:endParaRPr i="1"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700">
                <a:solidFill>
                  <a:srgbClr val="201F1F"/>
                </a:solidFill>
                <a:highlight>
                  <a:schemeClr val="lt1"/>
                </a:highlight>
                <a:latin typeface="Roboto"/>
                <a:ea typeface="Roboto"/>
                <a:cs typeface="Roboto"/>
                <a:sym typeface="Roboto"/>
              </a:rPr>
              <a:t>Thus, the person bought 20 oranges.</a:t>
            </a:r>
            <a:endParaRPr sz="1700">
              <a:solidFill>
                <a:srgbClr val="201F1F"/>
              </a:solidFill>
              <a:highlight>
                <a:schemeClr val="lt1"/>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700">
              <a:solidFill>
                <a:srgbClr val="201F1F"/>
              </a:solidFill>
              <a:highlight>
                <a:schemeClr val="lt1"/>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800"/>
              <a:buFont typeface="Arial"/>
              <a:buNone/>
            </a:pPr>
            <a:r>
              <a:t/>
            </a:r>
            <a:endParaRPr sz="1700">
              <a:solidFill>
                <a:schemeClr val="dk1"/>
              </a:solidFill>
              <a:latin typeface="Roboto"/>
              <a:ea typeface="Roboto"/>
              <a:cs typeface="Roboto"/>
              <a:sym typeface="Roboto"/>
            </a:endParaRPr>
          </a:p>
        </p:txBody>
      </p:sp>
      <p:sp>
        <p:nvSpPr>
          <p:cNvPr id="133" name="Google Shape;133;g2ee15abed17_3_31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ee15abed17_3_318"/>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16</a:t>
            </a:r>
            <a:endParaRPr b="0" i="0" sz="2000" u="none" cap="none" strike="noStrike">
              <a:solidFill>
                <a:schemeClr val="lt1"/>
              </a:solidFill>
              <a:latin typeface="Roboto"/>
              <a:ea typeface="Roboto"/>
              <a:cs typeface="Roboto"/>
              <a:sym typeface="Roboto"/>
            </a:endParaRPr>
          </a:p>
        </p:txBody>
      </p:sp>
      <p:sp>
        <p:nvSpPr>
          <p:cNvPr id="139" name="Google Shape;139;g2ee15abed17_3_318"/>
          <p:cNvSpPr txBox="1"/>
          <p:nvPr/>
        </p:nvSpPr>
        <p:spPr>
          <a:xfrm>
            <a:off x="747300" y="125095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Forty per cent of the employees of a certain company are men and 75% of the men earn more than Rs. 25,000 per year. If 45% of the company’s employees earn more than Rs. 25,000 per year, what fraction of the women employed by the company earn Rs. 25,000 or less per year?</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2/11</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1/4</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1/3</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3/4</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800"/>
              <a:buFont typeface="Arial"/>
              <a:buNone/>
            </a:pPr>
            <a:r>
              <a:t/>
            </a:r>
            <a:endParaRPr sz="1800">
              <a:solidFill>
                <a:schemeClr val="dk1"/>
              </a:solidFill>
            </a:endParaRPr>
          </a:p>
          <a:p>
            <a:pPr indent="0" lvl="0" marL="0" marR="0" rtl="0" algn="l">
              <a:lnSpc>
                <a:spcPct val="150000"/>
              </a:lnSpc>
              <a:spcBef>
                <a:spcPts val="800"/>
              </a:spcBef>
              <a:spcAft>
                <a:spcPts val="0"/>
              </a:spcAft>
              <a:buClr>
                <a:schemeClr val="dk1"/>
              </a:buClr>
              <a:buSzPts val="1400"/>
              <a:buFont typeface="Arial"/>
              <a:buNone/>
            </a:pPr>
            <a:r>
              <a:t/>
            </a:r>
            <a:endParaRPr sz="17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40" name="Google Shape;140;g2ee15abed17_3_3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Effect filter="fade" transition="in">
                                      <p:cBhvr>
                                        <p:cTn dur="1000"/>
                                        <p:tgtEl>
                                          <p:spTgt spid="1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Effect filter="fade" transition="in">
                                      <p:cBhvr>
                                        <p:cTn dur="1000"/>
                                        <p:tgtEl>
                                          <p:spTgt spid="1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Effect filter="fade" transition="in">
                                      <p:cBhvr>
                                        <p:cTn dur="1000"/>
                                        <p:tgtEl>
                                          <p:spTgt spid="1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Effect filter="fade" transition="in">
                                      <p:cBhvr>
                                        <p:cTn dur="1000"/>
                                        <p:tgtEl>
                                          <p:spTgt spid="1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Effect filter="fade" transition="in">
                                      <p:cBhvr>
                                        <p:cTn dur="1000"/>
                                        <p:tgtEl>
                                          <p:spTgt spid="1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animEffect filter="fade" transition="in">
                                      <p:cBhvr>
                                        <p:cTn dur="1000"/>
                                        <p:tgtEl>
                                          <p:spTgt spid="1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animEffect filter="fade" transition="in">
                                      <p:cBhvr>
                                        <p:cTn dur="1000"/>
                                        <p:tgtEl>
                                          <p:spTgt spid="13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animEffect filter="fade" transition="in">
                                      <p:cBhvr>
                                        <p:cTn dur="1000"/>
                                        <p:tgtEl>
                                          <p:spTgt spid="13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8" st="8"/>
                                            </p:txEl>
                                          </p:spTgt>
                                        </p:tgtEl>
                                        <p:attrNameLst>
                                          <p:attrName>style.visibility</p:attrName>
                                        </p:attrNameLst>
                                      </p:cBhvr>
                                      <p:to>
                                        <p:strVal val="visible"/>
                                      </p:to>
                                    </p:set>
                                    <p:animEffect filter="fade" transition="in">
                                      <p:cBhvr>
                                        <p:cTn dur="1000"/>
                                        <p:tgtEl>
                                          <p:spTgt spid="13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g2ee15abed17_3_325"/>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146" name="Google Shape;146;g2ee15abed17_3_325"/>
          <p:cNvSpPr txBox="1"/>
          <p:nvPr/>
        </p:nvSpPr>
        <p:spPr>
          <a:xfrm>
            <a:off x="720725" y="1354400"/>
            <a:ext cx="7359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Let the total number of employees in the company be </a:t>
            </a:r>
            <a:r>
              <a:rPr i="1" lang="en-GB" sz="1050">
                <a:solidFill>
                  <a:srgbClr val="201F1F"/>
                </a:solidFill>
                <a:highlight>
                  <a:schemeClr val="lt1"/>
                </a:highlight>
                <a:latin typeface="Open Sans"/>
                <a:ea typeface="Open Sans"/>
                <a:cs typeface="Open Sans"/>
                <a:sym typeface="Open Sans"/>
              </a:rPr>
              <a:t>x</a:t>
            </a:r>
            <a:endParaRPr i="1"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Then the number of men and women be 0.4</a:t>
            </a:r>
            <a:r>
              <a:rPr i="1" lang="en-GB" sz="1050">
                <a:solidFill>
                  <a:srgbClr val="201F1F"/>
                </a:solidFill>
                <a:highlight>
                  <a:schemeClr val="lt1"/>
                </a:highlight>
                <a:latin typeface="Open Sans"/>
                <a:ea typeface="Open Sans"/>
                <a:cs typeface="Open Sans"/>
                <a:sym typeface="Open Sans"/>
              </a:rPr>
              <a:t>x</a:t>
            </a:r>
            <a:r>
              <a:rPr lang="en-GB" sz="1050">
                <a:solidFill>
                  <a:srgbClr val="201F1F"/>
                </a:solidFill>
                <a:highlight>
                  <a:schemeClr val="lt1"/>
                </a:highlight>
                <a:latin typeface="Open Sans"/>
                <a:ea typeface="Open Sans"/>
                <a:cs typeface="Open Sans"/>
                <a:sym typeface="Open Sans"/>
              </a:rPr>
              <a:t> and 0.6</a:t>
            </a:r>
            <a:r>
              <a:rPr i="1" lang="en-GB" sz="1050">
                <a:solidFill>
                  <a:srgbClr val="201F1F"/>
                </a:solidFill>
                <a:highlight>
                  <a:schemeClr val="lt1"/>
                </a:highlight>
                <a:latin typeface="Open Sans"/>
                <a:ea typeface="Open Sans"/>
                <a:cs typeface="Open Sans"/>
                <a:sym typeface="Open Sans"/>
              </a:rPr>
              <a:t>x</a:t>
            </a:r>
            <a:r>
              <a:rPr lang="en-GB" sz="1050">
                <a:solidFill>
                  <a:srgbClr val="201F1F"/>
                </a:solidFill>
                <a:highlight>
                  <a:schemeClr val="lt1"/>
                </a:highlight>
                <a:latin typeface="Open Sans"/>
                <a:ea typeface="Open Sans"/>
                <a:cs typeface="Open Sans"/>
                <a:sym typeface="Open Sans"/>
              </a:rPr>
              <a:t> respectively.</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75% of men earn more than Rs. 25000 =&gt; 0.75 x 0.4 </a:t>
            </a:r>
            <a:r>
              <a:rPr i="1" lang="en-GB" sz="1050">
                <a:solidFill>
                  <a:srgbClr val="201F1F"/>
                </a:solidFill>
                <a:highlight>
                  <a:schemeClr val="lt1"/>
                </a:highlight>
                <a:latin typeface="Open Sans"/>
                <a:ea typeface="Open Sans"/>
                <a:cs typeface="Open Sans"/>
                <a:sym typeface="Open Sans"/>
              </a:rPr>
              <a:t>x </a:t>
            </a:r>
            <a:r>
              <a:rPr lang="en-GB" sz="1050">
                <a:solidFill>
                  <a:srgbClr val="201F1F"/>
                </a:solidFill>
                <a:highlight>
                  <a:schemeClr val="lt1"/>
                </a:highlight>
                <a:latin typeface="Open Sans"/>
                <a:ea typeface="Open Sans"/>
                <a:cs typeface="Open Sans"/>
                <a:sym typeface="Open Sans"/>
              </a:rPr>
              <a:t>= 0.3 </a:t>
            </a:r>
            <a:r>
              <a:rPr i="1" lang="en-GB" sz="1050">
                <a:solidFill>
                  <a:srgbClr val="201F1F"/>
                </a:solidFill>
                <a:highlight>
                  <a:schemeClr val="lt1"/>
                </a:highlight>
                <a:latin typeface="Open Sans"/>
                <a:ea typeface="Open Sans"/>
                <a:cs typeface="Open Sans"/>
                <a:sym typeface="Open Sans"/>
              </a:rPr>
              <a:t>x</a:t>
            </a:r>
            <a:endParaRPr i="1"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Total number of employees earning more than Rs. 25000 = 45% </a:t>
            </a:r>
            <a:r>
              <a:rPr i="1" lang="en-GB" sz="1050">
                <a:solidFill>
                  <a:srgbClr val="201F1F"/>
                </a:solidFill>
                <a:highlight>
                  <a:schemeClr val="lt1"/>
                </a:highlight>
                <a:latin typeface="Open Sans"/>
                <a:ea typeface="Open Sans"/>
                <a:cs typeface="Open Sans"/>
                <a:sym typeface="Open Sans"/>
              </a:rPr>
              <a:t>x</a:t>
            </a:r>
            <a:r>
              <a:rPr lang="en-GB" sz="1050">
                <a:solidFill>
                  <a:srgbClr val="201F1F"/>
                </a:solidFill>
                <a:highlight>
                  <a:schemeClr val="lt1"/>
                </a:highlight>
                <a:latin typeface="Open Sans"/>
                <a:ea typeface="Open Sans"/>
                <a:cs typeface="Open Sans"/>
                <a:sym typeface="Open Sans"/>
              </a:rPr>
              <a:t> = 0.45 </a:t>
            </a:r>
            <a:r>
              <a:rPr i="1" lang="en-GB" sz="1050">
                <a:solidFill>
                  <a:srgbClr val="201F1F"/>
                </a:solidFill>
                <a:highlight>
                  <a:schemeClr val="lt1"/>
                </a:highlight>
                <a:latin typeface="Open Sans"/>
                <a:ea typeface="Open Sans"/>
                <a:cs typeface="Open Sans"/>
                <a:sym typeface="Open Sans"/>
              </a:rPr>
              <a:t>x</a:t>
            </a:r>
            <a:endParaRPr i="1"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Number of women earning more than Rs. 25000 =</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Total employees earning more than Rs. 25000 – total number of Men earning more than Rs. 25000</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 0.45</a:t>
            </a:r>
            <a:r>
              <a:rPr i="1" lang="en-GB" sz="1050">
                <a:solidFill>
                  <a:srgbClr val="201F1F"/>
                </a:solidFill>
                <a:highlight>
                  <a:schemeClr val="lt1"/>
                </a:highlight>
                <a:latin typeface="Open Sans"/>
                <a:ea typeface="Open Sans"/>
                <a:cs typeface="Open Sans"/>
                <a:sym typeface="Open Sans"/>
              </a:rPr>
              <a:t> x</a:t>
            </a:r>
            <a:r>
              <a:rPr lang="en-GB" sz="1050">
                <a:solidFill>
                  <a:srgbClr val="201F1F"/>
                </a:solidFill>
                <a:highlight>
                  <a:schemeClr val="lt1"/>
                </a:highlight>
                <a:latin typeface="Open Sans"/>
                <a:ea typeface="Open Sans"/>
                <a:cs typeface="Open Sans"/>
                <a:sym typeface="Open Sans"/>
              </a:rPr>
              <a:t> – 0.30 </a:t>
            </a:r>
            <a:r>
              <a:rPr i="1" lang="en-GB" sz="1050">
                <a:solidFill>
                  <a:srgbClr val="201F1F"/>
                </a:solidFill>
                <a:highlight>
                  <a:schemeClr val="lt1"/>
                </a:highlight>
                <a:latin typeface="Open Sans"/>
                <a:ea typeface="Open Sans"/>
                <a:cs typeface="Open Sans"/>
                <a:sym typeface="Open Sans"/>
              </a:rPr>
              <a:t>x</a:t>
            </a:r>
            <a:r>
              <a:rPr lang="en-GB" sz="1050">
                <a:solidFill>
                  <a:srgbClr val="201F1F"/>
                </a:solidFill>
                <a:highlight>
                  <a:schemeClr val="lt1"/>
                </a:highlight>
                <a:latin typeface="Open Sans"/>
                <a:ea typeface="Open Sans"/>
                <a:cs typeface="Open Sans"/>
                <a:sym typeface="Open Sans"/>
              </a:rPr>
              <a:t> = 0.15</a:t>
            </a:r>
            <a:r>
              <a:rPr i="1" lang="en-GB" sz="1050">
                <a:solidFill>
                  <a:srgbClr val="201F1F"/>
                </a:solidFill>
                <a:highlight>
                  <a:schemeClr val="lt1"/>
                </a:highlight>
                <a:latin typeface="Open Sans"/>
                <a:ea typeface="Open Sans"/>
                <a:cs typeface="Open Sans"/>
                <a:sym typeface="Open Sans"/>
              </a:rPr>
              <a:t> x</a:t>
            </a:r>
            <a:endParaRPr i="1"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Number of the women earning Rs. 25000 or less = 0.60 </a:t>
            </a:r>
            <a:r>
              <a:rPr i="1" lang="en-GB" sz="1050">
                <a:solidFill>
                  <a:srgbClr val="201F1F"/>
                </a:solidFill>
                <a:highlight>
                  <a:schemeClr val="lt1"/>
                </a:highlight>
                <a:latin typeface="Open Sans"/>
                <a:ea typeface="Open Sans"/>
                <a:cs typeface="Open Sans"/>
                <a:sym typeface="Open Sans"/>
              </a:rPr>
              <a:t>x – 0</a:t>
            </a:r>
            <a:r>
              <a:rPr lang="en-GB" sz="1050">
                <a:solidFill>
                  <a:srgbClr val="201F1F"/>
                </a:solidFill>
                <a:highlight>
                  <a:schemeClr val="lt1"/>
                </a:highlight>
                <a:latin typeface="Open Sans"/>
                <a:ea typeface="Open Sans"/>
                <a:cs typeface="Open Sans"/>
                <a:sym typeface="Open Sans"/>
              </a:rPr>
              <a:t>.15</a:t>
            </a:r>
            <a:r>
              <a:rPr i="1" lang="en-GB" sz="1050">
                <a:solidFill>
                  <a:srgbClr val="201F1F"/>
                </a:solidFill>
                <a:highlight>
                  <a:schemeClr val="lt1"/>
                </a:highlight>
                <a:latin typeface="Open Sans"/>
                <a:ea typeface="Open Sans"/>
                <a:cs typeface="Open Sans"/>
                <a:sym typeface="Open Sans"/>
              </a:rPr>
              <a:t> x = 0.45 x</a:t>
            </a:r>
            <a:endParaRPr i="1"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Fraction of the women employed by the company who earn Rs. 25000 or less</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(0.45x/0.60x) = 45/60 = ¾</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b="1" i="1"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b="1" i="1" lang="en-GB" sz="1050">
                <a:solidFill>
                  <a:srgbClr val="201F1F"/>
                </a:solidFill>
                <a:highlight>
                  <a:schemeClr val="lt1"/>
                </a:highlight>
                <a:latin typeface="Open Sans"/>
                <a:ea typeface="Open Sans"/>
                <a:cs typeface="Open Sans"/>
                <a:sym typeface="Open Sans"/>
              </a:rPr>
              <a:t>Alternate Solution:</a:t>
            </a:r>
            <a:endParaRPr b="1" i="1"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Let there are 40 men and 60 women in the company. Now out of 40 men, 75% i.e. 30 earn more than Rs 25000 and 45% of the total employees i.e. 45 employees earn more than Rs 25000.</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Hence, there are</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45 – 30 = 15 women who earn more than Rs25000. So, 60 – 15 = 45 women earn less than Rs 25000.</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GB" sz="1050">
                <a:solidFill>
                  <a:srgbClr val="201F1F"/>
                </a:solidFill>
                <a:highlight>
                  <a:schemeClr val="lt1"/>
                </a:highlight>
                <a:latin typeface="Open Sans"/>
                <a:ea typeface="Open Sans"/>
                <a:cs typeface="Open Sans"/>
                <a:sym typeface="Open Sans"/>
              </a:rPr>
              <a:t>Hence, the required fraction =  45/60 = ¾</a:t>
            </a:r>
            <a:endParaRPr sz="1050">
              <a:solidFill>
                <a:srgbClr val="201F1F"/>
              </a:solidFill>
              <a:highlight>
                <a:schemeClr val="lt1"/>
              </a:highlight>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050">
              <a:solidFill>
                <a:srgbClr val="201F1F"/>
              </a:solidFill>
              <a:highlight>
                <a:schemeClr val="lt1"/>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sz="1800">
              <a:solidFill>
                <a:schemeClr val="dk1"/>
              </a:solidFill>
              <a:latin typeface="Roboto"/>
              <a:ea typeface="Roboto"/>
              <a:cs typeface="Roboto"/>
              <a:sym typeface="Roboto"/>
            </a:endParaRPr>
          </a:p>
        </p:txBody>
      </p:sp>
      <p:sp>
        <p:nvSpPr>
          <p:cNvPr id="147" name="Google Shape;147;g2ee15abed17_3_3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148" name="Google Shape;148;g2ee15abed17_3_32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10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10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10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10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10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1000"/>
                                        <p:tgtEl>
                                          <p:spTgt spid="1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Effect filter="fade" transition="in">
                                      <p:cBhvr>
                                        <p:cTn dur="1000"/>
                                        <p:tgtEl>
                                          <p:spTgt spid="1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7" st="7"/>
                                            </p:txEl>
                                          </p:spTgt>
                                        </p:tgtEl>
                                        <p:attrNameLst>
                                          <p:attrName>style.visibility</p:attrName>
                                        </p:attrNameLst>
                                      </p:cBhvr>
                                      <p:to>
                                        <p:strVal val="visible"/>
                                      </p:to>
                                    </p:set>
                                    <p:animEffect filter="fade" transition="in">
                                      <p:cBhvr>
                                        <p:cTn dur="1000"/>
                                        <p:tgtEl>
                                          <p:spTgt spid="14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8" st="8"/>
                                            </p:txEl>
                                          </p:spTgt>
                                        </p:tgtEl>
                                        <p:attrNameLst>
                                          <p:attrName>style.visibility</p:attrName>
                                        </p:attrNameLst>
                                      </p:cBhvr>
                                      <p:to>
                                        <p:strVal val="visible"/>
                                      </p:to>
                                    </p:set>
                                    <p:animEffect filter="fade" transition="in">
                                      <p:cBhvr>
                                        <p:cTn dur="1000"/>
                                        <p:tgtEl>
                                          <p:spTgt spid="14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9" st="9"/>
                                            </p:txEl>
                                          </p:spTgt>
                                        </p:tgtEl>
                                        <p:attrNameLst>
                                          <p:attrName>style.visibility</p:attrName>
                                        </p:attrNameLst>
                                      </p:cBhvr>
                                      <p:to>
                                        <p:strVal val="visible"/>
                                      </p:to>
                                    </p:set>
                                    <p:animEffect filter="fade" transition="in">
                                      <p:cBhvr>
                                        <p:cTn dur="1000"/>
                                        <p:tgtEl>
                                          <p:spTgt spid="14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0" st="10"/>
                                            </p:txEl>
                                          </p:spTgt>
                                        </p:tgtEl>
                                        <p:attrNameLst>
                                          <p:attrName>style.visibility</p:attrName>
                                        </p:attrNameLst>
                                      </p:cBhvr>
                                      <p:to>
                                        <p:strVal val="visible"/>
                                      </p:to>
                                    </p:set>
                                    <p:animEffect filter="fade" transition="in">
                                      <p:cBhvr>
                                        <p:cTn dur="1000"/>
                                        <p:tgtEl>
                                          <p:spTgt spid="14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1" st="11"/>
                                            </p:txEl>
                                          </p:spTgt>
                                        </p:tgtEl>
                                        <p:attrNameLst>
                                          <p:attrName>style.visibility</p:attrName>
                                        </p:attrNameLst>
                                      </p:cBhvr>
                                      <p:to>
                                        <p:strVal val="visible"/>
                                      </p:to>
                                    </p:set>
                                    <p:animEffect filter="fade" transition="in">
                                      <p:cBhvr>
                                        <p:cTn dur="1000"/>
                                        <p:tgtEl>
                                          <p:spTgt spid="14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2" st="12"/>
                                            </p:txEl>
                                          </p:spTgt>
                                        </p:tgtEl>
                                        <p:attrNameLst>
                                          <p:attrName>style.visibility</p:attrName>
                                        </p:attrNameLst>
                                      </p:cBhvr>
                                      <p:to>
                                        <p:strVal val="visible"/>
                                      </p:to>
                                    </p:set>
                                    <p:animEffect filter="fade" transition="in">
                                      <p:cBhvr>
                                        <p:cTn dur="1000"/>
                                        <p:tgtEl>
                                          <p:spTgt spid="14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3" st="13"/>
                                            </p:txEl>
                                          </p:spTgt>
                                        </p:tgtEl>
                                        <p:attrNameLst>
                                          <p:attrName>style.visibility</p:attrName>
                                        </p:attrNameLst>
                                      </p:cBhvr>
                                      <p:to>
                                        <p:strVal val="visible"/>
                                      </p:to>
                                    </p:set>
                                    <p:animEffect filter="fade" transition="in">
                                      <p:cBhvr>
                                        <p:cTn dur="1000"/>
                                        <p:tgtEl>
                                          <p:spTgt spid="14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4" st="14"/>
                                            </p:txEl>
                                          </p:spTgt>
                                        </p:tgtEl>
                                        <p:attrNameLst>
                                          <p:attrName>style.visibility</p:attrName>
                                        </p:attrNameLst>
                                      </p:cBhvr>
                                      <p:to>
                                        <p:strVal val="visible"/>
                                      </p:to>
                                    </p:set>
                                    <p:animEffect filter="fade" transition="in">
                                      <p:cBhvr>
                                        <p:cTn dur="1000"/>
                                        <p:tgtEl>
                                          <p:spTgt spid="14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5" st="15"/>
                                            </p:txEl>
                                          </p:spTgt>
                                        </p:tgtEl>
                                        <p:attrNameLst>
                                          <p:attrName>style.visibility</p:attrName>
                                        </p:attrNameLst>
                                      </p:cBhvr>
                                      <p:to>
                                        <p:strVal val="visible"/>
                                      </p:to>
                                    </p:set>
                                    <p:animEffect filter="fade" transition="in">
                                      <p:cBhvr>
                                        <p:cTn dur="1000"/>
                                        <p:tgtEl>
                                          <p:spTgt spid="14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6" st="16"/>
                                            </p:txEl>
                                          </p:spTgt>
                                        </p:tgtEl>
                                        <p:attrNameLst>
                                          <p:attrName>style.visibility</p:attrName>
                                        </p:attrNameLst>
                                      </p:cBhvr>
                                      <p:to>
                                        <p:strVal val="visible"/>
                                      </p:to>
                                    </p:set>
                                    <p:animEffect filter="fade" transition="in">
                                      <p:cBhvr>
                                        <p:cTn dur="1000"/>
                                        <p:tgtEl>
                                          <p:spTgt spid="14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7" st="17"/>
                                            </p:txEl>
                                          </p:spTgt>
                                        </p:tgtEl>
                                        <p:attrNameLst>
                                          <p:attrName>style.visibility</p:attrName>
                                        </p:attrNameLst>
                                      </p:cBhvr>
                                      <p:to>
                                        <p:strVal val="visible"/>
                                      </p:to>
                                    </p:set>
                                    <p:animEffect filter="fade" transition="in">
                                      <p:cBhvr>
                                        <p:cTn dur="1000"/>
                                        <p:tgtEl>
                                          <p:spTgt spid="14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animEffect filter="fade" transition="in">
                                      <p:cBhvr>
                                        <p:cTn dur="1000"/>
                                        <p:tgtEl>
                                          <p:spTgt spid="14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ee15abed17_3_332"/>
          <p:cNvSpPr txBox="1"/>
          <p:nvPr/>
        </p:nvSpPr>
        <p:spPr>
          <a:xfrm>
            <a:off x="327600" y="386576"/>
            <a:ext cx="2827800" cy="44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54" name="Google Shape;154;g2ee15abed17_3_332"/>
          <p:cNvSpPr txBox="1"/>
          <p:nvPr/>
        </p:nvSpPr>
        <p:spPr>
          <a:xfrm>
            <a:off x="720725" y="125095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Class B has 50% more students than class A. Number of girls in class A is equal to number of boys in class B. The percentage of girls is the same in both classes. What percentage of the student group are boys?</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33.33%</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40%</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25%</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60%</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p:txBody>
      </p:sp>
      <p:sp>
        <p:nvSpPr>
          <p:cNvPr id="155" name="Google Shape;155;g2ee15abed17_3_33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animEffect filter="fade" transition="in">
                                      <p:cBhvr>
                                        <p:cTn dur="1000"/>
                                        <p:tgtEl>
                                          <p:spTgt spid="1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animEffect filter="fade" transition="in">
                                      <p:cBhvr>
                                        <p:cTn dur="1000"/>
                                        <p:tgtEl>
                                          <p:spTgt spid="1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animEffect filter="fade" transition="in">
                                      <p:cBhvr>
                                        <p:cTn dur="1000"/>
                                        <p:tgtEl>
                                          <p:spTgt spid="1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animEffect filter="fade" transition="in">
                                      <p:cBhvr>
                                        <p:cTn dur="1000"/>
                                        <p:tgtEl>
                                          <p:spTgt spid="1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animEffect filter="fade" transition="in">
                                      <p:cBhvr>
                                        <p:cTn dur="1000"/>
                                        <p:tgtEl>
                                          <p:spTgt spid="1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animEffect filter="fade" transition="in">
                                      <p:cBhvr>
                                        <p:cTn dur="1000"/>
                                        <p:tgtEl>
                                          <p:spTgt spid="1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animEffect filter="fade" transition="in">
                                      <p:cBhvr>
                                        <p:cTn dur="1000"/>
                                        <p:tgtEl>
                                          <p:spTgt spid="15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 name="Shape 159"/>
        <p:cNvGrpSpPr/>
        <p:nvPr/>
      </p:nvGrpSpPr>
      <p:grpSpPr>
        <a:xfrm>
          <a:off x="0" y="0"/>
          <a:ext cx="0" cy="0"/>
          <a:chOff x="0" y="0"/>
          <a:chExt cx="0" cy="0"/>
        </a:xfrm>
      </p:grpSpPr>
      <p:sp>
        <p:nvSpPr>
          <p:cNvPr id="160" name="Google Shape;160;g2ee15abed17_3_339"/>
          <p:cNvSpPr txBox="1"/>
          <p:nvPr/>
        </p:nvSpPr>
        <p:spPr>
          <a:xfrm>
            <a:off x="720725" y="1250950"/>
            <a:ext cx="70281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59055" lvl="0" marL="59055" rtl="0" algn="l">
              <a:lnSpc>
                <a:spcPct val="115000"/>
              </a:lnSpc>
              <a:spcBef>
                <a:spcPts val="0"/>
              </a:spcBef>
              <a:spcAft>
                <a:spcPts val="0"/>
              </a:spcAft>
              <a:buClr>
                <a:schemeClr val="dk1"/>
              </a:buClr>
              <a:buSzPts val="1100"/>
              <a:buFont typeface="Arial"/>
              <a:buNone/>
            </a:pPr>
            <a:r>
              <a:rPr lang="en-GB" sz="1300">
                <a:solidFill>
                  <a:schemeClr val="dk1"/>
                </a:solidFill>
                <a:latin typeface="Roboto"/>
                <a:ea typeface="Roboto"/>
                <a:cs typeface="Roboto"/>
                <a:sym typeface="Roboto"/>
              </a:rPr>
              <a:t>50% more than x is 1.5x. Simple, but very useful idea that might help you in solving these kinds of problems.</a:t>
            </a:r>
            <a:endParaRPr sz="13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p:txBody>
      </p:sp>
      <p:sp>
        <p:nvSpPr>
          <p:cNvPr id="161" name="Google Shape;161;g2ee15abed17_3_33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pic>
        <p:nvPicPr>
          <p:cNvPr id="162" name="Google Shape;162;g2ee15abed17_3_339"/>
          <p:cNvPicPr preferRelativeResize="0"/>
          <p:nvPr/>
        </p:nvPicPr>
        <p:blipFill rotWithShape="1">
          <a:blip r:embed="rId3">
            <a:alphaModFix/>
          </a:blip>
          <a:srcRect b="0" l="0" r="0" t="0"/>
          <a:stretch/>
        </p:blipFill>
        <p:spPr>
          <a:xfrm>
            <a:off x="720725" y="1711900"/>
            <a:ext cx="6344276" cy="27765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2ee15abed17_3_344"/>
          <p:cNvSpPr txBox="1"/>
          <p:nvPr/>
        </p:nvSpPr>
        <p:spPr>
          <a:xfrm>
            <a:off x="720725" y="1250950"/>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is x % of b, b is x% more than a. Find x.</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50%</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62%</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75%</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37%</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sz="1800">
              <a:solidFill>
                <a:schemeClr val="dk1"/>
              </a:solidFill>
              <a:latin typeface="Roboto"/>
              <a:ea typeface="Roboto"/>
              <a:cs typeface="Roboto"/>
              <a:sym typeface="Roboto"/>
            </a:endParaRPr>
          </a:p>
        </p:txBody>
      </p:sp>
      <p:sp>
        <p:nvSpPr>
          <p:cNvPr id="168" name="Google Shape;168;g2ee15abed17_3_344"/>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animEffect filter="fade" transition="in">
                                      <p:cBhvr>
                                        <p:cTn dur="1000"/>
                                        <p:tgtEl>
                                          <p:spTgt spid="1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1" st="1"/>
                                            </p:txEl>
                                          </p:spTgt>
                                        </p:tgtEl>
                                        <p:attrNameLst>
                                          <p:attrName>style.visibility</p:attrName>
                                        </p:attrNameLst>
                                      </p:cBhvr>
                                      <p:to>
                                        <p:strVal val="visible"/>
                                      </p:to>
                                    </p:set>
                                    <p:animEffect filter="fade" transition="in">
                                      <p:cBhvr>
                                        <p:cTn dur="1000"/>
                                        <p:tgtEl>
                                          <p:spTgt spid="1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2" st="2"/>
                                            </p:txEl>
                                          </p:spTgt>
                                        </p:tgtEl>
                                        <p:attrNameLst>
                                          <p:attrName>style.visibility</p:attrName>
                                        </p:attrNameLst>
                                      </p:cBhvr>
                                      <p:to>
                                        <p:strVal val="visible"/>
                                      </p:to>
                                    </p:set>
                                    <p:animEffect filter="fade" transition="in">
                                      <p:cBhvr>
                                        <p:cTn dur="1000"/>
                                        <p:tgtEl>
                                          <p:spTgt spid="1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3" st="3"/>
                                            </p:txEl>
                                          </p:spTgt>
                                        </p:tgtEl>
                                        <p:attrNameLst>
                                          <p:attrName>style.visibility</p:attrName>
                                        </p:attrNameLst>
                                      </p:cBhvr>
                                      <p:to>
                                        <p:strVal val="visible"/>
                                      </p:to>
                                    </p:set>
                                    <p:animEffect filter="fade" transition="in">
                                      <p:cBhvr>
                                        <p:cTn dur="1000"/>
                                        <p:tgtEl>
                                          <p:spTgt spid="1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4" st="4"/>
                                            </p:txEl>
                                          </p:spTgt>
                                        </p:tgtEl>
                                        <p:attrNameLst>
                                          <p:attrName>style.visibility</p:attrName>
                                        </p:attrNameLst>
                                      </p:cBhvr>
                                      <p:to>
                                        <p:strVal val="visible"/>
                                      </p:to>
                                    </p:set>
                                    <p:animEffect filter="fade" transition="in">
                                      <p:cBhvr>
                                        <p:cTn dur="1000"/>
                                        <p:tgtEl>
                                          <p:spTgt spid="1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5" st="5"/>
                                            </p:txEl>
                                          </p:spTgt>
                                        </p:tgtEl>
                                        <p:attrNameLst>
                                          <p:attrName>style.visibility</p:attrName>
                                        </p:attrNameLst>
                                      </p:cBhvr>
                                      <p:to>
                                        <p:strVal val="visible"/>
                                      </p:to>
                                    </p:set>
                                    <p:animEffect filter="fade" transition="in">
                                      <p:cBhvr>
                                        <p:cTn dur="1000"/>
                                        <p:tgtEl>
                                          <p:spTgt spid="1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6" st="6"/>
                                            </p:txEl>
                                          </p:spTgt>
                                        </p:tgtEl>
                                        <p:attrNameLst>
                                          <p:attrName>style.visibility</p:attrName>
                                        </p:attrNameLst>
                                      </p:cBhvr>
                                      <p:to>
                                        <p:strVal val="visible"/>
                                      </p:to>
                                    </p:set>
                                    <p:animEffect filter="fade" transition="in">
                                      <p:cBhvr>
                                        <p:cTn dur="1000"/>
                                        <p:tgtEl>
                                          <p:spTgt spid="16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 name="Shape 172"/>
        <p:cNvGrpSpPr/>
        <p:nvPr/>
      </p:nvGrpSpPr>
      <p:grpSpPr>
        <a:xfrm>
          <a:off x="0" y="0"/>
          <a:ext cx="0" cy="0"/>
          <a:chOff x="0" y="0"/>
          <a:chExt cx="0" cy="0"/>
        </a:xfrm>
      </p:grpSpPr>
      <p:sp>
        <p:nvSpPr>
          <p:cNvPr id="173" name="Google Shape;173;g2ee15abed17_3_350"/>
          <p:cNvSpPr txBox="1"/>
          <p:nvPr/>
        </p:nvSpPr>
        <p:spPr>
          <a:xfrm>
            <a:off x="720725" y="1250950"/>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114300" lvl="0" marL="11430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The golden ratio idea is so interesting that we have repeated it.</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 bx</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 a (1 + x), substituting this in the previous equation, we get</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x (x + 1) = 1</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x2 + x - 1 = 0 or</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x is approximately 0.62 or 62%. The ratio 1.618 is also called the golden ratio, and is the conjugate and reciprocal of 0.618.</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Hence, the answer is 62%</a:t>
            </a:r>
            <a:endParaRPr sz="1800">
              <a:solidFill>
                <a:schemeClr val="dk1"/>
              </a:solidFill>
              <a:latin typeface="Roboto"/>
              <a:ea typeface="Roboto"/>
              <a:cs typeface="Roboto"/>
              <a:sym typeface="Roboto"/>
            </a:endParaRPr>
          </a:p>
          <a:p>
            <a:pPr indent="-114300" lvl="0" marL="114300" rtl="0" algn="l">
              <a:lnSpc>
                <a:spcPct val="115000"/>
              </a:lnSpc>
              <a:spcBef>
                <a:spcPts val="0"/>
              </a:spcBef>
              <a:spcAft>
                <a:spcPts val="0"/>
              </a:spcAft>
              <a:buClr>
                <a:schemeClr val="dk1"/>
              </a:buClr>
              <a:buSzPts val="1100"/>
              <a:buFont typeface="Arial"/>
              <a:buNone/>
            </a:pPr>
            <a:r>
              <a:t/>
            </a:r>
            <a:endParaRPr sz="1800">
              <a:solidFill>
                <a:schemeClr val="dk1"/>
              </a:solidFill>
            </a:endParaRPr>
          </a:p>
          <a:p>
            <a:pPr indent="0" lvl="0" marL="0" marR="0" rtl="0" algn="l">
              <a:lnSpc>
                <a:spcPct val="150000"/>
              </a:lnSpc>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p:txBody>
      </p:sp>
      <p:sp>
        <p:nvSpPr>
          <p:cNvPr id="174" name="Google Shape;174;g2ee15abed17_3_350"/>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2ee15abed17_3_356"/>
          <p:cNvSpPr txBox="1"/>
          <p:nvPr/>
        </p:nvSpPr>
        <p:spPr>
          <a:xfrm>
            <a:off x="327600" y="402400"/>
            <a:ext cx="28278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80" name="Google Shape;180;g2ee15abed17_3_356"/>
          <p:cNvSpPr txBox="1"/>
          <p:nvPr/>
        </p:nvSpPr>
        <p:spPr>
          <a:xfrm>
            <a:off x="720725" y="1250950"/>
            <a:ext cx="75441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batsman scored 110 runs which included 3 boundaries and 8 sixes. What percent of his total score did he make by running between the wickets?</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45%</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55%</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45 5/11 %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 	54 6/11 %</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p:txBody>
      </p:sp>
      <p:sp>
        <p:nvSpPr>
          <p:cNvPr id="181" name="Google Shape;181;g2ee15abed17_3_35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1000"/>
                                        <p:tgtEl>
                                          <p:spTgt spid="1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animEffect filter="fade" transition="in">
                                      <p:cBhvr>
                                        <p:cTn dur="1000"/>
                                        <p:tgtEl>
                                          <p:spTgt spid="1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animEffect filter="fade" transition="in">
                                      <p:cBhvr>
                                        <p:cTn dur="1000"/>
                                        <p:tgtEl>
                                          <p:spTgt spid="1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animEffect filter="fade" transition="in">
                                      <p:cBhvr>
                                        <p:cTn dur="1000"/>
                                        <p:tgtEl>
                                          <p:spTgt spid="1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animEffect filter="fade" transition="in">
                                      <p:cBhvr>
                                        <p:cTn dur="1000"/>
                                        <p:tgtEl>
                                          <p:spTgt spid="1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animEffect filter="fade" transition="in">
                                      <p:cBhvr>
                                        <p:cTn dur="1000"/>
                                        <p:tgtEl>
                                          <p:spTgt spid="1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6" st="6"/>
                                            </p:txEl>
                                          </p:spTgt>
                                        </p:tgtEl>
                                        <p:attrNameLst>
                                          <p:attrName>style.visibility</p:attrName>
                                        </p:attrNameLst>
                                      </p:cBhvr>
                                      <p:to>
                                        <p:strVal val="visible"/>
                                      </p:to>
                                    </p:set>
                                    <p:animEffect filter="fade" transition="in">
                                      <p:cBhvr>
                                        <p:cTn dur="1000"/>
                                        <p:tgtEl>
                                          <p:spTgt spid="18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g2ee15abed17_3_363"/>
          <p:cNvSpPr txBox="1"/>
          <p:nvPr/>
        </p:nvSpPr>
        <p:spPr>
          <a:xfrm>
            <a:off x="720000" y="1439875"/>
            <a:ext cx="7265400" cy="2790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187" name="Google Shape;187;g2ee15abed17_3_36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pic>
        <p:nvPicPr>
          <p:cNvPr id="188" name="Google Shape;188;g2ee15abed17_3_363"/>
          <p:cNvPicPr preferRelativeResize="0"/>
          <p:nvPr/>
        </p:nvPicPr>
        <p:blipFill rotWithShape="1">
          <a:blip r:embed="rId3">
            <a:alphaModFix/>
          </a:blip>
          <a:srcRect b="0" l="0" r="0" t="0"/>
          <a:stretch/>
        </p:blipFill>
        <p:spPr>
          <a:xfrm>
            <a:off x="630250" y="1250950"/>
            <a:ext cx="6299201" cy="258689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2ee15abed17_3_369"/>
          <p:cNvSpPr txBox="1"/>
          <p:nvPr/>
        </p:nvSpPr>
        <p:spPr>
          <a:xfrm>
            <a:off x="327600" y="396716"/>
            <a:ext cx="2827800" cy="43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94" name="Google Shape;194;g2ee15abed17_3_369"/>
          <p:cNvSpPr txBox="1"/>
          <p:nvPr/>
        </p:nvSpPr>
        <p:spPr>
          <a:xfrm>
            <a:off x="720725" y="1250950"/>
            <a:ext cx="7862400" cy="357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The population of a town increased from 1,75,000 to 2,62,500 in a decade. The average percent increase of population per year is: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4.37%</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6%</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5%</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8.75%</a:t>
            </a:r>
            <a:endParaRPr sz="1800">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800"/>
              <a:buFont typeface="Arial"/>
              <a:buNone/>
            </a:pPr>
            <a:r>
              <a:t/>
            </a:r>
            <a:endParaRPr sz="1800">
              <a:solidFill>
                <a:schemeClr val="dk1"/>
              </a:solidFill>
              <a:latin typeface="Roboto"/>
              <a:ea typeface="Roboto"/>
              <a:cs typeface="Roboto"/>
              <a:sym typeface="Roboto"/>
            </a:endParaRPr>
          </a:p>
        </p:txBody>
      </p:sp>
      <p:sp>
        <p:nvSpPr>
          <p:cNvPr id="195" name="Google Shape;195;g2ee15abed17_3_36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0" st="0"/>
                                            </p:txEl>
                                          </p:spTgt>
                                        </p:tgtEl>
                                        <p:attrNameLst>
                                          <p:attrName>style.visibility</p:attrName>
                                        </p:attrNameLst>
                                      </p:cBhvr>
                                      <p:to>
                                        <p:strVal val="visible"/>
                                      </p:to>
                                    </p:set>
                                    <p:animEffect filter="fade" transition="in">
                                      <p:cBhvr>
                                        <p:cTn dur="1000"/>
                                        <p:tgtEl>
                                          <p:spTgt spid="1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1" st="1"/>
                                            </p:txEl>
                                          </p:spTgt>
                                        </p:tgtEl>
                                        <p:attrNameLst>
                                          <p:attrName>style.visibility</p:attrName>
                                        </p:attrNameLst>
                                      </p:cBhvr>
                                      <p:to>
                                        <p:strVal val="visible"/>
                                      </p:to>
                                    </p:set>
                                    <p:animEffect filter="fade" transition="in">
                                      <p:cBhvr>
                                        <p:cTn dur="1000"/>
                                        <p:tgtEl>
                                          <p:spTgt spid="1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2" st="2"/>
                                            </p:txEl>
                                          </p:spTgt>
                                        </p:tgtEl>
                                        <p:attrNameLst>
                                          <p:attrName>style.visibility</p:attrName>
                                        </p:attrNameLst>
                                      </p:cBhvr>
                                      <p:to>
                                        <p:strVal val="visible"/>
                                      </p:to>
                                    </p:set>
                                    <p:animEffect filter="fade" transition="in">
                                      <p:cBhvr>
                                        <p:cTn dur="1000"/>
                                        <p:tgtEl>
                                          <p:spTgt spid="1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3" st="3"/>
                                            </p:txEl>
                                          </p:spTgt>
                                        </p:tgtEl>
                                        <p:attrNameLst>
                                          <p:attrName>style.visibility</p:attrName>
                                        </p:attrNameLst>
                                      </p:cBhvr>
                                      <p:to>
                                        <p:strVal val="visible"/>
                                      </p:to>
                                    </p:set>
                                    <p:animEffect filter="fade" transition="in">
                                      <p:cBhvr>
                                        <p:cTn dur="1000"/>
                                        <p:tgtEl>
                                          <p:spTgt spid="1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4" st="4"/>
                                            </p:txEl>
                                          </p:spTgt>
                                        </p:tgtEl>
                                        <p:attrNameLst>
                                          <p:attrName>style.visibility</p:attrName>
                                        </p:attrNameLst>
                                      </p:cBhvr>
                                      <p:to>
                                        <p:strVal val="visible"/>
                                      </p:to>
                                    </p:set>
                                    <p:animEffect filter="fade" transition="in">
                                      <p:cBhvr>
                                        <p:cTn dur="1000"/>
                                        <p:tgtEl>
                                          <p:spTgt spid="1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5" st="5"/>
                                            </p:txEl>
                                          </p:spTgt>
                                        </p:tgtEl>
                                        <p:attrNameLst>
                                          <p:attrName>style.visibility</p:attrName>
                                        </p:attrNameLst>
                                      </p:cBhvr>
                                      <p:to>
                                        <p:strVal val="visible"/>
                                      </p:to>
                                    </p:set>
                                    <p:animEffect filter="fade" transition="in">
                                      <p:cBhvr>
                                        <p:cTn dur="1000"/>
                                        <p:tgtEl>
                                          <p:spTgt spid="1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6" st="6"/>
                                            </p:txEl>
                                          </p:spTgt>
                                        </p:tgtEl>
                                        <p:attrNameLst>
                                          <p:attrName>style.visibility</p:attrName>
                                        </p:attrNameLst>
                                      </p:cBhvr>
                                      <p:to>
                                        <p:strVal val="visible"/>
                                      </p:to>
                                    </p:set>
                                    <p:animEffect filter="fade" transition="in">
                                      <p:cBhvr>
                                        <p:cTn dur="1000"/>
                                        <p:tgtEl>
                                          <p:spTgt spid="19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9" name="Shape 199"/>
        <p:cNvGrpSpPr/>
        <p:nvPr/>
      </p:nvGrpSpPr>
      <p:grpSpPr>
        <a:xfrm>
          <a:off x="0" y="0"/>
          <a:ext cx="0" cy="0"/>
          <a:chOff x="0" y="0"/>
          <a:chExt cx="0" cy="0"/>
        </a:xfrm>
      </p:grpSpPr>
      <p:sp>
        <p:nvSpPr>
          <p:cNvPr id="200" name="Google Shape;200;g2ee15abed17_3_376"/>
          <p:cNvSpPr txBox="1"/>
          <p:nvPr/>
        </p:nvSpPr>
        <p:spPr>
          <a:xfrm>
            <a:off x="327600" y="8543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01" name="Google Shape;201;g2ee15abed17_3_376"/>
          <p:cNvSpPr txBox="1"/>
          <p:nvPr/>
        </p:nvSpPr>
        <p:spPr>
          <a:xfrm>
            <a:off x="1066875" y="1640550"/>
            <a:ext cx="722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2" name="Google Shape;202;g2ee15abed17_3_376"/>
          <p:cNvSpPr txBox="1"/>
          <p:nvPr/>
        </p:nvSpPr>
        <p:spPr>
          <a:xfrm>
            <a:off x="630000" y="1354400"/>
            <a:ext cx="747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40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03" name="Google Shape;203;g2ee15abed17_3_37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pic>
        <p:nvPicPr>
          <p:cNvPr id="204" name="Google Shape;204;g2ee15abed17_3_376"/>
          <p:cNvPicPr preferRelativeResize="0"/>
          <p:nvPr/>
        </p:nvPicPr>
        <p:blipFill rotWithShape="1">
          <a:blip r:embed="rId3">
            <a:alphaModFix/>
          </a:blip>
          <a:srcRect b="0" l="0" r="0" t="0"/>
          <a:stretch/>
        </p:blipFill>
        <p:spPr>
          <a:xfrm>
            <a:off x="630000" y="1250950"/>
            <a:ext cx="6299449" cy="27202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2ee15abed17_3_383"/>
          <p:cNvSpPr txBox="1"/>
          <p:nvPr/>
        </p:nvSpPr>
        <p:spPr>
          <a:xfrm>
            <a:off x="720000" y="1250950"/>
            <a:ext cx="7623900" cy="3333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Gauri went to the stationers and bought things worth Rs. 25, out of which 30 paise went on sales tax on taxable purchases. If the tax rate was 6%, then what was the cost of the tax free items?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15</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15.7</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20</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19.7</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t/>
            </a:r>
            <a:endParaRPr sz="1800">
              <a:solidFill>
                <a:schemeClr val="dk1"/>
              </a:solidFill>
              <a:latin typeface="Roboto"/>
              <a:ea typeface="Roboto"/>
              <a:cs typeface="Roboto"/>
              <a:sym typeface="Roboto"/>
            </a:endParaRPr>
          </a:p>
        </p:txBody>
      </p:sp>
      <p:sp>
        <p:nvSpPr>
          <p:cNvPr id="210" name="Google Shape;210;g2ee15abed17_3_3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1000"/>
                                        <p:tgtEl>
                                          <p:spTgt spid="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Effect filter="fade" transition="in">
                                      <p:cBhvr>
                                        <p:cTn dur="1000"/>
                                        <p:tgtEl>
                                          <p:spTgt spid="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Effect filter="fade" transition="in">
                                      <p:cBhvr>
                                        <p:cTn dur="1000"/>
                                        <p:tgtEl>
                                          <p:spTgt spid="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Effect filter="fade" transition="in">
                                      <p:cBhvr>
                                        <p:cTn dur="1000"/>
                                        <p:tgtEl>
                                          <p:spTgt spid="2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Effect filter="fade" transition="in">
                                      <p:cBhvr>
                                        <p:cTn dur="1000"/>
                                        <p:tgtEl>
                                          <p:spTgt spid="2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animEffect filter="fade" transition="in">
                                      <p:cBhvr>
                                        <p:cTn dur="1000"/>
                                        <p:tgtEl>
                                          <p:spTgt spid="2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animEffect filter="fade" transition="in">
                                      <p:cBhvr>
                                        <p:cTn dur="1000"/>
                                        <p:tgtEl>
                                          <p:spTgt spid="20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pic>
        <p:nvPicPr>
          <p:cNvPr id="215" name="Google Shape;215;g2ee15abed17_3_389"/>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16" name="Google Shape;216;g2ee15abed17_3_389"/>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17" name="Google Shape;217;g2ee15abed17_3_389"/>
          <p:cNvSpPr txBox="1"/>
          <p:nvPr/>
        </p:nvSpPr>
        <p:spPr>
          <a:xfrm>
            <a:off x="327600" y="8427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18" name="Google Shape;218;g2ee15abed17_3_38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
        <p:nvSpPr>
          <p:cNvPr id="219" name="Google Shape;219;g2ee15abed17_3_389"/>
          <p:cNvSpPr txBox="1"/>
          <p:nvPr/>
        </p:nvSpPr>
        <p:spPr>
          <a:xfrm>
            <a:off x="630000" y="1250950"/>
            <a:ext cx="7713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400"/>
              </a:spcBef>
              <a:spcAft>
                <a:spcPts val="0"/>
              </a:spcAft>
              <a:buClr>
                <a:schemeClr val="dk1"/>
              </a:buClr>
              <a:buSzPts val="1100"/>
              <a:buFont typeface="Arial"/>
              <a:buNone/>
            </a:pPr>
            <a:r>
              <a:t/>
            </a:r>
            <a:endParaRPr b="0" i="0" sz="2000" u="none" cap="none" strike="noStrike">
              <a:solidFill>
                <a:schemeClr val="dk1"/>
              </a:solidFill>
              <a:latin typeface="Roboto"/>
              <a:ea typeface="Roboto"/>
              <a:cs typeface="Roboto"/>
              <a:sym typeface="Roboto"/>
            </a:endParaRPr>
          </a:p>
        </p:txBody>
      </p:sp>
      <p:pic>
        <p:nvPicPr>
          <p:cNvPr id="220" name="Google Shape;220;g2ee15abed17_3_389"/>
          <p:cNvPicPr preferRelativeResize="0"/>
          <p:nvPr/>
        </p:nvPicPr>
        <p:blipFill rotWithShape="1">
          <a:blip r:embed="rId4">
            <a:alphaModFix/>
          </a:blip>
          <a:srcRect b="0" l="0" r="0" t="0"/>
          <a:stretch/>
        </p:blipFill>
        <p:spPr>
          <a:xfrm>
            <a:off x="630000" y="1250126"/>
            <a:ext cx="5729351" cy="2341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2ee15abed17_3_3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
        <p:nvSpPr>
          <p:cNvPr id="226" name="Google Shape;226;g2ee15abed17_3_397"/>
          <p:cNvSpPr txBox="1"/>
          <p:nvPr/>
        </p:nvSpPr>
        <p:spPr>
          <a:xfrm>
            <a:off x="630000" y="1250950"/>
            <a:ext cx="7799100" cy="333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In a factory, there are equal number of women and children. Women work for 6 h a day and children for 4 h a day. During festival time, the work load goes up by 50%. The government rule does not allow children to work for more than 6 h a day. If they are equally efficient and the extra work is done by women, then extra hours of work put in by women everyday are</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5</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3</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4</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D.	 9</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t/>
            </a:r>
            <a:endParaRPr sz="1800">
              <a:solidFill>
                <a:schemeClr val="dk1"/>
              </a:solidFill>
              <a:highlight>
                <a:schemeClr val="lt1"/>
              </a:highlight>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pic>
        <p:nvPicPr>
          <p:cNvPr id="231" name="Google Shape;231;g2ee15abed17_3_403"/>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32" name="Google Shape;232;g2ee15abed17_3_403"/>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33" name="Google Shape;233;g2ee15abed17_3_403"/>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34" name="Google Shape;234;g2ee15abed17_3_403"/>
          <p:cNvSpPr txBox="1"/>
          <p:nvPr/>
        </p:nvSpPr>
        <p:spPr>
          <a:xfrm>
            <a:off x="630000" y="1250500"/>
            <a:ext cx="6995400" cy="330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Let extra hours a day are x.</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According to the formula,</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M1D1T1/W1 = M2D2T2/W2</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1*1*(6+4)/1 = 1*1*(6+6+X/ 1(½)</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3/2*10=12+X</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15 = 12+x</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x = 15-12=3</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Extra hours of work everyday are 3</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marR="0" rtl="0" algn="l">
              <a:lnSpc>
                <a:spcPct val="100000"/>
              </a:lnSpc>
              <a:spcBef>
                <a:spcPts val="1500"/>
              </a:spcBef>
              <a:spcAft>
                <a:spcPts val="0"/>
              </a:spcAft>
              <a:buClr>
                <a:srgbClr val="000000"/>
              </a:buClr>
              <a:buSzPts val="1100"/>
              <a:buFont typeface="Arial"/>
              <a:buNone/>
            </a:pPr>
            <a:r>
              <a:t/>
            </a:r>
            <a:endParaRPr sz="1800">
              <a:solidFill>
                <a:schemeClr val="dk1"/>
              </a:solidFill>
              <a:highlight>
                <a:schemeClr val="lt1"/>
              </a:highlight>
              <a:latin typeface="Roboto"/>
              <a:ea typeface="Roboto"/>
              <a:cs typeface="Roboto"/>
              <a:sym typeface="Roboto"/>
            </a:endParaRPr>
          </a:p>
        </p:txBody>
      </p:sp>
      <p:sp>
        <p:nvSpPr>
          <p:cNvPr id="235" name="Google Shape;235;g2ee15abed17_3_40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2ee15abed17_3_411"/>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41" name="Google Shape;241;g2ee15abed17_3_411"/>
          <p:cNvSpPr txBox="1"/>
          <p:nvPr/>
        </p:nvSpPr>
        <p:spPr>
          <a:xfrm>
            <a:off x="747000" y="1250950"/>
            <a:ext cx="7650000" cy="3130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Three candidates contested an election and received 1136, 7636 and 11628 votes respectively. What percentage of the total votes did the winning candidate get?</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60%</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65%</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57%</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90%</a:t>
            </a:r>
            <a:endParaRPr sz="1800">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t/>
            </a:r>
            <a:endParaRPr sz="1700">
              <a:solidFill>
                <a:schemeClr val="dk1"/>
              </a:solidFill>
              <a:highlight>
                <a:schemeClr val="lt1"/>
              </a:highlight>
              <a:latin typeface="Roboto"/>
              <a:ea typeface="Roboto"/>
              <a:cs typeface="Roboto"/>
              <a:sym typeface="Roboto"/>
            </a:endParaRPr>
          </a:p>
        </p:txBody>
      </p:sp>
      <p:sp>
        <p:nvSpPr>
          <p:cNvPr id="242" name="Google Shape;242;g2ee15abed17_3_411"/>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animEffect filter="fade" transition="in">
                                      <p:cBhvr>
                                        <p:cTn dur="1000"/>
                                        <p:tgtEl>
                                          <p:spTgt spid="2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animEffect filter="fade" transition="in">
                                      <p:cBhvr>
                                        <p:cTn dur="1000"/>
                                        <p:tgtEl>
                                          <p:spTgt spid="2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animEffect filter="fade" transition="in">
                                      <p:cBhvr>
                                        <p:cTn dur="1000"/>
                                        <p:tgtEl>
                                          <p:spTgt spid="2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animEffect filter="fade" transition="in">
                                      <p:cBhvr>
                                        <p:cTn dur="1000"/>
                                        <p:tgtEl>
                                          <p:spTgt spid="2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animEffect filter="fade" transition="in">
                                      <p:cBhvr>
                                        <p:cTn dur="1000"/>
                                        <p:tgtEl>
                                          <p:spTgt spid="2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animEffect filter="fade" transition="in">
                                      <p:cBhvr>
                                        <p:cTn dur="1000"/>
                                        <p:tgtEl>
                                          <p:spTgt spid="2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animEffect filter="fade" transition="in">
                                      <p:cBhvr>
                                        <p:cTn dur="1000"/>
                                        <p:tgtEl>
                                          <p:spTgt spid="24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6" name="Shape 246"/>
        <p:cNvGrpSpPr/>
        <p:nvPr/>
      </p:nvGrpSpPr>
      <p:grpSpPr>
        <a:xfrm>
          <a:off x="0" y="0"/>
          <a:ext cx="0" cy="0"/>
          <a:chOff x="0" y="0"/>
          <a:chExt cx="0" cy="0"/>
        </a:xfrm>
      </p:grpSpPr>
      <p:pic>
        <p:nvPicPr>
          <p:cNvPr id="247" name="Google Shape;247;g2ee15abed17_3_418"/>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48" name="Google Shape;248;g2ee15abed17_3_418"/>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49" name="Google Shape;249;g2ee15abed17_3_418"/>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50" name="Google Shape;250;g2ee15abed17_3_418"/>
          <p:cNvSpPr txBox="1"/>
          <p:nvPr/>
        </p:nvSpPr>
        <p:spPr>
          <a:xfrm>
            <a:off x="630000" y="1250950"/>
            <a:ext cx="77139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1400"/>
              <a:buFont typeface="Arial"/>
              <a:buNone/>
            </a:pPr>
            <a:r>
              <a:t/>
            </a:r>
            <a:endParaRPr b="0" i="0" sz="1300" u="none" cap="none" strike="noStrike">
              <a:solidFill>
                <a:schemeClr val="dk1"/>
              </a:solidFill>
              <a:latin typeface="Roboto"/>
              <a:ea typeface="Roboto"/>
              <a:cs typeface="Roboto"/>
              <a:sym typeface="Roboto"/>
            </a:endParaRPr>
          </a:p>
        </p:txBody>
      </p:sp>
      <p:sp>
        <p:nvSpPr>
          <p:cNvPr id="251" name="Google Shape;251;g2ee15abed17_3_4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pic>
        <p:nvPicPr>
          <p:cNvPr id="252" name="Google Shape;252;g2ee15abed17_3_418"/>
          <p:cNvPicPr preferRelativeResize="0"/>
          <p:nvPr/>
        </p:nvPicPr>
        <p:blipFill rotWithShape="1">
          <a:blip r:embed="rId4">
            <a:alphaModFix/>
          </a:blip>
          <a:srcRect b="0" l="0" r="0" t="0"/>
          <a:stretch/>
        </p:blipFill>
        <p:spPr>
          <a:xfrm>
            <a:off x="630000" y="1250950"/>
            <a:ext cx="6299451" cy="138090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2ee15abed17_3_426"/>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58" name="Google Shape;258;g2ee15abed17_3_426"/>
          <p:cNvSpPr txBox="1"/>
          <p:nvPr/>
        </p:nvSpPr>
        <p:spPr>
          <a:xfrm>
            <a:off x="720725" y="1250950"/>
            <a:ext cx="7663500" cy="3519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15000"/>
              </a:lnSpc>
              <a:spcBef>
                <a:spcPts val="0"/>
              </a:spcBef>
              <a:spcAft>
                <a:spcPts val="0"/>
              </a:spcAft>
              <a:buClr>
                <a:schemeClr val="dk1"/>
              </a:buClr>
              <a:buSzPts val="1800"/>
              <a:buFont typeface="Arial"/>
              <a:buNone/>
            </a:pPr>
            <a:r>
              <a:t/>
            </a:r>
            <a:endParaRPr sz="1800">
              <a:solidFill>
                <a:schemeClr val="dk1"/>
              </a:solidFill>
            </a:endParaRPr>
          </a:p>
          <a:p>
            <a:pPr indent="0" lvl="0" marL="0" rtl="0" algn="l">
              <a:lnSpc>
                <a:spcPct val="115000"/>
              </a:lnSpc>
              <a:spcBef>
                <a:spcPts val="0"/>
              </a:spcBef>
              <a:spcAft>
                <a:spcPts val="0"/>
              </a:spcAft>
              <a:buClr>
                <a:schemeClr val="dk1"/>
              </a:buClr>
              <a:buSzPts val="1800"/>
              <a:buFont typeface="Arial"/>
              <a:buNone/>
            </a:pPr>
            <a:r>
              <a:rPr lang="en-GB" sz="1800">
                <a:solidFill>
                  <a:schemeClr val="dk1"/>
                </a:solidFill>
              </a:rPr>
              <a:t>A.	72</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rPr>
              <a:t>B. 	68</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rPr>
              <a:t>C.	150</a:t>
            </a:r>
            <a:endParaRPr sz="1800">
              <a:solidFill>
                <a:schemeClr val="dk1"/>
              </a:solidFill>
            </a:endParaRPr>
          </a:p>
          <a:p>
            <a:pPr indent="0" lvl="0" marL="0" rtl="0" algn="l">
              <a:lnSpc>
                <a:spcPct val="115000"/>
              </a:lnSpc>
              <a:spcBef>
                <a:spcPts val="0"/>
              </a:spcBef>
              <a:spcAft>
                <a:spcPts val="0"/>
              </a:spcAft>
              <a:buClr>
                <a:schemeClr val="dk1"/>
              </a:buClr>
              <a:buSzPts val="1800"/>
              <a:buFont typeface="Arial"/>
              <a:buNone/>
            </a:pPr>
            <a:r>
              <a:rPr lang="en-GB" sz="1800">
                <a:solidFill>
                  <a:schemeClr val="dk1"/>
                </a:solidFill>
              </a:rPr>
              <a:t>D. 	100</a:t>
            </a:r>
            <a:endParaRPr sz="1800">
              <a:solidFill>
                <a:schemeClr val="dk1"/>
              </a:solidFill>
            </a:endParaRPr>
          </a:p>
        </p:txBody>
      </p:sp>
      <p:sp>
        <p:nvSpPr>
          <p:cNvPr id="259" name="Google Shape;259;g2ee15abed17_3_42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pic>
        <p:nvPicPr>
          <p:cNvPr id="260" name="Google Shape;260;g2ee15abed17_3_426"/>
          <p:cNvPicPr preferRelativeResize="0"/>
          <p:nvPr/>
        </p:nvPicPr>
        <p:blipFill rotWithShape="1">
          <a:blip r:embed="rId3">
            <a:alphaModFix/>
          </a:blip>
          <a:srcRect b="0" l="0" r="0" t="0"/>
          <a:stretch/>
        </p:blipFill>
        <p:spPr>
          <a:xfrm>
            <a:off x="760400" y="1250950"/>
            <a:ext cx="7623201" cy="1181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10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10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10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animEffect filter="fade" transition="in">
                                      <p:cBhvr>
                                        <p:cTn dur="1000"/>
                                        <p:tgtEl>
                                          <p:spTgt spid="2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animEffect filter="fade" transition="in">
                                      <p:cBhvr>
                                        <p:cTn dur="1000"/>
                                        <p:tgtEl>
                                          <p:spTgt spid="2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5" st="5"/>
                                            </p:txEl>
                                          </p:spTgt>
                                        </p:tgtEl>
                                        <p:attrNameLst>
                                          <p:attrName>style.visibility</p:attrName>
                                        </p:attrNameLst>
                                      </p:cBhvr>
                                      <p:to>
                                        <p:strVal val="visible"/>
                                      </p:to>
                                    </p:set>
                                    <p:animEffect filter="fade" transition="in">
                                      <p:cBhvr>
                                        <p:cTn dur="1000"/>
                                        <p:tgtEl>
                                          <p:spTgt spid="2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6" st="6"/>
                                            </p:txEl>
                                          </p:spTgt>
                                        </p:tgtEl>
                                        <p:attrNameLst>
                                          <p:attrName>style.visibility</p:attrName>
                                        </p:attrNameLst>
                                      </p:cBhvr>
                                      <p:to>
                                        <p:strVal val="visible"/>
                                      </p:to>
                                    </p:set>
                                    <p:animEffect filter="fade" transition="in">
                                      <p:cBhvr>
                                        <p:cTn dur="1000"/>
                                        <p:tgtEl>
                                          <p:spTgt spid="2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7" st="7"/>
                                            </p:txEl>
                                          </p:spTgt>
                                        </p:tgtEl>
                                        <p:attrNameLst>
                                          <p:attrName>style.visibility</p:attrName>
                                        </p:attrNameLst>
                                      </p:cBhvr>
                                      <p:to>
                                        <p:strVal val="visible"/>
                                      </p:to>
                                    </p:set>
                                    <p:animEffect filter="fade" transition="in">
                                      <p:cBhvr>
                                        <p:cTn dur="1000"/>
                                        <p:tgtEl>
                                          <p:spTgt spid="25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4" name="Shape 264"/>
        <p:cNvGrpSpPr/>
        <p:nvPr/>
      </p:nvGrpSpPr>
      <p:grpSpPr>
        <a:xfrm>
          <a:off x="0" y="0"/>
          <a:ext cx="0" cy="0"/>
          <a:chOff x="0" y="0"/>
          <a:chExt cx="0" cy="0"/>
        </a:xfrm>
      </p:grpSpPr>
      <p:sp>
        <p:nvSpPr>
          <p:cNvPr id="265" name="Google Shape;265;g2ee15abed17_3_433"/>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66" name="Google Shape;266;g2ee15abed17_3_433"/>
          <p:cNvSpPr txBox="1"/>
          <p:nvPr/>
        </p:nvSpPr>
        <p:spPr>
          <a:xfrm>
            <a:off x="720725" y="1250950"/>
            <a:ext cx="76233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1500"/>
              </a:spcBef>
              <a:spcAft>
                <a:spcPts val="0"/>
              </a:spcAft>
              <a:buClr>
                <a:srgbClr val="000000"/>
              </a:buClr>
              <a:buSzPts val="1200"/>
              <a:buFont typeface="Arial"/>
              <a:buNone/>
            </a:pPr>
            <a:r>
              <a:t/>
            </a:r>
            <a:endParaRPr b="0" i="0" sz="1800" u="none" cap="none" strike="noStrike">
              <a:solidFill>
                <a:schemeClr val="dk1"/>
              </a:solidFill>
              <a:latin typeface="Roboto"/>
              <a:ea typeface="Roboto"/>
              <a:cs typeface="Roboto"/>
              <a:sym typeface="Roboto"/>
            </a:endParaRPr>
          </a:p>
        </p:txBody>
      </p:sp>
      <p:sp>
        <p:nvSpPr>
          <p:cNvPr id="267" name="Google Shape;267;g2ee15abed17_3_43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pic>
        <p:nvPicPr>
          <p:cNvPr id="268" name="Google Shape;268;g2ee15abed17_3_433"/>
          <p:cNvPicPr preferRelativeResize="0"/>
          <p:nvPr/>
        </p:nvPicPr>
        <p:blipFill rotWithShape="1">
          <a:blip r:embed="rId3">
            <a:alphaModFix/>
          </a:blip>
          <a:srcRect b="0" l="0" r="0" t="0"/>
          <a:stretch/>
        </p:blipFill>
        <p:spPr>
          <a:xfrm>
            <a:off x="720725" y="1303900"/>
            <a:ext cx="7102575" cy="253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1000"/>
                                        <p:tgtEl>
                                          <p:spTgt spid="26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ee15abed17_3_440"/>
          <p:cNvSpPr txBox="1"/>
          <p:nvPr/>
        </p:nvSpPr>
        <p:spPr>
          <a:xfrm>
            <a:off x="720000" y="1250950"/>
            <a:ext cx="7623900" cy="2787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300"/>
          </a:p>
          <a:p>
            <a:pPr indent="-311150" lvl="0" marL="457200" rtl="0" algn="l">
              <a:lnSpc>
                <a:spcPct val="115000"/>
              </a:lnSpc>
              <a:spcBef>
                <a:spcPts val="0"/>
              </a:spcBef>
              <a:spcAft>
                <a:spcPts val="0"/>
              </a:spcAft>
              <a:buClr>
                <a:srgbClr val="000000"/>
              </a:buClr>
              <a:buSzPts val="1300"/>
              <a:buAutoNum type="alphaUcPeriod"/>
            </a:pPr>
            <a:r>
              <a:rPr lang="en-GB" sz="1300"/>
              <a:t>60188</a:t>
            </a:r>
            <a:endParaRPr sz="1300"/>
          </a:p>
          <a:p>
            <a:pPr indent="-311150" lvl="0" marL="457200" rtl="0" algn="l">
              <a:lnSpc>
                <a:spcPct val="115000"/>
              </a:lnSpc>
              <a:spcBef>
                <a:spcPts val="0"/>
              </a:spcBef>
              <a:spcAft>
                <a:spcPts val="0"/>
              </a:spcAft>
              <a:buClr>
                <a:srgbClr val="000000"/>
              </a:buClr>
              <a:buSzPts val="1300"/>
              <a:buAutoNum type="alphaUcPeriod"/>
            </a:pPr>
            <a:r>
              <a:rPr lang="en-GB" sz="1300"/>
              <a:t>62800</a:t>
            </a:r>
            <a:endParaRPr sz="1300"/>
          </a:p>
          <a:p>
            <a:pPr indent="-311150" lvl="0" marL="457200" rtl="0" algn="l">
              <a:lnSpc>
                <a:spcPct val="115000"/>
              </a:lnSpc>
              <a:spcBef>
                <a:spcPts val="0"/>
              </a:spcBef>
              <a:spcAft>
                <a:spcPts val="0"/>
              </a:spcAft>
              <a:buClr>
                <a:srgbClr val="000000"/>
              </a:buClr>
              <a:buSzPts val="1300"/>
              <a:buAutoNum type="alphaUcPeriod"/>
            </a:pPr>
            <a:r>
              <a:rPr lang="en-GB" sz="1300"/>
              <a:t>50240</a:t>
            </a:r>
            <a:endParaRPr sz="1300"/>
          </a:p>
          <a:p>
            <a:pPr indent="-311150" lvl="0" marL="457200" rtl="0" algn="l">
              <a:lnSpc>
                <a:spcPct val="115000"/>
              </a:lnSpc>
              <a:spcBef>
                <a:spcPts val="0"/>
              </a:spcBef>
              <a:spcAft>
                <a:spcPts val="0"/>
              </a:spcAft>
              <a:buClr>
                <a:srgbClr val="000000"/>
              </a:buClr>
              <a:buSzPts val="1300"/>
              <a:buAutoNum type="alphaUcPeriod"/>
            </a:pPr>
            <a:r>
              <a:rPr lang="en-GB" sz="1300"/>
              <a:t>40192</a:t>
            </a:r>
            <a:endParaRPr sz="1300"/>
          </a:p>
          <a:p>
            <a:pPr indent="0" lvl="0" marL="0" marR="0" rtl="0" algn="l">
              <a:lnSpc>
                <a:spcPct val="100000"/>
              </a:lnSpc>
              <a:spcBef>
                <a:spcPts val="800"/>
              </a:spcBef>
              <a:spcAft>
                <a:spcPts val="800"/>
              </a:spcAft>
              <a:buClr>
                <a:srgbClr val="000000"/>
              </a:buClr>
              <a:buSzPts val="1200"/>
              <a:buFont typeface="Arial"/>
              <a:buNone/>
            </a:pPr>
            <a:r>
              <a:t/>
            </a:r>
            <a:endParaRPr sz="1800">
              <a:solidFill>
                <a:schemeClr val="dk1"/>
              </a:solidFill>
              <a:highlight>
                <a:schemeClr val="lt1"/>
              </a:highlight>
              <a:latin typeface="Roboto"/>
              <a:ea typeface="Roboto"/>
              <a:cs typeface="Roboto"/>
              <a:sym typeface="Roboto"/>
            </a:endParaRPr>
          </a:p>
        </p:txBody>
      </p:sp>
      <p:sp>
        <p:nvSpPr>
          <p:cNvPr id="274" name="Google Shape;274;g2ee15abed17_3_440"/>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pic>
        <p:nvPicPr>
          <p:cNvPr id="275" name="Google Shape;275;g2ee15abed17_3_440"/>
          <p:cNvPicPr preferRelativeResize="0"/>
          <p:nvPr/>
        </p:nvPicPr>
        <p:blipFill rotWithShape="1">
          <a:blip r:embed="rId3">
            <a:alphaModFix/>
          </a:blip>
          <a:srcRect b="0" l="0" r="0" t="0"/>
          <a:stretch/>
        </p:blipFill>
        <p:spPr>
          <a:xfrm>
            <a:off x="720725" y="1122850"/>
            <a:ext cx="7623898" cy="1217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1000"/>
                                        <p:tgtEl>
                                          <p:spTgt spid="2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animEffect filter="fade" transition="in">
                                      <p:cBhvr>
                                        <p:cTn dur="1000"/>
                                        <p:tgtEl>
                                          <p:spTgt spid="2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animEffect filter="fade" transition="in">
                                      <p:cBhvr>
                                        <p:cTn dur="1000"/>
                                        <p:tgtEl>
                                          <p:spTgt spid="2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3" st="3"/>
                                            </p:txEl>
                                          </p:spTgt>
                                        </p:tgtEl>
                                        <p:attrNameLst>
                                          <p:attrName>style.visibility</p:attrName>
                                        </p:attrNameLst>
                                      </p:cBhvr>
                                      <p:to>
                                        <p:strVal val="visible"/>
                                      </p:to>
                                    </p:set>
                                    <p:animEffect filter="fade" transition="in">
                                      <p:cBhvr>
                                        <p:cTn dur="1000"/>
                                        <p:tgtEl>
                                          <p:spTgt spid="2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4" st="4"/>
                                            </p:txEl>
                                          </p:spTgt>
                                        </p:tgtEl>
                                        <p:attrNameLst>
                                          <p:attrName>style.visibility</p:attrName>
                                        </p:attrNameLst>
                                      </p:cBhvr>
                                      <p:to>
                                        <p:strVal val="visible"/>
                                      </p:to>
                                    </p:set>
                                    <p:animEffect filter="fade" transition="in">
                                      <p:cBhvr>
                                        <p:cTn dur="1000"/>
                                        <p:tgtEl>
                                          <p:spTgt spid="2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5" st="5"/>
                                            </p:txEl>
                                          </p:spTgt>
                                        </p:tgtEl>
                                        <p:attrNameLst>
                                          <p:attrName>style.visibility</p:attrName>
                                        </p:attrNameLst>
                                      </p:cBhvr>
                                      <p:to>
                                        <p:strVal val="visible"/>
                                      </p:to>
                                    </p:set>
                                    <p:animEffect filter="fade" transition="in">
                                      <p:cBhvr>
                                        <p:cTn dur="1000"/>
                                        <p:tgtEl>
                                          <p:spTgt spid="2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6" st="6"/>
                                            </p:txEl>
                                          </p:spTgt>
                                        </p:tgtEl>
                                        <p:attrNameLst>
                                          <p:attrName>style.visibility</p:attrName>
                                        </p:attrNameLst>
                                      </p:cBhvr>
                                      <p:to>
                                        <p:strVal val="visible"/>
                                      </p:to>
                                    </p:set>
                                    <p:animEffect filter="fade" transition="in">
                                      <p:cBhvr>
                                        <p:cTn dur="1000"/>
                                        <p:tgtEl>
                                          <p:spTgt spid="2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7" st="7"/>
                                            </p:txEl>
                                          </p:spTgt>
                                        </p:tgtEl>
                                        <p:attrNameLst>
                                          <p:attrName>style.visibility</p:attrName>
                                        </p:attrNameLst>
                                      </p:cBhvr>
                                      <p:to>
                                        <p:strVal val="visible"/>
                                      </p:to>
                                    </p:set>
                                    <p:animEffect filter="fade" transition="in">
                                      <p:cBhvr>
                                        <p:cTn dur="1000"/>
                                        <p:tgtEl>
                                          <p:spTgt spid="2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8" st="8"/>
                                            </p:txEl>
                                          </p:spTgt>
                                        </p:tgtEl>
                                        <p:attrNameLst>
                                          <p:attrName>style.visibility</p:attrName>
                                        </p:attrNameLst>
                                      </p:cBhvr>
                                      <p:to>
                                        <p:strVal val="visible"/>
                                      </p:to>
                                    </p:set>
                                    <p:animEffect filter="fade" transition="in">
                                      <p:cBhvr>
                                        <p:cTn dur="1000"/>
                                        <p:tgtEl>
                                          <p:spTgt spid="27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9" name="Shape 279"/>
        <p:cNvGrpSpPr/>
        <p:nvPr/>
      </p:nvGrpSpPr>
      <p:grpSpPr>
        <a:xfrm>
          <a:off x="0" y="0"/>
          <a:ext cx="0" cy="0"/>
          <a:chOff x="0" y="0"/>
          <a:chExt cx="0" cy="0"/>
        </a:xfrm>
      </p:grpSpPr>
      <p:pic>
        <p:nvPicPr>
          <p:cNvPr id="280" name="Google Shape;280;g2ee15abed17_3_447"/>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81" name="Google Shape;281;g2ee15abed17_3_447"/>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82" name="Google Shape;282;g2ee15abed17_3_447"/>
          <p:cNvSpPr txBox="1"/>
          <p:nvPr/>
        </p:nvSpPr>
        <p:spPr>
          <a:xfrm>
            <a:off x="327600" y="10713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83" name="Google Shape;283;g2ee15abed17_3_44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pic>
        <p:nvPicPr>
          <p:cNvPr id="284" name="Google Shape;284;g2ee15abed17_3_447"/>
          <p:cNvPicPr preferRelativeResize="0"/>
          <p:nvPr/>
        </p:nvPicPr>
        <p:blipFill rotWithShape="1">
          <a:blip r:embed="rId4">
            <a:alphaModFix/>
          </a:blip>
          <a:srcRect b="0" l="0" r="0" t="0"/>
          <a:stretch/>
        </p:blipFill>
        <p:spPr>
          <a:xfrm>
            <a:off x="720725" y="1071300"/>
            <a:ext cx="7623177" cy="36022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2ee15abed17_3_455"/>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290" name="Google Shape;290;g2ee15abed17_3_455"/>
          <p:cNvSpPr txBox="1"/>
          <p:nvPr/>
        </p:nvSpPr>
        <p:spPr>
          <a:xfrm>
            <a:off x="720725" y="1250950"/>
            <a:ext cx="76233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A.</a:t>
            </a:r>
            <a:r>
              <a:rPr lang="en-GB">
                <a:solidFill>
                  <a:schemeClr val="dk1"/>
                </a:solidFill>
              </a:rPr>
              <a:t>84</a:t>
            </a:r>
            <a:endParaRPr>
              <a:solidFill>
                <a:schemeClr val="dk1"/>
              </a:solidFill>
            </a:endParaRPr>
          </a:p>
          <a:p>
            <a:pPr indent="0" lvl="0" marL="0" rtl="0" algn="l">
              <a:lnSpc>
                <a:spcPct val="115000"/>
              </a:lnSpc>
              <a:spcBef>
                <a:spcPts val="0"/>
              </a:spcBef>
              <a:spcAft>
                <a:spcPts val="0"/>
              </a:spcAft>
              <a:buNone/>
            </a:pPr>
            <a:r>
              <a:rPr lang="en-GB">
                <a:solidFill>
                  <a:schemeClr val="dk1"/>
                </a:solidFill>
              </a:rPr>
              <a:t>B.78</a:t>
            </a:r>
            <a:endParaRPr>
              <a:solidFill>
                <a:schemeClr val="dk1"/>
              </a:solidFill>
            </a:endParaRPr>
          </a:p>
          <a:p>
            <a:pPr indent="0" lvl="0" marL="0" rtl="0" algn="l">
              <a:lnSpc>
                <a:spcPct val="115000"/>
              </a:lnSpc>
              <a:spcBef>
                <a:spcPts val="0"/>
              </a:spcBef>
              <a:spcAft>
                <a:spcPts val="0"/>
              </a:spcAft>
              <a:buNone/>
            </a:pPr>
            <a:r>
              <a:rPr lang="en-GB">
                <a:solidFill>
                  <a:schemeClr val="dk1"/>
                </a:solidFill>
              </a:rPr>
              <a:t>C.72</a:t>
            </a:r>
            <a:endParaRPr>
              <a:solidFill>
                <a:schemeClr val="dk1"/>
              </a:solidFill>
            </a:endParaRPr>
          </a:p>
          <a:p>
            <a:pPr indent="0" lvl="0" marL="0" rtl="0" algn="l">
              <a:lnSpc>
                <a:spcPct val="115000"/>
              </a:lnSpc>
              <a:spcBef>
                <a:spcPts val="0"/>
              </a:spcBef>
              <a:spcAft>
                <a:spcPts val="0"/>
              </a:spcAft>
              <a:buNone/>
            </a:pPr>
            <a:r>
              <a:rPr lang="en-GB">
                <a:solidFill>
                  <a:schemeClr val="dk1"/>
                </a:solidFill>
              </a:rPr>
              <a:t>D.80</a:t>
            </a:r>
            <a:endParaRPr>
              <a:solidFill>
                <a:schemeClr val="dk1"/>
              </a:solidFill>
            </a:endParaRPr>
          </a:p>
        </p:txBody>
      </p:sp>
      <p:sp>
        <p:nvSpPr>
          <p:cNvPr id="291" name="Google Shape;291;g2ee15abed17_3_45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pic>
        <p:nvPicPr>
          <p:cNvPr id="292" name="Google Shape;292;g2ee15abed17_3_455"/>
          <p:cNvPicPr preferRelativeResize="0"/>
          <p:nvPr/>
        </p:nvPicPr>
        <p:blipFill rotWithShape="1">
          <a:blip r:embed="rId3">
            <a:alphaModFix/>
          </a:blip>
          <a:srcRect b="0" l="0" r="0" t="0"/>
          <a:stretch/>
        </p:blipFill>
        <p:spPr>
          <a:xfrm>
            <a:off x="720725" y="1102725"/>
            <a:ext cx="7623301" cy="814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Effect filter="fade" transition="in">
                                      <p:cBhvr>
                                        <p:cTn dur="1000"/>
                                        <p:tgtEl>
                                          <p:spTgt spid="2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animEffect filter="fade" transition="in">
                                      <p:cBhvr>
                                        <p:cTn dur="1000"/>
                                        <p:tgtEl>
                                          <p:spTgt spid="2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animEffect filter="fade" transition="in">
                                      <p:cBhvr>
                                        <p:cTn dur="1000"/>
                                        <p:tgtEl>
                                          <p:spTgt spid="2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3" st="3"/>
                                            </p:txEl>
                                          </p:spTgt>
                                        </p:tgtEl>
                                        <p:attrNameLst>
                                          <p:attrName>style.visibility</p:attrName>
                                        </p:attrNameLst>
                                      </p:cBhvr>
                                      <p:to>
                                        <p:strVal val="visible"/>
                                      </p:to>
                                    </p:set>
                                    <p:animEffect filter="fade" transition="in">
                                      <p:cBhvr>
                                        <p:cTn dur="1000"/>
                                        <p:tgtEl>
                                          <p:spTgt spid="2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4" st="4"/>
                                            </p:txEl>
                                          </p:spTgt>
                                        </p:tgtEl>
                                        <p:attrNameLst>
                                          <p:attrName>style.visibility</p:attrName>
                                        </p:attrNameLst>
                                      </p:cBhvr>
                                      <p:to>
                                        <p:strVal val="visible"/>
                                      </p:to>
                                    </p:set>
                                    <p:animEffect filter="fade" transition="in">
                                      <p:cBhvr>
                                        <p:cTn dur="1000"/>
                                        <p:tgtEl>
                                          <p:spTgt spid="2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5" st="5"/>
                                            </p:txEl>
                                          </p:spTgt>
                                        </p:tgtEl>
                                        <p:attrNameLst>
                                          <p:attrName>style.visibility</p:attrName>
                                        </p:attrNameLst>
                                      </p:cBhvr>
                                      <p:to>
                                        <p:strVal val="visible"/>
                                      </p:to>
                                    </p:set>
                                    <p:animEffect filter="fade" transition="in">
                                      <p:cBhvr>
                                        <p:cTn dur="1000"/>
                                        <p:tgtEl>
                                          <p:spTgt spid="2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6" st="6"/>
                                            </p:txEl>
                                          </p:spTgt>
                                        </p:tgtEl>
                                        <p:attrNameLst>
                                          <p:attrName>style.visibility</p:attrName>
                                        </p:attrNameLst>
                                      </p:cBhvr>
                                      <p:to>
                                        <p:strVal val="visible"/>
                                      </p:to>
                                    </p:set>
                                    <p:animEffect filter="fade" transition="in">
                                      <p:cBhvr>
                                        <p:cTn dur="1000"/>
                                        <p:tgtEl>
                                          <p:spTgt spid="2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7" st="7"/>
                                            </p:txEl>
                                          </p:spTgt>
                                        </p:tgtEl>
                                        <p:attrNameLst>
                                          <p:attrName>style.visibility</p:attrName>
                                        </p:attrNameLst>
                                      </p:cBhvr>
                                      <p:to>
                                        <p:strVal val="visible"/>
                                      </p:to>
                                    </p:set>
                                    <p:animEffect filter="fade" transition="in">
                                      <p:cBhvr>
                                        <p:cTn dur="1000"/>
                                        <p:tgtEl>
                                          <p:spTgt spid="29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8" st="8"/>
                                            </p:txEl>
                                          </p:spTgt>
                                        </p:tgtEl>
                                        <p:attrNameLst>
                                          <p:attrName>style.visibility</p:attrName>
                                        </p:attrNameLst>
                                      </p:cBhvr>
                                      <p:to>
                                        <p:strVal val="visible"/>
                                      </p:to>
                                    </p:set>
                                    <p:animEffect filter="fade" transition="in">
                                      <p:cBhvr>
                                        <p:cTn dur="1000"/>
                                        <p:tgtEl>
                                          <p:spTgt spid="29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6" name="Shape 296"/>
        <p:cNvGrpSpPr/>
        <p:nvPr/>
      </p:nvGrpSpPr>
      <p:grpSpPr>
        <a:xfrm>
          <a:off x="0" y="0"/>
          <a:ext cx="0" cy="0"/>
          <a:chOff x="0" y="0"/>
          <a:chExt cx="0" cy="0"/>
        </a:xfrm>
      </p:grpSpPr>
      <p:sp>
        <p:nvSpPr>
          <p:cNvPr id="297" name="Google Shape;297;g2ee15abed17_3_462"/>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98" name="Google Shape;298;g2ee15abed17_3_462"/>
          <p:cNvSpPr txBox="1"/>
          <p:nvPr/>
        </p:nvSpPr>
        <p:spPr>
          <a:xfrm>
            <a:off x="720725" y="1250950"/>
            <a:ext cx="7623300" cy="3519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1500"/>
              </a:spcBef>
              <a:spcAft>
                <a:spcPts val="0"/>
              </a:spcAft>
              <a:buClr>
                <a:srgbClr val="000000"/>
              </a:buClr>
              <a:buSzPts val="1200"/>
              <a:buFont typeface="Arial"/>
              <a:buNone/>
            </a:pPr>
            <a:r>
              <a:t/>
            </a:r>
            <a:endParaRPr b="0" i="0" sz="1800" u="none" cap="none" strike="noStrike">
              <a:solidFill>
                <a:schemeClr val="dk1"/>
              </a:solidFill>
              <a:latin typeface="Roboto"/>
              <a:ea typeface="Roboto"/>
              <a:cs typeface="Roboto"/>
              <a:sym typeface="Roboto"/>
            </a:endParaRPr>
          </a:p>
        </p:txBody>
      </p:sp>
      <p:sp>
        <p:nvSpPr>
          <p:cNvPr id="299" name="Google Shape;299;g2ee15abed17_3_46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300" name="Google Shape;300;g2ee15abed17_3_46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pic>
        <p:nvPicPr>
          <p:cNvPr id="301" name="Google Shape;301;g2ee15abed17_3_462"/>
          <p:cNvPicPr preferRelativeResize="0"/>
          <p:nvPr/>
        </p:nvPicPr>
        <p:blipFill rotWithShape="1">
          <a:blip r:embed="rId3">
            <a:alphaModFix/>
          </a:blip>
          <a:srcRect b="0" l="0" r="0" t="0"/>
          <a:stretch/>
        </p:blipFill>
        <p:spPr>
          <a:xfrm>
            <a:off x="720725" y="1250950"/>
            <a:ext cx="7623299" cy="34226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animEffect filter="fade" transition="in">
                                      <p:cBhvr>
                                        <p:cTn dur="1000"/>
                                        <p:tgtEl>
                                          <p:spTgt spid="2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1000"/>
                                        <p:tgtEl>
                                          <p:spTgt spid="29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g2ee15abed17_3_53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7" name="Google Shape;307;g2ee15abed17_3_531"/>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08" name="Google Shape;308;g2ee15abed17_3_53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9" name="Google Shape;309;g2ee15abed17_3_53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10" name="Google Shape;310;g2ee15abed17_3_531"/>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11" name="Google Shape;311;g2ee15abed17_3_53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12" name="Google Shape;312;g2ee15abed17_3_531"/>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13" name="Google Shape;313;g2ee15abed17_3_53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4" name="Google Shape;314;g2ee15abed17_3_531"/>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15" name="Google Shape;315;g2ee15abed17_3_53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