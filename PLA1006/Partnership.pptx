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143500" cx="9144000"/>
  <p:notesSz cx="6858000" cy="9144000"/>
  <p:embeddedFontLst>
    <p:embeddedFont>
      <p:font typeface="Roboto"/>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753">
          <p15:clr>
            <a:srgbClr val="FF0000"/>
          </p15:clr>
        </p15:guide>
        <p15:guide id="2" orient="horz" pos="904">
          <p15:clr>
            <a:srgbClr val="FF0000"/>
          </p15:clr>
        </p15:guide>
        <p15:guide id="3" orient="horz" pos="737">
          <p15:clr>
            <a:srgbClr val="00FF00"/>
          </p15:clr>
        </p15:guide>
        <p15:guide id="4" orient="horz" pos="397">
          <p15:clr>
            <a:srgbClr val="00FF00"/>
          </p15:clr>
        </p15:guide>
        <p15:guide id="5" pos="455">
          <p15:clr>
            <a:srgbClr val="FF00FF"/>
          </p15:clr>
        </p15:guide>
        <p15:guide id="6" pos="5270">
          <p15:clr>
            <a:srgbClr val="FF00FF"/>
          </p15:clr>
        </p15:guide>
      </p15:sldGuideLst>
    </p:ext>
    <p:ext uri="GoogleSlidesCustomDataVersion2">
      <go:slidesCustomData xmlns:go="http://customooxmlschemas.google.com/" r:id="rId46" roundtripDataSignature="AMtx7mheL6V6llL8pddn3q5OVVu6rcNI3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753" orient="horz"/>
        <p:guide pos="904" orient="horz"/>
        <p:guide pos="737" orient="horz"/>
        <p:guide pos="397" orient="horz"/>
        <p:guide pos="455"/>
        <p:guide pos="527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font" Target="fonts/Roboto-regular.fntdata"/><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Roboto-italic.fntdata"/><Relationship Id="rId21" Type="http://schemas.openxmlformats.org/officeDocument/2006/relationships/slide" Target="slides/slide16.xml"/><Relationship Id="rId43" Type="http://schemas.openxmlformats.org/officeDocument/2006/relationships/font" Target="fonts/Roboto-bold.fntdata"/><Relationship Id="rId24" Type="http://schemas.openxmlformats.org/officeDocument/2006/relationships/slide" Target="slides/slide19.xml"/><Relationship Id="rId46" Type="http://customschemas.google.com/relationships/presentationmetadata" Target="metadata"/><Relationship Id="rId23" Type="http://schemas.openxmlformats.org/officeDocument/2006/relationships/slide" Target="slides/slide18.xml"/><Relationship Id="rId45"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 name="Google Shape;5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f457c7638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 name="Google Shape;60;g2f457c7638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 name="Google Shape;76;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481c3950792bf2f7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g481c3950792bf2f7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US"/>
              <a:t>B</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481c3950792bf2f7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g481c3950792bf2f7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481c3950792bf2f7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g481c3950792bf2f7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US"/>
              <a:t>B</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481c3950792bf2f7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g481c3950792bf2f7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481c3950792bf2f7_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g481c3950792bf2f7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481c3950792bf2f7_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g481c3950792bf2f7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481c3950792bf2f7_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g481c3950792bf2f7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US"/>
              <a:t>A</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481c3950792bf2f7_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g481c3950792bf2f7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481c3950792bf2f7_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g481c3950792bf2f7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C</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481c3950792bf2f7_1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g481c3950792bf2f7_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3a7215635f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13a7215635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US"/>
              <a:t>B</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3a7215635f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g13a7215635f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3a7215635f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g13a7215635f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D</a:t>
            </a:r>
            <a:endParaRPr/>
          </a:p>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3a7215635f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g13a7215635f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3a7215635f_0_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g13a7215635f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US"/>
              <a:t>C</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3a7215635f_0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g13a7215635f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US"/>
              <a:t>B</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A</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b64d640a47_0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g1b64d640a47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US"/>
              <a:t>B</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b64d640a47_0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g1b64d640a47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US"/>
              <a:t>A</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b64d640a47_0_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1b64d640a47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US"/>
              <a:t>D</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b64d640a47_0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g1b64d640a47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US"/>
              <a:t>D</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b64d640a47_0_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g1b64d640a47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US"/>
              <a:t>D</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1b64d640a47_0_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g1b64d640a47_0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9: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9: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3.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1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1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3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g13caba5e1c5_0_1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g13caba5e1c5_0_11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1" name="Google Shape;21;g13caba5e1c5_0_11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2" name="Google Shape;22;g13caba5e1c5_0_1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6" name="Shape 26"/>
        <p:cNvGrpSpPr/>
        <p:nvPr/>
      </p:nvGrpSpPr>
      <p:grpSpPr>
        <a:xfrm>
          <a:off x="0" y="0"/>
          <a:ext cx="0" cy="0"/>
          <a:chOff x="0" y="0"/>
          <a:chExt cx="0" cy="0"/>
        </a:xfrm>
      </p:grpSpPr>
      <p:sp>
        <p:nvSpPr>
          <p:cNvPr id="27" name="Google Shape;27;p3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8" name="Google Shape;28;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 name="Shape 29"/>
        <p:cNvGrpSpPr/>
        <p:nvPr/>
      </p:nvGrpSpPr>
      <p:grpSpPr>
        <a:xfrm>
          <a:off x="0" y="0"/>
          <a:ext cx="0" cy="0"/>
          <a:chOff x="0" y="0"/>
          <a:chExt cx="0" cy="0"/>
        </a:xfrm>
      </p:grpSpPr>
      <p:sp>
        <p:nvSpPr>
          <p:cNvPr id="30" name="Google Shape;30;p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2" name="Google Shape;32;p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3" name="Google Shape;33;p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4" name="Google Shape;34;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5" name="Shape 35"/>
        <p:cNvGrpSpPr/>
        <p:nvPr/>
      </p:nvGrpSpPr>
      <p:grpSpPr>
        <a:xfrm>
          <a:off x="0" y="0"/>
          <a:ext cx="0" cy="0"/>
          <a:chOff x="0" y="0"/>
          <a:chExt cx="0" cy="0"/>
        </a:xfrm>
      </p:grpSpPr>
      <p:sp>
        <p:nvSpPr>
          <p:cNvPr id="36" name="Google Shape;36;p4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37" name="Google Shape;37;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8" name="Shape 38"/>
        <p:cNvGrpSpPr/>
        <p:nvPr/>
      </p:nvGrpSpPr>
      <p:grpSpPr>
        <a:xfrm>
          <a:off x="0" y="0"/>
          <a:ext cx="0" cy="0"/>
          <a:chOff x="0" y="0"/>
          <a:chExt cx="0" cy="0"/>
        </a:xfrm>
      </p:grpSpPr>
      <p:sp>
        <p:nvSpPr>
          <p:cNvPr id="39" name="Google Shape;39;p4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0" name="Google Shape;40;p4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1" name="Google Shape;41;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42" name="Shape 42"/>
        <p:cNvGrpSpPr/>
        <p:nvPr/>
      </p:nvGrpSpPr>
      <p:grpSpPr>
        <a:xfrm>
          <a:off x="0" y="0"/>
          <a:ext cx="0" cy="0"/>
          <a:chOff x="0" y="0"/>
          <a:chExt cx="0" cy="0"/>
        </a:xfrm>
      </p:grpSpPr>
      <p:pic>
        <p:nvPicPr>
          <p:cNvPr descr="A close up of a logo&#10;&#10;Description generated with high confidence" id="43" name="Google Shape;43;p4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pic>
        <p:nvPicPr>
          <p:cNvPr descr="A picture containing colorful, colored&#10;&#10;Description generated with very high confidence" id="44" name="Google Shape;44;p42"/>
          <p:cNvPicPr preferRelativeResize="0"/>
          <p:nvPr/>
        </p:nvPicPr>
        <p:blipFill rotWithShape="1">
          <a:blip r:embed="rId3">
            <a:alphaModFix/>
          </a:blip>
          <a:srcRect b="37530" l="0" r="0" t="55603"/>
          <a:stretch/>
        </p:blipFill>
        <p:spPr>
          <a:xfrm>
            <a:off x="0" y="4849200"/>
            <a:ext cx="9144000" cy="294300"/>
          </a:xfrm>
          <a:prstGeom prst="rect">
            <a:avLst/>
          </a:prstGeom>
          <a:noFill/>
          <a:ln>
            <a:noFill/>
          </a:ln>
        </p:spPr>
      </p:pic>
      <p:sp>
        <p:nvSpPr>
          <p:cNvPr id="45" name="Google Shape;45;p4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46" name="Google Shape;46;p4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47" name="Google Shape;47;p4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
        <p:nvSpPr>
          <p:cNvPr id="48" name="Google Shape;48;p4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1.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9" name="Google Shape;9;p3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image" Target="../media/image4.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forms.gle/Wz3no8VE4XEdtnjU7" TargetMode="Externa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8.png"/><Relationship Id="rId4" Type="http://schemas.openxmlformats.org/officeDocument/2006/relationships/hyperlink" Target="https://learn.codemithra.com/"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9.jp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54" name="Google Shape;54;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55" name="Google Shape;55;p4"/>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56" name="Google Shape;56;p4"/>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57" name="Google Shape;57;p4"/>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g2f457c76389_0_0"/>
          <p:cNvSpPr txBox="1"/>
          <p:nvPr>
            <p:ph idx="1" type="body"/>
          </p:nvPr>
        </p:nvSpPr>
        <p:spPr>
          <a:xfrm>
            <a:off x="729200" y="1384300"/>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US" sz="1600">
                <a:solidFill>
                  <a:schemeClr val="dk1"/>
                </a:solidFill>
                <a:highlight>
                  <a:srgbClr val="FFFFFF"/>
                </a:highlight>
                <a:latin typeface="Roboto"/>
                <a:ea typeface="Roboto"/>
                <a:cs typeface="Roboto"/>
                <a:sym typeface="Roboto"/>
              </a:rPr>
              <a:t>URL</a:t>
            </a:r>
            <a:r>
              <a:rPr b="1" lang="en-US" sz="1600">
                <a:solidFill>
                  <a:srgbClr val="373737"/>
                </a:solidFill>
                <a:highlight>
                  <a:srgbClr val="FFFFFF"/>
                </a:highlight>
                <a:latin typeface="Roboto"/>
                <a:ea typeface="Roboto"/>
                <a:cs typeface="Roboto"/>
                <a:sym typeface="Roboto"/>
              </a:rPr>
              <a:t>: </a:t>
            </a:r>
            <a:r>
              <a:rPr b="1" lang="en-US" sz="1600" u="sng">
                <a:solidFill>
                  <a:schemeClr val="hlink"/>
                </a:solidFill>
                <a:highlight>
                  <a:srgbClr val="FFFFFF"/>
                </a:highlight>
                <a:latin typeface="Roboto"/>
                <a:ea typeface="Roboto"/>
                <a:cs typeface="Roboto"/>
                <a:sym typeface="Roboto"/>
                <a:hlinkClick r:id="rId3"/>
              </a:rPr>
              <a:t>https://forms.gle/Wz3no8VE4XEdtnjU7</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highlight>
                <a:schemeClr val="lt1"/>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US" sz="1600">
                <a:solidFill>
                  <a:schemeClr val="dk1"/>
                </a:solidFill>
                <a:highlight>
                  <a:srgbClr val="FFFFFF"/>
                </a:highlight>
                <a:latin typeface="Roboto"/>
                <a:ea typeface="Roboto"/>
                <a:cs typeface="Roboto"/>
                <a:sym typeface="Roboto"/>
              </a:rPr>
              <a:t>QR CODE</a:t>
            </a:r>
            <a:r>
              <a:rPr b="1" lang="en-US" sz="1600">
                <a:solidFill>
                  <a:srgbClr val="373737"/>
                </a:solidFill>
                <a:highlight>
                  <a:srgbClr val="FFFFFF"/>
                </a:highlight>
                <a:latin typeface="Roboto"/>
                <a:ea typeface="Roboto"/>
                <a:cs typeface="Roboto"/>
                <a:sym typeface="Roboto"/>
              </a:rPr>
              <a:t>:</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US" sz="1600">
                <a:solidFill>
                  <a:srgbClr val="373737"/>
                </a:solidFill>
                <a:highlight>
                  <a:srgbClr val="FFFFFF"/>
                </a:highlight>
                <a:latin typeface="Roboto"/>
                <a:ea typeface="Roboto"/>
                <a:cs typeface="Roboto"/>
                <a:sym typeface="Roboto"/>
              </a:rPr>
              <a:t>				</a:t>
            </a:r>
            <a:endParaRPr b="1" sz="1600">
              <a:solidFill>
                <a:srgbClr val="373737"/>
              </a:solidFill>
              <a:highlight>
                <a:srgbClr val="FFFFFF"/>
              </a:highlight>
              <a:latin typeface="Roboto"/>
              <a:ea typeface="Roboto"/>
              <a:cs typeface="Roboto"/>
              <a:sym typeface="Roboto"/>
            </a:endParaRPr>
          </a:p>
        </p:txBody>
      </p:sp>
      <p:sp>
        <p:nvSpPr>
          <p:cNvPr id="63" name="Google Shape;63;g2f457c76389_0_0"/>
          <p:cNvSpPr txBox="1"/>
          <p:nvPr/>
        </p:nvSpPr>
        <p:spPr>
          <a:xfrm>
            <a:off x="577325" y="622125"/>
            <a:ext cx="77862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600">
                <a:latin typeface="Roboto"/>
                <a:ea typeface="Roboto"/>
                <a:cs typeface="Roboto"/>
                <a:sym typeface="Roboto"/>
              </a:rPr>
              <a:t>                    TEST TIME ON PROFIT AND LOSS, DISCOUNT</a:t>
            </a:r>
            <a:endParaRPr b="1" sz="1600">
              <a:latin typeface="Roboto"/>
              <a:ea typeface="Roboto"/>
              <a:cs typeface="Roboto"/>
              <a:sym typeface="Roboto"/>
            </a:endParaRPr>
          </a:p>
        </p:txBody>
      </p:sp>
      <p:sp>
        <p:nvSpPr>
          <p:cNvPr id="64" name="Google Shape;64;g2f457c76389_0_0"/>
          <p:cNvSpPr txBox="1"/>
          <p:nvPr/>
        </p:nvSpPr>
        <p:spPr>
          <a:xfrm>
            <a:off x="5143500" y="944725"/>
            <a:ext cx="4028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id="65" name="Google Shape;65;g2f457c76389_0_0"/>
          <p:cNvPicPr preferRelativeResize="0"/>
          <p:nvPr/>
        </p:nvPicPr>
        <p:blipFill>
          <a:blip r:embed="rId4">
            <a:alphaModFix/>
          </a:blip>
          <a:stretch>
            <a:fillRect/>
          </a:stretch>
        </p:blipFill>
        <p:spPr>
          <a:xfrm>
            <a:off x="3276500" y="2138750"/>
            <a:ext cx="2991600" cy="24274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71" name="Google Shape;71;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72" name="Google Shape;72;p5"/>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73" name="Google Shape;73;p5"/>
          <p:cNvSpPr txBox="1"/>
          <p:nvPr/>
        </p:nvSpPr>
        <p:spPr>
          <a:xfrm>
            <a:off x="148264" y="1741810"/>
            <a:ext cx="4690948" cy="750945"/>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1" i="0" lang="en-US" sz="3200" u="none" cap="none" strike="noStrike">
                <a:solidFill>
                  <a:schemeClr val="lt1"/>
                </a:solidFill>
                <a:latin typeface="Roboto"/>
                <a:ea typeface="Roboto"/>
                <a:cs typeface="Roboto"/>
                <a:sym typeface="Roboto"/>
              </a:rPr>
              <a:t>PARTNERSHIP</a:t>
            </a:r>
            <a:endParaRPr b="1" i="0" sz="3200" u="none" cap="none" strike="noStrike">
              <a:solidFill>
                <a:schemeClr val="lt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
          <p:cNvSpPr txBox="1"/>
          <p:nvPr>
            <p:ph idx="1" type="body"/>
          </p:nvPr>
        </p:nvSpPr>
        <p:spPr>
          <a:xfrm>
            <a:off x="680250" y="1380475"/>
            <a:ext cx="7476900" cy="2693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US" sz="1600" u="sng">
                <a:solidFill>
                  <a:schemeClr val="dk1"/>
                </a:solidFill>
                <a:latin typeface="Roboto"/>
                <a:ea typeface="Roboto"/>
                <a:cs typeface="Roboto"/>
                <a:sym typeface="Roboto"/>
              </a:rPr>
              <a:t>Formula</a:t>
            </a:r>
            <a:r>
              <a:rPr b="1" lang="en-US" sz="1600">
                <a:solidFill>
                  <a:schemeClr val="dk1"/>
                </a:solidFill>
                <a:latin typeface="Roboto"/>
                <a:ea typeface="Roboto"/>
                <a:cs typeface="Roboto"/>
                <a:sym typeface="Roboto"/>
              </a:rPr>
              <a:t>:</a:t>
            </a:r>
            <a:endParaRPr b="1" sz="1600">
              <a:solidFill>
                <a:schemeClr val="dk1"/>
              </a:solidFill>
              <a:latin typeface="Roboto"/>
              <a:ea typeface="Roboto"/>
              <a:cs typeface="Roboto"/>
              <a:sym typeface="Roboto"/>
            </a:endParaRPr>
          </a:p>
          <a:p>
            <a:pPr indent="0" lvl="0" marL="0" rtl="0" algn="l">
              <a:lnSpc>
                <a:spcPct val="150000"/>
              </a:lnSpc>
              <a:spcBef>
                <a:spcPts val="0"/>
              </a:spcBef>
              <a:spcAft>
                <a:spcPts val="0"/>
              </a:spcAft>
              <a:buClr>
                <a:schemeClr val="dk1"/>
              </a:buClr>
              <a:buSzPts val="1100"/>
              <a:buFont typeface="Arial"/>
              <a:buNone/>
            </a:pPr>
            <a:r>
              <a:rPr lang="en-US" sz="1400">
                <a:solidFill>
                  <a:schemeClr val="dk1"/>
                </a:solidFill>
                <a:latin typeface="Roboto"/>
                <a:ea typeface="Roboto"/>
                <a:cs typeface="Roboto"/>
                <a:sym typeface="Roboto"/>
              </a:rPr>
              <a:t>       			Ratio of Investment * Time = Ratio of Profit</a:t>
            </a:r>
            <a:endParaRPr sz="1400">
              <a:solidFill>
                <a:schemeClr val="dk1"/>
              </a:solidFill>
              <a:latin typeface="Roboto"/>
              <a:ea typeface="Roboto"/>
              <a:cs typeface="Roboto"/>
              <a:sym typeface="Roboto"/>
            </a:endParaRPr>
          </a:p>
          <a:p>
            <a:pPr indent="0" lvl="0" marL="0" rtl="0" algn="l">
              <a:lnSpc>
                <a:spcPct val="150000"/>
              </a:lnSpc>
              <a:spcBef>
                <a:spcPts val="0"/>
              </a:spcBef>
              <a:spcAft>
                <a:spcPts val="0"/>
              </a:spcAft>
              <a:buSzPts val="1100"/>
              <a:buNone/>
            </a:pPr>
            <a:r>
              <a:rPr lang="en-US" sz="1400">
                <a:solidFill>
                  <a:schemeClr val="dk1"/>
                </a:solidFill>
                <a:latin typeface="Roboto"/>
                <a:ea typeface="Roboto"/>
                <a:cs typeface="Roboto"/>
                <a:sym typeface="Roboto"/>
              </a:rPr>
              <a:t>        </a:t>
            </a:r>
            <a:endParaRPr sz="1400">
              <a:solidFill>
                <a:schemeClr val="dk1"/>
              </a:solidFill>
              <a:latin typeface="Roboto"/>
              <a:ea typeface="Roboto"/>
              <a:cs typeface="Roboto"/>
              <a:sym typeface="Roboto"/>
            </a:endParaRPr>
          </a:p>
          <a:p>
            <a:pPr indent="0" lvl="0" marL="0" rtl="0" algn="l">
              <a:lnSpc>
                <a:spcPct val="150000"/>
              </a:lnSpc>
              <a:spcBef>
                <a:spcPts val="0"/>
              </a:spcBef>
              <a:spcAft>
                <a:spcPts val="0"/>
              </a:spcAft>
              <a:buSzPts val="1100"/>
              <a:buNone/>
            </a:pPr>
            <a:r>
              <a:t/>
            </a:r>
            <a:endParaRPr sz="1600">
              <a:solidFill>
                <a:schemeClr val="dk1"/>
              </a:solidFill>
              <a:latin typeface="Roboto"/>
              <a:ea typeface="Roboto"/>
              <a:cs typeface="Roboto"/>
              <a:sym typeface="Roboto"/>
            </a:endParaRPr>
          </a:p>
          <a:p>
            <a:pPr indent="0" lvl="0" marL="0" rtl="0" algn="l">
              <a:lnSpc>
                <a:spcPct val="150000"/>
              </a:lnSpc>
              <a:spcBef>
                <a:spcPts val="0"/>
              </a:spcBef>
              <a:spcAft>
                <a:spcPts val="0"/>
              </a:spcAft>
              <a:buClr>
                <a:schemeClr val="dk1"/>
              </a:buClr>
              <a:buSzPts val="1100"/>
              <a:buFont typeface="Arial"/>
              <a:buNone/>
            </a:pPr>
            <a:r>
              <a:rPr b="1" lang="en-US" sz="1600" u="sng">
                <a:solidFill>
                  <a:schemeClr val="dk1"/>
                </a:solidFill>
                <a:latin typeface="Roboto"/>
                <a:ea typeface="Roboto"/>
                <a:cs typeface="Roboto"/>
                <a:sym typeface="Roboto"/>
              </a:rPr>
              <a:t>Example</a:t>
            </a:r>
            <a:r>
              <a:rPr b="1" lang="en-US" sz="1600">
                <a:solidFill>
                  <a:schemeClr val="dk1"/>
                </a:solidFill>
                <a:latin typeface="Roboto"/>
                <a:ea typeface="Roboto"/>
                <a:cs typeface="Roboto"/>
                <a:sym typeface="Roboto"/>
              </a:rPr>
              <a:t>:</a:t>
            </a:r>
            <a:endParaRPr b="1" sz="1600">
              <a:solidFill>
                <a:schemeClr val="dk1"/>
              </a:solidFill>
              <a:latin typeface="Roboto"/>
              <a:ea typeface="Roboto"/>
              <a:cs typeface="Roboto"/>
              <a:sym typeface="Roboto"/>
            </a:endParaRPr>
          </a:p>
          <a:p>
            <a:pPr indent="0" lvl="0" marL="0" rtl="0" algn="l">
              <a:lnSpc>
                <a:spcPct val="150000"/>
              </a:lnSpc>
              <a:spcBef>
                <a:spcPts val="0"/>
              </a:spcBef>
              <a:spcAft>
                <a:spcPts val="0"/>
              </a:spcAft>
              <a:buClr>
                <a:schemeClr val="dk1"/>
              </a:buClr>
              <a:buSzPts val="1100"/>
              <a:buFont typeface="Arial"/>
              <a:buNone/>
            </a:pPr>
            <a:r>
              <a:rPr lang="en-US" sz="1400">
                <a:solidFill>
                  <a:schemeClr val="dk1"/>
                </a:solidFill>
                <a:latin typeface="Roboto"/>
                <a:ea typeface="Roboto"/>
                <a:cs typeface="Roboto"/>
                <a:sym typeface="Roboto"/>
              </a:rPr>
              <a:t>               (A’s Investment * A’s Time) : (B’s Investment * B’s Time) = A’s profit : B’s profit</a:t>
            </a:r>
            <a:endParaRPr sz="1400">
              <a:solidFill>
                <a:schemeClr val="dk1"/>
              </a:solidFill>
              <a:latin typeface="Roboto"/>
              <a:ea typeface="Roboto"/>
              <a:cs typeface="Roboto"/>
              <a:sym typeface="Roboto"/>
            </a:endParaRPr>
          </a:p>
          <a:p>
            <a:pPr indent="0" lvl="0" marL="0" rtl="0" algn="l">
              <a:lnSpc>
                <a:spcPct val="150000"/>
              </a:lnSpc>
              <a:spcBef>
                <a:spcPts val="0"/>
              </a:spcBef>
              <a:spcAft>
                <a:spcPts val="0"/>
              </a:spcAft>
              <a:buClr>
                <a:schemeClr val="dk1"/>
              </a:buClr>
              <a:buSzPts val="1100"/>
              <a:buFont typeface="Arial"/>
              <a:buNone/>
            </a:pPr>
            <a:r>
              <a:t/>
            </a:r>
            <a:endParaRPr sz="1400">
              <a:solidFill>
                <a:schemeClr val="dk1"/>
              </a:solidFill>
              <a:latin typeface="Roboto"/>
              <a:ea typeface="Roboto"/>
              <a:cs typeface="Roboto"/>
              <a:sym typeface="Roboto"/>
            </a:endParaRPr>
          </a:p>
          <a:p>
            <a:pPr indent="0" lvl="0" marL="0" rtl="0" algn="l">
              <a:lnSpc>
                <a:spcPct val="150000"/>
              </a:lnSpc>
              <a:spcBef>
                <a:spcPts val="0"/>
              </a:spcBef>
              <a:spcAft>
                <a:spcPts val="0"/>
              </a:spcAft>
              <a:buSzPts val="1800"/>
              <a:buNone/>
            </a:pPr>
            <a:r>
              <a:t/>
            </a:r>
            <a:endParaRPr sz="1400">
              <a:solidFill>
                <a:schemeClr val="dk1"/>
              </a:solidFill>
              <a:latin typeface="Roboto"/>
              <a:ea typeface="Roboto"/>
              <a:cs typeface="Roboto"/>
              <a:sym typeface="Roboto"/>
            </a:endParaRPr>
          </a:p>
        </p:txBody>
      </p:sp>
      <p:sp>
        <p:nvSpPr>
          <p:cNvPr id="79" name="Google Shape;79;p3"/>
          <p:cNvSpPr txBox="1"/>
          <p:nvPr/>
        </p:nvSpPr>
        <p:spPr>
          <a:xfrm>
            <a:off x="722375" y="559275"/>
            <a:ext cx="3000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1" i="0" lang="en-US" sz="3200" u="none" cap="none" strike="noStrike">
                <a:solidFill>
                  <a:srgbClr val="4A86E8"/>
                </a:solidFill>
                <a:latin typeface="Roboto"/>
                <a:ea typeface="Roboto"/>
                <a:cs typeface="Roboto"/>
                <a:sym typeface="Roboto"/>
              </a:rPr>
              <a:t>PARTNERSHIP</a:t>
            </a:r>
            <a:endParaRPr b="1" i="0" sz="3200" u="none" cap="none" strike="noStrike">
              <a:solidFill>
                <a:srgbClr val="4A86E8"/>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
                                            <p:txEl>
                                              <p:pRg end="0" st="0"/>
                                            </p:txEl>
                                          </p:spTgt>
                                        </p:tgtEl>
                                        <p:attrNameLst>
                                          <p:attrName>style.visibility</p:attrName>
                                        </p:attrNameLst>
                                      </p:cBhvr>
                                      <p:to>
                                        <p:strVal val="visible"/>
                                      </p:to>
                                    </p:set>
                                    <p:animEffect filter="fade" transition="in">
                                      <p:cBhvr>
                                        <p:cTn dur="1000"/>
                                        <p:tgtEl>
                                          <p:spTgt spid="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
                                            <p:txEl>
                                              <p:pRg end="1" st="1"/>
                                            </p:txEl>
                                          </p:spTgt>
                                        </p:tgtEl>
                                        <p:attrNameLst>
                                          <p:attrName>style.visibility</p:attrName>
                                        </p:attrNameLst>
                                      </p:cBhvr>
                                      <p:to>
                                        <p:strVal val="visible"/>
                                      </p:to>
                                    </p:set>
                                    <p:animEffect filter="fade" transition="in">
                                      <p:cBhvr>
                                        <p:cTn dur="1000"/>
                                        <p:tgtEl>
                                          <p:spTgt spid="7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
                                            <p:txEl>
                                              <p:pRg end="2" st="2"/>
                                            </p:txEl>
                                          </p:spTgt>
                                        </p:tgtEl>
                                        <p:attrNameLst>
                                          <p:attrName>style.visibility</p:attrName>
                                        </p:attrNameLst>
                                      </p:cBhvr>
                                      <p:to>
                                        <p:strVal val="visible"/>
                                      </p:to>
                                    </p:set>
                                    <p:animEffect filter="fade" transition="in">
                                      <p:cBhvr>
                                        <p:cTn dur="1000"/>
                                        <p:tgtEl>
                                          <p:spTgt spid="7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
                                            <p:txEl>
                                              <p:pRg end="3" st="3"/>
                                            </p:txEl>
                                          </p:spTgt>
                                        </p:tgtEl>
                                        <p:attrNameLst>
                                          <p:attrName>style.visibility</p:attrName>
                                        </p:attrNameLst>
                                      </p:cBhvr>
                                      <p:to>
                                        <p:strVal val="visible"/>
                                      </p:to>
                                    </p:set>
                                    <p:animEffect filter="fade" transition="in">
                                      <p:cBhvr>
                                        <p:cTn dur="1000"/>
                                        <p:tgtEl>
                                          <p:spTgt spid="7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
                                            <p:txEl>
                                              <p:pRg end="4" st="4"/>
                                            </p:txEl>
                                          </p:spTgt>
                                        </p:tgtEl>
                                        <p:attrNameLst>
                                          <p:attrName>style.visibility</p:attrName>
                                        </p:attrNameLst>
                                      </p:cBhvr>
                                      <p:to>
                                        <p:strVal val="visible"/>
                                      </p:to>
                                    </p:set>
                                    <p:animEffect filter="fade" transition="in">
                                      <p:cBhvr>
                                        <p:cTn dur="1000"/>
                                        <p:tgtEl>
                                          <p:spTgt spid="7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
                                            <p:txEl>
                                              <p:pRg end="5" st="5"/>
                                            </p:txEl>
                                          </p:spTgt>
                                        </p:tgtEl>
                                        <p:attrNameLst>
                                          <p:attrName>style.visibility</p:attrName>
                                        </p:attrNameLst>
                                      </p:cBhvr>
                                      <p:to>
                                        <p:strVal val="visible"/>
                                      </p:to>
                                    </p:set>
                                    <p:animEffect filter="fade" transition="in">
                                      <p:cBhvr>
                                        <p:cTn dur="1000"/>
                                        <p:tgtEl>
                                          <p:spTgt spid="7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
                                            <p:txEl>
                                              <p:pRg end="6" st="6"/>
                                            </p:txEl>
                                          </p:spTgt>
                                        </p:tgtEl>
                                        <p:attrNameLst>
                                          <p:attrName>style.visibility</p:attrName>
                                        </p:attrNameLst>
                                      </p:cBhvr>
                                      <p:to>
                                        <p:strVal val="visible"/>
                                      </p:to>
                                    </p:set>
                                    <p:animEffect filter="fade" transition="in">
                                      <p:cBhvr>
                                        <p:cTn dur="1000"/>
                                        <p:tgtEl>
                                          <p:spTgt spid="7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
                                            <p:txEl>
                                              <p:pRg end="7" st="7"/>
                                            </p:txEl>
                                          </p:spTgt>
                                        </p:tgtEl>
                                        <p:attrNameLst>
                                          <p:attrName>style.visibility</p:attrName>
                                        </p:attrNameLst>
                                      </p:cBhvr>
                                      <p:to>
                                        <p:strVal val="visible"/>
                                      </p:to>
                                    </p:set>
                                    <p:animEffect filter="fade" transition="in">
                                      <p:cBhvr>
                                        <p:cTn dur="1000"/>
                                        <p:tgtEl>
                                          <p:spTgt spid="78">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481c3950792bf2f7_1"/>
          <p:cNvSpPr txBox="1"/>
          <p:nvPr/>
        </p:nvSpPr>
        <p:spPr>
          <a:xfrm>
            <a:off x="722375" y="1435600"/>
            <a:ext cx="7644300" cy="25551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100"/>
              <a:buFont typeface="Arial"/>
              <a:buNone/>
            </a:pPr>
            <a:r>
              <a:rPr i="0" lang="en-US" sz="1600" u="none" cap="none" strike="noStrike">
                <a:solidFill>
                  <a:schemeClr val="dk1"/>
                </a:solidFill>
                <a:latin typeface="Roboto"/>
                <a:ea typeface="Roboto"/>
                <a:cs typeface="Roboto"/>
                <a:sym typeface="Roboto"/>
              </a:rPr>
              <a:t>P and Q jointly buy a hotel, P invests 6 times the investment of Q, On receiving profit of Rs.84000. What will be P’s share in it?</a:t>
            </a:r>
            <a:endParaRPr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t/>
            </a:r>
            <a:endParaRPr sz="1600">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US" sz="1600" u="none" cap="none" strike="noStrike">
                <a:solidFill>
                  <a:schemeClr val="dk1"/>
                </a:solidFill>
                <a:latin typeface="Roboto"/>
                <a:ea typeface="Roboto"/>
                <a:cs typeface="Roboto"/>
                <a:sym typeface="Roboto"/>
              </a:rPr>
              <a:t>Rs.10000</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US" sz="1600" u="none" cap="none" strike="noStrike">
                <a:solidFill>
                  <a:schemeClr val="dk1"/>
                </a:solidFill>
                <a:latin typeface="Roboto"/>
                <a:ea typeface="Roboto"/>
                <a:cs typeface="Roboto"/>
                <a:sym typeface="Roboto"/>
              </a:rPr>
              <a:t>Rs.12000</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US" sz="1600" u="none" cap="none" strike="noStrike">
                <a:solidFill>
                  <a:schemeClr val="dk1"/>
                </a:solidFill>
                <a:latin typeface="Roboto"/>
                <a:ea typeface="Roboto"/>
                <a:cs typeface="Roboto"/>
                <a:sym typeface="Roboto"/>
              </a:rPr>
              <a:t>Rs.14000</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US" sz="1600" u="none" cap="none" strike="noStrike">
                <a:solidFill>
                  <a:schemeClr val="dk1"/>
                </a:solidFill>
                <a:latin typeface="Roboto"/>
                <a:ea typeface="Roboto"/>
                <a:cs typeface="Roboto"/>
                <a:sym typeface="Roboto"/>
              </a:rPr>
              <a:t>Rs.16000</a:t>
            </a:r>
            <a:endParaRPr i="0" sz="1600" u="none" cap="none" strike="noStrike">
              <a:solidFill>
                <a:schemeClr val="dk1"/>
              </a:solidFill>
              <a:latin typeface="Roboto"/>
              <a:ea typeface="Roboto"/>
              <a:cs typeface="Roboto"/>
              <a:sym typeface="Roboto"/>
            </a:endParaRPr>
          </a:p>
        </p:txBody>
      </p:sp>
      <p:sp>
        <p:nvSpPr>
          <p:cNvPr id="85" name="Google Shape;85;g481c3950792bf2f7_1"/>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Question: 01</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0" st="0"/>
                                            </p:txEl>
                                          </p:spTgt>
                                        </p:tgtEl>
                                        <p:attrNameLst>
                                          <p:attrName>style.visibility</p:attrName>
                                        </p:attrNameLst>
                                      </p:cBhvr>
                                      <p:to>
                                        <p:strVal val="visible"/>
                                      </p:to>
                                    </p:set>
                                    <p:animEffect filter="fade" transition="in">
                                      <p:cBhvr>
                                        <p:cTn dur="1000"/>
                                        <p:tgtEl>
                                          <p:spTgt spid="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1" st="1"/>
                                            </p:txEl>
                                          </p:spTgt>
                                        </p:tgtEl>
                                        <p:attrNameLst>
                                          <p:attrName>style.visibility</p:attrName>
                                        </p:attrNameLst>
                                      </p:cBhvr>
                                      <p:to>
                                        <p:strVal val="visible"/>
                                      </p:to>
                                    </p:set>
                                    <p:animEffect filter="fade" transition="in">
                                      <p:cBhvr>
                                        <p:cTn dur="1000"/>
                                        <p:tgtEl>
                                          <p:spTgt spid="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2" st="2"/>
                                            </p:txEl>
                                          </p:spTgt>
                                        </p:tgtEl>
                                        <p:attrNameLst>
                                          <p:attrName>style.visibility</p:attrName>
                                        </p:attrNameLst>
                                      </p:cBhvr>
                                      <p:to>
                                        <p:strVal val="visible"/>
                                      </p:to>
                                    </p:set>
                                    <p:animEffect filter="fade" transition="in">
                                      <p:cBhvr>
                                        <p:cTn dur="1000"/>
                                        <p:tgtEl>
                                          <p:spTgt spid="8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3" st="3"/>
                                            </p:txEl>
                                          </p:spTgt>
                                        </p:tgtEl>
                                        <p:attrNameLst>
                                          <p:attrName>style.visibility</p:attrName>
                                        </p:attrNameLst>
                                      </p:cBhvr>
                                      <p:to>
                                        <p:strVal val="visible"/>
                                      </p:to>
                                    </p:set>
                                    <p:animEffect filter="fade" transition="in">
                                      <p:cBhvr>
                                        <p:cTn dur="1000"/>
                                        <p:tgtEl>
                                          <p:spTgt spid="8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4" st="4"/>
                                            </p:txEl>
                                          </p:spTgt>
                                        </p:tgtEl>
                                        <p:attrNameLst>
                                          <p:attrName>style.visibility</p:attrName>
                                        </p:attrNameLst>
                                      </p:cBhvr>
                                      <p:to>
                                        <p:strVal val="visible"/>
                                      </p:to>
                                    </p:set>
                                    <p:animEffect filter="fade" transition="in">
                                      <p:cBhvr>
                                        <p:cTn dur="1000"/>
                                        <p:tgtEl>
                                          <p:spTgt spid="8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5" st="5"/>
                                            </p:txEl>
                                          </p:spTgt>
                                        </p:tgtEl>
                                        <p:attrNameLst>
                                          <p:attrName>style.visibility</p:attrName>
                                        </p:attrNameLst>
                                      </p:cBhvr>
                                      <p:to>
                                        <p:strVal val="visible"/>
                                      </p:to>
                                    </p:set>
                                    <p:animEffect filter="fade" transition="in">
                                      <p:cBhvr>
                                        <p:cTn dur="1000"/>
                                        <p:tgtEl>
                                          <p:spTgt spid="84">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9" name="Shape 89"/>
        <p:cNvGrpSpPr/>
        <p:nvPr/>
      </p:nvGrpSpPr>
      <p:grpSpPr>
        <a:xfrm>
          <a:off x="0" y="0"/>
          <a:ext cx="0" cy="0"/>
          <a:chOff x="0" y="0"/>
          <a:chExt cx="0" cy="0"/>
        </a:xfrm>
      </p:grpSpPr>
      <p:sp>
        <p:nvSpPr>
          <p:cNvPr id="90" name="Google Shape;90;g481c3950792bf2f7_8"/>
          <p:cNvSpPr txBox="1"/>
          <p:nvPr/>
        </p:nvSpPr>
        <p:spPr>
          <a:xfrm>
            <a:off x="722375" y="1435601"/>
            <a:ext cx="8020200" cy="28629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8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P=6Q ---&gt; P/Q = 6/1 ---&gt;  P:Q = 6:1</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P’s share=6/7 * 84000</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P’s share=Rs.72000</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Q’s share=1/7 * 84000</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Q’s share=Rs.12000</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rgbClr val="000000"/>
              </a:buClr>
              <a:buSzPts val="1800"/>
              <a:buFont typeface="Arial"/>
              <a:buNone/>
            </a:pPr>
            <a:r>
              <a:t/>
            </a:r>
            <a:endParaRPr b="0" i="0" sz="1400" u="none" cap="none" strike="noStrike">
              <a:solidFill>
                <a:schemeClr val="dk1"/>
              </a:solidFill>
              <a:latin typeface="Roboto"/>
              <a:ea typeface="Roboto"/>
              <a:cs typeface="Roboto"/>
              <a:sym typeface="Roboto"/>
            </a:endParaRPr>
          </a:p>
        </p:txBody>
      </p:sp>
      <p:sp>
        <p:nvSpPr>
          <p:cNvPr id="91" name="Google Shape;91;g481c3950792bf2f7_8"/>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Explanation</a:t>
            </a:r>
            <a:r>
              <a:rPr b="1" lang="en-US" sz="2000">
                <a:solidFill>
                  <a:srgbClr val="8182EF"/>
                </a:solidFill>
                <a:latin typeface="Roboto"/>
                <a:ea typeface="Roboto"/>
                <a:cs typeface="Roboto"/>
                <a:sym typeface="Roboto"/>
              </a:rPr>
              <a:t>: 01</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xEl>
                                              <p:pRg end="0" st="0"/>
                                            </p:txEl>
                                          </p:spTgt>
                                        </p:tgtEl>
                                        <p:attrNameLst>
                                          <p:attrName>style.visibility</p:attrName>
                                        </p:attrNameLst>
                                      </p:cBhvr>
                                      <p:to>
                                        <p:strVal val="visible"/>
                                      </p:to>
                                    </p:set>
                                    <p:animEffect filter="fade" transition="in">
                                      <p:cBhvr>
                                        <p:cTn dur="1000"/>
                                        <p:tgtEl>
                                          <p:spTgt spid="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xEl>
                                              <p:pRg end="1" st="1"/>
                                            </p:txEl>
                                          </p:spTgt>
                                        </p:tgtEl>
                                        <p:attrNameLst>
                                          <p:attrName>style.visibility</p:attrName>
                                        </p:attrNameLst>
                                      </p:cBhvr>
                                      <p:to>
                                        <p:strVal val="visible"/>
                                      </p:to>
                                    </p:set>
                                    <p:animEffect filter="fade" transition="in">
                                      <p:cBhvr>
                                        <p:cTn dur="1000"/>
                                        <p:tgtEl>
                                          <p:spTgt spid="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xEl>
                                              <p:pRg end="2" st="2"/>
                                            </p:txEl>
                                          </p:spTgt>
                                        </p:tgtEl>
                                        <p:attrNameLst>
                                          <p:attrName>style.visibility</p:attrName>
                                        </p:attrNameLst>
                                      </p:cBhvr>
                                      <p:to>
                                        <p:strVal val="visible"/>
                                      </p:to>
                                    </p:set>
                                    <p:animEffect filter="fade" transition="in">
                                      <p:cBhvr>
                                        <p:cTn dur="1000"/>
                                        <p:tgtEl>
                                          <p:spTgt spid="9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xEl>
                                              <p:pRg end="3" st="3"/>
                                            </p:txEl>
                                          </p:spTgt>
                                        </p:tgtEl>
                                        <p:attrNameLst>
                                          <p:attrName>style.visibility</p:attrName>
                                        </p:attrNameLst>
                                      </p:cBhvr>
                                      <p:to>
                                        <p:strVal val="visible"/>
                                      </p:to>
                                    </p:set>
                                    <p:animEffect filter="fade" transition="in">
                                      <p:cBhvr>
                                        <p:cTn dur="1000"/>
                                        <p:tgtEl>
                                          <p:spTgt spid="9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xEl>
                                              <p:pRg end="4" st="4"/>
                                            </p:txEl>
                                          </p:spTgt>
                                        </p:tgtEl>
                                        <p:attrNameLst>
                                          <p:attrName>style.visibility</p:attrName>
                                        </p:attrNameLst>
                                      </p:cBhvr>
                                      <p:to>
                                        <p:strVal val="visible"/>
                                      </p:to>
                                    </p:set>
                                    <p:animEffect filter="fade" transition="in">
                                      <p:cBhvr>
                                        <p:cTn dur="1000"/>
                                        <p:tgtEl>
                                          <p:spTgt spid="9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xEl>
                                              <p:pRg end="5" st="5"/>
                                            </p:txEl>
                                          </p:spTgt>
                                        </p:tgtEl>
                                        <p:attrNameLst>
                                          <p:attrName>style.visibility</p:attrName>
                                        </p:attrNameLst>
                                      </p:cBhvr>
                                      <p:to>
                                        <p:strVal val="visible"/>
                                      </p:to>
                                    </p:set>
                                    <p:animEffect filter="fade" transition="in">
                                      <p:cBhvr>
                                        <p:cTn dur="1000"/>
                                        <p:tgtEl>
                                          <p:spTgt spid="9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xEl>
                                              <p:pRg end="6" st="6"/>
                                            </p:txEl>
                                          </p:spTgt>
                                        </p:tgtEl>
                                        <p:attrNameLst>
                                          <p:attrName>style.visibility</p:attrName>
                                        </p:attrNameLst>
                                      </p:cBhvr>
                                      <p:to>
                                        <p:strVal val="visible"/>
                                      </p:to>
                                    </p:set>
                                    <p:animEffect filter="fade" transition="in">
                                      <p:cBhvr>
                                        <p:cTn dur="1000"/>
                                        <p:tgtEl>
                                          <p:spTgt spid="9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481c3950792bf2f7_21"/>
          <p:cNvSpPr txBox="1"/>
          <p:nvPr>
            <p:ph idx="1" type="body"/>
          </p:nvPr>
        </p:nvSpPr>
        <p:spPr>
          <a:xfrm>
            <a:off x="722375" y="1435600"/>
            <a:ext cx="8031900" cy="2935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lang="en-US" sz="1600">
                <a:solidFill>
                  <a:schemeClr val="dk1"/>
                </a:solidFill>
                <a:latin typeface="Roboto"/>
                <a:ea typeface="Roboto"/>
                <a:cs typeface="Roboto"/>
                <a:sym typeface="Roboto"/>
              </a:rPr>
              <a:t>Rohit starts a travel agency by investing Rs.40,000. After 4 months Raj joins the agency. Raj invests Rs.50,000. What will be profit share of Raj if they earn a total of Rs.1,87,000 as profit in the entire year.</a:t>
            </a:r>
            <a:endParaRPr sz="1600">
              <a:solidFill>
                <a:schemeClr val="dk1"/>
              </a:solidFill>
              <a:latin typeface="Roboto"/>
              <a:ea typeface="Roboto"/>
              <a:cs typeface="Roboto"/>
              <a:sym typeface="Roboto"/>
            </a:endParaRPr>
          </a:p>
          <a:p>
            <a:pPr indent="-330200" lvl="0" marL="457200" rtl="0" algn="l">
              <a:lnSpc>
                <a:spcPct val="150000"/>
              </a:lnSpc>
              <a:spcBef>
                <a:spcPts val="1600"/>
              </a:spcBef>
              <a:spcAft>
                <a:spcPts val="0"/>
              </a:spcAft>
              <a:buClr>
                <a:schemeClr val="dk1"/>
              </a:buClr>
              <a:buSzPts val="1600"/>
              <a:buFont typeface="Roboto"/>
              <a:buAutoNum type="alphaUcPeriod"/>
            </a:pPr>
            <a:r>
              <a:rPr lang="en-US" sz="1600">
                <a:solidFill>
                  <a:schemeClr val="dk1"/>
                </a:solidFill>
                <a:latin typeface="Roboto"/>
                <a:ea typeface="Roboto"/>
                <a:cs typeface="Roboto"/>
                <a:sym typeface="Roboto"/>
              </a:rPr>
              <a:t>90,000</a:t>
            </a:r>
            <a:endParaRPr sz="1600">
              <a:solidFill>
                <a:schemeClr val="dk1"/>
              </a:solidFill>
              <a:latin typeface="Roboto"/>
              <a:ea typeface="Roboto"/>
              <a:cs typeface="Roboto"/>
              <a:sym typeface="Roboto"/>
            </a:endParaRPr>
          </a:p>
          <a:p>
            <a:pPr indent="-330200" lvl="0" marL="457200" rtl="0" algn="l">
              <a:lnSpc>
                <a:spcPct val="150000"/>
              </a:lnSpc>
              <a:spcBef>
                <a:spcPts val="0"/>
              </a:spcBef>
              <a:spcAft>
                <a:spcPts val="0"/>
              </a:spcAft>
              <a:buClr>
                <a:schemeClr val="dk1"/>
              </a:buClr>
              <a:buSzPts val="1600"/>
              <a:buFont typeface="Roboto"/>
              <a:buAutoNum type="alphaUcPeriod"/>
            </a:pPr>
            <a:r>
              <a:rPr lang="en-US" sz="1600">
                <a:solidFill>
                  <a:schemeClr val="dk1"/>
                </a:solidFill>
                <a:latin typeface="Roboto"/>
                <a:ea typeface="Roboto"/>
                <a:cs typeface="Roboto"/>
                <a:sym typeface="Roboto"/>
              </a:rPr>
              <a:t>85,000</a:t>
            </a:r>
            <a:endParaRPr sz="1600">
              <a:solidFill>
                <a:schemeClr val="dk1"/>
              </a:solidFill>
              <a:latin typeface="Roboto"/>
              <a:ea typeface="Roboto"/>
              <a:cs typeface="Roboto"/>
              <a:sym typeface="Roboto"/>
            </a:endParaRPr>
          </a:p>
          <a:p>
            <a:pPr indent="-330200" lvl="0" marL="457200" rtl="0" algn="l">
              <a:lnSpc>
                <a:spcPct val="150000"/>
              </a:lnSpc>
              <a:spcBef>
                <a:spcPts val="0"/>
              </a:spcBef>
              <a:spcAft>
                <a:spcPts val="0"/>
              </a:spcAft>
              <a:buClr>
                <a:schemeClr val="dk1"/>
              </a:buClr>
              <a:buSzPts val="1600"/>
              <a:buFont typeface="Roboto"/>
              <a:buAutoNum type="alphaUcPeriod"/>
            </a:pPr>
            <a:r>
              <a:rPr lang="en-US" sz="1600">
                <a:solidFill>
                  <a:schemeClr val="dk1"/>
                </a:solidFill>
                <a:latin typeface="Roboto"/>
                <a:ea typeface="Roboto"/>
                <a:cs typeface="Roboto"/>
                <a:sym typeface="Roboto"/>
              </a:rPr>
              <a:t>80,000</a:t>
            </a:r>
            <a:endParaRPr sz="1600">
              <a:solidFill>
                <a:schemeClr val="dk1"/>
              </a:solidFill>
              <a:latin typeface="Roboto"/>
              <a:ea typeface="Roboto"/>
              <a:cs typeface="Roboto"/>
              <a:sym typeface="Roboto"/>
            </a:endParaRPr>
          </a:p>
          <a:p>
            <a:pPr indent="-330200" lvl="0" marL="457200" rtl="0" algn="l">
              <a:lnSpc>
                <a:spcPct val="150000"/>
              </a:lnSpc>
              <a:spcBef>
                <a:spcPts val="0"/>
              </a:spcBef>
              <a:spcAft>
                <a:spcPts val="0"/>
              </a:spcAft>
              <a:buClr>
                <a:schemeClr val="dk1"/>
              </a:buClr>
              <a:buSzPts val="1600"/>
              <a:buFont typeface="Roboto"/>
              <a:buAutoNum type="alphaUcPeriod"/>
            </a:pPr>
            <a:r>
              <a:rPr lang="en-US" sz="1600">
                <a:solidFill>
                  <a:schemeClr val="dk1"/>
                </a:solidFill>
                <a:latin typeface="Roboto"/>
                <a:ea typeface="Roboto"/>
                <a:cs typeface="Roboto"/>
                <a:sym typeface="Roboto"/>
              </a:rPr>
              <a:t>95,000</a:t>
            </a:r>
            <a:endParaRPr sz="1600">
              <a:solidFill>
                <a:schemeClr val="dk1"/>
              </a:solidFill>
              <a:latin typeface="Roboto"/>
              <a:ea typeface="Roboto"/>
              <a:cs typeface="Roboto"/>
              <a:sym typeface="Roboto"/>
            </a:endParaRPr>
          </a:p>
        </p:txBody>
      </p:sp>
      <p:sp>
        <p:nvSpPr>
          <p:cNvPr id="97" name="Google Shape;97;g481c3950792bf2f7_21"/>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Question: 02</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0" st="0"/>
                                            </p:txEl>
                                          </p:spTgt>
                                        </p:tgtEl>
                                        <p:attrNameLst>
                                          <p:attrName>style.visibility</p:attrName>
                                        </p:attrNameLst>
                                      </p:cBhvr>
                                      <p:to>
                                        <p:strVal val="visible"/>
                                      </p:to>
                                    </p:set>
                                    <p:animEffect filter="fade" transition="in">
                                      <p:cBhvr>
                                        <p:cTn dur="1000"/>
                                        <p:tgtEl>
                                          <p:spTgt spid="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1" st="1"/>
                                            </p:txEl>
                                          </p:spTgt>
                                        </p:tgtEl>
                                        <p:attrNameLst>
                                          <p:attrName>style.visibility</p:attrName>
                                        </p:attrNameLst>
                                      </p:cBhvr>
                                      <p:to>
                                        <p:strVal val="visible"/>
                                      </p:to>
                                    </p:set>
                                    <p:animEffect filter="fade" transition="in">
                                      <p:cBhvr>
                                        <p:cTn dur="1000"/>
                                        <p:tgtEl>
                                          <p:spTgt spid="9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2" st="2"/>
                                            </p:txEl>
                                          </p:spTgt>
                                        </p:tgtEl>
                                        <p:attrNameLst>
                                          <p:attrName>style.visibility</p:attrName>
                                        </p:attrNameLst>
                                      </p:cBhvr>
                                      <p:to>
                                        <p:strVal val="visible"/>
                                      </p:to>
                                    </p:set>
                                    <p:animEffect filter="fade" transition="in">
                                      <p:cBhvr>
                                        <p:cTn dur="1000"/>
                                        <p:tgtEl>
                                          <p:spTgt spid="9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3" st="3"/>
                                            </p:txEl>
                                          </p:spTgt>
                                        </p:tgtEl>
                                        <p:attrNameLst>
                                          <p:attrName>style.visibility</p:attrName>
                                        </p:attrNameLst>
                                      </p:cBhvr>
                                      <p:to>
                                        <p:strVal val="visible"/>
                                      </p:to>
                                    </p:set>
                                    <p:animEffect filter="fade" transition="in">
                                      <p:cBhvr>
                                        <p:cTn dur="1000"/>
                                        <p:tgtEl>
                                          <p:spTgt spid="9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4" st="4"/>
                                            </p:txEl>
                                          </p:spTgt>
                                        </p:tgtEl>
                                        <p:attrNameLst>
                                          <p:attrName>style.visibility</p:attrName>
                                        </p:attrNameLst>
                                      </p:cBhvr>
                                      <p:to>
                                        <p:strVal val="visible"/>
                                      </p:to>
                                    </p:set>
                                    <p:animEffect filter="fade" transition="in">
                                      <p:cBhvr>
                                        <p:cTn dur="1000"/>
                                        <p:tgtEl>
                                          <p:spTgt spid="96">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1" name="Shape 101"/>
        <p:cNvGrpSpPr/>
        <p:nvPr/>
      </p:nvGrpSpPr>
      <p:grpSpPr>
        <a:xfrm>
          <a:off x="0" y="0"/>
          <a:ext cx="0" cy="0"/>
          <a:chOff x="0" y="0"/>
          <a:chExt cx="0" cy="0"/>
        </a:xfrm>
      </p:grpSpPr>
      <p:sp>
        <p:nvSpPr>
          <p:cNvPr id="102" name="Google Shape;102;g481c3950792bf2f7_28"/>
          <p:cNvSpPr txBox="1"/>
          <p:nvPr>
            <p:ph idx="1" type="body"/>
          </p:nvPr>
        </p:nvSpPr>
        <p:spPr>
          <a:xfrm>
            <a:off x="311700" y="1435600"/>
            <a:ext cx="8520600" cy="324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800"/>
              <a:buFont typeface="Arial"/>
              <a:buNone/>
            </a:pPr>
            <a:r>
              <a:rPr lang="en-US" sz="1400">
                <a:latin typeface="Roboto"/>
                <a:ea typeface="Roboto"/>
                <a:cs typeface="Roboto"/>
                <a:sym typeface="Roboto"/>
              </a:rPr>
              <a:t>			</a:t>
            </a:r>
            <a:r>
              <a:rPr lang="en-US" sz="1400">
                <a:solidFill>
                  <a:schemeClr val="dk1"/>
                </a:solidFill>
                <a:latin typeface="Roboto"/>
                <a:ea typeface="Roboto"/>
                <a:cs typeface="Roboto"/>
                <a:sym typeface="Roboto"/>
              </a:rPr>
              <a:t>Rohit 		:		Raj</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40,000 * 12             :         50,000 * 8</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Profit of  Rohit:Profit of Raj= 48,000 : 4,00,000</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48 : 40 =&gt; 6:5</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Raj=5/11 * 17000 = 85,000</a:t>
            </a:r>
            <a:endParaRPr sz="1400">
              <a:solidFill>
                <a:schemeClr val="dk1"/>
              </a:solidFill>
              <a:latin typeface="Roboto"/>
              <a:ea typeface="Roboto"/>
              <a:cs typeface="Roboto"/>
              <a:sym typeface="Roboto"/>
            </a:endParaRPr>
          </a:p>
          <a:p>
            <a:pPr indent="0" lvl="0" marL="0" rtl="0" algn="l">
              <a:lnSpc>
                <a:spcPct val="150000"/>
              </a:lnSpc>
              <a:spcBef>
                <a:spcPts val="1600"/>
              </a:spcBef>
              <a:spcAft>
                <a:spcPts val="0"/>
              </a:spcAft>
              <a:buSzPts val="1800"/>
              <a:buNone/>
            </a:pPr>
            <a:r>
              <a:t/>
            </a:r>
            <a:endParaRPr sz="1400">
              <a:solidFill>
                <a:schemeClr val="dk1"/>
              </a:solidFill>
              <a:latin typeface="Roboto"/>
              <a:ea typeface="Roboto"/>
              <a:cs typeface="Roboto"/>
              <a:sym typeface="Roboto"/>
            </a:endParaRPr>
          </a:p>
        </p:txBody>
      </p:sp>
      <p:sp>
        <p:nvSpPr>
          <p:cNvPr id="103" name="Google Shape;103;g481c3950792bf2f7_28"/>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Explanation: 02</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0" st="0"/>
                                            </p:txEl>
                                          </p:spTgt>
                                        </p:tgtEl>
                                        <p:attrNameLst>
                                          <p:attrName>style.visibility</p:attrName>
                                        </p:attrNameLst>
                                      </p:cBhvr>
                                      <p:to>
                                        <p:strVal val="visible"/>
                                      </p:to>
                                    </p:set>
                                    <p:animEffect filter="fade" transition="in">
                                      <p:cBhvr>
                                        <p:cTn dur="1000"/>
                                        <p:tgtEl>
                                          <p:spTgt spid="1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1" st="1"/>
                                            </p:txEl>
                                          </p:spTgt>
                                        </p:tgtEl>
                                        <p:attrNameLst>
                                          <p:attrName>style.visibility</p:attrName>
                                        </p:attrNameLst>
                                      </p:cBhvr>
                                      <p:to>
                                        <p:strVal val="visible"/>
                                      </p:to>
                                    </p:set>
                                    <p:animEffect filter="fade" transition="in">
                                      <p:cBhvr>
                                        <p:cTn dur="1000"/>
                                        <p:tgtEl>
                                          <p:spTgt spid="1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2" st="2"/>
                                            </p:txEl>
                                          </p:spTgt>
                                        </p:tgtEl>
                                        <p:attrNameLst>
                                          <p:attrName>style.visibility</p:attrName>
                                        </p:attrNameLst>
                                      </p:cBhvr>
                                      <p:to>
                                        <p:strVal val="visible"/>
                                      </p:to>
                                    </p:set>
                                    <p:animEffect filter="fade" transition="in">
                                      <p:cBhvr>
                                        <p:cTn dur="1000"/>
                                        <p:tgtEl>
                                          <p:spTgt spid="1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3" st="3"/>
                                            </p:txEl>
                                          </p:spTgt>
                                        </p:tgtEl>
                                        <p:attrNameLst>
                                          <p:attrName>style.visibility</p:attrName>
                                        </p:attrNameLst>
                                      </p:cBhvr>
                                      <p:to>
                                        <p:strVal val="visible"/>
                                      </p:to>
                                    </p:set>
                                    <p:animEffect filter="fade" transition="in">
                                      <p:cBhvr>
                                        <p:cTn dur="1000"/>
                                        <p:tgtEl>
                                          <p:spTgt spid="10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4" st="4"/>
                                            </p:txEl>
                                          </p:spTgt>
                                        </p:tgtEl>
                                        <p:attrNameLst>
                                          <p:attrName>style.visibility</p:attrName>
                                        </p:attrNameLst>
                                      </p:cBhvr>
                                      <p:to>
                                        <p:strVal val="visible"/>
                                      </p:to>
                                    </p:set>
                                    <p:animEffect filter="fade" transition="in">
                                      <p:cBhvr>
                                        <p:cTn dur="1000"/>
                                        <p:tgtEl>
                                          <p:spTgt spid="10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5" st="5"/>
                                            </p:txEl>
                                          </p:spTgt>
                                        </p:tgtEl>
                                        <p:attrNameLst>
                                          <p:attrName>style.visibility</p:attrName>
                                        </p:attrNameLst>
                                      </p:cBhvr>
                                      <p:to>
                                        <p:strVal val="visible"/>
                                      </p:to>
                                    </p:set>
                                    <p:animEffect filter="fade" transition="in">
                                      <p:cBhvr>
                                        <p:cTn dur="1000"/>
                                        <p:tgtEl>
                                          <p:spTgt spid="102">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481c3950792bf2f7_58"/>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Question: 01</a:t>
            </a:r>
            <a:endParaRPr b="1" i="0" sz="2000" u="none" cap="none" strike="noStrike">
              <a:solidFill>
                <a:schemeClr val="lt1"/>
              </a:solidFill>
              <a:latin typeface="Arial"/>
              <a:ea typeface="Arial"/>
              <a:cs typeface="Arial"/>
              <a:sym typeface="Arial"/>
            </a:endParaRPr>
          </a:p>
        </p:txBody>
      </p:sp>
      <p:sp>
        <p:nvSpPr>
          <p:cNvPr id="109" name="Google Shape;109;g481c3950792bf2f7_58"/>
          <p:cNvSpPr txBox="1"/>
          <p:nvPr/>
        </p:nvSpPr>
        <p:spPr>
          <a:xfrm>
            <a:off x="722374" y="1435600"/>
            <a:ext cx="7998000" cy="3129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800"/>
              <a:buFont typeface="Arial"/>
              <a:buNone/>
            </a:pPr>
            <a:r>
              <a:rPr i="0" lang="en-US" sz="1600" u="none" cap="none" strike="noStrike">
                <a:solidFill>
                  <a:schemeClr val="dk1"/>
                </a:solidFill>
                <a:latin typeface="Roboto"/>
                <a:ea typeface="Roboto"/>
                <a:cs typeface="Roboto"/>
                <a:sym typeface="Roboto"/>
              </a:rPr>
              <a:t>M Invests Rs.4000 in coaching classes. After 3 months N comes along with Rs.8000. P comes in with Rs.20,000. The classes earn a profit of Rs.1,12,000 at the end of the year. If profits of M, N and P are in the ratio of 6:9:5 respectively. For how many months was P invested?</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1600"/>
              </a:spcBef>
              <a:spcAft>
                <a:spcPts val="0"/>
              </a:spcAft>
              <a:buClr>
                <a:schemeClr val="dk1"/>
              </a:buClr>
              <a:buSzPts val="1600"/>
              <a:buFont typeface="Roboto"/>
              <a:buAutoNum type="alphaUcPeriod"/>
            </a:pPr>
            <a:r>
              <a:rPr i="0" lang="en-US" sz="1600" u="none" cap="none" strike="noStrike">
                <a:solidFill>
                  <a:schemeClr val="dk1"/>
                </a:solidFill>
                <a:latin typeface="Roboto"/>
                <a:ea typeface="Roboto"/>
                <a:cs typeface="Roboto"/>
                <a:sym typeface="Roboto"/>
              </a:rPr>
              <a:t>3 months</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US" sz="1600" u="none" cap="none" strike="noStrike">
                <a:solidFill>
                  <a:schemeClr val="dk1"/>
                </a:solidFill>
                <a:latin typeface="Roboto"/>
                <a:ea typeface="Roboto"/>
                <a:cs typeface="Roboto"/>
                <a:sym typeface="Roboto"/>
              </a:rPr>
              <a:t>6 months</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US" sz="1600" u="none" cap="none" strike="noStrike">
                <a:solidFill>
                  <a:schemeClr val="dk1"/>
                </a:solidFill>
                <a:latin typeface="Roboto"/>
                <a:ea typeface="Roboto"/>
                <a:cs typeface="Roboto"/>
                <a:sym typeface="Roboto"/>
              </a:rPr>
              <a:t>5 months</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US" sz="1600" u="none" cap="none" strike="noStrike">
                <a:solidFill>
                  <a:schemeClr val="dk1"/>
                </a:solidFill>
                <a:latin typeface="Roboto"/>
                <a:ea typeface="Roboto"/>
                <a:cs typeface="Roboto"/>
                <a:sym typeface="Roboto"/>
              </a:rPr>
              <a:t>2 months</a:t>
            </a:r>
            <a:endParaRPr i="0" sz="1600" u="none" cap="none" strike="noStrike">
              <a:solidFill>
                <a:schemeClr val="dk1"/>
              </a:solidFill>
              <a:latin typeface="Roboto"/>
              <a:ea typeface="Roboto"/>
              <a:cs typeface="Roboto"/>
              <a:sym typeface="Roboto"/>
            </a:endParaRPr>
          </a:p>
        </p:txBody>
      </p:sp>
      <p:sp>
        <p:nvSpPr>
          <p:cNvPr id="110" name="Google Shape;110;g481c3950792bf2f7_58"/>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Question: 03</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0" st="0"/>
                                            </p:txEl>
                                          </p:spTgt>
                                        </p:tgtEl>
                                        <p:attrNameLst>
                                          <p:attrName>style.visibility</p:attrName>
                                        </p:attrNameLst>
                                      </p:cBhvr>
                                      <p:to>
                                        <p:strVal val="visible"/>
                                      </p:to>
                                    </p:set>
                                    <p:animEffect filter="fade" transition="in">
                                      <p:cBhvr>
                                        <p:cTn dur="1000"/>
                                        <p:tgtEl>
                                          <p:spTgt spid="10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1" st="1"/>
                                            </p:txEl>
                                          </p:spTgt>
                                        </p:tgtEl>
                                        <p:attrNameLst>
                                          <p:attrName>style.visibility</p:attrName>
                                        </p:attrNameLst>
                                      </p:cBhvr>
                                      <p:to>
                                        <p:strVal val="visible"/>
                                      </p:to>
                                    </p:set>
                                    <p:animEffect filter="fade" transition="in">
                                      <p:cBhvr>
                                        <p:cTn dur="1000"/>
                                        <p:tgtEl>
                                          <p:spTgt spid="10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2" st="2"/>
                                            </p:txEl>
                                          </p:spTgt>
                                        </p:tgtEl>
                                        <p:attrNameLst>
                                          <p:attrName>style.visibility</p:attrName>
                                        </p:attrNameLst>
                                      </p:cBhvr>
                                      <p:to>
                                        <p:strVal val="visible"/>
                                      </p:to>
                                    </p:set>
                                    <p:animEffect filter="fade" transition="in">
                                      <p:cBhvr>
                                        <p:cTn dur="1000"/>
                                        <p:tgtEl>
                                          <p:spTgt spid="10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3" st="3"/>
                                            </p:txEl>
                                          </p:spTgt>
                                        </p:tgtEl>
                                        <p:attrNameLst>
                                          <p:attrName>style.visibility</p:attrName>
                                        </p:attrNameLst>
                                      </p:cBhvr>
                                      <p:to>
                                        <p:strVal val="visible"/>
                                      </p:to>
                                    </p:set>
                                    <p:animEffect filter="fade" transition="in">
                                      <p:cBhvr>
                                        <p:cTn dur="1000"/>
                                        <p:tgtEl>
                                          <p:spTgt spid="10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4" st="4"/>
                                            </p:txEl>
                                          </p:spTgt>
                                        </p:tgtEl>
                                        <p:attrNameLst>
                                          <p:attrName>style.visibility</p:attrName>
                                        </p:attrNameLst>
                                      </p:cBhvr>
                                      <p:to>
                                        <p:strVal val="visible"/>
                                      </p:to>
                                    </p:set>
                                    <p:animEffect filter="fade" transition="in">
                                      <p:cBhvr>
                                        <p:cTn dur="1000"/>
                                        <p:tgtEl>
                                          <p:spTgt spid="10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4" name="Shape 114"/>
        <p:cNvGrpSpPr/>
        <p:nvPr/>
      </p:nvGrpSpPr>
      <p:grpSpPr>
        <a:xfrm>
          <a:off x="0" y="0"/>
          <a:ext cx="0" cy="0"/>
          <a:chOff x="0" y="0"/>
          <a:chExt cx="0" cy="0"/>
        </a:xfrm>
      </p:grpSpPr>
      <p:sp>
        <p:nvSpPr>
          <p:cNvPr id="115" name="Google Shape;115;g481c3950792bf2f7_66"/>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0" lvl="0" marL="174625"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Explanation:</a:t>
            </a:r>
            <a:endParaRPr b="1" i="0" sz="2000" u="none" cap="none" strike="noStrike">
              <a:solidFill>
                <a:srgbClr val="FFFFFF"/>
              </a:solidFill>
              <a:latin typeface="Arial"/>
              <a:ea typeface="Arial"/>
              <a:cs typeface="Arial"/>
              <a:sym typeface="Arial"/>
            </a:endParaRPr>
          </a:p>
        </p:txBody>
      </p:sp>
      <p:sp>
        <p:nvSpPr>
          <p:cNvPr id="116" name="Google Shape;116;g481c3950792bf2f7_66"/>
          <p:cNvSpPr txBox="1"/>
          <p:nvPr/>
        </p:nvSpPr>
        <p:spPr>
          <a:xfrm>
            <a:off x="195150" y="1435600"/>
            <a:ext cx="8525100" cy="30261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800"/>
              <a:buFont typeface="Arial"/>
              <a:buNone/>
            </a:pPr>
            <a:r>
              <a:rPr b="0" i="0" lang="en-US" sz="1400" u="none" cap="none" strike="noStrike">
                <a:solidFill>
                  <a:schemeClr val="dk2"/>
                </a:solidFill>
                <a:latin typeface="Roboto"/>
                <a:ea typeface="Roboto"/>
                <a:cs typeface="Roboto"/>
                <a:sym typeface="Roboto"/>
              </a:rPr>
              <a:t>				</a:t>
            </a:r>
            <a:r>
              <a:rPr b="0" i="0" lang="en-US" sz="1400" u="none" cap="none" strike="noStrike">
                <a:solidFill>
                  <a:schemeClr val="dk1"/>
                </a:solidFill>
                <a:latin typeface="Roboto"/>
                <a:ea typeface="Roboto"/>
                <a:cs typeface="Roboto"/>
                <a:sym typeface="Roboto"/>
              </a:rPr>
              <a:t>M	  :	 N	       :	  P  </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600"/>
              </a:spcBef>
              <a:spcAft>
                <a:spcPts val="0"/>
              </a:spcAft>
              <a:buClr>
                <a:schemeClr val="dk1"/>
              </a:buClr>
              <a:buSzPts val="1800"/>
              <a:buFont typeface="Arial"/>
              <a:buNone/>
            </a:pPr>
            <a:r>
              <a:rPr b="0" i="0" lang="en-US" sz="1400" u="none" cap="none" strike="noStrike">
                <a:solidFill>
                  <a:schemeClr val="dk1"/>
                </a:solidFill>
                <a:latin typeface="Roboto"/>
                <a:ea typeface="Roboto"/>
                <a:cs typeface="Roboto"/>
                <a:sym typeface="Roboto"/>
              </a:rPr>
              <a:t>       			4000*12        :   8000*9     :   20,000* T</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600"/>
              </a:spcBef>
              <a:spcAft>
                <a:spcPts val="0"/>
              </a:spcAft>
              <a:buClr>
                <a:schemeClr val="dk1"/>
              </a:buClr>
              <a:buSzPts val="1800"/>
              <a:buFont typeface="Arial"/>
              <a:buNone/>
            </a:pPr>
            <a:r>
              <a:rPr b="0" i="0" lang="en-US" sz="1400" u="none" cap="none" strike="noStrike">
                <a:solidFill>
                  <a:schemeClr val="dk1"/>
                </a:solidFill>
                <a:latin typeface="Roboto"/>
                <a:ea typeface="Roboto"/>
                <a:cs typeface="Roboto"/>
                <a:sym typeface="Roboto"/>
              </a:rPr>
              <a:t>			48000=6k   </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600"/>
              </a:spcBef>
              <a:spcAft>
                <a:spcPts val="0"/>
              </a:spcAft>
              <a:buClr>
                <a:schemeClr val="dk1"/>
              </a:buClr>
              <a:buSzPts val="1800"/>
              <a:buFont typeface="Arial"/>
              <a:buNone/>
            </a:pPr>
            <a:r>
              <a:rPr b="0" i="0" lang="en-US" sz="1400" u="none" cap="none" strike="noStrike">
                <a:solidFill>
                  <a:schemeClr val="dk1"/>
                </a:solidFill>
                <a:latin typeface="Roboto"/>
                <a:ea typeface="Roboto"/>
                <a:cs typeface="Roboto"/>
                <a:sym typeface="Roboto"/>
              </a:rPr>
              <a:t>               	 	k=8000</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600"/>
              </a:spcBef>
              <a:spcAft>
                <a:spcPts val="0"/>
              </a:spcAft>
              <a:buClr>
                <a:schemeClr val="dk1"/>
              </a:buClr>
              <a:buSzPts val="1800"/>
              <a:buFont typeface="Arial"/>
              <a:buNone/>
            </a:pPr>
            <a:r>
              <a:rPr b="0" i="0" lang="en-US" sz="1400" u="none" cap="none" strike="noStrike">
                <a:solidFill>
                  <a:schemeClr val="dk1"/>
                </a:solidFill>
                <a:latin typeface="Roboto"/>
                <a:ea typeface="Roboto"/>
                <a:cs typeface="Roboto"/>
                <a:sym typeface="Roboto"/>
              </a:rPr>
              <a:t>              		20,000T =5k</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600"/>
              </a:spcBef>
              <a:spcAft>
                <a:spcPts val="0"/>
              </a:spcAft>
              <a:buClr>
                <a:schemeClr val="dk1"/>
              </a:buClr>
              <a:buSzPts val="1800"/>
              <a:buFont typeface="Arial"/>
              <a:buNone/>
            </a:pPr>
            <a:r>
              <a:rPr b="0" i="0" lang="en-US" sz="1400" u="none" cap="none" strike="noStrike">
                <a:solidFill>
                  <a:schemeClr val="dk1"/>
                </a:solidFill>
                <a:latin typeface="Roboto"/>
                <a:ea typeface="Roboto"/>
                <a:cs typeface="Roboto"/>
                <a:sym typeface="Roboto"/>
              </a:rPr>
              <a:t>              		T=2</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1600"/>
              </a:spcBef>
              <a:spcAft>
                <a:spcPts val="0"/>
              </a:spcAft>
              <a:buClr>
                <a:srgbClr val="000000"/>
              </a:buClr>
              <a:buSzPts val="1800"/>
              <a:buFont typeface="Arial"/>
              <a:buNone/>
            </a:pPr>
            <a:r>
              <a:t/>
            </a:r>
            <a:endParaRPr b="0" i="0" sz="1400" u="none" cap="none" strike="noStrike">
              <a:solidFill>
                <a:schemeClr val="dk1"/>
              </a:solidFill>
              <a:latin typeface="Roboto"/>
              <a:ea typeface="Roboto"/>
              <a:cs typeface="Roboto"/>
              <a:sym typeface="Roboto"/>
            </a:endParaRPr>
          </a:p>
        </p:txBody>
      </p:sp>
      <p:sp>
        <p:nvSpPr>
          <p:cNvPr id="117" name="Google Shape;117;g481c3950792bf2f7_66"/>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Explanation: 03</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0" st="0"/>
                                            </p:txEl>
                                          </p:spTgt>
                                        </p:tgtEl>
                                        <p:attrNameLst>
                                          <p:attrName>style.visibility</p:attrName>
                                        </p:attrNameLst>
                                      </p:cBhvr>
                                      <p:to>
                                        <p:strVal val="visible"/>
                                      </p:to>
                                    </p:set>
                                    <p:animEffect filter="fade" transition="in">
                                      <p:cBhvr>
                                        <p:cTn dur="1000"/>
                                        <p:tgtEl>
                                          <p:spTgt spid="1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1" st="1"/>
                                            </p:txEl>
                                          </p:spTgt>
                                        </p:tgtEl>
                                        <p:attrNameLst>
                                          <p:attrName>style.visibility</p:attrName>
                                        </p:attrNameLst>
                                      </p:cBhvr>
                                      <p:to>
                                        <p:strVal val="visible"/>
                                      </p:to>
                                    </p:set>
                                    <p:animEffect filter="fade" transition="in">
                                      <p:cBhvr>
                                        <p:cTn dur="1000"/>
                                        <p:tgtEl>
                                          <p:spTgt spid="11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2" st="2"/>
                                            </p:txEl>
                                          </p:spTgt>
                                        </p:tgtEl>
                                        <p:attrNameLst>
                                          <p:attrName>style.visibility</p:attrName>
                                        </p:attrNameLst>
                                      </p:cBhvr>
                                      <p:to>
                                        <p:strVal val="visible"/>
                                      </p:to>
                                    </p:set>
                                    <p:animEffect filter="fade" transition="in">
                                      <p:cBhvr>
                                        <p:cTn dur="1000"/>
                                        <p:tgtEl>
                                          <p:spTgt spid="11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3" st="3"/>
                                            </p:txEl>
                                          </p:spTgt>
                                        </p:tgtEl>
                                        <p:attrNameLst>
                                          <p:attrName>style.visibility</p:attrName>
                                        </p:attrNameLst>
                                      </p:cBhvr>
                                      <p:to>
                                        <p:strVal val="visible"/>
                                      </p:to>
                                    </p:set>
                                    <p:animEffect filter="fade" transition="in">
                                      <p:cBhvr>
                                        <p:cTn dur="1000"/>
                                        <p:tgtEl>
                                          <p:spTgt spid="11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4" st="4"/>
                                            </p:txEl>
                                          </p:spTgt>
                                        </p:tgtEl>
                                        <p:attrNameLst>
                                          <p:attrName>style.visibility</p:attrName>
                                        </p:attrNameLst>
                                      </p:cBhvr>
                                      <p:to>
                                        <p:strVal val="visible"/>
                                      </p:to>
                                    </p:set>
                                    <p:animEffect filter="fade" transition="in">
                                      <p:cBhvr>
                                        <p:cTn dur="1000"/>
                                        <p:tgtEl>
                                          <p:spTgt spid="11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5" st="5"/>
                                            </p:txEl>
                                          </p:spTgt>
                                        </p:tgtEl>
                                        <p:attrNameLst>
                                          <p:attrName>style.visibility</p:attrName>
                                        </p:attrNameLst>
                                      </p:cBhvr>
                                      <p:to>
                                        <p:strVal val="visible"/>
                                      </p:to>
                                    </p:set>
                                    <p:animEffect filter="fade" transition="in">
                                      <p:cBhvr>
                                        <p:cTn dur="1000"/>
                                        <p:tgtEl>
                                          <p:spTgt spid="11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6" st="6"/>
                                            </p:txEl>
                                          </p:spTgt>
                                        </p:tgtEl>
                                        <p:attrNameLst>
                                          <p:attrName>style.visibility</p:attrName>
                                        </p:attrNameLst>
                                      </p:cBhvr>
                                      <p:to>
                                        <p:strVal val="visible"/>
                                      </p:to>
                                    </p:set>
                                    <p:animEffect filter="fade" transition="in">
                                      <p:cBhvr>
                                        <p:cTn dur="1000"/>
                                        <p:tgtEl>
                                          <p:spTgt spid="116">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481c3950792bf2f7_75"/>
          <p:cNvSpPr txBox="1"/>
          <p:nvPr>
            <p:ph idx="1" type="body"/>
          </p:nvPr>
        </p:nvSpPr>
        <p:spPr>
          <a:xfrm>
            <a:off x="722375" y="1435600"/>
            <a:ext cx="8066400" cy="30027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800"/>
              <a:buFont typeface="Arial"/>
              <a:buNone/>
            </a:pPr>
            <a:r>
              <a:rPr lang="en-US" sz="1600">
                <a:solidFill>
                  <a:schemeClr val="dk1"/>
                </a:solidFill>
                <a:latin typeface="Roboto"/>
                <a:ea typeface="Roboto"/>
                <a:cs typeface="Roboto"/>
                <a:sym typeface="Roboto"/>
              </a:rPr>
              <a:t>Ratio of profits of P,Q,R are 5:8:9. What is their investment ratio, if their investment time period is 2:5:8 respectively.</a:t>
            </a:r>
            <a:endParaRPr sz="1600">
              <a:solidFill>
                <a:schemeClr val="dk1"/>
              </a:solidFill>
              <a:latin typeface="Roboto"/>
              <a:ea typeface="Roboto"/>
              <a:cs typeface="Roboto"/>
              <a:sym typeface="Roboto"/>
            </a:endParaRPr>
          </a:p>
          <a:p>
            <a:pPr indent="-330200" lvl="0" marL="457200" rtl="0" algn="l">
              <a:lnSpc>
                <a:spcPct val="150000"/>
              </a:lnSpc>
              <a:spcBef>
                <a:spcPts val="1600"/>
              </a:spcBef>
              <a:spcAft>
                <a:spcPts val="0"/>
              </a:spcAft>
              <a:buClr>
                <a:schemeClr val="dk1"/>
              </a:buClr>
              <a:buSzPts val="1600"/>
              <a:buFont typeface="Roboto"/>
              <a:buAutoNum type="alphaUcPeriod"/>
            </a:pPr>
            <a:r>
              <a:rPr lang="en-US" sz="1600">
                <a:solidFill>
                  <a:schemeClr val="dk1"/>
                </a:solidFill>
                <a:latin typeface="Roboto"/>
                <a:ea typeface="Roboto"/>
                <a:cs typeface="Roboto"/>
                <a:sym typeface="Roboto"/>
              </a:rPr>
              <a:t>100:64:45</a:t>
            </a:r>
            <a:endParaRPr sz="1600">
              <a:solidFill>
                <a:schemeClr val="dk1"/>
              </a:solidFill>
              <a:latin typeface="Roboto"/>
              <a:ea typeface="Roboto"/>
              <a:cs typeface="Roboto"/>
              <a:sym typeface="Roboto"/>
            </a:endParaRPr>
          </a:p>
          <a:p>
            <a:pPr indent="-330200" lvl="0" marL="457200" rtl="0" algn="l">
              <a:lnSpc>
                <a:spcPct val="150000"/>
              </a:lnSpc>
              <a:spcBef>
                <a:spcPts val="0"/>
              </a:spcBef>
              <a:spcAft>
                <a:spcPts val="0"/>
              </a:spcAft>
              <a:buClr>
                <a:schemeClr val="dk1"/>
              </a:buClr>
              <a:buSzPts val="1600"/>
              <a:buFont typeface="Roboto"/>
              <a:buAutoNum type="alphaUcPeriod"/>
            </a:pPr>
            <a:r>
              <a:rPr lang="en-US" sz="1600">
                <a:solidFill>
                  <a:schemeClr val="dk1"/>
                </a:solidFill>
                <a:latin typeface="Roboto"/>
                <a:ea typeface="Roboto"/>
                <a:cs typeface="Roboto"/>
                <a:sym typeface="Roboto"/>
              </a:rPr>
              <a:t>150:50:60</a:t>
            </a:r>
            <a:endParaRPr sz="1600">
              <a:solidFill>
                <a:schemeClr val="dk1"/>
              </a:solidFill>
              <a:latin typeface="Roboto"/>
              <a:ea typeface="Roboto"/>
              <a:cs typeface="Roboto"/>
              <a:sym typeface="Roboto"/>
            </a:endParaRPr>
          </a:p>
          <a:p>
            <a:pPr indent="-330200" lvl="0" marL="457200" rtl="0" algn="l">
              <a:lnSpc>
                <a:spcPct val="150000"/>
              </a:lnSpc>
              <a:spcBef>
                <a:spcPts val="0"/>
              </a:spcBef>
              <a:spcAft>
                <a:spcPts val="0"/>
              </a:spcAft>
              <a:buClr>
                <a:schemeClr val="dk1"/>
              </a:buClr>
              <a:buSzPts val="1600"/>
              <a:buFont typeface="Roboto"/>
              <a:buAutoNum type="alphaUcPeriod"/>
            </a:pPr>
            <a:r>
              <a:rPr lang="en-US" sz="1600">
                <a:solidFill>
                  <a:schemeClr val="dk1"/>
                </a:solidFill>
                <a:latin typeface="Roboto"/>
                <a:ea typeface="Roboto"/>
                <a:cs typeface="Roboto"/>
                <a:sym typeface="Roboto"/>
              </a:rPr>
              <a:t>120:25:55</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Font typeface="Roboto"/>
              <a:buAutoNum type="alphaUcPeriod"/>
            </a:pPr>
            <a:r>
              <a:rPr lang="en-US" sz="1600">
                <a:solidFill>
                  <a:schemeClr val="dk1"/>
                </a:solidFill>
                <a:latin typeface="Roboto"/>
                <a:ea typeface="Roboto"/>
                <a:cs typeface="Roboto"/>
                <a:sym typeface="Roboto"/>
              </a:rPr>
              <a:t>100:25:60</a:t>
            </a:r>
            <a:endParaRPr sz="1600">
              <a:solidFill>
                <a:schemeClr val="dk1"/>
              </a:solidFill>
              <a:latin typeface="Roboto"/>
              <a:ea typeface="Roboto"/>
              <a:cs typeface="Roboto"/>
              <a:sym typeface="Roboto"/>
            </a:endParaRPr>
          </a:p>
          <a:p>
            <a:pPr indent="0" lvl="0" marL="0" rtl="0" algn="l">
              <a:lnSpc>
                <a:spcPct val="150000"/>
              </a:lnSpc>
              <a:spcBef>
                <a:spcPts val="0"/>
              </a:spcBef>
              <a:spcAft>
                <a:spcPts val="0"/>
              </a:spcAft>
              <a:buSzPts val="1800"/>
              <a:buNone/>
            </a:pPr>
            <a:r>
              <a:t/>
            </a:r>
            <a:endParaRPr sz="1600">
              <a:solidFill>
                <a:schemeClr val="dk1"/>
              </a:solidFill>
              <a:latin typeface="Roboto"/>
              <a:ea typeface="Roboto"/>
              <a:cs typeface="Roboto"/>
              <a:sym typeface="Roboto"/>
            </a:endParaRPr>
          </a:p>
        </p:txBody>
      </p:sp>
      <p:sp>
        <p:nvSpPr>
          <p:cNvPr id="123" name="Google Shape;123;g481c3950792bf2f7_75"/>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Question: 04</a:t>
            </a:r>
            <a:endParaRPr b="1" sz="2000">
              <a:solidFill>
                <a:srgbClr val="8182EF"/>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7" name="Shape 127"/>
        <p:cNvGrpSpPr/>
        <p:nvPr/>
      </p:nvGrpSpPr>
      <p:grpSpPr>
        <a:xfrm>
          <a:off x="0" y="0"/>
          <a:ext cx="0" cy="0"/>
          <a:chOff x="0" y="0"/>
          <a:chExt cx="0" cy="0"/>
        </a:xfrm>
      </p:grpSpPr>
      <p:sp>
        <p:nvSpPr>
          <p:cNvPr id="128" name="Google Shape;128;g481c3950792bf2f7_83"/>
          <p:cNvSpPr txBox="1"/>
          <p:nvPr>
            <p:ph idx="1" type="body"/>
          </p:nvPr>
        </p:nvSpPr>
        <p:spPr>
          <a:xfrm>
            <a:off x="680275" y="1435600"/>
            <a:ext cx="81621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800"/>
              <a:buFont typeface="Arial"/>
              <a:buNone/>
            </a:pPr>
            <a:r>
              <a:rPr lang="en-US" sz="1400">
                <a:latin typeface="Roboto"/>
                <a:ea typeface="Roboto"/>
                <a:cs typeface="Roboto"/>
                <a:sym typeface="Roboto"/>
              </a:rPr>
              <a:t>		</a:t>
            </a:r>
            <a:r>
              <a:rPr lang="en-US" sz="1400">
                <a:solidFill>
                  <a:schemeClr val="dk1"/>
                </a:solidFill>
                <a:latin typeface="Roboto"/>
                <a:ea typeface="Roboto"/>
                <a:cs typeface="Roboto"/>
                <a:sym typeface="Roboto"/>
              </a:rPr>
              <a:t>Investment = Profit / Time</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P     :      Q     :      R</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Profit                 5     :        8     :      9</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Time                 2      :        5     :      8</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5/2  :   8/5   :  9/8 → LCM=40</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Investment =100:64:45</a:t>
            </a:r>
            <a:endParaRPr sz="1400">
              <a:solidFill>
                <a:schemeClr val="dk1"/>
              </a:solidFill>
              <a:latin typeface="Roboto"/>
              <a:ea typeface="Roboto"/>
              <a:cs typeface="Roboto"/>
              <a:sym typeface="Roboto"/>
            </a:endParaRPr>
          </a:p>
          <a:p>
            <a:pPr indent="-342900" lvl="0" marL="457200" rtl="0" algn="l">
              <a:lnSpc>
                <a:spcPct val="115000"/>
              </a:lnSpc>
              <a:spcBef>
                <a:spcPts val="1600"/>
              </a:spcBef>
              <a:spcAft>
                <a:spcPts val="0"/>
              </a:spcAft>
              <a:buSzPts val="1800"/>
              <a:buNone/>
            </a:pPr>
            <a:r>
              <a:t/>
            </a:r>
            <a:endParaRPr sz="1400">
              <a:solidFill>
                <a:schemeClr val="dk1"/>
              </a:solidFill>
              <a:latin typeface="Roboto"/>
              <a:ea typeface="Roboto"/>
              <a:cs typeface="Roboto"/>
              <a:sym typeface="Roboto"/>
            </a:endParaRPr>
          </a:p>
        </p:txBody>
      </p:sp>
      <p:sp>
        <p:nvSpPr>
          <p:cNvPr id="129" name="Google Shape;129;g481c3950792bf2f7_83"/>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Explanation: 04</a:t>
            </a:r>
            <a:endParaRPr b="1" sz="2000">
              <a:solidFill>
                <a:srgbClr val="8182EF"/>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481c3950792bf2f7_98"/>
          <p:cNvSpPr txBox="1"/>
          <p:nvPr>
            <p:ph idx="1" type="body"/>
          </p:nvPr>
        </p:nvSpPr>
        <p:spPr>
          <a:xfrm>
            <a:off x="722375" y="1435600"/>
            <a:ext cx="7957800" cy="3405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800"/>
              <a:buFont typeface="Arial"/>
              <a:buNone/>
            </a:pPr>
            <a:r>
              <a:rPr lang="en-US" sz="1600">
                <a:solidFill>
                  <a:schemeClr val="dk1"/>
                </a:solidFill>
                <a:latin typeface="Roboto"/>
                <a:ea typeface="Roboto"/>
                <a:cs typeface="Roboto"/>
                <a:sym typeface="Roboto"/>
              </a:rPr>
              <a:t>Ajay and vijay’s investment is in ratio 5:2. Ajay gets Rs.3420 as profit after donating 10% of total profit to orphanage. What is vijay’s share?</a:t>
            </a:r>
            <a:endParaRPr sz="1600">
              <a:solidFill>
                <a:schemeClr val="dk1"/>
              </a:solidFill>
              <a:latin typeface="Roboto"/>
              <a:ea typeface="Roboto"/>
              <a:cs typeface="Roboto"/>
              <a:sym typeface="Roboto"/>
            </a:endParaRPr>
          </a:p>
          <a:p>
            <a:pPr indent="-330200" lvl="0" marL="457200" rtl="0" algn="l">
              <a:lnSpc>
                <a:spcPct val="150000"/>
              </a:lnSpc>
              <a:spcBef>
                <a:spcPts val="1600"/>
              </a:spcBef>
              <a:spcAft>
                <a:spcPts val="0"/>
              </a:spcAft>
              <a:buClr>
                <a:schemeClr val="dk1"/>
              </a:buClr>
              <a:buSzPts val="1600"/>
              <a:buFont typeface="Roboto"/>
              <a:buAutoNum type="alphaUcPeriod"/>
            </a:pPr>
            <a:r>
              <a:rPr lang="en-US" sz="1600">
                <a:solidFill>
                  <a:schemeClr val="dk1"/>
                </a:solidFill>
                <a:latin typeface="Roboto"/>
                <a:ea typeface="Roboto"/>
                <a:cs typeface="Roboto"/>
                <a:sym typeface="Roboto"/>
              </a:rPr>
              <a:t>Rs.1500</a:t>
            </a:r>
            <a:endParaRPr sz="1600">
              <a:solidFill>
                <a:schemeClr val="dk1"/>
              </a:solidFill>
              <a:latin typeface="Roboto"/>
              <a:ea typeface="Roboto"/>
              <a:cs typeface="Roboto"/>
              <a:sym typeface="Roboto"/>
            </a:endParaRPr>
          </a:p>
          <a:p>
            <a:pPr indent="-330200" lvl="0" marL="457200" rtl="0" algn="l">
              <a:lnSpc>
                <a:spcPct val="150000"/>
              </a:lnSpc>
              <a:spcBef>
                <a:spcPts val="0"/>
              </a:spcBef>
              <a:spcAft>
                <a:spcPts val="0"/>
              </a:spcAft>
              <a:buClr>
                <a:schemeClr val="dk1"/>
              </a:buClr>
              <a:buSzPts val="1600"/>
              <a:buFont typeface="Roboto"/>
              <a:buAutoNum type="alphaUcPeriod"/>
            </a:pPr>
            <a:r>
              <a:rPr lang="en-US" sz="1600">
                <a:solidFill>
                  <a:schemeClr val="dk1"/>
                </a:solidFill>
                <a:latin typeface="Roboto"/>
                <a:ea typeface="Roboto"/>
                <a:cs typeface="Roboto"/>
                <a:sym typeface="Roboto"/>
              </a:rPr>
              <a:t>Rs.1598</a:t>
            </a:r>
            <a:endParaRPr sz="1600">
              <a:solidFill>
                <a:schemeClr val="dk1"/>
              </a:solidFill>
              <a:latin typeface="Roboto"/>
              <a:ea typeface="Roboto"/>
              <a:cs typeface="Roboto"/>
              <a:sym typeface="Roboto"/>
            </a:endParaRPr>
          </a:p>
          <a:p>
            <a:pPr indent="-330200" lvl="0" marL="457200" rtl="0" algn="l">
              <a:lnSpc>
                <a:spcPct val="150000"/>
              </a:lnSpc>
              <a:spcBef>
                <a:spcPts val="0"/>
              </a:spcBef>
              <a:spcAft>
                <a:spcPts val="0"/>
              </a:spcAft>
              <a:buClr>
                <a:schemeClr val="dk1"/>
              </a:buClr>
              <a:buSzPts val="1600"/>
              <a:buFont typeface="Roboto"/>
              <a:buAutoNum type="alphaUcPeriod"/>
            </a:pPr>
            <a:r>
              <a:rPr lang="en-US" sz="1600">
                <a:solidFill>
                  <a:schemeClr val="dk1"/>
                </a:solidFill>
                <a:latin typeface="Roboto"/>
                <a:ea typeface="Roboto"/>
                <a:cs typeface="Roboto"/>
                <a:sym typeface="Roboto"/>
              </a:rPr>
              <a:t>Rs.1368</a:t>
            </a:r>
            <a:endParaRPr sz="1600">
              <a:solidFill>
                <a:schemeClr val="dk1"/>
              </a:solidFill>
              <a:latin typeface="Roboto"/>
              <a:ea typeface="Roboto"/>
              <a:cs typeface="Roboto"/>
              <a:sym typeface="Roboto"/>
            </a:endParaRPr>
          </a:p>
          <a:p>
            <a:pPr indent="-330200" lvl="0" marL="457200" rtl="0" algn="l">
              <a:lnSpc>
                <a:spcPct val="150000"/>
              </a:lnSpc>
              <a:spcBef>
                <a:spcPts val="0"/>
              </a:spcBef>
              <a:spcAft>
                <a:spcPts val="0"/>
              </a:spcAft>
              <a:buClr>
                <a:schemeClr val="dk1"/>
              </a:buClr>
              <a:buSzPts val="1600"/>
              <a:buFont typeface="Roboto"/>
              <a:buAutoNum type="alphaUcPeriod"/>
            </a:pPr>
            <a:r>
              <a:rPr lang="en-US" sz="1600">
                <a:solidFill>
                  <a:schemeClr val="dk1"/>
                </a:solidFill>
                <a:latin typeface="Roboto"/>
                <a:ea typeface="Roboto"/>
                <a:cs typeface="Roboto"/>
                <a:sym typeface="Roboto"/>
              </a:rPr>
              <a:t>Rs.1422</a:t>
            </a:r>
            <a:endParaRPr sz="1600">
              <a:solidFill>
                <a:schemeClr val="dk1"/>
              </a:solidFill>
              <a:latin typeface="Roboto"/>
              <a:ea typeface="Roboto"/>
              <a:cs typeface="Roboto"/>
              <a:sym typeface="Roboto"/>
            </a:endParaRPr>
          </a:p>
        </p:txBody>
      </p:sp>
      <p:sp>
        <p:nvSpPr>
          <p:cNvPr id="135" name="Google Shape;135;g481c3950792bf2f7_98"/>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Question: 05</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0" st="0"/>
                                            </p:txEl>
                                          </p:spTgt>
                                        </p:tgtEl>
                                        <p:attrNameLst>
                                          <p:attrName>style.visibility</p:attrName>
                                        </p:attrNameLst>
                                      </p:cBhvr>
                                      <p:to>
                                        <p:strVal val="visible"/>
                                      </p:to>
                                    </p:set>
                                    <p:animEffect filter="fade" transition="in">
                                      <p:cBhvr>
                                        <p:cTn dur="1000"/>
                                        <p:tgtEl>
                                          <p:spTgt spid="1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1" st="1"/>
                                            </p:txEl>
                                          </p:spTgt>
                                        </p:tgtEl>
                                        <p:attrNameLst>
                                          <p:attrName>style.visibility</p:attrName>
                                        </p:attrNameLst>
                                      </p:cBhvr>
                                      <p:to>
                                        <p:strVal val="visible"/>
                                      </p:to>
                                    </p:set>
                                    <p:animEffect filter="fade" transition="in">
                                      <p:cBhvr>
                                        <p:cTn dur="1000"/>
                                        <p:tgtEl>
                                          <p:spTgt spid="1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2" st="2"/>
                                            </p:txEl>
                                          </p:spTgt>
                                        </p:tgtEl>
                                        <p:attrNameLst>
                                          <p:attrName>style.visibility</p:attrName>
                                        </p:attrNameLst>
                                      </p:cBhvr>
                                      <p:to>
                                        <p:strVal val="visible"/>
                                      </p:to>
                                    </p:set>
                                    <p:animEffect filter="fade" transition="in">
                                      <p:cBhvr>
                                        <p:cTn dur="1000"/>
                                        <p:tgtEl>
                                          <p:spTgt spid="13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3" st="3"/>
                                            </p:txEl>
                                          </p:spTgt>
                                        </p:tgtEl>
                                        <p:attrNameLst>
                                          <p:attrName>style.visibility</p:attrName>
                                        </p:attrNameLst>
                                      </p:cBhvr>
                                      <p:to>
                                        <p:strVal val="visible"/>
                                      </p:to>
                                    </p:set>
                                    <p:animEffect filter="fade" transition="in">
                                      <p:cBhvr>
                                        <p:cTn dur="1000"/>
                                        <p:tgtEl>
                                          <p:spTgt spid="13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4" st="4"/>
                                            </p:txEl>
                                          </p:spTgt>
                                        </p:tgtEl>
                                        <p:attrNameLst>
                                          <p:attrName>style.visibility</p:attrName>
                                        </p:attrNameLst>
                                      </p:cBhvr>
                                      <p:to>
                                        <p:strVal val="visible"/>
                                      </p:to>
                                    </p:set>
                                    <p:animEffect filter="fade" transition="in">
                                      <p:cBhvr>
                                        <p:cTn dur="1000"/>
                                        <p:tgtEl>
                                          <p:spTgt spid="134">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9" name="Shape 139"/>
        <p:cNvGrpSpPr/>
        <p:nvPr/>
      </p:nvGrpSpPr>
      <p:grpSpPr>
        <a:xfrm>
          <a:off x="0" y="0"/>
          <a:ext cx="0" cy="0"/>
          <a:chOff x="0" y="0"/>
          <a:chExt cx="0" cy="0"/>
        </a:xfrm>
      </p:grpSpPr>
      <p:sp>
        <p:nvSpPr>
          <p:cNvPr id="140" name="Google Shape;140;g481c3950792bf2f7_105"/>
          <p:cNvSpPr txBox="1"/>
          <p:nvPr>
            <p:ph idx="1" type="body"/>
          </p:nvPr>
        </p:nvSpPr>
        <p:spPr>
          <a:xfrm>
            <a:off x="431550" y="1435600"/>
            <a:ext cx="8520600" cy="340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800"/>
              <a:buFont typeface="Arial"/>
              <a:buNone/>
            </a:pPr>
            <a:r>
              <a:rPr lang="en-US" sz="1400">
                <a:latin typeface="Roboto"/>
                <a:ea typeface="Roboto"/>
                <a:cs typeface="Roboto"/>
                <a:sym typeface="Roboto"/>
              </a:rPr>
              <a:t>	</a:t>
            </a:r>
            <a:r>
              <a:rPr lang="en-US" sz="1400">
                <a:solidFill>
                  <a:schemeClr val="dk1"/>
                </a:solidFill>
                <a:latin typeface="Roboto"/>
                <a:ea typeface="Roboto"/>
                <a:cs typeface="Roboto"/>
                <a:sym typeface="Roboto"/>
              </a:rPr>
              <a:t>				A      :     V</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Profit                        5      :      2</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A=5/7*Total profit</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A=3420=5/7*Total profit</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A=684*7=Total profit</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V=2/7*684*7 = Rs.1368</a:t>
            </a:r>
            <a:endParaRPr sz="1400">
              <a:solidFill>
                <a:schemeClr val="dk1"/>
              </a:solidFill>
              <a:latin typeface="Roboto"/>
              <a:ea typeface="Roboto"/>
              <a:cs typeface="Roboto"/>
              <a:sym typeface="Roboto"/>
            </a:endParaRPr>
          </a:p>
          <a:p>
            <a:pPr indent="-1904" lvl="0" marL="116204" rtl="0" algn="l">
              <a:lnSpc>
                <a:spcPct val="115000"/>
              </a:lnSpc>
              <a:spcBef>
                <a:spcPts val="0"/>
              </a:spcBef>
              <a:spcAft>
                <a:spcPts val="0"/>
              </a:spcAft>
              <a:buSzPts val="1800"/>
              <a:buNone/>
            </a:pPr>
            <a:r>
              <a:t/>
            </a:r>
            <a:endParaRPr sz="1400">
              <a:solidFill>
                <a:schemeClr val="dk1"/>
              </a:solidFill>
              <a:latin typeface="Roboto"/>
              <a:ea typeface="Roboto"/>
              <a:cs typeface="Roboto"/>
              <a:sym typeface="Roboto"/>
            </a:endParaRPr>
          </a:p>
        </p:txBody>
      </p:sp>
      <p:sp>
        <p:nvSpPr>
          <p:cNvPr id="141" name="Google Shape;141;g481c3950792bf2f7_105"/>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Explanation: 05</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xEl>
                                              <p:pRg end="0" st="0"/>
                                            </p:txEl>
                                          </p:spTgt>
                                        </p:tgtEl>
                                        <p:attrNameLst>
                                          <p:attrName>style.visibility</p:attrName>
                                        </p:attrNameLst>
                                      </p:cBhvr>
                                      <p:to>
                                        <p:strVal val="visible"/>
                                      </p:to>
                                    </p:set>
                                    <p:animEffect filter="fade" transition="in">
                                      <p:cBhvr>
                                        <p:cTn dur="1000"/>
                                        <p:tgtEl>
                                          <p:spTgt spid="14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xEl>
                                              <p:pRg end="1" st="1"/>
                                            </p:txEl>
                                          </p:spTgt>
                                        </p:tgtEl>
                                        <p:attrNameLst>
                                          <p:attrName>style.visibility</p:attrName>
                                        </p:attrNameLst>
                                      </p:cBhvr>
                                      <p:to>
                                        <p:strVal val="visible"/>
                                      </p:to>
                                    </p:set>
                                    <p:animEffect filter="fade" transition="in">
                                      <p:cBhvr>
                                        <p:cTn dur="1000"/>
                                        <p:tgtEl>
                                          <p:spTgt spid="14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xEl>
                                              <p:pRg end="2" st="2"/>
                                            </p:txEl>
                                          </p:spTgt>
                                        </p:tgtEl>
                                        <p:attrNameLst>
                                          <p:attrName>style.visibility</p:attrName>
                                        </p:attrNameLst>
                                      </p:cBhvr>
                                      <p:to>
                                        <p:strVal val="visible"/>
                                      </p:to>
                                    </p:set>
                                    <p:animEffect filter="fade" transition="in">
                                      <p:cBhvr>
                                        <p:cTn dur="1000"/>
                                        <p:tgtEl>
                                          <p:spTgt spid="14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xEl>
                                              <p:pRg end="3" st="3"/>
                                            </p:txEl>
                                          </p:spTgt>
                                        </p:tgtEl>
                                        <p:attrNameLst>
                                          <p:attrName>style.visibility</p:attrName>
                                        </p:attrNameLst>
                                      </p:cBhvr>
                                      <p:to>
                                        <p:strVal val="visible"/>
                                      </p:to>
                                    </p:set>
                                    <p:animEffect filter="fade" transition="in">
                                      <p:cBhvr>
                                        <p:cTn dur="1000"/>
                                        <p:tgtEl>
                                          <p:spTgt spid="14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xEl>
                                              <p:pRg end="4" st="4"/>
                                            </p:txEl>
                                          </p:spTgt>
                                        </p:tgtEl>
                                        <p:attrNameLst>
                                          <p:attrName>style.visibility</p:attrName>
                                        </p:attrNameLst>
                                      </p:cBhvr>
                                      <p:to>
                                        <p:strVal val="visible"/>
                                      </p:to>
                                    </p:set>
                                    <p:animEffect filter="fade" transition="in">
                                      <p:cBhvr>
                                        <p:cTn dur="1000"/>
                                        <p:tgtEl>
                                          <p:spTgt spid="14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xEl>
                                              <p:pRg end="5" st="5"/>
                                            </p:txEl>
                                          </p:spTgt>
                                        </p:tgtEl>
                                        <p:attrNameLst>
                                          <p:attrName>style.visibility</p:attrName>
                                        </p:attrNameLst>
                                      </p:cBhvr>
                                      <p:to>
                                        <p:strVal val="visible"/>
                                      </p:to>
                                    </p:set>
                                    <p:animEffect filter="fade" transition="in">
                                      <p:cBhvr>
                                        <p:cTn dur="1000"/>
                                        <p:tgtEl>
                                          <p:spTgt spid="14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xEl>
                                              <p:pRg end="6" st="6"/>
                                            </p:txEl>
                                          </p:spTgt>
                                        </p:tgtEl>
                                        <p:attrNameLst>
                                          <p:attrName>style.visibility</p:attrName>
                                        </p:attrNameLst>
                                      </p:cBhvr>
                                      <p:to>
                                        <p:strVal val="visible"/>
                                      </p:to>
                                    </p:set>
                                    <p:animEffect filter="fade" transition="in">
                                      <p:cBhvr>
                                        <p:cTn dur="1000"/>
                                        <p:tgtEl>
                                          <p:spTgt spid="14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13a7215635f_0_0"/>
          <p:cNvSpPr txBox="1"/>
          <p:nvPr>
            <p:ph idx="1" type="body"/>
          </p:nvPr>
        </p:nvSpPr>
        <p:spPr>
          <a:xfrm>
            <a:off x="722375" y="1435600"/>
            <a:ext cx="8109900" cy="26439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800"/>
              <a:buFont typeface="Arial"/>
              <a:buNone/>
            </a:pPr>
            <a:r>
              <a:rPr lang="en-US" sz="1600">
                <a:solidFill>
                  <a:schemeClr val="dk1"/>
                </a:solidFill>
                <a:latin typeface="Roboto"/>
                <a:ea typeface="Roboto"/>
                <a:cs typeface="Roboto"/>
                <a:sym typeface="Roboto"/>
              </a:rPr>
              <a:t>P,Q and R start a hotel. Q and R invest equally but P invests one-fifth of the total investment amount. On getting profit of rs.225000, how much would be difference between profit of P and R?</a:t>
            </a:r>
            <a:endParaRPr sz="1600">
              <a:solidFill>
                <a:schemeClr val="dk1"/>
              </a:solidFill>
              <a:latin typeface="Roboto"/>
              <a:ea typeface="Roboto"/>
              <a:cs typeface="Roboto"/>
              <a:sym typeface="Roboto"/>
            </a:endParaRPr>
          </a:p>
          <a:p>
            <a:pPr indent="-330200" lvl="0" marL="457200" rtl="0" algn="l">
              <a:lnSpc>
                <a:spcPct val="150000"/>
              </a:lnSpc>
              <a:spcBef>
                <a:spcPts val="1600"/>
              </a:spcBef>
              <a:spcAft>
                <a:spcPts val="0"/>
              </a:spcAft>
              <a:buClr>
                <a:schemeClr val="dk1"/>
              </a:buClr>
              <a:buSzPts val="1600"/>
              <a:buFont typeface="Roboto"/>
              <a:buAutoNum type="alphaUcPeriod"/>
            </a:pPr>
            <a:r>
              <a:rPr lang="en-US" sz="1600">
                <a:solidFill>
                  <a:schemeClr val="dk1"/>
                </a:solidFill>
                <a:latin typeface="Roboto"/>
                <a:ea typeface="Roboto"/>
                <a:cs typeface="Roboto"/>
                <a:sym typeface="Roboto"/>
              </a:rPr>
              <a:t>Rs.10,000</a:t>
            </a:r>
            <a:endParaRPr sz="1600">
              <a:solidFill>
                <a:schemeClr val="dk1"/>
              </a:solidFill>
              <a:latin typeface="Roboto"/>
              <a:ea typeface="Roboto"/>
              <a:cs typeface="Roboto"/>
              <a:sym typeface="Roboto"/>
            </a:endParaRPr>
          </a:p>
          <a:p>
            <a:pPr indent="-330200" lvl="0" marL="457200" rtl="0" algn="l">
              <a:lnSpc>
                <a:spcPct val="150000"/>
              </a:lnSpc>
              <a:spcBef>
                <a:spcPts val="0"/>
              </a:spcBef>
              <a:spcAft>
                <a:spcPts val="0"/>
              </a:spcAft>
              <a:buClr>
                <a:schemeClr val="dk1"/>
              </a:buClr>
              <a:buSzPts val="1600"/>
              <a:buFont typeface="Roboto"/>
              <a:buAutoNum type="alphaUcPeriod"/>
            </a:pPr>
            <a:r>
              <a:rPr lang="en-US" sz="1600">
                <a:solidFill>
                  <a:schemeClr val="dk1"/>
                </a:solidFill>
                <a:latin typeface="Roboto"/>
                <a:ea typeface="Roboto"/>
                <a:cs typeface="Roboto"/>
                <a:sym typeface="Roboto"/>
              </a:rPr>
              <a:t>Rs.9000</a:t>
            </a:r>
            <a:endParaRPr sz="1600">
              <a:solidFill>
                <a:schemeClr val="dk1"/>
              </a:solidFill>
              <a:latin typeface="Roboto"/>
              <a:ea typeface="Roboto"/>
              <a:cs typeface="Roboto"/>
              <a:sym typeface="Roboto"/>
            </a:endParaRPr>
          </a:p>
          <a:p>
            <a:pPr indent="-330200" lvl="0" marL="457200" rtl="0" algn="l">
              <a:lnSpc>
                <a:spcPct val="150000"/>
              </a:lnSpc>
              <a:spcBef>
                <a:spcPts val="0"/>
              </a:spcBef>
              <a:spcAft>
                <a:spcPts val="0"/>
              </a:spcAft>
              <a:buClr>
                <a:schemeClr val="dk1"/>
              </a:buClr>
              <a:buSzPts val="1600"/>
              <a:buFont typeface="Roboto"/>
              <a:buAutoNum type="alphaUcPeriod"/>
            </a:pPr>
            <a:r>
              <a:rPr lang="en-US" sz="1600">
                <a:solidFill>
                  <a:schemeClr val="dk1"/>
                </a:solidFill>
                <a:latin typeface="Roboto"/>
                <a:ea typeface="Roboto"/>
                <a:cs typeface="Roboto"/>
                <a:sym typeface="Roboto"/>
              </a:rPr>
              <a:t>Rs.8000</a:t>
            </a:r>
            <a:endParaRPr sz="1600">
              <a:solidFill>
                <a:schemeClr val="dk1"/>
              </a:solidFill>
              <a:latin typeface="Roboto"/>
              <a:ea typeface="Roboto"/>
              <a:cs typeface="Roboto"/>
              <a:sym typeface="Roboto"/>
            </a:endParaRPr>
          </a:p>
          <a:p>
            <a:pPr indent="-330200" lvl="0" marL="457200" rtl="0" algn="l">
              <a:lnSpc>
                <a:spcPct val="150000"/>
              </a:lnSpc>
              <a:spcBef>
                <a:spcPts val="0"/>
              </a:spcBef>
              <a:spcAft>
                <a:spcPts val="0"/>
              </a:spcAft>
              <a:buClr>
                <a:schemeClr val="dk1"/>
              </a:buClr>
              <a:buSzPts val="1600"/>
              <a:buFont typeface="Roboto"/>
              <a:buAutoNum type="alphaUcPeriod"/>
            </a:pPr>
            <a:r>
              <a:rPr lang="en-US" sz="1600">
                <a:solidFill>
                  <a:schemeClr val="dk1"/>
                </a:solidFill>
                <a:latin typeface="Roboto"/>
                <a:ea typeface="Roboto"/>
                <a:cs typeface="Roboto"/>
                <a:sym typeface="Roboto"/>
              </a:rPr>
              <a:t>Rs.7000</a:t>
            </a:r>
            <a:endParaRPr sz="1600">
              <a:solidFill>
                <a:schemeClr val="dk1"/>
              </a:solidFill>
              <a:latin typeface="Roboto"/>
              <a:ea typeface="Roboto"/>
              <a:cs typeface="Roboto"/>
              <a:sym typeface="Roboto"/>
            </a:endParaRPr>
          </a:p>
          <a:p>
            <a:pPr indent="0" lvl="0" marL="0" rtl="0" algn="l">
              <a:lnSpc>
                <a:spcPct val="115000"/>
              </a:lnSpc>
              <a:spcBef>
                <a:spcPts val="0"/>
              </a:spcBef>
              <a:spcAft>
                <a:spcPts val="0"/>
              </a:spcAft>
              <a:buSzPts val="1800"/>
              <a:buNone/>
            </a:pPr>
            <a:r>
              <a:t/>
            </a:r>
            <a:endParaRPr sz="1600">
              <a:solidFill>
                <a:schemeClr val="dk1"/>
              </a:solidFill>
              <a:latin typeface="Roboto"/>
              <a:ea typeface="Roboto"/>
              <a:cs typeface="Roboto"/>
              <a:sym typeface="Roboto"/>
            </a:endParaRPr>
          </a:p>
        </p:txBody>
      </p:sp>
      <p:sp>
        <p:nvSpPr>
          <p:cNvPr id="147" name="Google Shape;147;g13a7215635f_0_0"/>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Question: 06</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0" st="0"/>
                                            </p:txEl>
                                          </p:spTgt>
                                        </p:tgtEl>
                                        <p:attrNameLst>
                                          <p:attrName>style.visibility</p:attrName>
                                        </p:attrNameLst>
                                      </p:cBhvr>
                                      <p:to>
                                        <p:strVal val="visible"/>
                                      </p:to>
                                    </p:set>
                                    <p:animEffect filter="fade" transition="in">
                                      <p:cBhvr>
                                        <p:cTn dur="1000"/>
                                        <p:tgtEl>
                                          <p:spTgt spid="1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1" st="1"/>
                                            </p:txEl>
                                          </p:spTgt>
                                        </p:tgtEl>
                                        <p:attrNameLst>
                                          <p:attrName>style.visibility</p:attrName>
                                        </p:attrNameLst>
                                      </p:cBhvr>
                                      <p:to>
                                        <p:strVal val="visible"/>
                                      </p:to>
                                    </p:set>
                                    <p:animEffect filter="fade" transition="in">
                                      <p:cBhvr>
                                        <p:cTn dur="1000"/>
                                        <p:tgtEl>
                                          <p:spTgt spid="1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2" st="2"/>
                                            </p:txEl>
                                          </p:spTgt>
                                        </p:tgtEl>
                                        <p:attrNameLst>
                                          <p:attrName>style.visibility</p:attrName>
                                        </p:attrNameLst>
                                      </p:cBhvr>
                                      <p:to>
                                        <p:strVal val="visible"/>
                                      </p:to>
                                    </p:set>
                                    <p:animEffect filter="fade" transition="in">
                                      <p:cBhvr>
                                        <p:cTn dur="1000"/>
                                        <p:tgtEl>
                                          <p:spTgt spid="14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3" st="3"/>
                                            </p:txEl>
                                          </p:spTgt>
                                        </p:tgtEl>
                                        <p:attrNameLst>
                                          <p:attrName>style.visibility</p:attrName>
                                        </p:attrNameLst>
                                      </p:cBhvr>
                                      <p:to>
                                        <p:strVal val="visible"/>
                                      </p:to>
                                    </p:set>
                                    <p:animEffect filter="fade" transition="in">
                                      <p:cBhvr>
                                        <p:cTn dur="1000"/>
                                        <p:tgtEl>
                                          <p:spTgt spid="14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4" st="4"/>
                                            </p:txEl>
                                          </p:spTgt>
                                        </p:tgtEl>
                                        <p:attrNameLst>
                                          <p:attrName>style.visibility</p:attrName>
                                        </p:attrNameLst>
                                      </p:cBhvr>
                                      <p:to>
                                        <p:strVal val="visible"/>
                                      </p:to>
                                    </p:set>
                                    <p:animEffect filter="fade" transition="in">
                                      <p:cBhvr>
                                        <p:cTn dur="1000"/>
                                        <p:tgtEl>
                                          <p:spTgt spid="14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5" st="5"/>
                                            </p:txEl>
                                          </p:spTgt>
                                        </p:tgtEl>
                                        <p:attrNameLst>
                                          <p:attrName>style.visibility</p:attrName>
                                        </p:attrNameLst>
                                      </p:cBhvr>
                                      <p:to>
                                        <p:strVal val="visible"/>
                                      </p:to>
                                    </p:set>
                                    <p:animEffect filter="fade" transition="in">
                                      <p:cBhvr>
                                        <p:cTn dur="1000"/>
                                        <p:tgtEl>
                                          <p:spTgt spid="146">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1" name="Shape 151"/>
        <p:cNvGrpSpPr/>
        <p:nvPr/>
      </p:nvGrpSpPr>
      <p:grpSpPr>
        <a:xfrm>
          <a:off x="0" y="0"/>
          <a:ext cx="0" cy="0"/>
          <a:chOff x="0" y="0"/>
          <a:chExt cx="0" cy="0"/>
        </a:xfrm>
      </p:grpSpPr>
      <p:sp>
        <p:nvSpPr>
          <p:cNvPr id="152" name="Google Shape;152;g13a7215635f_0_7"/>
          <p:cNvSpPr txBox="1"/>
          <p:nvPr>
            <p:ph idx="1" type="body"/>
          </p:nvPr>
        </p:nvSpPr>
        <p:spPr>
          <a:xfrm>
            <a:off x="722375" y="1435600"/>
            <a:ext cx="8109900" cy="262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800"/>
              <a:buFont typeface="Arial"/>
              <a:buNone/>
            </a:pPr>
            <a:r>
              <a:rPr lang="en-US" sz="1400">
                <a:latin typeface="Roboto"/>
                <a:ea typeface="Roboto"/>
                <a:cs typeface="Roboto"/>
                <a:sym typeface="Roboto"/>
              </a:rPr>
              <a:t>   		</a:t>
            </a:r>
            <a:r>
              <a:rPr lang="en-US" sz="1400">
                <a:solidFill>
                  <a:schemeClr val="dk1"/>
                </a:solidFill>
                <a:latin typeface="Roboto"/>
                <a:ea typeface="Roboto"/>
                <a:cs typeface="Roboto"/>
                <a:sym typeface="Roboto"/>
              </a:rPr>
              <a:t>P=1/5  (2250000)</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P=45000 Rs</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Invest of Q = Investment of R</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225000  -   45000</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  1,80,000 Rs</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  1,80,000 / 2 = Rs.90,000</a:t>
            </a:r>
            <a:endParaRPr sz="1400">
              <a:solidFill>
                <a:schemeClr val="dk1"/>
              </a:solidFill>
              <a:latin typeface="Roboto"/>
              <a:ea typeface="Roboto"/>
              <a:cs typeface="Roboto"/>
              <a:sym typeface="Roboto"/>
            </a:endParaRPr>
          </a:p>
          <a:p>
            <a:pPr indent="-59055" lvl="0" marL="59055" rtl="0" algn="l">
              <a:lnSpc>
                <a:spcPct val="115000"/>
              </a:lnSpc>
              <a:spcBef>
                <a:spcPts val="1600"/>
              </a:spcBef>
              <a:spcAft>
                <a:spcPts val="0"/>
              </a:spcAft>
              <a:buSzPts val="1800"/>
              <a:buNone/>
            </a:pPr>
            <a:r>
              <a:t/>
            </a:r>
            <a:endParaRPr sz="1400">
              <a:solidFill>
                <a:schemeClr val="dk1"/>
              </a:solidFill>
              <a:latin typeface="Roboto"/>
              <a:ea typeface="Roboto"/>
              <a:cs typeface="Roboto"/>
              <a:sym typeface="Roboto"/>
            </a:endParaRPr>
          </a:p>
        </p:txBody>
      </p:sp>
      <p:sp>
        <p:nvSpPr>
          <p:cNvPr id="153" name="Google Shape;153;g13a7215635f_0_7"/>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Explanation: 06</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animEffect filter="fade" transition="in">
                                      <p:cBhvr>
                                        <p:cTn dur="1000"/>
                                        <p:tgtEl>
                                          <p:spTgt spid="1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1" st="1"/>
                                            </p:txEl>
                                          </p:spTgt>
                                        </p:tgtEl>
                                        <p:attrNameLst>
                                          <p:attrName>style.visibility</p:attrName>
                                        </p:attrNameLst>
                                      </p:cBhvr>
                                      <p:to>
                                        <p:strVal val="visible"/>
                                      </p:to>
                                    </p:set>
                                    <p:animEffect filter="fade" transition="in">
                                      <p:cBhvr>
                                        <p:cTn dur="1000"/>
                                        <p:tgtEl>
                                          <p:spTgt spid="15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2" st="2"/>
                                            </p:txEl>
                                          </p:spTgt>
                                        </p:tgtEl>
                                        <p:attrNameLst>
                                          <p:attrName>style.visibility</p:attrName>
                                        </p:attrNameLst>
                                      </p:cBhvr>
                                      <p:to>
                                        <p:strVal val="visible"/>
                                      </p:to>
                                    </p:set>
                                    <p:animEffect filter="fade" transition="in">
                                      <p:cBhvr>
                                        <p:cTn dur="1000"/>
                                        <p:tgtEl>
                                          <p:spTgt spid="15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3" st="3"/>
                                            </p:txEl>
                                          </p:spTgt>
                                        </p:tgtEl>
                                        <p:attrNameLst>
                                          <p:attrName>style.visibility</p:attrName>
                                        </p:attrNameLst>
                                      </p:cBhvr>
                                      <p:to>
                                        <p:strVal val="visible"/>
                                      </p:to>
                                    </p:set>
                                    <p:animEffect filter="fade" transition="in">
                                      <p:cBhvr>
                                        <p:cTn dur="1000"/>
                                        <p:tgtEl>
                                          <p:spTgt spid="15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4" st="4"/>
                                            </p:txEl>
                                          </p:spTgt>
                                        </p:tgtEl>
                                        <p:attrNameLst>
                                          <p:attrName>style.visibility</p:attrName>
                                        </p:attrNameLst>
                                      </p:cBhvr>
                                      <p:to>
                                        <p:strVal val="visible"/>
                                      </p:to>
                                    </p:set>
                                    <p:animEffect filter="fade" transition="in">
                                      <p:cBhvr>
                                        <p:cTn dur="1000"/>
                                        <p:tgtEl>
                                          <p:spTgt spid="15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5" st="5"/>
                                            </p:txEl>
                                          </p:spTgt>
                                        </p:tgtEl>
                                        <p:attrNameLst>
                                          <p:attrName>style.visibility</p:attrName>
                                        </p:attrNameLst>
                                      </p:cBhvr>
                                      <p:to>
                                        <p:strVal val="visible"/>
                                      </p:to>
                                    </p:set>
                                    <p:animEffect filter="fade" transition="in">
                                      <p:cBhvr>
                                        <p:cTn dur="1000"/>
                                        <p:tgtEl>
                                          <p:spTgt spid="15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6" st="6"/>
                                            </p:txEl>
                                          </p:spTgt>
                                        </p:tgtEl>
                                        <p:attrNameLst>
                                          <p:attrName>style.visibility</p:attrName>
                                        </p:attrNameLst>
                                      </p:cBhvr>
                                      <p:to>
                                        <p:strVal val="visible"/>
                                      </p:to>
                                    </p:set>
                                    <p:animEffect filter="fade" transition="in">
                                      <p:cBhvr>
                                        <p:cTn dur="1000"/>
                                        <p:tgtEl>
                                          <p:spTgt spid="15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13a7215635f_0_21"/>
          <p:cNvSpPr txBox="1"/>
          <p:nvPr>
            <p:ph idx="1" type="body"/>
          </p:nvPr>
        </p:nvSpPr>
        <p:spPr>
          <a:xfrm>
            <a:off x="722375" y="1435600"/>
            <a:ext cx="8109900" cy="26439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lang="en-US" sz="1600">
                <a:solidFill>
                  <a:schemeClr val="dk1"/>
                </a:solidFill>
                <a:latin typeface="Roboto"/>
                <a:ea typeface="Roboto"/>
                <a:cs typeface="Roboto"/>
                <a:sym typeface="Roboto"/>
              </a:rPr>
              <a:t>P and Q start a cafe with a capital of Rs.20,000 and Rs.40,000 respectively. After a year, out of the profit of Rs.15,000, P gets his share of profit plus some money as his salary. In total if P gets Rs.7000, what is the salary amount he received?</a:t>
            </a:r>
            <a:endParaRPr sz="1600">
              <a:solidFill>
                <a:schemeClr val="dk1"/>
              </a:solidFill>
              <a:latin typeface="Roboto"/>
              <a:ea typeface="Roboto"/>
              <a:cs typeface="Roboto"/>
              <a:sym typeface="Roboto"/>
            </a:endParaRPr>
          </a:p>
          <a:p>
            <a:pPr indent="-330200" lvl="0" marL="457200" rtl="0" algn="l">
              <a:lnSpc>
                <a:spcPct val="150000"/>
              </a:lnSpc>
              <a:spcBef>
                <a:spcPts val="1600"/>
              </a:spcBef>
              <a:spcAft>
                <a:spcPts val="0"/>
              </a:spcAft>
              <a:buClr>
                <a:schemeClr val="dk1"/>
              </a:buClr>
              <a:buSzPts val="1600"/>
              <a:buFont typeface="Roboto"/>
              <a:buAutoNum type="alphaUcPeriod"/>
            </a:pPr>
            <a:r>
              <a:rPr lang="en-US" sz="1600">
                <a:solidFill>
                  <a:schemeClr val="dk1"/>
                </a:solidFill>
                <a:latin typeface="Roboto"/>
                <a:ea typeface="Roboto"/>
                <a:cs typeface="Roboto"/>
                <a:sym typeface="Roboto"/>
              </a:rPr>
              <a:t>Rs.1500</a:t>
            </a:r>
            <a:endParaRPr sz="1600">
              <a:solidFill>
                <a:schemeClr val="dk1"/>
              </a:solidFill>
              <a:latin typeface="Roboto"/>
              <a:ea typeface="Roboto"/>
              <a:cs typeface="Roboto"/>
              <a:sym typeface="Roboto"/>
            </a:endParaRPr>
          </a:p>
          <a:p>
            <a:pPr indent="-330200" lvl="0" marL="457200" rtl="0" algn="l">
              <a:lnSpc>
                <a:spcPct val="150000"/>
              </a:lnSpc>
              <a:spcBef>
                <a:spcPts val="0"/>
              </a:spcBef>
              <a:spcAft>
                <a:spcPts val="0"/>
              </a:spcAft>
              <a:buClr>
                <a:schemeClr val="dk1"/>
              </a:buClr>
              <a:buSzPts val="1600"/>
              <a:buFont typeface="Roboto"/>
              <a:buAutoNum type="alphaUcPeriod"/>
            </a:pPr>
            <a:r>
              <a:rPr lang="en-US" sz="1600">
                <a:solidFill>
                  <a:schemeClr val="dk1"/>
                </a:solidFill>
                <a:latin typeface="Roboto"/>
                <a:ea typeface="Roboto"/>
                <a:cs typeface="Roboto"/>
                <a:sym typeface="Roboto"/>
              </a:rPr>
              <a:t>Rs.3000</a:t>
            </a:r>
            <a:endParaRPr sz="1600">
              <a:solidFill>
                <a:schemeClr val="dk1"/>
              </a:solidFill>
              <a:latin typeface="Roboto"/>
              <a:ea typeface="Roboto"/>
              <a:cs typeface="Roboto"/>
              <a:sym typeface="Roboto"/>
            </a:endParaRPr>
          </a:p>
          <a:p>
            <a:pPr indent="-330200" lvl="0" marL="457200" rtl="0" algn="l">
              <a:lnSpc>
                <a:spcPct val="150000"/>
              </a:lnSpc>
              <a:spcBef>
                <a:spcPts val="0"/>
              </a:spcBef>
              <a:spcAft>
                <a:spcPts val="0"/>
              </a:spcAft>
              <a:buClr>
                <a:schemeClr val="dk1"/>
              </a:buClr>
              <a:buSzPts val="1600"/>
              <a:buFont typeface="Roboto"/>
              <a:buAutoNum type="alphaUcPeriod"/>
            </a:pPr>
            <a:r>
              <a:rPr lang="en-US" sz="1600">
                <a:solidFill>
                  <a:schemeClr val="dk1"/>
                </a:solidFill>
                <a:latin typeface="Roboto"/>
                <a:ea typeface="Roboto"/>
                <a:cs typeface="Roboto"/>
                <a:sym typeface="Roboto"/>
              </a:rPr>
              <a:t>Rs.2500</a:t>
            </a:r>
            <a:endParaRPr sz="1600">
              <a:solidFill>
                <a:schemeClr val="dk1"/>
              </a:solidFill>
              <a:latin typeface="Roboto"/>
              <a:ea typeface="Roboto"/>
              <a:cs typeface="Roboto"/>
              <a:sym typeface="Roboto"/>
            </a:endParaRPr>
          </a:p>
          <a:p>
            <a:pPr indent="-330200" lvl="0" marL="457200" rtl="0" algn="l">
              <a:lnSpc>
                <a:spcPct val="150000"/>
              </a:lnSpc>
              <a:spcBef>
                <a:spcPts val="0"/>
              </a:spcBef>
              <a:spcAft>
                <a:spcPts val="0"/>
              </a:spcAft>
              <a:buClr>
                <a:schemeClr val="dk1"/>
              </a:buClr>
              <a:buSzPts val="1600"/>
              <a:buFont typeface="Roboto"/>
              <a:buAutoNum type="alphaUcPeriod"/>
            </a:pPr>
            <a:r>
              <a:rPr lang="en-US" sz="1600">
                <a:solidFill>
                  <a:schemeClr val="dk1"/>
                </a:solidFill>
                <a:latin typeface="Roboto"/>
                <a:ea typeface="Roboto"/>
                <a:cs typeface="Roboto"/>
                <a:sym typeface="Roboto"/>
              </a:rPr>
              <a:t>Rs.2000</a:t>
            </a:r>
            <a:endParaRPr sz="1600">
              <a:solidFill>
                <a:schemeClr val="dk1"/>
              </a:solidFill>
              <a:latin typeface="Roboto"/>
              <a:ea typeface="Roboto"/>
              <a:cs typeface="Roboto"/>
              <a:sym typeface="Roboto"/>
            </a:endParaRPr>
          </a:p>
        </p:txBody>
      </p:sp>
      <p:sp>
        <p:nvSpPr>
          <p:cNvPr id="159" name="Google Shape;159;g13a7215635f_0_21"/>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Question: 07</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0" st="0"/>
                                            </p:txEl>
                                          </p:spTgt>
                                        </p:tgtEl>
                                        <p:attrNameLst>
                                          <p:attrName>style.visibility</p:attrName>
                                        </p:attrNameLst>
                                      </p:cBhvr>
                                      <p:to>
                                        <p:strVal val="visible"/>
                                      </p:to>
                                    </p:set>
                                    <p:animEffect filter="fade" transition="in">
                                      <p:cBhvr>
                                        <p:cTn dur="1000"/>
                                        <p:tgtEl>
                                          <p:spTgt spid="1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1" st="1"/>
                                            </p:txEl>
                                          </p:spTgt>
                                        </p:tgtEl>
                                        <p:attrNameLst>
                                          <p:attrName>style.visibility</p:attrName>
                                        </p:attrNameLst>
                                      </p:cBhvr>
                                      <p:to>
                                        <p:strVal val="visible"/>
                                      </p:to>
                                    </p:set>
                                    <p:animEffect filter="fade" transition="in">
                                      <p:cBhvr>
                                        <p:cTn dur="1000"/>
                                        <p:tgtEl>
                                          <p:spTgt spid="1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2" st="2"/>
                                            </p:txEl>
                                          </p:spTgt>
                                        </p:tgtEl>
                                        <p:attrNameLst>
                                          <p:attrName>style.visibility</p:attrName>
                                        </p:attrNameLst>
                                      </p:cBhvr>
                                      <p:to>
                                        <p:strVal val="visible"/>
                                      </p:to>
                                    </p:set>
                                    <p:animEffect filter="fade" transition="in">
                                      <p:cBhvr>
                                        <p:cTn dur="1000"/>
                                        <p:tgtEl>
                                          <p:spTgt spid="1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3" st="3"/>
                                            </p:txEl>
                                          </p:spTgt>
                                        </p:tgtEl>
                                        <p:attrNameLst>
                                          <p:attrName>style.visibility</p:attrName>
                                        </p:attrNameLst>
                                      </p:cBhvr>
                                      <p:to>
                                        <p:strVal val="visible"/>
                                      </p:to>
                                    </p:set>
                                    <p:animEffect filter="fade" transition="in">
                                      <p:cBhvr>
                                        <p:cTn dur="1000"/>
                                        <p:tgtEl>
                                          <p:spTgt spid="1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4" st="4"/>
                                            </p:txEl>
                                          </p:spTgt>
                                        </p:tgtEl>
                                        <p:attrNameLst>
                                          <p:attrName>style.visibility</p:attrName>
                                        </p:attrNameLst>
                                      </p:cBhvr>
                                      <p:to>
                                        <p:strVal val="visible"/>
                                      </p:to>
                                    </p:set>
                                    <p:animEffect filter="fade" transition="in">
                                      <p:cBhvr>
                                        <p:cTn dur="1000"/>
                                        <p:tgtEl>
                                          <p:spTgt spid="158">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3" name="Shape 163"/>
        <p:cNvGrpSpPr/>
        <p:nvPr/>
      </p:nvGrpSpPr>
      <p:grpSpPr>
        <a:xfrm>
          <a:off x="0" y="0"/>
          <a:ext cx="0" cy="0"/>
          <a:chOff x="0" y="0"/>
          <a:chExt cx="0" cy="0"/>
        </a:xfrm>
      </p:grpSpPr>
      <p:sp>
        <p:nvSpPr>
          <p:cNvPr id="164" name="Google Shape;164;g13a7215635f_0_28"/>
          <p:cNvSpPr txBox="1"/>
          <p:nvPr>
            <p:ph idx="1" type="body"/>
          </p:nvPr>
        </p:nvSpPr>
        <p:spPr>
          <a:xfrm>
            <a:off x="680250" y="1435600"/>
            <a:ext cx="8152200" cy="2643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800"/>
              <a:buFont typeface="Arial"/>
              <a:buNone/>
            </a:pPr>
            <a:r>
              <a:rPr lang="en-US" sz="1400">
                <a:latin typeface="Roboto"/>
                <a:ea typeface="Roboto"/>
                <a:cs typeface="Roboto"/>
                <a:sym typeface="Roboto"/>
              </a:rPr>
              <a:t>			</a:t>
            </a:r>
            <a:r>
              <a:rPr lang="en-US" sz="1400">
                <a:solidFill>
                  <a:schemeClr val="dk1"/>
                </a:solidFill>
                <a:latin typeface="Roboto"/>
                <a:ea typeface="Roboto"/>
                <a:cs typeface="Roboto"/>
                <a:sym typeface="Roboto"/>
              </a:rPr>
              <a:t>P	   :		Q</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20,000         :       40,000</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P : Q = 1:2</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P=⅓*15000=5000 Rs</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7000 = prof + sal</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7000  = 5000 + sal</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SzPts val="1800"/>
              <a:buNone/>
            </a:pPr>
            <a:r>
              <a:rPr lang="en-US" sz="1400">
                <a:solidFill>
                  <a:schemeClr val="dk1"/>
                </a:solidFill>
                <a:latin typeface="Roboto"/>
                <a:ea typeface="Roboto"/>
                <a:cs typeface="Roboto"/>
                <a:sym typeface="Roboto"/>
              </a:rPr>
              <a:t>                    sal= Rs.2000</a:t>
            </a:r>
            <a:endParaRPr sz="1400">
              <a:solidFill>
                <a:schemeClr val="dk1"/>
              </a:solidFill>
              <a:latin typeface="Roboto"/>
              <a:ea typeface="Roboto"/>
              <a:cs typeface="Roboto"/>
              <a:sym typeface="Roboto"/>
            </a:endParaRPr>
          </a:p>
        </p:txBody>
      </p:sp>
      <p:sp>
        <p:nvSpPr>
          <p:cNvPr id="165" name="Google Shape;165;g13a7215635f_0_28"/>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Explanation: 07</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0" st="0"/>
                                            </p:txEl>
                                          </p:spTgt>
                                        </p:tgtEl>
                                        <p:attrNameLst>
                                          <p:attrName>style.visibility</p:attrName>
                                        </p:attrNameLst>
                                      </p:cBhvr>
                                      <p:to>
                                        <p:strVal val="visible"/>
                                      </p:to>
                                    </p:set>
                                    <p:animEffect filter="fade" transition="in">
                                      <p:cBhvr>
                                        <p:cTn dur="1000"/>
                                        <p:tgtEl>
                                          <p:spTgt spid="1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1" st="1"/>
                                            </p:txEl>
                                          </p:spTgt>
                                        </p:tgtEl>
                                        <p:attrNameLst>
                                          <p:attrName>style.visibility</p:attrName>
                                        </p:attrNameLst>
                                      </p:cBhvr>
                                      <p:to>
                                        <p:strVal val="visible"/>
                                      </p:to>
                                    </p:set>
                                    <p:animEffect filter="fade" transition="in">
                                      <p:cBhvr>
                                        <p:cTn dur="1000"/>
                                        <p:tgtEl>
                                          <p:spTgt spid="1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2" st="2"/>
                                            </p:txEl>
                                          </p:spTgt>
                                        </p:tgtEl>
                                        <p:attrNameLst>
                                          <p:attrName>style.visibility</p:attrName>
                                        </p:attrNameLst>
                                      </p:cBhvr>
                                      <p:to>
                                        <p:strVal val="visible"/>
                                      </p:to>
                                    </p:set>
                                    <p:animEffect filter="fade" transition="in">
                                      <p:cBhvr>
                                        <p:cTn dur="1000"/>
                                        <p:tgtEl>
                                          <p:spTgt spid="1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3" st="3"/>
                                            </p:txEl>
                                          </p:spTgt>
                                        </p:tgtEl>
                                        <p:attrNameLst>
                                          <p:attrName>style.visibility</p:attrName>
                                        </p:attrNameLst>
                                      </p:cBhvr>
                                      <p:to>
                                        <p:strVal val="visible"/>
                                      </p:to>
                                    </p:set>
                                    <p:animEffect filter="fade" transition="in">
                                      <p:cBhvr>
                                        <p:cTn dur="1000"/>
                                        <p:tgtEl>
                                          <p:spTgt spid="16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4" st="4"/>
                                            </p:txEl>
                                          </p:spTgt>
                                        </p:tgtEl>
                                        <p:attrNameLst>
                                          <p:attrName>style.visibility</p:attrName>
                                        </p:attrNameLst>
                                      </p:cBhvr>
                                      <p:to>
                                        <p:strVal val="visible"/>
                                      </p:to>
                                    </p:set>
                                    <p:animEffect filter="fade" transition="in">
                                      <p:cBhvr>
                                        <p:cTn dur="1000"/>
                                        <p:tgtEl>
                                          <p:spTgt spid="16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5" st="5"/>
                                            </p:txEl>
                                          </p:spTgt>
                                        </p:tgtEl>
                                        <p:attrNameLst>
                                          <p:attrName>style.visibility</p:attrName>
                                        </p:attrNameLst>
                                      </p:cBhvr>
                                      <p:to>
                                        <p:strVal val="visible"/>
                                      </p:to>
                                    </p:set>
                                    <p:animEffect filter="fade" transition="in">
                                      <p:cBhvr>
                                        <p:cTn dur="1000"/>
                                        <p:tgtEl>
                                          <p:spTgt spid="16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6" st="6"/>
                                            </p:txEl>
                                          </p:spTgt>
                                        </p:tgtEl>
                                        <p:attrNameLst>
                                          <p:attrName>style.visibility</p:attrName>
                                        </p:attrNameLst>
                                      </p:cBhvr>
                                      <p:to>
                                        <p:strVal val="visible"/>
                                      </p:to>
                                    </p:set>
                                    <p:animEffect filter="fade" transition="in">
                                      <p:cBhvr>
                                        <p:cTn dur="1000"/>
                                        <p:tgtEl>
                                          <p:spTgt spid="16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13a7215635f_0_43"/>
          <p:cNvSpPr txBox="1"/>
          <p:nvPr>
            <p:ph idx="1" type="body"/>
          </p:nvPr>
        </p:nvSpPr>
        <p:spPr>
          <a:xfrm>
            <a:off x="722375" y="1435600"/>
            <a:ext cx="8520600" cy="3405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800"/>
              <a:buFont typeface="Arial"/>
              <a:buNone/>
            </a:pPr>
            <a:r>
              <a:rPr lang="en-US" sz="1600">
                <a:solidFill>
                  <a:schemeClr val="dk1"/>
                </a:solidFill>
                <a:latin typeface="Roboto"/>
                <a:ea typeface="Roboto"/>
                <a:cs typeface="Roboto"/>
                <a:sym typeface="Roboto"/>
              </a:rPr>
              <a:t>Rs.15000 were invested by Ram and Shyam together to start a small business. They got a profit of Rs.2000 at the end of the year. Shyam took his profit share of Rs.600. How much did Ram Invest?</a:t>
            </a:r>
            <a:endParaRPr sz="1600">
              <a:solidFill>
                <a:schemeClr val="dk1"/>
              </a:solidFill>
              <a:latin typeface="Roboto"/>
              <a:ea typeface="Roboto"/>
              <a:cs typeface="Roboto"/>
              <a:sym typeface="Roboto"/>
            </a:endParaRPr>
          </a:p>
          <a:p>
            <a:pPr indent="-330200" lvl="0" marL="457200" rtl="0" algn="l">
              <a:lnSpc>
                <a:spcPct val="150000"/>
              </a:lnSpc>
              <a:spcBef>
                <a:spcPts val="1600"/>
              </a:spcBef>
              <a:spcAft>
                <a:spcPts val="0"/>
              </a:spcAft>
              <a:buClr>
                <a:schemeClr val="dk1"/>
              </a:buClr>
              <a:buSzPts val="1600"/>
              <a:buFont typeface="Roboto"/>
              <a:buAutoNum type="alphaUcPeriod"/>
            </a:pPr>
            <a:r>
              <a:rPr lang="en-US" sz="1600">
                <a:solidFill>
                  <a:schemeClr val="dk1"/>
                </a:solidFill>
                <a:latin typeface="Roboto"/>
                <a:ea typeface="Roboto"/>
                <a:cs typeface="Roboto"/>
                <a:sym typeface="Roboto"/>
              </a:rPr>
              <a:t>Rs.20,000</a:t>
            </a:r>
            <a:endParaRPr sz="1600">
              <a:solidFill>
                <a:schemeClr val="dk1"/>
              </a:solidFill>
              <a:latin typeface="Roboto"/>
              <a:ea typeface="Roboto"/>
              <a:cs typeface="Roboto"/>
              <a:sym typeface="Roboto"/>
            </a:endParaRPr>
          </a:p>
          <a:p>
            <a:pPr indent="-330200" lvl="0" marL="457200" rtl="0" algn="l">
              <a:lnSpc>
                <a:spcPct val="150000"/>
              </a:lnSpc>
              <a:spcBef>
                <a:spcPts val="0"/>
              </a:spcBef>
              <a:spcAft>
                <a:spcPts val="0"/>
              </a:spcAft>
              <a:buClr>
                <a:schemeClr val="dk1"/>
              </a:buClr>
              <a:buSzPts val="1600"/>
              <a:buFont typeface="Roboto"/>
              <a:buAutoNum type="alphaUcPeriod"/>
            </a:pPr>
            <a:r>
              <a:rPr lang="en-US" sz="1600">
                <a:solidFill>
                  <a:schemeClr val="dk1"/>
                </a:solidFill>
                <a:latin typeface="Roboto"/>
                <a:ea typeface="Roboto"/>
                <a:cs typeface="Roboto"/>
                <a:sym typeface="Roboto"/>
              </a:rPr>
              <a:t>Rs.10,000</a:t>
            </a:r>
            <a:endParaRPr sz="1600">
              <a:solidFill>
                <a:schemeClr val="dk1"/>
              </a:solidFill>
              <a:latin typeface="Roboto"/>
              <a:ea typeface="Roboto"/>
              <a:cs typeface="Roboto"/>
              <a:sym typeface="Roboto"/>
            </a:endParaRPr>
          </a:p>
          <a:p>
            <a:pPr indent="-330200" lvl="0" marL="457200" rtl="0" algn="l">
              <a:lnSpc>
                <a:spcPct val="150000"/>
              </a:lnSpc>
              <a:spcBef>
                <a:spcPts val="0"/>
              </a:spcBef>
              <a:spcAft>
                <a:spcPts val="0"/>
              </a:spcAft>
              <a:buClr>
                <a:schemeClr val="dk1"/>
              </a:buClr>
              <a:buSzPts val="1600"/>
              <a:buFont typeface="Roboto"/>
              <a:buAutoNum type="alphaUcPeriod"/>
            </a:pPr>
            <a:r>
              <a:rPr lang="en-US" sz="1600">
                <a:solidFill>
                  <a:schemeClr val="dk1"/>
                </a:solidFill>
                <a:latin typeface="Roboto"/>
                <a:ea typeface="Roboto"/>
                <a:cs typeface="Roboto"/>
                <a:sym typeface="Roboto"/>
              </a:rPr>
              <a:t>Rs.10,500</a:t>
            </a:r>
            <a:endParaRPr sz="1600">
              <a:solidFill>
                <a:schemeClr val="dk1"/>
              </a:solidFill>
              <a:latin typeface="Roboto"/>
              <a:ea typeface="Roboto"/>
              <a:cs typeface="Roboto"/>
              <a:sym typeface="Roboto"/>
            </a:endParaRPr>
          </a:p>
          <a:p>
            <a:pPr indent="-330200" lvl="0" marL="457200" rtl="0" algn="l">
              <a:lnSpc>
                <a:spcPct val="150000"/>
              </a:lnSpc>
              <a:spcBef>
                <a:spcPts val="0"/>
              </a:spcBef>
              <a:spcAft>
                <a:spcPts val="0"/>
              </a:spcAft>
              <a:buClr>
                <a:schemeClr val="dk1"/>
              </a:buClr>
              <a:buSzPts val="1600"/>
              <a:buFont typeface="Roboto"/>
              <a:buAutoNum type="alphaUcPeriod"/>
            </a:pPr>
            <a:r>
              <a:rPr lang="en-US" sz="1600">
                <a:solidFill>
                  <a:schemeClr val="dk1"/>
                </a:solidFill>
                <a:latin typeface="Roboto"/>
                <a:ea typeface="Roboto"/>
                <a:cs typeface="Roboto"/>
                <a:sym typeface="Roboto"/>
              </a:rPr>
              <a:t>Rs.25,000</a:t>
            </a:r>
            <a:endParaRPr sz="1600">
              <a:solidFill>
                <a:schemeClr val="dk1"/>
              </a:solidFill>
              <a:latin typeface="Roboto"/>
              <a:ea typeface="Roboto"/>
              <a:cs typeface="Roboto"/>
              <a:sym typeface="Roboto"/>
            </a:endParaRPr>
          </a:p>
          <a:p>
            <a:pPr indent="0" lvl="0" marL="0" rtl="0" algn="l">
              <a:lnSpc>
                <a:spcPct val="150000"/>
              </a:lnSpc>
              <a:spcBef>
                <a:spcPts val="0"/>
              </a:spcBef>
              <a:spcAft>
                <a:spcPts val="0"/>
              </a:spcAft>
              <a:buSzPts val="1800"/>
              <a:buNone/>
            </a:pPr>
            <a:r>
              <a:t/>
            </a:r>
            <a:endParaRPr sz="1600">
              <a:solidFill>
                <a:schemeClr val="dk1"/>
              </a:solidFill>
              <a:latin typeface="Roboto"/>
              <a:ea typeface="Roboto"/>
              <a:cs typeface="Roboto"/>
              <a:sym typeface="Roboto"/>
            </a:endParaRPr>
          </a:p>
        </p:txBody>
      </p:sp>
      <p:sp>
        <p:nvSpPr>
          <p:cNvPr id="171" name="Google Shape;171;g13a7215635f_0_43"/>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Question: 08</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0" st="0"/>
                                            </p:txEl>
                                          </p:spTgt>
                                        </p:tgtEl>
                                        <p:attrNameLst>
                                          <p:attrName>style.visibility</p:attrName>
                                        </p:attrNameLst>
                                      </p:cBhvr>
                                      <p:to>
                                        <p:strVal val="visible"/>
                                      </p:to>
                                    </p:set>
                                    <p:animEffect filter="fade" transition="in">
                                      <p:cBhvr>
                                        <p:cTn dur="1000"/>
                                        <p:tgtEl>
                                          <p:spTgt spid="1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1" st="1"/>
                                            </p:txEl>
                                          </p:spTgt>
                                        </p:tgtEl>
                                        <p:attrNameLst>
                                          <p:attrName>style.visibility</p:attrName>
                                        </p:attrNameLst>
                                      </p:cBhvr>
                                      <p:to>
                                        <p:strVal val="visible"/>
                                      </p:to>
                                    </p:set>
                                    <p:animEffect filter="fade" transition="in">
                                      <p:cBhvr>
                                        <p:cTn dur="1000"/>
                                        <p:tgtEl>
                                          <p:spTgt spid="17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2" st="2"/>
                                            </p:txEl>
                                          </p:spTgt>
                                        </p:tgtEl>
                                        <p:attrNameLst>
                                          <p:attrName>style.visibility</p:attrName>
                                        </p:attrNameLst>
                                      </p:cBhvr>
                                      <p:to>
                                        <p:strVal val="visible"/>
                                      </p:to>
                                    </p:set>
                                    <p:animEffect filter="fade" transition="in">
                                      <p:cBhvr>
                                        <p:cTn dur="1000"/>
                                        <p:tgtEl>
                                          <p:spTgt spid="17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3" st="3"/>
                                            </p:txEl>
                                          </p:spTgt>
                                        </p:tgtEl>
                                        <p:attrNameLst>
                                          <p:attrName>style.visibility</p:attrName>
                                        </p:attrNameLst>
                                      </p:cBhvr>
                                      <p:to>
                                        <p:strVal val="visible"/>
                                      </p:to>
                                    </p:set>
                                    <p:animEffect filter="fade" transition="in">
                                      <p:cBhvr>
                                        <p:cTn dur="1000"/>
                                        <p:tgtEl>
                                          <p:spTgt spid="17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4" st="4"/>
                                            </p:txEl>
                                          </p:spTgt>
                                        </p:tgtEl>
                                        <p:attrNameLst>
                                          <p:attrName>style.visibility</p:attrName>
                                        </p:attrNameLst>
                                      </p:cBhvr>
                                      <p:to>
                                        <p:strVal val="visible"/>
                                      </p:to>
                                    </p:set>
                                    <p:animEffect filter="fade" transition="in">
                                      <p:cBhvr>
                                        <p:cTn dur="1000"/>
                                        <p:tgtEl>
                                          <p:spTgt spid="17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5" st="5"/>
                                            </p:txEl>
                                          </p:spTgt>
                                        </p:tgtEl>
                                        <p:attrNameLst>
                                          <p:attrName>style.visibility</p:attrName>
                                        </p:attrNameLst>
                                      </p:cBhvr>
                                      <p:to>
                                        <p:strVal val="visible"/>
                                      </p:to>
                                    </p:set>
                                    <p:animEffect filter="fade" transition="in">
                                      <p:cBhvr>
                                        <p:cTn dur="1000"/>
                                        <p:tgtEl>
                                          <p:spTgt spid="17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5" name="Shape 175"/>
        <p:cNvGrpSpPr/>
        <p:nvPr/>
      </p:nvGrpSpPr>
      <p:grpSpPr>
        <a:xfrm>
          <a:off x="0" y="0"/>
          <a:ext cx="0" cy="0"/>
          <a:chOff x="0" y="0"/>
          <a:chExt cx="0" cy="0"/>
        </a:xfrm>
      </p:grpSpPr>
      <p:sp>
        <p:nvSpPr>
          <p:cNvPr id="176" name="Google Shape;176;g13a7215635f_0_50"/>
          <p:cNvSpPr txBox="1"/>
          <p:nvPr>
            <p:ph idx="1" type="body"/>
          </p:nvPr>
        </p:nvSpPr>
        <p:spPr>
          <a:xfrm>
            <a:off x="311700" y="1435600"/>
            <a:ext cx="8520600" cy="312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800"/>
              <a:buFont typeface="Arial"/>
              <a:buNone/>
            </a:pPr>
            <a:r>
              <a:rPr lang="en-US" sz="1400">
                <a:latin typeface="Roboto"/>
                <a:ea typeface="Roboto"/>
                <a:cs typeface="Roboto"/>
                <a:sym typeface="Roboto"/>
              </a:rPr>
              <a:t>		</a:t>
            </a:r>
            <a:r>
              <a:rPr lang="en-US" sz="1400">
                <a:solidFill>
                  <a:schemeClr val="dk1"/>
                </a:solidFill>
                <a:latin typeface="Roboto"/>
                <a:ea typeface="Roboto"/>
                <a:cs typeface="Roboto"/>
                <a:sym typeface="Roboto"/>
              </a:rPr>
              <a:t>	Ram         :     shyam</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R * 12                :      S * 12 </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R : S  =1400 :  600</a:t>
            </a:r>
            <a:endParaRPr sz="1400">
              <a:solidFill>
                <a:schemeClr val="dk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R : S  = 14 : 6</a:t>
            </a:r>
            <a:endParaRPr sz="1400">
              <a:solidFill>
                <a:schemeClr val="dk1"/>
              </a:solidFill>
              <a:latin typeface="Roboto"/>
              <a:ea typeface="Roboto"/>
              <a:cs typeface="Roboto"/>
              <a:sym typeface="Roboto"/>
            </a:endParaRPr>
          </a:p>
          <a:p>
            <a:pPr indent="457200" lvl="0" marL="45720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R = 14/14+6 * Total Investment = 14/20*1500</a:t>
            </a:r>
            <a:endParaRPr sz="1400">
              <a:solidFill>
                <a:schemeClr val="dk1"/>
              </a:solidFill>
              <a:latin typeface="Roboto"/>
              <a:ea typeface="Roboto"/>
              <a:cs typeface="Roboto"/>
              <a:sym typeface="Roboto"/>
            </a:endParaRPr>
          </a:p>
          <a:p>
            <a:pPr indent="457200" lvl="0" marL="3657600" rtl="0" algn="l">
              <a:lnSpc>
                <a:spcPct val="115000"/>
              </a:lnSpc>
              <a:spcBef>
                <a:spcPts val="1600"/>
              </a:spcBef>
              <a:spcAft>
                <a:spcPts val="0"/>
              </a:spcAft>
              <a:buClr>
                <a:schemeClr val="dk1"/>
              </a:buClr>
              <a:buSzPts val="1800"/>
              <a:buFont typeface="Arial"/>
              <a:buNone/>
            </a:pPr>
            <a:r>
              <a:rPr lang="en-US" sz="1400">
                <a:solidFill>
                  <a:schemeClr val="dk1"/>
                </a:solidFill>
                <a:latin typeface="Roboto"/>
                <a:ea typeface="Roboto"/>
                <a:cs typeface="Roboto"/>
                <a:sym typeface="Roboto"/>
              </a:rPr>
              <a:t> = 10500 Rs</a:t>
            </a:r>
            <a:r>
              <a:rPr lang="en-US" sz="1400">
                <a:latin typeface="Roboto"/>
                <a:ea typeface="Roboto"/>
                <a:cs typeface="Roboto"/>
                <a:sym typeface="Roboto"/>
              </a:rPr>
              <a:t> </a:t>
            </a:r>
            <a:endParaRPr sz="1400">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t/>
            </a:r>
            <a:endParaRPr sz="1400">
              <a:latin typeface="Roboto"/>
              <a:ea typeface="Roboto"/>
              <a:cs typeface="Roboto"/>
              <a:sym typeface="Roboto"/>
            </a:endParaRPr>
          </a:p>
          <a:p>
            <a:pPr indent="0" lvl="0" marL="0" rtl="0" algn="l">
              <a:lnSpc>
                <a:spcPct val="115000"/>
              </a:lnSpc>
              <a:spcBef>
                <a:spcPts val="1600"/>
              </a:spcBef>
              <a:spcAft>
                <a:spcPts val="0"/>
              </a:spcAft>
              <a:buSzPts val="1100"/>
              <a:buNone/>
            </a:pPr>
            <a:r>
              <a:t/>
            </a:r>
            <a:endParaRPr sz="1400">
              <a:solidFill>
                <a:schemeClr val="dk1"/>
              </a:solidFill>
              <a:latin typeface="Roboto"/>
              <a:ea typeface="Roboto"/>
              <a:cs typeface="Roboto"/>
              <a:sym typeface="Roboto"/>
            </a:endParaRPr>
          </a:p>
        </p:txBody>
      </p:sp>
      <p:sp>
        <p:nvSpPr>
          <p:cNvPr id="177" name="Google Shape;177;g13a7215635f_0_50"/>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Explanation: 08</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xEl>
                                              <p:pRg end="0" st="0"/>
                                            </p:txEl>
                                          </p:spTgt>
                                        </p:tgtEl>
                                        <p:attrNameLst>
                                          <p:attrName>style.visibility</p:attrName>
                                        </p:attrNameLst>
                                      </p:cBhvr>
                                      <p:to>
                                        <p:strVal val="visible"/>
                                      </p:to>
                                    </p:set>
                                    <p:animEffect filter="fade" transition="in">
                                      <p:cBhvr>
                                        <p:cTn dur="1000"/>
                                        <p:tgtEl>
                                          <p:spTgt spid="17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xEl>
                                              <p:pRg end="1" st="1"/>
                                            </p:txEl>
                                          </p:spTgt>
                                        </p:tgtEl>
                                        <p:attrNameLst>
                                          <p:attrName>style.visibility</p:attrName>
                                        </p:attrNameLst>
                                      </p:cBhvr>
                                      <p:to>
                                        <p:strVal val="visible"/>
                                      </p:to>
                                    </p:set>
                                    <p:animEffect filter="fade" transition="in">
                                      <p:cBhvr>
                                        <p:cTn dur="1000"/>
                                        <p:tgtEl>
                                          <p:spTgt spid="17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xEl>
                                              <p:pRg end="2" st="2"/>
                                            </p:txEl>
                                          </p:spTgt>
                                        </p:tgtEl>
                                        <p:attrNameLst>
                                          <p:attrName>style.visibility</p:attrName>
                                        </p:attrNameLst>
                                      </p:cBhvr>
                                      <p:to>
                                        <p:strVal val="visible"/>
                                      </p:to>
                                    </p:set>
                                    <p:animEffect filter="fade" transition="in">
                                      <p:cBhvr>
                                        <p:cTn dur="1000"/>
                                        <p:tgtEl>
                                          <p:spTgt spid="17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xEl>
                                              <p:pRg end="3" st="3"/>
                                            </p:txEl>
                                          </p:spTgt>
                                        </p:tgtEl>
                                        <p:attrNameLst>
                                          <p:attrName>style.visibility</p:attrName>
                                        </p:attrNameLst>
                                      </p:cBhvr>
                                      <p:to>
                                        <p:strVal val="visible"/>
                                      </p:to>
                                    </p:set>
                                    <p:animEffect filter="fade" transition="in">
                                      <p:cBhvr>
                                        <p:cTn dur="1000"/>
                                        <p:tgtEl>
                                          <p:spTgt spid="17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xEl>
                                              <p:pRg end="4" st="4"/>
                                            </p:txEl>
                                          </p:spTgt>
                                        </p:tgtEl>
                                        <p:attrNameLst>
                                          <p:attrName>style.visibility</p:attrName>
                                        </p:attrNameLst>
                                      </p:cBhvr>
                                      <p:to>
                                        <p:strVal val="visible"/>
                                      </p:to>
                                    </p:set>
                                    <p:animEffect filter="fade" transition="in">
                                      <p:cBhvr>
                                        <p:cTn dur="1000"/>
                                        <p:tgtEl>
                                          <p:spTgt spid="17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xEl>
                                              <p:pRg end="5" st="5"/>
                                            </p:txEl>
                                          </p:spTgt>
                                        </p:tgtEl>
                                        <p:attrNameLst>
                                          <p:attrName>style.visibility</p:attrName>
                                        </p:attrNameLst>
                                      </p:cBhvr>
                                      <p:to>
                                        <p:strVal val="visible"/>
                                      </p:to>
                                    </p:set>
                                    <p:animEffect filter="fade" transition="in">
                                      <p:cBhvr>
                                        <p:cTn dur="1000"/>
                                        <p:tgtEl>
                                          <p:spTgt spid="17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xEl>
                                              <p:pRg end="6" st="6"/>
                                            </p:txEl>
                                          </p:spTgt>
                                        </p:tgtEl>
                                        <p:attrNameLst>
                                          <p:attrName>style.visibility</p:attrName>
                                        </p:attrNameLst>
                                      </p:cBhvr>
                                      <p:to>
                                        <p:strVal val="visible"/>
                                      </p:to>
                                    </p:set>
                                    <p:animEffect filter="fade" transition="in">
                                      <p:cBhvr>
                                        <p:cTn dur="1000"/>
                                        <p:tgtEl>
                                          <p:spTgt spid="17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xEl>
                                              <p:pRg end="7" st="7"/>
                                            </p:txEl>
                                          </p:spTgt>
                                        </p:tgtEl>
                                        <p:attrNameLst>
                                          <p:attrName>style.visibility</p:attrName>
                                        </p:attrNameLst>
                                      </p:cBhvr>
                                      <p:to>
                                        <p:strVal val="visible"/>
                                      </p:to>
                                    </p:set>
                                    <p:animEffect filter="fade" transition="in">
                                      <p:cBhvr>
                                        <p:cTn dur="1000"/>
                                        <p:tgtEl>
                                          <p:spTgt spid="176">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6"/>
          <p:cNvSpPr txBox="1"/>
          <p:nvPr/>
        </p:nvSpPr>
        <p:spPr>
          <a:xfrm>
            <a:off x="0" y="213069"/>
            <a:ext cx="3123675" cy="400110"/>
          </a:xfrm>
          <a:prstGeom prst="rect">
            <a:avLst/>
          </a:prstGeom>
          <a:noFill/>
          <a:ln>
            <a:noFill/>
          </a:ln>
        </p:spPr>
        <p:txBody>
          <a:bodyPr anchorCtr="0" anchor="t" bIns="45700" lIns="91425" spcFirstLastPara="1" rIns="91425" wrap="square" tIns="45700">
            <a:spAutoFit/>
          </a:bodyPr>
          <a:lstStyle/>
          <a:p>
            <a:pPr indent="29083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Question: 02</a:t>
            </a:r>
            <a:endParaRPr b="1" i="0" sz="2000" u="none" cap="none" strike="noStrike">
              <a:solidFill>
                <a:srgbClr val="FFFFFF"/>
              </a:solidFill>
              <a:latin typeface="Arial"/>
              <a:ea typeface="Arial"/>
              <a:cs typeface="Arial"/>
              <a:sym typeface="Arial"/>
            </a:endParaRPr>
          </a:p>
        </p:txBody>
      </p:sp>
      <p:sp>
        <p:nvSpPr>
          <p:cNvPr id="183" name="Google Shape;183;p6"/>
          <p:cNvSpPr txBox="1"/>
          <p:nvPr/>
        </p:nvSpPr>
        <p:spPr>
          <a:xfrm>
            <a:off x="722375" y="1435600"/>
            <a:ext cx="7891800" cy="3129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i="0" lang="en-US" sz="1600" u="none" cap="none" strike="noStrike">
                <a:solidFill>
                  <a:schemeClr val="dk1"/>
                </a:solidFill>
                <a:latin typeface="Roboto"/>
                <a:ea typeface="Roboto"/>
                <a:cs typeface="Roboto"/>
                <a:sym typeface="Roboto"/>
              </a:rPr>
              <a:t>Arun started a business investing Rs.45,000 after 8 months vani joined him with a capital of Rs.52,000 at the end of two year,  the total profit was Rs.56165. What is the share of the profit of vani?</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1600"/>
              </a:spcBef>
              <a:spcAft>
                <a:spcPts val="0"/>
              </a:spcAft>
              <a:buClr>
                <a:schemeClr val="dk1"/>
              </a:buClr>
              <a:buSzPts val="1600"/>
              <a:buFont typeface="Roboto"/>
              <a:buAutoNum type="alphaUcPeriod"/>
            </a:pPr>
            <a:r>
              <a:rPr i="0" lang="en-US" sz="1600" u="none" cap="none" strike="noStrike">
                <a:solidFill>
                  <a:schemeClr val="dk1"/>
                </a:solidFill>
                <a:latin typeface="Roboto"/>
                <a:ea typeface="Roboto"/>
                <a:cs typeface="Roboto"/>
                <a:sym typeface="Roboto"/>
              </a:rPr>
              <a:t>21450</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US" sz="1600" u="none" cap="none" strike="noStrike">
                <a:solidFill>
                  <a:schemeClr val="dk1"/>
                </a:solidFill>
                <a:latin typeface="Roboto"/>
                <a:ea typeface="Roboto"/>
                <a:cs typeface="Roboto"/>
                <a:sym typeface="Roboto"/>
              </a:rPr>
              <a:t>24440</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US" sz="1600" u="none" cap="none" strike="noStrike">
                <a:solidFill>
                  <a:schemeClr val="dk1"/>
                </a:solidFill>
                <a:latin typeface="Roboto"/>
                <a:ea typeface="Roboto"/>
                <a:cs typeface="Roboto"/>
                <a:sym typeface="Roboto"/>
              </a:rPr>
              <a:t>27635</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US" sz="1600" u="none" cap="none" strike="noStrike">
                <a:solidFill>
                  <a:schemeClr val="dk1"/>
                </a:solidFill>
                <a:latin typeface="Roboto"/>
                <a:ea typeface="Roboto"/>
                <a:cs typeface="Roboto"/>
                <a:sym typeface="Roboto"/>
              </a:rPr>
              <a:t>317650</a:t>
            </a:r>
            <a:endParaRPr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800"/>
              <a:buFont typeface="Arial"/>
              <a:buNone/>
            </a:pPr>
            <a:r>
              <a:t/>
            </a:r>
            <a:endParaRPr i="0" sz="1600" u="none" cap="none" strike="noStrike">
              <a:solidFill>
                <a:schemeClr val="dk1"/>
              </a:solidFill>
              <a:latin typeface="Roboto"/>
              <a:ea typeface="Roboto"/>
              <a:cs typeface="Roboto"/>
              <a:sym typeface="Roboto"/>
            </a:endParaRPr>
          </a:p>
        </p:txBody>
      </p:sp>
      <p:sp>
        <p:nvSpPr>
          <p:cNvPr id="184" name="Google Shape;184;p6"/>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Question: 09</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0" st="0"/>
                                            </p:txEl>
                                          </p:spTgt>
                                        </p:tgtEl>
                                        <p:attrNameLst>
                                          <p:attrName>style.visibility</p:attrName>
                                        </p:attrNameLst>
                                      </p:cBhvr>
                                      <p:to>
                                        <p:strVal val="visible"/>
                                      </p:to>
                                    </p:set>
                                    <p:anim calcmode="lin" valueType="num">
                                      <p:cBhvr additive="base">
                                        <p:cTn dur="500"/>
                                        <p:tgtEl>
                                          <p:spTgt spid="18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1" st="1"/>
                                            </p:txEl>
                                          </p:spTgt>
                                        </p:tgtEl>
                                        <p:attrNameLst>
                                          <p:attrName>style.visibility</p:attrName>
                                        </p:attrNameLst>
                                      </p:cBhvr>
                                      <p:to>
                                        <p:strVal val="visible"/>
                                      </p:to>
                                    </p:set>
                                    <p:anim calcmode="lin" valueType="num">
                                      <p:cBhvr additive="base">
                                        <p:cTn dur="500"/>
                                        <p:tgtEl>
                                          <p:spTgt spid="18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2" st="2"/>
                                            </p:txEl>
                                          </p:spTgt>
                                        </p:tgtEl>
                                        <p:attrNameLst>
                                          <p:attrName>style.visibility</p:attrName>
                                        </p:attrNameLst>
                                      </p:cBhvr>
                                      <p:to>
                                        <p:strVal val="visible"/>
                                      </p:to>
                                    </p:set>
                                    <p:anim calcmode="lin" valueType="num">
                                      <p:cBhvr additive="base">
                                        <p:cTn dur="500"/>
                                        <p:tgtEl>
                                          <p:spTgt spid="18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3" st="3"/>
                                            </p:txEl>
                                          </p:spTgt>
                                        </p:tgtEl>
                                        <p:attrNameLst>
                                          <p:attrName>style.visibility</p:attrName>
                                        </p:attrNameLst>
                                      </p:cBhvr>
                                      <p:to>
                                        <p:strVal val="visible"/>
                                      </p:to>
                                    </p:set>
                                    <p:anim calcmode="lin" valueType="num">
                                      <p:cBhvr additive="base">
                                        <p:cTn dur="500"/>
                                        <p:tgtEl>
                                          <p:spTgt spid="18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4" st="4"/>
                                            </p:txEl>
                                          </p:spTgt>
                                        </p:tgtEl>
                                        <p:attrNameLst>
                                          <p:attrName>style.visibility</p:attrName>
                                        </p:attrNameLst>
                                      </p:cBhvr>
                                      <p:to>
                                        <p:strVal val="visible"/>
                                      </p:to>
                                    </p:set>
                                    <p:anim calcmode="lin" valueType="num">
                                      <p:cBhvr additive="base">
                                        <p:cTn dur="500"/>
                                        <p:tgtEl>
                                          <p:spTgt spid="18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5" st="5"/>
                                            </p:txEl>
                                          </p:spTgt>
                                        </p:tgtEl>
                                        <p:attrNameLst>
                                          <p:attrName>style.visibility</p:attrName>
                                        </p:attrNameLst>
                                      </p:cBhvr>
                                      <p:to>
                                        <p:strVal val="visible"/>
                                      </p:to>
                                    </p:set>
                                    <p:anim calcmode="lin" valueType="num">
                                      <p:cBhvr additive="base">
                                        <p:cTn dur="500"/>
                                        <p:tgtEl>
                                          <p:spTgt spid="18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8" name="Shape 188"/>
        <p:cNvGrpSpPr/>
        <p:nvPr/>
      </p:nvGrpSpPr>
      <p:grpSpPr>
        <a:xfrm>
          <a:off x="0" y="0"/>
          <a:ext cx="0" cy="0"/>
          <a:chOff x="0" y="0"/>
          <a:chExt cx="0" cy="0"/>
        </a:xfrm>
      </p:grpSpPr>
      <p:sp>
        <p:nvSpPr>
          <p:cNvPr id="189" name="Google Shape;189;p7"/>
          <p:cNvSpPr txBox="1"/>
          <p:nvPr/>
        </p:nvSpPr>
        <p:spPr>
          <a:xfrm>
            <a:off x="0" y="188686"/>
            <a:ext cx="3123675" cy="477054"/>
          </a:xfrm>
          <a:prstGeom prst="rect">
            <a:avLst/>
          </a:prstGeom>
          <a:noFill/>
          <a:ln>
            <a:noFill/>
          </a:ln>
        </p:spPr>
        <p:txBody>
          <a:bodyPr anchorCtr="0" anchor="t" bIns="45700" lIns="91425" spcFirstLastPara="1" rIns="91425" wrap="square" tIns="45700">
            <a:spAutoFit/>
          </a:bodyPr>
          <a:lstStyle/>
          <a:p>
            <a:pPr indent="0" lvl="0" marL="231775"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Explanation</a:t>
            </a:r>
            <a:r>
              <a:rPr b="1" i="0" lang="en-US" sz="2500" u="none" cap="none" strike="noStrike">
                <a:solidFill>
                  <a:srgbClr val="FFFFFF"/>
                </a:solidFill>
                <a:latin typeface="Arial"/>
                <a:ea typeface="Arial"/>
                <a:cs typeface="Arial"/>
                <a:sym typeface="Arial"/>
              </a:rPr>
              <a:t>:</a:t>
            </a:r>
            <a:endParaRPr b="1" i="0" sz="2500" u="none" cap="none" strike="noStrike">
              <a:solidFill>
                <a:srgbClr val="FFFFFF"/>
              </a:solidFill>
              <a:latin typeface="Arial"/>
              <a:ea typeface="Arial"/>
              <a:cs typeface="Arial"/>
              <a:sym typeface="Arial"/>
            </a:endParaRPr>
          </a:p>
        </p:txBody>
      </p:sp>
      <p:sp>
        <p:nvSpPr>
          <p:cNvPr id="190" name="Google Shape;190;p7"/>
          <p:cNvSpPr txBox="1"/>
          <p:nvPr/>
        </p:nvSpPr>
        <p:spPr>
          <a:xfrm>
            <a:off x="722375" y="1435599"/>
            <a:ext cx="8472600" cy="30969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800"/>
              <a:buFont typeface="Arial"/>
              <a:buNone/>
            </a:pPr>
            <a:r>
              <a:rPr b="0" i="0" lang="en-US" sz="1800" u="none" cap="none" strike="noStrike">
                <a:solidFill>
                  <a:schemeClr val="dk2"/>
                </a:solidFill>
                <a:latin typeface="Arial"/>
                <a:ea typeface="Arial"/>
                <a:cs typeface="Arial"/>
                <a:sym typeface="Arial"/>
              </a:rPr>
              <a:t>	</a:t>
            </a:r>
            <a:r>
              <a:rPr b="0" i="0" lang="en-US" sz="1400" u="none" cap="none" strike="noStrike">
                <a:solidFill>
                  <a:schemeClr val="dk2"/>
                </a:solidFill>
                <a:latin typeface="Roboto"/>
                <a:ea typeface="Roboto"/>
                <a:cs typeface="Roboto"/>
                <a:sym typeface="Roboto"/>
              </a:rPr>
              <a:t>	</a:t>
            </a:r>
            <a:r>
              <a:rPr b="0" i="0" lang="en-US" sz="1400" u="none" cap="none" strike="noStrike">
                <a:solidFill>
                  <a:schemeClr val="dk1"/>
                </a:solidFill>
                <a:latin typeface="Roboto"/>
                <a:ea typeface="Roboto"/>
                <a:cs typeface="Roboto"/>
                <a:sym typeface="Roboto"/>
              </a:rPr>
              <a:t>	Arun	   :	Vani</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600"/>
              </a:spcBef>
              <a:spcAft>
                <a:spcPts val="0"/>
              </a:spcAft>
              <a:buClr>
                <a:schemeClr val="dk1"/>
              </a:buClr>
              <a:buSzPts val="1800"/>
              <a:buFont typeface="Arial"/>
              <a:buNone/>
            </a:pPr>
            <a:r>
              <a:rPr b="0" i="0" lang="en-US" sz="1400" u="none" cap="none" strike="noStrike">
                <a:solidFill>
                  <a:schemeClr val="dk1"/>
                </a:solidFill>
                <a:latin typeface="Roboto"/>
                <a:ea typeface="Roboto"/>
                <a:cs typeface="Roboto"/>
                <a:sym typeface="Roboto"/>
              </a:rPr>
              <a:t>		45000*24      :      52000*16</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600"/>
              </a:spcBef>
              <a:spcAft>
                <a:spcPts val="0"/>
              </a:spcAft>
              <a:buClr>
                <a:schemeClr val="dk1"/>
              </a:buClr>
              <a:buSzPts val="1800"/>
              <a:buFont typeface="Arial"/>
              <a:buNone/>
            </a:pPr>
            <a:r>
              <a:rPr b="0" i="0" lang="en-US" sz="1400" u="none" cap="none" strike="noStrike">
                <a:solidFill>
                  <a:schemeClr val="dk1"/>
                </a:solidFill>
                <a:latin typeface="Roboto"/>
                <a:ea typeface="Roboto"/>
                <a:cs typeface="Roboto"/>
                <a:sym typeface="Roboto"/>
              </a:rPr>
              <a:t>                    3                 :       2</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600"/>
              </a:spcBef>
              <a:spcAft>
                <a:spcPts val="0"/>
              </a:spcAft>
              <a:buClr>
                <a:schemeClr val="dk1"/>
              </a:buClr>
              <a:buSzPts val="1800"/>
              <a:buFont typeface="Arial"/>
              <a:buNone/>
            </a:pPr>
            <a:r>
              <a:rPr b="0" i="0" lang="en-US" sz="1400" u="none" cap="none" strike="noStrike">
                <a:solidFill>
                  <a:schemeClr val="dk1"/>
                </a:solidFill>
                <a:latin typeface="Roboto"/>
                <a:ea typeface="Roboto"/>
                <a:cs typeface="Roboto"/>
                <a:sym typeface="Roboto"/>
              </a:rPr>
              <a:t>               45*3                :     52*2  =   135:104</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600"/>
              </a:spcBef>
              <a:spcAft>
                <a:spcPts val="0"/>
              </a:spcAft>
              <a:buClr>
                <a:schemeClr val="dk1"/>
              </a:buClr>
              <a:buSzPts val="1800"/>
              <a:buFont typeface="Arial"/>
              <a:buNone/>
            </a:pPr>
            <a:r>
              <a:rPr b="0" i="0" lang="en-US" sz="1400" u="none" cap="none" strike="noStrike">
                <a:solidFill>
                  <a:schemeClr val="dk1"/>
                </a:solidFill>
                <a:latin typeface="Roboto"/>
                <a:ea typeface="Roboto"/>
                <a:cs typeface="Roboto"/>
                <a:sym typeface="Roboto"/>
              </a:rPr>
              <a:t>  		235*104=24440</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600"/>
              </a:spcBef>
              <a:spcAft>
                <a:spcPts val="0"/>
              </a:spcAft>
              <a:buClr>
                <a:schemeClr val="dk1"/>
              </a:buClr>
              <a:buSzPts val="1800"/>
              <a:buFont typeface="Arial"/>
              <a:buNone/>
            </a:pPr>
            <a:r>
              <a:rPr b="0" i="0" lang="en-US" sz="1400" u="none" cap="none" strike="noStrike">
                <a:solidFill>
                  <a:schemeClr val="dk2"/>
                </a:solidFill>
                <a:latin typeface="Roboto"/>
                <a:ea typeface="Roboto"/>
                <a:cs typeface="Roboto"/>
                <a:sym typeface="Roboto"/>
              </a:rPr>
              <a:t>  </a:t>
            </a:r>
            <a:endParaRPr b="0" i="0" sz="1400" u="none" cap="none" strike="noStrike">
              <a:solidFill>
                <a:schemeClr val="dk2"/>
              </a:solidFill>
              <a:latin typeface="Roboto"/>
              <a:ea typeface="Roboto"/>
              <a:cs typeface="Roboto"/>
              <a:sym typeface="Roboto"/>
            </a:endParaRPr>
          </a:p>
          <a:p>
            <a:pPr indent="0" lvl="0" marL="0" marR="0" rtl="0" algn="l">
              <a:lnSpc>
                <a:spcPct val="100000"/>
              </a:lnSpc>
              <a:spcBef>
                <a:spcPts val="1600"/>
              </a:spcBef>
              <a:spcAft>
                <a:spcPts val="0"/>
              </a:spcAft>
              <a:buClr>
                <a:srgbClr val="000000"/>
              </a:buClr>
              <a:buSzPts val="1800"/>
              <a:buFont typeface="Arial"/>
              <a:buNone/>
            </a:pPr>
            <a:r>
              <a:t/>
            </a:r>
            <a:endParaRPr b="0" i="0" sz="1400" u="none" cap="none" strike="noStrike">
              <a:solidFill>
                <a:schemeClr val="dk1"/>
              </a:solidFill>
              <a:latin typeface="Arial"/>
              <a:ea typeface="Arial"/>
              <a:cs typeface="Arial"/>
              <a:sym typeface="Arial"/>
            </a:endParaRPr>
          </a:p>
        </p:txBody>
      </p:sp>
      <p:sp>
        <p:nvSpPr>
          <p:cNvPr id="191" name="Google Shape;191;p7"/>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Explanation: 09</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0" st="0"/>
                                            </p:txEl>
                                          </p:spTgt>
                                        </p:tgtEl>
                                        <p:attrNameLst>
                                          <p:attrName>style.visibility</p:attrName>
                                        </p:attrNameLst>
                                      </p:cBhvr>
                                      <p:to>
                                        <p:strVal val="visible"/>
                                      </p:to>
                                    </p:set>
                                    <p:animEffect filter="fade" transition="in">
                                      <p:cBhvr>
                                        <p:cTn dur="1000"/>
                                        <p:tgtEl>
                                          <p:spTgt spid="1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1" st="1"/>
                                            </p:txEl>
                                          </p:spTgt>
                                        </p:tgtEl>
                                        <p:attrNameLst>
                                          <p:attrName>style.visibility</p:attrName>
                                        </p:attrNameLst>
                                      </p:cBhvr>
                                      <p:to>
                                        <p:strVal val="visible"/>
                                      </p:to>
                                    </p:set>
                                    <p:animEffect filter="fade" transition="in">
                                      <p:cBhvr>
                                        <p:cTn dur="1000"/>
                                        <p:tgtEl>
                                          <p:spTgt spid="1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2" st="2"/>
                                            </p:txEl>
                                          </p:spTgt>
                                        </p:tgtEl>
                                        <p:attrNameLst>
                                          <p:attrName>style.visibility</p:attrName>
                                        </p:attrNameLst>
                                      </p:cBhvr>
                                      <p:to>
                                        <p:strVal val="visible"/>
                                      </p:to>
                                    </p:set>
                                    <p:animEffect filter="fade" transition="in">
                                      <p:cBhvr>
                                        <p:cTn dur="1000"/>
                                        <p:tgtEl>
                                          <p:spTgt spid="19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3" st="3"/>
                                            </p:txEl>
                                          </p:spTgt>
                                        </p:tgtEl>
                                        <p:attrNameLst>
                                          <p:attrName>style.visibility</p:attrName>
                                        </p:attrNameLst>
                                      </p:cBhvr>
                                      <p:to>
                                        <p:strVal val="visible"/>
                                      </p:to>
                                    </p:set>
                                    <p:animEffect filter="fade" transition="in">
                                      <p:cBhvr>
                                        <p:cTn dur="1000"/>
                                        <p:tgtEl>
                                          <p:spTgt spid="19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4" st="4"/>
                                            </p:txEl>
                                          </p:spTgt>
                                        </p:tgtEl>
                                        <p:attrNameLst>
                                          <p:attrName>style.visibility</p:attrName>
                                        </p:attrNameLst>
                                      </p:cBhvr>
                                      <p:to>
                                        <p:strVal val="visible"/>
                                      </p:to>
                                    </p:set>
                                    <p:animEffect filter="fade" transition="in">
                                      <p:cBhvr>
                                        <p:cTn dur="1000"/>
                                        <p:tgtEl>
                                          <p:spTgt spid="19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5" st="5"/>
                                            </p:txEl>
                                          </p:spTgt>
                                        </p:tgtEl>
                                        <p:attrNameLst>
                                          <p:attrName>style.visibility</p:attrName>
                                        </p:attrNameLst>
                                      </p:cBhvr>
                                      <p:to>
                                        <p:strVal val="visible"/>
                                      </p:to>
                                    </p:set>
                                    <p:animEffect filter="fade" transition="in">
                                      <p:cBhvr>
                                        <p:cTn dur="1000"/>
                                        <p:tgtEl>
                                          <p:spTgt spid="19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6" st="6"/>
                                            </p:txEl>
                                          </p:spTgt>
                                        </p:tgtEl>
                                        <p:attrNameLst>
                                          <p:attrName>style.visibility</p:attrName>
                                        </p:attrNameLst>
                                      </p:cBhvr>
                                      <p:to>
                                        <p:strVal val="visible"/>
                                      </p:to>
                                    </p:set>
                                    <p:animEffect filter="fade" transition="in">
                                      <p:cBhvr>
                                        <p:cTn dur="1000"/>
                                        <p:tgtEl>
                                          <p:spTgt spid="19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8"/>
          <p:cNvSpPr txBox="1"/>
          <p:nvPr/>
        </p:nvSpPr>
        <p:spPr>
          <a:xfrm>
            <a:off x="722375" y="1435600"/>
            <a:ext cx="7644300" cy="2760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i="0" lang="en-US" sz="1600" u="none" cap="none" strike="noStrike">
                <a:solidFill>
                  <a:schemeClr val="dk1"/>
                </a:solidFill>
                <a:latin typeface="Roboto"/>
                <a:ea typeface="Roboto"/>
                <a:cs typeface="Roboto"/>
                <a:sym typeface="Roboto"/>
              </a:rPr>
              <a:t>A,B,C started a business by investing Rs.1,20,000,  Rs.1,35,000 and Rs.1,50,000. Find the share of each, out of annual profit Rs.56,700</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1600"/>
              </a:spcBef>
              <a:spcAft>
                <a:spcPts val="0"/>
              </a:spcAft>
              <a:buClr>
                <a:schemeClr val="dk1"/>
              </a:buClr>
              <a:buSzPts val="1600"/>
              <a:buFont typeface="Roboto"/>
              <a:buAutoNum type="alphaUcPeriod"/>
            </a:pPr>
            <a:r>
              <a:rPr i="0" lang="en-US" sz="1600" u="none" cap="none" strike="noStrike">
                <a:solidFill>
                  <a:schemeClr val="dk1"/>
                </a:solidFill>
                <a:latin typeface="Roboto"/>
                <a:ea typeface="Roboto"/>
                <a:cs typeface="Roboto"/>
                <a:sym typeface="Roboto"/>
              </a:rPr>
              <a:t>16800:18900:21000</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US" sz="1600" u="none" cap="none" strike="noStrike">
                <a:solidFill>
                  <a:schemeClr val="dk1"/>
                </a:solidFill>
                <a:latin typeface="Roboto"/>
                <a:ea typeface="Roboto"/>
                <a:cs typeface="Roboto"/>
                <a:sym typeface="Roboto"/>
              </a:rPr>
              <a:t>17520:19000:22000</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US" sz="1600" u="none" cap="none" strike="noStrike">
                <a:solidFill>
                  <a:schemeClr val="dk1"/>
                </a:solidFill>
                <a:latin typeface="Roboto"/>
                <a:ea typeface="Roboto"/>
                <a:cs typeface="Roboto"/>
                <a:sym typeface="Roboto"/>
              </a:rPr>
              <a:t>17400:21000:18000</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US" sz="1600" u="none" cap="none" strike="noStrike">
                <a:solidFill>
                  <a:schemeClr val="dk1"/>
                </a:solidFill>
                <a:latin typeface="Roboto"/>
                <a:ea typeface="Roboto"/>
                <a:cs typeface="Roboto"/>
                <a:sym typeface="Roboto"/>
              </a:rPr>
              <a:t>18000:15500:24000</a:t>
            </a:r>
            <a:endParaRPr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800"/>
              <a:buFont typeface="Arial"/>
              <a:buNone/>
            </a:pPr>
            <a:r>
              <a:t/>
            </a:r>
            <a:endParaRPr i="0" sz="1600" u="none" cap="none" strike="noStrike">
              <a:solidFill>
                <a:schemeClr val="dk1"/>
              </a:solidFill>
              <a:latin typeface="Roboto"/>
              <a:ea typeface="Roboto"/>
              <a:cs typeface="Roboto"/>
              <a:sym typeface="Roboto"/>
            </a:endParaRPr>
          </a:p>
        </p:txBody>
      </p:sp>
      <p:sp>
        <p:nvSpPr>
          <p:cNvPr id="197" name="Google Shape;197;p8"/>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Question: 10</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xEl>
                                              <p:pRg end="0" st="0"/>
                                            </p:txEl>
                                          </p:spTgt>
                                        </p:tgtEl>
                                        <p:attrNameLst>
                                          <p:attrName>style.visibility</p:attrName>
                                        </p:attrNameLst>
                                      </p:cBhvr>
                                      <p:to>
                                        <p:strVal val="visible"/>
                                      </p:to>
                                    </p:set>
                                    <p:animEffect filter="fade" transition="in">
                                      <p:cBhvr>
                                        <p:cTn dur="1000"/>
                                        <p:tgtEl>
                                          <p:spTgt spid="1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xEl>
                                              <p:pRg end="1" st="1"/>
                                            </p:txEl>
                                          </p:spTgt>
                                        </p:tgtEl>
                                        <p:attrNameLst>
                                          <p:attrName>style.visibility</p:attrName>
                                        </p:attrNameLst>
                                      </p:cBhvr>
                                      <p:to>
                                        <p:strVal val="visible"/>
                                      </p:to>
                                    </p:set>
                                    <p:animEffect filter="fade" transition="in">
                                      <p:cBhvr>
                                        <p:cTn dur="1000"/>
                                        <p:tgtEl>
                                          <p:spTgt spid="19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xEl>
                                              <p:pRg end="2" st="2"/>
                                            </p:txEl>
                                          </p:spTgt>
                                        </p:tgtEl>
                                        <p:attrNameLst>
                                          <p:attrName>style.visibility</p:attrName>
                                        </p:attrNameLst>
                                      </p:cBhvr>
                                      <p:to>
                                        <p:strVal val="visible"/>
                                      </p:to>
                                    </p:set>
                                    <p:animEffect filter="fade" transition="in">
                                      <p:cBhvr>
                                        <p:cTn dur="1000"/>
                                        <p:tgtEl>
                                          <p:spTgt spid="19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xEl>
                                              <p:pRg end="3" st="3"/>
                                            </p:txEl>
                                          </p:spTgt>
                                        </p:tgtEl>
                                        <p:attrNameLst>
                                          <p:attrName>style.visibility</p:attrName>
                                        </p:attrNameLst>
                                      </p:cBhvr>
                                      <p:to>
                                        <p:strVal val="visible"/>
                                      </p:to>
                                    </p:set>
                                    <p:animEffect filter="fade" transition="in">
                                      <p:cBhvr>
                                        <p:cTn dur="1000"/>
                                        <p:tgtEl>
                                          <p:spTgt spid="19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xEl>
                                              <p:pRg end="4" st="4"/>
                                            </p:txEl>
                                          </p:spTgt>
                                        </p:tgtEl>
                                        <p:attrNameLst>
                                          <p:attrName>style.visibility</p:attrName>
                                        </p:attrNameLst>
                                      </p:cBhvr>
                                      <p:to>
                                        <p:strVal val="visible"/>
                                      </p:to>
                                    </p:set>
                                    <p:animEffect filter="fade" transition="in">
                                      <p:cBhvr>
                                        <p:cTn dur="1000"/>
                                        <p:tgtEl>
                                          <p:spTgt spid="19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xEl>
                                              <p:pRg end="5" st="5"/>
                                            </p:txEl>
                                          </p:spTgt>
                                        </p:tgtEl>
                                        <p:attrNameLst>
                                          <p:attrName>style.visibility</p:attrName>
                                        </p:attrNameLst>
                                      </p:cBhvr>
                                      <p:to>
                                        <p:strVal val="visible"/>
                                      </p:to>
                                    </p:set>
                                    <p:animEffect filter="fade" transition="in">
                                      <p:cBhvr>
                                        <p:cTn dur="1000"/>
                                        <p:tgtEl>
                                          <p:spTgt spid="196">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1" name="Shape 201"/>
        <p:cNvGrpSpPr/>
        <p:nvPr/>
      </p:nvGrpSpPr>
      <p:grpSpPr>
        <a:xfrm>
          <a:off x="0" y="0"/>
          <a:ext cx="0" cy="0"/>
          <a:chOff x="0" y="0"/>
          <a:chExt cx="0" cy="0"/>
        </a:xfrm>
      </p:grpSpPr>
      <p:sp>
        <p:nvSpPr>
          <p:cNvPr id="202" name="Google Shape;202;g1b64d640a47_0_31"/>
          <p:cNvSpPr txBox="1"/>
          <p:nvPr/>
        </p:nvSpPr>
        <p:spPr>
          <a:xfrm>
            <a:off x="0" y="188686"/>
            <a:ext cx="3123600" cy="477000"/>
          </a:xfrm>
          <a:prstGeom prst="rect">
            <a:avLst/>
          </a:prstGeom>
          <a:noFill/>
          <a:ln>
            <a:noFill/>
          </a:ln>
        </p:spPr>
        <p:txBody>
          <a:bodyPr anchorCtr="0" anchor="t" bIns="45700" lIns="91425" spcFirstLastPara="1" rIns="91425" wrap="square" tIns="45700">
            <a:spAutoFit/>
          </a:bodyPr>
          <a:lstStyle/>
          <a:p>
            <a:pPr indent="0" lvl="0" marL="231775"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Explanation</a:t>
            </a:r>
            <a:r>
              <a:rPr b="1" i="0" lang="en-US" sz="2500" u="none" cap="none" strike="noStrike">
                <a:solidFill>
                  <a:srgbClr val="FFFFFF"/>
                </a:solidFill>
                <a:latin typeface="Arial"/>
                <a:ea typeface="Arial"/>
                <a:cs typeface="Arial"/>
                <a:sym typeface="Arial"/>
              </a:rPr>
              <a:t>:</a:t>
            </a:r>
            <a:endParaRPr b="1" i="0" sz="2500" u="none" cap="none" strike="noStrike">
              <a:solidFill>
                <a:srgbClr val="FFFFFF"/>
              </a:solidFill>
              <a:latin typeface="Arial"/>
              <a:ea typeface="Arial"/>
              <a:cs typeface="Arial"/>
              <a:sym typeface="Arial"/>
            </a:endParaRPr>
          </a:p>
        </p:txBody>
      </p:sp>
      <p:sp>
        <p:nvSpPr>
          <p:cNvPr id="203" name="Google Shape;203;g1b64d640a47_0_31"/>
          <p:cNvSpPr txBox="1"/>
          <p:nvPr/>
        </p:nvSpPr>
        <p:spPr>
          <a:xfrm>
            <a:off x="722375" y="1435599"/>
            <a:ext cx="8472600" cy="26439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800"/>
              <a:buFont typeface="Arial"/>
              <a:buNone/>
            </a:pPr>
            <a:r>
              <a:rPr b="0" i="0" lang="en-US" sz="1800" u="none" cap="none" strike="noStrike">
                <a:solidFill>
                  <a:schemeClr val="dk2"/>
                </a:solidFill>
                <a:latin typeface="Arial"/>
                <a:ea typeface="Arial"/>
                <a:cs typeface="Arial"/>
                <a:sym typeface="Arial"/>
              </a:rPr>
              <a:t>			</a:t>
            </a:r>
            <a:r>
              <a:rPr b="0" i="0" lang="en-US" sz="1400" u="none" cap="none" strike="noStrike">
                <a:solidFill>
                  <a:schemeClr val="dk1"/>
                </a:solidFill>
                <a:latin typeface="Roboto"/>
                <a:ea typeface="Roboto"/>
                <a:cs typeface="Roboto"/>
                <a:sym typeface="Roboto"/>
              </a:rPr>
              <a:t>A    :         B            :         C</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600"/>
              </a:spcBef>
              <a:spcAft>
                <a:spcPts val="0"/>
              </a:spcAft>
              <a:buClr>
                <a:schemeClr val="dk1"/>
              </a:buClr>
              <a:buSzPts val="1800"/>
              <a:buFont typeface="Arial"/>
              <a:buNone/>
            </a:pPr>
            <a:r>
              <a:rPr b="0" i="0" lang="en-US" sz="1400" u="none" cap="none" strike="noStrike">
                <a:solidFill>
                  <a:schemeClr val="dk1"/>
                </a:solidFill>
                <a:latin typeface="Roboto"/>
                <a:ea typeface="Roboto"/>
                <a:cs typeface="Roboto"/>
                <a:sym typeface="Roboto"/>
              </a:rPr>
              <a:t>              12000*1      :     135000*1   :    150000*1</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600"/>
              </a:spcBef>
              <a:spcAft>
                <a:spcPts val="0"/>
              </a:spcAft>
              <a:buClr>
                <a:schemeClr val="dk1"/>
              </a:buClr>
              <a:buSzPts val="1800"/>
              <a:buFont typeface="Arial"/>
              <a:buNone/>
            </a:pPr>
            <a:r>
              <a:rPr b="0" i="0" lang="en-US" sz="1400" u="none" cap="none" strike="noStrike">
                <a:solidFill>
                  <a:schemeClr val="dk1"/>
                </a:solidFill>
                <a:latin typeface="Roboto"/>
                <a:ea typeface="Roboto"/>
                <a:cs typeface="Roboto"/>
                <a:sym typeface="Roboto"/>
              </a:rPr>
              <a:t>                120            :     135            :     150</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600"/>
              </a:spcBef>
              <a:spcAft>
                <a:spcPts val="0"/>
              </a:spcAft>
              <a:buClr>
                <a:schemeClr val="dk1"/>
              </a:buClr>
              <a:buSzPts val="1800"/>
              <a:buFont typeface="Arial"/>
              <a:buNone/>
            </a:pPr>
            <a:r>
              <a:rPr b="0" i="0" lang="en-US" sz="1400" u="none" cap="none" strike="noStrike">
                <a:solidFill>
                  <a:schemeClr val="dk1"/>
                </a:solidFill>
                <a:latin typeface="Roboto"/>
                <a:ea typeface="Roboto"/>
                <a:cs typeface="Roboto"/>
                <a:sym typeface="Roboto"/>
              </a:rPr>
              <a:t>                  8              :        9             :      10 </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600"/>
              </a:spcBef>
              <a:spcAft>
                <a:spcPts val="0"/>
              </a:spcAft>
              <a:buClr>
                <a:schemeClr val="dk1"/>
              </a:buClr>
              <a:buSzPts val="1800"/>
              <a:buFont typeface="Arial"/>
              <a:buNone/>
            </a:pPr>
            <a:r>
              <a:rPr b="0" i="0" lang="en-US" sz="1400" u="none" cap="none" strike="noStrike">
                <a:solidFill>
                  <a:schemeClr val="dk1"/>
                </a:solidFill>
                <a:latin typeface="Roboto"/>
                <a:ea typeface="Roboto"/>
                <a:cs typeface="Roboto"/>
                <a:sym typeface="Roboto"/>
              </a:rPr>
              <a:t>56700/27=2100            (8:9:10)*2100= 16800:18900:21000</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1600"/>
              </a:spcBef>
              <a:spcAft>
                <a:spcPts val="0"/>
              </a:spcAft>
              <a:buClr>
                <a:srgbClr val="000000"/>
              </a:buClr>
              <a:buSzPts val="1800"/>
              <a:buFont typeface="Arial"/>
              <a:buNone/>
            </a:pPr>
            <a:r>
              <a:t/>
            </a:r>
            <a:endParaRPr b="0" i="0" sz="1400" u="none" cap="none" strike="noStrike">
              <a:solidFill>
                <a:schemeClr val="dk1"/>
              </a:solidFill>
              <a:latin typeface="Roboto"/>
              <a:ea typeface="Roboto"/>
              <a:cs typeface="Roboto"/>
              <a:sym typeface="Roboto"/>
            </a:endParaRPr>
          </a:p>
        </p:txBody>
      </p:sp>
      <p:sp>
        <p:nvSpPr>
          <p:cNvPr id="204" name="Google Shape;204;g1b64d640a47_0_31"/>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Explanation: 10</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0" st="0"/>
                                            </p:txEl>
                                          </p:spTgt>
                                        </p:tgtEl>
                                        <p:attrNameLst>
                                          <p:attrName>style.visibility</p:attrName>
                                        </p:attrNameLst>
                                      </p:cBhvr>
                                      <p:to>
                                        <p:strVal val="visible"/>
                                      </p:to>
                                    </p:set>
                                    <p:animEffect filter="fade" transition="in">
                                      <p:cBhvr>
                                        <p:cTn dur="1000"/>
                                        <p:tgtEl>
                                          <p:spTgt spid="2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1" st="1"/>
                                            </p:txEl>
                                          </p:spTgt>
                                        </p:tgtEl>
                                        <p:attrNameLst>
                                          <p:attrName>style.visibility</p:attrName>
                                        </p:attrNameLst>
                                      </p:cBhvr>
                                      <p:to>
                                        <p:strVal val="visible"/>
                                      </p:to>
                                    </p:set>
                                    <p:animEffect filter="fade" transition="in">
                                      <p:cBhvr>
                                        <p:cTn dur="1000"/>
                                        <p:tgtEl>
                                          <p:spTgt spid="2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2" st="2"/>
                                            </p:txEl>
                                          </p:spTgt>
                                        </p:tgtEl>
                                        <p:attrNameLst>
                                          <p:attrName>style.visibility</p:attrName>
                                        </p:attrNameLst>
                                      </p:cBhvr>
                                      <p:to>
                                        <p:strVal val="visible"/>
                                      </p:to>
                                    </p:set>
                                    <p:animEffect filter="fade" transition="in">
                                      <p:cBhvr>
                                        <p:cTn dur="1000"/>
                                        <p:tgtEl>
                                          <p:spTgt spid="2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3" st="3"/>
                                            </p:txEl>
                                          </p:spTgt>
                                        </p:tgtEl>
                                        <p:attrNameLst>
                                          <p:attrName>style.visibility</p:attrName>
                                        </p:attrNameLst>
                                      </p:cBhvr>
                                      <p:to>
                                        <p:strVal val="visible"/>
                                      </p:to>
                                    </p:set>
                                    <p:animEffect filter="fade" transition="in">
                                      <p:cBhvr>
                                        <p:cTn dur="1000"/>
                                        <p:tgtEl>
                                          <p:spTgt spid="2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4" st="4"/>
                                            </p:txEl>
                                          </p:spTgt>
                                        </p:tgtEl>
                                        <p:attrNameLst>
                                          <p:attrName>style.visibility</p:attrName>
                                        </p:attrNameLst>
                                      </p:cBhvr>
                                      <p:to>
                                        <p:strVal val="visible"/>
                                      </p:to>
                                    </p:set>
                                    <p:animEffect filter="fade" transition="in">
                                      <p:cBhvr>
                                        <p:cTn dur="1000"/>
                                        <p:tgtEl>
                                          <p:spTgt spid="2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5" st="5"/>
                                            </p:txEl>
                                          </p:spTgt>
                                        </p:tgtEl>
                                        <p:attrNameLst>
                                          <p:attrName>style.visibility</p:attrName>
                                        </p:attrNameLst>
                                      </p:cBhvr>
                                      <p:to>
                                        <p:strVal val="visible"/>
                                      </p:to>
                                    </p:set>
                                    <p:animEffect filter="fade" transition="in">
                                      <p:cBhvr>
                                        <p:cTn dur="1000"/>
                                        <p:tgtEl>
                                          <p:spTgt spid="203">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0"/>
          <p:cNvSpPr txBox="1"/>
          <p:nvPr/>
        </p:nvSpPr>
        <p:spPr>
          <a:xfrm>
            <a:off x="0" y="211118"/>
            <a:ext cx="4457699" cy="475200"/>
          </a:xfrm>
          <a:prstGeom prst="rect">
            <a:avLst/>
          </a:prstGeom>
          <a:noFill/>
          <a:ln>
            <a:noFill/>
          </a:ln>
        </p:spPr>
        <p:txBody>
          <a:bodyPr anchorCtr="0" anchor="ctr" bIns="0" lIns="0" spcFirstLastPara="1" rIns="0" wrap="square" tIns="0">
            <a:noAutofit/>
          </a:bodyPr>
          <a:lstStyle/>
          <a:p>
            <a:pPr indent="0" lvl="0" marL="231775"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Question: 04</a:t>
            </a:r>
            <a:endParaRPr b="1" i="0" sz="2500" u="none" cap="none" strike="noStrike">
              <a:solidFill>
                <a:srgbClr val="FFFFFF"/>
              </a:solidFill>
              <a:latin typeface="Arial"/>
              <a:ea typeface="Arial"/>
              <a:cs typeface="Arial"/>
              <a:sym typeface="Arial"/>
            </a:endParaRPr>
          </a:p>
        </p:txBody>
      </p:sp>
      <p:sp>
        <p:nvSpPr>
          <p:cNvPr id="210" name="Google Shape;210;p10"/>
          <p:cNvSpPr txBox="1"/>
          <p:nvPr/>
        </p:nvSpPr>
        <p:spPr>
          <a:xfrm>
            <a:off x="722365" y="1435596"/>
            <a:ext cx="8322000" cy="2760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i="0" lang="en-US" sz="1600" u="none" cap="none" strike="noStrike">
                <a:solidFill>
                  <a:schemeClr val="dk1"/>
                </a:solidFill>
                <a:latin typeface="Roboto"/>
                <a:ea typeface="Roboto"/>
                <a:cs typeface="Roboto"/>
                <a:sym typeface="Roboto"/>
              </a:rPr>
              <a:t>Anil, mukesh and ritesh started a business by investing Rs.1,25,000, Rs.1,50,000 and Rs.1,75,000 respectively, out of an annual profit 93600 what will be 50% of mukesh share in the profit?</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1600"/>
              </a:spcBef>
              <a:spcAft>
                <a:spcPts val="0"/>
              </a:spcAft>
              <a:buClr>
                <a:schemeClr val="dk1"/>
              </a:buClr>
              <a:buSzPts val="1600"/>
              <a:buFont typeface="Roboto"/>
              <a:buAutoNum type="alphaUcPeriod"/>
            </a:pPr>
            <a:r>
              <a:rPr i="0" lang="en-US" sz="1600" u="none" cap="none" strike="noStrike">
                <a:solidFill>
                  <a:schemeClr val="dk1"/>
                </a:solidFill>
                <a:latin typeface="Roboto"/>
                <a:ea typeface="Roboto"/>
                <a:cs typeface="Roboto"/>
                <a:sym typeface="Roboto"/>
              </a:rPr>
              <a:t>36400</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US" sz="1600" u="none" cap="none" strike="noStrike">
                <a:solidFill>
                  <a:schemeClr val="dk1"/>
                </a:solidFill>
                <a:latin typeface="Roboto"/>
                <a:ea typeface="Roboto"/>
                <a:cs typeface="Roboto"/>
                <a:sym typeface="Roboto"/>
              </a:rPr>
              <a:t>31200</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US" sz="1600" u="none" cap="none" strike="noStrike">
                <a:solidFill>
                  <a:schemeClr val="dk1"/>
                </a:solidFill>
                <a:latin typeface="Roboto"/>
                <a:ea typeface="Roboto"/>
                <a:cs typeface="Roboto"/>
                <a:sym typeface="Roboto"/>
              </a:rPr>
              <a:t>32500</a:t>
            </a:r>
            <a:endParaRPr i="0" sz="1600" u="none" cap="none" strike="noStrike">
              <a:solidFill>
                <a:schemeClr val="dk1"/>
              </a:solidFill>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i="0" lang="en-US" sz="1600" u="none" cap="none" strike="noStrike">
                <a:solidFill>
                  <a:schemeClr val="dk1"/>
                </a:solidFill>
                <a:latin typeface="Roboto"/>
                <a:ea typeface="Roboto"/>
                <a:cs typeface="Roboto"/>
                <a:sym typeface="Roboto"/>
              </a:rPr>
              <a:t>15600</a:t>
            </a:r>
            <a:endParaRPr i="0" sz="1600" u="none" cap="none" strike="noStrike">
              <a:solidFill>
                <a:schemeClr val="dk1"/>
              </a:solidFill>
              <a:latin typeface="Roboto"/>
              <a:ea typeface="Roboto"/>
              <a:cs typeface="Roboto"/>
              <a:sym typeface="Roboto"/>
            </a:endParaRPr>
          </a:p>
        </p:txBody>
      </p:sp>
      <p:sp>
        <p:nvSpPr>
          <p:cNvPr id="211" name="Google Shape;211;p10"/>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Question: 11</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
                                            <p:txEl>
                                              <p:pRg end="0" st="0"/>
                                            </p:txEl>
                                          </p:spTgt>
                                        </p:tgtEl>
                                        <p:attrNameLst>
                                          <p:attrName>style.visibility</p:attrName>
                                        </p:attrNameLst>
                                      </p:cBhvr>
                                      <p:to>
                                        <p:strVal val="visible"/>
                                      </p:to>
                                    </p:set>
                                    <p:animEffect filter="fade" transition="in">
                                      <p:cBhvr>
                                        <p:cTn dur="1000"/>
                                        <p:tgtEl>
                                          <p:spTgt spid="21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
                                            <p:txEl>
                                              <p:pRg end="1" st="1"/>
                                            </p:txEl>
                                          </p:spTgt>
                                        </p:tgtEl>
                                        <p:attrNameLst>
                                          <p:attrName>style.visibility</p:attrName>
                                        </p:attrNameLst>
                                      </p:cBhvr>
                                      <p:to>
                                        <p:strVal val="visible"/>
                                      </p:to>
                                    </p:set>
                                    <p:animEffect filter="fade" transition="in">
                                      <p:cBhvr>
                                        <p:cTn dur="1000"/>
                                        <p:tgtEl>
                                          <p:spTgt spid="21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
                                            <p:txEl>
                                              <p:pRg end="2" st="2"/>
                                            </p:txEl>
                                          </p:spTgt>
                                        </p:tgtEl>
                                        <p:attrNameLst>
                                          <p:attrName>style.visibility</p:attrName>
                                        </p:attrNameLst>
                                      </p:cBhvr>
                                      <p:to>
                                        <p:strVal val="visible"/>
                                      </p:to>
                                    </p:set>
                                    <p:animEffect filter="fade" transition="in">
                                      <p:cBhvr>
                                        <p:cTn dur="1000"/>
                                        <p:tgtEl>
                                          <p:spTgt spid="21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
                                            <p:txEl>
                                              <p:pRg end="3" st="3"/>
                                            </p:txEl>
                                          </p:spTgt>
                                        </p:tgtEl>
                                        <p:attrNameLst>
                                          <p:attrName>style.visibility</p:attrName>
                                        </p:attrNameLst>
                                      </p:cBhvr>
                                      <p:to>
                                        <p:strVal val="visible"/>
                                      </p:to>
                                    </p:set>
                                    <p:animEffect filter="fade" transition="in">
                                      <p:cBhvr>
                                        <p:cTn dur="1000"/>
                                        <p:tgtEl>
                                          <p:spTgt spid="21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
                                            <p:txEl>
                                              <p:pRg end="4" st="4"/>
                                            </p:txEl>
                                          </p:spTgt>
                                        </p:tgtEl>
                                        <p:attrNameLst>
                                          <p:attrName>style.visibility</p:attrName>
                                        </p:attrNameLst>
                                      </p:cBhvr>
                                      <p:to>
                                        <p:strVal val="visible"/>
                                      </p:to>
                                    </p:set>
                                    <p:animEffect filter="fade" transition="in">
                                      <p:cBhvr>
                                        <p:cTn dur="1000"/>
                                        <p:tgtEl>
                                          <p:spTgt spid="210">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5" name="Shape 215"/>
        <p:cNvGrpSpPr/>
        <p:nvPr/>
      </p:nvGrpSpPr>
      <p:grpSpPr>
        <a:xfrm>
          <a:off x="0" y="0"/>
          <a:ext cx="0" cy="0"/>
          <a:chOff x="0" y="0"/>
          <a:chExt cx="0" cy="0"/>
        </a:xfrm>
      </p:grpSpPr>
      <p:sp>
        <p:nvSpPr>
          <p:cNvPr id="216" name="Google Shape;216;g1b64d640a47_0_39"/>
          <p:cNvSpPr txBox="1"/>
          <p:nvPr/>
        </p:nvSpPr>
        <p:spPr>
          <a:xfrm>
            <a:off x="0" y="188686"/>
            <a:ext cx="3123600" cy="477000"/>
          </a:xfrm>
          <a:prstGeom prst="rect">
            <a:avLst/>
          </a:prstGeom>
          <a:noFill/>
          <a:ln>
            <a:noFill/>
          </a:ln>
        </p:spPr>
        <p:txBody>
          <a:bodyPr anchorCtr="0" anchor="t" bIns="45700" lIns="91425" spcFirstLastPara="1" rIns="91425" wrap="square" tIns="45700">
            <a:spAutoFit/>
          </a:bodyPr>
          <a:lstStyle/>
          <a:p>
            <a:pPr indent="0" lvl="0" marL="231775"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Explanation</a:t>
            </a:r>
            <a:r>
              <a:rPr b="1" i="0" lang="en-US" sz="2500" u="none" cap="none" strike="noStrike">
                <a:solidFill>
                  <a:srgbClr val="FFFFFF"/>
                </a:solidFill>
                <a:latin typeface="Arial"/>
                <a:ea typeface="Arial"/>
                <a:cs typeface="Arial"/>
                <a:sym typeface="Arial"/>
              </a:rPr>
              <a:t>:</a:t>
            </a:r>
            <a:endParaRPr b="1" i="0" sz="2500" u="none" cap="none" strike="noStrike">
              <a:solidFill>
                <a:srgbClr val="FFFFFF"/>
              </a:solidFill>
              <a:latin typeface="Arial"/>
              <a:ea typeface="Arial"/>
              <a:cs typeface="Arial"/>
              <a:sym typeface="Arial"/>
            </a:endParaRPr>
          </a:p>
        </p:txBody>
      </p:sp>
      <p:sp>
        <p:nvSpPr>
          <p:cNvPr id="217" name="Google Shape;217;g1b64d640a47_0_39"/>
          <p:cNvSpPr txBox="1"/>
          <p:nvPr/>
        </p:nvSpPr>
        <p:spPr>
          <a:xfrm>
            <a:off x="422800" y="1435599"/>
            <a:ext cx="8472600" cy="30969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800"/>
              <a:buFont typeface="Arial"/>
              <a:buNone/>
            </a:pPr>
            <a:r>
              <a:rPr b="0" i="0" lang="en-US" sz="1800" u="none" cap="none" strike="noStrike">
                <a:solidFill>
                  <a:schemeClr val="dk2"/>
                </a:solidFill>
                <a:latin typeface="Arial"/>
                <a:ea typeface="Arial"/>
                <a:cs typeface="Arial"/>
                <a:sym typeface="Arial"/>
              </a:rPr>
              <a:t>		</a:t>
            </a:r>
            <a:r>
              <a:rPr b="0" i="0" lang="en-US" sz="1400" u="none" cap="none" strike="noStrike">
                <a:solidFill>
                  <a:schemeClr val="dk1"/>
                </a:solidFill>
                <a:latin typeface="Arial"/>
                <a:ea typeface="Arial"/>
                <a:cs typeface="Arial"/>
                <a:sym typeface="Arial"/>
              </a:rPr>
              <a:t>	</a:t>
            </a:r>
            <a:r>
              <a:rPr b="0" i="0" lang="en-US" sz="1400" u="none" cap="none" strike="noStrike">
                <a:solidFill>
                  <a:schemeClr val="dk1"/>
                </a:solidFill>
                <a:latin typeface="Roboto"/>
                <a:ea typeface="Roboto"/>
                <a:cs typeface="Roboto"/>
                <a:sym typeface="Roboto"/>
              </a:rPr>
              <a:t>Anil     :     Mukesh        :    Ritesh</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600"/>
              </a:spcBef>
              <a:spcAft>
                <a:spcPts val="0"/>
              </a:spcAft>
              <a:buClr>
                <a:schemeClr val="dk1"/>
              </a:buClr>
              <a:buSzPts val="1800"/>
              <a:buFont typeface="Arial"/>
              <a:buNone/>
            </a:pPr>
            <a:r>
              <a:rPr b="0" i="0" lang="en-US" sz="1400" u="none" cap="none" strike="noStrike">
                <a:solidFill>
                  <a:schemeClr val="dk1"/>
                </a:solidFill>
                <a:latin typeface="Roboto"/>
                <a:ea typeface="Roboto"/>
                <a:cs typeface="Roboto"/>
                <a:sym typeface="Roboto"/>
              </a:rPr>
              <a:t>          1,25,000*12         :    1,50,000*12   : 1,75,000*12</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600"/>
              </a:spcBef>
              <a:spcAft>
                <a:spcPts val="0"/>
              </a:spcAft>
              <a:buClr>
                <a:schemeClr val="dk1"/>
              </a:buClr>
              <a:buSzPts val="1800"/>
              <a:buFont typeface="Arial"/>
              <a:buNone/>
            </a:pPr>
            <a:r>
              <a:rPr b="0" i="0" lang="en-US" sz="1400" u="none" cap="none" strike="noStrike">
                <a:solidFill>
                  <a:schemeClr val="dk1"/>
                </a:solidFill>
                <a:latin typeface="Roboto"/>
                <a:ea typeface="Roboto"/>
                <a:cs typeface="Roboto"/>
                <a:sym typeface="Roboto"/>
              </a:rPr>
              <a:t>             125:150:175</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600"/>
              </a:spcBef>
              <a:spcAft>
                <a:spcPts val="0"/>
              </a:spcAft>
              <a:buClr>
                <a:schemeClr val="dk1"/>
              </a:buClr>
              <a:buSzPts val="1800"/>
              <a:buFont typeface="Arial"/>
              <a:buNone/>
            </a:pPr>
            <a:r>
              <a:rPr b="0" i="0" lang="en-US" sz="1400" u="none" cap="none" strike="noStrike">
                <a:solidFill>
                  <a:schemeClr val="dk1"/>
                </a:solidFill>
                <a:latin typeface="Roboto"/>
                <a:ea typeface="Roboto"/>
                <a:cs typeface="Roboto"/>
                <a:sym typeface="Roboto"/>
              </a:rPr>
              <a:t>		5:6:7</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600"/>
              </a:spcBef>
              <a:spcAft>
                <a:spcPts val="0"/>
              </a:spcAft>
              <a:buClr>
                <a:schemeClr val="dk1"/>
              </a:buClr>
              <a:buSzPts val="1800"/>
              <a:buFont typeface="Arial"/>
              <a:buNone/>
            </a:pPr>
            <a:r>
              <a:rPr b="0" i="0" lang="en-US" sz="1400" u="none" cap="none" strike="noStrike">
                <a:solidFill>
                  <a:schemeClr val="dk1"/>
                </a:solidFill>
                <a:latin typeface="Roboto"/>
                <a:ea typeface="Roboto"/>
                <a:cs typeface="Roboto"/>
                <a:sym typeface="Roboto"/>
              </a:rPr>
              <a:t>               6/18*93600</a:t>
            </a:r>
            <a:endParaRPr b="0" i="0" sz="1400" u="none" cap="none" strike="noStrike">
              <a:solidFill>
                <a:schemeClr val="dk1"/>
              </a:solidFill>
              <a:latin typeface="Roboto"/>
              <a:ea typeface="Roboto"/>
              <a:cs typeface="Roboto"/>
              <a:sym typeface="Roboto"/>
            </a:endParaRPr>
          </a:p>
          <a:p>
            <a:pPr indent="0" lvl="0" marL="0" marR="0" rtl="0" algn="l">
              <a:lnSpc>
                <a:spcPct val="115000"/>
              </a:lnSpc>
              <a:spcBef>
                <a:spcPts val="1600"/>
              </a:spcBef>
              <a:spcAft>
                <a:spcPts val="0"/>
              </a:spcAft>
              <a:buClr>
                <a:schemeClr val="dk1"/>
              </a:buClr>
              <a:buSzPts val="1800"/>
              <a:buFont typeface="Arial"/>
              <a:buNone/>
            </a:pPr>
            <a:r>
              <a:rPr b="0" i="0" lang="en-US" sz="1400" u="none" cap="none" strike="noStrike">
                <a:solidFill>
                  <a:schemeClr val="dk1"/>
                </a:solidFill>
                <a:latin typeface="Roboto"/>
                <a:ea typeface="Roboto"/>
                <a:cs typeface="Roboto"/>
                <a:sym typeface="Roboto"/>
              </a:rPr>
              <a:t>             =31200</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1600"/>
              </a:spcBef>
              <a:spcAft>
                <a:spcPts val="0"/>
              </a:spcAft>
              <a:buClr>
                <a:srgbClr val="000000"/>
              </a:buClr>
              <a:buSzPts val="1800"/>
              <a:buFont typeface="Arial"/>
              <a:buNone/>
            </a:pPr>
            <a:r>
              <a:t/>
            </a:r>
            <a:endParaRPr b="0" i="0" sz="1400" u="none" cap="none" strike="noStrike">
              <a:solidFill>
                <a:schemeClr val="dk1"/>
              </a:solidFill>
              <a:latin typeface="Roboto"/>
              <a:ea typeface="Roboto"/>
              <a:cs typeface="Roboto"/>
              <a:sym typeface="Roboto"/>
            </a:endParaRPr>
          </a:p>
        </p:txBody>
      </p:sp>
      <p:sp>
        <p:nvSpPr>
          <p:cNvPr id="218" name="Google Shape;218;g1b64d640a47_0_39"/>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Explanation: 11</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0" st="0"/>
                                            </p:txEl>
                                          </p:spTgt>
                                        </p:tgtEl>
                                        <p:attrNameLst>
                                          <p:attrName>style.visibility</p:attrName>
                                        </p:attrNameLst>
                                      </p:cBhvr>
                                      <p:to>
                                        <p:strVal val="visible"/>
                                      </p:to>
                                    </p:set>
                                    <p:animEffect filter="fade" transition="in">
                                      <p:cBhvr>
                                        <p:cTn dur="1000"/>
                                        <p:tgtEl>
                                          <p:spTgt spid="2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1" st="1"/>
                                            </p:txEl>
                                          </p:spTgt>
                                        </p:tgtEl>
                                        <p:attrNameLst>
                                          <p:attrName>style.visibility</p:attrName>
                                        </p:attrNameLst>
                                      </p:cBhvr>
                                      <p:to>
                                        <p:strVal val="visible"/>
                                      </p:to>
                                    </p:set>
                                    <p:animEffect filter="fade" transition="in">
                                      <p:cBhvr>
                                        <p:cTn dur="1000"/>
                                        <p:tgtEl>
                                          <p:spTgt spid="21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2" st="2"/>
                                            </p:txEl>
                                          </p:spTgt>
                                        </p:tgtEl>
                                        <p:attrNameLst>
                                          <p:attrName>style.visibility</p:attrName>
                                        </p:attrNameLst>
                                      </p:cBhvr>
                                      <p:to>
                                        <p:strVal val="visible"/>
                                      </p:to>
                                    </p:set>
                                    <p:animEffect filter="fade" transition="in">
                                      <p:cBhvr>
                                        <p:cTn dur="1000"/>
                                        <p:tgtEl>
                                          <p:spTgt spid="21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3" st="3"/>
                                            </p:txEl>
                                          </p:spTgt>
                                        </p:tgtEl>
                                        <p:attrNameLst>
                                          <p:attrName>style.visibility</p:attrName>
                                        </p:attrNameLst>
                                      </p:cBhvr>
                                      <p:to>
                                        <p:strVal val="visible"/>
                                      </p:to>
                                    </p:set>
                                    <p:animEffect filter="fade" transition="in">
                                      <p:cBhvr>
                                        <p:cTn dur="1000"/>
                                        <p:tgtEl>
                                          <p:spTgt spid="21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4" st="4"/>
                                            </p:txEl>
                                          </p:spTgt>
                                        </p:tgtEl>
                                        <p:attrNameLst>
                                          <p:attrName>style.visibility</p:attrName>
                                        </p:attrNameLst>
                                      </p:cBhvr>
                                      <p:to>
                                        <p:strVal val="visible"/>
                                      </p:to>
                                    </p:set>
                                    <p:animEffect filter="fade" transition="in">
                                      <p:cBhvr>
                                        <p:cTn dur="1000"/>
                                        <p:tgtEl>
                                          <p:spTgt spid="21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5" st="5"/>
                                            </p:txEl>
                                          </p:spTgt>
                                        </p:tgtEl>
                                        <p:attrNameLst>
                                          <p:attrName>style.visibility</p:attrName>
                                        </p:attrNameLst>
                                      </p:cBhvr>
                                      <p:to>
                                        <p:strVal val="visible"/>
                                      </p:to>
                                    </p:set>
                                    <p:animEffect filter="fade" transition="in">
                                      <p:cBhvr>
                                        <p:cTn dur="1000"/>
                                        <p:tgtEl>
                                          <p:spTgt spid="21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6" st="6"/>
                                            </p:txEl>
                                          </p:spTgt>
                                        </p:tgtEl>
                                        <p:attrNameLst>
                                          <p:attrName>style.visibility</p:attrName>
                                        </p:attrNameLst>
                                      </p:cBhvr>
                                      <p:to>
                                        <p:strVal val="visible"/>
                                      </p:to>
                                    </p:set>
                                    <p:animEffect filter="fade" transition="in">
                                      <p:cBhvr>
                                        <p:cTn dur="1000"/>
                                        <p:tgtEl>
                                          <p:spTgt spid="217">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2"/>
          <p:cNvSpPr txBox="1"/>
          <p:nvPr/>
        </p:nvSpPr>
        <p:spPr>
          <a:xfrm>
            <a:off x="722375" y="1435600"/>
            <a:ext cx="7644300" cy="2657700"/>
          </a:xfrm>
          <a:prstGeom prst="rect">
            <a:avLst/>
          </a:prstGeom>
          <a:noFill/>
          <a:ln>
            <a:noFill/>
          </a:ln>
        </p:spPr>
        <p:txBody>
          <a:bodyPr anchorCtr="0" anchor="t" bIns="45700" lIns="91425" spcFirstLastPara="1" rIns="91425" wrap="square" tIns="45700">
            <a:spAutoFit/>
          </a:bodyPr>
          <a:lstStyle/>
          <a:p>
            <a:pPr indent="0" lvl="0" marL="0" marR="50800" rtl="0" algn="l">
              <a:lnSpc>
                <a:spcPct val="150000"/>
              </a:lnSpc>
              <a:spcBef>
                <a:spcPts val="800"/>
              </a:spcBef>
              <a:spcAft>
                <a:spcPts val="0"/>
              </a:spcAft>
              <a:buClr>
                <a:srgbClr val="000000"/>
              </a:buClr>
              <a:buSzPts val="1800"/>
              <a:buFont typeface="Arial"/>
              <a:buNone/>
            </a:pPr>
            <a:r>
              <a:rPr i="0" lang="en-US" sz="1600" u="none" cap="none" strike="noStrike">
                <a:solidFill>
                  <a:schemeClr val="dk1"/>
                </a:solidFill>
                <a:highlight>
                  <a:schemeClr val="lt1"/>
                </a:highlight>
                <a:latin typeface="Roboto"/>
                <a:ea typeface="Roboto"/>
                <a:cs typeface="Roboto"/>
                <a:sym typeface="Roboto"/>
              </a:rPr>
              <a:t>A,B and C enters in to partnership with investments of Rs.75,000, Rs.60,000 and Rs.40,000 respectively. After 3 years of operation, the partnership earned a net profit of Rs.26250. What was the share of C is the profit?</a:t>
            </a:r>
            <a:endParaRPr i="0" sz="1600" u="none" cap="none" strike="noStrike">
              <a:solidFill>
                <a:schemeClr val="dk1"/>
              </a:solidFill>
              <a:highlight>
                <a:schemeClr val="lt1"/>
              </a:highlight>
              <a:latin typeface="Roboto"/>
              <a:ea typeface="Roboto"/>
              <a:cs typeface="Roboto"/>
              <a:sym typeface="Roboto"/>
            </a:endParaRPr>
          </a:p>
          <a:p>
            <a:pPr indent="-330200" lvl="0" marL="457200" marR="50800" rtl="0" algn="l">
              <a:lnSpc>
                <a:spcPct val="150000"/>
              </a:lnSpc>
              <a:spcBef>
                <a:spcPts val="800"/>
              </a:spcBef>
              <a:spcAft>
                <a:spcPts val="0"/>
              </a:spcAft>
              <a:buClr>
                <a:schemeClr val="dk1"/>
              </a:buClr>
              <a:buSzPts val="1600"/>
              <a:buFont typeface="Roboto"/>
              <a:buAutoNum type="alphaUcPeriod"/>
            </a:pPr>
            <a:r>
              <a:rPr i="0" lang="en-US" sz="1600" u="none" cap="none" strike="noStrike">
                <a:solidFill>
                  <a:schemeClr val="dk1"/>
                </a:solidFill>
                <a:highlight>
                  <a:schemeClr val="lt1"/>
                </a:highlight>
                <a:latin typeface="Roboto"/>
                <a:ea typeface="Roboto"/>
                <a:cs typeface="Roboto"/>
                <a:sym typeface="Roboto"/>
              </a:rPr>
              <a:t>6000</a:t>
            </a:r>
            <a:endParaRPr i="0" sz="1600" u="none" cap="none" strike="noStrike">
              <a:solidFill>
                <a:schemeClr val="dk1"/>
              </a:solidFill>
              <a:highlight>
                <a:schemeClr val="lt1"/>
              </a:highlight>
              <a:latin typeface="Roboto"/>
              <a:ea typeface="Roboto"/>
              <a:cs typeface="Roboto"/>
              <a:sym typeface="Roboto"/>
            </a:endParaRPr>
          </a:p>
          <a:p>
            <a:pPr indent="-330200" lvl="0" marL="457200" marR="50800" rtl="0" algn="l">
              <a:lnSpc>
                <a:spcPct val="150000"/>
              </a:lnSpc>
              <a:spcBef>
                <a:spcPts val="0"/>
              </a:spcBef>
              <a:spcAft>
                <a:spcPts val="0"/>
              </a:spcAft>
              <a:buClr>
                <a:schemeClr val="dk1"/>
              </a:buClr>
              <a:buSzPts val="1600"/>
              <a:buFont typeface="Roboto"/>
              <a:buAutoNum type="alphaUcPeriod"/>
            </a:pPr>
            <a:r>
              <a:rPr i="0" lang="en-US" sz="1600" u="none" cap="none" strike="noStrike">
                <a:solidFill>
                  <a:schemeClr val="dk1"/>
                </a:solidFill>
                <a:highlight>
                  <a:schemeClr val="lt1"/>
                </a:highlight>
                <a:latin typeface="Roboto"/>
                <a:ea typeface="Roboto"/>
                <a:cs typeface="Roboto"/>
                <a:sym typeface="Roboto"/>
              </a:rPr>
              <a:t>5000</a:t>
            </a:r>
            <a:endParaRPr i="0" sz="1600" u="none" cap="none" strike="noStrike">
              <a:solidFill>
                <a:schemeClr val="dk1"/>
              </a:solidFill>
              <a:highlight>
                <a:schemeClr val="lt1"/>
              </a:highlight>
              <a:latin typeface="Roboto"/>
              <a:ea typeface="Roboto"/>
              <a:cs typeface="Roboto"/>
              <a:sym typeface="Roboto"/>
            </a:endParaRPr>
          </a:p>
          <a:p>
            <a:pPr indent="-330200" lvl="0" marL="457200" marR="50800" rtl="0" algn="l">
              <a:lnSpc>
                <a:spcPct val="150000"/>
              </a:lnSpc>
              <a:spcBef>
                <a:spcPts val="0"/>
              </a:spcBef>
              <a:spcAft>
                <a:spcPts val="0"/>
              </a:spcAft>
              <a:buClr>
                <a:schemeClr val="dk1"/>
              </a:buClr>
              <a:buSzPts val="1600"/>
              <a:buFont typeface="Roboto"/>
              <a:buAutoNum type="alphaUcPeriod"/>
            </a:pPr>
            <a:r>
              <a:rPr i="0" lang="en-US" sz="1600" u="none" cap="none" strike="noStrike">
                <a:solidFill>
                  <a:schemeClr val="dk1"/>
                </a:solidFill>
                <a:highlight>
                  <a:schemeClr val="lt1"/>
                </a:highlight>
                <a:latin typeface="Roboto"/>
                <a:ea typeface="Roboto"/>
                <a:cs typeface="Roboto"/>
                <a:sym typeface="Roboto"/>
              </a:rPr>
              <a:t>8000</a:t>
            </a:r>
            <a:endParaRPr i="0" sz="1600" u="none" cap="none" strike="noStrike">
              <a:solidFill>
                <a:schemeClr val="dk1"/>
              </a:solidFill>
              <a:highlight>
                <a:schemeClr val="lt1"/>
              </a:highlight>
              <a:latin typeface="Roboto"/>
              <a:ea typeface="Roboto"/>
              <a:cs typeface="Roboto"/>
              <a:sym typeface="Roboto"/>
            </a:endParaRPr>
          </a:p>
          <a:p>
            <a:pPr indent="-330200" lvl="0" marL="457200" marR="50800" rtl="0" algn="l">
              <a:lnSpc>
                <a:spcPct val="150000"/>
              </a:lnSpc>
              <a:spcBef>
                <a:spcPts val="0"/>
              </a:spcBef>
              <a:spcAft>
                <a:spcPts val="0"/>
              </a:spcAft>
              <a:buClr>
                <a:schemeClr val="dk1"/>
              </a:buClr>
              <a:buSzPts val="1600"/>
              <a:buFont typeface="Roboto"/>
              <a:buAutoNum type="alphaUcPeriod"/>
            </a:pPr>
            <a:r>
              <a:rPr i="0" lang="en-US" sz="1600" u="none" cap="none" strike="noStrike">
                <a:solidFill>
                  <a:schemeClr val="dk1"/>
                </a:solidFill>
                <a:highlight>
                  <a:schemeClr val="lt1"/>
                </a:highlight>
                <a:latin typeface="Roboto"/>
                <a:ea typeface="Roboto"/>
                <a:cs typeface="Roboto"/>
                <a:sym typeface="Roboto"/>
              </a:rPr>
              <a:t>None</a:t>
            </a:r>
            <a:endParaRPr i="0" sz="1600" u="none" cap="none" strike="noStrike">
              <a:solidFill>
                <a:schemeClr val="dk1"/>
              </a:solidFill>
              <a:latin typeface="Roboto"/>
              <a:ea typeface="Roboto"/>
              <a:cs typeface="Roboto"/>
              <a:sym typeface="Roboto"/>
            </a:endParaRPr>
          </a:p>
        </p:txBody>
      </p:sp>
      <p:sp>
        <p:nvSpPr>
          <p:cNvPr id="224" name="Google Shape;224;p12"/>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Question: 12</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xEl>
                                              <p:pRg end="0" st="0"/>
                                            </p:txEl>
                                          </p:spTgt>
                                        </p:tgtEl>
                                        <p:attrNameLst>
                                          <p:attrName>style.visibility</p:attrName>
                                        </p:attrNameLst>
                                      </p:cBhvr>
                                      <p:to>
                                        <p:strVal val="visible"/>
                                      </p:to>
                                    </p:set>
                                    <p:animEffect filter="fade" transition="in">
                                      <p:cBhvr>
                                        <p:cTn dur="1000"/>
                                        <p:tgtEl>
                                          <p:spTgt spid="2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xEl>
                                              <p:pRg end="1" st="1"/>
                                            </p:txEl>
                                          </p:spTgt>
                                        </p:tgtEl>
                                        <p:attrNameLst>
                                          <p:attrName>style.visibility</p:attrName>
                                        </p:attrNameLst>
                                      </p:cBhvr>
                                      <p:to>
                                        <p:strVal val="visible"/>
                                      </p:to>
                                    </p:set>
                                    <p:animEffect filter="fade" transition="in">
                                      <p:cBhvr>
                                        <p:cTn dur="1000"/>
                                        <p:tgtEl>
                                          <p:spTgt spid="22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xEl>
                                              <p:pRg end="2" st="2"/>
                                            </p:txEl>
                                          </p:spTgt>
                                        </p:tgtEl>
                                        <p:attrNameLst>
                                          <p:attrName>style.visibility</p:attrName>
                                        </p:attrNameLst>
                                      </p:cBhvr>
                                      <p:to>
                                        <p:strVal val="visible"/>
                                      </p:to>
                                    </p:set>
                                    <p:animEffect filter="fade" transition="in">
                                      <p:cBhvr>
                                        <p:cTn dur="1000"/>
                                        <p:tgtEl>
                                          <p:spTgt spid="22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xEl>
                                              <p:pRg end="3" st="3"/>
                                            </p:txEl>
                                          </p:spTgt>
                                        </p:tgtEl>
                                        <p:attrNameLst>
                                          <p:attrName>style.visibility</p:attrName>
                                        </p:attrNameLst>
                                      </p:cBhvr>
                                      <p:to>
                                        <p:strVal val="visible"/>
                                      </p:to>
                                    </p:set>
                                    <p:animEffect filter="fade" transition="in">
                                      <p:cBhvr>
                                        <p:cTn dur="1000"/>
                                        <p:tgtEl>
                                          <p:spTgt spid="22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xEl>
                                              <p:pRg end="4" st="4"/>
                                            </p:txEl>
                                          </p:spTgt>
                                        </p:tgtEl>
                                        <p:attrNameLst>
                                          <p:attrName>style.visibility</p:attrName>
                                        </p:attrNameLst>
                                      </p:cBhvr>
                                      <p:to>
                                        <p:strVal val="visible"/>
                                      </p:to>
                                    </p:set>
                                    <p:animEffect filter="fade" transition="in">
                                      <p:cBhvr>
                                        <p:cTn dur="1000"/>
                                        <p:tgtEl>
                                          <p:spTgt spid="22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8" name="Shape 228"/>
        <p:cNvGrpSpPr/>
        <p:nvPr/>
      </p:nvGrpSpPr>
      <p:grpSpPr>
        <a:xfrm>
          <a:off x="0" y="0"/>
          <a:ext cx="0" cy="0"/>
          <a:chOff x="0" y="0"/>
          <a:chExt cx="0" cy="0"/>
        </a:xfrm>
      </p:grpSpPr>
      <p:sp>
        <p:nvSpPr>
          <p:cNvPr id="229" name="Google Shape;229;g1b64d640a47_0_47"/>
          <p:cNvSpPr txBox="1"/>
          <p:nvPr/>
        </p:nvSpPr>
        <p:spPr>
          <a:xfrm>
            <a:off x="0" y="188686"/>
            <a:ext cx="3123600" cy="477000"/>
          </a:xfrm>
          <a:prstGeom prst="rect">
            <a:avLst/>
          </a:prstGeom>
          <a:noFill/>
          <a:ln>
            <a:noFill/>
          </a:ln>
        </p:spPr>
        <p:txBody>
          <a:bodyPr anchorCtr="0" anchor="t" bIns="45700" lIns="91425" spcFirstLastPara="1" rIns="91425" wrap="square" tIns="45700">
            <a:spAutoFit/>
          </a:bodyPr>
          <a:lstStyle/>
          <a:p>
            <a:pPr indent="0" lvl="0" marL="231775"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Explanation</a:t>
            </a:r>
            <a:r>
              <a:rPr b="1" i="0" lang="en-US" sz="2500" u="none" cap="none" strike="noStrike">
                <a:solidFill>
                  <a:srgbClr val="FFFFFF"/>
                </a:solidFill>
                <a:latin typeface="Arial"/>
                <a:ea typeface="Arial"/>
                <a:cs typeface="Arial"/>
                <a:sym typeface="Arial"/>
              </a:rPr>
              <a:t>:</a:t>
            </a:r>
            <a:endParaRPr b="1" i="0" sz="2500" u="none" cap="none" strike="noStrike">
              <a:solidFill>
                <a:srgbClr val="FFFFFF"/>
              </a:solidFill>
              <a:latin typeface="Arial"/>
              <a:ea typeface="Arial"/>
              <a:cs typeface="Arial"/>
              <a:sym typeface="Arial"/>
            </a:endParaRPr>
          </a:p>
        </p:txBody>
      </p:sp>
      <p:sp>
        <p:nvSpPr>
          <p:cNvPr id="230" name="Google Shape;230;g1b64d640a47_0_47"/>
          <p:cNvSpPr txBox="1"/>
          <p:nvPr/>
        </p:nvSpPr>
        <p:spPr>
          <a:xfrm>
            <a:off x="342900" y="1435600"/>
            <a:ext cx="8472600" cy="3121500"/>
          </a:xfrm>
          <a:prstGeom prst="rect">
            <a:avLst/>
          </a:prstGeom>
          <a:noFill/>
          <a:ln>
            <a:noFill/>
          </a:ln>
        </p:spPr>
        <p:txBody>
          <a:bodyPr anchorCtr="0" anchor="t" bIns="45700" lIns="91425" spcFirstLastPara="1" rIns="91425" wrap="square" tIns="45700">
            <a:spAutoFit/>
          </a:bodyPr>
          <a:lstStyle/>
          <a:p>
            <a:pPr indent="0" lvl="0" marL="0" marR="0" rtl="0" algn="l">
              <a:lnSpc>
                <a:spcPct val="170000"/>
              </a:lnSpc>
              <a:spcBef>
                <a:spcPts val="800"/>
              </a:spcBef>
              <a:spcAft>
                <a:spcPts val="0"/>
              </a:spcAft>
              <a:buClr>
                <a:schemeClr val="dk1"/>
              </a:buClr>
              <a:buSzPts val="1100"/>
              <a:buFont typeface="Arial"/>
              <a:buNone/>
            </a:pPr>
            <a:r>
              <a:rPr b="0" i="0" lang="en-US" sz="1400" u="none" cap="none" strike="noStrike">
                <a:solidFill>
                  <a:schemeClr val="dk1"/>
                </a:solidFill>
                <a:highlight>
                  <a:schemeClr val="lt1"/>
                </a:highlight>
                <a:latin typeface="Arial"/>
                <a:ea typeface="Arial"/>
                <a:cs typeface="Arial"/>
                <a:sym typeface="Arial"/>
              </a:rPr>
              <a:t>		</a:t>
            </a:r>
            <a:r>
              <a:rPr b="0" i="0" lang="en-US" sz="1400" u="none" cap="none" strike="noStrike">
                <a:solidFill>
                  <a:schemeClr val="dk1"/>
                </a:solidFill>
                <a:highlight>
                  <a:schemeClr val="lt1"/>
                </a:highlight>
                <a:latin typeface="Roboto"/>
                <a:ea typeface="Roboto"/>
                <a:cs typeface="Roboto"/>
                <a:sym typeface="Roboto"/>
              </a:rPr>
              <a:t>	A            :    B             :   C</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70000"/>
              </a:lnSpc>
              <a:spcBef>
                <a:spcPts val="800"/>
              </a:spcBef>
              <a:spcAft>
                <a:spcPts val="0"/>
              </a:spcAft>
              <a:buClr>
                <a:schemeClr val="dk1"/>
              </a:buClr>
              <a:buSzPts val="1100"/>
              <a:buFont typeface="Arial"/>
              <a:buNone/>
            </a:pPr>
            <a:r>
              <a:rPr b="0" i="0" lang="en-US" sz="1400" u="none" cap="none" strike="noStrike">
                <a:solidFill>
                  <a:schemeClr val="dk1"/>
                </a:solidFill>
                <a:highlight>
                  <a:schemeClr val="lt1"/>
                </a:highlight>
                <a:latin typeface="Roboto"/>
                <a:ea typeface="Roboto"/>
                <a:cs typeface="Roboto"/>
                <a:sym typeface="Roboto"/>
              </a:rPr>
              <a:t>                    75000*36     :  60000*36    :   40000*36</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70000"/>
              </a:lnSpc>
              <a:spcBef>
                <a:spcPts val="800"/>
              </a:spcBef>
              <a:spcAft>
                <a:spcPts val="0"/>
              </a:spcAft>
              <a:buClr>
                <a:schemeClr val="dk1"/>
              </a:buClr>
              <a:buSzPts val="1100"/>
              <a:buFont typeface="Arial"/>
              <a:buNone/>
            </a:pPr>
            <a:r>
              <a:rPr b="0" i="0" lang="en-US" sz="1400" u="none" cap="none" strike="noStrike">
                <a:solidFill>
                  <a:schemeClr val="dk1"/>
                </a:solidFill>
                <a:highlight>
                  <a:schemeClr val="lt1"/>
                </a:highlight>
                <a:latin typeface="Roboto"/>
                <a:ea typeface="Roboto"/>
                <a:cs typeface="Roboto"/>
                <a:sym typeface="Roboto"/>
              </a:rPr>
              <a:t>			75        :    60              :   40</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70000"/>
              </a:lnSpc>
              <a:spcBef>
                <a:spcPts val="800"/>
              </a:spcBef>
              <a:spcAft>
                <a:spcPts val="0"/>
              </a:spcAft>
              <a:buClr>
                <a:schemeClr val="dk1"/>
              </a:buClr>
              <a:buSzPts val="1100"/>
              <a:buFont typeface="Arial"/>
              <a:buNone/>
            </a:pPr>
            <a:r>
              <a:rPr b="0" i="0" lang="en-US" sz="1400" u="none" cap="none" strike="noStrike">
                <a:solidFill>
                  <a:schemeClr val="dk1"/>
                </a:solidFill>
                <a:highlight>
                  <a:schemeClr val="lt1"/>
                </a:highlight>
                <a:latin typeface="Roboto"/>
                <a:ea typeface="Roboto"/>
                <a:cs typeface="Roboto"/>
                <a:sym typeface="Roboto"/>
              </a:rPr>
              <a:t>			15        :     12             :   8</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70000"/>
              </a:lnSpc>
              <a:spcBef>
                <a:spcPts val="800"/>
              </a:spcBef>
              <a:spcAft>
                <a:spcPts val="0"/>
              </a:spcAft>
              <a:buClr>
                <a:schemeClr val="dk1"/>
              </a:buClr>
              <a:buSzPts val="1100"/>
              <a:buFont typeface="Arial"/>
              <a:buNone/>
            </a:pPr>
            <a:r>
              <a:rPr b="0" i="0" lang="en-US" sz="1400" u="none" cap="none" strike="noStrike">
                <a:solidFill>
                  <a:schemeClr val="dk1"/>
                </a:solidFill>
                <a:highlight>
                  <a:schemeClr val="lt1"/>
                </a:highlight>
                <a:latin typeface="Roboto"/>
                <a:ea typeface="Roboto"/>
                <a:cs typeface="Roboto"/>
                <a:sym typeface="Roboto"/>
              </a:rPr>
              <a:t>                              8/35*26,250=6000</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70000"/>
              </a:lnSpc>
              <a:spcBef>
                <a:spcPts val="800"/>
              </a:spcBef>
              <a:spcAft>
                <a:spcPts val="0"/>
              </a:spcAft>
              <a:buClr>
                <a:schemeClr val="dk1"/>
              </a:buClr>
              <a:buSzPts val="1100"/>
              <a:buFont typeface="Arial"/>
              <a:buNone/>
            </a:pPr>
            <a:r>
              <a:t/>
            </a:r>
            <a:endParaRPr b="0" i="0" sz="1400" u="none" cap="none" strike="noStrike">
              <a:solidFill>
                <a:schemeClr val="dk1"/>
              </a:solidFill>
              <a:highlight>
                <a:schemeClr val="lt1"/>
              </a:highlight>
              <a:latin typeface="Arial"/>
              <a:ea typeface="Arial"/>
              <a:cs typeface="Arial"/>
              <a:sym typeface="Arial"/>
            </a:endParaRPr>
          </a:p>
          <a:p>
            <a:pPr indent="0" lvl="0" marL="0" marR="0" rtl="0" algn="l">
              <a:lnSpc>
                <a:spcPct val="100000"/>
              </a:lnSpc>
              <a:spcBef>
                <a:spcPts val="800"/>
              </a:spcBef>
              <a:spcAft>
                <a:spcPts val="0"/>
              </a:spcAft>
              <a:buClr>
                <a:srgbClr val="000000"/>
              </a:buClr>
              <a:buSzPts val="1800"/>
              <a:buFont typeface="Arial"/>
              <a:buNone/>
            </a:pPr>
            <a:r>
              <a:t/>
            </a:r>
            <a:endParaRPr b="0" i="0" sz="1400" u="none" cap="none" strike="noStrike">
              <a:solidFill>
                <a:schemeClr val="dk1"/>
              </a:solidFill>
              <a:latin typeface="Arial"/>
              <a:ea typeface="Arial"/>
              <a:cs typeface="Arial"/>
              <a:sym typeface="Arial"/>
            </a:endParaRPr>
          </a:p>
        </p:txBody>
      </p:sp>
      <p:sp>
        <p:nvSpPr>
          <p:cNvPr id="231" name="Google Shape;231;g1b64d640a47_0_47"/>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Explanation: 12</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0" st="0"/>
                                            </p:txEl>
                                          </p:spTgt>
                                        </p:tgtEl>
                                        <p:attrNameLst>
                                          <p:attrName>style.visibility</p:attrName>
                                        </p:attrNameLst>
                                      </p:cBhvr>
                                      <p:to>
                                        <p:strVal val="visible"/>
                                      </p:to>
                                    </p:set>
                                    <p:animEffect filter="fade" transition="in">
                                      <p:cBhvr>
                                        <p:cTn dur="1000"/>
                                        <p:tgtEl>
                                          <p:spTgt spid="2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1" st="1"/>
                                            </p:txEl>
                                          </p:spTgt>
                                        </p:tgtEl>
                                        <p:attrNameLst>
                                          <p:attrName>style.visibility</p:attrName>
                                        </p:attrNameLst>
                                      </p:cBhvr>
                                      <p:to>
                                        <p:strVal val="visible"/>
                                      </p:to>
                                    </p:set>
                                    <p:animEffect filter="fade" transition="in">
                                      <p:cBhvr>
                                        <p:cTn dur="1000"/>
                                        <p:tgtEl>
                                          <p:spTgt spid="2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2" st="2"/>
                                            </p:txEl>
                                          </p:spTgt>
                                        </p:tgtEl>
                                        <p:attrNameLst>
                                          <p:attrName>style.visibility</p:attrName>
                                        </p:attrNameLst>
                                      </p:cBhvr>
                                      <p:to>
                                        <p:strVal val="visible"/>
                                      </p:to>
                                    </p:set>
                                    <p:animEffect filter="fade" transition="in">
                                      <p:cBhvr>
                                        <p:cTn dur="1000"/>
                                        <p:tgtEl>
                                          <p:spTgt spid="2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3" st="3"/>
                                            </p:txEl>
                                          </p:spTgt>
                                        </p:tgtEl>
                                        <p:attrNameLst>
                                          <p:attrName>style.visibility</p:attrName>
                                        </p:attrNameLst>
                                      </p:cBhvr>
                                      <p:to>
                                        <p:strVal val="visible"/>
                                      </p:to>
                                    </p:set>
                                    <p:animEffect filter="fade" transition="in">
                                      <p:cBhvr>
                                        <p:cTn dur="1000"/>
                                        <p:tgtEl>
                                          <p:spTgt spid="2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4" st="4"/>
                                            </p:txEl>
                                          </p:spTgt>
                                        </p:tgtEl>
                                        <p:attrNameLst>
                                          <p:attrName>style.visibility</p:attrName>
                                        </p:attrNameLst>
                                      </p:cBhvr>
                                      <p:to>
                                        <p:strVal val="visible"/>
                                      </p:to>
                                    </p:set>
                                    <p:animEffect filter="fade" transition="in">
                                      <p:cBhvr>
                                        <p:cTn dur="1000"/>
                                        <p:tgtEl>
                                          <p:spTgt spid="23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5" st="5"/>
                                            </p:txEl>
                                          </p:spTgt>
                                        </p:tgtEl>
                                        <p:attrNameLst>
                                          <p:attrName>style.visibility</p:attrName>
                                        </p:attrNameLst>
                                      </p:cBhvr>
                                      <p:to>
                                        <p:strVal val="visible"/>
                                      </p:to>
                                    </p:set>
                                    <p:animEffect filter="fade" transition="in">
                                      <p:cBhvr>
                                        <p:cTn dur="1000"/>
                                        <p:tgtEl>
                                          <p:spTgt spid="23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6" st="6"/>
                                            </p:txEl>
                                          </p:spTgt>
                                        </p:tgtEl>
                                        <p:attrNameLst>
                                          <p:attrName>style.visibility</p:attrName>
                                        </p:attrNameLst>
                                      </p:cBhvr>
                                      <p:to>
                                        <p:strVal val="visible"/>
                                      </p:to>
                                    </p:set>
                                    <p:animEffect filter="fade" transition="in">
                                      <p:cBhvr>
                                        <p:cTn dur="1000"/>
                                        <p:tgtEl>
                                          <p:spTgt spid="23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8"/>
          <p:cNvSpPr txBox="1"/>
          <p:nvPr>
            <p:ph idx="1" type="body"/>
          </p:nvPr>
        </p:nvSpPr>
        <p:spPr>
          <a:xfrm>
            <a:off x="573375" y="1350675"/>
            <a:ext cx="8216700" cy="2927100"/>
          </a:xfrm>
          <a:prstGeom prst="rect">
            <a:avLst/>
          </a:prstGeom>
          <a:noFill/>
          <a:ln>
            <a:noFill/>
          </a:ln>
        </p:spPr>
        <p:txBody>
          <a:bodyPr anchorCtr="0" anchor="t" bIns="91425" lIns="91425" spcFirstLastPara="1" rIns="91425" wrap="square" tIns="91425">
            <a:noAutofit/>
          </a:bodyPr>
          <a:lstStyle/>
          <a:p>
            <a:pPr indent="0" lvl="0" marL="0" marR="50800" rtl="0" algn="l">
              <a:lnSpc>
                <a:spcPct val="150000"/>
              </a:lnSpc>
              <a:spcBef>
                <a:spcPts val="800"/>
              </a:spcBef>
              <a:spcAft>
                <a:spcPts val="0"/>
              </a:spcAft>
              <a:buSzPts val="1800"/>
              <a:buNone/>
            </a:pPr>
            <a:r>
              <a:rPr lang="en-US" sz="1600">
                <a:solidFill>
                  <a:schemeClr val="dk1"/>
                </a:solidFill>
                <a:highlight>
                  <a:schemeClr val="lt1"/>
                </a:highlight>
                <a:latin typeface="Roboto"/>
                <a:ea typeface="Roboto"/>
                <a:cs typeface="Roboto"/>
                <a:sym typeface="Roboto"/>
              </a:rPr>
              <a:t>Arun started a business investing Rs.32,000 after 5 months, Bala joined him with a capital of Rs.22,000 at the end of the year. The total profit was Rs.16,409. What is the difference between shares of Arun and Bala?</a:t>
            </a:r>
            <a:endParaRPr sz="1600">
              <a:solidFill>
                <a:schemeClr val="dk1"/>
              </a:solidFill>
              <a:highlight>
                <a:schemeClr val="lt1"/>
              </a:highlight>
              <a:latin typeface="Roboto"/>
              <a:ea typeface="Roboto"/>
              <a:cs typeface="Roboto"/>
              <a:sym typeface="Roboto"/>
            </a:endParaRPr>
          </a:p>
          <a:p>
            <a:pPr indent="-330200" lvl="0" marL="457200" marR="50800" rtl="0" algn="l">
              <a:lnSpc>
                <a:spcPct val="150000"/>
              </a:lnSpc>
              <a:spcBef>
                <a:spcPts val="800"/>
              </a:spcBef>
              <a:spcAft>
                <a:spcPts val="0"/>
              </a:spcAft>
              <a:buClr>
                <a:schemeClr val="dk1"/>
              </a:buClr>
              <a:buSzPts val="1600"/>
              <a:buFont typeface="Roboto"/>
              <a:buAutoNum type="alphaUcPeriod"/>
            </a:pPr>
            <a:r>
              <a:rPr lang="en-US" sz="1600">
                <a:solidFill>
                  <a:schemeClr val="dk1"/>
                </a:solidFill>
                <a:highlight>
                  <a:schemeClr val="lt1"/>
                </a:highlight>
                <a:latin typeface="Roboto"/>
                <a:ea typeface="Roboto"/>
                <a:cs typeface="Roboto"/>
                <a:sym typeface="Roboto"/>
              </a:rPr>
              <a:t>Rs.5284</a:t>
            </a:r>
            <a:endParaRPr sz="1600">
              <a:solidFill>
                <a:schemeClr val="dk1"/>
              </a:solidFill>
              <a:highlight>
                <a:schemeClr val="lt1"/>
              </a:highlight>
              <a:latin typeface="Roboto"/>
              <a:ea typeface="Roboto"/>
              <a:cs typeface="Roboto"/>
              <a:sym typeface="Roboto"/>
            </a:endParaRPr>
          </a:p>
          <a:p>
            <a:pPr indent="-330200" lvl="0" marL="457200" marR="50800" rtl="0" algn="l">
              <a:lnSpc>
                <a:spcPct val="150000"/>
              </a:lnSpc>
              <a:spcBef>
                <a:spcPts val="0"/>
              </a:spcBef>
              <a:spcAft>
                <a:spcPts val="0"/>
              </a:spcAft>
              <a:buClr>
                <a:schemeClr val="dk1"/>
              </a:buClr>
              <a:buSzPts val="1600"/>
              <a:buFont typeface="Roboto"/>
              <a:buAutoNum type="alphaUcPeriod"/>
            </a:pPr>
            <a:r>
              <a:rPr lang="en-US" sz="1600">
                <a:solidFill>
                  <a:schemeClr val="dk1"/>
                </a:solidFill>
                <a:highlight>
                  <a:schemeClr val="lt1"/>
                </a:highlight>
                <a:latin typeface="Roboto"/>
                <a:ea typeface="Roboto"/>
                <a:cs typeface="Roboto"/>
                <a:sym typeface="Roboto"/>
              </a:rPr>
              <a:t>RS.11712</a:t>
            </a:r>
            <a:endParaRPr sz="1600">
              <a:solidFill>
                <a:schemeClr val="dk1"/>
              </a:solidFill>
              <a:highlight>
                <a:schemeClr val="lt1"/>
              </a:highlight>
              <a:latin typeface="Roboto"/>
              <a:ea typeface="Roboto"/>
              <a:cs typeface="Roboto"/>
              <a:sym typeface="Roboto"/>
            </a:endParaRPr>
          </a:p>
          <a:p>
            <a:pPr indent="-330200" lvl="0" marL="457200" marR="50800" rtl="0" algn="l">
              <a:lnSpc>
                <a:spcPct val="150000"/>
              </a:lnSpc>
              <a:spcBef>
                <a:spcPts val="0"/>
              </a:spcBef>
              <a:spcAft>
                <a:spcPts val="0"/>
              </a:spcAft>
              <a:buClr>
                <a:schemeClr val="dk1"/>
              </a:buClr>
              <a:buSzPts val="1600"/>
              <a:buFont typeface="Roboto"/>
              <a:buAutoNum type="alphaUcPeriod"/>
            </a:pPr>
            <a:r>
              <a:rPr lang="en-US" sz="1600">
                <a:solidFill>
                  <a:schemeClr val="dk1"/>
                </a:solidFill>
                <a:highlight>
                  <a:schemeClr val="lt1"/>
                </a:highlight>
                <a:latin typeface="Roboto"/>
                <a:ea typeface="Roboto"/>
                <a:cs typeface="Roboto"/>
                <a:sym typeface="Roboto"/>
              </a:rPr>
              <a:t>Rs.10182</a:t>
            </a:r>
            <a:endParaRPr sz="1600">
              <a:solidFill>
                <a:schemeClr val="dk1"/>
              </a:solidFill>
              <a:highlight>
                <a:schemeClr val="lt1"/>
              </a:highlight>
              <a:latin typeface="Roboto"/>
              <a:ea typeface="Roboto"/>
              <a:cs typeface="Roboto"/>
              <a:sym typeface="Roboto"/>
            </a:endParaRPr>
          </a:p>
          <a:p>
            <a:pPr indent="-330200" lvl="0" marL="457200" marR="50800" rtl="0" algn="l">
              <a:lnSpc>
                <a:spcPct val="150000"/>
              </a:lnSpc>
              <a:spcBef>
                <a:spcPts val="0"/>
              </a:spcBef>
              <a:spcAft>
                <a:spcPts val="0"/>
              </a:spcAft>
              <a:buClr>
                <a:schemeClr val="dk1"/>
              </a:buClr>
              <a:buSzPts val="1600"/>
              <a:buFont typeface="Roboto"/>
              <a:buAutoNum type="alphaUcPeriod"/>
            </a:pPr>
            <a:r>
              <a:rPr lang="en-US" sz="1600">
                <a:solidFill>
                  <a:schemeClr val="dk1"/>
                </a:solidFill>
                <a:highlight>
                  <a:schemeClr val="lt1"/>
                </a:highlight>
                <a:latin typeface="Roboto"/>
                <a:ea typeface="Roboto"/>
                <a:cs typeface="Roboto"/>
                <a:sym typeface="Roboto"/>
              </a:rPr>
              <a:t>Rs.7015</a:t>
            </a:r>
            <a:endParaRPr sz="1600">
              <a:solidFill>
                <a:schemeClr val="dk1"/>
              </a:solidFill>
              <a:highlight>
                <a:schemeClr val="lt1"/>
              </a:highlight>
              <a:latin typeface="Roboto"/>
              <a:ea typeface="Roboto"/>
              <a:cs typeface="Roboto"/>
              <a:sym typeface="Roboto"/>
            </a:endParaRPr>
          </a:p>
          <a:p>
            <a:pPr indent="0" lvl="0" marL="0" rtl="0" algn="l">
              <a:lnSpc>
                <a:spcPct val="150000"/>
              </a:lnSpc>
              <a:spcBef>
                <a:spcPts val="0"/>
              </a:spcBef>
              <a:spcAft>
                <a:spcPts val="0"/>
              </a:spcAft>
              <a:buSzPts val="1800"/>
              <a:buNone/>
            </a:pPr>
            <a:r>
              <a:t/>
            </a:r>
            <a:endParaRPr sz="1600">
              <a:solidFill>
                <a:schemeClr val="dk1"/>
              </a:solidFill>
              <a:latin typeface="Roboto"/>
              <a:ea typeface="Roboto"/>
              <a:cs typeface="Roboto"/>
              <a:sym typeface="Roboto"/>
            </a:endParaRPr>
          </a:p>
        </p:txBody>
      </p:sp>
      <p:sp>
        <p:nvSpPr>
          <p:cNvPr id="237" name="Google Shape;237;p18"/>
          <p:cNvSpPr txBox="1"/>
          <p:nvPr/>
        </p:nvSpPr>
        <p:spPr>
          <a:xfrm>
            <a:off x="57337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Question: 13</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xEl>
                                              <p:pRg end="0" st="0"/>
                                            </p:txEl>
                                          </p:spTgt>
                                        </p:tgtEl>
                                        <p:attrNameLst>
                                          <p:attrName>style.visibility</p:attrName>
                                        </p:attrNameLst>
                                      </p:cBhvr>
                                      <p:to>
                                        <p:strVal val="visible"/>
                                      </p:to>
                                    </p:set>
                                    <p:animEffect filter="fade" transition="in">
                                      <p:cBhvr>
                                        <p:cTn dur="1000"/>
                                        <p:tgtEl>
                                          <p:spTgt spid="2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xEl>
                                              <p:pRg end="1" st="1"/>
                                            </p:txEl>
                                          </p:spTgt>
                                        </p:tgtEl>
                                        <p:attrNameLst>
                                          <p:attrName>style.visibility</p:attrName>
                                        </p:attrNameLst>
                                      </p:cBhvr>
                                      <p:to>
                                        <p:strVal val="visible"/>
                                      </p:to>
                                    </p:set>
                                    <p:animEffect filter="fade" transition="in">
                                      <p:cBhvr>
                                        <p:cTn dur="1000"/>
                                        <p:tgtEl>
                                          <p:spTgt spid="2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xEl>
                                              <p:pRg end="2" st="2"/>
                                            </p:txEl>
                                          </p:spTgt>
                                        </p:tgtEl>
                                        <p:attrNameLst>
                                          <p:attrName>style.visibility</p:attrName>
                                        </p:attrNameLst>
                                      </p:cBhvr>
                                      <p:to>
                                        <p:strVal val="visible"/>
                                      </p:to>
                                    </p:set>
                                    <p:animEffect filter="fade" transition="in">
                                      <p:cBhvr>
                                        <p:cTn dur="1000"/>
                                        <p:tgtEl>
                                          <p:spTgt spid="23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xEl>
                                              <p:pRg end="3" st="3"/>
                                            </p:txEl>
                                          </p:spTgt>
                                        </p:tgtEl>
                                        <p:attrNameLst>
                                          <p:attrName>style.visibility</p:attrName>
                                        </p:attrNameLst>
                                      </p:cBhvr>
                                      <p:to>
                                        <p:strVal val="visible"/>
                                      </p:to>
                                    </p:set>
                                    <p:animEffect filter="fade" transition="in">
                                      <p:cBhvr>
                                        <p:cTn dur="1000"/>
                                        <p:tgtEl>
                                          <p:spTgt spid="23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xEl>
                                              <p:pRg end="4" st="4"/>
                                            </p:txEl>
                                          </p:spTgt>
                                        </p:tgtEl>
                                        <p:attrNameLst>
                                          <p:attrName>style.visibility</p:attrName>
                                        </p:attrNameLst>
                                      </p:cBhvr>
                                      <p:to>
                                        <p:strVal val="visible"/>
                                      </p:to>
                                    </p:set>
                                    <p:animEffect filter="fade" transition="in">
                                      <p:cBhvr>
                                        <p:cTn dur="1000"/>
                                        <p:tgtEl>
                                          <p:spTgt spid="23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xEl>
                                              <p:pRg end="5" st="5"/>
                                            </p:txEl>
                                          </p:spTgt>
                                        </p:tgtEl>
                                        <p:attrNameLst>
                                          <p:attrName>style.visibility</p:attrName>
                                        </p:attrNameLst>
                                      </p:cBhvr>
                                      <p:to>
                                        <p:strVal val="visible"/>
                                      </p:to>
                                    </p:set>
                                    <p:animEffect filter="fade" transition="in">
                                      <p:cBhvr>
                                        <p:cTn dur="1000"/>
                                        <p:tgtEl>
                                          <p:spTgt spid="236">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1" name="Shape 241"/>
        <p:cNvGrpSpPr/>
        <p:nvPr/>
      </p:nvGrpSpPr>
      <p:grpSpPr>
        <a:xfrm>
          <a:off x="0" y="0"/>
          <a:ext cx="0" cy="0"/>
          <a:chOff x="0" y="0"/>
          <a:chExt cx="0" cy="0"/>
        </a:xfrm>
      </p:grpSpPr>
      <p:sp>
        <p:nvSpPr>
          <p:cNvPr id="242" name="Google Shape;242;g1b64d640a47_0_55"/>
          <p:cNvSpPr txBox="1"/>
          <p:nvPr/>
        </p:nvSpPr>
        <p:spPr>
          <a:xfrm>
            <a:off x="0" y="188686"/>
            <a:ext cx="3123600" cy="477000"/>
          </a:xfrm>
          <a:prstGeom prst="rect">
            <a:avLst/>
          </a:prstGeom>
          <a:noFill/>
          <a:ln>
            <a:noFill/>
          </a:ln>
        </p:spPr>
        <p:txBody>
          <a:bodyPr anchorCtr="0" anchor="t" bIns="45700" lIns="91425" spcFirstLastPara="1" rIns="91425" wrap="square" tIns="45700">
            <a:spAutoFit/>
          </a:bodyPr>
          <a:lstStyle/>
          <a:p>
            <a:pPr indent="0" lvl="0" marL="231775"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Explanation</a:t>
            </a:r>
            <a:r>
              <a:rPr b="1" i="0" lang="en-US" sz="2500" u="none" cap="none" strike="noStrike">
                <a:solidFill>
                  <a:srgbClr val="FFFFFF"/>
                </a:solidFill>
                <a:latin typeface="Arial"/>
                <a:ea typeface="Arial"/>
                <a:cs typeface="Arial"/>
                <a:sym typeface="Arial"/>
              </a:rPr>
              <a:t>:</a:t>
            </a:r>
            <a:endParaRPr b="1" i="0" sz="2500" u="none" cap="none" strike="noStrike">
              <a:solidFill>
                <a:srgbClr val="FFFFFF"/>
              </a:solidFill>
              <a:latin typeface="Arial"/>
              <a:ea typeface="Arial"/>
              <a:cs typeface="Arial"/>
              <a:sym typeface="Arial"/>
            </a:endParaRPr>
          </a:p>
        </p:txBody>
      </p:sp>
      <p:sp>
        <p:nvSpPr>
          <p:cNvPr id="243" name="Google Shape;243;g1b64d640a47_0_55"/>
          <p:cNvSpPr txBox="1"/>
          <p:nvPr/>
        </p:nvSpPr>
        <p:spPr>
          <a:xfrm>
            <a:off x="412800" y="1516049"/>
            <a:ext cx="8472600" cy="2652600"/>
          </a:xfrm>
          <a:prstGeom prst="rect">
            <a:avLst/>
          </a:prstGeom>
          <a:noFill/>
          <a:ln>
            <a:noFill/>
          </a:ln>
        </p:spPr>
        <p:txBody>
          <a:bodyPr anchorCtr="0" anchor="t" bIns="45700" lIns="91425" spcFirstLastPara="1" rIns="91425" wrap="square" tIns="45700">
            <a:spAutoFit/>
          </a:bodyPr>
          <a:lstStyle/>
          <a:p>
            <a:pPr indent="0" lvl="0" marL="0" marR="0" rtl="0" algn="l">
              <a:lnSpc>
                <a:spcPct val="170000"/>
              </a:lnSpc>
              <a:spcBef>
                <a:spcPts val="800"/>
              </a:spcBef>
              <a:spcAft>
                <a:spcPts val="0"/>
              </a:spcAft>
              <a:buClr>
                <a:schemeClr val="dk1"/>
              </a:buClr>
              <a:buSzPts val="1100"/>
              <a:buFont typeface="Arial"/>
              <a:buNone/>
            </a:pPr>
            <a:r>
              <a:rPr b="0" i="0" lang="en-US" sz="1400" u="none" cap="none" strike="noStrike">
                <a:solidFill>
                  <a:schemeClr val="dk1"/>
                </a:solidFill>
                <a:highlight>
                  <a:schemeClr val="lt1"/>
                </a:highlight>
                <a:latin typeface="Roboto"/>
                <a:ea typeface="Roboto"/>
                <a:cs typeface="Roboto"/>
                <a:sym typeface="Roboto"/>
              </a:rPr>
              <a:t>			Arun         :         Bala</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70000"/>
              </a:lnSpc>
              <a:spcBef>
                <a:spcPts val="800"/>
              </a:spcBef>
              <a:spcAft>
                <a:spcPts val="0"/>
              </a:spcAft>
              <a:buClr>
                <a:schemeClr val="dk1"/>
              </a:buClr>
              <a:buSzPts val="1100"/>
              <a:buFont typeface="Arial"/>
              <a:buNone/>
            </a:pPr>
            <a:r>
              <a:rPr b="0" i="0" lang="en-US" sz="1400" u="none" cap="none" strike="noStrike">
                <a:solidFill>
                  <a:schemeClr val="dk1"/>
                </a:solidFill>
                <a:highlight>
                  <a:schemeClr val="lt1"/>
                </a:highlight>
                <a:latin typeface="Roboto"/>
                <a:ea typeface="Roboto"/>
                <a:cs typeface="Roboto"/>
                <a:sym typeface="Roboto"/>
              </a:rPr>
              <a:t>		32000*12          :         22000*7</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70000"/>
              </a:lnSpc>
              <a:spcBef>
                <a:spcPts val="800"/>
              </a:spcBef>
              <a:spcAft>
                <a:spcPts val="0"/>
              </a:spcAft>
              <a:buClr>
                <a:schemeClr val="dk1"/>
              </a:buClr>
              <a:buSzPts val="1100"/>
              <a:buFont typeface="Arial"/>
              <a:buNone/>
            </a:pPr>
            <a:r>
              <a:rPr b="0" i="0" lang="en-US" sz="1400" u="none" cap="none" strike="noStrike">
                <a:solidFill>
                  <a:schemeClr val="dk1"/>
                </a:solidFill>
                <a:highlight>
                  <a:schemeClr val="lt1"/>
                </a:highlight>
                <a:latin typeface="Roboto"/>
                <a:ea typeface="Roboto"/>
                <a:cs typeface="Roboto"/>
                <a:sym typeface="Roboto"/>
              </a:rPr>
              <a:t>                    32*6                 :          11*7</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70000"/>
              </a:lnSpc>
              <a:spcBef>
                <a:spcPts val="800"/>
              </a:spcBef>
              <a:spcAft>
                <a:spcPts val="0"/>
              </a:spcAft>
              <a:buClr>
                <a:schemeClr val="dk1"/>
              </a:buClr>
              <a:buSzPts val="1100"/>
              <a:buFont typeface="Arial"/>
              <a:buNone/>
            </a:pPr>
            <a:r>
              <a:rPr b="0" i="0" lang="en-US" sz="1400" u="none" cap="none" strike="noStrike">
                <a:solidFill>
                  <a:schemeClr val="dk1"/>
                </a:solidFill>
                <a:highlight>
                  <a:schemeClr val="lt1"/>
                </a:highlight>
                <a:latin typeface="Roboto"/>
                <a:ea typeface="Roboto"/>
                <a:cs typeface="Roboto"/>
                <a:sym typeface="Roboto"/>
              </a:rPr>
              <a:t>                     192                 :          77     (192-77)=115</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70000"/>
              </a:lnSpc>
              <a:spcBef>
                <a:spcPts val="800"/>
              </a:spcBef>
              <a:spcAft>
                <a:spcPts val="0"/>
              </a:spcAft>
              <a:buClr>
                <a:schemeClr val="dk1"/>
              </a:buClr>
              <a:buSzPts val="1100"/>
              <a:buFont typeface="Arial"/>
              <a:buNone/>
            </a:pPr>
            <a:r>
              <a:rPr b="0" i="0" lang="en-US" sz="1400" u="none" cap="none" strike="noStrike">
                <a:solidFill>
                  <a:schemeClr val="dk1"/>
                </a:solidFill>
                <a:highlight>
                  <a:schemeClr val="lt1"/>
                </a:highlight>
                <a:latin typeface="Roboto"/>
                <a:ea typeface="Roboto"/>
                <a:cs typeface="Roboto"/>
                <a:sym typeface="Roboto"/>
              </a:rPr>
              <a:t>                       115/269*16409=7015</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rgbClr val="000000"/>
              </a:buClr>
              <a:buSzPts val="1800"/>
              <a:buFont typeface="Arial"/>
              <a:buNone/>
            </a:pPr>
            <a:r>
              <a:t/>
            </a:r>
            <a:endParaRPr b="0" i="0" sz="1400" u="none" cap="none" strike="noStrike">
              <a:solidFill>
                <a:schemeClr val="dk1"/>
              </a:solidFill>
              <a:latin typeface="Roboto"/>
              <a:ea typeface="Roboto"/>
              <a:cs typeface="Roboto"/>
              <a:sym typeface="Roboto"/>
            </a:endParaRPr>
          </a:p>
        </p:txBody>
      </p:sp>
      <p:sp>
        <p:nvSpPr>
          <p:cNvPr id="244" name="Google Shape;244;g1b64d640a47_0_55"/>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Explanation: 13</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0" st="0"/>
                                            </p:txEl>
                                          </p:spTgt>
                                        </p:tgtEl>
                                        <p:attrNameLst>
                                          <p:attrName>style.visibility</p:attrName>
                                        </p:attrNameLst>
                                      </p:cBhvr>
                                      <p:to>
                                        <p:strVal val="visible"/>
                                      </p:to>
                                    </p:set>
                                    <p:animEffect filter="fade" transition="in">
                                      <p:cBhvr>
                                        <p:cTn dur="1000"/>
                                        <p:tgtEl>
                                          <p:spTgt spid="2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1" st="1"/>
                                            </p:txEl>
                                          </p:spTgt>
                                        </p:tgtEl>
                                        <p:attrNameLst>
                                          <p:attrName>style.visibility</p:attrName>
                                        </p:attrNameLst>
                                      </p:cBhvr>
                                      <p:to>
                                        <p:strVal val="visible"/>
                                      </p:to>
                                    </p:set>
                                    <p:animEffect filter="fade" transition="in">
                                      <p:cBhvr>
                                        <p:cTn dur="1000"/>
                                        <p:tgtEl>
                                          <p:spTgt spid="24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2" st="2"/>
                                            </p:txEl>
                                          </p:spTgt>
                                        </p:tgtEl>
                                        <p:attrNameLst>
                                          <p:attrName>style.visibility</p:attrName>
                                        </p:attrNameLst>
                                      </p:cBhvr>
                                      <p:to>
                                        <p:strVal val="visible"/>
                                      </p:to>
                                    </p:set>
                                    <p:animEffect filter="fade" transition="in">
                                      <p:cBhvr>
                                        <p:cTn dur="1000"/>
                                        <p:tgtEl>
                                          <p:spTgt spid="24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3" st="3"/>
                                            </p:txEl>
                                          </p:spTgt>
                                        </p:tgtEl>
                                        <p:attrNameLst>
                                          <p:attrName>style.visibility</p:attrName>
                                        </p:attrNameLst>
                                      </p:cBhvr>
                                      <p:to>
                                        <p:strVal val="visible"/>
                                      </p:to>
                                    </p:set>
                                    <p:animEffect filter="fade" transition="in">
                                      <p:cBhvr>
                                        <p:cTn dur="1000"/>
                                        <p:tgtEl>
                                          <p:spTgt spid="24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4" st="4"/>
                                            </p:txEl>
                                          </p:spTgt>
                                        </p:tgtEl>
                                        <p:attrNameLst>
                                          <p:attrName>style.visibility</p:attrName>
                                        </p:attrNameLst>
                                      </p:cBhvr>
                                      <p:to>
                                        <p:strVal val="visible"/>
                                      </p:to>
                                    </p:set>
                                    <p:animEffect filter="fade" transition="in">
                                      <p:cBhvr>
                                        <p:cTn dur="1000"/>
                                        <p:tgtEl>
                                          <p:spTgt spid="24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5" st="5"/>
                                            </p:txEl>
                                          </p:spTgt>
                                        </p:tgtEl>
                                        <p:attrNameLst>
                                          <p:attrName>style.visibility</p:attrName>
                                        </p:attrNameLst>
                                      </p:cBhvr>
                                      <p:to>
                                        <p:strVal val="visible"/>
                                      </p:to>
                                    </p:set>
                                    <p:animEffect filter="fade" transition="in">
                                      <p:cBhvr>
                                        <p:cTn dur="1000"/>
                                        <p:tgtEl>
                                          <p:spTgt spid="243">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0"/>
          <p:cNvSpPr txBox="1"/>
          <p:nvPr>
            <p:ph idx="1" type="body"/>
          </p:nvPr>
        </p:nvSpPr>
        <p:spPr>
          <a:xfrm>
            <a:off x="722375" y="1435600"/>
            <a:ext cx="7872900" cy="3405300"/>
          </a:xfrm>
          <a:prstGeom prst="rect">
            <a:avLst/>
          </a:prstGeom>
          <a:noFill/>
          <a:ln>
            <a:noFill/>
          </a:ln>
        </p:spPr>
        <p:txBody>
          <a:bodyPr anchorCtr="0" anchor="t" bIns="91425" lIns="91425" spcFirstLastPara="1" rIns="91425" wrap="square" tIns="91425">
            <a:noAutofit/>
          </a:bodyPr>
          <a:lstStyle/>
          <a:p>
            <a:pPr indent="0" lvl="0" marL="0" marR="50800" rtl="0" algn="l">
              <a:lnSpc>
                <a:spcPct val="150000"/>
              </a:lnSpc>
              <a:spcBef>
                <a:spcPts val="800"/>
              </a:spcBef>
              <a:spcAft>
                <a:spcPts val="0"/>
              </a:spcAft>
              <a:buSzPts val="1800"/>
              <a:buNone/>
            </a:pPr>
            <a:r>
              <a:rPr lang="en-US" sz="1600">
                <a:solidFill>
                  <a:schemeClr val="dk1"/>
                </a:solidFill>
                <a:highlight>
                  <a:schemeClr val="lt1"/>
                </a:highlight>
                <a:latin typeface="Roboto"/>
                <a:ea typeface="Roboto"/>
                <a:cs typeface="Roboto"/>
                <a:sym typeface="Roboto"/>
              </a:rPr>
              <a:t>Adhi and Bala started a business investing Rs.42,000 and Rs.57,000 Respectively, But bala left the business after 8 months. Find the difference between the shares of profits of Adhi and Bala, if the total profit at the end of the year was Rs.26,000?</a:t>
            </a:r>
            <a:endParaRPr sz="1600">
              <a:solidFill>
                <a:schemeClr val="dk1"/>
              </a:solidFill>
              <a:highlight>
                <a:schemeClr val="lt1"/>
              </a:highlight>
              <a:latin typeface="Roboto"/>
              <a:ea typeface="Roboto"/>
              <a:cs typeface="Roboto"/>
              <a:sym typeface="Roboto"/>
            </a:endParaRPr>
          </a:p>
          <a:p>
            <a:pPr indent="-330200" lvl="0" marL="457200" marR="50800" rtl="0" algn="l">
              <a:lnSpc>
                <a:spcPct val="150000"/>
              </a:lnSpc>
              <a:spcBef>
                <a:spcPts val="800"/>
              </a:spcBef>
              <a:spcAft>
                <a:spcPts val="0"/>
              </a:spcAft>
              <a:buClr>
                <a:schemeClr val="dk1"/>
              </a:buClr>
              <a:buSzPts val="1600"/>
              <a:buFont typeface="Roboto"/>
              <a:buAutoNum type="alphaUcPeriod"/>
            </a:pPr>
            <a:r>
              <a:rPr lang="en-US" sz="1600">
                <a:solidFill>
                  <a:schemeClr val="dk1"/>
                </a:solidFill>
                <a:highlight>
                  <a:schemeClr val="lt1"/>
                </a:highlight>
                <a:latin typeface="Roboto"/>
                <a:ea typeface="Roboto"/>
                <a:cs typeface="Roboto"/>
                <a:sym typeface="Roboto"/>
              </a:rPr>
              <a:t>Rs.1200</a:t>
            </a:r>
            <a:endParaRPr sz="1600">
              <a:solidFill>
                <a:schemeClr val="dk1"/>
              </a:solidFill>
              <a:highlight>
                <a:schemeClr val="lt1"/>
              </a:highlight>
              <a:latin typeface="Roboto"/>
              <a:ea typeface="Roboto"/>
              <a:cs typeface="Roboto"/>
              <a:sym typeface="Roboto"/>
            </a:endParaRPr>
          </a:p>
          <a:p>
            <a:pPr indent="-330200" lvl="0" marL="457200" marR="50800" rtl="0" algn="l">
              <a:lnSpc>
                <a:spcPct val="150000"/>
              </a:lnSpc>
              <a:spcBef>
                <a:spcPts val="0"/>
              </a:spcBef>
              <a:spcAft>
                <a:spcPts val="0"/>
              </a:spcAft>
              <a:buClr>
                <a:schemeClr val="dk1"/>
              </a:buClr>
              <a:buSzPts val="1600"/>
              <a:buFont typeface="Roboto"/>
              <a:buAutoNum type="alphaUcPeriod"/>
            </a:pPr>
            <a:r>
              <a:rPr lang="en-US" sz="1600">
                <a:solidFill>
                  <a:schemeClr val="dk1"/>
                </a:solidFill>
                <a:highlight>
                  <a:schemeClr val="lt1"/>
                </a:highlight>
                <a:latin typeface="Roboto"/>
                <a:ea typeface="Roboto"/>
                <a:cs typeface="Roboto"/>
                <a:sym typeface="Roboto"/>
              </a:rPr>
              <a:t>Rs.1400</a:t>
            </a:r>
            <a:endParaRPr sz="1600">
              <a:solidFill>
                <a:schemeClr val="dk1"/>
              </a:solidFill>
              <a:highlight>
                <a:schemeClr val="lt1"/>
              </a:highlight>
              <a:latin typeface="Roboto"/>
              <a:ea typeface="Roboto"/>
              <a:cs typeface="Roboto"/>
              <a:sym typeface="Roboto"/>
            </a:endParaRPr>
          </a:p>
          <a:p>
            <a:pPr indent="-330200" lvl="0" marL="457200" marR="50800" rtl="0" algn="l">
              <a:lnSpc>
                <a:spcPct val="150000"/>
              </a:lnSpc>
              <a:spcBef>
                <a:spcPts val="0"/>
              </a:spcBef>
              <a:spcAft>
                <a:spcPts val="0"/>
              </a:spcAft>
              <a:buClr>
                <a:schemeClr val="dk1"/>
              </a:buClr>
              <a:buSzPts val="1600"/>
              <a:buFont typeface="Roboto"/>
              <a:buAutoNum type="alphaUcPeriod"/>
            </a:pPr>
            <a:r>
              <a:rPr lang="en-US" sz="1600">
                <a:solidFill>
                  <a:schemeClr val="dk1"/>
                </a:solidFill>
                <a:highlight>
                  <a:schemeClr val="lt1"/>
                </a:highlight>
                <a:latin typeface="Roboto"/>
                <a:ea typeface="Roboto"/>
                <a:cs typeface="Roboto"/>
                <a:sym typeface="Roboto"/>
              </a:rPr>
              <a:t>Rs.1600</a:t>
            </a:r>
            <a:endParaRPr sz="1600">
              <a:solidFill>
                <a:schemeClr val="dk1"/>
              </a:solidFill>
              <a:highlight>
                <a:schemeClr val="lt1"/>
              </a:highlight>
              <a:latin typeface="Roboto"/>
              <a:ea typeface="Roboto"/>
              <a:cs typeface="Roboto"/>
              <a:sym typeface="Roboto"/>
            </a:endParaRPr>
          </a:p>
          <a:p>
            <a:pPr indent="-330200" lvl="0" marL="457200" marR="50800" rtl="0" algn="l">
              <a:lnSpc>
                <a:spcPct val="150000"/>
              </a:lnSpc>
              <a:spcBef>
                <a:spcPts val="0"/>
              </a:spcBef>
              <a:spcAft>
                <a:spcPts val="0"/>
              </a:spcAft>
              <a:buClr>
                <a:schemeClr val="dk1"/>
              </a:buClr>
              <a:buSzPts val="1600"/>
              <a:buFont typeface="Roboto"/>
              <a:buAutoNum type="alphaUcPeriod"/>
            </a:pPr>
            <a:r>
              <a:rPr lang="en-US" sz="1600">
                <a:solidFill>
                  <a:schemeClr val="dk1"/>
                </a:solidFill>
                <a:highlight>
                  <a:schemeClr val="lt1"/>
                </a:highlight>
                <a:latin typeface="Roboto"/>
                <a:ea typeface="Roboto"/>
                <a:cs typeface="Roboto"/>
                <a:sym typeface="Roboto"/>
              </a:rPr>
              <a:t>Rs.1300</a:t>
            </a:r>
            <a:endParaRPr sz="1600">
              <a:solidFill>
                <a:schemeClr val="dk1"/>
              </a:solidFill>
              <a:latin typeface="Roboto"/>
              <a:ea typeface="Roboto"/>
              <a:cs typeface="Roboto"/>
              <a:sym typeface="Roboto"/>
            </a:endParaRPr>
          </a:p>
        </p:txBody>
      </p:sp>
      <p:sp>
        <p:nvSpPr>
          <p:cNvPr id="250" name="Google Shape;250;p30"/>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Question: 14</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0" st="0"/>
                                            </p:txEl>
                                          </p:spTgt>
                                        </p:tgtEl>
                                        <p:attrNameLst>
                                          <p:attrName>style.visibility</p:attrName>
                                        </p:attrNameLst>
                                      </p:cBhvr>
                                      <p:to>
                                        <p:strVal val="visible"/>
                                      </p:to>
                                    </p:set>
                                    <p:animEffect filter="fade" transition="in">
                                      <p:cBhvr>
                                        <p:cTn dur="1000"/>
                                        <p:tgtEl>
                                          <p:spTgt spid="2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1" st="1"/>
                                            </p:txEl>
                                          </p:spTgt>
                                        </p:tgtEl>
                                        <p:attrNameLst>
                                          <p:attrName>style.visibility</p:attrName>
                                        </p:attrNameLst>
                                      </p:cBhvr>
                                      <p:to>
                                        <p:strVal val="visible"/>
                                      </p:to>
                                    </p:set>
                                    <p:animEffect filter="fade" transition="in">
                                      <p:cBhvr>
                                        <p:cTn dur="1000"/>
                                        <p:tgtEl>
                                          <p:spTgt spid="24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2" st="2"/>
                                            </p:txEl>
                                          </p:spTgt>
                                        </p:tgtEl>
                                        <p:attrNameLst>
                                          <p:attrName>style.visibility</p:attrName>
                                        </p:attrNameLst>
                                      </p:cBhvr>
                                      <p:to>
                                        <p:strVal val="visible"/>
                                      </p:to>
                                    </p:set>
                                    <p:animEffect filter="fade" transition="in">
                                      <p:cBhvr>
                                        <p:cTn dur="1000"/>
                                        <p:tgtEl>
                                          <p:spTgt spid="24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3" st="3"/>
                                            </p:txEl>
                                          </p:spTgt>
                                        </p:tgtEl>
                                        <p:attrNameLst>
                                          <p:attrName>style.visibility</p:attrName>
                                        </p:attrNameLst>
                                      </p:cBhvr>
                                      <p:to>
                                        <p:strVal val="visible"/>
                                      </p:to>
                                    </p:set>
                                    <p:animEffect filter="fade" transition="in">
                                      <p:cBhvr>
                                        <p:cTn dur="1000"/>
                                        <p:tgtEl>
                                          <p:spTgt spid="24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4" st="4"/>
                                            </p:txEl>
                                          </p:spTgt>
                                        </p:tgtEl>
                                        <p:attrNameLst>
                                          <p:attrName>style.visibility</p:attrName>
                                        </p:attrNameLst>
                                      </p:cBhvr>
                                      <p:to>
                                        <p:strVal val="visible"/>
                                      </p:to>
                                    </p:set>
                                    <p:animEffect filter="fade" transition="in">
                                      <p:cBhvr>
                                        <p:cTn dur="1000"/>
                                        <p:tgtEl>
                                          <p:spTgt spid="24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4" name="Shape 254"/>
        <p:cNvGrpSpPr/>
        <p:nvPr/>
      </p:nvGrpSpPr>
      <p:grpSpPr>
        <a:xfrm>
          <a:off x="0" y="0"/>
          <a:ext cx="0" cy="0"/>
          <a:chOff x="0" y="0"/>
          <a:chExt cx="0" cy="0"/>
        </a:xfrm>
      </p:grpSpPr>
      <p:sp>
        <p:nvSpPr>
          <p:cNvPr id="255" name="Google Shape;255;g1b64d640a47_0_63"/>
          <p:cNvSpPr txBox="1"/>
          <p:nvPr/>
        </p:nvSpPr>
        <p:spPr>
          <a:xfrm>
            <a:off x="0" y="188686"/>
            <a:ext cx="3123600" cy="477000"/>
          </a:xfrm>
          <a:prstGeom prst="rect">
            <a:avLst/>
          </a:prstGeom>
          <a:noFill/>
          <a:ln>
            <a:noFill/>
          </a:ln>
        </p:spPr>
        <p:txBody>
          <a:bodyPr anchorCtr="0" anchor="t" bIns="45700" lIns="91425" spcFirstLastPara="1" rIns="91425" wrap="square" tIns="45700">
            <a:spAutoFit/>
          </a:bodyPr>
          <a:lstStyle/>
          <a:p>
            <a:pPr indent="0" lvl="0" marL="231775"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Explanation</a:t>
            </a:r>
            <a:r>
              <a:rPr b="1" i="0" lang="en-US" sz="2500" u="none" cap="none" strike="noStrike">
                <a:solidFill>
                  <a:srgbClr val="FFFFFF"/>
                </a:solidFill>
                <a:latin typeface="Arial"/>
                <a:ea typeface="Arial"/>
                <a:cs typeface="Arial"/>
                <a:sym typeface="Arial"/>
              </a:rPr>
              <a:t>:</a:t>
            </a:r>
            <a:endParaRPr b="1" i="0" sz="2500" u="none" cap="none" strike="noStrike">
              <a:solidFill>
                <a:srgbClr val="FFFFFF"/>
              </a:solidFill>
              <a:latin typeface="Arial"/>
              <a:ea typeface="Arial"/>
              <a:cs typeface="Arial"/>
              <a:sym typeface="Arial"/>
            </a:endParaRPr>
          </a:p>
        </p:txBody>
      </p:sp>
      <p:sp>
        <p:nvSpPr>
          <p:cNvPr id="256" name="Google Shape;256;g1b64d640a47_0_63"/>
          <p:cNvSpPr txBox="1"/>
          <p:nvPr/>
        </p:nvSpPr>
        <p:spPr>
          <a:xfrm>
            <a:off x="422800" y="1516049"/>
            <a:ext cx="8472600" cy="2565300"/>
          </a:xfrm>
          <a:prstGeom prst="rect">
            <a:avLst/>
          </a:prstGeom>
          <a:noFill/>
          <a:ln>
            <a:noFill/>
          </a:ln>
        </p:spPr>
        <p:txBody>
          <a:bodyPr anchorCtr="0" anchor="t" bIns="45700" lIns="91425" spcFirstLastPara="1" rIns="91425" wrap="square" tIns="45700">
            <a:spAutoFit/>
          </a:bodyPr>
          <a:lstStyle/>
          <a:p>
            <a:pPr indent="457200" lvl="0" marL="91440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Roboto"/>
                <a:ea typeface="Roboto"/>
                <a:cs typeface="Roboto"/>
                <a:sym typeface="Roboto"/>
              </a:rPr>
              <a:t>Adhi        :       Bala</a:t>
            </a:r>
            <a:endParaRPr b="0" i="0" sz="1400" u="none" cap="none" strike="noStrike">
              <a:solidFill>
                <a:schemeClr val="dk1"/>
              </a:solidFill>
              <a:latin typeface="Roboto"/>
              <a:ea typeface="Roboto"/>
              <a:cs typeface="Roboto"/>
              <a:sym typeface="Roboto"/>
            </a:endParaRPr>
          </a:p>
          <a:p>
            <a:pPr indent="457200" lvl="0" marL="91440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Roboto"/>
                <a:ea typeface="Roboto"/>
                <a:cs typeface="Roboto"/>
                <a:sym typeface="Roboto"/>
              </a:rPr>
              <a:t> 	</a:t>
            </a:r>
            <a:endParaRPr b="0" i="0" sz="1400" u="none" cap="none" strike="noStrike">
              <a:solidFill>
                <a:schemeClr val="dk1"/>
              </a:solidFill>
              <a:latin typeface="Roboto"/>
              <a:ea typeface="Roboto"/>
              <a:cs typeface="Roboto"/>
              <a:sym typeface="Roboto"/>
            </a:endParaRPr>
          </a:p>
          <a:p>
            <a:pPr indent="45720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Roboto"/>
                <a:ea typeface="Roboto"/>
                <a:cs typeface="Roboto"/>
                <a:sym typeface="Roboto"/>
              </a:rPr>
              <a:t>        42000*12          :      57000*8</a:t>
            </a:r>
            <a:endParaRPr b="0" i="0" sz="1400" u="none" cap="none" strike="noStrike">
              <a:solidFill>
                <a:schemeClr val="dk1"/>
              </a:solidFill>
              <a:latin typeface="Roboto"/>
              <a:ea typeface="Roboto"/>
              <a:cs typeface="Roboto"/>
              <a:sym typeface="Roboto"/>
            </a:endParaRPr>
          </a:p>
          <a:p>
            <a:pPr indent="45720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Roboto"/>
                <a:ea typeface="Roboto"/>
                <a:cs typeface="Roboto"/>
                <a:sym typeface="Roboto"/>
              </a:rPr>
              <a:t> </a:t>
            </a:r>
            <a:endParaRPr b="0" i="0" sz="1400" u="none" cap="none" strike="noStrike">
              <a:solidFill>
                <a:schemeClr val="dk1"/>
              </a:solidFill>
              <a:latin typeface="Roboto"/>
              <a:ea typeface="Roboto"/>
              <a:cs typeface="Roboto"/>
              <a:sym typeface="Roboto"/>
            </a:endParaRPr>
          </a:p>
          <a:p>
            <a:pPr indent="45720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Roboto"/>
                <a:ea typeface="Roboto"/>
                <a:cs typeface="Roboto"/>
                <a:sym typeface="Roboto"/>
              </a:rPr>
              <a:t>              21                :      19   (21-9=2)</a:t>
            </a:r>
            <a:endParaRPr b="0" i="0" sz="1400" u="none" cap="none" strike="noStrike">
              <a:solidFill>
                <a:schemeClr val="dk1"/>
              </a:solidFill>
              <a:latin typeface="Roboto"/>
              <a:ea typeface="Roboto"/>
              <a:cs typeface="Roboto"/>
              <a:sym typeface="Roboto"/>
            </a:endParaRPr>
          </a:p>
          <a:p>
            <a:pPr indent="45720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Roboto"/>
                <a:ea typeface="Roboto"/>
                <a:cs typeface="Roboto"/>
                <a:sym typeface="Roboto"/>
              </a:rPr>
              <a:t> </a:t>
            </a:r>
            <a:endParaRPr b="0" i="0" sz="1400" u="none" cap="none" strike="noStrike">
              <a:solidFill>
                <a:schemeClr val="dk1"/>
              </a:solidFill>
              <a:latin typeface="Roboto"/>
              <a:ea typeface="Roboto"/>
              <a:cs typeface="Roboto"/>
              <a:sym typeface="Roboto"/>
            </a:endParaRPr>
          </a:p>
          <a:p>
            <a:pPr indent="45720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Roboto"/>
                <a:ea typeface="Roboto"/>
                <a:cs typeface="Roboto"/>
                <a:sym typeface="Roboto"/>
              </a:rPr>
              <a:t>            =2/40*26000</a:t>
            </a:r>
            <a:endParaRPr b="0" i="0" sz="1400" u="none" cap="none" strike="noStrike">
              <a:solidFill>
                <a:schemeClr val="dk1"/>
              </a:solidFill>
              <a:latin typeface="Roboto"/>
              <a:ea typeface="Roboto"/>
              <a:cs typeface="Roboto"/>
              <a:sym typeface="Roboto"/>
            </a:endParaRPr>
          </a:p>
          <a:p>
            <a:pPr indent="45720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Roboto"/>
                <a:ea typeface="Roboto"/>
                <a:cs typeface="Roboto"/>
                <a:sym typeface="Roboto"/>
              </a:rPr>
              <a:t>     </a:t>
            </a:r>
            <a:endParaRPr b="0" i="0" sz="1400" u="none" cap="none" strike="noStrike">
              <a:solidFill>
                <a:schemeClr val="dk1"/>
              </a:solidFill>
              <a:latin typeface="Roboto"/>
              <a:ea typeface="Roboto"/>
              <a:cs typeface="Roboto"/>
              <a:sym typeface="Roboto"/>
            </a:endParaRPr>
          </a:p>
          <a:p>
            <a:pPr indent="45720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Roboto"/>
                <a:ea typeface="Roboto"/>
                <a:cs typeface="Roboto"/>
                <a:sym typeface="Roboto"/>
              </a:rPr>
              <a:t>            =1300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Roboto"/>
                <a:ea typeface="Roboto"/>
                <a:cs typeface="Roboto"/>
                <a:sym typeface="Roboto"/>
              </a:rPr>
              <a:t>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rgbClr val="000000"/>
              </a:buClr>
              <a:buSzPts val="1800"/>
              <a:buFont typeface="Arial"/>
              <a:buNone/>
            </a:pPr>
            <a:r>
              <a:t/>
            </a:r>
            <a:endParaRPr b="0" i="0" sz="1400" u="none" cap="none" strike="noStrike">
              <a:solidFill>
                <a:schemeClr val="dk1"/>
              </a:solidFill>
              <a:latin typeface="Roboto"/>
              <a:ea typeface="Roboto"/>
              <a:cs typeface="Roboto"/>
              <a:sym typeface="Roboto"/>
            </a:endParaRPr>
          </a:p>
        </p:txBody>
      </p:sp>
      <p:sp>
        <p:nvSpPr>
          <p:cNvPr id="257" name="Google Shape;257;g1b64d640a47_0_63"/>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Explanation: 14</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0" st="0"/>
                                            </p:txEl>
                                          </p:spTgt>
                                        </p:tgtEl>
                                        <p:attrNameLst>
                                          <p:attrName>style.visibility</p:attrName>
                                        </p:attrNameLst>
                                      </p:cBhvr>
                                      <p:to>
                                        <p:strVal val="visible"/>
                                      </p:to>
                                    </p:set>
                                    <p:animEffect filter="fade" transition="in">
                                      <p:cBhvr>
                                        <p:cTn dur="1000"/>
                                        <p:tgtEl>
                                          <p:spTgt spid="2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 st="1"/>
                                            </p:txEl>
                                          </p:spTgt>
                                        </p:tgtEl>
                                        <p:attrNameLst>
                                          <p:attrName>style.visibility</p:attrName>
                                        </p:attrNameLst>
                                      </p:cBhvr>
                                      <p:to>
                                        <p:strVal val="visible"/>
                                      </p:to>
                                    </p:set>
                                    <p:animEffect filter="fade" transition="in">
                                      <p:cBhvr>
                                        <p:cTn dur="1000"/>
                                        <p:tgtEl>
                                          <p:spTgt spid="25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2" st="2"/>
                                            </p:txEl>
                                          </p:spTgt>
                                        </p:tgtEl>
                                        <p:attrNameLst>
                                          <p:attrName>style.visibility</p:attrName>
                                        </p:attrNameLst>
                                      </p:cBhvr>
                                      <p:to>
                                        <p:strVal val="visible"/>
                                      </p:to>
                                    </p:set>
                                    <p:animEffect filter="fade" transition="in">
                                      <p:cBhvr>
                                        <p:cTn dur="1000"/>
                                        <p:tgtEl>
                                          <p:spTgt spid="25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3" st="3"/>
                                            </p:txEl>
                                          </p:spTgt>
                                        </p:tgtEl>
                                        <p:attrNameLst>
                                          <p:attrName>style.visibility</p:attrName>
                                        </p:attrNameLst>
                                      </p:cBhvr>
                                      <p:to>
                                        <p:strVal val="visible"/>
                                      </p:to>
                                    </p:set>
                                    <p:animEffect filter="fade" transition="in">
                                      <p:cBhvr>
                                        <p:cTn dur="1000"/>
                                        <p:tgtEl>
                                          <p:spTgt spid="25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4" st="4"/>
                                            </p:txEl>
                                          </p:spTgt>
                                        </p:tgtEl>
                                        <p:attrNameLst>
                                          <p:attrName>style.visibility</p:attrName>
                                        </p:attrNameLst>
                                      </p:cBhvr>
                                      <p:to>
                                        <p:strVal val="visible"/>
                                      </p:to>
                                    </p:set>
                                    <p:animEffect filter="fade" transition="in">
                                      <p:cBhvr>
                                        <p:cTn dur="1000"/>
                                        <p:tgtEl>
                                          <p:spTgt spid="25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5" st="5"/>
                                            </p:txEl>
                                          </p:spTgt>
                                        </p:tgtEl>
                                        <p:attrNameLst>
                                          <p:attrName>style.visibility</p:attrName>
                                        </p:attrNameLst>
                                      </p:cBhvr>
                                      <p:to>
                                        <p:strVal val="visible"/>
                                      </p:to>
                                    </p:set>
                                    <p:animEffect filter="fade" transition="in">
                                      <p:cBhvr>
                                        <p:cTn dur="1000"/>
                                        <p:tgtEl>
                                          <p:spTgt spid="25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6" st="6"/>
                                            </p:txEl>
                                          </p:spTgt>
                                        </p:tgtEl>
                                        <p:attrNameLst>
                                          <p:attrName>style.visibility</p:attrName>
                                        </p:attrNameLst>
                                      </p:cBhvr>
                                      <p:to>
                                        <p:strVal val="visible"/>
                                      </p:to>
                                    </p:set>
                                    <p:animEffect filter="fade" transition="in">
                                      <p:cBhvr>
                                        <p:cTn dur="1000"/>
                                        <p:tgtEl>
                                          <p:spTgt spid="25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7" st="7"/>
                                            </p:txEl>
                                          </p:spTgt>
                                        </p:tgtEl>
                                        <p:attrNameLst>
                                          <p:attrName>style.visibility</p:attrName>
                                        </p:attrNameLst>
                                      </p:cBhvr>
                                      <p:to>
                                        <p:strVal val="visible"/>
                                      </p:to>
                                    </p:set>
                                    <p:animEffect filter="fade" transition="in">
                                      <p:cBhvr>
                                        <p:cTn dur="1000"/>
                                        <p:tgtEl>
                                          <p:spTgt spid="25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8" st="8"/>
                                            </p:txEl>
                                          </p:spTgt>
                                        </p:tgtEl>
                                        <p:attrNameLst>
                                          <p:attrName>style.visibility</p:attrName>
                                        </p:attrNameLst>
                                      </p:cBhvr>
                                      <p:to>
                                        <p:strVal val="visible"/>
                                      </p:to>
                                    </p:set>
                                    <p:animEffect filter="fade" transition="in">
                                      <p:cBhvr>
                                        <p:cTn dur="1000"/>
                                        <p:tgtEl>
                                          <p:spTgt spid="25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9" st="9"/>
                                            </p:txEl>
                                          </p:spTgt>
                                        </p:tgtEl>
                                        <p:attrNameLst>
                                          <p:attrName>style.visibility</p:attrName>
                                        </p:attrNameLst>
                                      </p:cBhvr>
                                      <p:to>
                                        <p:strVal val="visible"/>
                                      </p:to>
                                    </p:set>
                                    <p:animEffect filter="fade" transition="in">
                                      <p:cBhvr>
                                        <p:cTn dur="1000"/>
                                        <p:tgtEl>
                                          <p:spTgt spid="25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0" st="10"/>
                                            </p:txEl>
                                          </p:spTgt>
                                        </p:tgtEl>
                                        <p:attrNameLst>
                                          <p:attrName>style.visibility</p:attrName>
                                        </p:attrNameLst>
                                      </p:cBhvr>
                                      <p:to>
                                        <p:strVal val="visible"/>
                                      </p:to>
                                    </p:set>
                                    <p:animEffect filter="fade" transition="in">
                                      <p:cBhvr>
                                        <p:cTn dur="1000"/>
                                        <p:tgtEl>
                                          <p:spTgt spid="256">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6"/>
          <p:cNvSpPr txBox="1"/>
          <p:nvPr>
            <p:ph idx="1" type="body"/>
          </p:nvPr>
        </p:nvSpPr>
        <p:spPr>
          <a:xfrm>
            <a:off x="722375" y="1435600"/>
            <a:ext cx="7644300" cy="3122100"/>
          </a:xfrm>
          <a:prstGeom prst="rect">
            <a:avLst/>
          </a:prstGeom>
          <a:noFill/>
          <a:ln>
            <a:noFill/>
          </a:ln>
        </p:spPr>
        <p:txBody>
          <a:bodyPr anchorCtr="0" anchor="t" bIns="91425" lIns="91425" spcFirstLastPara="1" rIns="91425" wrap="square" tIns="91425">
            <a:noAutofit/>
          </a:bodyPr>
          <a:lstStyle/>
          <a:p>
            <a:pPr indent="0" lvl="0" marL="0" marR="50800" rtl="0" algn="l">
              <a:lnSpc>
                <a:spcPct val="150000"/>
              </a:lnSpc>
              <a:spcBef>
                <a:spcPts val="800"/>
              </a:spcBef>
              <a:spcAft>
                <a:spcPts val="0"/>
              </a:spcAft>
              <a:buSzPts val="1800"/>
              <a:buNone/>
            </a:pPr>
            <a:r>
              <a:rPr lang="en-US" sz="1600">
                <a:solidFill>
                  <a:schemeClr val="dk1"/>
                </a:solidFill>
                <a:highlight>
                  <a:schemeClr val="lt1"/>
                </a:highlight>
                <a:latin typeface="Roboto"/>
                <a:ea typeface="Roboto"/>
                <a:cs typeface="Roboto"/>
                <a:sym typeface="Roboto"/>
              </a:rPr>
              <a:t>Nikita and Nishita enters to a partnership by investing Rs.50,000 and Rs.40,000 respectively. They agreed to share the profit in the ratio of their capitals. Find out the share of Nikita when profit of the business is Rs.22,500 after year.</a:t>
            </a:r>
            <a:endParaRPr sz="1600">
              <a:solidFill>
                <a:schemeClr val="dk1"/>
              </a:solidFill>
              <a:highlight>
                <a:schemeClr val="lt1"/>
              </a:highlight>
              <a:latin typeface="Roboto"/>
              <a:ea typeface="Roboto"/>
              <a:cs typeface="Roboto"/>
              <a:sym typeface="Roboto"/>
            </a:endParaRPr>
          </a:p>
          <a:p>
            <a:pPr indent="-330200" lvl="0" marL="457200" marR="50800" rtl="0" algn="l">
              <a:lnSpc>
                <a:spcPct val="150000"/>
              </a:lnSpc>
              <a:spcBef>
                <a:spcPts val="800"/>
              </a:spcBef>
              <a:spcAft>
                <a:spcPts val="0"/>
              </a:spcAft>
              <a:buClr>
                <a:schemeClr val="dk1"/>
              </a:buClr>
              <a:buSzPts val="1600"/>
              <a:buFont typeface="Roboto"/>
              <a:buAutoNum type="alphaUcPeriod"/>
            </a:pPr>
            <a:r>
              <a:rPr lang="en-US" sz="1600">
                <a:solidFill>
                  <a:schemeClr val="dk1"/>
                </a:solidFill>
                <a:highlight>
                  <a:schemeClr val="lt1"/>
                </a:highlight>
                <a:latin typeface="Roboto"/>
                <a:ea typeface="Roboto"/>
                <a:cs typeface="Roboto"/>
                <a:sym typeface="Roboto"/>
              </a:rPr>
              <a:t>1500</a:t>
            </a:r>
            <a:endParaRPr sz="1600">
              <a:solidFill>
                <a:schemeClr val="dk1"/>
              </a:solidFill>
              <a:highlight>
                <a:schemeClr val="lt1"/>
              </a:highlight>
              <a:latin typeface="Roboto"/>
              <a:ea typeface="Roboto"/>
              <a:cs typeface="Roboto"/>
              <a:sym typeface="Roboto"/>
            </a:endParaRPr>
          </a:p>
          <a:p>
            <a:pPr indent="-330200" lvl="0" marL="457200" marR="50800" rtl="0" algn="l">
              <a:lnSpc>
                <a:spcPct val="150000"/>
              </a:lnSpc>
              <a:spcBef>
                <a:spcPts val="0"/>
              </a:spcBef>
              <a:spcAft>
                <a:spcPts val="0"/>
              </a:spcAft>
              <a:buClr>
                <a:schemeClr val="dk1"/>
              </a:buClr>
              <a:buSzPts val="1600"/>
              <a:buFont typeface="Roboto"/>
              <a:buAutoNum type="alphaUcPeriod"/>
            </a:pPr>
            <a:r>
              <a:rPr lang="en-US" sz="1600">
                <a:solidFill>
                  <a:schemeClr val="dk1"/>
                </a:solidFill>
                <a:highlight>
                  <a:schemeClr val="lt1"/>
                </a:highlight>
                <a:latin typeface="Roboto"/>
                <a:ea typeface="Roboto"/>
                <a:cs typeface="Roboto"/>
                <a:sym typeface="Roboto"/>
              </a:rPr>
              <a:t>9500</a:t>
            </a:r>
            <a:endParaRPr sz="1600">
              <a:solidFill>
                <a:schemeClr val="dk1"/>
              </a:solidFill>
              <a:highlight>
                <a:schemeClr val="lt1"/>
              </a:highlight>
              <a:latin typeface="Roboto"/>
              <a:ea typeface="Roboto"/>
              <a:cs typeface="Roboto"/>
              <a:sym typeface="Roboto"/>
            </a:endParaRPr>
          </a:p>
          <a:p>
            <a:pPr indent="-330200" lvl="0" marL="457200" marR="50800" rtl="0" algn="l">
              <a:lnSpc>
                <a:spcPct val="150000"/>
              </a:lnSpc>
              <a:spcBef>
                <a:spcPts val="0"/>
              </a:spcBef>
              <a:spcAft>
                <a:spcPts val="0"/>
              </a:spcAft>
              <a:buClr>
                <a:schemeClr val="dk1"/>
              </a:buClr>
              <a:buSzPts val="1600"/>
              <a:buFont typeface="Roboto"/>
              <a:buAutoNum type="alphaUcPeriod"/>
            </a:pPr>
            <a:r>
              <a:rPr lang="en-US" sz="1600">
                <a:solidFill>
                  <a:schemeClr val="dk1"/>
                </a:solidFill>
                <a:highlight>
                  <a:schemeClr val="lt1"/>
                </a:highlight>
                <a:latin typeface="Roboto"/>
                <a:ea typeface="Roboto"/>
                <a:cs typeface="Roboto"/>
                <a:sym typeface="Roboto"/>
              </a:rPr>
              <a:t>10500</a:t>
            </a:r>
            <a:endParaRPr sz="1600">
              <a:solidFill>
                <a:schemeClr val="dk1"/>
              </a:solidFill>
              <a:highlight>
                <a:schemeClr val="lt1"/>
              </a:highlight>
              <a:latin typeface="Roboto"/>
              <a:ea typeface="Roboto"/>
              <a:cs typeface="Roboto"/>
              <a:sym typeface="Roboto"/>
            </a:endParaRPr>
          </a:p>
          <a:p>
            <a:pPr indent="-330200" lvl="0" marL="457200" marR="50800" rtl="0" algn="l">
              <a:lnSpc>
                <a:spcPct val="150000"/>
              </a:lnSpc>
              <a:spcBef>
                <a:spcPts val="0"/>
              </a:spcBef>
              <a:spcAft>
                <a:spcPts val="0"/>
              </a:spcAft>
              <a:buClr>
                <a:schemeClr val="dk1"/>
              </a:buClr>
              <a:buSzPts val="1600"/>
              <a:buFont typeface="Roboto"/>
              <a:buAutoNum type="alphaUcPeriod"/>
            </a:pPr>
            <a:r>
              <a:rPr lang="en-US" sz="1600">
                <a:solidFill>
                  <a:schemeClr val="dk1"/>
                </a:solidFill>
                <a:highlight>
                  <a:schemeClr val="lt1"/>
                </a:highlight>
                <a:latin typeface="Roboto"/>
                <a:ea typeface="Roboto"/>
                <a:cs typeface="Roboto"/>
                <a:sym typeface="Roboto"/>
              </a:rPr>
              <a:t>12500</a:t>
            </a:r>
            <a:endParaRPr sz="1600">
              <a:solidFill>
                <a:schemeClr val="dk1"/>
              </a:solidFill>
              <a:highlight>
                <a:schemeClr val="lt1"/>
              </a:highlight>
              <a:latin typeface="Roboto"/>
              <a:ea typeface="Roboto"/>
              <a:cs typeface="Roboto"/>
              <a:sym typeface="Roboto"/>
            </a:endParaRPr>
          </a:p>
          <a:p>
            <a:pPr indent="0" lvl="0" marL="0" rtl="0" algn="l">
              <a:lnSpc>
                <a:spcPct val="150000"/>
              </a:lnSpc>
              <a:spcBef>
                <a:spcPts val="0"/>
              </a:spcBef>
              <a:spcAft>
                <a:spcPts val="0"/>
              </a:spcAft>
              <a:buSzPts val="1800"/>
              <a:buNone/>
            </a:pPr>
            <a:r>
              <a:t/>
            </a:r>
            <a:endParaRPr sz="1600">
              <a:solidFill>
                <a:schemeClr val="dk1"/>
              </a:solidFill>
              <a:latin typeface="Roboto"/>
              <a:ea typeface="Roboto"/>
              <a:cs typeface="Roboto"/>
              <a:sym typeface="Roboto"/>
            </a:endParaRPr>
          </a:p>
        </p:txBody>
      </p:sp>
      <p:sp>
        <p:nvSpPr>
          <p:cNvPr id="263" name="Google Shape;263;p26"/>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Question: 15</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xEl>
                                              <p:pRg end="0" st="0"/>
                                            </p:txEl>
                                          </p:spTgt>
                                        </p:tgtEl>
                                        <p:attrNameLst>
                                          <p:attrName>style.visibility</p:attrName>
                                        </p:attrNameLst>
                                      </p:cBhvr>
                                      <p:to>
                                        <p:strVal val="visible"/>
                                      </p:to>
                                    </p:set>
                                    <p:animEffect filter="fade" transition="in">
                                      <p:cBhvr>
                                        <p:cTn dur="1000"/>
                                        <p:tgtEl>
                                          <p:spTgt spid="26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xEl>
                                              <p:pRg end="1" st="1"/>
                                            </p:txEl>
                                          </p:spTgt>
                                        </p:tgtEl>
                                        <p:attrNameLst>
                                          <p:attrName>style.visibility</p:attrName>
                                        </p:attrNameLst>
                                      </p:cBhvr>
                                      <p:to>
                                        <p:strVal val="visible"/>
                                      </p:to>
                                    </p:set>
                                    <p:animEffect filter="fade" transition="in">
                                      <p:cBhvr>
                                        <p:cTn dur="1000"/>
                                        <p:tgtEl>
                                          <p:spTgt spid="26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xEl>
                                              <p:pRg end="2" st="2"/>
                                            </p:txEl>
                                          </p:spTgt>
                                        </p:tgtEl>
                                        <p:attrNameLst>
                                          <p:attrName>style.visibility</p:attrName>
                                        </p:attrNameLst>
                                      </p:cBhvr>
                                      <p:to>
                                        <p:strVal val="visible"/>
                                      </p:to>
                                    </p:set>
                                    <p:animEffect filter="fade" transition="in">
                                      <p:cBhvr>
                                        <p:cTn dur="1000"/>
                                        <p:tgtEl>
                                          <p:spTgt spid="26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xEl>
                                              <p:pRg end="3" st="3"/>
                                            </p:txEl>
                                          </p:spTgt>
                                        </p:tgtEl>
                                        <p:attrNameLst>
                                          <p:attrName>style.visibility</p:attrName>
                                        </p:attrNameLst>
                                      </p:cBhvr>
                                      <p:to>
                                        <p:strVal val="visible"/>
                                      </p:to>
                                    </p:set>
                                    <p:animEffect filter="fade" transition="in">
                                      <p:cBhvr>
                                        <p:cTn dur="1000"/>
                                        <p:tgtEl>
                                          <p:spTgt spid="26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xEl>
                                              <p:pRg end="4" st="4"/>
                                            </p:txEl>
                                          </p:spTgt>
                                        </p:tgtEl>
                                        <p:attrNameLst>
                                          <p:attrName>style.visibility</p:attrName>
                                        </p:attrNameLst>
                                      </p:cBhvr>
                                      <p:to>
                                        <p:strVal val="visible"/>
                                      </p:to>
                                    </p:set>
                                    <p:animEffect filter="fade" transition="in">
                                      <p:cBhvr>
                                        <p:cTn dur="1000"/>
                                        <p:tgtEl>
                                          <p:spTgt spid="26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xEl>
                                              <p:pRg end="5" st="5"/>
                                            </p:txEl>
                                          </p:spTgt>
                                        </p:tgtEl>
                                        <p:attrNameLst>
                                          <p:attrName>style.visibility</p:attrName>
                                        </p:attrNameLst>
                                      </p:cBhvr>
                                      <p:to>
                                        <p:strVal val="visible"/>
                                      </p:to>
                                    </p:set>
                                    <p:animEffect filter="fade" transition="in">
                                      <p:cBhvr>
                                        <p:cTn dur="1000"/>
                                        <p:tgtEl>
                                          <p:spTgt spid="262">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7" name="Shape 267"/>
        <p:cNvGrpSpPr/>
        <p:nvPr/>
      </p:nvGrpSpPr>
      <p:grpSpPr>
        <a:xfrm>
          <a:off x="0" y="0"/>
          <a:ext cx="0" cy="0"/>
          <a:chOff x="0" y="0"/>
          <a:chExt cx="0" cy="0"/>
        </a:xfrm>
      </p:grpSpPr>
      <p:sp>
        <p:nvSpPr>
          <p:cNvPr id="268" name="Google Shape;268;g1b64d640a47_0_71"/>
          <p:cNvSpPr txBox="1"/>
          <p:nvPr/>
        </p:nvSpPr>
        <p:spPr>
          <a:xfrm>
            <a:off x="0" y="188686"/>
            <a:ext cx="3123600" cy="477000"/>
          </a:xfrm>
          <a:prstGeom prst="rect">
            <a:avLst/>
          </a:prstGeom>
          <a:noFill/>
          <a:ln>
            <a:noFill/>
          </a:ln>
        </p:spPr>
        <p:txBody>
          <a:bodyPr anchorCtr="0" anchor="t" bIns="45700" lIns="91425" spcFirstLastPara="1" rIns="91425" wrap="square" tIns="45700">
            <a:spAutoFit/>
          </a:bodyPr>
          <a:lstStyle/>
          <a:p>
            <a:pPr indent="0" lvl="0" marL="231775"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Arial"/>
                <a:ea typeface="Arial"/>
                <a:cs typeface="Arial"/>
                <a:sym typeface="Arial"/>
              </a:rPr>
              <a:t>Explanation</a:t>
            </a:r>
            <a:r>
              <a:rPr b="1" i="0" lang="en-US" sz="2500" u="none" cap="none" strike="noStrike">
                <a:solidFill>
                  <a:srgbClr val="FFFFFF"/>
                </a:solidFill>
                <a:latin typeface="Arial"/>
                <a:ea typeface="Arial"/>
                <a:cs typeface="Arial"/>
                <a:sym typeface="Arial"/>
              </a:rPr>
              <a:t>:</a:t>
            </a:r>
            <a:endParaRPr b="1" i="0" sz="2500" u="none" cap="none" strike="noStrike">
              <a:solidFill>
                <a:srgbClr val="FFFFFF"/>
              </a:solidFill>
              <a:latin typeface="Arial"/>
              <a:ea typeface="Arial"/>
              <a:cs typeface="Arial"/>
              <a:sym typeface="Arial"/>
            </a:endParaRPr>
          </a:p>
        </p:txBody>
      </p:sp>
      <p:sp>
        <p:nvSpPr>
          <p:cNvPr id="269" name="Google Shape;269;g1b64d640a47_0_71"/>
          <p:cNvSpPr txBox="1"/>
          <p:nvPr/>
        </p:nvSpPr>
        <p:spPr>
          <a:xfrm>
            <a:off x="826200" y="1675825"/>
            <a:ext cx="8172900" cy="2349900"/>
          </a:xfrm>
          <a:prstGeom prst="rect">
            <a:avLst/>
          </a:prstGeom>
          <a:noFill/>
          <a:ln>
            <a:noFill/>
          </a:ln>
        </p:spPr>
        <p:txBody>
          <a:bodyPr anchorCtr="0" anchor="t" bIns="45700" lIns="91425" spcFirstLastPara="1" rIns="91425" wrap="square" tIns="45700">
            <a:spAutoFit/>
          </a:bodyPr>
          <a:lstStyle/>
          <a:p>
            <a:pPr indent="457200" lvl="0" marL="91440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457200" lvl="0" marL="1371600" marR="0" rtl="0" algn="l">
              <a:lnSpc>
                <a:spcPct val="100000"/>
              </a:lnSpc>
              <a:spcBef>
                <a:spcPts val="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Nikita 			Nishita</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			50,000 * 12	    :		40,000 * 12</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				5           :               4</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Roboto"/>
                <a:ea typeface="Roboto"/>
                <a:cs typeface="Roboto"/>
                <a:sym typeface="Roboto"/>
              </a:rPr>
              <a:t>				=5/9 * 22,500</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				=12,500</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80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70" name="Google Shape;270;g1b64d640a47_0_71"/>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8182EF"/>
                </a:solidFill>
                <a:latin typeface="Roboto"/>
                <a:ea typeface="Roboto"/>
                <a:cs typeface="Roboto"/>
                <a:sym typeface="Roboto"/>
              </a:rPr>
              <a:t>Explanation: 15</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0" st="0"/>
                                            </p:txEl>
                                          </p:spTgt>
                                        </p:tgtEl>
                                        <p:attrNameLst>
                                          <p:attrName>style.visibility</p:attrName>
                                        </p:attrNameLst>
                                      </p:cBhvr>
                                      <p:to>
                                        <p:strVal val="visible"/>
                                      </p:to>
                                    </p:set>
                                    <p:animEffect filter="fade" transition="in">
                                      <p:cBhvr>
                                        <p:cTn dur="1000"/>
                                        <p:tgtEl>
                                          <p:spTgt spid="2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1" st="1"/>
                                            </p:txEl>
                                          </p:spTgt>
                                        </p:tgtEl>
                                        <p:attrNameLst>
                                          <p:attrName>style.visibility</p:attrName>
                                        </p:attrNameLst>
                                      </p:cBhvr>
                                      <p:to>
                                        <p:strVal val="visible"/>
                                      </p:to>
                                    </p:set>
                                    <p:animEffect filter="fade" transition="in">
                                      <p:cBhvr>
                                        <p:cTn dur="1000"/>
                                        <p:tgtEl>
                                          <p:spTgt spid="2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2" st="2"/>
                                            </p:txEl>
                                          </p:spTgt>
                                        </p:tgtEl>
                                        <p:attrNameLst>
                                          <p:attrName>style.visibility</p:attrName>
                                        </p:attrNameLst>
                                      </p:cBhvr>
                                      <p:to>
                                        <p:strVal val="visible"/>
                                      </p:to>
                                    </p:set>
                                    <p:animEffect filter="fade" transition="in">
                                      <p:cBhvr>
                                        <p:cTn dur="1000"/>
                                        <p:tgtEl>
                                          <p:spTgt spid="26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3" st="3"/>
                                            </p:txEl>
                                          </p:spTgt>
                                        </p:tgtEl>
                                        <p:attrNameLst>
                                          <p:attrName>style.visibility</p:attrName>
                                        </p:attrNameLst>
                                      </p:cBhvr>
                                      <p:to>
                                        <p:strVal val="visible"/>
                                      </p:to>
                                    </p:set>
                                    <p:animEffect filter="fade" transition="in">
                                      <p:cBhvr>
                                        <p:cTn dur="1000"/>
                                        <p:tgtEl>
                                          <p:spTgt spid="26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4" st="4"/>
                                            </p:txEl>
                                          </p:spTgt>
                                        </p:tgtEl>
                                        <p:attrNameLst>
                                          <p:attrName>style.visibility</p:attrName>
                                        </p:attrNameLst>
                                      </p:cBhvr>
                                      <p:to>
                                        <p:strVal val="visible"/>
                                      </p:to>
                                    </p:set>
                                    <p:animEffect filter="fade" transition="in">
                                      <p:cBhvr>
                                        <p:cTn dur="1000"/>
                                        <p:tgtEl>
                                          <p:spTgt spid="26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5" st="5"/>
                                            </p:txEl>
                                          </p:spTgt>
                                        </p:tgtEl>
                                        <p:attrNameLst>
                                          <p:attrName>style.visibility</p:attrName>
                                        </p:attrNameLst>
                                      </p:cBhvr>
                                      <p:to>
                                        <p:strVal val="visible"/>
                                      </p:to>
                                    </p:set>
                                    <p:animEffect filter="fade" transition="in">
                                      <p:cBhvr>
                                        <p:cTn dur="1000"/>
                                        <p:tgtEl>
                                          <p:spTgt spid="26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6" st="6"/>
                                            </p:txEl>
                                          </p:spTgt>
                                        </p:tgtEl>
                                        <p:attrNameLst>
                                          <p:attrName>style.visibility</p:attrName>
                                        </p:attrNameLst>
                                      </p:cBhvr>
                                      <p:to>
                                        <p:strVal val="visible"/>
                                      </p:to>
                                    </p:set>
                                    <p:animEffect filter="fade" transition="in">
                                      <p:cBhvr>
                                        <p:cTn dur="1000"/>
                                        <p:tgtEl>
                                          <p:spTgt spid="26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7" st="7"/>
                                            </p:txEl>
                                          </p:spTgt>
                                        </p:tgtEl>
                                        <p:attrNameLst>
                                          <p:attrName>style.visibility</p:attrName>
                                        </p:attrNameLst>
                                      </p:cBhvr>
                                      <p:to>
                                        <p:strVal val="visible"/>
                                      </p:to>
                                    </p:set>
                                    <p:animEffect filter="fade" transition="in">
                                      <p:cBhvr>
                                        <p:cTn dur="1000"/>
                                        <p:tgtEl>
                                          <p:spTgt spid="26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8" st="8"/>
                                            </p:txEl>
                                          </p:spTgt>
                                        </p:tgtEl>
                                        <p:attrNameLst>
                                          <p:attrName>style.visibility</p:attrName>
                                        </p:attrNameLst>
                                      </p:cBhvr>
                                      <p:to>
                                        <p:strVal val="visible"/>
                                      </p:to>
                                    </p:set>
                                    <p:animEffect filter="fade" transition="in">
                                      <p:cBhvr>
                                        <p:cTn dur="1000"/>
                                        <p:tgtEl>
                                          <p:spTgt spid="26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9" st="9"/>
                                            </p:txEl>
                                          </p:spTgt>
                                        </p:tgtEl>
                                        <p:attrNameLst>
                                          <p:attrName>style.visibility</p:attrName>
                                        </p:attrNameLst>
                                      </p:cBhvr>
                                      <p:to>
                                        <p:strVal val="visible"/>
                                      </p:to>
                                    </p:set>
                                    <p:animEffect filter="fade" transition="in">
                                      <p:cBhvr>
                                        <p:cTn dur="1000"/>
                                        <p:tgtEl>
                                          <p:spTgt spid="269">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9"/>
          <p:cNvSpPr/>
          <p:nvPr/>
        </p:nvSpPr>
        <p:spPr>
          <a:xfrm>
            <a:off x="555120" y="915840"/>
            <a:ext cx="7544880"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276" name="Google Shape;276;p9"/>
          <p:cNvPicPr preferRelativeResize="0"/>
          <p:nvPr/>
        </p:nvPicPr>
        <p:blipFill rotWithShape="1">
          <a:blip r:embed="rId3">
            <a:alphaModFix/>
          </a:blip>
          <a:srcRect b="0" l="0" r="0" t="0"/>
          <a:stretch/>
        </p:blipFill>
        <p:spPr>
          <a:xfrm>
            <a:off x="2799160" y="913210"/>
            <a:ext cx="2855119" cy="2888456"/>
          </a:xfrm>
          <a:prstGeom prst="rect">
            <a:avLst/>
          </a:prstGeom>
          <a:noFill/>
          <a:ln>
            <a:noFill/>
          </a:ln>
        </p:spPr>
      </p:pic>
      <p:sp>
        <p:nvSpPr>
          <p:cNvPr id="277" name="Google Shape;277;p9"/>
          <p:cNvSpPr/>
          <p:nvPr/>
        </p:nvSpPr>
        <p:spPr>
          <a:xfrm>
            <a:off x="1634729" y="4055269"/>
            <a:ext cx="5183981" cy="28456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283" name="Google Shape;283;p1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284" name="Google Shape;284;p11"/>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285" name="Google Shape;285;p11"/>
          <p:cNvSpPr txBox="1"/>
          <p:nvPr/>
        </p:nvSpPr>
        <p:spPr>
          <a:xfrm>
            <a:off x="3141000" y="2194650"/>
            <a:ext cx="2862000" cy="754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US"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286" name="Google Shape;286;p11"/>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287" name="Google Shape;287;p11"/>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288" name="Google Shape;288;p11"/>
          <p:cNvSpPr txBox="1"/>
          <p:nvPr/>
        </p:nvSpPr>
        <p:spPr>
          <a:xfrm>
            <a:off x="1980750" y="4590801"/>
            <a:ext cx="11871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289" name="Google Shape;289;p11"/>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290" name="Google Shape;290;p11"/>
          <p:cNvSpPr txBox="1"/>
          <p:nvPr/>
        </p:nvSpPr>
        <p:spPr>
          <a:xfrm>
            <a:off x="3519050"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291" name="Google Shape;291;p11"/>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292" name="Google Shape;292;p11"/>
          <p:cNvSpPr txBox="1"/>
          <p:nvPr/>
        </p:nvSpPr>
        <p:spPr>
          <a:xfrm>
            <a:off x="5457275"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293" name="Google Shape;293;p11"/>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2019-12-04T07:36:33Z</dcterms:created>
  <dc:creator>sushmitha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1033-11.2.0.9052</vt:lpwstr>
  </property>
</Properties>
</file>