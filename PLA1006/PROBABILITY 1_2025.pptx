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Roboto Black"/>
      <p:bold r:id="rId53"/>
      <p:boldItalic r:id="rId54"/>
    </p:embeddedFont>
    <p:embeddedFont>
      <p:font typeface="Roboto"/>
      <p:regular r:id="rId55"/>
      <p:bold r:id="rId56"/>
      <p:italic r:id="rId57"/>
      <p:boldItalic r:id="rId58"/>
    </p:embeddedFont>
    <p:embeddedFont>
      <p:font typeface="Roboto Medium"/>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9AA0A6"/>
          </p15:clr>
        </p15:guide>
        <p15:guide id="2" orient="horz" pos="2755">
          <p15:clr>
            <a:srgbClr val="9AA0A6"/>
          </p15:clr>
        </p15:guide>
        <p15:guide id="3" orient="horz" pos="907">
          <p15:clr>
            <a:srgbClr val="9AA0A6"/>
          </p15:clr>
        </p15:guide>
        <p15:guide id="4" pos="5272">
          <p15:clr>
            <a:srgbClr val="9AA0A6"/>
          </p15:clr>
        </p15:guide>
        <p15:guide id="5" orient="horz" pos="737">
          <p15:clr>
            <a:srgbClr val="9AA0A6"/>
          </p15:clr>
        </p15:guide>
        <p15:guide id="6" orient="horz" pos="397">
          <p15:clr>
            <a:srgbClr val="9AA0A6"/>
          </p15:clr>
        </p15:guide>
      </p15:sldGuideLst>
    </p:ext>
    <p:ext uri="GoogleSlidesCustomDataVersion2">
      <go:slidesCustomData xmlns:go="http://customooxmlschemas.google.com/" r:id="rId63" roundtripDataSignature="AMtx7mg1SiQW4TdneQKi5QoUmveFo9f/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edium-boldItalic.fntdata"/><Relationship Id="rId61" Type="http://schemas.openxmlformats.org/officeDocument/2006/relationships/font" Target="fonts/RobotoMedium-italic.fntdata"/><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edium-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Black-bold.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regular.fntdata"/><Relationship Id="rId10" Type="http://schemas.openxmlformats.org/officeDocument/2006/relationships/slide" Target="slides/slide4.xml"/><Relationship Id="rId54" Type="http://schemas.openxmlformats.org/officeDocument/2006/relationships/font" Target="fonts/RobotoBlack-boldItalic.fntdata"/><Relationship Id="rId13" Type="http://schemas.openxmlformats.org/officeDocument/2006/relationships/slide" Target="slides/slide7.xml"/><Relationship Id="rId57" Type="http://schemas.openxmlformats.org/officeDocument/2006/relationships/font" Target="fonts/Roboto-italic.fntdata"/><Relationship Id="rId12" Type="http://schemas.openxmlformats.org/officeDocument/2006/relationships/slide" Target="slides/slide6.xml"/><Relationship Id="rId56" Type="http://schemas.openxmlformats.org/officeDocument/2006/relationships/font" Target="fonts/Roboto-bold.fntdata"/><Relationship Id="rId15" Type="http://schemas.openxmlformats.org/officeDocument/2006/relationships/slide" Target="slides/slide9.xml"/><Relationship Id="rId59" Type="http://schemas.openxmlformats.org/officeDocument/2006/relationships/font" Target="fonts/RobotoMedium-regular.fntdata"/><Relationship Id="rId14" Type="http://schemas.openxmlformats.org/officeDocument/2006/relationships/slide" Target="slides/slide8.xml"/><Relationship Id="rId58" Type="http://schemas.openxmlformats.org/officeDocument/2006/relationships/font" Target="fonts/Robo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5dab58096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15dab5809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5dab58096a_0_6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15dab58096a_0_6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f3fb8327bd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2f3fb8327bd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5dab58096a_0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5dab58096a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3109bf44f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23109bf44f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3109bf44f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23109bf44f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3108feea0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23108feea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5dab58096a_0_2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15dab58096a_0_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rPr b="1" i="0" lang="en-GB" sz="1200" u="sng">
                <a:solidFill>
                  <a:schemeClr val="dk1"/>
                </a:solidFill>
                <a:latin typeface="Roboto"/>
                <a:ea typeface="Roboto"/>
                <a:cs typeface="Roboto"/>
                <a:sym typeface="Roboto"/>
              </a:rPr>
              <a:t>Sol 1:</a:t>
            </a:r>
            <a:endParaRPr>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rPr b="0" i="0" lang="en-GB" sz="1200">
                <a:solidFill>
                  <a:schemeClr val="dk1"/>
                </a:solidFill>
                <a:latin typeface="Roboto"/>
                <a:ea typeface="Roboto"/>
                <a:cs typeface="Roboto"/>
                <a:sym typeface="Roboto"/>
              </a:rPr>
              <a:t>total possibble combination=8c1*8c1=8*8=64</a:t>
            </a:r>
            <a:br>
              <a:rPr lang="en-GB">
                <a:latin typeface="Roboto"/>
                <a:ea typeface="Roboto"/>
                <a:cs typeface="Roboto"/>
                <a:sym typeface="Roboto"/>
              </a:rPr>
            </a:br>
            <a:r>
              <a:rPr b="0" i="0" lang="en-GB" sz="1200">
                <a:solidFill>
                  <a:schemeClr val="dk1"/>
                </a:solidFill>
                <a:latin typeface="Roboto"/>
                <a:ea typeface="Roboto"/>
                <a:cs typeface="Roboto"/>
                <a:sym typeface="Roboto"/>
              </a:rPr>
              <a:t>total possible combinations that exceeds 36=(5,8),(6,7),(6,8),(7,6),(7,7),(7,8),(8,5),(8,6),(8,7),(8,8)=10</a:t>
            </a:r>
            <a:br>
              <a:rPr lang="en-GB">
                <a:latin typeface="Roboto"/>
                <a:ea typeface="Roboto"/>
                <a:cs typeface="Roboto"/>
                <a:sym typeface="Roboto"/>
              </a:rPr>
            </a:br>
            <a:r>
              <a:rPr b="0" i="0" lang="en-GB" sz="1200">
                <a:solidFill>
                  <a:schemeClr val="dk1"/>
                </a:solidFill>
                <a:latin typeface="Roboto"/>
                <a:ea typeface="Roboto"/>
                <a:cs typeface="Roboto"/>
                <a:sym typeface="Roboto"/>
              </a:rPr>
              <a:t>the probability=10/64=5/32</a:t>
            </a:r>
            <a:endParaRPr>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rPr b="1" lang="en-GB" u="sng">
                <a:latin typeface="Roboto"/>
                <a:ea typeface="Roboto"/>
                <a:cs typeface="Roboto"/>
                <a:sym typeface="Roboto"/>
              </a:rPr>
              <a:t>Sol:2</a:t>
            </a:r>
            <a:endParaRPr>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rPr b="0" i="0" lang="en-GB" sz="1200">
                <a:solidFill>
                  <a:schemeClr val="dk1"/>
                </a:solidFill>
                <a:latin typeface="Roboto"/>
                <a:ea typeface="Roboto"/>
                <a:cs typeface="Roboto"/>
                <a:sym typeface="Roboto"/>
              </a:rPr>
              <a:t>Only Possible results in the output buffer are:(5,8),(6,7),(6,8)....(8,8).</a:t>
            </a:r>
            <a:br>
              <a:rPr lang="en-GB">
                <a:latin typeface="Roboto"/>
                <a:ea typeface="Roboto"/>
                <a:cs typeface="Roboto"/>
                <a:sym typeface="Roboto"/>
              </a:rPr>
            </a:br>
            <a:r>
              <a:rPr b="0" i="0" lang="en-GB" sz="1200">
                <a:solidFill>
                  <a:schemeClr val="dk1"/>
                </a:solidFill>
                <a:latin typeface="Roboto"/>
                <a:ea typeface="Roboto"/>
                <a:cs typeface="Roboto"/>
                <a:sym typeface="Roboto"/>
              </a:rPr>
              <a:t>therefore total number of desired output=11</a:t>
            </a:r>
            <a:br>
              <a:rPr lang="en-GB">
                <a:latin typeface="Roboto"/>
                <a:ea typeface="Roboto"/>
                <a:cs typeface="Roboto"/>
                <a:sym typeface="Roboto"/>
              </a:rPr>
            </a:br>
            <a:r>
              <a:rPr b="0" i="0" lang="en-GB" sz="1200">
                <a:solidFill>
                  <a:schemeClr val="dk1"/>
                </a:solidFill>
                <a:latin typeface="Roboto"/>
                <a:ea typeface="Roboto"/>
                <a:cs typeface="Roboto"/>
                <a:sym typeface="Roboto"/>
              </a:rPr>
              <a:t>total number of possible results are 8*8=64</a:t>
            </a:r>
            <a:br>
              <a:rPr lang="en-GB">
                <a:latin typeface="Roboto"/>
                <a:ea typeface="Roboto"/>
                <a:cs typeface="Roboto"/>
                <a:sym typeface="Roboto"/>
              </a:rPr>
            </a:br>
            <a:r>
              <a:rPr b="0" i="0" lang="en-GB" sz="1200">
                <a:solidFill>
                  <a:schemeClr val="dk1"/>
                </a:solidFill>
                <a:latin typeface="Roboto"/>
                <a:ea typeface="Roboto"/>
                <a:cs typeface="Roboto"/>
                <a:sym typeface="Roboto"/>
              </a:rPr>
              <a:t>therefore required ans=10/64=5/32</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edd9bc016b_1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2edd9bc016b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5dab58096a_0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15dab58096a_0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edd9bc016b_1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2edd9bc016b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5dab58096a_0_3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15dab58096a_0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edd9bc016b_1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2edd9bc016b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5dab58096a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15dab58096a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edd9bc016b_1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2edd9bc016b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dd9bc016b_1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2edd9bc016b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edd9bc016b_1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2edd9bc016b_1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rPr b="1" lang="en-GB" u="sng">
                <a:latin typeface="Roboto"/>
                <a:ea typeface="Roboto"/>
                <a:cs typeface="Roboto"/>
                <a:sym typeface="Roboto"/>
              </a:rPr>
              <a:t>Sol 1:</a:t>
            </a:r>
            <a:endParaRPr>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rPr b="0" i="0" lang="en-GB" sz="1200">
                <a:solidFill>
                  <a:schemeClr val="dk1"/>
                </a:solidFill>
                <a:latin typeface="Roboto"/>
                <a:ea typeface="Roboto"/>
                <a:cs typeface="Roboto"/>
                <a:sym typeface="Roboto"/>
              </a:rPr>
              <a:t>probability to choose correct option=1/7 and associated marks is 1;</a:t>
            </a:r>
            <a:br>
              <a:rPr lang="en-GB">
                <a:latin typeface="Roboto"/>
                <a:ea typeface="Roboto"/>
                <a:cs typeface="Roboto"/>
                <a:sym typeface="Roboto"/>
              </a:rPr>
            </a:br>
            <a:r>
              <a:rPr b="0" i="0" lang="en-GB" sz="1200">
                <a:solidFill>
                  <a:schemeClr val="dk1"/>
                </a:solidFill>
                <a:latin typeface="Roboto"/>
                <a:ea typeface="Roboto"/>
                <a:cs typeface="Roboto"/>
                <a:sym typeface="Roboto"/>
              </a:rPr>
              <a:t>probability to choose incorrect option=6/7 and associated marks is x(let);</a:t>
            </a:r>
            <a:br>
              <a:rPr lang="en-GB">
                <a:latin typeface="Roboto"/>
                <a:ea typeface="Roboto"/>
                <a:cs typeface="Roboto"/>
                <a:sym typeface="Roboto"/>
              </a:rPr>
            </a:br>
            <a:r>
              <a:rPr b="0" i="0" lang="en-GB" sz="1200">
                <a:solidFill>
                  <a:schemeClr val="dk1"/>
                </a:solidFill>
                <a:latin typeface="Roboto"/>
                <a:ea typeface="Roboto"/>
                <a:cs typeface="Roboto"/>
                <a:sym typeface="Roboto"/>
              </a:rPr>
              <a:t>total marks={(1/7)*1}+{(6/7)*x}=0, i.e. x=-1/6;</a:t>
            </a:r>
            <a:br>
              <a:rPr lang="en-GB">
                <a:latin typeface="Roboto"/>
                <a:ea typeface="Roboto"/>
                <a:cs typeface="Roboto"/>
                <a:sym typeface="Roboto"/>
              </a:rPr>
            </a:br>
            <a:r>
              <a:rPr b="0" i="0" lang="en-GB" sz="1200">
                <a:solidFill>
                  <a:schemeClr val="dk1"/>
                </a:solidFill>
                <a:latin typeface="Roboto"/>
                <a:ea typeface="Roboto"/>
                <a:cs typeface="Roboto"/>
                <a:sym typeface="Roboto"/>
              </a:rPr>
              <a:t>now 2 options are eliminated,</a:t>
            </a:r>
            <a:br>
              <a:rPr lang="en-GB">
                <a:latin typeface="Roboto"/>
                <a:ea typeface="Roboto"/>
                <a:cs typeface="Roboto"/>
                <a:sym typeface="Roboto"/>
              </a:rPr>
            </a:br>
            <a:r>
              <a:rPr b="0" i="0" lang="en-GB" sz="1200">
                <a:solidFill>
                  <a:schemeClr val="dk1"/>
                </a:solidFill>
                <a:latin typeface="Roboto"/>
                <a:ea typeface="Roboto"/>
                <a:cs typeface="Roboto"/>
                <a:sym typeface="Roboto"/>
              </a:rPr>
              <a:t>so,now,</a:t>
            </a:r>
            <a:br>
              <a:rPr lang="en-GB">
                <a:latin typeface="Roboto"/>
                <a:ea typeface="Roboto"/>
                <a:cs typeface="Roboto"/>
                <a:sym typeface="Roboto"/>
              </a:rPr>
            </a:br>
            <a:r>
              <a:rPr b="0" i="0" lang="en-GB" sz="1200">
                <a:solidFill>
                  <a:schemeClr val="dk1"/>
                </a:solidFill>
                <a:latin typeface="Roboto"/>
                <a:ea typeface="Roboto"/>
                <a:cs typeface="Roboto"/>
                <a:sym typeface="Roboto"/>
              </a:rPr>
              <a:t>{(1/5)*1}+{(4/5)*(-1/6)}=1/15;</a:t>
            </a:r>
            <a:br>
              <a:rPr lang="en-GB">
                <a:latin typeface="Roboto"/>
                <a:ea typeface="Roboto"/>
                <a:cs typeface="Roboto"/>
                <a:sym typeface="Roboto"/>
              </a:rPr>
            </a:br>
            <a:r>
              <a:rPr b="1" i="0" lang="en-GB" sz="1200">
                <a:solidFill>
                  <a:schemeClr val="dk1"/>
                </a:solidFill>
                <a:latin typeface="Roboto"/>
                <a:ea typeface="Roboto"/>
                <a:cs typeface="Roboto"/>
                <a:sym typeface="Roboto"/>
              </a:rPr>
              <a:t>Ans= 1/15</a:t>
            </a:r>
            <a:r>
              <a:rPr b="0" i="0" lang="en-GB" sz="1200">
                <a:solidFill>
                  <a:schemeClr val="dk1"/>
                </a:solidFill>
                <a:latin typeface="Roboto"/>
                <a:ea typeface="Roboto"/>
                <a:cs typeface="Roboto"/>
                <a:sym typeface="Roboto"/>
              </a:rPr>
              <a:t>.</a:t>
            </a:r>
            <a:endParaRPr>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t/>
            </a:r>
            <a:endParaRPr b="0" i="0" sz="1200">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rPr b="1" i="0" lang="en-GB" sz="1200" u="sng">
                <a:solidFill>
                  <a:schemeClr val="dk1"/>
                </a:solidFill>
                <a:latin typeface="Roboto"/>
                <a:ea typeface="Roboto"/>
                <a:cs typeface="Roboto"/>
                <a:sym typeface="Roboto"/>
              </a:rPr>
              <a:t>Sol 2:</a:t>
            </a:r>
            <a:endParaRPr>
              <a:latin typeface="Roboto"/>
              <a:ea typeface="Roboto"/>
              <a:cs typeface="Roboto"/>
              <a:sym typeface="Roboto"/>
            </a:endParaRPr>
          </a:p>
          <a:p>
            <a:pPr indent="0" lvl="0" marL="158750" rtl="0" algn="l">
              <a:lnSpc>
                <a:spcPct val="100000"/>
              </a:lnSpc>
              <a:spcBef>
                <a:spcPts val="0"/>
              </a:spcBef>
              <a:spcAft>
                <a:spcPts val="0"/>
              </a:spcAft>
              <a:buClr>
                <a:schemeClr val="dk1"/>
              </a:buClr>
              <a:buSzPts val="1200"/>
              <a:buFont typeface="Calibri"/>
              <a:buNone/>
            </a:pPr>
            <a:r>
              <a:rPr b="0" i="0" lang="en-GB" sz="1200">
                <a:solidFill>
                  <a:schemeClr val="dk1"/>
                </a:solidFill>
                <a:latin typeface="Roboto"/>
                <a:ea typeface="Roboto"/>
                <a:cs typeface="Roboto"/>
                <a:sym typeface="Roboto"/>
              </a:rPr>
              <a:t>probability to choose correct answer is 1/7 and he get 1 marks for right answer</a:t>
            </a:r>
            <a:br>
              <a:rPr lang="en-GB">
                <a:latin typeface="Roboto"/>
                <a:ea typeface="Roboto"/>
                <a:cs typeface="Roboto"/>
                <a:sym typeface="Roboto"/>
              </a:rPr>
            </a:br>
            <a:r>
              <a:rPr b="0" i="0" lang="en-GB" sz="1200">
                <a:solidFill>
                  <a:schemeClr val="dk1"/>
                </a:solidFill>
                <a:latin typeface="Roboto"/>
                <a:ea typeface="Roboto"/>
                <a:cs typeface="Roboto"/>
                <a:sym typeface="Roboto"/>
              </a:rPr>
              <a:t>probability to choose wrong answer is 6/7 and he loose 1 marks for wrong answer.</a:t>
            </a:r>
            <a:br>
              <a:rPr lang="en-GB">
                <a:latin typeface="Roboto"/>
                <a:ea typeface="Roboto"/>
                <a:cs typeface="Roboto"/>
                <a:sym typeface="Roboto"/>
              </a:rPr>
            </a:br>
            <a:br>
              <a:rPr lang="en-GB">
                <a:latin typeface="Roboto"/>
                <a:ea typeface="Roboto"/>
                <a:cs typeface="Roboto"/>
                <a:sym typeface="Roboto"/>
              </a:rPr>
            </a:br>
            <a:r>
              <a:rPr b="0" i="0" lang="en-GB" sz="1200">
                <a:solidFill>
                  <a:schemeClr val="dk1"/>
                </a:solidFill>
                <a:latin typeface="Roboto"/>
                <a:ea typeface="Roboto"/>
                <a:cs typeface="Roboto"/>
                <a:sym typeface="Roboto"/>
              </a:rPr>
              <a:t>Then</a:t>
            </a:r>
            <a:br>
              <a:rPr lang="en-GB">
                <a:latin typeface="Roboto"/>
                <a:ea typeface="Roboto"/>
                <a:cs typeface="Roboto"/>
                <a:sym typeface="Roboto"/>
              </a:rPr>
            </a:br>
            <a:r>
              <a:rPr b="0" i="0" lang="en-GB" sz="1200">
                <a:solidFill>
                  <a:schemeClr val="dk1"/>
                </a:solidFill>
                <a:latin typeface="Roboto"/>
                <a:ea typeface="Roboto"/>
                <a:cs typeface="Roboto"/>
                <a:sym typeface="Roboto"/>
              </a:rPr>
              <a:t>(1/7)*1+(6/7)*-1=0 according to question</a:t>
            </a:r>
            <a:br>
              <a:rPr lang="en-GB">
                <a:latin typeface="Roboto"/>
                <a:ea typeface="Roboto"/>
                <a:cs typeface="Roboto"/>
                <a:sym typeface="Roboto"/>
              </a:rPr>
            </a:br>
            <a:r>
              <a:rPr b="0" i="0" lang="en-GB" sz="1200">
                <a:solidFill>
                  <a:schemeClr val="dk1"/>
                </a:solidFill>
                <a:latin typeface="Roboto"/>
                <a:ea typeface="Roboto"/>
                <a:cs typeface="Roboto"/>
                <a:sym typeface="Roboto"/>
              </a:rPr>
              <a:t>which is invalid</a:t>
            </a:r>
            <a:br>
              <a:rPr lang="en-GB">
                <a:latin typeface="Roboto"/>
                <a:ea typeface="Roboto"/>
                <a:cs typeface="Roboto"/>
                <a:sym typeface="Roboto"/>
              </a:rPr>
            </a:br>
            <a:r>
              <a:rPr b="0" i="0" lang="en-GB" sz="1200">
                <a:solidFill>
                  <a:schemeClr val="dk1"/>
                </a:solidFill>
                <a:latin typeface="Roboto"/>
                <a:ea typeface="Roboto"/>
                <a:cs typeface="Roboto"/>
                <a:sym typeface="Roboto"/>
              </a:rPr>
              <a:t>so the associated marks for wrong answer is not one it must be some unknown which can be find by the following</a:t>
            </a:r>
            <a:br>
              <a:rPr lang="en-GB">
                <a:latin typeface="Roboto"/>
                <a:ea typeface="Roboto"/>
                <a:cs typeface="Roboto"/>
                <a:sym typeface="Roboto"/>
              </a:rPr>
            </a:br>
            <a:r>
              <a:rPr b="0" i="0" lang="en-GB" sz="1200">
                <a:solidFill>
                  <a:schemeClr val="dk1"/>
                </a:solidFill>
                <a:latin typeface="Roboto"/>
                <a:ea typeface="Roboto"/>
                <a:cs typeface="Roboto"/>
                <a:sym typeface="Roboto"/>
              </a:rPr>
              <a:t>Let the marks for wrong be X</a:t>
            </a:r>
            <a:br>
              <a:rPr lang="en-GB">
                <a:latin typeface="Roboto"/>
                <a:ea typeface="Roboto"/>
                <a:cs typeface="Roboto"/>
                <a:sym typeface="Roboto"/>
              </a:rPr>
            </a:br>
            <a:r>
              <a:rPr b="0" i="0" lang="en-GB" sz="1200">
                <a:solidFill>
                  <a:schemeClr val="dk1"/>
                </a:solidFill>
                <a:latin typeface="Roboto"/>
                <a:ea typeface="Roboto"/>
                <a:cs typeface="Roboto"/>
                <a:sym typeface="Roboto"/>
              </a:rPr>
              <a:t>(1/7)*1+(6/7)*-X=0 according to question</a:t>
            </a:r>
            <a:br>
              <a:rPr lang="en-GB">
                <a:latin typeface="Roboto"/>
                <a:ea typeface="Roboto"/>
                <a:cs typeface="Roboto"/>
                <a:sym typeface="Roboto"/>
              </a:rPr>
            </a:br>
            <a:r>
              <a:rPr b="0" i="0" lang="en-GB" sz="1200">
                <a:solidFill>
                  <a:schemeClr val="dk1"/>
                </a:solidFill>
                <a:latin typeface="Roboto"/>
                <a:ea typeface="Roboto"/>
                <a:cs typeface="Roboto"/>
                <a:sym typeface="Roboto"/>
              </a:rPr>
              <a:t>then x=-1/6</a:t>
            </a:r>
            <a:br>
              <a:rPr lang="en-GB">
                <a:latin typeface="Roboto"/>
                <a:ea typeface="Roboto"/>
                <a:cs typeface="Roboto"/>
                <a:sym typeface="Roboto"/>
              </a:rPr>
            </a:br>
            <a:br>
              <a:rPr lang="en-GB">
                <a:latin typeface="Roboto"/>
                <a:ea typeface="Roboto"/>
                <a:cs typeface="Roboto"/>
                <a:sym typeface="Roboto"/>
              </a:rPr>
            </a:br>
            <a:r>
              <a:rPr b="0" i="0" lang="en-GB" sz="1200">
                <a:solidFill>
                  <a:schemeClr val="dk1"/>
                </a:solidFill>
                <a:latin typeface="Roboto"/>
                <a:ea typeface="Roboto"/>
                <a:cs typeface="Roboto"/>
                <a:sym typeface="Roboto"/>
              </a:rPr>
              <a:t>After that he eliminated 2 incorrect options</a:t>
            </a:r>
            <a:br>
              <a:rPr lang="en-GB">
                <a:latin typeface="Roboto"/>
                <a:ea typeface="Roboto"/>
                <a:cs typeface="Roboto"/>
                <a:sym typeface="Roboto"/>
              </a:rPr>
            </a:br>
            <a:r>
              <a:rPr b="0" i="0" lang="en-GB" sz="1200">
                <a:solidFill>
                  <a:schemeClr val="dk1"/>
                </a:solidFill>
                <a:latin typeface="Roboto"/>
                <a:ea typeface="Roboto"/>
                <a:cs typeface="Roboto"/>
                <a:sym typeface="Roboto"/>
              </a:rPr>
              <a:t>So</a:t>
            </a:r>
            <a:br>
              <a:rPr lang="en-GB">
                <a:latin typeface="Roboto"/>
                <a:ea typeface="Roboto"/>
                <a:cs typeface="Roboto"/>
                <a:sym typeface="Roboto"/>
              </a:rPr>
            </a:br>
            <a:r>
              <a:rPr b="0" i="0" lang="en-GB" sz="1200">
                <a:solidFill>
                  <a:schemeClr val="dk1"/>
                </a:solidFill>
                <a:latin typeface="Roboto"/>
                <a:ea typeface="Roboto"/>
                <a:cs typeface="Roboto"/>
                <a:sym typeface="Roboto"/>
              </a:rPr>
              <a:t>probability to choose correct answer is 1/5</a:t>
            </a:r>
            <a:br>
              <a:rPr lang="en-GB">
                <a:latin typeface="Roboto"/>
                <a:ea typeface="Roboto"/>
                <a:cs typeface="Roboto"/>
                <a:sym typeface="Roboto"/>
              </a:rPr>
            </a:br>
            <a:r>
              <a:rPr b="0" i="0" lang="en-GB" sz="1200">
                <a:solidFill>
                  <a:schemeClr val="dk1"/>
                </a:solidFill>
                <a:latin typeface="Roboto"/>
                <a:ea typeface="Roboto"/>
                <a:cs typeface="Roboto"/>
                <a:sym typeface="Roboto"/>
              </a:rPr>
              <a:t>and wrong answer is 4/5</a:t>
            </a:r>
            <a:br>
              <a:rPr lang="en-GB">
                <a:latin typeface="Roboto"/>
                <a:ea typeface="Roboto"/>
                <a:cs typeface="Roboto"/>
                <a:sym typeface="Roboto"/>
              </a:rPr>
            </a:br>
            <a:r>
              <a:rPr b="0" i="0" lang="en-GB" sz="1200">
                <a:solidFill>
                  <a:schemeClr val="dk1"/>
                </a:solidFill>
                <a:latin typeface="Roboto"/>
                <a:ea typeface="Roboto"/>
                <a:cs typeface="Roboto"/>
                <a:sym typeface="Roboto"/>
              </a:rPr>
              <a:t>So his score={(1/5)*1}+{(4/5)*(-1/6)}</a:t>
            </a:r>
            <a:br>
              <a:rPr lang="en-GB">
                <a:latin typeface="Roboto"/>
                <a:ea typeface="Roboto"/>
                <a:cs typeface="Roboto"/>
                <a:sym typeface="Roboto"/>
              </a:rPr>
            </a:br>
            <a:r>
              <a:rPr b="0" i="0" lang="en-GB" sz="1200">
                <a:solidFill>
                  <a:schemeClr val="dk1"/>
                </a:solidFill>
                <a:latin typeface="Roboto"/>
                <a:ea typeface="Roboto"/>
                <a:cs typeface="Roboto"/>
                <a:sym typeface="Roboto"/>
              </a:rPr>
              <a:t>=(1/5)+(-2/15)</a:t>
            </a:r>
            <a:br>
              <a:rPr lang="en-GB">
                <a:latin typeface="Roboto"/>
                <a:ea typeface="Roboto"/>
                <a:cs typeface="Roboto"/>
                <a:sym typeface="Roboto"/>
              </a:rPr>
            </a:br>
            <a:r>
              <a:rPr b="1" i="0" lang="en-GB" sz="1200">
                <a:solidFill>
                  <a:schemeClr val="dk1"/>
                </a:solidFill>
                <a:latin typeface="Roboto"/>
                <a:ea typeface="Roboto"/>
                <a:cs typeface="Roboto"/>
                <a:sym typeface="Roboto"/>
              </a:rPr>
              <a:t>=1/15</a:t>
            </a:r>
            <a:br>
              <a:rPr lang="en-GB">
                <a:latin typeface="Roboto"/>
                <a:ea typeface="Roboto"/>
                <a:cs typeface="Roboto"/>
                <a:sym typeface="Roboto"/>
              </a:rPr>
            </a:br>
            <a:r>
              <a:rPr b="0" i="0" lang="en-GB" sz="1200">
                <a:solidFill>
                  <a:schemeClr val="dk1"/>
                </a:solidFill>
                <a:latin typeface="Roboto"/>
                <a:ea typeface="Roboto"/>
                <a:cs typeface="Roboto"/>
                <a:sym typeface="Roboto"/>
              </a:rPr>
              <a:t>then x=-1/6</a:t>
            </a:r>
            <a:endParaRPr b="1" u="sng">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5dab58096a_0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15dab58096a_0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edd9bc016b_1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2edd9bc016b_1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edd9bc016b_1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edd9bc016b_1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5dab58096a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15dab58096a_0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edd9bc016b_1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2edd9bc016b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5dab58096a_0_3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15dab58096a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edd9bc016b_1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2edd9bc016b_1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edd9bc016b_1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2edd9bc016b_1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5dab58096a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15dab58096a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edd9bc016b_1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2edd9bc016b_1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edd9bc016b_1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2edd9bc016b_1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3109bf44fd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23109bf44f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edd9bc016b_1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2edd9bc016b_1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5dab58096a_0_3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15dab58096a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edd9bc016b_1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2edd9bc016b_1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5dab58096a_0_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15dab58096a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edd9bc016b_1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2edd9bc016b_1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5dab58096a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15dab58096a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edd9bc016b_1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2edd9bc016b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edd9bc016b_1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g2edd9bc016b_1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edd9bc016b_1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2edd9bc016b_1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5dab58096a_0_4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15dab58096a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edd9bc016b_1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2edd9bc016b_1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3109bf44fd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23109bf44fd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edd9bc016b_1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2edd9bc016b_1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b="1" u="sng">
              <a:latin typeface="Roboto"/>
              <a:ea typeface="Roboto"/>
              <a:cs typeface="Roboto"/>
              <a:sym typeface="Robo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5dab58096a_0_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g15dab58096a_0_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edd9bc016b_1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2edd9bc016b_1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Clr>
                <a:schemeClr val="dk1"/>
              </a:buClr>
              <a:buSzPts val="1200"/>
              <a:buFont typeface="Calibri"/>
              <a:buNone/>
            </a:pPr>
            <a:r>
              <a:t/>
            </a:r>
            <a:endParaRPr>
              <a:latin typeface="Roboto"/>
              <a:ea typeface="Roboto"/>
              <a:cs typeface="Roboto"/>
              <a:sym typeface="Roboto"/>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3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2" name="Google Shape;22;p3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4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 name="Google Shape;29;p4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4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3" name="Google Shape;3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6" name="Google Shape;36;p4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7" name="Google Shape;37;p4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4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9" name="Google Shape;3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4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2" name="Google Shape;4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4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5" name="Google Shape;45;p4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6" name="Google Shape;46;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15dab58096a_0_3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5dab58096a_0_3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g15dab58096a_0_3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g15dab58096a_0_3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15dab58096a_0_3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3" name="Google Shape;63;g15dab58096a_0_3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4" name="Google Shape;64;g15dab58096a_0_3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g15dab58096a_0_3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g15dab58096a_0_3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g15dab58096a_0_3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69" name="Google Shape;69;g15dab58096a_0_3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g15dab58096a_0_32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2" name="Google Shape;72;g15dab58096a_0_32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3" name="Google Shape;73;g15dab58096a_0_3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74" name="Shape 74"/>
        <p:cNvGrpSpPr/>
        <p:nvPr/>
      </p:nvGrpSpPr>
      <p:grpSpPr>
        <a:xfrm>
          <a:off x="0" y="0"/>
          <a:ext cx="0" cy="0"/>
          <a:chOff x="0" y="0"/>
          <a:chExt cx="0" cy="0"/>
        </a:xfrm>
      </p:grpSpPr>
      <p:pic>
        <p:nvPicPr>
          <p:cNvPr descr="A close up of a logo&#10;&#10;Description generated with high confidence" id="75" name="Google Shape;75;g15dab58096a_0_33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76" name="Google Shape;76;g15dab58096a_0_333"/>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77" name="Google Shape;77;g15dab58096a_0_33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8" name="Google Shape;78;g15dab58096a_0_33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9" name="Google Shape;79;g15dab58096a_0_33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0" name="Google Shape;80;g15dab58096a_0_33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0" Type="http://schemas.openxmlformats.org/officeDocument/2006/relationships/theme" Target="../theme/theme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
        <p:nvSpPr>
          <p:cNvPr id="48" name="Google Shape;48;g15dab58096a_0_3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9" name="Google Shape;49;g15dab58096a_0_30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0" name="Google Shape;50;g15dab58096a_0_3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1" name="Google Shape;51;g15dab58096a_0_30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9.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8oH677T3KsfXi24x5" TargetMode="Externa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10.png"/><Relationship Id="rId4" Type="http://schemas.openxmlformats.org/officeDocument/2006/relationships/hyperlink" Target="https://learn.codemithra.co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15.jp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g15dab58096a_0_0"/>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86" name="Google Shape;86;g15dab58096a_0_0"/>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87" name="Google Shape;87;g15dab58096a_0_0"/>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g15dab58096a_0_63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93" name="Google Shape;93;g15dab58096a_0_632"/>
          <p:cNvSpPr txBox="1"/>
          <p:nvPr/>
        </p:nvSpPr>
        <p:spPr>
          <a:xfrm>
            <a:off x="178001" y="2109682"/>
            <a:ext cx="4690948" cy="680156"/>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800"/>
              <a:buFont typeface="Arial"/>
              <a:buNone/>
            </a:pPr>
            <a:r>
              <a:rPr b="1" i="0" lang="en-GB" sz="2800" u="none" cap="none" strike="noStrike">
                <a:solidFill>
                  <a:schemeClr val="lt1"/>
                </a:solidFill>
                <a:latin typeface="Roboto"/>
                <a:ea typeface="Roboto"/>
                <a:cs typeface="Roboto"/>
                <a:sym typeface="Roboto"/>
              </a:rPr>
              <a:t>PROBABILITY</a:t>
            </a:r>
            <a:endParaRPr b="1" i="0" sz="28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f3fb8327bd_0_3"/>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URL</a:t>
            </a:r>
            <a:r>
              <a:rPr b="1" lang="en-GB" sz="1600">
                <a:solidFill>
                  <a:srgbClr val="373737"/>
                </a:solidFill>
                <a:highlight>
                  <a:srgbClr val="FFFFFF"/>
                </a:highlight>
                <a:latin typeface="Roboto"/>
                <a:ea typeface="Roboto"/>
                <a:cs typeface="Roboto"/>
                <a:sym typeface="Roboto"/>
              </a:rPr>
              <a:t>:</a:t>
            </a:r>
            <a:r>
              <a:rPr b="1" lang="en-GB" sz="1600" u="sng">
                <a:solidFill>
                  <a:schemeClr val="hlink"/>
                </a:solidFill>
                <a:latin typeface="Roboto"/>
                <a:ea typeface="Roboto"/>
                <a:cs typeface="Roboto"/>
                <a:sym typeface="Roboto"/>
                <a:hlinkClick r:id="rId3"/>
              </a:rPr>
              <a:t>https://forms.gle/8oH677T3KsfXi24x5</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99" name="Google Shape;99;g2f3fb8327bd_0_3"/>
          <p:cNvSpPr txBox="1"/>
          <p:nvPr/>
        </p:nvSpPr>
        <p:spPr>
          <a:xfrm>
            <a:off x="577325" y="622125"/>
            <a:ext cx="77862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GB" sz="1500" u="none" cap="none" strike="noStrike">
                <a:solidFill>
                  <a:srgbClr val="000000"/>
                </a:solidFill>
                <a:latin typeface="Roboto"/>
                <a:ea typeface="Roboto"/>
                <a:cs typeface="Roboto"/>
                <a:sym typeface="Roboto"/>
              </a:rPr>
              <a:t>                    TEST TIME ON PERMUTATION AND COMBINATIONS-2</a:t>
            </a:r>
            <a:endParaRPr b="1" i="0" sz="1500" u="none" cap="none" strike="noStrike">
              <a:solidFill>
                <a:srgbClr val="000000"/>
              </a:solidFill>
              <a:latin typeface="Roboto"/>
              <a:ea typeface="Roboto"/>
              <a:cs typeface="Roboto"/>
              <a:sym typeface="Roboto"/>
            </a:endParaRPr>
          </a:p>
        </p:txBody>
      </p:sp>
      <p:sp>
        <p:nvSpPr>
          <p:cNvPr id="100" name="Google Shape;100;g2f3fb8327bd_0_3"/>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01" name="Google Shape;101;g2f3fb8327bd_0_3"/>
          <p:cNvPicPr preferRelativeResize="0"/>
          <p:nvPr/>
        </p:nvPicPr>
        <p:blipFill rotWithShape="1">
          <a:blip r:embed="rId4">
            <a:alphaModFix/>
          </a:blip>
          <a:srcRect b="0" l="0" r="0" t="0"/>
          <a:stretch/>
        </p:blipFill>
        <p:spPr>
          <a:xfrm>
            <a:off x="3495975" y="2303850"/>
            <a:ext cx="2719101" cy="2250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15dab58096a_0_116"/>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107" name="Google Shape;107;g15dab58096a_0_116"/>
          <p:cNvSpPr/>
          <p:nvPr/>
        </p:nvSpPr>
        <p:spPr>
          <a:xfrm>
            <a:off x="720000" y="1439999"/>
            <a:ext cx="6423900" cy="23097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chemeClr val="dk1"/>
                </a:solidFill>
                <a:latin typeface="Roboto"/>
                <a:ea typeface="Roboto"/>
                <a:cs typeface="Roboto"/>
                <a:sym typeface="Roboto"/>
              </a:rPr>
              <a:t>1. Probability Range = 0 = P(A) = 1</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2. Rule of Complementary Events = P(AC) + P(A) = 1</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3. Rule of Addition = (A or B) = P(A) + P(B) - P(AnB)</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4. Disjoint Events</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Events A and B are disjoint iff = P(AnB) = 0</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5. Conditional Probability = P(A | B) = P(AnB) / P(B)</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6. Bayes Formula = P(A | B) = P(B | A) · P(A) / P(B)</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7. Independent Events</a:t>
            </a:r>
            <a:br>
              <a:rPr b="1"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Events A and B are independent iff = P(AnB) = P(A) · P(B)</a:t>
            </a:r>
            <a:endParaRPr b="0" i="0" sz="1400" u="none" cap="none" strike="noStrike">
              <a:solidFill>
                <a:srgbClr val="000000"/>
              </a:solidFill>
              <a:latin typeface="Roboto"/>
              <a:ea typeface="Roboto"/>
              <a:cs typeface="Roboto"/>
              <a:sym typeface="Roboto"/>
            </a:endParaRPr>
          </a:p>
        </p:txBody>
      </p:sp>
      <p:sp>
        <p:nvSpPr>
          <p:cNvPr id="108" name="Google Shape;108;g15dab58096a_0_116"/>
          <p:cNvSpPr txBox="1"/>
          <p:nvPr/>
        </p:nvSpPr>
        <p:spPr>
          <a:xfrm>
            <a:off x="720000" y="579950"/>
            <a:ext cx="352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800">
                <a:solidFill>
                  <a:srgbClr val="8182EF"/>
                </a:solidFill>
                <a:latin typeface="Roboto Black"/>
                <a:ea typeface="Roboto Black"/>
                <a:cs typeface="Roboto Black"/>
                <a:sym typeface="Roboto Black"/>
              </a:rPr>
              <a:t>PROBABILITY</a:t>
            </a:r>
            <a:endParaRPr b="0" i="0" sz="1800" u="none" cap="none" strike="noStrike">
              <a:solidFill>
                <a:srgbClr val="6D9EEB"/>
              </a:solidFill>
              <a:latin typeface="Roboto Black"/>
              <a:ea typeface="Roboto Black"/>
              <a:cs typeface="Roboto Black"/>
              <a:sym typeface="Roboto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Effect filter="fade" transition="in">
                                      <p:cBhvr>
                                        <p:cTn dur="2000"/>
                                        <p:tgtEl>
                                          <p:spTgt spid="1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3109bf44fd_0_0"/>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114" name="Google Shape;114;g23109bf44fd_0_0"/>
          <p:cNvSpPr/>
          <p:nvPr/>
        </p:nvSpPr>
        <p:spPr>
          <a:xfrm>
            <a:off x="720725" y="991800"/>
            <a:ext cx="8001600" cy="31599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1" i="0" lang="en-GB" u="sng" cap="none" strike="noStrike">
                <a:solidFill>
                  <a:schemeClr val="dk1"/>
                </a:solidFill>
                <a:latin typeface="Roboto"/>
                <a:ea typeface="Roboto"/>
                <a:cs typeface="Roboto"/>
                <a:sym typeface="Roboto"/>
              </a:rPr>
              <a:t>PROBLEMS BASED ON COINS:</a:t>
            </a:r>
            <a:endParaRPr b="1" i="0" u="sng"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The Possible Number of Outcomes is always Calculated by 2∧n</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When a Coin is Tossed then the Possible ways=2¹=2(Head or Tail)</a:t>
            </a:r>
            <a:endParaRPr b="0" i="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When Three Coins are Tossed then the Possible ways=2³=8(HHH,HHT,HTH,HTT,THH,THT,TTH,TTT)</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The Question from this Coin Pattern May have 3 words to trick you that is</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i="0" lang="en-GB" u="none" cap="none" strike="noStrike">
                <a:solidFill>
                  <a:schemeClr val="dk1"/>
                </a:solidFill>
                <a:latin typeface="Roboto"/>
                <a:ea typeface="Roboto"/>
                <a:cs typeface="Roboto"/>
                <a:sym typeface="Roboto"/>
              </a:rPr>
              <a:t>ATMOST</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i="0" lang="en-GB" u="none" cap="none" strike="noStrike">
                <a:solidFill>
                  <a:schemeClr val="dk1"/>
                </a:solidFill>
                <a:latin typeface="Roboto"/>
                <a:ea typeface="Roboto"/>
                <a:cs typeface="Roboto"/>
                <a:sym typeface="Roboto"/>
              </a:rPr>
              <a:t>ATLEAST</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1" i="0" lang="en-GB" u="none" cap="none" strike="noStrike">
                <a:solidFill>
                  <a:schemeClr val="dk1"/>
                </a:solidFill>
                <a:latin typeface="Roboto"/>
                <a:ea typeface="Roboto"/>
                <a:cs typeface="Roboto"/>
                <a:sym typeface="Roboto"/>
              </a:rPr>
              <a:t>EXACTLY</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 Atmost 2 heads --------------🡪 Maximum of two heads </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Atleast 2 heads -----🡪 Minimum of Two heads or May be more than 2 heads</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 Exactly 2 heads ----🡪 only 2 heads not more than that not less than that.</a:t>
            </a:r>
            <a:endParaRPr b="0" i="0" u="none" cap="none" strike="noStrike">
              <a:solidFill>
                <a:schemeClr val="dk1"/>
              </a:solidFill>
              <a:latin typeface="Roboto"/>
              <a:ea typeface="Roboto"/>
              <a:cs typeface="Roboto"/>
              <a:sym typeface="Roboto"/>
            </a:endParaRPr>
          </a:p>
        </p:txBody>
      </p:sp>
      <p:sp>
        <p:nvSpPr>
          <p:cNvPr id="115" name="Google Shape;115;g23109bf44fd_0_0"/>
          <p:cNvSpPr txBox="1"/>
          <p:nvPr/>
        </p:nvSpPr>
        <p:spPr>
          <a:xfrm>
            <a:off x="720725" y="5301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rgbClr val="8182EF"/>
                </a:solidFill>
                <a:latin typeface="Roboto Black"/>
                <a:ea typeface="Roboto Black"/>
                <a:cs typeface="Roboto Black"/>
                <a:sym typeface="Roboto Black"/>
              </a:rPr>
              <a:t>TIPS TO SOLVE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2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2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2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2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2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2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2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2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2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2000"/>
                                        <p:tgtEl>
                                          <p:spTgt spid="11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0" st="10"/>
                                            </p:txEl>
                                          </p:spTgt>
                                        </p:tgtEl>
                                        <p:attrNameLst>
                                          <p:attrName>style.visibility</p:attrName>
                                        </p:attrNameLst>
                                      </p:cBhvr>
                                      <p:to>
                                        <p:strVal val="visible"/>
                                      </p:to>
                                    </p:set>
                                    <p:animEffect filter="fade" transition="in">
                                      <p:cBhvr>
                                        <p:cTn dur="2000"/>
                                        <p:tgtEl>
                                          <p:spTgt spid="11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23109bf44fd_0_7"/>
          <p:cNvSpPr txBox="1"/>
          <p:nvPr/>
        </p:nvSpPr>
        <p:spPr>
          <a:xfrm>
            <a:off x="1428751" y="1714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121" name="Google Shape;121;g23109bf44fd_0_7"/>
          <p:cNvSpPr/>
          <p:nvPr/>
        </p:nvSpPr>
        <p:spPr>
          <a:xfrm>
            <a:off x="720000" y="1322400"/>
            <a:ext cx="7650000" cy="35790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1" i="0" lang="en-GB" sz="1400" u="sng" cap="none" strike="noStrike">
                <a:solidFill>
                  <a:schemeClr val="dk1"/>
                </a:solidFill>
                <a:latin typeface="Roboto"/>
                <a:ea typeface="Roboto"/>
                <a:cs typeface="Roboto"/>
                <a:sym typeface="Roboto"/>
              </a:rPr>
              <a:t>PROBLEMS BASED ON DICE</a:t>
            </a:r>
            <a:r>
              <a:rPr b="1" i="0" lang="en-GB" sz="1400" u="none" cap="none" strike="noStrike">
                <a:solidFill>
                  <a:schemeClr val="dk1"/>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The same Logic Applies here that is the Possible number of Outcomes is 2 ^ 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When a Single Dice is thrown the number of Possibility=6¹=6(1,2,3,4,5,6)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When two Dice are thrown then the number of Possible Outcomes=6²=36</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[(1,1)(1,2)(1,3)(1,4)(1,5)(1,6)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(2,1)(2,2)(2,3)(2,4)(2,5)(2,6)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(3,1)(3,2)(3,3)(3,4)(3,5)(3,6)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(4,1)(4,2)(4,3)(4,4)(4,5)(4,6)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(5,1)(5,2)(5,3)(5,4)(5,5)(5,6)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(6,1)(6,2)(6,3)(6,4)(6,5)(6,6)]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p:txBody>
      </p:sp>
      <p:sp>
        <p:nvSpPr>
          <p:cNvPr id="122" name="Google Shape;122;g23109bf44fd_0_7"/>
          <p:cNvSpPr txBox="1"/>
          <p:nvPr/>
        </p:nvSpPr>
        <p:spPr>
          <a:xfrm>
            <a:off x="3284125" y="2969275"/>
            <a:ext cx="6547800" cy="140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Mostly Question Will Be Based On The Below Format:</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Sum Of The Number Should Be 6 Or 7 Or Any Value</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Difference Of The Number Should Be 3[(1,4)(2,5)(3,6)]</a:t>
            </a:r>
            <a:endParaRPr b="0" i="0" sz="1400" u="none" cap="none" strike="noStrike">
              <a:solidFill>
                <a:schemeClr val="dk1"/>
              </a:solidFill>
              <a:latin typeface="Roboto"/>
              <a:ea typeface="Roboto"/>
              <a:cs typeface="Roboto"/>
              <a:sym typeface="Roboto"/>
            </a:endParaRPr>
          </a:p>
        </p:txBody>
      </p:sp>
      <p:sp>
        <p:nvSpPr>
          <p:cNvPr id="123" name="Google Shape;123;g23109bf44fd_0_7"/>
          <p:cNvSpPr txBox="1"/>
          <p:nvPr/>
        </p:nvSpPr>
        <p:spPr>
          <a:xfrm>
            <a:off x="720725" y="5301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rgbClr val="8182EF"/>
                </a:solidFill>
                <a:latin typeface="Roboto Black"/>
                <a:ea typeface="Roboto Black"/>
                <a:cs typeface="Roboto Black"/>
                <a:sym typeface="Roboto Black"/>
              </a:rPr>
              <a:t>TIPS TO SOLVE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20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2000"/>
                                        <p:tgtEl>
                                          <p:spTgt spid="1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Effect filter="fade" transition="in">
                                      <p:cBhvr>
                                        <p:cTn dur="2000"/>
                                        <p:tgtEl>
                                          <p:spTgt spid="1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Effect filter="fade" transition="in">
                                      <p:cBhvr>
                                        <p:cTn dur="2000"/>
                                        <p:tgtEl>
                                          <p:spTgt spid="1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Effect filter="fade" transition="in">
                                      <p:cBhvr>
                                        <p:cTn dur="2000"/>
                                        <p:tgtEl>
                                          <p:spTgt spid="1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animEffect filter="fade" transition="in">
                                      <p:cBhvr>
                                        <p:cTn dur="2000"/>
                                        <p:tgtEl>
                                          <p:spTgt spid="1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6" st="6"/>
                                            </p:txEl>
                                          </p:spTgt>
                                        </p:tgtEl>
                                        <p:attrNameLst>
                                          <p:attrName>style.visibility</p:attrName>
                                        </p:attrNameLst>
                                      </p:cBhvr>
                                      <p:to>
                                        <p:strVal val="visible"/>
                                      </p:to>
                                    </p:set>
                                    <p:animEffect filter="fade" transition="in">
                                      <p:cBhvr>
                                        <p:cTn dur="2000"/>
                                        <p:tgtEl>
                                          <p:spTgt spid="1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7" st="7"/>
                                            </p:txEl>
                                          </p:spTgt>
                                        </p:tgtEl>
                                        <p:attrNameLst>
                                          <p:attrName>style.visibility</p:attrName>
                                        </p:attrNameLst>
                                      </p:cBhvr>
                                      <p:to>
                                        <p:strVal val="visible"/>
                                      </p:to>
                                    </p:set>
                                    <p:animEffect filter="fade" transition="in">
                                      <p:cBhvr>
                                        <p:cTn dur="2000"/>
                                        <p:tgtEl>
                                          <p:spTgt spid="1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8" st="8"/>
                                            </p:txEl>
                                          </p:spTgt>
                                        </p:tgtEl>
                                        <p:attrNameLst>
                                          <p:attrName>style.visibility</p:attrName>
                                        </p:attrNameLst>
                                      </p:cBhvr>
                                      <p:to>
                                        <p:strVal val="visible"/>
                                      </p:to>
                                    </p:set>
                                    <p:animEffect filter="fade" transition="in">
                                      <p:cBhvr>
                                        <p:cTn dur="2000"/>
                                        <p:tgtEl>
                                          <p:spTgt spid="1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9" st="9"/>
                                            </p:txEl>
                                          </p:spTgt>
                                        </p:tgtEl>
                                        <p:attrNameLst>
                                          <p:attrName>style.visibility</p:attrName>
                                        </p:attrNameLst>
                                      </p:cBhvr>
                                      <p:to>
                                        <p:strVal val="visible"/>
                                      </p:to>
                                    </p:set>
                                    <p:animEffect filter="fade" transition="in">
                                      <p:cBhvr>
                                        <p:cTn dur="2000"/>
                                        <p:tgtEl>
                                          <p:spTgt spid="12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0" st="10"/>
                                            </p:txEl>
                                          </p:spTgt>
                                        </p:tgtEl>
                                        <p:attrNameLst>
                                          <p:attrName>style.visibility</p:attrName>
                                        </p:attrNameLst>
                                      </p:cBhvr>
                                      <p:to>
                                        <p:strVal val="visible"/>
                                      </p:to>
                                    </p:set>
                                    <p:animEffect filter="fade" transition="in">
                                      <p:cBhvr>
                                        <p:cTn dur="2000"/>
                                        <p:tgtEl>
                                          <p:spTgt spid="12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3108feea02_0_0"/>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129" name="Google Shape;129;g23108feea02_0_0"/>
          <p:cNvSpPr/>
          <p:nvPr/>
        </p:nvSpPr>
        <p:spPr>
          <a:xfrm>
            <a:off x="720000" y="1440002"/>
            <a:ext cx="6823800" cy="30546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1" i="0" lang="en-GB" sz="1400" u="sng" cap="none" strike="noStrike">
                <a:solidFill>
                  <a:schemeClr val="dk1"/>
                </a:solidFill>
                <a:latin typeface="Roboto"/>
                <a:ea typeface="Roboto"/>
                <a:cs typeface="Roboto"/>
                <a:sym typeface="Roboto"/>
              </a:rPr>
              <a:t>PROBLEMS BASED ON CARDS: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In Card Based Problem Remember this Hierarchy</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                           13 Cards in Each Category is: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                           Numbers (1 to 9) 9 cards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                           Ace-1,Jack-1 Queen-1 King-1 (4 cards)</a:t>
            </a:r>
            <a:endParaRPr b="0" i="0" sz="1400" u="none" cap="none" strike="noStrike">
              <a:solidFill>
                <a:schemeClr val="dk1"/>
              </a:solidFill>
              <a:latin typeface="Roboto"/>
              <a:ea typeface="Roboto"/>
              <a:cs typeface="Roboto"/>
              <a:sym typeface="Roboto"/>
            </a:endParaRPr>
          </a:p>
        </p:txBody>
      </p:sp>
      <p:pic>
        <p:nvPicPr>
          <p:cNvPr descr="http://bankersdaily.in/wp-content/uploads/2017/08/image012-11-300x148.jpg" id="130" name="Google Shape;130;g23108feea02_0_0"/>
          <p:cNvPicPr preferRelativeResize="0"/>
          <p:nvPr/>
        </p:nvPicPr>
        <p:blipFill rotWithShape="1">
          <a:blip r:embed="rId3">
            <a:alphaModFix/>
          </a:blip>
          <a:srcRect b="0" l="0" r="0" t="0"/>
          <a:stretch/>
        </p:blipFill>
        <p:spPr>
          <a:xfrm>
            <a:off x="2909119" y="1485900"/>
            <a:ext cx="2514600" cy="1543050"/>
          </a:xfrm>
          <a:prstGeom prst="rect">
            <a:avLst/>
          </a:prstGeom>
          <a:noFill/>
          <a:ln>
            <a:noFill/>
          </a:ln>
        </p:spPr>
      </p:pic>
      <p:sp>
        <p:nvSpPr>
          <p:cNvPr id="131" name="Google Shape;131;g23108feea02_0_0"/>
          <p:cNvSpPr txBox="1"/>
          <p:nvPr/>
        </p:nvSpPr>
        <p:spPr>
          <a:xfrm>
            <a:off x="720725" y="5301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rgbClr val="8182EF"/>
                </a:solidFill>
                <a:latin typeface="Roboto Black"/>
                <a:ea typeface="Roboto Black"/>
                <a:cs typeface="Roboto Black"/>
                <a:sym typeface="Roboto Black"/>
              </a:rPr>
              <a:t>TIPS TO SOLVE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animEffect filter="fade" transition="in">
                                      <p:cBhvr>
                                        <p:cTn dur="2000"/>
                                        <p:tgtEl>
                                          <p:spTgt spid="1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animEffect filter="fade" transition="in">
                                      <p:cBhvr>
                                        <p:cTn dur="2000"/>
                                        <p:tgtEl>
                                          <p:spTgt spid="1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animEffect filter="fade" transition="in">
                                      <p:cBhvr>
                                        <p:cTn dur="2000"/>
                                        <p:tgtEl>
                                          <p:spTgt spid="1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animEffect filter="fade" transition="in">
                                      <p:cBhvr>
                                        <p:cTn dur="2000"/>
                                        <p:tgtEl>
                                          <p:spTgt spid="1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animEffect filter="fade" transition="in">
                                      <p:cBhvr>
                                        <p:cTn dur="2000"/>
                                        <p:tgtEl>
                                          <p:spTgt spid="1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animEffect filter="fade" transition="in">
                                      <p:cBhvr>
                                        <p:cTn dur="2000"/>
                                        <p:tgtEl>
                                          <p:spTgt spid="1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6" st="6"/>
                                            </p:txEl>
                                          </p:spTgt>
                                        </p:tgtEl>
                                        <p:attrNameLst>
                                          <p:attrName>style.visibility</p:attrName>
                                        </p:attrNameLst>
                                      </p:cBhvr>
                                      <p:to>
                                        <p:strVal val="visible"/>
                                      </p:to>
                                    </p:set>
                                    <p:animEffect filter="fade" transition="in">
                                      <p:cBhvr>
                                        <p:cTn dur="2000"/>
                                        <p:tgtEl>
                                          <p:spTgt spid="1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7" st="7"/>
                                            </p:txEl>
                                          </p:spTgt>
                                        </p:tgtEl>
                                        <p:attrNameLst>
                                          <p:attrName>style.visibility</p:attrName>
                                        </p:attrNameLst>
                                      </p:cBhvr>
                                      <p:to>
                                        <p:strVal val="visible"/>
                                      </p:to>
                                    </p:set>
                                    <p:animEffect filter="fade" transition="in">
                                      <p:cBhvr>
                                        <p:cTn dur="2000"/>
                                        <p:tgtEl>
                                          <p:spTgt spid="1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8" st="8"/>
                                            </p:txEl>
                                          </p:spTgt>
                                        </p:tgtEl>
                                        <p:attrNameLst>
                                          <p:attrName>style.visibility</p:attrName>
                                        </p:attrNameLst>
                                      </p:cBhvr>
                                      <p:to>
                                        <p:strVal val="visible"/>
                                      </p:to>
                                    </p:set>
                                    <p:animEffect filter="fade" transition="in">
                                      <p:cBhvr>
                                        <p:cTn dur="2000"/>
                                        <p:tgtEl>
                                          <p:spTgt spid="12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2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5dab58096a_0_254"/>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137" name="Google Shape;137;g15dab58096a_0_254"/>
          <p:cNvSpPr/>
          <p:nvPr/>
        </p:nvSpPr>
        <p:spPr>
          <a:xfrm>
            <a:off x="643800" y="1439998"/>
            <a:ext cx="6709500" cy="21510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A pair of 8 sided dice has sides numbered 1 to 8.Each side has same probability or chance of landing face up.The probability that the product of 2 numbers on the sides that land face up exceeds 36 is</a:t>
            </a:r>
            <a:endParaRPr b="0" i="0" u="none" cap="none" strike="noStrike">
              <a:solidFill>
                <a:srgbClr val="000000"/>
              </a:solidFill>
              <a:latin typeface="Roboto"/>
              <a:ea typeface="Roboto"/>
              <a:cs typeface="Roboto"/>
              <a:sym typeface="Roboto"/>
            </a:endParaRPr>
          </a:p>
          <a:p>
            <a:pPr indent="-171450" lvl="0" marL="257175" marR="0" rtl="0" algn="l">
              <a:lnSpc>
                <a:spcPct val="150000"/>
              </a:lnSpc>
              <a:spcBef>
                <a:spcPts val="0"/>
              </a:spcBef>
              <a:spcAft>
                <a:spcPts val="0"/>
              </a:spcAft>
              <a:buClr>
                <a:srgbClr val="000000"/>
              </a:buClr>
              <a:buSzPts val="1400"/>
              <a:buFont typeface="Arial"/>
              <a:buNone/>
            </a:pPr>
            <a:r>
              <a:t/>
            </a:r>
            <a:endParaRPr b="0" i="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11/64 </a:t>
            </a:r>
            <a:endParaRPr b="0" i="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5/32 </a:t>
            </a:r>
            <a:endParaRPr b="0" i="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3/16 </a:t>
            </a:r>
            <a:endParaRPr b="0" i="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1/4</a:t>
            </a:r>
            <a:endParaRPr b="0" i="0" u="none" cap="none" strike="noStrike">
              <a:solidFill>
                <a:schemeClr val="dk1"/>
              </a:solidFill>
              <a:latin typeface="Roboto"/>
              <a:ea typeface="Roboto"/>
              <a:cs typeface="Roboto"/>
              <a:sym typeface="Roboto"/>
            </a:endParaRPr>
          </a:p>
        </p:txBody>
      </p:sp>
      <p:sp>
        <p:nvSpPr>
          <p:cNvPr id="138" name="Google Shape;138;g15dab58096a_0_254"/>
          <p:cNvSpPr/>
          <p:nvPr/>
        </p:nvSpPr>
        <p:spPr>
          <a:xfrm>
            <a:off x="6229350" y="400050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B</a:t>
            </a:r>
            <a:endParaRPr b="0" i="0" sz="1350" u="none" cap="none" strike="noStrike">
              <a:solidFill>
                <a:schemeClr val="dk1"/>
              </a:solidFill>
              <a:latin typeface="Roboto"/>
              <a:ea typeface="Roboto"/>
              <a:cs typeface="Roboto"/>
              <a:sym typeface="Roboto"/>
            </a:endParaRPr>
          </a:p>
        </p:txBody>
      </p:sp>
      <p:sp>
        <p:nvSpPr>
          <p:cNvPr id="139" name="Google Shape;139;g15dab58096a_0_254"/>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animEffect filter="fade" transition="in">
                                      <p:cBhvr>
                                        <p:cTn dur="2000"/>
                                        <p:tgtEl>
                                          <p:spTgt spid="1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animEffect filter="fade" transition="in">
                                      <p:cBhvr>
                                        <p:cTn dur="2000"/>
                                        <p:tgtEl>
                                          <p:spTgt spid="1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animEffect filter="fade" transition="in">
                                      <p:cBhvr>
                                        <p:cTn dur="2000"/>
                                        <p:tgtEl>
                                          <p:spTgt spid="1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animEffect filter="fade" transition="in">
                                      <p:cBhvr>
                                        <p:cTn dur="2000"/>
                                        <p:tgtEl>
                                          <p:spTgt spid="1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animEffect filter="fade" transition="in">
                                      <p:cBhvr>
                                        <p:cTn dur="2000"/>
                                        <p:tgtEl>
                                          <p:spTgt spid="1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animEffect filter="fade" transition="in">
                                      <p:cBhvr>
                                        <p:cTn dur="2000"/>
                                        <p:tgtEl>
                                          <p:spTgt spid="1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Effect filter="fade" transition="in">
                                      <p:cBhvr>
                                        <p:cTn dur="2000"/>
                                        <p:tgtEl>
                                          <p:spTgt spid="13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 name="Shape 143"/>
        <p:cNvGrpSpPr/>
        <p:nvPr/>
      </p:nvGrpSpPr>
      <p:grpSpPr>
        <a:xfrm>
          <a:off x="0" y="0"/>
          <a:ext cx="0" cy="0"/>
          <a:chOff x="0" y="0"/>
          <a:chExt cx="0" cy="0"/>
        </a:xfrm>
      </p:grpSpPr>
      <p:sp>
        <p:nvSpPr>
          <p:cNvPr id="144" name="Google Shape;144;g2edd9bc016b_1_20"/>
          <p:cNvSpPr/>
          <p:nvPr/>
        </p:nvSpPr>
        <p:spPr>
          <a:xfrm>
            <a:off x="720000" y="1439998"/>
            <a:ext cx="6709500" cy="2151000"/>
          </a:xfrm>
          <a:prstGeom prst="rect">
            <a:avLst/>
          </a:prstGeom>
          <a:noFill/>
          <a:ln>
            <a:noFill/>
          </a:ln>
        </p:spPr>
        <p:txBody>
          <a:bodyPr anchorCtr="0" anchor="t" bIns="34275" lIns="68550" spcFirstLastPara="1" rIns="68550" wrap="square" tIns="34275">
            <a:noAutofit/>
          </a:bodyPr>
          <a:lstStyle/>
          <a:p>
            <a:pPr indent="-317500" lvl="0" marL="457200" marR="0" rtl="0" algn="l">
              <a:lnSpc>
                <a:spcPct val="100000"/>
              </a:lnSpc>
              <a:spcBef>
                <a:spcPts val="0"/>
              </a:spcBef>
              <a:spcAft>
                <a:spcPts val="0"/>
              </a:spcAft>
              <a:buClr>
                <a:schemeClr val="dk1"/>
              </a:buClr>
              <a:buSzPts val="1400"/>
              <a:buFont typeface="Calibri"/>
              <a:buAutoNum type="alphaUcPeriod"/>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Calibri"/>
              <a:buAutoNum type="alphaUcPeriod"/>
            </a:pPr>
            <a:r>
              <a:rPr b="0" i="0" lang="en-GB" sz="1600" u="none" cap="none" strike="noStrike">
                <a:solidFill>
                  <a:schemeClr val="dk1"/>
                </a:solidFill>
                <a:latin typeface="Roboto"/>
                <a:ea typeface="Roboto"/>
                <a:cs typeface="Roboto"/>
                <a:sym typeface="Roboto"/>
              </a:rPr>
              <a:t>total possibble combination=8c1*8c1=8*8=64</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total possible combinations that exceeds 36=(5,8),(6,7),(6,8),(7,6),(7,7),(7,8),(8,5),(8,6),(8,7),(8,8)=10</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the probability=10/64=5/32</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Calibri"/>
              <a:buAutoNum type="alphaUcPeriod"/>
            </a:pPr>
            <a:r>
              <a:rPr b="1" i="0" lang="en-GB" sz="1600" u="sng" cap="none" strike="noStrike">
                <a:solidFill>
                  <a:schemeClr val="dk1"/>
                </a:solidFill>
                <a:latin typeface="Roboto"/>
                <a:ea typeface="Roboto"/>
                <a:cs typeface="Roboto"/>
                <a:sym typeface="Roboto"/>
              </a:rPr>
              <a:t>Sol:2</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Calibri"/>
              <a:buAutoNum type="alphaUcPeriod"/>
            </a:pPr>
            <a:r>
              <a:rPr b="0" i="0" lang="en-GB" sz="1600" u="none" cap="none" strike="noStrike">
                <a:solidFill>
                  <a:schemeClr val="dk1"/>
                </a:solidFill>
                <a:latin typeface="Roboto"/>
                <a:ea typeface="Roboto"/>
                <a:cs typeface="Roboto"/>
                <a:sym typeface="Roboto"/>
              </a:rPr>
              <a:t>Only Possible results in the output buffer are:(5,8),(6,7),(6,8)....(8,8).</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therefore total number of desired output=11</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total number of possible results are 8*8=64</a:t>
            </a:r>
            <a:br>
              <a:rPr b="0" i="0" lang="en-GB" sz="1600" u="none" cap="none" strike="noStrike">
                <a:solidFill>
                  <a:schemeClr val="dk1"/>
                </a:solidFill>
                <a:latin typeface="Roboto"/>
                <a:ea typeface="Roboto"/>
                <a:cs typeface="Roboto"/>
                <a:sym typeface="Roboto"/>
              </a:rPr>
            </a:br>
            <a:r>
              <a:rPr b="0" i="0" lang="en-GB" sz="1600" u="none" cap="none" strike="noStrike">
                <a:solidFill>
                  <a:schemeClr val="dk1"/>
                </a:solidFill>
                <a:latin typeface="Roboto"/>
                <a:ea typeface="Roboto"/>
                <a:cs typeface="Roboto"/>
                <a:sym typeface="Roboto"/>
              </a:rPr>
              <a:t>therefore required ans=10/64=5/32</a:t>
            </a:r>
            <a:endParaRPr b="0" i="0" sz="1600" u="none" cap="none" strike="noStrike">
              <a:solidFill>
                <a:schemeClr val="dk1"/>
              </a:solidFill>
              <a:latin typeface="Roboto"/>
              <a:ea typeface="Roboto"/>
              <a:cs typeface="Roboto"/>
              <a:sym typeface="Roboto"/>
            </a:endParaRPr>
          </a:p>
          <a:p>
            <a:pPr indent="-244475" lvl="0" marL="257175" marR="0" rtl="0" algn="l">
              <a:lnSpc>
                <a:spcPct val="150000"/>
              </a:lnSpc>
              <a:spcBef>
                <a:spcPts val="0"/>
              </a:spcBef>
              <a:spcAft>
                <a:spcPts val="0"/>
              </a:spcAft>
              <a:buClr>
                <a:schemeClr val="dk1"/>
              </a:buClr>
              <a:buSzPts val="1600"/>
              <a:buFont typeface="Roboto"/>
              <a:buAutoNum type="alphaUcPeriod"/>
            </a:pPr>
            <a:r>
              <a:t/>
            </a:r>
            <a:endParaRPr b="0" i="0" sz="1600" u="none" cap="none" strike="noStrike">
              <a:solidFill>
                <a:schemeClr val="dk1"/>
              </a:solidFill>
              <a:latin typeface="Roboto"/>
              <a:ea typeface="Roboto"/>
              <a:cs typeface="Roboto"/>
              <a:sym typeface="Roboto"/>
            </a:endParaRPr>
          </a:p>
        </p:txBody>
      </p:sp>
      <p:sp>
        <p:nvSpPr>
          <p:cNvPr id="145" name="Google Shape;145;g2edd9bc016b_1_20"/>
          <p:cNvSpPr/>
          <p:nvPr/>
        </p:nvSpPr>
        <p:spPr>
          <a:xfrm>
            <a:off x="6229350" y="40005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B</a:t>
            </a:r>
            <a:endParaRPr b="0" i="0" sz="1350" u="none" cap="none" strike="noStrike">
              <a:solidFill>
                <a:schemeClr val="dk1"/>
              </a:solidFill>
              <a:latin typeface="Roboto"/>
              <a:ea typeface="Roboto"/>
              <a:cs typeface="Roboto"/>
              <a:sym typeface="Roboto"/>
            </a:endParaRPr>
          </a:p>
        </p:txBody>
      </p:sp>
      <p:sp>
        <p:nvSpPr>
          <p:cNvPr id="146" name="Google Shape;146;g2edd9bc016b_1_20"/>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Effect filter="fade" transition="in">
                                      <p:cBhvr>
                                        <p:cTn dur="2000"/>
                                        <p:tgtEl>
                                          <p:spTgt spid="1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Effect filter="fade" transition="in">
                                      <p:cBhvr>
                                        <p:cTn dur="2000"/>
                                        <p:tgtEl>
                                          <p:spTgt spid="1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Effect filter="fade" transition="in">
                                      <p:cBhvr>
                                        <p:cTn dur="2000"/>
                                        <p:tgtEl>
                                          <p:spTgt spid="1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Effect filter="fade" transition="in">
                                      <p:cBhvr>
                                        <p:cTn dur="2000"/>
                                        <p:tgtEl>
                                          <p:spTgt spid="1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Effect filter="fade" transition="in">
                                      <p:cBhvr>
                                        <p:cTn dur="2000"/>
                                        <p:tgtEl>
                                          <p:spTgt spid="1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2000"/>
                                        <p:tgtEl>
                                          <p:spTgt spid="14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5dab58096a_0_262"/>
          <p:cNvSpPr/>
          <p:nvPr/>
        </p:nvSpPr>
        <p:spPr>
          <a:xfrm>
            <a:off x="638875" y="1440000"/>
            <a:ext cx="8001000" cy="28758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u="none" cap="none" strike="noStrike">
                <a:solidFill>
                  <a:schemeClr val="dk1"/>
                </a:solidFill>
                <a:latin typeface="Roboto"/>
                <a:ea typeface="Roboto"/>
                <a:cs typeface="Roboto"/>
                <a:sym typeface="Roboto"/>
              </a:rPr>
              <a:t>For the FIFA world cup, Paul the octopus has been predicting the winner of each match with amazing success. It is rumored that in a match between 2 teams A and B, Paul picks A with the same probability as A's chances of winning. Let's assume such rumors to be true and that in a match between Ghana and Bolivia, Ghana the stronger team has a probability of 2/3 of winning the game. What is the probability that Paul will correctly pick the winner of the Ghana-Bolivia game?</a:t>
            </a:r>
            <a:endParaRPr b="0"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5/9</a:t>
            </a:r>
            <a:endParaRPr b="0" i="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1/9</a:t>
            </a:r>
            <a:endParaRPr b="0" i="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2/3</a:t>
            </a:r>
            <a:endParaRPr b="0" i="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u="none" cap="none" strike="noStrike">
                <a:solidFill>
                  <a:schemeClr val="dk1"/>
                </a:solidFill>
                <a:latin typeface="Roboto"/>
                <a:ea typeface="Roboto"/>
                <a:cs typeface="Roboto"/>
                <a:sym typeface="Roboto"/>
              </a:rPr>
              <a:t>1/3</a:t>
            </a:r>
            <a:endParaRPr b="0" i="0" u="none" cap="none" strike="noStrike">
              <a:solidFill>
                <a:schemeClr val="dk1"/>
              </a:solidFill>
              <a:latin typeface="Roboto"/>
              <a:ea typeface="Roboto"/>
              <a:cs typeface="Roboto"/>
              <a:sym typeface="Roboto"/>
            </a:endParaRPr>
          </a:p>
        </p:txBody>
      </p:sp>
      <p:sp>
        <p:nvSpPr>
          <p:cNvPr id="152" name="Google Shape;152;g15dab58096a_0_262"/>
          <p:cNvSpPr/>
          <p:nvPr/>
        </p:nvSpPr>
        <p:spPr>
          <a:xfrm>
            <a:off x="6343650" y="4229100"/>
            <a:ext cx="988059"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153" name="Google Shape;153;g15dab58096a_0_262"/>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20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20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20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20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20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20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2000"/>
                                        <p:tgtEl>
                                          <p:spTgt spid="15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 name="Shape 157"/>
        <p:cNvGrpSpPr/>
        <p:nvPr/>
      </p:nvGrpSpPr>
      <p:grpSpPr>
        <a:xfrm>
          <a:off x="0" y="0"/>
          <a:ext cx="0" cy="0"/>
          <a:chOff x="0" y="0"/>
          <a:chExt cx="0" cy="0"/>
        </a:xfrm>
      </p:grpSpPr>
      <p:sp>
        <p:nvSpPr>
          <p:cNvPr id="158" name="Google Shape;158;g2edd9bc016b_1_27"/>
          <p:cNvSpPr/>
          <p:nvPr/>
        </p:nvSpPr>
        <p:spPr>
          <a:xfrm>
            <a:off x="638875" y="1440000"/>
            <a:ext cx="8001000" cy="28758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Here probability of Ghana = 2/3.</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 =&gt;The octopus also should have same probability in selecting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Ghana as winner = 2/3.</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 So total probability of selecting the right team (winning team) by the octopus is (2/3)(2/3)=4/9.</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 If Ghana has 2/3 chances, Bolivia will have 1-2/3=1/3 chances(Assuming that a tie is not possible).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So octopus also has 1/3 chances of selecting Bolivia.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So total probability for Bolivia would be (1/3)(1/3)=1/9.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Any team can win the match.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So total probability is 4/9+1/9=</a:t>
            </a:r>
            <a:r>
              <a:rPr b="1" i="0" lang="en-GB" sz="1400" u="none" cap="none" strike="noStrike">
                <a:solidFill>
                  <a:schemeClr val="dk1"/>
                </a:solidFill>
                <a:latin typeface="Roboto"/>
                <a:ea typeface="Roboto"/>
                <a:cs typeface="Roboto"/>
                <a:sym typeface="Roboto"/>
              </a:rPr>
              <a:t>5/9</a:t>
            </a:r>
            <a:endParaRPr b="1" i="0" sz="1400" u="none" cap="none" strike="noStrike">
              <a:solidFill>
                <a:schemeClr val="dk1"/>
              </a:solidFill>
              <a:latin typeface="Roboto"/>
              <a:ea typeface="Roboto"/>
              <a:cs typeface="Roboto"/>
              <a:sym typeface="Roboto"/>
            </a:endParaRPr>
          </a:p>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59" name="Google Shape;159;g2edd9bc016b_1_27"/>
          <p:cNvSpPr/>
          <p:nvPr/>
        </p:nvSpPr>
        <p:spPr>
          <a:xfrm>
            <a:off x="6343650" y="422910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160" name="Google Shape;160;g2edd9bc016b_1_2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20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20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20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20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2000"/>
                                        <p:tgtEl>
                                          <p:spTgt spid="1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5" st="5"/>
                                            </p:txEl>
                                          </p:spTgt>
                                        </p:tgtEl>
                                        <p:attrNameLst>
                                          <p:attrName>style.visibility</p:attrName>
                                        </p:attrNameLst>
                                      </p:cBhvr>
                                      <p:to>
                                        <p:strVal val="visible"/>
                                      </p:to>
                                    </p:set>
                                    <p:animEffect filter="fade" transition="in">
                                      <p:cBhvr>
                                        <p:cTn dur="2000"/>
                                        <p:tgtEl>
                                          <p:spTgt spid="1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6" st="6"/>
                                            </p:txEl>
                                          </p:spTgt>
                                        </p:tgtEl>
                                        <p:attrNameLst>
                                          <p:attrName>style.visibility</p:attrName>
                                        </p:attrNameLst>
                                      </p:cBhvr>
                                      <p:to>
                                        <p:strVal val="visible"/>
                                      </p:to>
                                    </p:set>
                                    <p:animEffect filter="fade" transition="in">
                                      <p:cBhvr>
                                        <p:cTn dur="2000"/>
                                        <p:tgtEl>
                                          <p:spTgt spid="1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7" st="7"/>
                                            </p:txEl>
                                          </p:spTgt>
                                        </p:tgtEl>
                                        <p:attrNameLst>
                                          <p:attrName>style.visibility</p:attrName>
                                        </p:attrNameLst>
                                      </p:cBhvr>
                                      <p:to>
                                        <p:strVal val="visible"/>
                                      </p:to>
                                    </p:set>
                                    <p:animEffect filter="fade" transition="in">
                                      <p:cBhvr>
                                        <p:cTn dur="2000"/>
                                        <p:tgtEl>
                                          <p:spTgt spid="1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8" st="8"/>
                                            </p:txEl>
                                          </p:spTgt>
                                        </p:tgtEl>
                                        <p:attrNameLst>
                                          <p:attrName>style.visibility</p:attrName>
                                        </p:attrNameLst>
                                      </p:cBhvr>
                                      <p:to>
                                        <p:strVal val="visible"/>
                                      </p:to>
                                    </p:set>
                                    <p:animEffect filter="fade" transition="in">
                                      <p:cBhvr>
                                        <p:cTn dur="2000"/>
                                        <p:tgtEl>
                                          <p:spTgt spid="1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9" st="9"/>
                                            </p:txEl>
                                          </p:spTgt>
                                        </p:tgtEl>
                                        <p:attrNameLst>
                                          <p:attrName>style.visibility</p:attrName>
                                        </p:attrNameLst>
                                      </p:cBhvr>
                                      <p:to>
                                        <p:strVal val="visible"/>
                                      </p:to>
                                    </p:set>
                                    <p:animEffect filter="fade" transition="in">
                                      <p:cBhvr>
                                        <p:cTn dur="2000"/>
                                        <p:tgtEl>
                                          <p:spTgt spid="1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0" st="10"/>
                                            </p:txEl>
                                          </p:spTgt>
                                        </p:tgtEl>
                                        <p:attrNameLst>
                                          <p:attrName>style.visibility</p:attrName>
                                        </p:attrNameLst>
                                      </p:cBhvr>
                                      <p:to>
                                        <p:strVal val="visible"/>
                                      </p:to>
                                    </p:set>
                                    <p:animEffect filter="fade" transition="in">
                                      <p:cBhvr>
                                        <p:cTn dur="2000"/>
                                        <p:tgtEl>
                                          <p:spTgt spid="1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Effect filter="fade" transition="in">
                                      <p:cBhvr>
                                        <p:cTn dur="2000"/>
                                        <p:tgtEl>
                                          <p:spTgt spid="1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15dab58096a_0_340"/>
          <p:cNvSpPr/>
          <p:nvPr/>
        </p:nvSpPr>
        <p:spPr>
          <a:xfrm>
            <a:off x="643800" y="1439999"/>
            <a:ext cx="6995100" cy="24813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There are 6 positive and 8 negative numbers. Four numbers are choosen at random and multiplied.the probability that the product is positive is: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500/1001 </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503/1001 </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303/1001 </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101/1001 </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505/1001</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66" name="Google Shape;166;g15dab58096a_0_340"/>
          <p:cNvSpPr/>
          <p:nvPr/>
        </p:nvSpPr>
        <p:spPr>
          <a:xfrm>
            <a:off x="6515100" y="4171950"/>
            <a:ext cx="984885"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E</a:t>
            </a:r>
            <a:endParaRPr b="0" i="0" sz="1350" u="none" cap="none" strike="noStrike">
              <a:solidFill>
                <a:schemeClr val="dk1"/>
              </a:solidFill>
              <a:latin typeface="Roboto"/>
              <a:ea typeface="Roboto"/>
              <a:cs typeface="Roboto"/>
              <a:sym typeface="Roboto"/>
            </a:endParaRPr>
          </a:p>
        </p:txBody>
      </p:sp>
      <p:sp>
        <p:nvSpPr>
          <p:cNvPr id="167" name="Google Shape;167;g15dab58096a_0_340"/>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2000"/>
                                        <p:tgtEl>
                                          <p:spTgt spid="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2000"/>
                                        <p:tgtEl>
                                          <p:spTgt spid="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Effect filter="fade" transition="in">
                                      <p:cBhvr>
                                        <p:cTn dur="2000"/>
                                        <p:tgtEl>
                                          <p:spTgt spid="1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Effect filter="fade" transition="in">
                                      <p:cBhvr>
                                        <p:cTn dur="2000"/>
                                        <p:tgtEl>
                                          <p:spTgt spid="1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Effect filter="fade" transition="in">
                                      <p:cBhvr>
                                        <p:cTn dur="2000"/>
                                        <p:tgtEl>
                                          <p:spTgt spid="1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animEffect filter="fade" transition="in">
                                      <p:cBhvr>
                                        <p:cTn dur="2000"/>
                                        <p:tgtEl>
                                          <p:spTgt spid="1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animEffect filter="fade" transition="in">
                                      <p:cBhvr>
                                        <p:cTn dur="2000"/>
                                        <p:tgtEl>
                                          <p:spTgt spid="1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7" st="7"/>
                                            </p:txEl>
                                          </p:spTgt>
                                        </p:tgtEl>
                                        <p:attrNameLst>
                                          <p:attrName>style.visibility</p:attrName>
                                        </p:attrNameLst>
                                      </p:cBhvr>
                                      <p:to>
                                        <p:strVal val="visible"/>
                                      </p:to>
                                    </p:set>
                                    <p:animEffect filter="fade" transition="in">
                                      <p:cBhvr>
                                        <p:cTn dur="2000"/>
                                        <p:tgtEl>
                                          <p:spTgt spid="1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animEffect filter="fade" transition="in">
                                      <p:cBhvr>
                                        <p:cTn dur="2000"/>
                                        <p:tgtEl>
                                          <p:spTgt spid="16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g2edd9bc016b_1_33"/>
          <p:cNvSpPr/>
          <p:nvPr/>
        </p:nvSpPr>
        <p:spPr>
          <a:xfrm>
            <a:off x="720000" y="1439999"/>
            <a:ext cx="6995100" cy="24813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for positive number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6c4/14c4 + (6c2*8c2)/14c4 + 8c4/14c4 =505/1001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case1: only 4 positive no.</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case2: 2 positive and 2 negative no.</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case3: 4 negative no.</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Sol2:</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all four positive number = 6c4/14c4</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all four negative number = 8c4/14c4</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two numbers are positive and two are negative hencs probaility = 6c2*8c2/14c4</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hence required probability = 6c4+8c4+(6c2*8c2)/14c4</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15+70+15*28/1001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505/1001</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73" name="Google Shape;173;g2edd9bc016b_1_33"/>
          <p:cNvSpPr/>
          <p:nvPr/>
        </p:nvSpPr>
        <p:spPr>
          <a:xfrm>
            <a:off x="6515100" y="4171950"/>
            <a:ext cx="9849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E</a:t>
            </a:r>
            <a:endParaRPr b="0" i="0" sz="1350" u="none" cap="none" strike="noStrike">
              <a:solidFill>
                <a:schemeClr val="dk1"/>
              </a:solidFill>
              <a:latin typeface="Roboto"/>
              <a:ea typeface="Roboto"/>
              <a:cs typeface="Roboto"/>
              <a:sym typeface="Roboto"/>
            </a:endParaRPr>
          </a:p>
        </p:txBody>
      </p:sp>
      <p:sp>
        <p:nvSpPr>
          <p:cNvPr id="174" name="Google Shape;174;g2edd9bc016b_1_33"/>
          <p:cNvSpPr txBox="1"/>
          <p:nvPr/>
        </p:nvSpPr>
        <p:spPr>
          <a:xfrm>
            <a:off x="8197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20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20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20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20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20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2000"/>
                                        <p:tgtEl>
                                          <p:spTgt spid="1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5dab58096a_0_348"/>
          <p:cNvSpPr/>
          <p:nvPr/>
        </p:nvSpPr>
        <p:spPr>
          <a:xfrm>
            <a:off x="643800" y="1439999"/>
            <a:ext cx="7052400" cy="24240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 question has 7 options. If he chooses correct answer he can get one mark. If he chooses wrong option he looses one mark. If he chooses randomly he gets zero marks. Any way he identifies 2 options and eliminates them. If he chooses randomly how many marks can he gain?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1/6</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1/15</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1/5</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1/20</a:t>
            </a:r>
            <a:endParaRPr b="0" i="0" sz="1400" u="none" cap="none" strike="noStrike">
              <a:solidFill>
                <a:schemeClr val="dk1"/>
              </a:solidFill>
              <a:latin typeface="Roboto"/>
              <a:ea typeface="Roboto"/>
              <a:cs typeface="Roboto"/>
              <a:sym typeface="Roboto"/>
            </a:endParaRPr>
          </a:p>
        </p:txBody>
      </p:sp>
      <p:sp>
        <p:nvSpPr>
          <p:cNvPr id="180" name="Google Shape;180;g15dab58096a_0_348"/>
          <p:cNvSpPr/>
          <p:nvPr/>
        </p:nvSpPr>
        <p:spPr>
          <a:xfrm>
            <a:off x="6286500" y="4171950"/>
            <a:ext cx="988059"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181" name="Google Shape;181;g15dab58096a_0_348"/>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20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2000"/>
                                        <p:tgtEl>
                                          <p:spTgt spid="1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2000"/>
                                        <p:tgtEl>
                                          <p:spTgt spid="1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Effect filter="fade" transition="in">
                                      <p:cBhvr>
                                        <p:cTn dur="2000"/>
                                        <p:tgtEl>
                                          <p:spTgt spid="1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4" st="4"/>
                                            </p:txEl>
                                          </p:spTgt>
                                        </p:tgtEl>
                                        <p:attrNameLst>
                                          <p:attrName>style.visibility</p:attrName>
                                        </p:attrNameLst>
                                      </p:cBhvr>
                                      <p:to>
                                        <p:strVal val="visible"/>
                                      </p:to>
                                    </p:set>
                                    <p:animEffect filter="fade" transition="in">
                                      <p:cBhvr>
                                        <p:cTn dur="2000"/>
                                        <p:tgtEl>
                                          <p:spTgt spid="1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5" st="5"/>
                                            </p:txEl>
                                          </p:spTgt>
                                        </p:tgtEl>
                                        <p:attrNameLst>
                                          <p:attrName>style.visibility</p:attrName>
                                        </p:attrNameLst>
                                      </p:cBhvr>
                                      <p:to>
                                        <p:strVal val="visible"/>
                                      </p:to>
                                    </p:set>
                                    <p:animEffect filter="fade" transition="in">
                                      <p:cBhvr>
                                        <p:cTn dur="2000"/>
                                        <p:tgtEl>
                                          <p:spTgt spid="1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2000"/>
                                        <p:tgtEl>
                                          <p:spTgt spid="18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g2edd9bc016b_1_39"/>
          <p:cNvSpPr/>
          <p:nvPr/>
        </p:nvSpPr>
        <p:spPr>
          <a:xfrm>
            <a:off x="720000" y="1439999"/>
            <a:ext cx="7052400" cy="24240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probability to choose correct option=1/7 and associated marks is 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probability to choose incorrect option=6/7 and associated marks is x(let);</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total marks={(1/7)*1}+{(6/7)*x}=0, i.e. x=-1/6;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now 2 options are eliminated,</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so,now,</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{(1/5)*1}+{(4/5)*(-1/6)}=1/15;</a:t>
            </a:r>
            <a:br>
              <a:rPr b="0"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Ans= 1/15</a:t>
            </a:r>
            <a:r>
              <a:rPr b="0" i="0" lang="en-GB" sz="1400" u="none" cap="none" strike="noStrike">
                <a:solidFill>
                  <a:schemeClr val="dk1"/>
                </a:solidFill>
                <a:latin typeface="Roboto"/>
                <a:ea typeface="Roboto"/>
                <a:cs typeface="Roboto"/>
                <a:sym typeface="Roboto"/>
              </a:rPr>
              <a:t>.</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2:</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00"/>
              <a:buFont typeface="Arial"/>
              <a:buNone/>
            </a:pPr>
            <a:r>
              <a:rPr b="0" i="0" lang="en-GB" sz="1400" u="none" cap="none" strike="noStrike">
                <a:solidFill>
                  <a:schemeClr val="dk1"/>
                </a:solidFill>
                <a:latin typeface="Roboto"/>
                <a:ea typeface="Roboto"/>
                <a:cs typeface="Roboto"/>
                <a:sym typeface="Roboto"/>
              </a:rPr>
              <a:t>probability to choose correct answer is 1/7 and he get 1 marks for right answer</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probability to choose wrong answer is 6/7 and he loose 1 marks for wrong answer.</a:t>
            </a:r>
            <a:br>
              <a:rPr b="0" i="0" lang="en-GB"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p:txBody>
      </p:sp>
      <p:sp>
        <p:nvSpPr>
          <p:cNvPr id="187" name="Google Shape;187;g2edd9bc016b_1_39"/>
          <p:cNvSpPr/>
          <p:nvPr/>
        </p:nvSpPr>
        <p:spPr>
          <a:xfrm>
            <a:off x="6286500" y="417195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188" name="Google Shape;188;g2edd9bc016b_1_39"/>
          <p:cNvSpPr txBox="1"/>
          <p:nvPr/>
        </p:nvSpPr>
        <p:spPr>
          <a:xfrm>
            <a:off x="8358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animEffect filter="fade" transition="in">
                                      <p:cBhvr>
                                        <p:cTn dur="2000"/>
                                        <p:tgtEl>
                                          <p:spTgt spid="1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animEffect filter="fade" transition="in">
                                      <p:cBhvr>
                                        <p:cTn dur="2000"/>
                                        <p:tgtEl>
                                          <p:spTgt spid="1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2" st="2"/>
                                            </p:txEl>
                                          </p:spTgt>
                                        </p:tgtEl>
                                        <p:attrNameLst>
                                          <p:attrName>style.visibility</p:attrName>
                                        </p:attrNameLst>
                                      </p:cBhvr>
                                      <p:to>
                                        <p:strVal val="visible"/>
                                      </p:to>
                                    </p:set>
                                    <p:animEffect filter="fade" transition="in">
                                      <p:cBhvr>
                                        <p:cTn dur="2000"/>
                                        <p:tgtEl>
                                          <p:spTgt spid="1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3" st="3"/>
                                            </p:txEl>
                                          </p:spTgt>
                                        </p:tgtEl>
                                        <p:attrNameLst>
                                          <p:attrName>style.visibility</p:attrName>
                                        </p:attrNameLst>
                                      </p:cBhvr>
                                      <p:to>
                                        <p:strVal val="visible"/>
                                      </p:to>
                                    </p:set>
                                    <p:animEffect filter="fade" transition="in">
                                      <p:cBhvr>
                                        <p:cTn dur="2000"/>
                                        <p:tgtEl>
                                          <p:spTgt spid="1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4" st="4"/>
                                            </p:txEl>
                                          </p:spTgt>
                                        </p:tgtEl>
                                        <p:attrNameLst>
                                          <p:attrName>style.visibility</p:attrName>
                                        </p:attrNameLst>
                                      </p:cBhvr>
                                      <p:to>
                                        <p:strVal val="visible"/>
                                      </p:to>
                                    </p:set>
                                    <p:animEffect filter="fade" transition="in">
                                      <p:cBhvr>
                                        <p:cTn dur="2000"/>
                                        <p:tgtEl>
                                          <p:spTgt spid="1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Effect filter="fade" transition="in">
                                      <p:cBhvr>
                                        <p:cTn dur="2000"/>
                                        <p:tgtEl>
                                          <p:spTgt spid="18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sp>
        <p:nvSpPr>
          <p:cNvPr id="193" name="Google Shape;193;g2edd9bc016b_1_151"/>
          <p:cNvSpPr/>
          <p:nvPr/>
        </p:nvSpPr>
        <p:spPr>
          <a:xfrm>
            <a:off x="720000" y="1440001"/>
            <a:ext cx="7052400" cy="39099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rgbClr val="000000"/>
              </a:buClr>
              <a:buSzPts val="1200"/>
              <a:buFont typeface="Arial"/>
              <a:buNone/>
            </a:pPr>
            <a:r>
              <a:rPr b="0" i="0" lang="en-GB" sz="1400" u="none" cap="none" strike="noStrike">
                <a:solidFill>
                  <a:schemeClr val="dk1"/>
                </a:solidFill>
                <a:latin typeface="Roboto"/>
                <a:ea typeface="Roboto"/>
                <a:cs typeface="Roboto"/>
                <a:sym typeface="Roboto"/>
              </a:rPr>
              <a:t>Then</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(1/7)*1+(6/7)*-1=0 according to question</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which is invalid</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the associated marks for wrong answer is not one it must be some unknown which can be find by the following</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Let the marks for wrong be X</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(1/7)*1+(6/7)*-X=0 according to question</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then x=-1/6</a:t>
            </a: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p:txBody>
      </p:sp>
      <p:sp>
        <p:nvSpPr>
          <p:cNvPr id="194" name="Google Shape;194;g2edd9bc016b_1_151"/>
          <p:cNvSpPr/>
          <p:nvPr/>
        </p:nvSpPr>
        <p:spPr>
          <a:xfrm>
            <a:off x="6286500" y="417195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195" name="Google Shape;195;g2edd9bc016b_1_151"/>
          <p:cNvSpPr txBox="1"/>
          <p:nvPr/>
        </p:nvSpPr>
        <p:spPr>
          <a:xfrm>
            <a:off x="875700" y="6774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animEffect filter="fade" transition="in">
                                      <p:cBhvr>
                                        <p:cTn dur="2000"/>
                                        <p:tgtEl>
                                          <p:spTgt spid="1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animEffect filter="fade" transition="in">
                                      <p:cBhvr>
                                        <p:cTn dur="2000"/>
                                        <p:tgtEl>
                                          <p:spTgt spid="19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9" name="Shape 199"/>
        <p:cNvGrpSpPr/>
        <p:nvPr/>
      </p:nvGrpSpPr>
      <p:grpSpPr>
        <a:xfrm>
          <a:off x="0" y="0"/>
          <a:ext cx="0" cy="0"/>
          <a:chOff x="0" y="0"/>
          <a:chExt cx="0" cy="0"/>
        </a:xfrm>
      </p:grpSpPr>
      <p:sp>
        <p:nvSpPr>
          <p:cNvPr id="200" name="Google Shape;200;g2edd9bc016b_1_118"/>
          <p:cNvSpPr/>
          <p:nvPr/>
        </p:nvSpPr>
        <p:spPr>
          <a:xfrm>
            <a:off x="720000" y="1440000"/>
            <a:ext cx="7650000" cy="24240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200"/>
              <a:buFont typeface="Arial"/>
              <a:buNone/>
            </a:pP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After that he eliminated 2 incorrect options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probability to choose correct answer is 1/5</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and wrong answer is 4/5</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his score={(1/5)*1}+{(4/5)*(-1/6)}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=(1/5)+(-2/15)</a:t>
            </a:r>
            <a:br>
              <a:rPr b="0" i="0" lang="en-GB" sz="1400" u="none" cap="none" strike="noStrike">
                <a:solidFill>
                  <a:schemeClr val="dk1"/>
                </a:solidFill>
                <a:latin typeface="Roboto"/>
                <a:ea typeface="Roboto"/>
                <a:cs typeface="Roboto"/>
                <a:sym typeface="Roboto"/>
              </a:rPr>
            </a:br>
            <a:r>
              <a:rPr b="1" i="0" lang="en-GB" sz="1400" u="none" cap="none" strike="noStrike">
                <a:solidFill>
                  <a:schemeClr val="dk1"/>
                </a:solidFill>
                <a:latin typeface="Roboto"/>
                <a:ea typeface="Roboto"/>
                <a:cs typeface="Roboto"/>
                <a:sym typeface="Roboto"/>
              </a:rPr>
              <a:t>=1/15</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then x=-1/6</a:t>
            </a:r>
            <a:endParaRPr b="1" i="0" sz="1400" u="sng"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1" name="Google Shape;201;g2edd9bc016b_1_118"/>
          <p:cNvSpPr/>
          <p:nvPr/>
        </p:nvSpPr>
        <p:spPr>
          <a:xfrm>
            <a:off x="6286500" y="417195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202" name="Google Shape;202;g2edd9bc016b_1_118"/>
          <p:cNvSpPr txBox="1"/>
          <p:nvPr/>
        </p:nvSpPr>
        <p:spPr>
          <a:xfrm>
            <a:off x="720725" y="9237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2000"/>
                                        <p:tgtEl>
                                          <p:spTgt spid="2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2000"/>
                                        <p:tgtEl>
                                          <p:spTgt spid="2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animEffect filter="fade" transition="in">
                                      <p:cBhvr>
                                        <p:cTn dur="2000"/>
                                        <p:tgtEl>
                                          <p:spTgt spid="20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15dab58096a_0_356"/>
          <p:cNvSpPr/>
          <p:nvPr/>
        </p:nvSpPr>
        <p:spPr>
          <a:xfrm>
            <a:off x="644525" y="1439874"/>
            <a:ext cx="6938100" cy="26787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Among a group of 2,500 people, 35 percent invest in municipal bonds, 18 percent invest in oil stocks, and 7 percent invest in both municipal bonds and oil stocks. If 1 person is to be randomly selected from the 2,500 people, what is the probability that the person selected will be one who invests in municipal bonds but NOT in oil stocks?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4/25</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3/25</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7/25</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9/25</a:t>
            </a:r>
            <a:endParaRPr b="0" i="0" sz="1400" u="none" cap="none" strike="noStrike">
              <a:solidFill>
                <a:srgbClr val="000000"/>
              </a:solidFill>
              <a:latin typeface="Roboto"/>
              <a:ea typeface="Roboto"/>
              <a:cs typeface="Roboto"/>
              <a:sym typeface="Roboto"/>
            </a:endParaRPr>
          </a:p>
        </p:txBody>
      </p:sp>
      <p:sp>
        <p:nvSpPr>
          <p:cNvPr id="208" name="Google Shape;208;g15dab58096a_0_356"/>
          <p:cNvSpPr/>
          <p:nvPr/>
        </p:nvSpPr>
        <p:spPr>
          <a:xfrm>
            <a:off x="6400800" y="411480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09" name="Google Shape;209;g15dab58096a_0_356"/>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2000"/>
                                        <p:tgtEl>
                                          <p:spTgt spid="2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animEffect filter="fade" transition="in">
                                      <p:cBhvr>
                                        <p:cTn dur="2000"/>
                                        <p:tgtEl>
                                          <p:spTgt spid="2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2" st="2"/>
                                            </p:txEl>
                                          </p:spTgt>
                                        </p:tgtEl>
                                        <p:attrNameLst>
                                          <p:attrName>style.visibility</p:attrName>
                                        </p:attrNameLst>
                                      </p:cBhvr>
                                      <p:to>
                                        <p:strVal val="visible"/>
                                      </p:to>
                                    </p:set>
                                    <p:animEffect filter="fade" transition="in">
                                      <p:cBhvr>
                                        <p:cTn dur="2000"/>
                                        <p:tgtEl>
                                          <p:spTgt spid="2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3" st="3"/>
                                            </p:txEl>
                                          </p:spTgt>
                                        </p:tgtEl>
                                        <p:attrNameLst>
                                          <p:attrName>style.visibility</p:attrName>
                                        </p:attrNameLst>
                                      </p:cBhvr>
                                      <p:to>
                                        <p:strVal val="visible"/>
                                      </p:to>
                                    </p:set>
                                    <p:animEffect filter="fade" transition="in">
                                      <p:cBhvr>
                                        <p:cTn dur="2000"/>
                                        <p:tgtEl>
                                          <p:spTgt spid="2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4" st="4"/>
                                            </p:txEl>
                                          </p:spTgt>
                                        </p:tgtEl>
                                        <p:attrNameLst>
                                          <p:attrName>style.visibility</p:attrName>
                                        </p:attrNameLst>
                                      </p:cBhvr>
                                      <p:to>
                                        <p:strVal val="visible"/>
                                      </p:to>
                                    </p:set>
                                    <p:animEffect filter="fade" transition="in">
                                      <p:cBhvr>
                                        <p:cTn dur="2000"/>
                                        <p:tgtEl>
                                          <p:spTgt spid="2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5" st="5"/>
                                            </p:txEl>
                                          </p:spTgt>
                                        </p:tgtEl>
                                        <p:attrNameLst>
                                          <p:attrName>style.visibility</p:attrName>
                                        </p:attrNameLst>
                                      </p:cBhvr>
                                      <p:to>
                                        <p:strVal val="visible"/>
                                      </p:to>
                                    </p:set>
                                    <p:animEffect filter="fade" transition="in">
                                      <p:cBhvr>
                                        <p:cTn dur="2000"/>
                                        <p:tgtEl>
                                          <p:spTgt spid="2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2000"/>
                                        <p:tgtEl>
                                          <p:spTgt spid="20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3" name="Shape 213"/>
        <p:cNvGrpSpPr/>
        <p:nvPr/>
      </p:nvGrpSpPr>
      <p:grpSpPr>
        <a:xfrm>
          <a:off x="0" y="0"/>
          <a:ext cx="0" cy="0"/>
          <a:chOff x="0" y="0"/>
          <a:chExt cx="0" cy="0"/>
        </a:xfrm>
      </p:grpSpPr>
      <p:sp>
        <p:nvSpPr>
          <p:cNvPr id="214" name="Google Shape;214;g2edd9bc016b_1_45"/>
          <p:cNvSpPr/>
          <p:nvPr/>
        </p:nvSpPr>
        <p:spPr>
          <a:xfrm>
            <a:off x="720000" y="1440000"/>
            <a:ext cx="7650000" cy="26787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Since there are 2,500 people,  2,500 (0.35) = 875 people invest in municipal bonds, and 2,500 (0.07) = 175 of those people invest in  both municipal bonds and oil stocks.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Therefore, there are  875 - 175 = 700 people who invest in municipal bonds but not in oil stocks.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Probability of an event  =  number of desired outcomes/Total number of outcomes that can occur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Probability of investing in municipal bonds but not in oil stocks =700/2500=7/25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final answer =</a:t>
            </a:r>
            <a:r>
              <a:rPr b="1" i="0" lang="en-GB" sz="1400" u="none" cap="none" strike="noStrike">
                <a:solidFill>
                  <a:schemeClr val="dk1"/>
                </a:solidFill>
                <a:latin typeface="Roboto"/>
                <a:ea typeface="Roboto"/>
                <a:cs typeface="Roboto"/>
                <a:sym typeface="Roboto"/>
              </a:rPr>
              <a:t>7/25​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1" i="0" lang="en-GB" sz="1400" u="sng" cap="none" strike="noStrike">
                <a:solidFill>
                  <a:schemeClr val="dk1"/>
                </a:solidFill>
                <a:latin typeface="Roboto"/>
                <a:ea typeface="Roboto"/>
                <a:cs typeface="Roboto"/>
                <a:sym typeface="Roboto"/>
              </a:rPr>
              <a:t>SOL 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total no.of people = 2500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municipal bonds = 2500*35/100 = 875</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oil stocks = 2500*18/100 = 450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municipal bonds and oil stocks(both) = 2500*7/100 = 175</a:t>
            </a:r>
            <a:endParaRPr b="0" i="0" sz="1400" u="none" cap="none" strike="noStrike">
              <a:solidFill>
                <a:schemeClr val="dk1"/>
              </a:solidFill>
              <a:latin typeface="Roboto"/>
              <a:ea typeface="Roboto"/>
              <a:cs typeface="Roboto"/>
              <a:sym typeface="Roboto"/>
            </a:endParaRPr>
          </a:p>
        </p:txBody>
      </p:sp>
      <p:sp>
        <p:nvSpPr>
          <p:cNvPr id="215" name="Google Shape;215;g2edd9bc016b_1_45"/>
          <p:cNvSpPr/>
          <p:nvPr/>
        </p:nvSpPr>
        <p:spPr>
          <a:xfrm>
            <a:off x="6400800" y="41148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16" name="Google Shape;216;g2edd9bc016b_1_4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2000"/>
                                        <p:tgtEl>
                                          <p:spTgt spid="2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Effect filter="fade" transition="in">
                                      <p:cBhvr>
                                        <p:cTn dur="2000"/>
                                        <p:tgtEl>
                                          <p:spTgt spid="2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Effect filter="fade" transition="in">
                                      <p:cBhvr>
                                        <p:cTn dur="2000"/>
                                        <p:tgtEl>
                                          <p:spTgt spid="2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animEffect filter="fade" transition="in">
                                      <p:cBhvr>
                                        <p:cTn dur="2000"/>
                                        <p:tgtEl>
                                          <p:spTgt spid="2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animEffect filter="fade" transition="in">
                                      <p:cBhvr>
                                        <p:cTn dur="2000"/>
                                        <p:tgtEl>
                                          <p:spTgt spid="2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animEffect filter="fade" transition="in">
                                      <p:cBhvr>
                                        <p:cTn dur="2000"/>
                                        <p:tgtEl>
                                          <p:spTgt spid="2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animEffect filter="fade" transition="in">
                                      <p:cBhvr>
                                        <p:cTn dur="2000"/>
                                        <p:tgtEl>
                                          <p:spTgt spid="2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7" st="7"/>
                                            </p:txEl>
                                          </p:spTgt>
                                        </p:tgtEl>
                                        <p:attrNameLst>
                                          <p:attrName>style.visibility</p:attrName>
                                        </p:attrNameLst>
                                      </p:cBhvr>
                                      <p:to>
                                        <p:strVal val="visible"/>
                                      </p:to>
                                    </p:set>
                                    <p:animEffect filter="fade" transition="in">
                                      <p:cBhvr>
                                        <p:cTn dur="2000"/>
                                        <p:tgtEl>
                                          <p:spTgt spid="2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animEffect filter="fade" transition="in">
                                      <p:cBhvr>
                                        <p:cTn dur="2000"/>
                                        <p:tgtEl>
                                          <p:spTgt spid="21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g2edd9bc016b_1_163"/>
          <p:cNvSpPr/>
          <p:nvPr/>
        </p:nvSpPr>
        <p:spPr>
          <a:xfrm>
            <a:off x="720000" y="1440000"/>
            <a:ext cx="7650000" cy="26787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We need only person who invests in municipal bonds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i.e., municipal bonds - both(X) = 875-175 = 700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The probability is = X/total = 700/2500 = </a:t>
            </a:r>
            <a:r>
              <a:rPr b="1" i="0" lang="en-GB" sz="1400" u="none" cap="none" strike="noStrike">
                <a:solidFill>
                  <a:schemeClr val="dk1"/>
                </a:solidFill>
                <a:latin typeface="Roboto"/>
                <a:ea typeface="Roboto"/>
                <a:cs typeface="Roboto"/>
                <a:sym typeface="Roboto"/>
              </a:rPr>
              <a:t>7/25</a:t>
            </a:r>
            <a:endParaRPr b="1" i="0" sz="1400" u="sng"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br>
              <a:rPr b="0" i="0" lang="en-GB"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22" name="Google Shape;222;g2edd9bc016b_1_163"/>
          <p:cNvSpPr/>
          <p:nvPr/>
        </p:nvSpPr>
        <p:spPr>
          <a:xfrm>
            <a:off x="6400800" y="41148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23" name="Google Shape;223;g2edd9bc016b_1_163"/>
          <p:cNvSpPr txBox="1"/>
          <p:nvPr/>
        </p:nvSpPr>
        <p:spPr>
          <a:xfrm>
            <a:off x="720000" y="6774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2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2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2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Effect filter="fade" transition="in">
                                      <p:cBhvr>
                                        <p:cTn dur="2000"/>
                                        <p:tgtEl>
                                          <p:spTgt spid="22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15dab58096a_0_364"/>
          <p:cNvSpPr/>
          <p:nvPr/>
        </p:nvSpPr>
        <p:spPr>
          <a:xfrm>
            <a:off x="643800" y="1466849"/>
            <a:ext cx="7109400" cy="18312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3 cars A, B &amp; C are in the race. A is twice as likely to win as B and B is thrice as likely to win as C. what is probability that B will win, if only one can win the race ?</a:t>
            </a:r>
            <a:endParaRPr b="0" i="0" sz="1400" u="none" cap="none" strike="noStrike">
              <a:solidFill>
                <a:srgbClr val="000000"/>
              </a:solidFill>
              <a:latin typeface="Roboto"/>
              <a:ea typeface="Roboto"/>
              <a:cs typeface="Roboto"/>
              <a:sym typeface="Roboto"/>
            </a:endParaRPr>
          </a:p>
          <a:p>
            <a:pPr indent="-257175" lvl="0" marL="257175"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1/2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2/5 </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3/10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1/10</a:t>
            </a:r>
            <a:endParaRPr b="0" i="0" sz="1400" u="none" cap="none" strike="noStrike">
              <a:solidFill>
                <a:srgbClr val="000000"/>
              </a:solidFill>
              <a:latin typeface="Roboto"/>
              <a:ea typeface="Roboto"/>
              <a:cs typeface="Roboto"/>
              <a:sym typeface="Roboto"/>
            </a:endParaRPr>
          </a:p>
        </p:txBody>
      </p:sp>
      <p:sp>
        <p:nvSpPr>
          <p:cNvPr id="229" name="Google Shape;229;g15dab58096a_0_364"/>
          <p:cNvSpPr/>
          <p:nvPr/>
        </p:nvSpPr>
        <p:spPr>
          <a:xfrm>
            <a:off x="6515100" y="400050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30" name="Google Shape;230;g15dab58096a_0_364"/>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0" st="0"/>
                                            </p:txEl>
                                          </p:spTgt>
                                        </p:tgtEl>
                                        <p:attrNameLst>
                                          <p:attrName>style.visibility</p:attrName>
                                        </p:attrNameLst>
                                      </p:cBhvr>
                                      <p:to>
                                        <p:strVal val="visible"/>
                                      </p:to>
                                    </p:set>
                                    <p:animEffect filter="fade" transition="in">
                                      <p:cBhvr>
                                        <p:cTn dur="2000"/>
                                        <p:tgtEl>
                                          <p:spTgt spid="2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 st="1"/>
                                            </p:txEl>
                                          </p:spTgt>
                                        </p:tgtEl>
                                        <p:attrNameLst>
                                          <p:attrName>style.visibility</p:attrName>
                                        </p:attrNameLst>
                                      </p:cBhvr>
                                      <p:to>
                                        <p:strVal val="visible"/>
                                      </p:to>
                                    </p:set>
                                    <p:animEffect filter="fade" transition="in">
                                      <p:cBhvr>
                                        <p:cTn dur="2000"/>
                                        <p:tgtEl>
                                          <p:spTgt spid="2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2" st="2"/>
                                            </p:txEl>
                                          </p:spTgt>
                                        </p:tgtEl>
                                        <p:attrNameLst>
                                          <p:attrName>style.visibility</p:attrName>
                                        </p:attrNameLst>
                                      </p:cBhvr>
                                      <p:to>
                                        <p:strVal val="visible"/>
                                      </p:to>
                                    </p:set>
                                    <p:animEffect filter="fade" transition="in">
                                      <p:cBhvr>
                                        <p:cTn dur="2000"/>
                                        <p:tgtEl>
                                          <p:spTgt spid="2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3" st="3"/>
                                            </p:txEl>
                                          </p:spTgt>
                                        </p:tgtEl>
                                        <p:attrNameLst>
                                          <p:attrName>style.visibility</p:attrName>
                                        </p:attrNameLst>
                                      </p:cBhvr>
                                      <p:to>
                                        <p:strVal val="visible"/>
                                      </p:to>
                                    </p:set>
                                    <p:animEffect filter="fade" transition="in">
                                      <p:cBhvr>
                                        <p:cTn dur="2000"/>
                                        <p:tgtEl>
                                          <p:spTgt spid="2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4" st="4"/>
                                            </p:txEl>
                                          </p:spTgt>
                                        </p:tgtEl>
                                        <p:attrNameLst>
                                          <p:attrName>style.visibility</p:attrName>
                                        </p:attrNameLst>
                                      </p:cBhvr>
                                      <p:to>
                                        <p:strVal val="visible"/>
                                      </p:to>
                                    </p:set>
                                    <p:animEffect filter="fade" transition="in">
                                      <p:cBhvr>
                                        <p:cTn dur="2000"/>
                                        <p:tgtEl>
                                          <p:spTgt spid="2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5" st="5"/>
                                            </p:txEl>
                                          </p:spTgt>
                                        </p:tgtEl>
                                        <p:attrNameLst>
                                          <p:attrName>style.visibility</p:attrName>
                                        </p:attrNameLst>
                                      </p:cBhvr>
                                      <p:to>
                                        <p:strVal val="visible"/>
                                      </p:to>
                                    </p:set>
                                    <p:animEffect filter="fade" transition="in">
                                      <p:cBhvr>
                                        <p:cTn dur="2000"/>
                                        <p:tgtEl>
                                          <p:spTgt spid="2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animEffect filter="fade" transition="in">
                                      <p:cBhvr>
                                        <p:cTn dur="2000"/>
                                        <p:tgtEl>
                                          <p:spTgt spid="22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4" name="Shape 234"/>
        <p:cNvGrpSpPr/>
        <p:nvPr/>
      </p:nvGrpSpPr>
      <p:grpSpPr>
        <a:xfrm>
          <a:off x="0" y="0"/>
          <a:ext cx="0" cy="0"/>
          <a:chOff x="0" y="0"/>
          <a:chExt cx="0" cy="0"/>
        </a:xfrm>
      </p:grpSpPr>
      <p:sp>
        <p:nvSpPr>
          <p:cNvPr id="235" name="Google Shape;235;g2edd9bc016b_1_51"/>
          <p:cNvSpPr/>
          <p:nvPr/>
        </p:nvSpPr>
        <p:spPr>
          <a:xfrm>
            <a:off x="912875" y="1515074"/>
            <a:ext cx="7109400" cy="18312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3 cars A, B &amp; C are in the race. A is twice as likely to win as B and B is thrice as likely to win as C. what is probability that B will win, if only one can</a:t>
            </a:r>
            <a:r>
              <a:rPr b="1" i="0" lang="en-GB" sz="1400" u="sng" cap="none" strike="noStrike">
                <a:solidFill>
                  <a:schemeClr val="dk1"/>
                </a:solidFill>
                <a:latin typeface="Roboto"/>
                <a:ea typeface="Roboto"/>
                <a:cs typeface="Roboto"/>
                <a:sym typeface="Roboto"/>
              </a:rPr>
              <a:t>SOL1: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let B's ability is x</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 is twice as likely to win as B,so A's ability is 2x</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C's ability is x/3</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 :B: C --&gt; A :B :C</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2x:x :x/3 --&gt; 4x:3x :x</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probability that B will win is 3x/(4x+3x+x)=3x/10x=</a:t>
            </a:r>
            <a:r>
              <a:rPr b="1" i="0" lang="en-GB" sz="1400" u="none" cap="none" strike="noStrike">
                <a:solidFill>
                  <a:schemeClr val="dk1"/>
                </a:solidFill>
                <a:latin typeface="Roboto"/>
                <a:ea typeface="Roboto"/>
                <a:cs typeface="Roboto"/>
                <a:sym typeface="Roboto"/>
              </a:rPr>
              <a:t>3/10</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t/>
            </a:r>
            <a:endParaRPr b="1"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t/>
            </a:r>
            <a:endParaRPr b="1"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36" name="Google Shape;236;g2edd9bc016b_1_51"/>
          <p:cNvSpPr/>
          <p:nvPr/>
        </p:nvSpPr>
        <p:spPr>
          <a:xfrm>
            <a:off x="6515100" y="40005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37" name="Google Shape;237;g2edd9bc016b_1_51"/>
          <p:cNvSpPr txBox="1"/>
          <p:nvPr/>
        </p:nvSpPr>
        <p:spPr>
          <a:xfrm>
            <a:off x="8358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animEffect filter="fade" transition="in">
                                      <p:cBhvr>
                                        <p:cTn dur="2000"/>
                                        <p:tgtEl>
                                          <p:spTgt spid="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animEffect filter="fade" transition="in">
                                      <p:cBhvr>
                                        <p:cTn dur="2000"/>
                                        <p:tgtEl>
                                          <p:spTgt spid="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animEffect filter="fade" transition="in">
                                      <p:cBhvr>
                                        <p:cTn dur="2000"/>
                                        <p:tgtEl>
                                          <p:spTgt spid="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animEffect filter="fade" transition="in">
                                      <p:cBhvr>
                                        <p:cTn dur="2000"/>
                                        <p:tgtEl>
                                          <p:spTgt spid="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animEffect filter="fade" transition="in">
                                      <p:cBhvr>
                                        <p:cTn dur="2000"/>
                                        <p:tgtEl>
                                          <p:spTgt spid="2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Effect filter="fade" transition="in">
                                      <p:cBhvr>
                                        <p:cTn dur="2000"/>
                                        <p:tgtEl>
                                          <p:spTgt spid="23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15dab58096a_0_372"/>
          <p:cNvSpPr/>
          <p:nvPr/>
        </p:nvSpPr>
        <p:spPr>
          <a:xfrm>
            <a:off x="643800" y="1439998"/>
            <a:ext cx="6652200" cy="20367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Eric throws 2 dice,and his score is the sum of the values shown.Sandra throws one dice and her score is the square of the value shown. what is the probability that Sandras score will be strictly higher than Erics score??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137/216</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211/216</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189/216</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172/216</a:t>
            </a:r>
            <a:endParaRPr b="0" i="0" sz="1400" u="none" cap="none" strike="noStrike">
              <a:solidFill>
                <a:schemeClr val="dk1"/>
              </a:solidFill>
              <a:latin typeface="Roboto"/>
              <a:ea typeface="Roboto"/>
              <a:cs typeface="Roboto"/>
              <a:sym typeface="Roboto"/>
            </a:endParaRPr>
          </a:p>
        </p:txBody>
      </p:sp>
      <p:sp>
        <p:nvSpPr>
          <p:cNvPr id="243" name="Google Shape;243;g15dab58096a_0_372"/>
          <p:cNvSpPr/>
          <p:nvPr/>
        </p:nvSpPr>
        <p:spPr>
          <a:xfrm>
            <a:off x="6572250" y="3886200"/>
            <a:ext cx="988059"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244" name="Google Shape;244;g15dab58096a_0_372"/>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animEffect filter="fade" transition="in">
                                      <p:cBhvr>
                                        <p:cTn dur="2000"/>
                                        <p:tgtEl>
                                          <p:spTgt spid="2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1" st="1"/>
                                            </p:txEl>
                                          </p:spTgt>
                                        </p:tgtEl>
                                        <p:attrNameLst>
                                          <p:attrName>style.visibility</p:attrName>
                                        </p:attrNameLst>
                                      </p:cBhvr>
                                      <p:to>
                                        <p:strVal val="visible"/>
                                      </p:to>
                                    </p:set>
                                    <p:animEffect filter="fade" transition="in">
                                      <p:cBhvr>
                                        <p:cTn dur="2000"/>
                                        <p:tgtEl>
                                          <p:spTgt spid="2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2" st="2"/>
                                            </p:txEl>
                                          </p:spTgt>
                                        </p:tgtEl>
                                        <p:attrNameLst>
                                          <p:attrName>style.visibility</p:attrName>
                                        </p:attrNameLst>
                                      </p:cBhvr>
                                      <p:to>
                                        <p:strVal val="visible"/>
                                      </p:to>
                                    </p:set>
                                    <p:animEffect filter="fade" transition="in">
                                      <p:cBhvr>
                                        <p:cTn dur="2000"/>
                                        <p:tgtEl>
                                          <p:spTgt spid="2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3" st="3"/>
                                            </p:txEl>
                                          </p:spTgt>
                                        </p:tgtEl>
                                        <p:attrNameLst>
                                          <p:attrName>style.visibility</p:attrName>
                                        </p:attrNameLst>
                                      </p:cBhvr>
                                      <p:to>
                                        <p:strVal val="visible"/>
                                      </p:to>
                                    </p:set>
                                    <p:animEffect filter="fade" transition="in">
                                      <p:cBhvr>
                                        <p:cTn dur="2000"/>
                                        <p:tgtEl>
                                          <p:spTgt spid="2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4" st="4"/>
                                            </p:txEl>
                                          </p:spTgt>
                                        </p:tgtEl>
                                        <p:attrNameLst>
                                          <p:attrName>style.visibility</p:attrName>
                                        </p:attrNameLst>
                                      </p:cBhvr>
                                      <p:to>
                                        <p:strVal val="visible"/>
                                      </p:to>
                                    </p:set>
                                    <p:animEffect filter="fade" transition="in">
                                      <p:cBhvr>
                                        <p:cTn dur="2000"/>
                                        <p:tgtEl>
                                          <p:spTgt spid="2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5" st="5"/>
                                            </p:txEl>
                                          </p:spTgt>
                                        </p:tgtEl>
                                        <p:attrNameLst>
                                          <p:attrName>style.visibility</p:attrName>
                                        </p:attrNameLst>
                                      </p:cBhvr>
                                      <p:to>
                                        <p:strVal val="visible"/>
                                      </p:to>
                                    </p:set>
                                    <p:animEffect filter="fade" transition="in">
                                      <p:cBhvr>
                                        <p:cTn dur="2000"/>
                                        <p:tgtEl>
                                          <p:spTgt spid="2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2000"/>
                                        <p:tgtEl>
                                          <p:spTgt spid="2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g2edd9bc016b_1_57"/>
          <p:cNvSpPr/>
          <p:nvPr/>
        </p:nvSpPr>
        <p:spPr>
          <a:xfrm>
            <a:off x="720000" y="1440002"/>
            <a:ext cx="6652200" cy="37998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rgbClr val="000000"/>
              </a:buClr>
              <a:buSzPts val="1200"/>
              <a:buFont typeface="Arial"/>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00"/>
              <a:buFont typeface="Arial"/>
              <a:buNone/>
            </a:pPr>
            <a:r>
              <a:rPr b="0" i="0" lang="en-GB" sz="1400" u="none" cap="none" strike="noStrike">
                <a:solidFill>
                  <a:schemeClr val="dk1"/>
                </a:solidFill>
                <a:latin typeface="Roboto"/>
                <a:ea typeface="Roboto"/>
                <a:cs typeface="Roboto"/>
                <a:sym typeface="Roboto"/>
              </a:rPr>
              <a:t>sandra score can be like 1,4,9,16,25,36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eric score less then 1--&gt;0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eric score less then 4=(1,1),(1,2)(2,1)--&gt;3</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eric score less then 9 are (1,1)(1,2)(1,3)(1,4)(1,5)(1,6)(2,1)(2,2)(2,3)(2,4)(2,5)(2,6)(3,1)(3,2)(3,3)(3,4)(3,5)(4,1)(4,2)(4,3)(4,4)(5,1)(5,2)(5,3)(6,1)(6,2)--&gt;26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eric score will always be less then 16---&gt;36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eric score will always be less then 25---&gt;36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eric score will always be less then 36---&gt;36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total favorable outcomes=3+26+36+36+36=137</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total possible outcomes=216(36*6)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probability=</a:t>
            </a:r>
            <a:r>
              <a:rPr b="1" i="0" lang="en-GB" sz="1400" u="none" cap="none" strike="noStrike">
                <a:solidFill>
                  <a:schemeClr val="dk1"/>
                </a:solidFill>
                <a:latin typeface="Roboto"/>
                <a:ea typeface="Roboto"/>
                <a:cs typeface="Roboto"/>
                <a:sym typeface="Roboto"/>
              </a:rPr>
              <a:t>137/216</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0" name="Google Shape;250;g2edd9bc016b_1_57"/>
          <p:cNvSpPr/>
          <p:nvPr/>
        </p:nvSpPr>
        <p:spPr>
          <a:xfrm>
            <a:off x="6572250" y="388620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251" name="Google Shape;251;g2edd9bc016b_1_57"/>
          <p:cNvSpPr txBox="1"/>
          <p:nvPr/>
        </p:nvSpPr>
        <p:spPr>
          <a:xfrm>
            <a:off x="88405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Effect filter="fade" transition="in">
                                      <p:cBhvr>
                                        <p:cTn dur="2000"/>
                                        <p:tgtEl>
                                          <p:spTgt spid="2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Effect filter="fade" transition="in">
                                      <p:cBhvr>
                                        <p:cTn dur="2000"/>
                                        <p:tgtEl>
                                          <p:spTgt spid="2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animEffect filter="fade" transition="in">
                                      <p:cBhvr>
                                        <p:cTn dur="2000"/>
                                        <p:tgtEl>
                                          <p:spTgt spid="2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2000"/>
                                        <p:tgtEl>
                                          <p:spTgt spid="25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g2edd9bc016b_1_169"/>
          <p:cNvSpPr/>
          <p:nvPr/>
        </p:nvSpPr>
        <p:spPr>
          <a:xfrm>
            <a:off x="720000" y="1440002"/>
            <a:ext cx="6652200" cy="3615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00"/>
              <a:buFont typeface="Arial"/>
              <a:buNone/>
            </a:pPr>
            <a:r>
              <a:rPr b="1" i="0" lang="en-GB" sz="1400" u="sng" cap="none" strike="noStrike">
                <a:solidFill>
                  <a:schemeClr val="dk1"/>
                </a:solidFill>
                <a:latin typeface="Roboto"/>
                <a:ea typeface="Roboto"/>
                <a:cs typeface="Roboto"/>
                <a:sym typeface="Roboto"/>
              </a:rPr>
              <a:t>SOL 2:</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rgbClr val="000000"/>
              </a:buClr>
              <a:buSzPts val="1200"/>
              <a:buFont typeface="Arial"/>
              <a:buNone/>
            </a:pPr>
            <a:r>
              <a:rPr b="0" i="0" lang="en-GB" sz="1400" u="none" cap="none" strike="noStrike">
                <a:solidFill>
                  <a:schemeClr val="dk1"/>
                </a:solidFill>
                <a:latin typeface="Roboto"/>
                <a:ea typeface="Roboto"/>
                <a:cs typeface="Roboto"/>
                <a:sym typeface="Roboto"/>
              </a:rPr>
              <a:t>Required probability= favourable outcomes/total outcomes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 (3+26+36+36+36)/(216)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 137/216</a:t>
            </a:r>
            <a:endParaRPr b="1" i="0" sz="1400" u="sng"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7" name="Google Shape;257;g2edd9bc016b_1_169"/>
          <p:cNvSpPr/>
          <p:nvPr/>
        </p:nvSpPr>
        <p:spPr>
          <a:xfrm>
            <a:off x="6572250" y="388620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258" name="Google Shape;258;g2edd9bc016b_1_169"/>
          <p:cNvSpPr txBox="1"/>
          <p:nvPr/>
        </p:nvSpPr>
        <p:spPr>
          <a:xfrm>
            <a:off x="867975" y="8519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2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2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2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2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animEffect filter="fade" transition="in">
                                      <p:cBhvr>
                                        <p:cTn dur="2000"/>
                                        <p:tgtEl>
                                          <p:spTgt spid="25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15dab58096a_0_380"/>
          <p:cNvSpPr/>
          <p:nvPr/>
        </p:nvSpPr>
        <p:spPr>
          <a:xfrm>
            <a:off x="6686550" y="422910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64" name="Google Shape;264;g15dab58096a_0_380"/>
          <p:cNvSpPr/>
          <p:nvPr/>
        </p:nvSpPr>
        <p:spPr>
          <a:xfrm>
            <a:off x="624275" y="1447938"/>
            <a:ext cx="7650000" cy="5928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 bag contains 1100 tickets numbered 1, 2, 3, ... 1100. If a ticket is drawn out of it at random, what is the probability that the ticket drawn has the digit 2 appearing on it?</a:t>
            </a:r>
            <a:endParaRPr b="0" i="0" sz="1400" u="none" cap="none" strike="noStrike">
              <a:solidFill>
                <a:schemeClr val="dk1"/>
              </a:solidFill>
              <a:latin typeface="Roboto"/>
              <a:ea typeface="Roboto"/>
              <a:cs typeface="Roboto"/>
              <a:sym typeface="Roboto"/>
            </a:endParaRPr>
          </a:p>
        </p:txBody>
      </p:sp>
      <p:sp>
        <p:nvSpPr>
          <p:cNvPr id="265" name="Google Shape;265;g15dab58096a_0_380"/>
          <p:cNvSpPr/>
          <p:nvPr/>
        </p:nvSpPr>
        <p:spPr>
          <a:xfrm>
            <a:off x="720725" y="2224601"/>
            <a:ext cx="3026700" cy="12630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 291/1100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 292/1100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 290/1100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D. 301/1100</a:t>
            </a:r>
            <a:endParaRPr b="0" i="0" sz="1400" u="none" cap="none" strike="noStrike">
              <a:solidFill>
                <a:schemeClr val="dk1"/>
              </a:solidFill>
              <a:latin typeface="Roboto"/>
              <a:ea typeface="Roboto"/>
              <a:cs typeface="Roboto"/>
              <a:sym typeface="Roboto"/>
            </a:endParaRPr>
          </a:p>
        </p:txBody>
      </p:sp>
      <p:sp>
        <p:nvSpPr>
          <p:cNvPr id="266" name="Google Shape;266;g15dab58096a_0_380"/>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20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20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2000"/>
                                        <p:tgtEl>
                                          <p:spTgt spid="26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sp>
        <p:nvSpPr>
          <p:cNvPr id="271" name="Google Shape;271;g2edd9bc016b_1_63"/>
          <p:cNvSpPr/>
          <p:nvPr/>
        </p:nvSpPr>
        <p:spPr>
          <a:xfrm>
            <a:off x="6686550" y="42291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72" name="Google Shape;272;g2edd9bc016b_1_63"/>
          <p:cNvSpPr/>
          <p:nvPr/>
        </p:nvSpPr>
        <p:spPr>
          <a:xfrm>
            <a:off x="720000" y="1440000"/>
            <a:ext cx="7650000" cy="30660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There are 19 times 2's appearing in (1 to 100, 301 to 400, 401 to 500, 501 to 600, 601 to 700, 701 to 800, 801 to 900, 901 to 1000 and 1001 to 1100 )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there are 9*19= 171 times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there are 20 times 2's appearing from 101 to 200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and 99 times 2's appearing from 201 to 300</a:t>
            </a: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therefore there are 171+20+99 = 290</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SOL:2::</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Numbers which dont have 2 from 1 to 9 = 8</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Numbers which dont have 2 from 10 to 99:</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Let us take two places _ _. Now left most place is fixed in 8 ways. Units place is filled with 9 ways. Total 72 numbers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73" name="Google Shape;273;g2edd9bc016b_1_63"/>
          <p:cNvSpPr txBox="1"/>
          <p:nvPr/>
        </p:nvSpPr>
        <p:spPr>
          <a:xfrm>
            <a:off x="8519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2000"/>
                                        <p:tgtEl>
                                          <p:spTgt spid="2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animEffect filter="fade" transition="in">
                                      <p:cBhvr>
                                        <p:cTn dur="2000"/>
                                        <p:tgtEl>
                                          <p:spTgt spid="2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animEffect filter="fade" transition="in">
                                      <p:cBhvr>
                                        <p:cTn dur="2000"/>
                                        <p:tgtEl>
                                          <p:spTgt spid="2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animEffect filter="fade" transition="in">
                                      <p:cBhvr>
                                        <p:cTn dur="2000"/>
                                        <p:tgtEl>
                                          <p:spTgt spid="2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animEffect filter="fade" transition="in">
                                      <p:cBhvr>
                                        <p:cTn dur="2000"/>
                                        <p:tgtEl>
                                          <p:spTgt spid="2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2000"/>
                                        <p:tgtEl>
                                          <p:spTgt spid="27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g2edd9bc016b_1_124"/>
          <p:cNvSpPr/>
          <p:nvPr/>
        </p:nvSpPr>
        <p:spPr>
          <a:xfrm>
            <a:off x="6686550" y="42291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79" name="Google Shape;279;g2edd9bc016b_1_124"/>
          <p:cNvSpPr/>
          <p:nvPr/>
        </p:nvSpPr>
        <p:spPr>
          <a:xfrm>
            <a:off x="720000" y="1440000"/>
            <a:ext cx="7650000" cy="29337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en-GB" sz="1400" u="none" cap="none" strike="noStrike">
                <a:solidFill>
                  <a:schemeClr val="dk1"/>
                </a:solidFill>
                <a:latin typeface="Roboto"/>
                <a:ea typeface="Roboto"/>
                <a:cs typeface="Roboto"/>
                <a:sym typeface="Roboto"/>
              </a:rPr>
              <a:t>Numbers which dont have 2 from 100 to 999 =_ _ _ = 8 × 9 × 9 = 648</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Numbers which dont have 2 from 1000 to 1099 =10_ _ = 9 × 9 = 81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Finally 1100 does not have 2. So 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Total number with no 2 in them = 8 + 72 + 648 + 81 + 1= 810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Tickets with 2 in them = 1100 - 810 = 290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Required probability = 290 / 1100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====290/1100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80" name="Google Shape;280;g2edd9bc016b_1_124"/>
          <p:cNvSpPr txBox="1"/>
          <p:nvPr/>
        </p:nvSpPr>
        <p:spPr>
          <a:xfrm>
            <a:off x="720725" y="8036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Effect filter="fade" transition="in">
                                      <p:cBhvr>
                                        <p:cTn dur="2000"/>
                                        <p:tgtEl>
                                          <p:spTgt spid="2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animEffect filter="fade" transition="in">
                                      <p:cBhvr>
                                        <p:cTn dur="2000"/>
                                        <p:tgtEl>
                                          <p:spTgt spid="2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2000"/>
                                        <p:tgtEl>
                                          <p:spTgt spid="2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23109bf44fd_0_14"/>
          <p:cNvSpPr/>
          <p:nvPr/>
        </p:nvSpPr>
        <p:spPr>
          <a:xfrm>
            <a:off x="623550" y="1439874"/>
            <a:ext cx="6995100" cy="20553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Thirty days are in September, April, June and November. Some months are of thirty one days. A month is chosen at random. Then its probability of having exactly three days less than maximum of 31 is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 15/16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B.1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C.3/48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D.None of these</a:t>
            </a:r>
            <a:endParaRPr b="0" i="0" sz="1400" u="none" cap="none" strike="noStrike">
              <a:solidFill>
                <a:srgbClr val="000000"/>
              </a:solidFill>
              <a:latin typeface="Roboto"/>
              <a:ea typeface="Roboto"/>
              <a:cs typeface="Roboto"/>
              <a:sym typeface="Roboto"/>
            </a:endParaRPr>
          </a:p>
        </p:txBody>
      </p:sp>
      <p:sp>
        <p:nvSpPr>
          <p:cNvPr id="286" name="Google Shape;286;g23109bf44fd_0_14"/>
          <p:cNvSpPr/>
          <p:nvPr/>
        </p:nvSpPr>
        <p:spPr>
          <a:xfrm>
            <a:off x="6457950" y="411480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87" name="Google Shape;287;g23109bf44fd_0_14"/>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animEffect filter="fade" transition="in">
                                      <p:cBhvr>
                                        <p:cTn dur="2000"/>
                                        <p:tgtEl>
                                          <p:spTgt spid="2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animEffect filter="fade" transition="in">
                                      <p:cBhvr>
                                        <p:cTn dur="2000"/>
                                        <p:tgtEl>
                                          <p:spTgt spid="2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2" st="2"/>
                                            </p:txEl>
                                          </p:spTgt>
                                        </p:tgtEl>
                                        <p:attrNameLst>
                                          <p:attrName>style.visibility</p:attrName>
                                        </p:attrNameLst>
                                      </p:cBhvr>
                                      <p:to>
                                        <p:strVal val="visible"/>
                                      </p:to>
                                    </p:set>
                                    <p:animEffect filter="fade" transition="in">
                                      <p:cBhvr>
                                        <p:cTn dur="2000"/>
                                        <p:tgtEl>
                                          <p:spTgt spid="2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3" st="3"/>
                                            </p:txEl>
                                          </p:spTgt>
                                        </p:tgtEl>
                                        <p:attrNameLst>
                                          <p:attrName>style.visibility</p:attrName>
                                        </p:attrNameLst>
                                      </p:cBhvr>
                                      <p:to>
                                        <p:strVal val="visible"/>
                                      </p:to>
                                    </p:set>
                                    <p:animEffect filter="fade" transition="in">
                                      <p:cBhvr>
                                        <p:cTn dur="2000"/>
                                        <p:tgtEl>
                                          <p:spTgt spid="2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4" st="4"/>
                                            </p:txEl>
                                          </p:spTgt>
                                        </p:tgtEl>
                                        <p:attrNameLst>
                                          <p:attrName>style.visibility</p:attrName>
                                        </p:attrNameLst>
                                      </p:cBhvr>
                                      <p:to>
                                        <p:strVal val="visible"/>
                                      </p:to>
                                    </p:set>
                                    <p:animEffect filter="fade" transition="in">
                                      <p:cBhvr>
                                        <p:cTn dur="2000"/>
                                        <p:tgtEl>
                                          <p:spTgt spid="28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xEl>
                                              <p:pRg end="0" st="0"/>
                                            </p:txEl>
                                          </p:spTgt>
                                        </p:tgtEl>
                                        <p:attrNameLst>
                                          <p:attrName>style.visibility</p:attrName>
                                        </p:attrNameLst>
                                      </p:cBhvr>
                                      <p:to>
                                        <p:strVal val="visible"/>
                                      </p:to>
                                    </p:set>
                                    <p:animEffect filter="fade" transition="in">
                                      <p:cBhvr>
                                        <p:cTn dur="2000"/>
                                        <p:tgtEl>
                                          <p:spTgt spid="28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1" name="Shape 291"/>
        <p:cNvGrpSpPr/>
        <p:nvPr/>
      </p:nvGrpSpPr>
      <p:grpSpPr>
        <a:xfrm>
          <a:off x="0" y="0"/>
          <a:ext cx="0" cy="0"/>
          <a:chOff x="0" y="0"/>
          <a:chExt cx="0" cy="0"/>
        </a:xfrm>
      </p:grpSpPr>
      <p:sp>
        <p:nvSpPr>
          <p:cNvPr id="292" name="Google Shape;292;g2edd9bc016b_1_70"/>
          <p:cNvSpPr/>
          <p:nvPr/>
        </p:nvSpPr>
        <p:spPr>
          <a:xfrm>
            <a:off x="720000" y="1439999"/>
            <a:ext cx="6995100" cy="20553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Prob(Getting Feb month of 28 days) = Prob(selecting non leap year) X Prob(Selecting feb month after non leap year has chosen)</a:t>
            </a: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Prob(Getting Feb month of 28 days) = (3/4) x (1/12)</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 3/48</a:t>
            </a:r>
            <a:br>
              <a:rPr b="0" i="0" lang="en-GB" sz="1400" u="none" cap="none" strike="noStrike">
                <a:solidFill>
                  <a:schemeClr val="dk1"/>
                </a:solidFill>
                <a:latin typeface="Roboto"/>
                <a:ea typeface="Roboto"/>
                <a:cs typeface="Roboto"/>
                <a:sym typeface="Roboto"/>
              </a:rPr>
            </a:br>
            <a:endParaRPr b="1" i="0" sz="1400" u="sng"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93" name="Google Shape;293;g2edd9bc016b_1_70"/>
          <p:cNvSpPr/>
          <p:nvPr/>
        </p:nvSpPr>
        <p:spPr>
          <a:xfrm>
            <a:off x="6457950" y="41148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C</a:t>
            </a:r>
            <a:endParaRPr b="0" i="0" sz="1350" u="none" cap="none" strike="noStrike">
              <a:solidFill>
                <a:schemeClr val="dk1"/>
              </a:solidFill>
              <a:latin typeface="Roboto"/>
              <a:ea typeface="Roboto"/>
              <a:cs typeface="Roboto"/>
              <a:sym typeface="Roboto"/>
            </a:endParaRPr>
          </a:p>
        </p:txBody>
      </p:sp>
      <p:sp>
        <p:nvSpPr>
          <p:cNvPr id="294" name="Google Shape;294;g2edd9bc016b_1_70"/>
          <p:cNvSpPr txBox="1"/>
          <p:nvPr/>
        </p:nvSpPr>
        <p:spPr>
          <a:xfrm>
            <a:off x="851875" y="81972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animEffect filter="fade" transition="in">
                                      <p:cBhvr>
                                        <p:cTn dur="2000"/>
                                        <p:tgtEl>
                                          <p:spTgt spid="2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animEffect filter="fade" transition="in">
                                      <p:cBhvr>
                                        <p:cTn dur="2000"/>
                                        <p:tgtEl>
                                          <p:spTgt spid="2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animEffect filter="fade" transition="in">
                                      <p:cBhvr>
                                        <p:cTn dur="2000"/>
                                        <p:tgtEl>
                                          <p:spTgt spid="2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Effect filter="fade" transition="in">
                                      <p:cBhvr>
                                        <p:cTn dur="2000"/>
                                        <p:tgtEl>
                                          <p:spTgt spid="29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15dab58096a_0_388"/>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00" name="Google Shape;300;g15dab58096a_0_388"/>
          <p:cNvSpPr/>
          <p:nvPr/>
        </p:nvSpPr>
        <p:spPr>
          <a:xfrm>
            <a:off x="643800" y="1439998"/>
            <a:ext cx="6938100" cy="26214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Two friends decided to meet at some time 3 p.m. 4 p.m. on a certain day at a gym. They didn't fix the exact time but they agreed that the one who arrived first at the gym that would wait up to 20 minutes (but no more)for the other person. Assuming that each of them went to the gym at some time between 3 p.m. and 4 p.m, find the probability that they-did not meet that day.</a:t>
            </a:r>
            <a:endParaRPr b="0" i="0" sz="1400" u="none" cap="none" strike="noStrike">
              <a:solidFill>
                <a:srgbClr val="000000"/>
              </a:solidFill>
              <a:latin typeface="Roboto"/>
              <a:ea typeface="Roboto"/>
              <a:cs typeface="Roboto"/>
              <a:sym typeface="Roboto"/>
            </a:endParaRPr>
          </a:p>
          <a:p>
            <a:pPr indent="-257175" lvl="0" marL="257175"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1/3</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2/3</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5/9</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4/9</a:t>
            </a:r>
            <a:endParaRPr b="0" i="0" sz="1400" u="none" cap="none" strike="noStrike">
              <a:solidFill>
                <a:schemeClr val="dk1"/>
              </a:solidFill>
              <a:latin typeface="Roboto"/>
              <a:ea typeface="Roboto"/>
              <a:cs typeface="Roboto"/>
              <a:sym typeface="Roboto"/>
            </a:endParaRPr>
          </a:p>
        </p:txBody>
      </p:sp>
      <p:sp>
        <p:nvSpPr>
          <p:cNvPr id="301" name="Google Shape;301;g15dab58096a_0_388"/>
          <p:cNvSpPr/>
          <p:nvPr/>
        </p:nvSpPr>
        <p:spPr>
          <a:xfrm>
            <a:off x="6343650" y="417195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D</a:t>
            </a:r>
            <a:endParaRPr b="0" i="0" sz="1350" u="none" cap="none" strike="noStrike">
              <a:solidFill>
                <a:schemeClr val="dk1"/>
              </a:solidFill>
              <a:latin typeface="Roboto"/>
              <a:ea typeface="Roboto"/>
              <a:cs typeface="Roboto"/>
              <a:sym typeface="Roboto"/>
            </a:endParaRPr>
          </a:p>
        </p:txBody>
      </p:sp>
      <p:sp>
        <p:nvSpPr>
          <p:cNvPr id="302" name="Google Shape;302;g15dab58096a_0_388"/>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animEffect filter="fade" transition="in">
                                      <p:cBhvr>
                                        <p:cTn dur="2000"/>
                                        <p:tgtEl>
                                          <p:spTgt spid="3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animEffect filter="fade" transition="in">
                                      <p:cBhvr>
                                        <p:cTn dur="2000"/>
                                        <p:tgtEl>
                                          <p:spTgt spid="3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animEffect filter="fade" transition="in">
                                      <p:cBhvr>
                                        <p:cTn dur="2000"/>
                                        <p:tgtEl>
                                          <p:spTgt spid="3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animEffect filter="fade" transition="in">
                                      <p:cBhvr>
                                        <p:cTn dur="2000"/>
                                        <p:tgtEl>
                                          <p:spTgt spid="3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4" st="4"/>
                                            </p:txEl>
                                          </p:spTgt>
                                        </p:tgtEl>
                                        <p:attrNameLst>
                                          <p:attrName>style.visibility</p:attrName>
                                        </p:attrNameLst>
                                      </p:cBhvr>
                                      <p:to>
                                        <p:strVal val="visible"/>
                                      </p:to>
                                    </p:set>
                                    <p:animEffect filter="fade" transition="in">
                                      <p:cBhvr>
                                        <p:cTn dur="2000"/>
                                        <p:tgtEl>
                                          <p:spTgt spid="3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5" st="5"/>
                                            </p:txEl>
                                          </p:spTgt>
                                        </p:tgtEl>
                                        <p:attrNameLst>
                                          <p:attrName>style.visibility</p:attrName>
                                        </p:attrNameLst>
                                      </p:cBhvr>
                                      <p:to>
                                        <p:strVal val="visible"/>
                                      </p:to>
                                    </p:set>
                                    <p:animEffect filter="fade" transition="in">
                                      <p:cBhvr>
                                        <p:cTn dur="2000"/>
                                        <p:tgtEl>
                                          <p:spTgt spid="3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animEffect filter="fade" transition="in">
                                      <p:cBhvr>
                                        <p:cTn dur="2000"/>
                                        <p:tgtEl>
                                          <p:spTgt spid="30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6" name="Shape 306"/>
        <p:cNvGrpSpPr/>
        <p:nvPr/>
      </p:nvGrpSpPr>
      <p:grpSpPr>
        <a:xfrm>
          <a:off x="0" y="0"/>
          <a:ext cx="0" cy="0"/>
          <a:chOff x="0" y="0"/>
          <a:chExt cx="0" cy="0"/>
        </a:xfrm>
      </p:grpSpPr>
      <p:sp>
        <p:nvSpPr>
          <p:cNvPr id="307" name="Google Shape;307;g2edd9bc016b_1_76"/>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08" name="Google Shape;308;g2edd9bc016b_1_76"/>
          <p:cNvSpPr/>
          <p:nvPr/>
        </p:nvSpPr>
        <p:spPr>
          <a:xfrm>
            <a:off x="720000" y="1439998"/>
            <a:ext cx="6938100" cy="26214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from 3pm to 4pm we can divide 20 mints as 3 to 3.20 and 3.20 to 3.40 and 3.40 to 4 pm</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we have 3 possibilities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individual prabability they dont meet is 2/3</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total probability is 2/3*2/3=4/9</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09" name="Google Shape;309;g2edd9bc016b_1_76"/>
          <p:cNvSpPr/>
          <p:nvPr/>
        </p:nvSpPr>
        <p:spPr>
          <a:xfrm>
            <a:off x="6343650" y="417195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D</a:t>
            </a:r>
            <a:endParaRPr b="0" i="0" sz="1350" u="none" cap="none" strike="noStrike">
              <a:solidFill>
                <a:schemeClr val="dk1"/>
              </a:solidFill>
              <a:latin typeface="Roboto"/>
              <a:ea typeface="Roboto"/>
              <a:cs typeface="Roboto"/>
              <a:sym typeface="Roboto"/>
            </a:endParaRPr>
          </a:p>
        </p:txBody>
      </p:sp>
      <p:sp>
        <p:nvSpPr>
          <p:cNvPr id="310" name="Google Shape;310;g2edd9bc016b_1_76"/>
          <p:cNvSpPr txBox="1"/>
          <p:nvPr/>
        </p:nvSpPr>
        <p:spPr>
          <a:xfrm>
            <a:off x="81975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2000"/>
                                        <p:tgtEl>
                                          <p:spTgt spid="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Effect filter="fade" transition="in">
                                      <p:cBhvr>
                                        <p:cTn dur="2000"/>
                                        <p:tgtEl>
                                          <p:spTgt spid="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Effect filter="fade" transition="in">
                                      <p:cBhvr>
                                        <p:cTn dur="2000"/>
                                        <p:tgtEl>
                                          <p:spTgt spid="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animEffect filter="fade" transition="in">
                                      <p:cBhvr>
                                        <p:cTn dur="2000"/>
                                        <p:tgtEl>
                                          <p:spTgt spid="30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5dab58096a_0_396"/>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16" name="Google Shape;316;g15dab58096a_0_396"/>
          <p:cNvSpPr/>
          <p:nvPr/>
        </p:nvSpPr>
        <p:spPr>
          <a:xfrm>
            <a:off x="643800" y="1439999"/>
            <a:ext cx="6995400" cy="25197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Seven speakers A1, A2, A3,...., A7 were scheduled to speak at a function. In how many ways their speech can be arranged, such that:</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A1 speaks before A3 , and A3 speaks before A5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840</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860</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420</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410</a:t>
            </a:r>
            <a:endParaRPr b="0" i="0" sz="1400" u="none" cap="none" strike="noStrike">
              <a:solidFill>
                <a:srgbClr val="000000"/>
              </a:solidFill>
              <a:latin typeface="Roboto"/>
              <a:ea typeface="Roboto"/>
              <a:cs typeface="Roboto"/>
              <a:sym typeface="Roboto"/>
            </a:endParaRPr>
          </a:p>
          <a:p>
            <a:pPr indent="-257175" lvl="0" marL="257175"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17" name="Google Shape;317;g15dab58096a_0_396"/>
          <p:cNvSpPr/>
          <p:nvPr/>
        </p:nvSpPr>
        <p:spPr>
          <a:xfrm>
            <a:off x="6515100" y="4000500"/>
            <a:ext cx="988059"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318" name="Google Shape;318;g15dab58096a_0_396"/>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Effect filter="fade" transition="in">
                                      <p:cBhvr>
                                        <p:cTn dur="2000"/>
                                        <p:tgtEl>
                                          <p:spTgt spid="3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Effect filter="fade" transition="in">
                                      <p:cBhvr>
                                        <p:cTn dur="2000"/>
                                        <p:tgtEl>
                                          <p:spTgt spid="3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animEffect filter="fade" transition="in">
                                      <p:cBhvr>
                                        <p:cTn dur="2000"/>
                                        <p:tgtEl>
                                          <p:spTgt spid="3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animEffect filter="fade" transition="in">
                                      <p:cBhvr>
                                        <p:cTn dur="2000"/>
                                        <p:tgtEl>
                                          <p:spTgt spid="3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animEffect filter="fade" transition="in">
                                      <p:cBhvr>
                                        <p:cTn dur="2000"/>
                                        <p:tgtEl>
                                          <p:spTgt spid="3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5" st="5"/>
                                            </p:txEl>
                                          </p:spTgt>
                                        </p:tgtEl>
                                        <p:attrNameLst>
                                          <p:attrName>style.visibility</p:attrName>
                                        </p:attrNameLst>
                                      </p:cBhvr>
                                      <p:to>
                                        <p:strVal val="visible"/>
                                      </p:to>
                                    </p:set>
                                    <p:animEffect filter="fade" transition="in">
                                      <p:cBhvr>
                                        <p:cTn dur="2000"/>
                                        <p:tgtEl>
                                          <p:spTgt spid="3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6" st="6"/>
                                            </p:txEl>
                                          </p:spTgt>
                                        </p:tgtEl>
                                        <p:attrNameLst>
                                          <p:attrName>style.visibility</p:attrName>
                                        </p:attrNameLst>
                                      </p:cBhvr>
                                      <p:to>
                                        <p:strVal val="visible"/>
                                      </p:to>
                                    </p:set>
                                    <p:animEffect filter="fade" transition="in">
                                      <p:cBhvr>
                                        <p:cTn dur="2000"/>
                                        <p:tgtEl>
                                          <p:spTgt spid="31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2000"/>
                                        <p:tgtEl>
                                          <p:spTgt spid="31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 name="Shape 322"/>
        <p:cNvGrpSpPr/>
        <p:nvPr/>
      </p:nvGrpSpPr>
      <p:grpSpPr>
        <a:xfrm>
          <a:off x="0" y="0"/>
          <a:ext cx="0" cy="0"/>
          <a:chOff x="0" y="0"/>
          <a:chExt cx="0" cy="0"/>
        </a:xfrm>
      </p:grpSpPr>
      <p:sp>
        <p:nvSpPr>
          <p:cNvPr id="323" name="Google Shape;323;g2edd9bc016b_1_83"/>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24" name="Google Shape;324;g2edd9bc016b_1_83"/>
          <p:cNvSpPr/>
          <p:nvPr/>
        </p:nvSpPr>
        <p:spPr>
          <a:xfrm>
            <a:off x="720000" y="1439999"/>
            <a:ext cx="6995400" cy="25197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3 people can be selected from 7 in 7c3 ways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arranging those 3 people is only in one way.</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remaining 4 can be arranged in 4! ways.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7c3*1*4!=840</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short cut: 7!/3!</a:t>
            </a:r>
            <a:endParaRPr b="0" i="0" sz="1400" u="none" cap="none" strike="noStrike">
              <a:solidFill>
                <a:schemeClr val="dk1"/>
              </a:solidFill>
              <a:latin typeface="Roboto"/>
              <a:ea typeface="Roboto"/>
              <a:cs typeface="Roboto"/>
              <a:sym typeface="Roboto"/>
            </a:endParaRPr>
          </a:p>
          <a:p>
            <a:pPr indent="-257175" lvl="0" marL="257175"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25" name="Google Shape;325;g2edd9bc016b_1_83"/>
          <p:cNvSpPr/>
          <p:nvPr/>
        </p:nvSpPr>
        <p:spPr>
          <a:xfrm>
            <a:off x="6515100" y="400050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326" name="Google Shape;326;g2edd9bc016b_1_83"/>
          <p:cNvSpPr txBox="1"/>
          <p:nvPr/>
        </p:nvSpPr>
        <p:spPr>
          <a:xfrm>
            <a:off x="835825"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20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20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2000"/>
                                        <p:tgtEl>
                                          <p:spTgt spid="3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animEffect filter="fade" transition="in">
                                      <p:cBhvr>
                                        <p:cTn dur="2000"/>
                                        <p:tgtEl>
                                          <p:spTgt spid="32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15dab58096a_0_404"/>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32" name="Google Shape;332;g15dab58096a_0_404"/>
          <p:cNvSpPr/>
          <p:nvPr/>
        </p:nvSpPr>
        <p:spPr>
          <a:xfrm>
            <a:off x="643800" y="1439999"/>
            <a:ext cx="6766800" cy="21126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 father purchased dress for his 3 daughters. The dresses are of same color but diff size and they are kept in dark room. what is probability that all the 3 will not choose there own dress?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2/3</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1/3</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4/3</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7/3</a:t>
            </a:r>
            <a:endParaRPr b="0" i="0" sz="1400" u="none" cap="none" strike="noStrike">
              <a:solidFill>
                <a:srgbClr val="000000"/>
              </a:solidFill>
              <a:latin typeface="Roboto"/>
              <a:ea typeface="Roboto"/>
              <a:cs typeface="Roboto"/>
              <a:sym typeface="Roboto"/>
            </a:endParaRPr>
          </a:p>
        </p:txBody>
      </p:sp>
      <p:sp>
        <p:nvSpPr>
          <p:cNvPr id="333" name="Google Shape;333;g15dab58096a_0_404"/>
          <p:cNvSpPr/>
          <p:nvPr/>
        </p:nvSpPr>
        <p:spPr>
          <a:xfrm>
            <a:off x="6400800" y="400050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B</a:t>
            </a:r>
            <a:endParaRPr b="0" i="0" sz="1350" u="none" cap="none" strike="noStrike">
              <a:solidFill>
                <a:schemeClr val="dk1"/>
              </a:solidFill>
              <a:latin typeface="Roboto"/>
              <a:ea typeface="Roboto"/>
              <a:cs typeface="Roboto"/>
              <a:sym typeface="Roboto"/>
            </a:endParaRPr>
          </a:p>
        </p:txBody>
      </p:sp>
      <p:sp>
        <p:nvSpPr>
          <p:cNvPr id="334" name="Google Shape;334;g15dab58096a_0_404"/>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Effect filter="fade" transition="in">
                                      <p:cBhvr>
                                        <p:cTn dur="2000"/>
                                        <p:tgtEl>
                                          <p:spTgt spid="3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Effect filter="fade" transition="in">
                                      <p:cBhvr>
                                        <p:cTn dur="2000"/>
                                        <p:tgtEl>
                                          <p:spTgt spid="3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Effect filter="fade" transition="in">
                                      <p:cBhvr>
                                        <p:cTn dur="2000"/>
                                        <p:tgtEl>
                                          <p:spTgt spid="3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animEffect filter="fade" transition="in">
                                      <p:cBhvr>
                                        <p:cTn dur="2000"/>
                                        <p:tgtEl>
                                          <p:spTgt spid="3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animEffect filter="fade" transition="in">
                                      <p:cBhvr>
                                        <p:cTn dur="2000"/>
                                        <p:tgtEl>
                                          <p:spTgt spid="3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animEffect filter="fade" transition="in">
                                      <p:cBhvr>
                                        <p:cTn dur="2000"/>
                                        <p:tgtEl>
                                          <p:spTgt spid="3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Effect filter="fade" transition="in">
                                      <p:cBhvr>
                                        <p:cTn dur="2000"/>
                                        <p:tgtEl>
                                          <p:spTgt spid="33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8" name="Shape 338"/>
        <p:cNvGrpSpPr/>
        <p:nvPr/>
      </p:nvGrpSpPr>
      <p:grpSpPr>
        <a:xfrm>
          <a:off x="0" y="0"/>
          <a:ext cx="0" cy="0"/>
          <a:chOff x="0" y="0"/>
          <a:chExt cx="0" cy="0"/>
        </a:xfrm>
      </p:grpSpPr>
      <p:sp>
        <p:nvSpPr>
          <p:cNvPr id="339" name="Google Shape;339;g2edd9bc016b_1_90"/>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40" name="Google Shape;340;g2edd9bc016b_1_90"/>
          <p:cNvSpPr/>
          <p:nvPr/>
        </p:nvSpPr>
        <p:spPr>
          <a:xfrm>
            <a:off x="720000" y="1439999"/>
            <a:ext cx="6766800" cy="21126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Method 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3 daughters (correct pairs daughter no. 1-a 2-b 3-c)</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probability that daughter 1 will choose correct dress (i.e a) is 1/3</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probability that daughter 1 will not choose a is 1- 1/3 = 2/3.</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remaining dresses 2 out of which only 1 pair is correct (as first daughter picked someone else's dress)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if either 2 or 3 pick incorrect dress with probability of 1/2 last pair is guaranteed wrong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total probability = 2/3 * 1/2 * 1 = 1/3</a:t>
            </a: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p:txBody>
      </p:sp>
      <p:sp>
        <p:nvSpPr>
          <p:cNvPr id="341" name="Google Shape;341;g2edd9bc016b_1_90"/>
          <p:cNvSpPr/>
          <p:nvPr/>
        </p:nvSpPr>
        <p:spPr>
          <a:xfrm>
            <a:off x="6400800" y="40005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B</a:t>
            </a:r>
            <a:endParaRPr b="0" i="0" sz="1350" u="none" cap="none" strike="noStrike">
              <a:solidFill>
                <a:schemeClr val="dk1"/>
              </a:solidFill>
              <a:latin typeface="Roboto"/>
              <a:ea typeface="Roboto"/>
              <a:cs typeface="Roboto"/>
              <a:sym typeface="Roboto"/>
            </a:endParaRPr>
          </a:p>
        </p:txBody>
      </p:sp>
      <p:sp>
        <p:nvSpPr>
          <p:cNvPr id="342" name="Google Shape;342;g2edd9bc016b_1_90"/>
          <p:cNvSpPr txBox="1"/>
          <p:nvPr/>
        </p:nvSpPr>
        <p:spPr>
          <a:xfrm>
            <a:off x="835825"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Effect filter="fade" transition="in">
                                      <p:cBhvr>
                                        <p:cTn dur="2000"/>
                                        <p:tgtEl>
                                          <p:spTgt spid="3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animEffect filter="fade" transition="in">
                                      <p:cBhvr>
                                        <p:cTn dur="2000"/>
                                        <p:tgtEl>
                                          <p:spTgt spid="34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g2edd9bc016b_1_137"/>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48" name="Google Shape;348;g2edd9bc016b_1_137"/>
          <p:cNvSpPr/>
          <p:nvPr/>
        </p:nvSpPr>
        <p:spPr>
          <a:xfrm>
            <a:off x="720000" y="1440000"/>
            <a:ext cx="7938000" cy="37035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method 2)</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let A`s dress named A, B dress named B, C`s dress named C.</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Then,Total Combinations are 3!=6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 B C</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 C B</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 B A</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 A C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 C A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 A B</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Now, We have to find a condition where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 does not choose her dress,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 does not choose her dress and</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 does not choose her dress.</a:t>
            </a:r>
            <a:endParaRPr b="0" i="0" sz="1400" u="none" cap="none" strike="noStrike">
              <a:solidFill>
                <a:schemeClr val="dk1"/>
              </a:solidFill>
              <a:latin typeface="Roboto"/>
              <a:ea typeface="Roboto"/>
              <a:cs typeface="Roboto"/>
              <a:sym typeface="Roboto"/>
            </a:endParaRPr>
          </a:p>
        </p:txBody>
      </p:sp>
      <p:sp>
        <p:nvSpPr>
          <p:cNvPr id="349" name="Google Shape;349;g2edd9bc016b_1_137"/>
          <p:cNvSpPr/>
          <p:nvPr/>
        </p:nvSpPr>
        <p:spPr>
          <a:xfrm>
            <a:off x="6400800" y="40005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B</a:t>
            </a:r>
            <a:endParaRPr b="0" i="0" sz="1350" u="none" cap="none" strike="noStrike">
              <a:solidFill>
                <a:schemeClr val="dk1"/>
              </a:solidFill>
              <a:latin typeface="Roboto"/>
              <a:ea typeface="Roboto"/>
              <a:cs typeface="Roboto"/>
              <a:sym typeface="Roboto"/>
            </a:endParaRPr>
          </a:p>
        </p:txBody>
      </p:sp>
      <p:sp>
        <p:nvSpPr>
          <p:cNvPr id="350" name="Google Shape;350;g2edd9bc016b_1_137"/>
          <p:cNvSpPr txBox="1"/>
          <p:nvPr/>
        </p:nvSpPr>
        <p:spPr>
          <a:xfrm>
            <a:off x="7200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0" st="0"/>
                                            </p:txEl>
                                          </p:spTgt>
                                        </p:tgtEl>
                                        <p:attrNameLst>
                                          <p:attrName>style.visibility</p:attrName>
                                        </p:attrNameLst>
                                      </p:cBhvr>
                                      <p:to>
                                        <p:strVal val="visible"/>
                                      </p:to>
                                    </p:set>
                                    <p:animEffect filter="fade" transition="in">
                                      <p:cBhvr>
                                        <p:cTn dur="2000"/>
                                        <p:tgtEl>
                                          <p:spTgt spid="3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animEffect filter="fade" transition="in">
                                      <p:cBhvr>
                                        <p:cTn dur="2000"/>
                                        <p:tgtEl>
                                          <p:spTgt spid="34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g2edd9bc016b_1_144"/>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56" name="Google Shape;356;g2edd9bc016b_1_144"/>
          <p:cNvSpPr/>
          <p:nvPr/>
        </p:nvSpPr>
        <p:spPr>
          <a:xfrm>
            <a:off x="720000" y="1440000"/>
            <a:ext cx="7938000" cy="37035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In first four condition,</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either A or B or C choose either of its right choice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like in ACB, A choose right choice... and so on</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but in last two cond.</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 C A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C A B</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None of them chooses right choice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fav outcome=2</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and total outcome=3!=6</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prob-2/6=1/3</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57" name="Google Shape;357;g2edd9bc016b_1_144"/>
          <p:cNvSpPr/>
          <p:nvPr/>
        </p:nvSpPr>
        <p:spPr>
          <a:xfrm>
            <a:off x="6400800" y="400050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B</a:t>
            </a:r>
            <a:endParaRPr b="0" i="0" sz="1350" u="none" cap="none" strike="noStrike">
              <a:solidFill>
                <a:schemeClr val="dk1"/>
              </a:solidFill>
              <a:latin typeface="Roboto"/>
              <a:ea typeface="Roboto"/>
              <a:cs typeface="Roboto"/>
              <a:sym typeface="Roboto"/>
            </a:endParaRPr>
          </a:p>
        </p:txBody>
      </p:sp>
      <p:sp>
        <p:nvSpPr>
          <p:cNvPr id="358" name="Google Shape;358;g2edd9bc016b_1_144"/>
          <p:cNvSpPr txBox="1"/>
          <p:nvPr/>
        </p:nvSpPr>
        <p:spPr>
          <a:xfrm>
            <a:off x="720725"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xEl>
                                              <p:pRg end="0" st="0"/>
                                            </p:txEl>
                                          </p:spTgt>
                                        </p:tgtEl>
                                        <p:attrNameLst>
                                          <p:attrName>style.visibility</p:attrName>
                                        </p:attrNameLst>
                                      </p:cBhvr>
                                      <p:to>
                                        <p:strVal val="visible"/>
                                      </p:to>
                                    </p:set>
                                    <p:animEffect filter="fade" transition="in">
                                      <p:cBhvr>
                                        <p:cTn dur="2000"/>
                                        <p:tgtEl>
                                          <p:spTgt spid="3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xEl>
                                              <p:pRg end="1" st="1"/>
                                            </p:txEl>
                                          </p:spTgt>
                                        </p:tgtEl>
                                        <p:attrNameLst>
                                          <p:attrName>style.visibility</p:attrName>
                                        </p:attrNameLst>
                                      </p:cBhvr>
                                      <p:to>
                                        <p:strVal val="visible"/>
                                      </p:to>
                                    </p:set>
                                    <p:animEffect filter="fade" transition="in">
                                      <p:cBhvr>
                                        <p:cTn dur="2000"/>
                                        <p:tgtEl>
                                          <p:spTgt spid="3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2000"/>
                                        <p:tgtEl>
                                          <p:spTgt spid="35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15dab58096a_0_412"/>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64" name="Google Shape;364;g15dab58096a_0_412"/>
          <p:cNvSpPr/>
          <p:nvPr/>
        </p:nvSpPr>
        <p:spPr>
          <a:xfrm>
            <a:off x="643800" y="1439999"/>
            <a:ext cx="6938100" cy="21126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How many two-digit numbers are there which, when subtracted from the number formed by reversing its digits as well as when added to the number formed by reversing its digits, result in a perfect square?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1</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2</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3</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 4</a:t>
            </a:r>
            <a:endParaRPr b="0" i="0" sz="1400" u="none" cap="none" strike="noStrike">
              <a:solidFill>
                <a:srgbClr val="000000"/>
              </a:solidFill>
              <a:latin typeface="Roboto"/>
              <a:ea typeface="Roboto"/>
              <a:cs typeface="Roboto"/>
              <a:sym typeface="Roboto"/>
            </a:endParaRPr>
          </a:p>
        </p:txBody>
      </p:sp>
      <p:sp>
        <p:nvSpPr>
          <p:cNvPr id="365" name="Google Shape;365;g15dab58096a_0_412"/>
          <p:cNvSpPr/>
          <p:nvPr/>
        </p:nvSpPr>
        <p:spPr>
          <a:xfrm>
            <a:off x="6572250" y="4171950"/>
            <a:ext cx="988059"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366" name="Google Shape;366;g15dab58096a_0_412"/>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2000"/>
                                        <p:tgtEl>
                                          <p:spTgt spid="3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Effect filter="fade" transition="in">
                                      <p:cBhvr>
                                        <p:cTn dur="2000"/>
                                        <p:tgtEl>
                                          <p:spTgt spid="3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Effect filter="fade" transition="in">
                                      <p:cBhvr>
                                        <p:cTn dur="2000"/>
                                        <p:tgtEl>
                                          <p:spTgt spid="3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Effect filter="fade" transition="in">
                                      <p:cBhvr>
                                        <p:cTn dur="2000"/>
                                        <p:tgtEl>
                                          <p:spTgt spid="3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animEffect filter="fade" transition="in">
                                      <p:cBhvr>
                                        <p:cTn dur="2000"/>
                                        <p:tgtEl>
                                          <p:spTgt spid="3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animEffect filter="fade" transition="in">
                                      <p:cBhvr>
                                        <p:cTn dur="2000"/>
                                        <p:tgtEl>
                                          <p:spTgt spid="3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animEffect filter="fade" transition="in">
                                      <p:cBhvr>
                                        <p:cTn dur="2000"/>
                                        <p:tgtEl>
                                          <p:spTgt spid="36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0" name="Shape 370"/>
        <p:cNvGrpSpPr/>
        <p:nvPr/>
      </p:nvGrpSpPr>
      <p:grpSpPr>
        <a:xfrm>
          <a:off x="0" y="0"/>
          <a:ext cx="0" cy="0"/>
          <a:chOff x="0" y="0"/>
          <a:chExt cx="0" cy="0"/>
        </a:xfrm>
      </p:grpSpPr>
      <p:sp>
        <p:nvSpPr>
          <p:cNvPr id="371" name="Google Shape;371;g2edd9bc016b_1_97"/>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72" name="Google Shape;372;g2edd9bc016b_1_97"/>
          <p:cNvSpPr/>
          <p:nvPr/>
        </p:nvSpPr>
        <p:spPr>
          <a:xfrm>
            <a:off x="720000" y="1439999"/>
            <a:ext cx="6938100" cy="21126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10x+y be the 2 digit number then</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10x+y+10Y+x(reverse) == 11(x+y) </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and 10x+y - (10y+x)== 9(x-y)</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solving x and y trail error method.. only one satisfies both the equations 6 and 5</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ans: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t/>
            </a:r>
            <a:endParaRPr b="0" i="0" sz="1400" u="sng"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2:</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Let the number xy = 10x + y</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Given that, 10x+y - (10y - x) = 9(x-y) is a perfect square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x-y can be 1, 4, 9.  -------- (1)</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given that 10x+y +(10y +x) = 11(x+y) is a perfect square.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x+y be 11. options are (9,2), (8,3),(7,4),(6,5) hence only ( 6,5 ) satisfy the condition. .therefore ans. Is 1</a:t>
            </a:r>
            <a:endParaRPr b="1" i="0" sz="1400" u="sng"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73" name="Google Shape;373;g2edd9bc016b_1_97"/>
          <p:cNvSpPr/>
          <p:nvPr/>
        </p:nvSpPr>
        <p:spPr>
          <a:xfrm>
            <a:off x="6572250" y="417195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374" name="Google Shape;374;g2edd9bc016b_1_97"/>
          <p:cNvSpPr txBox="1"/>
          <p:nvPr/>
        </p:nvSpPr>
        <p:spPr>
          <a:xfrm>
            <a:off x="787575"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animEffect filter="fade" transition="in">
                                      <p:cBhvr>
                                        <p:cTn dur="2000"/>
                                        <p:tgtEl>
                                          <p:spTgt spid="3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1" st="1"/>
                                            </p:txEl>
                                          </p:spTgt>
                                        </p:tgtEl>
                                        <p:attrNameLst>
                                          <p:attrName>style.visibility</p:attrName>
                                        </p:attrNameLst>
                                      </p:cBhvr>
                                      <p:to>
                                        <p:strVal val="visible"/>
                                      </p:to>
                                    </p:set>
                                    <p:animEffect filter="fade" transition="in">
                                      <p:cBhvr>
                                        <p:cTn dur="2000"/>
                                        <p:tgtEl>
                                          <p:spTgt spid="3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2" st="2"/>
                                            </p:txEl>
                                          </p:spTgt>
                                        </p:tgtEl>
                                        <p:attrNameLst>
                                          <p:attrName>style.visibility</p:attrName>
                                        </p:attrNameLst>
                                      </p:cBhvr>
                                      <p:to>
                                        <p:strVal val="visible"/>
                                      </p:to>
                                    </p:set>
                                    <p:animEffect filter="fade" transition="in">
                                      <p:cBhvr>
                                        <p:cTn dur="2000"/>
                                        <p:tgtEl>
                                          <p:spTgt spid="3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3" st="3"/>
                                            </p:txEl>
                                          </p:spTgt>
                                        </p:tgtEl>
                                        <p:attrNameLst>
                                          <p:attrName>style.visibility</p:attrName>
                                        </p:attrNameLst>
                                      </p:cBhvr>
                                      <p:to>
                                        <p:strVal val="visible"/>
                                      </p:to>
                                    </p:set>
                                    <p:animEffect filter="fade" transition="in">
                                      <p:cBhvr>
                                        <p:cTn dur="2000"/>
                                        <p:tgtEl>
                                          <p:spTgt spid="3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4" st="4"/>
                                            </p:txEl>
                                          </p:spTgt>
                                        </p:tgtEl>
                                        <p:attrNameLst>
                                          <p:attrName>style.visibility</p:attrName>
                                        </p:attrNameLst>
                                      </p:cBhvr>
                                      <p:to>
                                        <p:strVal val="visible"/>
                                      </p:to>
                                    </p:set>
                                    <p:animEffect filter="fade" transition="in">
                                      <p:cBhvr>
                                        <p:cTn dur="2000"/>
                                        <p:tgtEl>
                                          <p:spTgt spid="3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5" st="5"/>
                                            </p:txEl>
                                          </p:spTgt>
                                        </p:tgtEl>
                                        <p:attrNameLst>
                                          <p:attrName>style.visibility</p:attrName>
                                        </p:attrNameLst>
                                      </p:cBhvr>
                                      <p:to>
                                        <p:strVal val="visible"/>
                                      </p:to>
                                    </p:set>
                                    <p:animEffect filter="fade" transition="in">
                                      <p:cBhvr>
                                        <p:cTn dur="2000"/>
                                        <p:tgtEl>
                                          <p:spTgt spid="3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2000"/>
                                        <p:tgtEl>
                                          <p:spTgt spid="3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23109bf44fd_0_22"/>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DERENT WAYS TO CREATE AN OBJECT</a:t>
            </a:r>
            <a:endParaRPr b="0" i="0" sz="1200" u="none" cap="none" strike="noStrike">
              <a:solidFill>
                <a:schemeClr val="lt1"/>
              </a:solidFill>
              <a:latin typeface="Roboto"/>
              <a:ea typeface="Roboto"/>
              <a:cs typeface="Roboto"/>
              <a:sym typeface="Roboto"/>
            </a:endParaRPr>
          </a:p>
        </p:txBody>
      </p:sp>
      <p:sp>
        <p:nvSpPr>
          <p:cNvPr id="380" name="Google Shape;380;g23109bf44fd_0_22"/>
          <p:cNvSpPr/>
          <p:nvPr/>
        </p:nvSpPr>
        <p:spPr>
          <a:xfrm>
            <a:off x="643800" y="1439999"/>
            <a:ext cx="7052400" cy="20553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 necklace is made by stringing N individual beads together in the repeating pattern red bead, green bead, white bead, blue bead and yellow bead. If the necklace begins with a red bead and ends with a white bead, then N could be:</a:t>
            </a:r>
            <a:br>
              <a:rPr b="0" i="0" lang="en-GB"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A.16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B.32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C.54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D.68</a:t>
            </a:r>
            <a:endParaRPr b="0" i="0" sz="1400" u="none" cap="none" strike="noStrike">
              <a:solidFill>
                <a:schemeClr val="dk1"/>
              </a:solidFill>
              <a:latin typeface="Roboto"/>
              <a:ea typeface="Roboto"/>
              <a:cs typeface="Roboto"/>
              <a:sym typeface="Roboto"/>
            </a:endParaRPr>
          </a:p>
        </p:txBody>
      </p:sp>
      <p:sp>
        <p:nvSpPr>
          <p:cNvPr id="381" name="Google Shape;381;g23109bf44fd_0_22"/>
          <p:cNvSpPr/>
          <p:nvPr/>
        </p:nvSpPr>
        <p:spPr>
          <a:xfrm>
            <a:off x="6515100" y="3829050"/>
            <a:ext cx="994503"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D</a:t>
            </a:r>
            <a:endParaRPr b="0" i="0" sz="1350" u="none" cap="none" strike="noStrike">
              <a:solidFill>
                <a:schemeClr val="dk1"/>
              </a:solidFill>
              <a:latin typeface="Roboto"/>
              <a:ea typeface="Roboto"/>
              <a:cs typeface="Roboto"/>
              <a:sym typeface="Roboto"/>
            </a:endParaRPr>
          </a:p>
        </p:txBody>
      </p:sp>
      <p:sp>
        <p:nvSpPr>
          <p:cNvPr id="382" name="Google Shape;382;g23109bf44fd_0_22"/>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animEffect filter="fade" transition="in">
                                      <p:cBhvr>
                                        <p:cTn dur="2000"/>
                                        <p:tgtEl>
                                          <p:spTgt spid="3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animEffect filter="fade" transition="in">
                                      <p:cBhvr>
                                        <p:cTn dur="2000"/>
                                        <p:tgtEl>
                                          <p:spTgt spid="3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animEffect filter="fade" transition="in">
                                      <p:cBhvr>
                                        <p:cTn dur="2000"/>
                                        <p:tgtEl>
                                          <p:spTgt spid="3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animEffect filter="fade" transition="in">
                                      <p:cBhvr>
                                        <p:cTn dur="2000"/>
                                        <p:tgtEl>
                                          <p:spTgt spid="3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animEffect filter="fade" transition="in">
                                      <p:cBhvr>
                                        <p:cTn dur="2000"/>
                                        <p:tgtEl>
                                          <p:spTgt spid="3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0" st="0"/>
                                            </p:txEl>
                                          </p:spTgt>
                                        </p:tgtEl>
                                        <p:attrNameLst>
                                          <p:attrName>style.visibility</p:attrName>
                                        </p:attrNameLst>
                                      </p:cBhvr>
                                      <p:to>
                                        <p:strVal val="visible"/>
                                      </p:to>
                                    </p:set>
                                    <p:animEffect filter="fade" transition="in">
                                      <p:cBhvr>
                                        <p:cTn dur="2000"/>
                                        <p:tgtEl>
                                          <p:spTgt spid="3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g2edd9bc016b_1_104"/>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DERENT WAYS TO CREATE AN OBJECT</a:t>
            </a:r>
            <a:endParaRPr b="0" i="0" sz="1200" u="none" cap="none" strike="noStrike">
              <a:solidFill>
                <a:schemeClr val="lt1"/>
              </a:solidFill>
              <a:latin typeface="Roboto"/>
              <a:ea typeface="Roboto"/>
              <a:cs typeface="Roboto"/>
              <a:sym typeface="Roboto"/>
            </a:endParaRPr>
          </a:p>
        </p:txBody>
      </p:sp>
      <p:sp>
        <p:nvSpPr>
          <p:cNvPr id="388" name="Google Shape;388;g2edd9bc016b_1_104"/>
          <p:cNvSpPr/>
          <p:nvPr/>
        </p:nvSpPr>
        <p:spPr>
          <a:xfrm>
            <a:off x="720000" y="1439999"/>
            <a:ext cx="7052400" cy="20553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R G W B Y is the bead pattern and it repeats.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Bead want to end with White.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the 3rd, 8th, 13th, 18th... beads will be W.</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number of beads - 3 has to be divisible by 5 for it to be a White bead.</a:t>
            </a:r>
            <a:br>
              <a:rPr b="0" i="0" lang="en-GB" sz="1400" u="none" cap="none" strike="noStrike">
                <a:solidFill>
                  <a:schemeClr val="dk1"/>
                </a:solidFill>
                <a:latin typeface="Roboto"/>
                <a:ea typeface="Roboto"/>
                <a:cs typeface="Roboto"/>
                <a:sym typeface="Roboto"/>
              </a:rPr>
            </a:b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For those conditions, option D(68) only satisfy.</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i.e., 68 - 3 = 65 and that also divisible by 5.</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S0, 68 is the answer.</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t/>
            </a:r>
            <a:endParaRPr b="1" i="0" sz="1400" u="sng"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89" name="Google Shape;389;g2edd9bc016b_1_104"/>
          <p:cNvSpPr/>
          <p:nvPr/>
        </p:nvSpPr>
        <p:spPr>
          <a:xfrm>
            <a:off x="6515100" y="3829050"/>
            <a:ext cx="9945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D</a:t>
            </a:r>
            <a:endParaRPr b="0" i="0" sz="1350" u="none" cap="none" strike="noStrike">
              <a:solidFill>
                <a:schemeClr val="dk1"/>
              </a:solidFill>
              <a:latin typeface="Roboto"/>
              <a:ea typeface="Roboto"/>
              <a:cs typeface="Roboto"/>
              <a:sym typeface="Roboto"/>
            </a:endParaRPr>
          </a:p>
        </p:txBody>
      </p:sp>
      <p:sp>
        <p:nvSpPr>
          <p:cNvPr id="390" name="Google Shape;390;g2edd9bc016b_1_104"/>
          <p:cNvSpPr txBox="1"/>
          <p:nvPr/>
        </p:nvSpPr>
        <p:spPr>
          <a:xfrm>
            <a:off x="835825"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xEl>
                                              <p:pRg end="0" st="0"/>
                                            </p:txEl>
                                          </p:spTgt>
                                        </p:tgtEl>
                                        <p:attrNameLst>
                                          <p:attrName>style.visibility</p:attrName>
                                        </p:attrNameLst>
                                      </p:cBhvr>
                                      <p:to>
                                        <p:strVal val="visible"/>
                                      </p:to>
                                    </p:set>
                                    <p:animEffect filter="fade" transition="in">
                                      <p:cBhvr>
                                        <p:cTn dur="2000"/>
                                        <p:tgtEl>
                                          <p:spTgt spid="3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xEl>
                                              <p:pRg end="1" st="1"/>
                                            </p:txEl>
                                          </p:spTgt>
                                        </p:tgtEl>
                                        <p:attrNameLst>
                                          <p:attrName>style.visibility</p:attrName>
                                        </p:attrNameLst>
                                      </p:cBhvr>
                                      <p:to>
                                        <p:strVal val="visible"/>
                                      </p:to>
                                    </p:set>
                                    <p:animEffect filter="fade" transition="in">
                                      <p:cBhvr>
                                        <p:cTn dur="2000"/>
                                        <p:tgtEl>
                                          <p:spTgt spid="3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xEl>
                                              <p:pRg end="2" st="2"/>
                                            </p:txEl>
                                          </p:spTgt>
                                        </p:tgtEl>
                                        <p:attrNameLst>
                                          <p:attrName>style.visibility</p:attrName>
                                        </p:attrNameLst>
                                      </p:cBhvr>
                                      <p:to>
                                        <p:strVal val="visible"/>
                                      </p:to>
                                    </p:set>
                                    <p:animEffect filter="fade" transition="in">
                                      <p:cBhvr>
                                        <p:cTn dur="2000"/>
                                        <p:tgtEl>
                                          <p:spTgt spid="3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xEl>
                                              <p:pRg end="3" st="3"/>
                                            </p:txEl>
                                          </p:spTgt>
                                        </p:tgtEl>
                                        <p:attrNameLst>
                                          <p:attrName>style.visibility</p:attrName>
                                        </p:attrNameLst>
                                      </p:cBhvr>
                                      <p:to>
                                        <p:strVal val="visible"/>
                                      </p:to>
                                    </p:set>
                                    <p:animEffect filter="fade" transition="in">
                                      <p:cBhvr>
                                        <p:cTn dur="2000"/>
                                        <p:tgtEl>
                                          <p:spTgt spid="3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xEl>
                                              <p:pRg end="0" st="0"/>
                                            </p:txEl>
                                          </p:spTgt>
                                        </p:tgtEl>
                                        <p:attrNameLst>
                                          <p:attrName>style.visibility</p:attrName>
                                        </p:attrNameLst>
                                      </p:cBhvr>
                                      <p:to>
                                        <p:strVal val="visible"/>
                                      </p:to>
                                    </p:set>
                                    <p:animEffect filter="fade" transition="in">
                                      <p:cBhvr>
                                        <p:cTn dur="2000"/>
                                        <p:tgtEl>
                                          <p:spTgt spid="38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15dab58096a_0_420"/>
          <p:cNvSpPr txBox="1"/>
          <p:nvPr/>
        </p:nvSpPr>
        <p:spPr>
          <a:xfrm>
            <a:off x="1388701" y="233550"/>
            <a:ext cx="327419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396" name="Google Shape;396;g15dab58096a_0_420"/>
          <p:cNvSpPr/>
          <p:nvPr/>
        </p:nvSpPr>
        <p:spPr>
          <a:xfrm>
            <a:off x="643800" y="1439999"/>
            <a:ext cx="6823800" cy="2169600"/>
          </a:xfrm>
          <a:prstGeom prst="rect">
            <a:avLst/>
          </a:prstGeom>
          <a:noFill/>
          <a:ln>
            <a:noFill/>
          </a:ln>
        </p:spPr>
        <p:txBody>
          <a:bodyPr anchorCtr="0" anchor="t" bIns="34275" lIns="68550" spcFirstLastPara="1" rIns="68550" wrap="square" tIns="34275">
            <a:no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There are 14 spots. Each spot has 8 seats. 28 people seated in all spots. No similar number of people sat in any spot. How many spot left with no people at all.</a:t>
            </a:r>
            <a:br>
              <a:rPr b="0" i="0" lang="en-GB"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7</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10</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rgbClr val="000000"/>
              </a:solidFill>
              <a:latin typeface="Roboto"/>
              <a:ea typeface="Roboto"/>
              <a:cs typeface="Roboto"/>
              <a:sym typeface="Roboto"/>
            </a:endParaRPr>
          </a:p>
          <a:p>
            <a:pPr indent="-231775" lvl="0" marL="257175" marR="0" rtl="0" algn="l">
              <a:lnSpc>
                <a:spcPct val="150000"/>
              </a:lnSpc>
              <a:spcBef>
                <a:spcPts val="0"/>
              </a:spcBef>
              <a:spcAft>
                <a:spcPts val="0"/>
              </a:spcAft>
              <a:buClr>
                <a:schemeClr val="dk1"/>
              </a:buClr>
              <a:buSzPts val="1400"/>
              <a:buFont typeface="Calibri"/>
              <a:buAutoNum type="alphaUcPeriod"/>
            </a:pPr>
            <a:r>
              <a:rPr b="0" i="0" lang="en-GB" sz="1400" u="none" cap="none" strike="noStrike">
                <a:solidFill>
                  <a:schemeClr val="dk1"/>
                </a:solidFill>
                <a:latin typeface="Roboto"/>
                <a:ea typeface="Roboto"/>
                <a:cs typeface="Roboto"/>
                <a:sym typeface="Roboto"/>
              </a:rPr>
              <a:t>12</a:t>
            </a:r>
            <a:endParaRPr b="0" i="0" sz="1400" u="none" cap="none" strike="noStrike">
              <a:solidFill>
                <a:schemeClr val="dk1"/>
              </a:solidFill>
              <a:latin typeface="Roboto"/>
              <a:ea typeface="Roboto"/>
              <a:cs typeface="Roboto"/>
              <a:sym typeface="Roboto"/>
            </a:endParaRPr>
          </a:p>
        </p:txBody>
      </p:sp>
      <p:sp>
        <p:nvSpPr>
          <p:cNvPr id="397" name="Google Shape;397;g15dab58096a_0_420"/>
          <p:cNvSpPr/>
          <p:nvPr/>
        </p:nvSpPr>
        <p:spPr>
          <a:xfrm>
            <a:off x="6572250" y="4114800"/>
            <a:ext cx="988059" cy="276999"/>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398" name="Google Shape;398;g15dab58096a_0_420"/>
          <p:cNvSpPr txBox="1"/>
          <p:nvPr/>
        </p:nvSpPr>
        <p:spPr>
          <a:xfrm>
            <a:off x="607500" y="7087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animEffect filter="fade" transition="in">
                                      <p:cBhvr>
                                        <p:cTn dur="2000"/>
                                        <p:tgtEl>
                                          <p:spTgt spid="3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1" st="1"/>
                                            </p:txEl>
                                          </p:spTgt>
                                        </p:tgtEl>
                                        <p:attrNameLst>
                                          <p:attrName>style.visibility</p:attrName>
                                        </p:attrNameLst>
                                      </p:cBhvr>
                                      <p:to>
                                        <p:strVal val="visible"/>
                                      </p:to>
                                    </p:set>
                                    <p:animEffect filter="fade" transition="in">
                                      <p:cBhvr>
                                        <p:cTn dur="2000"/>
                                        <p:tgtEl>
                                          <p:spTgt spid="3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2" st="2"/>
                                            </p:txEl>
                                          </p:spTgt>
                                        </p:tgtEl>
                                        <p:attrNameLst>
                                          <p:attrName>style.visibility</p:attrName>
                                        </p:attrNameLst>
                                      </p:cBhvr>
                                      <p:to>
                                        <p:strVal val="visible"/>
                                      </p:to>
                                    </p:set>
                                    <p:animEffect filter="fade" transition="in">
                                      <p:cBhvr>
                                        <p:cTn dur="2000"/>
                                        <p:tgtEl>
                                          <p:spTgt spid="3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3" st="3"/>
                                            </p:txEl>
                                          </p:spTgt>
                                        </p:tgtEl>
                                        <p:attrNameLst>
                                          <p:attrName>style.visibility</p:attrName>
                                        </p:attrNameLst>
                                      </p:cBhvr>
                                      <p:to>
                                        <p:strVal val="visible"/>
                                      </p:to>
                                    </p:set>
                                    <p:animEffect filter="fade" transition="in">
                                      <p:cBhvr>
                                        <p:cTn dur="2000"/>
                                        <p:tgtEl>
                                          <p:spTgt spid="3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4" st="4"/>
                                            </p:txEl>
                                          </p:spTgt>
                                        </p:tgtEl>
                                        <p:attrNameLst>
                                          <p:attrName>style.visibility</p:attrName>
                                        </p:attrNameLst>
                                      </p:cBhvr>
                                      <p:to>
                                        <p:strVal val="visible"/>
                                      </p:to>
                                    </p:set>
                                    <p:animEffect filter="fade" transition="in">
                                      <p:cBhvr>
                                        <p:cTn dur="2000"/>
                                        <p:tgtEl>
                                          <p:spTgt spid="3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animEffect filter="fade" transition="in">
                                      <p:cBhvr>
                                        <p:cTn dur="2000"/>
                                        <p:tgtEl>
                                          <p:spTgt spid="39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g2edd9bc016b_1_111"/>
          <p:cNvSpPr txBox="1"/>
          <p:nvPr/>
        </p:nvSpPr>
        <p:spPr>
          <a:xfrm>
            <a:off x="1388701" y="233550"/>
            <a:ext cx="32742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Roboto"/>
                <a:ea typeface="Roboto"/>
                <a:cs typeface="Roboto"/>
                <a:sym typeface="Roboto"/>
              </a:rPr>
              <a:t>DIFFERENT WAYS TO CREATE AN OBJECT</a:t>
            </a:r>
            <a:endParaRPr b="0" i="0" sz="1200" u="none" cap="none" strike="noStrike">
              <a:solidFill>
                <a:schemeClr val="lt1"/>
              </a:solidFill>
              <a:latin typeface="Roboto"/>
              <a:ea typeface="Roboto"/>
              <a:cs typeface="Roboto"/>
              <a:sym typeface="Roboto"/>
            </a:endParaRPr>
          </a:p>
        </p:txBody>
      </p:sp>
      <p:sp>
        <p:nvSpPr>
          <p:cNvPr id="404" name="Google Shape;404;g2edd9bc016b_1_111"/>
          <p:cNvSpPr/>
          <p:nvPr/>
        </p:nvSpPr>
        <p:spPr>
          <a:xfrm>
            <a:off x="720000" y="1439999"/>
            <a:ext cx="6823800" cy="2169600"/>
          </a:xfrm>
          <a:prstGeom prst="rect">
            <a:avLst/>
          </a:prstGeom>
          <a:noFill/>
          <a:ln>
            <a:noFill/>
          </a:ln>
        </p:spPr>
        <p:txBody>
          <a:bodyPr anchorCtr="0" anchor="t" bIns="34275" lIns="68550" spcFirstLastPara="1" rIns="68550" wrap="square" tIns="34275">
            <a:noAutofit/>
          </a:bodyPr>
          <a:lstStyle/>
          <a:p>
            <a:pPr indent="0" lvl="0" marL="158750" marR="0" rtl="0" algn="l">
              <a:lnSpc>
                <a:spcPct val="100000"/>
              </a:lnSpc>
              <a:spcBef>
                <a:spcPts val="0"/>
              </a:spcBef>
              <a:spcAft>
                <a:spcPts val="0"/>
              </a:spcAft>
              <a:buClr>
                <a:schemeClr val="dk1"/>
              </a:buClr>
              <a:buSzPts val="1200"/>
              <a:buFont typeface="Calibri"/>
              <a:buNone/>
            </a:pPr>
            <a:r>
              <a:rPr b="1" i="0" lang="en-GB" sz="1400" u="sng" cap="none" strike="noStrike">
                <a:solidFill>
                  <a:schemeClr val="dk1"/>
                </a:solidFill>
                <a:latin typeface="Roboto"/>
                <a:ea typeface="Roboto"/>
                <a:cs typeface="Roboto"/>
                <a:sym typeface="Roboto"/>
              </a:rPr>
              <a:t>SOL 1 :</a:t>
            </a:r>
            <a:endParaRPr b="0" i="0" sz="1400" u="none" cap="none" strike="noStrike">
              <a:solidFill>
                <a:schemeClr val="dk1"/>
              </a:solidFill>
              <a:latin typeface="Roboto"/>
              <a:ea typeface="Roboto"/>
              <a:cs typeface="Roboto"/>
              <a:sym typeface="Roboto"/>
            </a:endParaRPr>
          </a:p>
          <a:p>
            <a:pPr indent="0" lvl="0" marL="158750" marR="0" rtl="0" algn="l">
              <a:lnSpc>
                <a:spcPct val="100000"/>
              </a:lnSpc>
              <a:spcBef>
                <a:spcPts val="0"/>
              </a:spcBef>
              <a:spcAft>
                <a:spcPts val="0"/>
              </a:spcAft>
              <a:buClr>
                <a:schemeClr val="dk1"/>
              </a:buClr>
              <a:buSzPts val="1200"/>
              <a:buFont typeface="Calibri"/>
              <a:buNone/>
            </a:pPr>
            <a:r>
              <a:rPr b="0" i="0" lang="en-GB" sz="1400" u="none" cap="none" strike="noStrike">
                <a:solidFill>
                  <a:schemeClr val="dk1"/>
                </a:solidFill>
                <a:latin typeface="Roboto"/>
                <a:ea typeface="Roboto"/>
                <a:cs typeface="Roboto"/>
                <a:sym typeface="Roboto"/>
              </a:rPr>
              <a:t>Total 14 spots with 8 chairs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at each spot different number of people</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possible combinations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1+2+3+4+5+6+7+8</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but,</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only 28 people their</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1+2+3+4+5+6+7=28</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so 7 possibilities</a:t>
            </a:r>
            <a:br>
              <a:rPr b="0" i="0" lang="en-GB" sz="1400" u="none" cap="none" strike="noStrike">
                <a:solidFill>
                  <a:schemeClr val="dk1"/>
                </a:solidFill>
                <a:latin typeface="Roboto"/>
                <a:ea typeface="Roboto"/>
                <a:cs typeface="Roboto"/>
                <a:sym typeface="Roboto"/>
              </a:rPr>
            </a:br>
            <a:r>
              <a:rPr b="0" i="0" lang="en-GB" sz="1400" u="none" cap="none" strike="noStrike">
                <a:solidFill>
                  <a:schemeClr val="dk1"/>
                </a:solidFill>
                <a:latin typeface="Roboto"/>
                <a:ea typeface="Roboto"/>
                <a:cs typeface="Roboto"/>
                <a:sym typeface="Roboto"/>
              </a:rPr>
              <a:t>vacant=14-7=7</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405" name="Google Shape;405;g2edd9bc016b_1_111"/>
          <p:cNvSpPr/>
          <p:nvPr/>
        </p:nvSpPr>
        <p:spPr>
          <a:xfrm>
            <a:off x="6572250" y="4114800"/>
            <a:ext cx="988200" cy="2769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none" cap="none" strike="noStrike">
                <a:solidFill>
                  <a:schemeClr val="dk1"/>
                </a:solidFill>
                <a:latin typeface="Roboto"/>
                <a:ea typeface="Roboto"/>
                <a:cs typeface="Roboto"/>
                <a:sym typeface="Roboto"/>
              </a:rPr>
              <a:t>Answer: A</a:t>
            </a:r>
            <a:endParaRPr b="0" i="0" sz="1350" u="none" cap="none" strike="noStrike">
              <a:solidFill>
                <a:schemeClr val="dk1"/>
              </a:solidFill>
              <a:latin typeface="Roboto"/>
              <a:ea typeface="Roboto"/>
              <a:cs typeface="Roboto"/>
              <a:sym typeface="Roboto"/>
            </a:endParaRPr>
          </a:p>
        </p:txBody>
      </p:sp>
      <p:sp>
        <p:nvSpPr>
          <p:cNvPr id="406" name="Google Shape;406;g2edd9bc016b_1_111"/>
          <p:cNvSpPr txBox="1"/>
          <p:nvPr/>
        </p:nvSpPr>
        <p:spPr>
          <a:xfrm>
            <a:off x="8519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b="1" lang="en-GB" sz="2000">
                <a:solidFill>
                  <a:srgbClr val="8182EF"/>
                </a:solidFill>
                <a:latin typeface="Roboto"/>
                <a:ea typeface="Roboto"/>
                <a:cs typeface="Roboto"/>
                <a:sym typeface="Roboto"/>
              </a:rPr>
              <a:t>Explanation: 15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animEffect filter="fade" transition="in">
                                      <p:cBhvr>
                                        <p:cTn dur="2000"/>
                                        <p:tgtEl>
                                          <p:spTgt spid="4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animEffect filter="fade" transition="in">
                                      <p:cBhvr>
                                        <p:cTn dur="2000"/>
                                        <p:tgtEl>
                                          <p:spTgt spid="4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animEffect filter="fade" transition="in">
                                      <p:cBhvr>
                                        <p:cTn dur="2000"/>
                                        <p:tgtEl>
                                          <p:spTgt spid="4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xEl>
                                              <p:pRg end="0" st="0"/>
                                            </p:txEl>
                                          </p:spTgt>
                                        </p:tgtEl>
                                        <p:attrNameLst>
                                          <p:attrName>style.visibility</p:attrName>
                                        </p:attrNameLst>
                                      </p:cBhvr>
                                      <p:to>
                                        <p:strVal val="visible"/>
                                      </p:to>
                                    </p:set>
                                    <p:animEffect filter="fade" transition="in">
                                      <p:cBhvr>
                                        <p:cTn dur="2000"/>
                                        <p:tgtEl>
                                          <p:spTgt spid="40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412" name="Google Shape;412;p1"/>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413" name="Google Shape;413;p1"/>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2"/>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19" name="Google Shape;419;p2"/>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420" name="Google Shape;420;p2"/>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21" name="Google Shape;421;p2"/>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22" name="Google Shape;422;p2"/>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423" name="Google Shape;423;p2"/>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24" name="Google Shape;424;p2"/>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425" name="Google Shape;425;p2"/>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26" name="Google Shape;426;p2"/>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427" name="Google Shape;427;p2"/>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dc:creator>
</cp:coreProperties>
</file>