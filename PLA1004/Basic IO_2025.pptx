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y="5143500" cx="9144000"/>
  <p:notesSz cx="6858000" cy="9144000"/>
  <p:embeddedFontLst>
    <p:embeddedFont>
      <p:font typeface="Roboto Black"/>
      <p:bold r:id="rId39"/>
      <p:boldItalic r:id="rId40"/>
    </p:embeddedFont>
    <p:embeddedFont>
      <p:font typeface="Roboto"/>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45" roundtripDataSignature="AMtx7mhaTnzH/akg7MBXgD2QawXQ5fxy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921DF1F-D312-4963-84A1-6E1B234B04DC}">
  <a:tblStyle styleId="{1921DF1F-D312-4963-84A1-6E1B234B04D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3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lack-boldItalic.fntdata"/><Relationship Id="rId20" Type="http://schemas.openxmlformats.org/officeDocument/2006/relationships/slide" Target="slides/slide13.xml"/><Relationship Id="rId42" Type="http://schemas.openxmlformats.org/officeDocument/2006/relationships/font" Target="fonts/Roboto-bold.fntdata"/><Relationship Id="rId41" Type="http://schemas.openxmlformats.org/officeDocument/2006/relationships/font" Target="fonts/Roboto-regular.fntdata"/><Relationship Id="rId22" Type="http://schemas.openxmlformats.org/officeDocument/2006/relationships/slide" Target="slides/slide15.xml"/><Relationship Id="rId44" Type="http://schemas.openxmlformats.org/officeDocument/2006/relationships/font" Target="fonts/Roboto-boldItalic.fntdata"/><Relationship Id="rId21" Type="http://schemas.openxmlformats.org/officeDocument/2006/relationships/slide" Target="slides/slide14.xml"/><Relationship Id="rId43" Type="http://schemas.openxmlformats.org/officeDocument/2006/relationships/font" Target="fonts/Roboto-italic.fntdata"/><Relationship Id="rId24" Type="http://schemas.openxmlformats.org/officeDocument/2006/relationships/slide" Target="slides/slide17.xml"/><Relationship Id="rId23" Type="http://schemas.openxmlformats.org/officeDocument/2006/relationships/slide" Target="slides/slide16.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font" Target="fonts/RobotoBlack-bold.fntdata"/><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4337fc5d25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2" name="Google Shape;112;g14337fc5d25_0_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21a274a14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9" name="Google Shape;119;g321a274a146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21a274a146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6" name="Google Shape;126;g321a274a146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21a274a146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33" name="Google Shape;133;g321a274a146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21a274a146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2" name="Google Shape;142;g321a274a146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21a274a146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0" name="Google Shape;150;g321a274a146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21a274a146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8" name="Google Shape;158;g321a274a146_0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21a274a146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6" name="Google Shape;166;g321a274a146_0_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21a274a146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4" name="Google Shape;174;g321a274a146_0_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21a274a146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2" name="Google Shape;182;g321a274a146_0_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21a274a146_0_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90" name="Google Shape;190;g321a274a146_0_1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1fef00ada2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98" name="Google Shape;198;g31fef00ada2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21a274a146_0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05" name="Google Shape;205;g321a274a146_0_1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21a274a146_0_1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12" name="Google Shape;212;g321a274a146_0_1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21a274a146_0_1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19" name="Google Shape;219;g321a274a146_0_1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21a274a146_0_1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26" name="Google Shape;226;g321a274a146_0_1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21a274a146_0_1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34" name="Google Shape;234;g321a274a146_0_1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21a274a146_0_1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42" name="Google Shape;242;g321a274a146_0_1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21a274a146_0_1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50" name="Google Shape;250;g321a274a146_0_1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21a274a146_0_2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58" name="Google Shape;258;g321a274a146_0_2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21a274a146_0_2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66" name="Google Shape;266;g321a274a146_0_2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21a274a146_0_2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75" name="Google Shape;275;g321a274a146_0_2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21a274a146_0_2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84" name="Google Shape;284;g321a274a146_0_2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208ef83a8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93" name="Google Shape;293;g3208ef83a8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21a274a146_0_2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300" name="Google Shape;300;g321a274a146_0_2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21a274a146_0_2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307" name="Google Shape;307;g321a274a146_0_2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21a274a146_0_2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314" name="Google Shape;314;g321a274a146_0_2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4: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 name="Google Shape;322;p4: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4337fc5d25_0_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4337fc5d25_0_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g14337fc5d25_0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g14337fc5d25_0_2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337fc5d25_0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g14337fc5d25_0_2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 name="Google Shape;24;g14337fc5d25_0_2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g14337fc5d25_0_2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 name="Google Shape;27;g14337fc5d25_0_2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8" name="Google Shape;28;g14337fc5d25_0_2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 name="Google Shape;29;g14337fc5d25_0_2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0" name="Google Shape;30;g14337fc5d25_0_2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g14337fc5d25_0_2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3" name="Google Shape;33;g14337fc5d25_0_2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g14337fc5d25_0_2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6" name="Google Shape;36;g14337fc5d25_0_2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7" name="Google Shape;37;g14337fc5d25_0_2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8" name="Shape 38"/>
        <p:cNvGrpSpPr/>
        <p:nvPr/>
      </p:nvGrpSpPr>
      <p:grpSpPr>
        <a:xfrm>
          <a:off x="0" y="0"/>
          <a:ext cx="0" cy="0"/>
          <a:chOff x="0" y="0"/>
          <a:chExt cx="0" cy="0"/>
        </a:xfrm>
      </p:grpSpPr>
      <p:pic>
        <p:nvPicPr>
          <p:cNvPr descr="A close up of a logo&#10;&#10;Description generated with high confidence" id="39" name="Google Shape;39;g14337fc5d25_0_25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0" name="Google Shape;40;g14337fc5d25_0_25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1" name="Google Shape;41;g14337fc5d25_0_25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2" name="Google Shape;42;g14337fc5d25_0_25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3" name="Google Shape;43;g14337fc5d25_0_25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4" name="Shape 44"/>
        <p:cNvGrpSpPr/>
        <p:nvPr/>
      </p:nvGrpSpPr>
      <p:grpSpPr>
        <a:xfrm>
          <a:off x="0" y="0"/>
          <a:ext cx="0" cy="0"/>
          <a:chOff x="0" y="0"/>
          <a:chExt cx="0" cy="0"/>
        </a:xfrm>
      </p:grpSpPr>
      <p:sp>
        <p:nvSpPr>
          <p:cNvPr id="45" name="Google Shape;45;g31fef00ada2_0_12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6" name="Google Shape;46;g31fef00ada2_0_12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 name="Google Shape;47;g31fef00ada2_0_12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8" name="Google Shape;48;g31fef00ada2_0_12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9" name="Google Shape;49;g31fef00ada2_0_1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5" name="Shape 55"/>
        <p:cNvGrpSpPr/>
        <p:nvPr/>
      </p:nvGrpSpPr>
      <p:grpSpPr>
        <a:xfrm>
          <a:off x="0" y="0"/>
          <a:ext cx="0" cy="0"/>
          <a:chOff x="0" y="0"/>
          <a:chExt cx="0" cy="0"/>
        </a:xfrm>
      </p:grpSpPr>
      <p:sp>
        <p:nvSpPr>
          <p:cNvPr id="56" name="Google Shape;56;g14337fc5d25_0_8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g14337fc5d25_0_8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8" name="Google Shape;58;g14337fc5d25_0_8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9" name="Google Shape;59;g14337fc5d25_0_8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2" name="Google Shape;62;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3" name="Google Shape;63;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64" name="Shape 64"/>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 name="Shape 65"/>
        <p:cNvGrpSpPr/>
        <p:nvPr/>
      </p:nvGrpSpPr>
      <p:grpSpPr>
        <a:xfrm>
          <a:off x="0" y="0"/>
          <a:ext cx="0" cy="0"/>
          <a:chOff x="0" y="0"/>
          <a:chExt cx="0" cy="0"/>
        </a:xfrm>
      </p:grpSpPr>
      <p:sp>
        <p:nvSpPr>
          <p:cNvPr id="66" name="Google Shape;66;g14337fc5d25_0_8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7" name="Google Shape;67;g14337fc5d25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g14337fc5d25_0_8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0" name="Google Shape;70;g14337fc5d25_0_8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1" name="Shape 71"/>
        <p:cNvGrpSpPr/>
        <p:nvPr/>
      </p:nvGrpSpPr>
      <p:grpSpPr>
        <a:xfrm>
          <a:off x="0" y="0"/>
          <a:ext cx="0" cy="0"/>
          <a:chOff x="0" y="0"/>
          <a:chExt cx="0" cy="0"/>
        </a:xfrm>
      </p:grpSpPr>
      <p:sp>
        <p:nvSpPr>
          <p:cNvPr id="72" name="Google Shape;72;g14337fc5d25_0_85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3" name="Google Shape;73;g14337fc5d25_0_85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4" name="Google Shape;74;g14337fc5d25_0_8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5" name="Shape 75"/>
        <p:cNvGrpSpPr/>
        <p:nvPr/>
      </p:nvGrpSpPr>
      <p:grpSpPr>
        <a:xfrm>
          <a:off x="0" y="0"/>
          <a:ext cx="0" cy="0"/>
          <a:chOff x="0" y="0"/>
          <a:chExt cx="0" cy="0"/>
        </a:xfrm>
      </p:grpSpPr>
      <p:sp>
        <p:nvSpPr>
          <p:cNvPr id="76" name="Google Shape;76;g14337fc5d25_0_86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7" name="Google Shape;77;g14337fc5d25_0_8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8" name="Shape 78"/>
        <p:cNvGrpSpPr/>
        <p:nvPr/>
      </p:nvGrpSpPr>
      <p:grpSpPr>
        <a:xfrm>
          <a:off x="0" y="0"/>
          <a:ext cx="0" cy="0"/>
          <a:chOff x="0" y="0"/>
          <a:chExt cx="0" cy="0"/>
        </a:xfrm>
      </p:grpSpPr>
      <p:sp>
        <p:nvSpPr>
          <p:cNvPr id="79" name="Google Shape;79;g14337fc5d25_0_8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80" name="Google Shape;80;g14337fc5d25_0_8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1" name="Google Shape;81;g14337fc5d25_0_8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2" name="Google Shape;82;g14337fc5d25_0_8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83" name="Google Shape;83;g14337fc5d25_0_8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4" name="Shape 84"/>
        <p:cNvGrpSpPr/>
        <p:nvPr/>
      </p:nvGrpSpPr>
      <p:grpSpPr>
        <a:xfrm>
          <a:off x="0" y="0"/>
          <a:ext cx="0" cy="0"/>
          <a:chOff x="0" y="0"/>
          <a:chExt cx="0" cy="0"/>
        </a:xfrm>
      </p:grpSpPr>
      <p:sp>
        <p:nvSpPr>
          <p:cNvPr id="85" name="Google Shape;85;g14337fc5d25_0_87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86" name="Google Shape;86;g14337fc5d25_0_8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7" name="Shape 87"/>
        <p:cNvGrpSpPr/>
        <p:nvPr/>
      </p:nvGrpSpPr>
      <p:grpSpPr>
        <a:xfrm>
          <a:off x="0" y="0"/>
          <a:ext cx="0" cy="0"/>
          <a:chOff x="0" y="0"/>
          <a:chExt cx="0" cy="0"/>
        </a:xfrm>
      </p:grpSpPr>
      <p:sp>
        <p:nvSpPr>
          <p:cNvPr id="88" name="Google Shape;88;g14337fc5d25_0_87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9" name="Google Shape;89;g14337fc5d25_0_87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90" name="Google Shape;90;g14337fc5d25_0_8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1" name="Shape 91"/>
        <p:cNvGrpSpPr/>
        <p:nvPr/>
      </p:nvGrpSpPr>
      <p:grpSpPr>
        <a:xfrm>
          <a:off x="0" y="0"/>
          <a:ext cx="0" cy="0"/>
          <a:chOff x="0" y="0"/>
          <a:chExt cx="0" cy="0"/>
        </a:xfrm>
      </p:grpSpPr>
      <p:sp>
        <p:nvSpPr>
          <p:cNvPr id="92" name="Google Shape;92;g14337fc5d25_0_8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2.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0.xml"/><Relationship Id="rId10" Type="http://schemas.openxmlformats.org/officeDocument/2006/relationships/slideLayout" Target="../slideLayouts/slideLayout19.xml"/><Relationship Id="rId13" Type="http://schemas.openxmlformats.org/officeDocument/2006/relationships/theme" Target="../theme/theme3.xml"/><Relationship Id="rId12" Type="http://schemas.openxmlformats.org/officeDocument/2006/relationships/slideLayout" Target="../slideLayouts/slideLayout21.xml"/><Relationship Id="rId1" Type="http://schemas.openxmlformats.org/officeDocument/2006/relationships/image" Target="../media/image1.jpg"/><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14337fc5d25_0_2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337fc5d25_0_2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337fc5d25_0_2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4337fc5d25_0_22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g14337fc5d25_0_8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g14337fc5d25_0_8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g14337fc5d25_0_8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54" name="Google Shape;54;g14337fc5d25_0_837"/>
          <p:cNvPicPr preferRelativeResize="0"/>
          <p:nvPr/>
        </p:nvPicPr>
        <p:blipFill rotWithShape="1">
          <a:blip r:embed="rId1">
            <a:alphaModFix/>
          </a:blip>
          <a:srcRect b="0" l="0" r="0" t="0"/>
          <a:stretch/>
        </p:blipFill>
        <p:spPr>
          <a:xfrm>
            <a:off x="-1" y="7219"/>
            <a:ext cx="9144003"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9.png"/><Relationship Id="rId4" Type="http://schemas.openxmlformats.org/officeDocument/2006/relationships/hyperlink" Target="https://learn.codemithra.com/"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8.jp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98" name="Google Shape;98;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99" name="Google Shape;99;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100" name="Google Shape;100;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101" name="Google Shape;101;p2"/>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07" name="Google Shape;107;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08" name="Google Shape;108;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09" name="Google Shape;109;p3"/>
          <p:cNvSpPr txBox="1"/>
          <p:nvPr/>
        </p:nvSpPr>
        <p:spPr>
          <a:xfrm>
            <a:off x="140951" y="2260382"/>
            <a:ext cx="4690800" cy="523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200"/>
              <a:buFont typeface="Arial"/>
              <a:buNone/>
            </a:pPr>
            <a:r>
              <a:rPr b="1" lang="en-GB" sz="2200">
                <a:solidFill>
                  <a:schemeClr val="lt1"/>
                </a:solidFill>
                <a:latin typeface="Times New Roman"/>
                <a:ea typeface="Times New Roman"/>
                <a:cs typeface="Times New Roman"/>
                <a:sym typeface="Times New Roman"/>
              </a:rPr>
              <a:t>BASIC I/O OPERATIONS IN JAVA</a:t>
            </a:r>
            <a:endParaRPr b="1" i="0" sz="22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14337fc5d25_0_21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115" name="Google Shape;115;g14337fc5d25_0_216"/>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330200" lvl="0" marL="457200" rtl="0" algn="just">
              <a:lnSpc>
                <a:spcPct val="150000"/>
              </a:lnSpc>
              <a:spcBef>
                <a:spcPts val="0"/>
              </a:spcBef>
              <a:spcAft>
                <a:spcPts val="0"/>
              </a:spcAft>
              <a:buClr>
                <a:schemeClr val="dk1"/>
              </a:buClr>
              <a:buSzPts val="1600"/>
              <a:buFont typeface="Roboto"/>
              <a:buChar char="●"/>
            </a:pPr>
            <a:r>
              <a:rPr lang="en-GB" sz="1600">
                <a:solidFill>
                  <a:schemeClr val="dk1"/>
                </a:solidFill>
                <a:highlight>
                  <a:schemeClr val="lt1"/>
                </a:highlight>
                <a:latin typeface="Roboto"/>
                <a:ea typeface="Roboto"/>
                <a:cs typeface="Roboto"/>
                <a:sym typeface="Roboto"/>
              </a:rPr>
              <a:t>he Java.io.Console class provides methods to access the character-based console device, if any, associated with the current Java virtual machine. The Console class was added to java.io by JDK 6.</a:t>
            </a:r>
            <a:endParaRPr sz="1600">
              <a:solidFill>
                <a:schemeClr val="dk1"/>
              </a:solidFill>
              <a:highlight>
                <a:schemeClr val="lt1"/>
              </a:highlight>
              <a:latin typeface="Roboto"/>
              <a:ea typeface="Roboto"/>
              <a:cs typeface="Roboto"/>
              <a:sym typeface="Roboto"/>
            </a:endParaRPr>
          </a:p>
          <a:p>
            <a:pPr indent="-330200" lvl="0" marL="457200" rtl="0" algn="l">
              <a:lnSpc>
                <a:spcPct val="158000"/>
              </a:lnSpc>
              <a:spcBef>
                <a:spcPts val="0"/>
              </a:spcBef>
              <a:spcAft>
                <a:spcPts val="0"/>
              </a:spcAft>
              <a:buClr>
                <a:schemeClr val="dk1"/>
              </a:buClr>
              <a:buSzPts val="1600"/>
              <a:buFont typeface="Roboto"/>
              <a:buChar char="●"/>
            </a:pPr>
            <a:r>
              <a:rPr lang="en-GB" sz="1600">
                <a:solidFill>
                  <a:schemeClr val="dk1"/>
                </a:solidFill>
                <a:highlight>
                  <a:schemeClr val="lt1"/>
                </a:highlight>
                <a:latin typeface="Roboto"/>
                <a:ea typeface="Roboto"/>
                <a:cs typeface="Roboto"/>
                <a:sym typeface="Roboto"/>
              </a:rPr>
              <a:t>It is used to read from and write to the console, if one exists.</a:t>
            </a:r>
            <a:endParaRPr sz="1600">
              <a:solidFill>
                <a:schemeClr val="dk1"/>
              </a:solidFill>
              <a:highlight>
                <a:schemeClr val="lt1"/>
              </a:highlight>
              <a:latin typeface="Roboto"/>
              <a:ea typeface="Roboto"/>
              <a:cs typeface="Roboto"/>
              <a:sym typeface="Roboto"/>
            </a:endParaRPr>
          </a:p>
          <a:p>
            <a:pPr indent="0" lvl="0" marL="457200" rtl="0" algn="just">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457200" marR="0" rtl="0" algn="just">
              <a:lnSpc>
                <a:spcPct val="150000"/>
              </a:lnSpc>
              <a:spcBef>
                <a:spcPts val="0"/>
              </a:spcBef>
              <a:spcAft>
                <a:spcPts val="0"/>
              </a:spcAft>
              <a:buNone/>
            </a:pPr>
            <a:r>
              <a:t/>
            </a:r>
            <a:endParaRPr sz="1600">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16" name="Google Shape;116;g14337fc5d25_0_216"/>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USING CONSOLE CLASSES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21a274a146_0_0"/>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122" name="Google Shape;122;g321a274a146_0_0"/>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330200" lvl="0" marL="457200" rtl="0" algn="just">
              <a:lnSpc>
                <a:spcPct val="150000"/>
              </a:lnSpc>
              <a:spcBef>
                <a:spcPts val="0"/>
              </a:spcBef>
              <a:spcAft>
                <a:spcPts val="0"/>
              </a:spcAft>
              <a:buClr>
                <a:schemeClr val="dk1"/>
              </a:buClr>
              <a:buSzPts val="1600"/>
              <a:buFont typeface="Roboto"/>
              <a:buChar char="●"/>
            </a:pPr>
            <a:r>
              <a:rPr lang="en-GB" sz="1600">
                <a:solidFill>
                  <a:schemeClr val="dk1"/>
                </a:solidFill>
                <a:highlight>
                  <a:schemeClr val="lt1"/>
                </a:highlight>
                <a:latin typeface="Roboto"/>
                <a:ea typeface="Roboto"/>
                <a:cs typeface="Roboto"/>
                <a:sym typeface="Roboto"/>
              </a:rPr>
              <a:t>Console is primarily a convenience class because most of its functionality is available through System.in and System.out. However, its use can simplify some types of console interactions, especially when reading strings from the console.</a:t>
            </a:r>
            <a:endParaRPr sz="1600">
              <a:solidFill>
                <a:schemeClr val="dk1"/>
              </a:solidFill>
              <a:highlight>
                <a:schemeClr val="lt1"/>
              </a:highlight>
              <a:latin typeface="Roboto"/>
              <a:ea typeface="Roboto"/>
              <a:cs typeface="Roboto"/>
              <a:sym typeface="Roboto"/>
            </a:endParaRPr>
          </a:p>
          <a:p>
            <a:pPr indent="-330200" lvl="0" marL="457200" rtl="0" algn="just">
              <a:lnSpc>
                <a:spcPct val="150000"/>
              </a:lnSpc>
              <a:spcBef>
                <a:spcPts val="0"/>
              </a:spcBef>
              <a:spcAft>
                <a:spcPts val="0"/>
              </a:spcAft>
              <a:buClr>
                <a:schemeClr val="dk1"/>
              </a:buClr>
              <a:buSzPts val="1600"/>
              <a:buFont typeface="Roboto"/>
              <a:buChar char="●"/>
            </a:pPr>
            <a:r>
              <a:rPr lang="en-GB" sz="1600">
                <a:solidFill>
                  <a:schemeClr val="dk1"/>
                </a:solidFill>
                <a:highlight>
                  <a:schemeClr val="lt1"/>
                </a:highlight>
                <a:latin typeface="Roboto"/>
                <a:ea typeface="Roboto"/>
                <a:cs typeface="Roboto"/>
                <a:sym typeface="Roboto"/>
              </a:rPr>
              <a:t>Console supplies no constructors. Instead, a Console object is obtained by calling System.console( ), which is shown here:</a:t>
            </a:r>
            <a:endParaRPr sz="1600">
              <a:solidFill>
                <a:schemeClr val="dk1"/>
              </a:solidFill>
              <a:highlight>
                <a:schemeClr val="lt1"/>
              </a:highlight>
              <a:latin typeface="Roboto"/>
              <a:ea typeface="Roboto"/>
              <a:cs typeface="Roboto"/>
              <a:sym typeface="Roboto"/>
            </a:endParaRPr>
          </a:p>
          <a:p>
            <a:pPr indent="0" lvl="0" marL="457200" rtl="0" algn="l">
              <a:lnSpc>
                <a:spcPct val="158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marR="101600" rtl="0" algn="ctr">
              <a:lnSpc>
                <a:spcPct val="158000"/>
              </a:lnSpc>
              <a:spcBef>
                <a:spcPts val="0"/>
              </a:spcBef>
              <a:spcAft>
                <a:spcPts val="0"/>
              </a:spcAft>
              <a:buNone/>
            </a:pPr>
            <a:r>
              <a:rPr b="1" lang="en-GB" sz="1600">
                <a:highlight>
                  <a:srgbClr val="FFFFFF"/>
                </a:highlight>
                <a:latin typeface="Roboto"/>
                <a:ea typeface="Roboto"/>
                <a:cs typeface="Roboto"/>
                <a:sym typeface="Roboto"/>
              </a:rPr>
              <a:t>static  Console console( )</a:t>
            </a:r>
            <a:endParaRPr b="1" sz="1600">
              <a:highlight>
                <a:srgbClr val="FFFFFF"/>
              </a:highlight>
              <a:latin typeface="Roboto"/>
              <a:ea typeface="Roboto"/>
              <a:cs typeface="Roboto"/>
              <a:sym typeface="Roboto"/>
            </a:endParaRPr>
          </a:p>
          <a:p>
            <a:pPr indent="0" lvl="0" marL="457200" rtl="0" algn="just">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457200" marR="0" rtl="0" algn="just">
              <a:lnSpc>
                <a:spcPct val="150000"/>
              </a:lnSpc>
              <a:spcBef>
                <a:spcPts val="0"/>
              </a:spcBef>
              <a:spcAft>
                <a:spcPts val="0"/>
              </a:spcAft>
              <a:buNone/>
            </a:pPr>
            <a:r>
              <a:t/>
            </a:r>
            <a:endParaRPr sz="1600">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23" name="Google Shape;123;g321a274a146_0_0"/>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USING CONSOLE CLASSES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21a274a146_0_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129" name="Google Shape;129;g321a274a146_0_6"/>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330200" lvl="0" marL="457200" rtl="0" algn="just">
              <a:lnSpc>
                <a:spcPct val="150000"/>
              </a:lnSpc>
              <a:spcBef>
                <a:spcPts val="0"/>
              </a:spcBef>
              <a:spcAft>
                <a:spcPts val="0"/>
              </a:spcAft>
              <a:buClr>
                <a:schemeClr val="dk1"/>
              </a:buClr>
              <a:buSzPts val="1600"/>
              <a:buFont typeface="Roboto"/>
              <a:buChar char="●"/>
            </a:pPr>
            <a:r>
              <a:rPr lang="en-GB" sz="1600">
                <a:solidFill>
                  <a:schemeClr val="dk1"/>
                </a:solidFill>
                <a:highlight>
                  <a:schemeClr val="lt1"/>
                </a:highlight>
                <a:latin typeface="Roboto"/>
                <a:ea typeface="Roboto"/>
                <a:cs typeface="Roboto"/>
                <a:sym typeface="Roboto"/>
              </a:rPr>
              <a:t>If a console is available, then a reference to it is returned. Otherwise, null is returned. A console will not be available in all cases. Thus, if null is returned, no console I/O is possible.</a:t>
            </a:r>
            <a:endParaRPr sz="1600">
              <a:solidFill>
                <a:schemeClr val="dk1"/>
              </a:solidFill>
              <a:highlight>
                <a:schemeClr val="lt1"/>
              </a:highlight>
              <a:latin typeface="Roboto"/>
              <a:ea typeface="Roboto"/>
              <a:cs typeface="Roboto"/>
              <a:sym typeface="Roboto"/>
            </a:endParaRPr>
          </a:p>
          <a:p>
            <a:pPr indent="-330200" lvl="0" marL="457200" rtl="0" algn="just">
              <a:lnSpc>
                <a:spcPct val="150000"/>
              </a:lnSpc>
              <a:spcBef>
                <a:spcPts val="0"/>
              </a:spcBef>
              <a:spcAft>
                <a:spcPts val="0"/>
              </a:spcAft>
              <a:buClr>
                <a:schemeClr val="dk1"/>
              </a:buClr>
              <a:buSzPts val="1600"/>
              <a:buFont typeface="Roboto"/>
              <a:buChar char="●"/>
            </a:pPr>
            <a:r>
              <a:rPr lang="en-GB" sz="1600">
                <a:solidFill>
                  <a:schemeClr val="dk1"/>
                </a:solidFill>
                <a:highlight>
                  <a:schemeClr val="lt1"/>
                </a:highlight>
                <a:latin typeface="Roboto"/>
                <a:ea typeface="Roboto"/>
                <a:cs typeface="Roboto"/>
                <a:sym typeface="Roboto"/>
              </a:rPr>
              <a:t>It provides methods to read text and password. If you read password using Console class, it will not be displayed to the user.The java.io.Console class is attached with system console internally.</a:t>
            </a:r>
            <a:endParaRPr sz="1600">
              <a:solidFill>
                <a:schemeClr val="dk1"/>
              </a:solidFill>
              <a:highlight>
                <a:schemeClr val="lt1"/>
              </a:highlight>
              <a:latin typeface="Roboto"/>
              <a:ea typeface="Roboto"/>
              <a:cs typeface="Roboto"/>
              <a:sym typeface="Roboto"/>
            </a:endParaRPr>
          </a:p>
          <a:p>
            <a:pPr indent="0" lvl="0" marL="457200" rtl="0" algn="just">
              <a:lnSpc>
                <a:spcPct val="150000"/>
              </a:lnSpc>
              <a:spcBef>
                <a:spcPts val="3600"/>
              </a:spcBef>
              <a:spcAft>
                <a:spcPts val="0"/>
              </a:spcAft>
              <a:buClr>
                <a:schemeClr val="dk1"/>
              </a:buClr>
              <a:buSzPts val="1800"/>
              <a:buFont typeface="Arial"/>
              <a:buNone/>
            </a:pPr>
            <a:r>
              <a:t/>
            </a:r>
            <a:endParaRPr sz="1600">
              <a:solidFill>
                <a:schemeClr val="dk1"/>
              </a:solidFill>
              <a:highlight>
                <a:schemeClr val="lt1"/>
              </a:highlight>
              <a:latin typeface="Roboto"/>
              <a:ea typeface="Roboto"/>
              <a:cs typeface="Roboto"/>
              <a:sym typeface="Roboto"/>
            </a:endParaRPr>
          </a:p>
          <a:p>
            <a:pPr indent="0" lvl="0" marL="457200" rtl="0" algn="just">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457200" marR="0" rtl="0" algn="just">
              <a:lnSpc>
                <a:spcPct val="150000"/>
              </a:lnSpc>
              <a:spcBef>
                <a:spcPts val="0"/>
              </a:spcBef>
              <a:spcAft>
                <a:spcPts val="0"/>
              </a:spcAft>
              <a:buNone/>
            </a:pPr>
            <a:r>
              <a:t/>
            </a:r>
            <a:endParaRPr sz="1600">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30" name="Google Shape;130;g321a274a146_0_6"/>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USING CONSOLE CLASSES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21a274a146_0_12"/>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136" name="Google Shape;136;g321a274a146_0_12"/>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330200" lvl="0" marL="457200" rtl="0" algn="l">
              <a:lnSpc>
                <a:spcPct val="150000"/>
              </a:lnSpc>
              <a:spcBef>
                <a:spcPts val="0"/>
              </a:spcBef>
              <a:spcAft>
                <a:spcPts val="0"/>
              </a:spcAft>
              <a:buClr>
                <a:schemeClr val="dk1"/>
              </a:buClr>
              <a:buSzPts val="1600"/>
              <a:buFont typeface="Roboto"/>
              <a:buChar char="●"/>
            </a:pPr>
            <a:r>
              <a:rPr b="1" lang="en-GB" sz="1600">
                <a:solidFill>
                  <a:schemeClr val="dk1"/>
                </a:solidFill>
                <a:highlight>
                  <a:schemeClr val="lt1"/>
                </a:highlight>
                <a:latin typeface="Roboto"/>
                <a:ea typeface="Roboto"/>
                <a:cs typeface="Roboto"/>
                <a:sym typeface="Roboto"/>
              </a:rPr>
              <a:t>Writer : </a:t>
            </a:r>
            <a:r>
              <a:rPr lang="en-GB" sz="1600">
                <a:solidFill>
                  <a:schemeClr val="dk1"/>
                </a:solidFill>
                <a:highlight>
                  <a:schemeClr val="lt1"/>
                </a:highlight>
                <a:latin typeface="Roboto"/>
                <a:ea typeface="Roboto"/>
                <a:cs typeface="Roboto"/>
                <a:sym typeface="Roboto"/>
              </a:rPr>
              <a:t>Retrieves the unique PrintWriter object associated with this console.</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public PrintWriter writer() </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Returns: The printwriter associated with this console</a:t>
            </a:r>
            <a:endParaRPr sz="1600">
              <a:solidFill>
                <a:schemeClr val="dk1"/>
              </a:solidFill>
              <a:highlight>
                <a:schemeClr val="lt1"/>
              </a:highlight>
              <a:latin typeface="Roboto"/>
              <a:ea typeface="Roboto"/>
              <a:cs typeface="Roboto"/>
              <a:sym typeface="Roboto"/>
            </a:endParaRPr>
          </a:p>
          <a:p>
            <a:pPr indent="0" lvl="0" marL="0" rtl="0" algn="just">
              <a:lnSpc>
                <a:spcPct val="150000"/>
              </a:lnSpc>
              <a:spcBef>
                <a:spcPts val="3600"/>
              </a:spcBef>
              <a:spcAft>
                <a:spcPts val="0"/>
              </a:spcAft>
              <a:buNone/>
            </a:pPr>
            <a:r>
              <a:t/>
            </a:r>
            <a:endParaRPr sz="1600">
              <a:solidFill>
                <a:schemeClr val="dk1"/>
              </a:solidFill>
              <a:highlight>
                <a:schemeClr val="lt1"/>
              </a:highlight>
              <a:latin typeface="Roboto"/>
              <a:ea typeface="Roboto"/>
              <a:cs typeface="Roboto"/>
              <a:sym typeface="Roboto"/>
            </a:endParaRPr>
          </a:p>
          <a:p>
            <a:pPr indent="-330200" lvl="0" marL="457200" rtl="0" algn="l">
              <a:lnSpc>
                <a:spcPct val="150000"/>
              </a:lnSpc>
              <a:spcBef>
                <a:spcPts val="0"/>
              </a:spcBef>
              <a:spcAft>
                <a:spcPts val="0"/>
              </a:spcAft>
              <a:buClr>
                <a:schemeClr val="dk1"/>
              </a:buClr>
              <a:buSzPts val="1600"/>
              <a:buFont typeface="Roboto"/>
              <a:buChar char="●"/>
            </a:pPr>
            <a:r>
              <a:rPr b="1" lang="en-GB" sz="1600">
                <a:solidFill>
                  <a:schemeClr val="dk1"/>
                </a:solidFill>
                <a:highlight>
                  <a:schemeClr val="lt1"/>
                </a:highlight>
                <a:latin typeface="Roboto"/>
                <a:ea typeface="Roboto"/>
                <a:cs typeface="Roboto"/>
                <a:sym typeface="Roboto"/>
              </a:rPr>
              <a:t>Reader : </a:t>
            </a:r>
            <a:r>
              <a:rPr lang="en-GB" sz="1600">
                <a:solidFill>
                  <a:schemeClr val="dk1"/>
                </a:solidFill>
                <a:highlight>
                  <a:schemeClr val="lt1"/>
                </a:highlight>
                <a:latin typeface="Roboto"/>
                <a:ea typeface="Roboto"/>
                <a:cs typeface="Roboto"/>
                <a:sym typeface="Roboto"/>
              </a:rPr>
              <a:t>Retrieves the unique Reader object associated with this console.</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public Reader reader() </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Returns: The reader associated with this console</a:t>
            </a:r>
            <a:endParaRPr sz="1600">
              <a:solidFill>
                <a:schemeClr val="dk1"/>
              </a:solidFill>
              <a:highlight>
                <a:schemeClr val="lt1"/>
              </a:highlight>
              <a:latin typeface="Roboto"/>
              <a:ea typeface="Roboto"/>
              <a:cs typeface="Roboto"/>
              <a:sym typeface="Roboto"/>
            </a:endParaRPr>
          </a:p>
          <a:p>
            <a:pPr indent="0" lvl="0" marL="457200" rtl="0" algn="just">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457200" marR="0" rtl="0" algn="just">
              <a:lnSpc>
                <a:spcPct val="150000"/>
              </a:lnSpc>
              <a:spcBef>
                <a:spcPts val="0"/>
              </a:spcBef>
              <a:spcAft>
                <a:spcPts val="0"/>
              </a:spcAft>
              <a:buNone/>
            </a:pPr>
            <a:r>
              <a:t/>
            </a:r>
            <a:endParaRPr sz="1600">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37" name="Google Shape;137;g321a274a146_0_12"/>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USING CONSOLE CLASSES</a:t>
            </a:r>
            <a:endParaRPr b="0" i="0" sz="1400" u="none" cap="none" strike="noStrike">
              <a:solidFill>
                <a:srgbClr val="000000"/>
              </a:solidFill>
              <a:latin typeface="Arial"/>
              <a:ea typeface="Arial"/>
              <a:cs typeface="Arial"/>
              <a:sym typeface="Arial"/>
            </a:endParaRPr>
          </a:p>
        </p:txBody>
      </p:sp>
      <p:graphicFrame>
        <p:nvGraphicFramePr>
          <p:cNvPr id="138" name="Google Shape;138;g321a274a146_0_12"/>
          <p:cNvGraphicFramePr/>
          <p:nvPr/>
        </p:nvGraphicFramePr>
        <p:xfrm>
          <a:off x="720725" y="1793150"/>
          <a:ext cx="3000000" cy="3000000"/>
        </p:xfrm>
        <a:graphic>
          <a:graphicData uri="http://schemas.openxmlformats.org/drawingml/2006/table">
            <a:tbl>
              <a:tblPr>
                <a:noFill/>
                <a:tableStyleId>{1921DF1F-D312-4963-84A1-6E1B234B04DC}</a:tableStyleId>
              </a:tblPr>
              <a:tblGrid>
                <a:gridCol w="7245725"/>
              </a:tblGrid>
              <a:tr h="942700">
                <a:tc>
                  <a:txBody>
                    <a:bodyPr/>
                    <a:lstStyle/>
                    <a:p>
                      <a:pPr indent="0" lvl="0" marL="0" rtl="0" algn="l">
                        <a:spcBef>
                          <a:spcPts val="0"/>
                        </a:spcBef>
                        <a:spcAft>
                          <a:spcPts val="0"/>
                        </a:spcAft>
                        <a:buNone/>
                      </a:pPr>
                      <a:r>
                        <a:rPr lang="en-GB"/>
                        <a:t>                                                  </a:t>
                      </a:r>
                      <a:endParaRPr/>
                    </a:p>
                  </a:txBody>
                  <a:tcPr marT="91425" marB="91425" marR="91425" marL="91425"/>
                </a:tc>
              </a:tr>
            </a:tbl>
          </a:graphicData>
        </a:graphic>
      </p:graphicFrame>
      <p:graphicFrame>
        <p:nvGraphicFramePr>
          <p:cNvPr id="139" name="Google Shape;139;g321a274a146_0_12"/>
          <p:cNvGraphicFramePr/>
          <p:nvPr/>
        </p:nvGraphicFramePr>
        <p:xfrm>
          <a:off x="720725" y="3764475"/>
          <a:ext cx="3000000" cy="3000000"/>
        </p:xfrm>
        <a:graphic>
          <a:graphicData uri="http://schemas.openxmlformats.org/drawingml/2006/table">
            <a:tbl>
              <a:tblPr>
                <a:noFill/>
                <a:tableStyleId>{1921DF1F-D312-4963-84A1-6E1B234B04DC}</a:tableStyleId>
              </a:tblPr>
              <a:tblGrid>
                <a:gridCol w="7245725"/>
              </a:tblGrid>
              <a:tr h="942700">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21a274a146_0_18"/>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145" name="Google Shape;145;g321a274a146_0_18"/>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330200" lvl="0" marL="457200" rtl="0" algn="l">
              <a:lnSpc>
                <a:spcPct val="150000"/>
              </a:lnSpc>
              <a:spcBef>
                <a:spcPts val="0"/>
              </a:spcBef>
              <a:spcAft>
                <a:spcPts val="0"/>
              </a:spcAft>
              <a:buClr>
                <a:schemeClr val="dk1"/>
              </a:buClr>
              <a:buSzPts val="1600"/>
              <a:buFont typeface="Roboto"/>
              <a:buChar char="●"/>
            </a:pPr>
            <a:r>
              <a:rPr b="1" lang="en-GB" sz="1600">
                <a:solidFill>
                  <a:schemeClr val="dk1"/>
                </a:solidFill>
                <a:highlight>
                  <a:schemeClr val="lt1"/>
                </a:highlight>
                <a:latin typeface="Roboto"/>
                <a:ea typeface="Roboto"/>
                <a:cs typeface="Roboto"/>
                <a:sym typeface="Roboto"/>
              </a:rPr>
              <a:t>Format :</a:t>
            </a:r>
            <a:r>
              <a:rPr lang="en-GB" sz="1600">
                <a:solidFill>
                  <a:schemeClr val="dk1"/>
                </a:solidFill>
                <a:highlight>
                  <a:schemeClr val="lt1"/>
                </a:highlight>
                <a:latin typeface="Roboto"/>
                <a:ea typeface="Roboto"/>
                <a:cs typeface="Roboto"/>
                <a:sym typeface="Roboto"/>
              </a:rPr>
              <a:t> Writes a formatted string to this console’s output stream using the specified format string and arguments.</a:t>
            </a:r>
            <a:endParaRPr b="1"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public Console format(String fmt, Object... args)</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Parameters:</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Returns:This console</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Throws: IllegalFormatException</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rtl="0" algn="just">
              <a:lnSpc>
                <a:spcPct val="150000"/>
              </a:lnSpc>
              <a:spcBef>
                <a:spcPts val="360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46" name="Google Shape;146;g321a274a146_0_18"/>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USING CONSOLE CLASSES</a:t>
            </a:r>
            <a:endParaRPr b="0" i="0" sz="1400" u="none" cap="none" strike="noStrike">
              <a:solidFill>
                <a:srgbClr val="000000"/>
              </a:solidFill>
              <a:latin typeface="Arial"/>
              <a:ea typeface="Arial"/>
              <a:cs typeface="Arial"/>
              <a:sym typeface="Arial"/>
            </a:endParaRPr>
          </a:p>
        </p:txBody>
      </p:sp>
      <p:graphicFrame>
        <p:nvGraphicFramePr>
          <p:cNvPr id="147" name="Google Shape;147;g321a274a146_0_18"/>
          <p:cNvGraphicFramePr/>
          <p:nvPr/>
        </p:nvGraphicFramePr>
        <p:xfrm>
          <a:off x="833250" y="2220525"/>
          <a:ext cx="3000000" cy="3000000"/>
        </p:xfrm>
        <a:graphic>
          <a:graphicData uri="http://schemas.openxmlformats.org/drawingml/2006/table">
            <a:tbl>
              <a:tblPr>
                <a:noFill/>
                <a:tableStyleId>{1921DF1F-D312-4963-84A1-6E1B234B04DC}</a:tableStyleId>
              </a:tblPr>
              <a:tblGrid>
                <a:gridCol w="7824400"/>
              </a:tblGrid>
              <a:tr h="1666875">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21a274a146_0_24"/>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153" name="Google Shape;153;g321a274a146_0_24"/>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330200" lvl="0" marL="457200" rtl="0" algn="l">
              <a:lnSpc>
                <a:spcPct val="150000"/>
              </a:lnSpc>
              <a:spcBef>
                <a:spcPts val="0"/>
              </a:spcBef>
              <a:spcAft>
                <a:spcPts val="0"/>
              </a:spcAft>
              <a:buClr>
                <a:schemeClr val="dk1"/>
              </a:buClr>
              <a:buSzPts val="1600"/>
              <a:buFont typeface="Roboto"/>
              <a:buChar char="●"/>
            </a:pPr>
            <a:r>
              <a:rPr b="1" lang="en-GB" sz="1600">
                <a:solidFill>
                  <a:schemeClr val="dk1"/>
                </a:solidFill>
                <a:highlight>
                  <a:schemeClr val="lt1"/>
                </a:highlight>
                <a:latin typeface="Roboto"/>
                <a:ea typeface="Roboto"/>
                <a:cs typeface="Roboto"/>
                <a:sym typeface="Roboto"/>
              </a:rPr>
              <a:t>printf : </a:t>
            </a:r>
            <a:r>
              <a:rPr lang="en-GB" sz="1600">
                <a:solidFill>
                  <a:schemeClr val="dk1"/>
                </a:solidFill>
                <a:highlight>
                  <a:schemeClr val="lt1"/>
                </a:highlight>
                <a:latin typeface="Roboto"/>
                <a:ea typeface="Roboto"/>
                <a:cs typeface="Roboto"/>
                <a:sym typeface="Roboto"/>
              </a:rPr>
              <a:t>A convenience method to write a formatted string to this console’s output stream using the specified format string and arguments.</a:t>
            </a:r>
            <a:endParaRPr b="1"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public Console printf(String format, Object... args)</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Parameters:</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Returns:This console</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Throws:IllegalFormatException</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rtl="0" algn="just">
              <a:lnSpc>
                <a:spcPct val="150000"/>
              </a:lnSpc>
              <a:spcBef>
                <a:spcPts val="360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54" name="Google Shape;154;g321a274a146_0_24"/>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USING CONSOLE CLASSES</a:t>
            </a:r>
            <a:endParaRPr b="0" i="0" sz="1400" u="none" cap="none" strike="noStrike">
              <a:solidFill>
                <a:srgbClr val="000000"/>
              </a:solidFill>
              <a:latin typeface="Arial"/>
              <a:ea typeface="Arial"/>
              <a:cs typeface="Arial"/>
              <a:sym typeface="Arial"/>
            </a:endParaRPr>
          </a:p>
        </p:txBody>
      </p:sp>
      <p:graphicFrame>
        <p:nvGraphicFramePr>
          <p:cNvPr id="155" name="Google Shape;155;g321a274a146_0_24"/>
          <p:cNvGraphicFramePr/>
          <p:nvPr/>
        </p:nvGraphicFramePr>
        <p:xfrm>
          <a:off x="920350" y="2381250"/>
          <a:ext cx="3000000" cy="3000000"/>
        </p:xfrm>
        <a:graphic>
          <a:graphicData uri="http://schemas.openxmlformats.org/drawingml/2006/table">
            <a:tbl>
              <a:tblPr>
                <a:noFill/>
                <a:tableStyleId>{1921DF1F-D312-4963-84A1-6E1B234B04DC}</a:tableStyleId>
              </a:tblPr>
              <a:tblGrid>
                <a:gridCol w="7271150"/>
              </a:tblGrid>
              <a:tr h="1795475">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21a274a146_0_30"/>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161" name="Google Shape;161;g321a274a146_0_30"/>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330200" lvl="0" marL="457200" rtl="0" algn="l">
              <a:lnSpc>
                <a:spcPct val="150000"/>
              </a:lnSpc>
              <a:spcBef>
                <a:spcPts val="0"/>
              </a:spcBef>
              <a:spcAft>
                <a:spcPts val="0"/>
              </a:spcAft>
              <a:buClr>
                <a:schemeClr val="dk1"/>
              </a:buClr>
              <a:buSzPts val="1600"/>
              <a:buFont typeface="Roboto"/>
              <a:buChar char="●"/>
            </a:pPr>
            <a:r>
              <a:rPr b="1" lang="en-GB" sz="1600">
                <a:solidFill>
                  <a:schemeClr val="dk1"/>
                </a:solidFill>
                <a:highlight>
                  <a:schemeClr val="lt1"/>
                </a:highlight>
                <a:latin typeface="Roboto"/>
                <a:ea typeface="Roboto"/>
                <a:cs typeface="Roboto"/>
                <a:sym typeface="Roboto"/>
              </a:rPr>
              <a:t>ReadLine : </a:t>
            </a:r>
            <a:r>
              <a:rPr lang="en-GB" sz="1600">
                <a:solidFill>
                  <a:schemeClr val="dk1"/>
                </a:solidFill>
                <a:highlight>
                  <a:schemeClr val="lt1"/>
                </a:highlight>
                <a:latin typeface="Roboto"/>
                <a:ea typeface="Roboto"/>
                <a:cs typeface="Roboto"/>
                <a:sym typeface="Roboto"/>
              </a:rPr>
              <a:t>Provides a formatted prompt, then reads a single line of text from the console.</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public String readLine(String fmt,Object... args) </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Parameters:</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Returns: </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Throws:</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IllegalFormatException</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rtl="0" algn="just">
              <a:lnSpc>
                <a:spcPct val="150000"/>
              </a:lnSpc>
              <a:spcBef>
                <a:spcPts val="360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62" name="Google Shape;162;g321a274a146_0_30"/>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USING CONSOLE CLASSES</a:t>
            </a:r>
            <a:endParaRPr b="0" i="0" sz="1400" u="none" cap="none" strike="noStrike">
              <a:solidFill>
                <a:srgbClr val="000000"/>
              </a:solidFill>
              <a:latin typeface="Arial"/>
              <a:ea typeface="Arial"/>
              <a:cs typeface="Arial"/>
              <a:sym typeface="Arial"/>
            </a:endParaRPr>
          </a:p>
        </p:txBody>
      </p:sp>
      <p:graphicFrame>
        <p:nvGraphicFramePr>
          <p:cNvPr id="163" name="Google Shape;163;g321a274a146_0_30"/>
          <p:cNvGraphicFramePr/>
          <p:nvPr/>
        </p:nvGraphicFramePr>
        <p:xfrm>
          <a:off x="952500" y="2188350"/>
          <a:ext cx="3000000" cy="3000000"/>
        </p:xfrm>
        <a:graphic>
          <a:graphicData uri="http://schemas.openxmlformats.org/drawingml/2006/table">
            <a:tbl>
              <a:tblPr>
                <a:noFill/>
                <a:tableStyleId>{1921DF1F-D312-4963-84A1-6E1B234B04DC}</a:tableStyleId>
              </a:tblPr>
              <a:tblGrid>
                <a:gridCol w="7239000"/>
              </a:tblGrid>
              <a:tr h="1992325">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21a274a146_0_3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169" name="Google Shape;169;g321a274a146_0_36"/>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330200" lvl="0" marL="457200" rtl="0" algn="l">
              <a:lnSpc>
                <a:spcPct val="150000"/>
              </a:lnSpc>
              <a:spcBef>
                <a:spcPts val="0"/>
              </a:spcBef>
              <a:spcAft>
                <a:spcPts val="0"/>
              </a:spcAft>
              <a:buClr>
                <a:schemeClr val="dk1"/>
              </a:buClr>
              <a:buSzPts val="1600"/>
              <a:buFont typeface="Roboto"/>
              <a:buChar char="●"/>
            </a:pPr>
            <a:r>
              <a:rPr b="1" lang="en-GB" sz="1600">
                <a:solidFill>
                  <a:schemeClr val="dk1"/>
                </a:solidFill>
                <a:highlight>
                  <a:schemeClr val="lt1"/>
                </a:highlight>
                <a:latin typeface="Roboto"/>
                <a:ea typeface="Roboto"/>
                <a:cs typeface="Roboto"/>
                <a:sym typeface="Roboto"/>
              </a:rPr>
              <a:t>ReadPassword :</a:t>
            </a:r>
            <a:r>
              <a:rPr lang="en-GB" sz="1600">
                <a:solidFill>
                  <a:schemeClr val="dk1"/>
                </a:solidFill>
                <a:highlight>
                  <a:schemeClr val="lt1"/>
                </a:highlight>
                <a:latin typeface="Roboto"/>
                <a:ea typeface="Roboto"/>
                <a:cs typeface="Roboto"/>
                <a:sym typeface="Roboto"/>
              </a:rPr>
              <a:t> Reads a password or passphrase from the console with echoing disabled</a:t>
            </a:r>
            <a:endParaRPr sz="1600">
              <a:solidFill>
                <a:schemeClr val="dk1"/>
              </a:solidFill>
              <a:highlight>
                <a:schemeClr val="lt1"/>
              </a:highlight>
              <a:latin typeface="Roboto"/>
              <a:ea typeface="Roboto"/>
              <a:cs typeface="Roboto"/>
              <a:sym typeface="Roboto"/>
            </a:endParaRPr>
          </a:p>
          <a:p>
            <a:pPr indent="0" lvl="0" marL="457200" rtl="0" algn="l">
              <a:lnSpc>
                <a:spcPct val="150000"/>
              </a:lnSpc>
              <a:spcBef>
                <a:spcPts val="0"/>
              </a:spcBef>
              <a:spcAft>
                <a:spcPts val="0"/>
              </a:spcAft>
              <a:buNone/>
            </a:pPr>
            <a:r>
              <a:t/>
            </a:r>
            <a:endParaRPr b="1"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public char[] readPassword()</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Returns:</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Throws:IOError</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rtl="0" algn="just">
              <a:lnSpc>
                <a:spcPct val="150000"/>
              </a:lnSpc>
              <a:spcBef>
                <a:spcPts val="360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70" name="Google Shape;170;g321a274a146_0_36"/>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USING CONSOLE CLASSES</a:t>
            </a:r>
            <a:endParaRPr b="0" i="0" sz="1400" u="none" cap="none" strike="noStrike">
              <a:solidFill>
                <a:srgbClr val="000000"/>
              </a:solidFill>
              <a:latin typeface="Arial"/>
              <a:ea typeface="Arial"/>
              <a:cs typeface="Arial"/>
              <a:sym typeface="Arial"/>
            </a:endParaRPr>
          </a:p>
        </p:txBody>
      </p:sp>
      <p:graphicFrame>
        <p:nvGraphicFramePr>
          <p:cNvPr id="171" name="Google Shape;171;g321a274a146_0_36"/>
          <p:cNvGraphicFramePr/>
          <p:nvPr/>
        </p:nvGraphicFramePr>
        <p:xfrm>
          <a:off x="888200" y="2381250"/>
          <a:ext cx="3000000" cy="3000000"/>
        </p:xfrm>
        <a:graphic>
          <a:graphicData uri="http://schemas.openxmlformats.org/drawingml/2006/table">
            <a:tbl>
              <a:tblPr>
                <a:noFill/>
                <a:tableStyleId>{1921DF1F-D312-4963-84A1-6E1B234B04DC}</a:tableStyleId>
              </a:tblPr>
              <a:tblGrid>
                <a:gridCol w="7303300"/>
              </a:tblGrid>
              <a:tr h="1586525">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21a274a146_0_42"/>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177" name="Google Shape;177;g321a274a146_0_42"/>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330200" lvl="0" marL="457200" rtl="0" algn="l">
              <a:lnSpc>
                <a:spcPct val="150000"/>
              </a:lnSpc>
              <a:spcBef>
                <a:spcPts val="0"/>
              </a:spcBef>
              <a:spcAft>
                <a:spcPts val="0"/>
              </a:spcAft>
              <a:buClr>
                <a:schemeClr val="dk1"/>
              </a:buClr>
              <a:buSzPts val="1600"/>
              <a:buFont typeface="Roboto"/>
              <a:buChar char="●"/>
            </a:pPr>
            <a:r>
              <a:rPr b="1" lang="en-GB" sz="1600">
                <a:solidFill>
                  <a:schemeClr val="dk1"/>
                </a:solidFill>
                <a:highlight>
                  <a:schemeClr val="lt1"/>
                </a:highlight>
                <a:latin typeface="Roboto"/>
                <a:ea typeface="Roboto"/>
                <a:cs typeface="Roboto"/>
                <a:sym typeface="Roboto"/>
              </a:rPr>
              <a:t>Flush : </a:t>
            </a:r>
            <a:r>
              <a:rPr lang="en-GB" sz="1600">
                <a:solidFill>
                  <a:schemeClr val="dk1"/>
                </a:solidFill>
                <a:highlight>
                  <a:schemeClr val="lt1"/>
                </a:highlight>
                <a:latin typeface="Roboto"/>
                <a:ea typeface="Roboto"/>
                <a:cs typeface="Roboto"/>
                <a:sym typeface="Roboto"/>
              </a:rPr>
              <a:t>Flushes the console and forces any buffered output to be written immediately .</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public void flush()</a:t>
            </a:r>
            <a:endParaRPr sz="1600">
              <a:solidFill>
                <a:schemeClr val="dk1"/>
              </a:solidFill>
              <a:highlight>
                <a:schemeClr val="lt1"/>
              </a:highlight>
              <a:latin typeface="Roboto"/>
              <a:ea typeface="Roboto"/>
              <a:cs typeface="Roboto"/>
              <a:sym typeface="Roboto"/>
            </a:endParaRPr>
          </a:p>
          <a:p>
            <a:pPr indent="0" lvl="0" marL="0" rtl="0" algn="ctr">
              <a:lnSpc>
                <a:spcPct val="150000"/>
              </a:lnSpc>
              <a:spcBef>
                <a:spcPts val="800"/>
              </a:spcBef>
              <a:spcAft>
                <a:spcPts val="0"/>
              </a:spcAft>
              <a:buNone/>
            </a:pPr>
            <a:r>
              <a:rPr lang="en-GB" sz="1600">
                <a:solidFill>
                  <a:schemeClr val="dk1"/>
                </a:solidFill>
                <a:highlight>
                  <a:schemeClr val="lt1"/>
                </a:highlight>
                <a:latin typeface="Roboto"/>
                <a:ea typeface="Roboto"/>
                <a:cs typeface="Roboto"/>
                <a:sym typeface="Roboto"/>
              </a:rPr>
              <a:t>Specified by: flush in interface Flushable</a:t>
            </a:r>
            <a:endParaRPr sz="1600">
              <a:solidFill>
                <a:schemeClr val="dk1"/>
              </a:solidFill>
              <a:highlight>
                <a:schemeClr val="lt1"/>
              </a:highlight>
              <a:latin typeface="Roboto"/>
              <a:ea typeface="Roboto"/>
              <a:cs typeface="Roboto"/>
              <a:sym typeface="Roboto"/>
            </a:endParaRPr>
          </a:p>
          <a:p>
            <a:pPr indent="0" lvl="0" marL="457200" rtl="0" algn="ctr">
              <a:lnSpc>
                <a:spcPct val="150000"/>
              </a:lnSpc>
              <a:spcBef>
                <a:spcPts val="0"/>
              </a:spcBef>
              <a:spcAft>
                <a:spcPts val="0"/>
              </a:spcAft>
              <a:buNone/>
            </a:pPr>
            <a:r>
              <a:t/>
            </a:r>
            <a:endParaRPr b="1" sz="1600">
              <a:solidFill>
                <a:schemeClr val="dk1"/>
              </a:solidFill>
              <a:highlight>
                <a:schemeClr val="lt1"/>
              </a:highlight>
              <a:latin typeface="Roboto"/>
              <a:ea typeface="Roboto"/>
              <a:cs typeface="Roboto"/>
              <a:sym typeface="Roboto"/>
            </a:endParaRPr>
          </a:p>
          <a:p>
            <a:pPr indent="0" lvl="0" marL="457200" rtl="0" algn="l">
              <a:lnSpc>
                <a:spcPct val="150000"/>
              </a:lnSpc>
              <a:spcBef>
                <a:spcPts val="0"/>
              </a:spcBef>
              <a:spcAft>
                <a:spcPts val="0"/>
              </a:spcAft>
              <a:buNone/>
            </a:pPr>
            <a:r>
              <a:t/>
            </a:r>
            <a:endParaRPr b="1"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rtl="0" algn="just">
              <a:lnSpc>
                <a:spcPct val="150000"/>
              </a:lnSpc>
              <a:spcBef>
                <a:spcPts val="360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78" name="Google Shape;178;g321a274a146_0_42"/>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USING CONSOLE CLASSES</a:t>
            </a:r>
            <a:endParaRPr b="0" i="0" sz="1400" u="none" cap="none" strike="noStrike">
              <a:solidFill>
                <a:srgbClr val="000000"/>
              </a:solidFill>
              <a:latin typeface="Arial"/>
              <a:ea typeface="Arial"/>
              <a:cs typeface="Arial"/>
              <a:sym typeface="Arial"/>
            </a:endParaRPr>
          </a:p>
        </p:txBody>
      </p:sp>
      <p:graphicFrame>
        <p:nvGraphicFramePr>
          <p:cNvPr id="179" name="Google Shape;179;g321a274a146_0_42"/>
          <p:cNvGraphicFramePr/>
          <p:nvPr/>
        </p:nvGraphicFramePr>
        <p:xfrm>
          <a:off x="977900" y="2108000"/>
          <a:ext cx="3000000" cy="3000000"/>
        </p:xfrm>
        <a:graphic>
          <a:graphicData uri="http://schemas.openxmlformats.org/drawingml/2006/table">
            <a:tbl>
              <a:tblPr>
                <a:noFill/>
                <a:tableStyleId>{1921DF1F-D312-4963-84A1-6E1B234B04DC}</a:tableStyleId>
              </a:tblPr>
              <a:tblGrid>
                <a:gridCol w="7470775"/>
              </a:tblGrid>
              <a:tr h="1232900">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321a274a146_0_48"/>
          <p:cNvSpPr txBox="1"/>
          <p:nvPr/>
        </p:nvSpPr>
        <p:spPr>
          <a:xfrm>
            <a:off x="720725" y="45325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185" name="Google Shape;185;g321a274a146_0_48"/>
          <p:cNvSpPr txBox="1"/>
          <p:nvPr/>
        </p:nvSpPr>
        <p:spPr>
          <a:xfrm>
            <a:off x="392701" y="807250"/>
            <a:ext cx="8358600" cy="4351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a:t>
            </a:r>
            <a:endParaRPr sz="1600">
              <a:solidFill>
                <a:schemeClr val="dk1"/>
              </a:solidFill>
              <a:highlight>
                <a:schemeClr val="lt1"/>
              </a:highlight>
              <a:latin typeface="Roboto"/>
              <a:ea typeface="Roboto"/>
              <a:cs typeface="Roboto"/>
              <a:sym typeface="Roboto"/>
            </a:endParaRPr>
          </a:p>
          <a:p>
            <a:pPr indent="0" lvl="0" marL="457200" rtl="0" algn="l">
              <a:lnSpc>
                <a:spcPct val="100000"/>
              </a:lnSpc>
              <a:spcBef>
                <a:spcPts val="0"/>
              </a:spcBef>
              <a:spcAft>
                <a:spcPts val="0"/>
              </a:spcAft>
              <a:buNone/>
            </a:pPr>
            <a:r>
              <a:rPr lang="en-GB" sz="1600">
                <a:solidFill>
                  <a:schemeClr val="dk1"/>
                </a:solidFill>
                <a:highlight>
                  <a:schemeClr val="lt1"/>
                </a:highlight>
                <a:latin typeface="Roboto"/>
                <a:ea typeface="Roboto"/>
                <a:cs typeface="Roboto"/>
                <a:sym typeface="Roboto"/>
              </a:rPr>
              <a:t>import java.io.*;</a:t>
            </a:r>
            <a:endParaRPr sz="1600">
              <a:solidFill>
                <a:schemeClr val="dk1"/>
              </a:solidFill>
              <a:highlight>
                <a:schemeClr val="lt1"/>
              </a:highlight>
              <a:latin typeface="Roboto"/>
              <a:ea typeface="Roboto"/>
              <a:cs typeface="Roboto"/>
              <a:sym typeface="Roboto"/>
            </a:endParaRPr>
          </a:p>
          <a:p>
            <a:pPr indent="0" lvl="0" marL="457200" rtl="0" algn="l">
              <a:lnSpc>
                <a:spcPct val="100000"/>
              </a:lnSpc>
              <a:spcBef>
                <a:spcPts val="0"/>
              </a:spcBef>
              <a:spcAft>
                <a:spcPts val="0"/>
              </a:spcAft>
              <a:buNone/>
            </a:pPr>
            <a:r>
              <a:rPr lang="en-GB" sz="1600">
                <a:solidFill>
                  <a:schemeClr val="dk1"/>
                </a:solidFill>
                <a:highlight>
                  <a:schemeClr val="lt1"/>
                </a:highlight>
                <a:latin typeface="Roboto"/>
                <a:ea typeface="Roboto"/>
                <a:cs typeface="Roboto"/>
                <a:sym typeface="Roboto"/>
              </a:rPr>
              <a:t>class ConsoleDemo </a:t>
            </a:r>
            <a:endParaRPr sz="1600">
              <a:solidFill>
                <a:schemeClr val="dk1"/>
              </a:solidFill>
              <a:highlight>
                <a:schemeClr val="lt1"/>
              </a:highlight>
              <a:latin typeface="Roboto"/>
              <a:ea typeface="Roboto"/>
              <a:cs typeface="Roboto"/>
              <a:sym typeface="Roboto"/>
            </a:endParaRPr>
          </a:p>
          <a:p>
            <a:pPr indent="0" lvl="0" marL="457200" rtl="0" algn="l">
              <a:lnSpc>
                <a:spcPct val="100000"/>
              </a:lnSpc>
              <a:spcBef>
                <a:spcPts val="0"/>
              </a:spcBef>
              <a:spcAft>
                <a:spcPts val="0"/>
              </a:spcAft>
              <a:buNone/>
            </a:pPr>
            <a:r>
              <a:rPr lang="en-GB" sz="1600">
                <a:solidFill>
                  <a:schemeClr val="dk1"/>
                </a:solidFill>
                <a:highlight>
                  <a:schemeClr val="lt1"/>
                </a:highlight>
                <a:latin typeface="Roboto"/>
                <a:ea typeface="Roboto"/>
                <a:cs typeface="Roboto"/>
                <a:sym typeface="Roboto"/>
              </a:rPr>
              <a:t>{</a:t>
            </a:r>
            <a:endParaRPr sz="1600">
              <a:solidFill>
                <a:schemeClr val="dk1"/>
              </a:solidFill>
              <a:highlight>
                <a:schemeClr val="lt1"/>
              </a:highlight>
              <a:latin typeface="Roboto"/>
              <a:ea typeface="Roboto"/>
              <a:cs typeface="Roboto"/>
              <a:sym typeface="Roboto"/>
            </a:endParaRPr>
          </a:p>
          <a:p>
            <a:pPr indent="0" lvl="0" marL="457200" rtl="0" algn="l">
              <a:lnSpc>
                <a:spcPct val="100000"/>
              </a:lnSpc>
              <a:spcBef>
                <a:spcPts val="0"/>
              </a:spcBef>
              <a:spcAft>
                <a:spcPts val="0"/>
              </a:spcAft>
              <a:buNone/>
            </a:pPr>
            <a:r>
              <a:rPr lang="en-GB" sz="1600">
                <a:solidFill>
                  <a:schemeClr val="dk1"/>
                </a:solidFill>
                <a:highlight>
                  <a:schemeClr val="lt1"/>
                </a:highlight>
                <a:latin typeface="Roboto"/>
                <a:ea typeface="Roboto"/>
                <a:cs typeface="Roboto"/>
                <a:sym typeface="Roboto"/>
              </a:rPr>
              <a:t>  public static void main(String args[]) </a:t>
            </a:r>
            <a:endParaRPr sz="1600">
              <a:solidFill>
                <a:schemeClr val="dk1"/>
              </a:solidFill>
              <a:highlight>
                <a:schemeClr val="lt1"/>
              </a:highlight>
              <a:latin typeface="Roboto"/>
              <a:ea typeface="Roboto"/>
              <a:cs typeface="Roboto"/>
              <a:sym typeface="Roboto"/>
            </a:endParaRPr>
          </a:p>
          <a:p>
            <a:pPr indent="0" lvl="0" marL="457200" rtl="0" algn="l">
              <a:lnSpc>
                <a:spcPct val="100000"/>
              </a:lnSpc>
              <a:spcBef>
                <a:spcPts val="0"/>
              </a:spcBef>
              <a:spcAft>
                <a:spcPts val="0"/>
              </a:spcAft>
              <a:buNone/>
            </a:pPr>
            <a:r>
              <a:rPr lang="en-GB" sz="1600">
                <a:solidFill>
                  <a:schemeClr val="dk1"/>
                </a:solidFill>
                <a:highlight>
                  <a:schemeClr val="lt1"/>
                </a:highlight>
                <a:latin typeface="Roboto"/>
                <a:ea typeface="Roboto"/>
                <a:cs typeface="Roboto"/>
                <a:sym typeface="Roboto"/>
              </a:rPr>
              <a:t>  {</a:t>
            </a:r>
            <a:endParaRPr sz="1600">
              <a:solidFill>
                <a:schemeClr val="dk1"/>
              </a:solidFill>
              <a:highlight>
                <a:schemeClr val="lt1"/>
              </a:highlight>
              <a:latin typeface="Roboto"/>
              <a:ea typeface="Roboto"/>
              <a:cs typeface="Roboto"/>
              <a:sym typeface="Roboto"/>
            </a:endParaRPr>
          </a:p>
          <a:p>
            <a:pPr indent="0" lvl="0" marL="457200" rtl="0" algn="l">
              <a:lnSpc>
                <a:spcPct val="100000"/>
              </a:lnSpc>
              <a:spcBef>
                <a:spcPts val="0"/>
              </a:spcBef>
              <a:spcAft>
                <a:spcPts val="0"/>
              </a:spcAft>
              <a:buNone/>
            </a:pPr>
            <a:r>
              <a:rPr lang="en-GB" sz="1600">
                <a:solidFill>
                  <a:schemeClr val="dk1"/>
                </a:solidFill>
                <a:highlight>
                  <a:schemeClr val="lt1"/>
                </a:highlight>
                <a:latin typeface="Roboto"/>
                <a:ea typeface="Roboto"/>
                <a:cs typeface="Roboto"/>
                <a:sym typeface="Roboto"/>
              </a:rPr>
              <a:t>    String str;</a:t>
            </a:r>
            <a:endParaRPr sz="1600">
              <a:solidFill>
                <a:schemeClr val="dk1"/>
              </a:solidFill>
              <a:highlight>
                <a:schemeClr val="lt1"/>
              </a:highlight>
              <a:latin typeface="Roboto"/>
              <a:ea typeface="Roboto"/>
              <a:cs typeface="Roboto"/>
              <a:sym typeface="Roboto"/>
            </a:endParaRPr>
          </a:p>
          <a:p>
            <a:pPr indent="0" lvl="0" marL="457200" rtl="0" algn="l">
              <a:lnSpc>
                <a:spcPct val="100000"/>
              </a:lnSpc>
              <a:spcBef>
                <a:spcPts val="0"/>
              </a:spcBef>
              <a:spcAft>
                <a:spcPts val="0"/>
              </a:spcAft>
              <a:buNone/>
            </a:pPr>
            <a:r>
              <a:rPr lang="en-GB" sz="1600">
                <a:solidFill>
                  <a:schemeClr val="dk1"/>
                </a:solidFill>
                <a:highlight>
                  <a:schemeClr val="lt1"/>
                </a:highlight>
                <a:latin typeface="Roboto"/>
                <a:ea typeface="Roboto"/>
                <a:cs typeface="Roboto"/>
                <a:sym typeface="Roboto"/>
              </a:rPr>
              <a:t>    Console con = System.console();</a:t>
            </a:r>
            <a:endParaRPr sz="1600">
              <a:solidFill>
                <a:schemeClr val="dk1"/>
              </a:solidFill>
              <a:highlight>
                <a:schemeClr val="lt1"/>
              </a:highlight>
              <a:latin typeface="Roboto"/>
              <a:ea typeface="Roboto"/>
              <a:cs typeface="Roboto"/>
              <a:sym typeface="Roboto"/>
            </a:endParaRPr>
          </a:p>
          <a:p>
            <a:pPr indent="0" lvl="0" marL="457200" rtl="0" algn="l">
              <a:lnSpc>
                <a:spcPct val="100000"/>
              </a:lnSpc>
              <a:spcBef>
                <a:spcPts val="0"/>
              </a:spcBef>
              <a:spcAft>
                <a:spcPts val="0"/>
              </a:spcAft>
              <a:buNone/>
            </a:pPr>
            <a:r>
              <a:rPr lang="en-GB" sz="1600">
                <a:solidFill>
                  <a:schemeClr val="dk1"/>
                </a:solidFill>
                <a:highlight>
                  <a:schemeClr val="lt1"/>
                </a:highlight>
                <a:latin typeface="Roboto"/>
                <a:ea typeface="Roboto"/>
                <a:cs typeface="Roboto"/>
                <a:sym typeface="Roboto"/>
              </a:rPr>
              <a:t>    if(con == null) </a:t>
            </a:r>
            <a:endParaRPr sz="1600">
              <a:solidFill>
                <a:schemeClr val="dk1"/>
              </a:solidFill>
              <a:highlight>
                <a:schemeClr val="lt1"/>
              </a:highlight>
              <a:latin typeface="Roboto"/>
              <a:ea typeface="Roboto"/>
              <a:cs typeface="Roboto"/>
              <a:sym typeface="Roboto"/>
            </a:endParaRPr>
          </a:p>
          <a:p>
            <a:pPr indent="0" lvl="0" marL="457200" rtl="0" algn="l">
              <a:lnSpc>
                <a:spcPct val="100000"/>
              </a:lnSpc>
              <a:spcBef>
                <a:spcPts val="0"/>
              </a:spcBef>
              <a:spcAft>
                <a:spcPts val="0"/>
              </a:spcAft>
              <a:buNone/>
            </a:pPr>
            <a:r>
              <a:rPr lang="en-GB" sz="1600">
                <a:solidFill>
                  <a:schemeClr val="dk1"/>
                </a:solidFill>
                <a:highlight>
                  <a:schemeClr val="lt1"/>
                </a:highlight>
                <a:latin typeface="Roboto"/>
                <a:ea typeface="Roboto"/>
                <a:cs typeface="Roboto"/>
                <a:sym typeface="Roboto"/>
              </a:rPr>
              <a:t>    {</a:t>
            </a:r>
            <a:endParaRPr sz="1600">
              <a:solidFill>
                <a:schemeClr val="dk1"/>
              </a:solidFill>
              <a:highlight>
                <a:schemeClr val="lt1"/>
              </a:highlight>
              <a:latin typeface="Roboto"/>
              <a:ea typeface="Roboto"/>
              <a:cs typeface="Roboto"/>
              <a:sym typeface="Roboto"/>
            </a:endParaRPr>
          </a:p>
          <a:p>
            <a:pPr indent="0" lvl="0" marL="457200" rtl="0" algn="l">
              <a:lnSpc>
                <a:spcPct val="100000"/>
              </a:lnSpc>
              <a:spcBef>
                <a:spcPts val="0"/>
              </a:spcBef>
              <a:spcAft>
                <a:spcPts val="0"/>
              </a:spcAft>
              <a:buNone/>
            </a:pPr>
            <a:r>
              <a:rPr lang="en-GB" sz="1600">
                <a:solidFill>
                  <a:schemeClr val="dk1"/>
                </a:solidFill>
                <a:highlight>
                  <a:schemeClr val="lt1"/>
                </a:highlight>
                <a:latin typeface="Roboto"/>
                <a:ea typeface="Roboto"/>
                <a:cs typeface="Roboto"/>
                <a:sym typeface="Roboto"/>
              </a:rPr>
              <a:t>      System.out.print("No console available");</a:t>
            </a:r>
            <a:endParaRPr sz="1600">
              <a:solidFill>
                <a:schemeClr val="dk1"/>
              </a:solidFill>
              <a:highlight>
                <a:schemeClr val="lt1"/>
              </a:highlight>
              <a:latin typeface="Roboto"/>
              <a:ea typeface="Roboto"/>
              <a:cs typeface="Roboto"/>
              <a:sym typeface="Roboto"/>
            </a:endParaRPr>
          </a:p>
          <a:p>
            <a:pPr indent="0" lvl="0" marL="457200" rtl="0" algn="l">
              <a:lnSpc>
                <a:spcPct val="100000"/>
              </a:lnSpc>
              <a:spcBef>
                <a:spcPts val="0"/>
              </a:spcBef>
              <a:spcAft>
                <a:spcPts val="0"/>
              </a:spcAft>
              <a:buNone/>
            </a:pPr>
            <a:r>
              <a:rPr lang="en-GB" sz="1600">
                <a:solidFill>
                  <a:schemeClr val="dk1"/>
                </a:solidFill>
                <a:highlight>
                  <a:schemeClr val="lt1"/>
                </a:highlight>
                <a:latin typeface="Roboto"/>
                <a:ea typeface="Roboto"/>
                <a:cs typeface="Roboto"/>
                <a:sym typeface="Roboto"/>
              </a:rPr>
              <a:t>      return;</a:t>
            </a:r>
            <a:endParaRPr sz="1600">
              <a:solidFill>
                <a:schemeClr val="dk1"/>
              </a:solidFill>
              <a:highlight>
                <a:schemeClr val="lt1"/>
              </a:highlight>
              <a:latin typeface="Roboto"/>
              <a:ea typeface="Roboto"/>
              <a:cs typeface="Roboto"/>
              <a:sym typeface="Roboto"/>
            </a:endParaRPr>
          </a:p>
          <a:p>
            <a:pPr indent="0" lvl="0" marL="457200" rtl="0" algn="l">
              <a:lnSpc>
                <a:spcPct val="100000"/>
              </a:lnSpc>
              <a:spcBef>
                <a:spcPts val="0"/>
              </a:spcBef>
              <a:spcAft>
                <a:spcPts val="0"/>
              </a:spcAft>
              <a:buNone/>
            </a:pPr>
            <a:r>
              <a:rPr lang="en-GB" sz="1600">
                <a:solidFill>
                  <a:schemeClr val="dk1"/>
                </a:solidFill>
                <a:highlight>
                  <a:schemeClr val="lt1"/>
                </a:highlight>
                <a:latin typeface="Roboto"/>
                <a:ea typeface="Roboto"/>
                <a:cs typeface="Roboto"/>
                <a:sym typeface="Roboto"/>
              </a:rPr>
              <a:t>    }</a:t>
            </a:r>
            <a:endParaRPr sz="1600">
              <a:solidFill>
                <a:schemeClr val="dk1"/>
              </a:solidFill>
              <a:highlight>
                <a:schemeClr val="lt1"/>
              </a:highlight>
              <a:latin typeface="Roboto"/>
              <a:ea typeface="Roboto"/>
              <a:cs typeface="Roboto"/>
              <a:sym typeface="Roboto"/>
            </a:endParaRPr>
          </a:p>
          <a:p>
            <a:pPr indent="0" lvl="0" marL="457200" rtl="0" algn="l">
              <a:lnSpc>
                <a:spcPct val="100000"/>
              </a:lnSpc>
              <a:spcBef>
                <a:spcPts val="0"/>
              </a:spcBef>
              <a:spcAft>
                <a:spcPts val="0"/>
              </a:spcAft>
              <a:buNone/>
            </a:pPr>
            <a:r>
              <a:rPr lang="en-GB" sz="1600">
                <a:solidFill>
                  <a:schemeClr val="dk1"/>
                </a:solidFill>
                <a:highlight>
                  <a:schemeClr val="lt1"/>
                </a:highlight>
                <a:latin typeface="Roboto"/>
                <a:ea typeface="Roboto"/>
                <a:cs typeface="Roboto"/>
                <a:sym typeface="Roboto"/>
              </a:rPr>
              <a:t>    </a:t>
            </a:r>
            <a:endParaRPr sz="1600">
              <a:solidFill>
                <a:schemeClr val="dk1"/>
              </a:solidFill>
              <a:highlight>
                <a:schemeClr val="lt1"/>
              </a:highlight>
              <a:latin typeface="Roboto"/>
              <a:ea typeface="Roboto"/>
              <a:cs typeface="Roboto"/>
              <a:sym typeface="Roboto"/>
            </a:endParaRPr>
          </a:p>
          <a:p>
            <a:pPr indent="0" lvl="0" marL="457200" rtl="0" algn="ctr">
              <a:lnSpc>
                <a:spcPct val="10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457200" rtl="0" algn="l">
              <a:lnSpc>
                <a:spcPct val="100000"/>
              </a:lnSpc>
              <a:spcBef>
                <a:spcPts val="0"/>
              </a:spcBef>
              <a:spcAft>
                <a:spcPts val="0"/>
              </a:spcAft>
              <a:buNone/>
            </a:pPr>
            <a:r>
              <a:t/>
            </a:r>
            <a:endParaRPr b="1" sz="1600">
              <a:solidFill>
                <a:schemeClr val="dk1"/>
              </a:solidFill>
              <a:highlight>
                <a:schemeClr val="lt1"/>
              </a:highlight>
              <a:latin typeface="Roboto"/>
              <a:ea typeface="Roboto"/>
              <a:cs typeface="Roboto"/>
              <a:sym typeface="Roboto"/>
            </a:endParaRPr>
          </a:p>
          <a:p>
            <a:pPr indent="0" lvl="0" marL="0" marR="101600" rtl="0" algn="ctr">
              <a:lnSpc>
                <a:spcPct val="10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marR="101600" rtl="0" algn="ctr">
              <a:lnSpc>
                <a:spcPct val="10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rtl="0" algn="just">
              <a:lnSpc>
                <a:spcPct val="100000"/>
              </a:lnSpc>
              <a:spcBef>
                <a:spcPts val="360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86" name="Google Shape;186;g321a274a146_0_48"/>
          <p:cNvSpPr txBox="1"/>
          <p:nvPr/>
        </p:nvSpPr>
        <p:spPr>
          <a:xfrm>
            <a:off x="140301" y="630241"/>
            <a:ext cx="2827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87" name="Google Shape;187;g321a274a146_0_48"/>
          <p:cNvGraphicFramePr/>
          <p:nvPr/>
        </p:nvGraphicFramePr>
        <p:xfrm>
          <a:off x="720725" y="1063225"/>
          <a:ext cx="3000000" cy="3000000"/>
        </p:xfrm>
        <a:graphic>
          <a:graphicData uri="http://schemas.openxmlformats.org/drawingml/2006/table">
            <a:tbl>
              <a:tblPr>
                <a:noFill/>
                <a:tableStyleId>{1921DF1F-D312-4963-84A1-6E1B234B04DC}</a:tableStyleId>
              </a:tblPr>
              <a:tblGrid>
                <a:gridCol w="7470775"/>
              </a:tblGrid>
              <a:tr h="3242075">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21a274a146_0_144"/>
          <p:cNvSpPr txBox="1"/>
          <p:nvPr/>
        </p:nvSpPr>
        <p:spPr>
          <a:xfrm>
            <a:off x="720725" y="45325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193" name="Google Shape;193;g321a274a146_0_144"/>
          <p:cNvSpPr txBox="1"/>
          <p:nvPr/>
        </p:nvSpPr>
        <p:spPr>
          <a:xfrm>
            <a:off x="172451" y="1053966"/>
            <a:ext cx="2827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g321a274a146_0_144"/>
          <p:cNvSpPr txBox="1"/>
          <p:nvPr/>
        </p:nvSpPr>
        <p:spPr>
          <a:xfrm>
            <a:off x="514350" y="1439875"/>
            <a:ext cx="7057800" cy="30168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str = con.readLine("Enter your name: ");</a:t>
            </a:r>
            <a:endParaRPr sz="1600">
              <a:solidFill>
                <a:schemeClr val="dk1"/>
              </a:solidFill>
              <a:highlight>
                <a:schemeClr val="lt1"/>
              </a:highlight>
              <a:latin typeface="Roboto"/>
              <a:ea typeface="Roboto"/>
              <a:cs typeface="Roboto"/>
              <a:sym typeface="Roboto"/>
            </a:endParaRPr>
          </a:p>
          <a:p>
            <a:pPr indent="0" lvl="0" marL="457200" rtl="0" algn="l">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    con.printf("Here is your name: %s\n", str);</a:t>
            </a:r>
            <a:endParaRPr sz="1600">
              <a:solidFill>
                <a:schemeClr val="dk1"/>
              </a:solidFill>
              <a:highlight>
                <a:schemeClr val="lt1"/>
              </a:highlight>
              <a:latin typeface="Roboto"/>
              <a:ea typeface="Roboto"/>
              <a:cs typeface="Roboto"/>
              <a:sym typeface="Roboto"/>
            </a:endParaRPr>
          </a:p>
          <a:p>
            <a:pPr indent="0" lvl="0" marL="457200" rtl="0" algn="l">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    System.out.println("Enter the password: ");</a:t>
            </a:r>
            <a:endParaRPr sz="1600">
              <a:solidFill>
                <a:schemeClr val="dk1"/>
              </a:solidFill>
              <a:highlight>
                <a:schemeClr val="lt1"/>
              </a:highlight>
              <a:latin typeface="Roboto"/>
              <a:ea typeface="Roboto"/>
              <a:cs typeface="Roboto"/>
              <a:sym typeface="Roboto"/>
            </a:endParaRPr>
          </a:p>
          <a:p>
            <a:pPr indent="0" lvl="0" marL="457200" rtl="0" algn="l">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    char[] ch=con.readPassword();</a:t>
            </a:r>
            <a:endParaRPr sz="1600">
              <a:solidFill>
                <a:schemeClr val="dk1"/>
              </a:solidFill>
              <a:highlight>
                <a:schemeClr val="lt1"/>
              </a:highlight>
              <a:latin typeface="Roboto"/>
              <a:ea typeface="Roboto"/>
              <a:cs typeface="Roboto"/>
              <a:sym typeface="Roboto"/>
            </a:endParaRPr>
          </a:p>
          <a:p>
            <a:pPr indent="0" lvl="0" marL="457200" rtl="0" algn="l">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    String pass = String.valueOf(ch);</a:t>
            </a:r>
            <a:endParaRPr sz="1600">
              <a:solidFill>
                <a:schemeClr val="dk1"/>
              </a:solidFill>
              <a:highlight>
                <a:schemeClr val="lt1"/>
              </a:highlight>
              <a:latin typeface="Roboto"/>
              <a:ea typeface="Roboto"/>
              <a:cs typeface="Roboto"/>
              <a:sym typeface="Roboto"/>
            </a:endParaRPr>
          </a:p>
          <a:p>
            <a:pPr indent="0" lvl="0" marL="457200" rtl="0" algn="l">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    System.out.println("Password is: " + pass);</a:t>
            </a:r>
            <a:endParaRPr sz="1600">
              <a:solidFill>
                <a:schemeClr val="dk1"/>
              </a:solidFill>
              <a:highlight>
                <a:schemeClr val="lt1"/>
              </a:highlight>
              <a:latin typeface="Roboto"/>
              <a:ea typeface="Roboto"/>
              <a:cs typeface="Roboto"/>
              <a:sym typeface="Roboto"/>
            </a:endParaRPr>
          </a:p>
          <a:p>
            <a:pPr indent="0" lvl="0" marL="457200" rtl="0" algn="l">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  }</a:t>
            </a:r>
            <a:endParaRPr sz="1600">
              <a:solidFill>
                <a:schemeClr val="dk1"/>
              </a:solidFill>
              <a:highlight>
                <a:schemeClr val="lt1"/>
              </a:highlight>
              <a:latin typeface="Roboto"/>
              <a:ea typeface="Roboto"/>
              <a:cs typeface="Roboto"/>
              <a:sym typeface="Roboto"/>
            </a:endParaRPr>
          </a:p>
          <a:p>
            <a:pPr indent="0" lvl="0" marL="457200" rtl="0" algn="l">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a:t>
            </a:r>
            <a:endParaRPr sz="1600">
              <a:solidFill>
                <a:schemeClr val="dk1"/>
              </a:solidFill>
              <a:highlight>
                <a:schemeClr val="lt1"/>
              </a:highlight>
              <a:latin typeface="Roboto"/>
              <a:ea typeface="Roboto"/>
              <a:cs typeface="Roboto"/>
              <a:sym typeface="Roboto"/>
            </a:endParaRPr>
          </a:p>
        </p:txBody>
      </p:sp>
      <p:graphicFrame>
        <p:nvGraphicFramePr>
          <p:cNvPr id="195" name="Google Shape;195;g321a274a146_0_144"/>
          <p:cNvGraphicFramePr/>
          <p:nvPr/>
        </p:nvGraphicFramePr>
        <p:xfrm>
          <a:off x="514350" y="1272200"/>
          <a:ext cx="3000000" cy="3000000"/>
        </p:xfrm>
        <a:graphic>
          <a:graphicData uri="http://schemas.openxmlformats.org/drawingml/2006/table">
            <a:tbl>
              <a:tblPr>
                <a:noFill/>
                <a:tableStyleId>{1921DF1F-D312-4963-84A1-6E1B234B04DC}</a:tableStyleId>
              </a:tblPr>
              <a:tblGrid>
                <a:gridCol w="7677150"/>
              </a:tblGrid>
              <a:tr h="3184475">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1fef00ada2_0_6"/>
          <p:cNvSpPr txBox="1"/>
          <p:nvPr/>
        </p:nvSpPr>
        <p:spPr>
          <a:xfrm>
            <a:off x="654550" y="45325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201" name="Google Shape;201;g31fef00ada2_0_6"/>
          <p:cNvSpPr txBox="1"/>
          <p:nvPr/>
        </p:nvSpPr>
        <p:spPr>
          <a:xfrm>
            <a:off x="582750" y="1532750"/>
            <a:ext cx="7978500" cy="30000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chemeClr val="dk1"/>
              </a:buClr>
              <a:buSzPts val="1100"/>
              <a:buFont typeface="Arial"/>
              <a:buNone/>
            </a:pPr>
            <a:r>
              <a:t/>
            </a:r>
            <a:endParaRPr sz="1600">
              <a:solidFill>
                <a:schemeClr val="dk1"/>
              </a:solidFill>
              <a:highlight>
                <a:schemeClr val="lt1"/>
              </a:highlight>
              <a:latin typeface="Roboto"/>
              <a:ea typeface="Roboto"/>
              <a:cs typeface="Roboto"/>
              <a:sym typeface="Roboto"/>
            </a:endParaRPr>
          </a:p>
          <a:p>
            <a:pPr indent="-330200" lvl="0" marL="457200" rtl="0" algn="just">
              <a:lnSpc>
                <a:spcPct val="150000"/>
              </a:lnSpc>
              <a:spcBef>
                <a:spcPts val="0"/>
              </a:spcBef>
              <a:spcAft>
                <a:spcPts val="0"/>
              </a:spcAft>
              <a:buClr>
                <a:schemeClr val="dk1"/>
              </a:buClr>
              <a:buSzPts val="1600"/>
              <a:buFont typeface="Roboto"/>
              <a:buChar char="●"/>
            </a:pPr>
            <a:r>
              <a:rPr lang="en-GB" sz="1600">
                <a:solidFill>
                  <a:schemeClr val="dk1"/>
                </a:solidFill>
                <a:highlight>
                  <a:schemeClr val="lt1"/>
                </a:highlight>
                <a:latin typeface="Roboto"/>
                <a:ea typeface="Roboto"/>
                <a:cs typeface="Roboto"/>
                <a:sym typeface="Roboto"/>
              </a:rPr>
              <a:t>Reads text from a character-input stream, buffering characters so as to provide for the efficient reading of characters, arrays, and lines.</a:t>
            </a:r>
            <a:endParaRPr sz="1600">
              <a:solidFill>
                <a:schemeClr val="dk1"/>
              </a:solidFill>
              <a:highlight>
                <a:schemeClr val="lt1"/>
              </a:highlight>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sz="1600">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202" name="Google Shape;202;g31fef00ada2_0_6"/>
          <p:cNvSpPr txBox="1"/>
          <p:nvPr/>
        </p:nvSpPr>
        <p:spPr>
          <a:xfrm>
            <a:off x="188524" y="985350"/>
            <a:ext cx="4876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USING BUFFER READER CLASSES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21a274a146_0_156"/>
          <p:cNvSpPr txBox="1"/>
          <p:nvPr/>
        </p:nvSpPr>
        <p:spPr>
          <a:xfrm>
            <a:off x="654550" y="45325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208" name="Google Shape;208;g321a274a146_0_156"/>
          <p:cNvSpPr txBox="1"/>
          <p:nvPr/>
        </p:nvSpPr>
        <p:spPr>
          <a:xfrm>
            <a:off x="390825" y="1471675"/>
            <a:ext cx="7978500" cy="30000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chemeClr val="dk1"/>
              </a:buClr>
              <a:buSzPts val="1100"/>
              <a:buFont typeface="Arial"/>
              <a:buNone/>
            </a:pPr>
            <a:r>
              <a:t/>
            </a:r>
            <a:endParaRPr sz="1600">
              <a:solidFill>
                <a:schemeClr val="dk1"/>
              </a:solidFill>
              <a:highlight>
                <a:schemeClr val="lt1"/>
              </a:highlight>
              <a:latin typeface="Roboto"/>
              <a:ea typeface="Roboto"/>
              <a:cs typeface="Roboto"/>
              <a:sym typeface="Roboto"/>
            </a:endParaRPr>
          </a:p>
          <a:p>
            <a:pPr indent="-330200" lvl="0" marL="800100" rtl="0" algn="just">
              <a:lnSpc>
                <a:spcPct val="150000"/>
              </a:lnSpc>
              <a:spcBef>
                <a:spcPts val="0"/>
              </a:spcBef>
              <a:spcAft>
                <a:spcPts val="0"/>
              </a:spcAft>
              <a:buClr>
                <a:schemeClr val="dk1"/>
              </a:buClr>
              <a:buSzPts val="1600"/>
              <a:buFont typeface="Roboto"/>
              <a:buChar char="●"/>
            </a:pPr>
            <a:r>
              <a:rPr lang="en-GB" sz="1600">
                <a:solidFill>
                  <a:schemeClr val="dk1"/>
                </a:solidFill>
                <a:highlight>
                  <a:schemeClr val="lt1"/>
                </a:highlight>
                <a:latin typeface="Roboto"/>
                <a:ea typeface="Roboto"/>
                <a:cs typeface="Roboto"/>
                <a:sym typeface="Roboto"/>
              </a:rPr>
              <a:t>The buffer size may be specified, or the default size may be used. The default is large enough for most purposes.</a:t>
            </a:r>
            <a:endParaRPr sz="1600">
              <a:solidFill>
                <a:schemeClr val="dk1"/>
              </a:solidFill>
              <a:highlight>
                <a:schemeClr val="lt1"/>
              </a:highlight>
              <a:latin typeface="Roboto"/>
              <a:ea typeface="Roboto"/>
              <a:cs typeface="Roboto"/>
              <a:sym typeface="Roboto"/>
            </a:endParaRPr>
          </a:p>
          <a:p>
            <a:pPr indent="-330200" lvl="0" marL="800100" rtl="0" algn="just">
              <a:lnSpc>
                <a:spcPct val="150000"/>
              </a:lnSpc>
              <a:spcBef>
                <a:spcPts val="0"/>
              </a:spcBef>
              <a:spcAft>
                <a:spcPts val="0"/>
              </a:spcAft>
              <a:buClr>
                <a:schemeClr val="dk1"/>
              </a:buClr>
              <a:buSzPts val="1600"/>
              <a:buFont typeface="Roboto"/>
              <a:buChar char="●"/>
            </a:pPr>
            <a:r>
              <a:rPr lang="en-GB" sz="1600">
                <a:solidFill>
                  <a:schemeClr val="dk1"/>
                </a:solidFill>
                <a:highlight>
                  <a:schemeClr val="lt1"/>
                </a:highlight>
                <a:latin typeface="Roboto"/>
                <a:ea typeface="Roboto"/>
                <a:cs typeface="Roboto"/>
                <a:sym typeface="Roboto"/>
              </a:rPr>
              <a:t>In general, each read request made of a Reader causes a corresponding read request to be made of the underlying character or byte stream.</a:t>
            </a:r>
            <a:endParaRPr sz="1600">
              <a:solidFill>
                <a:schemeClr val="dk1"/>
              </a:solidFill>
              <a:highlight>
                <a:schemeClr val="lt1"/>
              </a:highlight>
              <a:latin typeface="Roboto"/>
              <a:ea typeface="Roboto"/>
              <a:cs typeface="Roboto"/>
              <a:sym typeface="Roboto"/>
            </a:endParaRPr>
          </a:p>
          <a:p>
            <a:pPr indent="0" lvl="0" marL="0" rtl="0" algn="l">
              <a:lnSpc>
                <a:spcPct val="150000"/>
              </a:lnSpc>
              <a:spcBef>
                <a:spcPts val="3600"/>
              </a:spcBef>
              <a:spcAft>
                <a:spcPts val="0"/>
              </a:spcAft>
              <a:buClr>
                <a:schemeClr val="dk1"/>
              </a:buClr>
              <a:buSzPts val="1800"/>
              <a:buFont typeface="Arial"/>
              <a:buNone/>
            </a:pPr>
            <a:r>
              <a:t/>
            </a:r>
            <a:endParaRPr sz="1800">
              <a:solidFill>
                <a:schemeClr val="dk1"/>
              </a:solidFill>
              <a:highlight>
                <a:schemeClr val="lt1"/>
              </a:highlight>
              <a:latin typeface="Roboto"/>
              <a:ea typeface="Roboto"/>
              <a:cs typeface="Roboto"/>
              <a:sym typeface="Roboto"/>
            </a:endParaRPr>
          </a:p>
          <a:p>
            <a:pPr indent="0" lvl="0" marL="0" rtl="0" algn="just">
              <a:lnSpc>
                <a:spcPct val="150000"/>
              </a:lnSpc>
              <a:spcBef>
                <a:spcPts val="0"/>
              </a:spcBef>
              <a:spcAft>
                <a:spcPts val="0"/>
              </a:spcAft>
              <a:buClr>
                <a:schemeClr val="dk1"/>
              </a:buClr>
              <a:buSzPts val="1100"/>
              <a:buFont typeface="Arial"/>
              <a:buNone/>
            </a:pPr>
            <a:r>
              <a:t/>
            </a:r>
            <a:endParaRPr sz="1600">
              <a:solidFill>
                <a:schemeClr val="dk1"/>
              </a:solidFill>
              <a:highlight>
                <a:schemeClr val="lt1"/>
              </a:highlight>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sz="1600">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209" name="Google Shape;209;g321a274a146_0_156"/>
          <p:cNvSpPr txBox="1"/>
          <p:nvPr/>
        </p:nvSpPr>
        <p:spPr>
          <a:xfrm>
            <a:off x="172449" y="1053975"/>
            <a:ext cx="4876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USING BUFFER READER CLASSES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21a274a146_0_162"/>
          <p:cNvSpPr txBox="1"/>
          <p:nvPr/>
        </p:nvSpPr>
        <p:spPr>
          <a:xfrm>
            <a:off x="654550" y="45325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215" name="Google Shape;215;g321a274a146_0_162"/>
          <p:cNvSpPr txBox="1"/>
          <p:nvPr/>
        </p:nvSpPr>
        <p:spPr>
          <a:xfrm>
            <a:off x="390825" y="1471675"/>
            <a:ext cx="7978500" cy="30000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chemeClr val="dk1"/>
              </a:buClr>
              <a:buSzPts val="1100"/>
              <a:buFont typeface="Arial"/>
              <a:buNone/>
            </a:pPr>
            <a:r>
              <a:t/>
            </a:r>
            <a:endParaRPr sz="1600">
              <a:solidFill>
                <a:schemeClr val="dk1"/>
              </a:solidFill>
              <a:highlight>
                <a:schemeClr val="lt1"/>
              </a:highlight>
              <a:latin typeface="Roboto"/>
              <a:ea typeface="Roboto"/>
              <a:cs typeface="Roboto"/>
              <a:sym typeface="Roboto"/>
            </a:endParaRPr>
          </a:p>
          <a:p>
            <a:pPr indent="-330200" lvl="0" marL="800100" rtl="0" algn="just">
              <a:lnSpc>
                <a:spcPct val="150000"/>
              </a:lnSpc>
              <a:spcBef>
                <a:spcPts val="0"/>
              </a:spcBef>
              <a:spcAft>
                <a:spcPts val="0"/>
              </a:spcAft>
              <a:buClr>
                <a:schemeClr val="dk1"/>
              </a:buClr>
              <a:buSzPts val="1600"/>
              <a:buFont typeface="Roboto"/>
              <a:buChar char="●"/>
            </a:pPr>
            <a:r>
              <a:rPr lang="en-GB" sz="1600">
                <a:solidFill>
                  <a:schemeClr val="dk1"/>
                </a:solidFill>
                <a:highlight>
                  <a:schemeClr val="lt1"/>
                </a:highlight>
                <a:latin typeface="Roboto"/>
                <a:ea typeface="Roboto"/>
                <a:cs typeface="Roboto"/>
                <a:sym typeface="Roboto"/>
              </a:rPr>
              <a:t>It is therefore advisable to wrap a BufferedReader around any Reader whose read() operations may be costly, such as FileReaders and InputStreamReaders.</a:t>
            </a:r>
            <a:endParaRPr sz="1600">
              <a:solidFill>
                <a:schemeClr val="dk1"/>
              </a:solidFill>
              <a:highlight>
                <a:schemeClr val="lt1"/>
              </a:highlight>
              <a:latin typeface="Roboto"/>
              <a:ea typeface="Roboto"/>
              <a:cs typeface="Roboto"/>
              <a:sym typeface="Roboto"/>
            </a:endParaRPr>
          </a:p>
          <a:p>
            <a:pPr indent="-330200" lvl="0" marL="800100" rtl="0" algn="just">
              <a:lnSpc>
                <a:spcPct val="150000"/>
              </a:lnSpc>
              <a:spcBef>
                <a:spcPts val="0"/>
              </a:spcBef>
              <a:spcAft>
                <a:spcPts val="0"/>
              </a:spcAft>
              <a:buClr>
                <a:schemeClr val="dk1"/>
              </a:buClr>
              <a:buSzPts val="1600"/>
              <a:buFont typeface="Roboto"/>
              <a:buChar char="●"/>
            </a:pPr>
            <a:r>
              <a:rPr lang="en-GB" sz="1600">
                <a:solidFill>
                  <a:schemeClr val="dk1"/>
                </a:solidFill>
                <a:highlight>
                  <a:schemeClr val="lt1"/>
                </a:highlight>
                <a:latin typeface="Roboto"/>
                <a:ea typeface="Roboto"/>
                <a:cs typeface="Roboto"/>
                <a:sym typeface="Roboto"/>
              </a:rPr>
              <a:t>Programs that use DataInputStreams for textual input can be localized by replacing each DataInputStream with an appropriate BufferedReader.</a:t>
            </a:r>
            <a:endParaRPr sz="1600">
              <a:solidFill>
                <a:schemeClr val="dk1"/>
              </a:solidFill>
              <a:highlight>
                <a:schemeClr val="lt1"/>
              </a:highlight>
              <a:latin typeface="Roboto"/>
              <a:ea typeface="Roboto"/>
              <a:cs typeface="Roboto"/>
              <a:sym typeface="Roboto"/>
            </a:endParaRPr>
          </a:p>
          <a:p>
            <a:pPr indent="0" lvl="0" marL="0" rtl="0" algn="l">
              <a:lnSpc>
                <a:spcPct val="150000"/>
              </a:lnSpc>
              <a:spcBef>
                <a:spcPts val="3600"/>
              </a:spcBef>
              <a:spcAft>
                <a:spcPts val="0"/>
              </a:spcAft>
              <a:buClr>
                <a:schemeClr val="dk1"/>
              </a:buClr>
              <a:buSzPts val="1800"/>
              <a:buFont typeface="Arial"/>
              <a:buNone/>
            </a:pPr>
            <a:r>
              <a:t/>
            </a:r>
            <a:endParaRPr sz="1600">
              <a:solidFill>
                <a:schemeClr val="dk1"/>
              </a:solidFill>
              <a:highlight>
                <a:schemeClr val="lt1"/>
              </a:highlight>
              <a:latin typeface="Roboto"/>
              <a:ea typeface="Roboto"/>
              <a:cs typeface="Roboto"/>
              <a:sym typeface="Roboto"/>
            </a:endParaRPr>
          </a:p>
          <a:p>
            <a:pPr indent="0" lvl="0" marL="0" rtl="0" algn="just">
              <a:lnSpc>
                <a:spcPct val="150000"/>
              </a:lnSpc>
              <a:spcBef>
                <a:spcPts val="0"/>
              </a:spcBef>
              <a:spcAft>
                <a:spcPts val="0"/>
              </a:spcAft>
              <a:buClr>
                <a:schemeClr val="dk1"/>
              </a:buClr>
              <a:buSzPts val="1100"/>
              <a:buFont typeface="Arial"/>
              <a:buNone/>
            </a:pPr>
            <a:r>
              <a:t/>
            </a:r>
            <a:endParaRPr sz="1600">
              <a:solidFill>
                <a:schemeClr val="dk1"/>
              </a:solidFill>
              <a:highlight>
                <a:schemeClr val="lt1"/>
              </a:highlight>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sz="1600">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216" name="Google Shape;216;g321a274a146_0_162"/>
          <p:cNvSpPr txBox="1"/>
          <p:nvPr/>
        </p:nvSpPr>
        <p:spPr>
          <a:xfrm>
            <a:off x="172449" y="1053975"/>
            <a:ext cx="4876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USING BUFFER READER CLASSES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21a274a146_0_168"/>
          <p:cNvSpPr txBox="1"/>
          <p:nvPr/>
        </p:nvSpPr>
        <p:spPr>
          <a:xfrm>
            <a:off x="654550" y="45325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222" name="Google Shape;222;g321a274a146_0_168"/>
          <p:cNvSpPr txBox="1"/>
          <p:nvPr/>
        </p:nvSpPr>
        <p:spPr>
          <a:xfrm>
            <a:off x="390825" y="1471675"/>
            <a:ext cx="7978500" cy="30000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None/>
            </a:pPr>
            <a:r>
              <a:rPr b="1" lang="en-GB" sz="1600">
                <a:solidFill>
                  <a:schemeClr val="dk1"/>
                </a:solidFill>
                <a:highlight>
                  <a:schemeClr val="lt1"/>
                </a:highlight>
                <a:latin typeface="Roboto"/>
                <a:ea typeface="Roboto"/>
                <a:cs typeface="Roboto"/>
                <a:sym typeface="Roboto"/>
              </a:rPr>
              <a:t>Constructors:</a:t>
            </a:r>
            <a:endParaRPr b="1" sz="1600">
              <a:solidFill>
                <a:schemeClr val="dk1"/>
              </a:solidFill>
              <a:highlight>
                <a:schemeClr val="lt1"/>
              </a:highlight>
              <a:latin typeface="Roboto"/>
              <a:ea typeface="Roboto"/>
              <a:cs typeface="Roboto"/>
              <a:sym typeface="Roboto"/>
            </a:endParaRPr>
          </a:p>
          <a:p>
            <a:pPr indent="-330200" lvl="0" marL="800100" rtl="0" algn="just">
              <a:lnSpc>
                <a:spcPct val="150000"/>
              </a:lnSpc>
              <a:spcBef>
                <a:spcPts val="800"/>
              </a:spcBef>
              <a:spcAft>
                <a:spcPts val="0"/>
              </a:spcAft>
              <a:buClr>
                <a:schemeClr val="dk1"/>
              </a:buClr>
              <a:buSzPts val="1600"/>
              <a:buFont typeface="Roboto"/>
              <a:buChar char="●"/>
            </a:pPr>
            <a:r>
              <a:rPr b="1" lang="en-GB" sz="1600">
                <a:solidFill>
                  <a:schemeClr val="dk1"/>
                </a:solidFill>
                <a:highlight>
                  <a:schemeClr val="lt1"/>
                </a:highlight>
                <a:latin typeface="Roboto"/>
                <a:ea typeface="Roboto"/>
                <a:cs typeface="Roboto"/>
                <a:sym typeface="Roboto"/>
              </a:rPr>
              <a:t>BufferedReader(Reader in) :</a:t>
            </a:r>
            <a:endParaRPr b="1" sz="1600">
              <a:solidFill>
                <a:schemeClr val="dk1"/>
              </a:solidFill>
              <a:highlight>
                <a:schemeClr val="lt1"/>
              </a:highlight>
              <a:latin typeface="Roboto"/>
              <a:ea typeface="Roboto"/>
              <a:cs typeface="Roboto"/>
              <a:sym typeface="Roboto"/>
            </a:endParaRPr>
          </a:p>
          <a:p>
            <a:pPr indent="0" lvl="0" marL="457200" rtl="0" algn="just">
              <a:lnSpc>
                <a:spcPct val="150000"/>
              </a:lnSpc>
              <a:spcBef>
                <a:spcPts val="0"/>
              </a:spcBef>
              <a:spcAft>
                <a:spcPts val="0"/>
              </a:spcAft>
              <a:buNone/>
            </a:pPr>
            <a:r>
              <a:rPr b="1" lang="en-GB" sz="1600">
                <a:solidFill>
                  <a:schemeClr val="dk1"/>
                </a:solidFill>
                <a:highlight>
                  <a:schemeClr val="lt1"/>
                </a:highlight>
                <a:latin typeface="Roboto"/>
                <a:ea typeface="Roboto"/>
                <a:cs typeface="Roboto"/>
                <a:sym typeface="Roboto"/>
              </a:rPr>
              <a:t> 	</a:t>
            </a:r>
            <a:r>
              <a:rPr lang="en-GB" sz="1600">
                <a:solidFill>
                  <a:schemeClr val="dk1"/>
                </a:solidFill>
                <a:highlight>
                  <a:schemeClr val="lt1"/>
                </a:highlight>
                <a:latin typeface="Roboto"/>
                <a:ea typeface="Roboto"/>
                <a:cs typeface="Roboto"/>
                <a:sym typeface="Roboto"/>
              </a:rPr>
              <a:t>Creates a buffering character-input stream that uses a default-sized input buffer.</a:t>
            </a:r>
            <a:endParaRPr sz="1600">
              <a:solidFill>
                <a:schemeClr val="dk1"/>
              </a:solidFill>
              <a:highlight>
                <a:schemeClr val="lt1"/>
              </a:highlight>
              <a:latin typeface="Roboto"/>
              <a:ea typeface="Roboto"/>
              <a:cs typeface="Roboto"/>
              <a:sym typeface="Roboto"/>
            </a:endParaRPr>
          </a:p>
          <a:p>
            <a:pPr indent="-330200" lvl="0" marL="800100" rtl="0" algn="just">
              <a:lnSpc>
                <a:spcPct val="150000"/>
              </a:lnSpc>
              <a:spcBef>
                <a:spcPts val="0"/>
              </a:spcBef>
              <a:spcAft>
                <a:spcPts val="0"/>
              </a:spcAft>
              <a:buClr>
                <a:schemeClr val="dk1"/>
              </a:buClr>
              <a:buSzPts val="1600"/>
              <a:buFont typeface="Roboto"/>
              <a:buChar char="●"/>
            </a:pPr>
            <a:r>
              <a:rPr b="1" lang="en-GB" sz="1600">
                <a:solidFill>
                  <a:schemeClr val="dk1"/>
                </a:solidFill>
                <a:highlight>
                  <a:schemeClr val="lt1"/>
                </a:highlight>
                <a:latin typeface="Roboto"/>
                <a:ea typeface="Roboto"/>
                <a:cs typeface="Roboto"/>
                <a:sym typeface="Roboto"/>
              </a:rPr>
              <a:t>BufferedReader(Reader in, int sz) : </a:t>
            </a:r>
            <a:endParaRPr b="1" sz="1600">
              <a:solidFill>
                <a:schemeClr val="dk1"/>
              </a:solidFill>
              <a:highlight>
                <a:schemeClr val="lt1"/>
              </a:highlight>
              <a:latin typeface="Roboto"/>
              <a:ea typeface="Roboto"/>
              <a:cs typeface="Roboto"/>
              <a:sym typeface="Roboto"/>
            </a:endParaRPr>
          </a:p>
          <a:p>
            <a:pPr indent="457200" lvl="0" marL="457200" rtl="0" algn="just">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Creates a buffering character-input stream that uses an input buffer of the specified size.</a:t>
            </a:r>
            <a:endParaRPr sz="1600">
              <a:solidFill>
                <a:schemeClr val="dk1"/>
              </a:solidFill>
              <a:highlight>
                <a:schemeClr val="lt1"/>
              </a:highlight>
              <a:latin typeface="Roboto"/>
              <a:ea typeface="Roboto"/>
              <a:cs typeface="Roboto"/>
              <a:sym typeface="Roboto"/>
            </a:endParaRPr>
          </a:p>
          <a:p>
            <a:pPr indent="0" lvl="0" marL="457200" rtl="0" algn="l">
              <a:lnSpc>
                <a:spcPct val="150000"/>
              </a:lnSpc>
              <a:spcBef>
                <a:spcPts val="3600"/>
              </a:spcBef>
              <a:spcAft>
                <a:spcPts val="0"/>
              </a:spcAft>
              <a:buNone/>
            </a:pPr>
            <a:r>
              <a:t/>
            </a:r>
            <a:endParaRPr sz="1800">
              <a:solidFill>
                <a:schemeClr val="dk1"/>
              </a:solidFill>
              <a:highlight>
                <a:schemeClr val="lt1"/>
              </a:highlight>
              <a:latin typeface="Roboto"/>
              <a:ea typeface="Roboto"/>
              <a:cs typeface="Roboto"/>
              <a:sym typeface="Roboto"/>
            </a:endParaRPr>
          </a:p>
          <a:p>
            <a:pPr indent="0" lvl="0" marL="457200" rtl="0" algn="just">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rtl="0" algn="l">
              <a:lnSpc>
                <a:spcPct val="150000"/>
              </a:lnSpc>
              <a:spcBef>
                <a:spcPts val="3600"/>
              </a:spcBef>
              <a:spcAft>
                <a:spcPts val="0"/>
              </a:spcAft>
              <a:buClr>
                <a:schemeClr val="dk1"/>
              </a:buClr>
              <a:buSzPts val="1800"/>
              <a:buFont typeface="Arial"/>
              <a:buNone/>
            </a:pPr>
            <a:r>
              <a:t/>
            </a:r>
            <a:endParaRPr sz="1600">
              <a:solidFill>
                <a:schemeClr val="dk1"/>
              </a:solidFill>
              <a:highlight>
                <a:schemeClr val="lt1"/>
              </a:highlight>
              <a:latin typeface="Roboto"/>
              <a:ea typeface="Roboto"/>
              <a:cs typeface="Roboto"/>
              <a:sym typeface="Roboto"/>
            </a:endParaRPr>
          </a:p>
          <a:p>
            <a:pPr indent="0" lvl="0" marL="0" rtl="0" algn="just">
              <a:lnSpc>
                <a:spcPct val="150000"/>
              </a:lnSpc>
              <a:spcBef>
                <a:spcPts val="0"/>
              </a:spcBef>
              <a:spcAft>
                <a:spcPts val="0"/>
              </a:spcAft>
              <a:buClr>
                <a:schemeClr val="dk1"/>
              </a:buClr>
              <a:buSzPts val="1100"/>
              <a:buFont typeface="Arial"/>
              <a:buNone/>
            </a:pPr>
            <a:r>
              <a:t/>
            </a:r>
            <a:endParaRPr sz="1600">
              <a:solidFill>
                <a:schemeClr val="dk1"/>
              </a:solidFill>
              <a:highlight>
                <a:schemeClr val="lt1"/>
              </a:highlight>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sz="1600">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223" name="Google Shape;223;g321a274a146_0_168"/>
          <p:cNvSpPr txBox="1"/>
          <p:nvPr/>
        </p:nvSpPr>
        <p:spPr>
          <a:xfrm>
            <a:off x="172449" y="1053975"/>
            <a:ext cx="4876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USING BUFFER READER CLASSES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21a274a146_0_174"/>
          <p:cNvSpPr txBox="1"/>
          <p:nvPr/>
        </p:nvSpPr>
        <p:spPr>
          <a:xfrm>
            <a:off x="654550" y="45325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229" name="Google Shape;229;g321a274a146_0_174"/>
          <p:cNvSpPr txBox="1"/>
          <p:nvPr/>
        </p:nvSpPr>
        <p:spPr>
          <a:xfrm>
            <a:off x="390825" y="1471675"/>
            <a:ext cx="7978500" cy="30000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chemeClr val="dk1"/>
              </a:buClr>
              <a:buSzPts val="1800"/>
              <a:buFont typeface="Arial"/>
              <a:buNone/>
            </a:pPr>
            <a:r>
              <a:rPr b="1" lang="en-GB" sz="1600">
                <a:solidFill>
                  <a:schemeClr val="dk1"/>
                </a:solidFill>
                <a:highlight>
                  <a:schemeClr val="lt1"/>
                </a:highlight>
                <a:latin typeface="Roboto"/>
                <a:ea typeface="Roboto"/>
                <a:cs typeface="Roboto"/>
                <a:sym typeface="Roboto"/>
              </a:rPr>
              <a:t>void close() :</a:t>
            </a:r>
            <a:r>
              <a:rPr lang="en-GB" sz="1600">
                <a:solidFill>
                  <a:schemeClr val="dk1"/>
                </a:solidFill>
                <a:highlight>
                  <a:schemeClr val="lt1"/>
                </a:highlight>
                <a:latin typeface="Roboto"/>
                <a:ea typeface="Roboto"/>
                <a:cs typeface="Roboto"/>
                <a:sym typeface="Roboto"/>
              </a:rPr>
              <a:t> </a:t>
            </a:r>
            <a:endParaRPr sz="1600">
              <a:solidFill>
                <a:schemeClr val="dk1"/>
              </a:solidFill>
              <a:highlight>
                <a:schemeClr val="lt1"/>
              </a:highlight>
              <a:latin typeface="Roboto"/>
              <a:ea typeface="Roboto"/>
              <a:cs typeface="Roboto"/>
              <a:sym typeface="Roboto"/>
            </a:endParaRPr>
          </a:p>
          <a:p>
            <a:pPr indent="457200" lvl="0" marL="457200" rtl="0" algn="just">
              <a:lnSpc>
                <a:spcPct val="150000"/>
              </a:lnSpc>
              <a:spcBef>
                <a:spcPts val="0"/>
              </a:spcBef>
              <a:spcAft>
                <a:spcPts val="0"/>
              </a:spcAft>
              <a:buClr>
                <a:schemeClr val="dk1"/>
              </a:buClr>
              <a:buSzPts val="1800"/>
              <a:buFont typeface="Arial"/>
              <a:buNone/>
            </a:pPr>
            <a:r>
              <a:rPr lang="en-GB" sz="1600">
                <a:solidFill>
                  <a:schemeClr val="dk1"/>
                </a:solidFill>
                <a:highlight>
                  <a:schemeClr val="lt1"/>
                </a:highlight>
                <a:latin typeface="Roboto"/>
                <a:ea typeface="Roboto"/>
                <a:cs typeface="Roboto"/>
                <a:sym typeface="Roboto"/>
              </a:rPr>
              <a:t>Closes the stream and releases any system resources associated with it.Once the stream has been closed, further read(), ready(), mark(), reset(), or skip() invocations will throw an IOException. Closing a previously closed stream has no effect.</a:t>
            </a:r>
            <a:endParaRPr sz="1600">
              <a:solidFill>
                <a:schemeClr val="dk1"/>
              </a:solidFill>
              <a:latin typeface="Roboto"/>
              <a:ea typeface="Roboto"/>
              <a:cs typeface="Roboto"/>
              <a:sym typeface="Roboto"/>
            </a:endParaRPr>
          </a:p>
          <a:p>
            <a:pPr indent="0" lvl="0" marL="0" marR="101600" rtl="0" algn="ctr">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public void close()</a:t>
            </a:r>
            <a:endParaRPr sz="1600">
              <a:solidFill>
                <a:schemeClr val="dk1"/>
              </a:solidFill>
              <a:highlight>
                <a:schemeClr val="lt1"/>
              </a:highlight>
              <a:latin typeface="Roboto"/>
              <a:ea typeface="Roboto"/>
              <a:cs typeface="Roboto"/>
              <a:sym typeface="Roboto"/>
            </a:endParaRPr>
          </a:p>
          <a:p>
            <a:pPr indent="0" lvl="0" marL="0" marR="101600" rtl="0" algn="ctr">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throws IOException</a:t>
            </a:r>
            <a:endParaRPr sz="1600">
              <a:solidFill>
                <a:schemeClr val="dk1"/>
              </a:solidFill>
              <a:highlight>
                <a:schemeClr val="lt1"/>
              </a:highlight>
              <a:latin typeface="Roboto"/>
              <a:ea typeface="Roboto"/>
              <a:cs typeface="Roboto"/>
              <a:sym typeface="Roboto"/>
            </a:endParaRPr>
          </a:p>
          <a:p>
            <a:pPr indent="0" lvl="0" marL="0" marR="101600" rtl="0" algn="ctr">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Throws:</a:t>
            </a:r>
            <a:endParaRPr sz="1600">
              <a:solidFill>
                <a:schemeClr val="dk1"/>
              </a:solidFill>
              <a:highlight>
                <a:schemeClr val="lt1"/>
              </a:highlight>
              <a:latin typeface="Roboto"/>
              <a:ea typeface="Roboto"/>
              <a:cs typeface="Roboto"/>
              <a:sym typeface="Roboto"/>
            </a:endParaRPr>
          </a:p>
          <a:p>
            <a:pPr indent="0" lvl="0" marL="0" marR="101600" rtl="0" algn="ctr">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IOException</a:t>
            </a:r>
            <a:endParaRPr sz="1600">
              <a:solidFill>
                <a:schemeClr val="dk1"/>
              </a:solidFill>
              <a:highlight>
                <a:schemeClr val="lt1"/>
              </a:highlight>
              <a:latin typeface="Roboto"/>
              <a:ea typeface="Roboto"/>
              <a:cs typeface="Roboto"/>
              <a:sym typeface="Roboto"/>
            </a:endParaRPr>
          </a:p>
          <a:p>
            <a:pPr indent="0" lvl="0" marL="457200" rtl="0" algn="just">
              <a:lnSpc>
                <a:spcPct val="150000"/>
              </a:lnSpc>
              <a:spcBef>
                <a:spcPts val="3600"/>
              </a:spcBef>
              <a:spcAft>
                <a:spcPts val="0"/>
              </a:spcAft>
              <a:buNone/>
            </a:pPr>
            <a:r>
              <a:t/>
            </a:r>
            <a:endParaRPr b="1" sz="1600">
              <a:solidFill>
                <a:schemeClr val="dk1"/>
              </a:solidFill>
              <a:highlight>
                <a:schemeClr val="lt1"/>
              </a:highlight>
              <a:latin typeface="Roboto"/>
              <a:ea typeface="Roboto"/>
              <a:cs typeface="Roboto"/>
              <a:sym typeface="Roboto"/>
            </a:endParaRPr>
          </a:p>
          <a:p>
            <a:pPr indent="0" lvl="0" marL="457200" rtl="0" algn="just">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rtl="0" algn="l">
              <a:lnSpc>
                <a:spcPct val="150000"/>
              </a:lnSpc>
              <a:spcBef>
                <a:spcPts val="3600"/>
              </a:spcBef>
              <a:spcAft>
                <a:spcPts val="0"/>
              </a:spcAft>
              <a:buClr>
                <a:schemeClr val="dk1"/>
              </a:buClr>
              <a:buSzPts val="1800"/>
              <a:buFont typeface="Arial"/>
              <a:buNone/>
            </a:pPr>
            <a:r>
              <a:t/>
            </a:r>
            <a:endParaRPr sz="1600">
              <a:solidFill>
                <a:schemeClr val="dk1"/>
              </a:solidFill>
              <a:highlight>
                <a:schemeClr val="lt1"/>
              </a:highlight>
              <a:latin typeface="Roboto"/>
              <a:ea typeface="Roboto"/>
              <a:cs typeface="Roboto"/>
              <a:sym typeface="Roboto"/>
            </a:endParaRPr>
          </a:p>
          <a:p>
            <a:pPr indent="0" lvl="0" marL="0" rtl="0" algn="just">
              <a:lnSpc>
                <a:spcPct val="150000"/>
              </a:lnSpc>
              <a:spcBef>
                <a:spcPts val="0"/>
              </a:spcBef>
              <a:spcAft>
                <a:spcPts val="0"/>
              </a:spcAft>
              <a:buClr>
                <a:schemeClr val="dk1"/>
              </a:buClr>
              <a:buSzPts val="1100"/>
              <a:buFont typeface="Arial"/>
              <a:buNone/>
            </a:pPr>
            <a:r>
              <a:t/>
            </a:r>
            <a:endParaRPr sz="1600">
              <a:solidFill>
                <a:schemeClr val="dk1"/>
              </a:solidFill>
              <a:highlight>
                <a:schemeClr val="lt1"/>
              </a:highlight>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sz="1600">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230" name="Google Shape;230;g321a274a146_0_174"/>
          <p:cNvSpPr txBox="1"/>
          <p:nvPr/>
        </p:nvSpPr>
        <p:spPr>
          <a:xfrm>
            <a:off x="172449" y="1053975"/>
            <a:ext cx="4876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USING BUFFER READER CLASSES</a:t>
            </a:r>
            <a:endParaRPr b="0" i="0" sz="1400" u="none" cap="none" strike="noStrike">
              <a:solidFill>
                <a:srgbClr val="000000"/>
              </a:solidFill>
              <a:latin typeface="Arial"/>
              <a:ea typeface="Arial"/>
              <a:cs typeface="Arial"/>
              <a:sym typeface="Arial"/>
            </a:endParaRPr>
          </a:p>
        </p:txBody>
      </p:sp>
      <p:graphicFrame>
        <p:nvGraphicFramePr>
          <p:cNvPr id="231" name="Google Shape;231;g321a274a146_0_174"/>
          <p:cNvGraphicFramePr/>
          <p:nvPr/>
        </p:nvGraphicFramePr>
        <p:xfrm>
          <a:off x="920350" y="3297450"/>
          <a:ext cx="3000000" cy="3000000"/>
        </p:xfrm>
        <a:graphic>
          <a:graphicData uri="http://schemas.openxmlformats.org/drawingml/2006/table">
            <a:tbl>
              <a:tblPr>
                <a:noFill/>
                <a:tableStyleId>{1921DF1F-D312-4963-84A1-6E1B234B04DC}</a:tableStyleId>
              </a:tblPr>
              <a:tblGrid>
                <a:gridCol w="6956700"/>
              </a:tblGrid>
              <a:tr h="1174225">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321a274a146_0_181"/>
          <p:cNvSpPr txBox="1"/>
          <p:nvPr/>
        </p:nvSpPr>
        <p:spPr>
          <a:xfrm>
            <a:off x="654550" y="45325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237" name="Google Shape;237;g321a274a146_0_181"/>
          <p:cNvSpPr txBox="1"/>
          <p:nvPr/>
        </p:nvSpPr>
        <p:spPr>
          <a:xfrm>
            <a:off x="390825" y="1471675"/>
            <a:ext cx="7978500" cy="30000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chemeClr val="dk1"/>
              </a:buClr>
              <a:buSzPts val="1800"/>
              <a:buFont typeface="Arial"/>
              <a:buNone/>
            </a:pPr>
            <a:r>
              <a:rPr b="1" lang="en-GB" sz="1800">
                <a:solidFill>
                  <a:schemeClr val="dk1"/>
                </a:solidFill>
                <a:highlight>
                  <a:schemeClr val="lt1"/>
                </a:highlight>
                <a:latin typeface="Roboto"/>
                <a:ea typeface="Roboto"/>
                <a:cs typeface="Roboto"/>
                <a:sym typeface="Roboto"/>
              </a:rPr>
              <a:t>v</a:t>
            </a:r>
            <a:r>
              <a:rPr b="1" lang="en-GB" sz="1600">
                <a:solidFill>
                  <a:schemeClr val="dk1"/>
                </a:solidFill>
                <a:highlight>
                  <a:schemeClr val="lt1"/>
                </a:highlight>
                <a:latin typeface="Roboto"/>
                <a:ea typeface="Roboto"/>
                <a:cs typeface="Roboto"/>
                <a:sym typeface="Roboto"/>
              </a:rPr>
              <a:t>oid mark(int readAheadLimit) :</a:t>
            </a:r>
            <a:endParaRPr b="1" sz="1600">
              <a:solidFill>
                <a:schemeClr val="dk1"/>
              </a:solidFill>
              <a:highlight>
                <a:schemeClr val="lt1"/>
              </a:highlight>
              <a:latin typeface="Roboto"/>
              <a:ea typeface="Roboto"/>
              <a:cs typeface="Roboto"/>
              <a:sym typeface="Roboto"/>
            </a:endParaRPr>
          </a:p>
          <a:p>
            <a:pPr indent="0" lvl="0" marL="0" rtl="0" algn="just">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Marks the present position in the stream.Subsequent calls to reset() will attempt to reposition the stream to this point.</a:t>
            </a:r>
            <a:endParaRPr sz="1600">
              <a:solidFill>
                <a:schemeClr val="dk1"/>
              </a:solidFill>
              <a:latin typeface="Roboto"/>
              <a:ea typeface="Roboto"/>
              <a:cs typeface="Roboto"/>
              <a:sym typeface="Roboto"/>
            </a:endParaRPr>
          </a:p>
          <a:p>
            <a:pPr indent="0" lvl="0" marL="0" marR="101600" rtl="0" algn="l">
              <a:lnSpc>
                <a:spcPct val="150000"/>
              </a:lnSpc>
              <a:spcBef>
                <a:spcPts val="0"/>
              </a:spcBef>
              <a:spcAft>
                <a:spcPts val="0"/>
              </a:spcAft>
              <a:buNone/>
            </a:pPr>
            <a:r>
              <a:t/>
            </a:r>
            <a:endParaRPr b="1"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public void mark(int readAheadLimit)</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throws IOException</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Parameters:</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Throws:</a:t>
            </a:r>
            <a:endParaRPr sz="1600">
              <a:solidFill>
                <a:schemeClr val="dk1"/>
              </a:solidFill>
              <a:highlight>
                <a:schemeClr val="lt1"/>
              </a:highlight>
              <a:latin typeface="Roboto"/>
              <a:ea typeface="Roboto"/>
              <a:cs typeface="Roboto"/>
              <a:sym typeface="Roboto"/>
            </a:endParaRPr>
          </a:p>
          <a:p>
            <a:pPr indent="0" lvl="0" marL="457200" rtl="0" algn="just">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rtl="0" algn="l">
              <a:lnSpc>
                <a:spcPct val="150000"/>
              </a:lnSpc>
              <a:spcBef>
                <a:spcPts val="3600"/>
              </a:spcBef>
              <a:spcAft>
                <a:spcPts val="0"/>
              </a:spcAft>
              <a:buClr>
                <a:schemeClr val="dk1"/>
              </a:buClr>
              <a:buSzPts val="1800"/>
              <a:buFont typeface="Arial"/>
              <a:buNone/>
            </a:pPr>
            <a:r>
              <a:t/>
            </a:r>
            <a:endParaRPr sz="1600">
              <a:solidFill>
                <a:schemeClr val="dk1"/>
              </a:solidFill>
              <a:highlight>
                <a:schemeClr val="lt1"/>
              </a:highlight>
              <a:latin typeface="Roboto"/>
              <a:ea typeface="Roboto"/>
              <a:cs typeface="Roboto"/>
              <a:sym typeface="Roboto"/>
            </a:endParaRPr>
          </a:p>
          <a:p>
            <a:pPr indent="0" lvl="0" marL="0" rtl="0" algn="just">
              <a:lnSpc>
                <a:spcPct val="150000"/>
              </a:lnSpc>
              <a:spcBef>
                <a:spcPts val="0"/>
              </a:spcBef>
              <a:spcAft>
                <a:spcPts val="0"/>
              </a:spcAft>
              <a:buClr>
                <a:schemeClr val="dk1"/>
              </a:buClr>
              <a:buSzPts val="1100"/>
              <a:buFont typeface="Arial"/>
              <a:buNone/>
            </a:pPr>
            <a:r>
              <a:t/>
            </a:r>
            <a:endParaRPr sz="1600">
              <a:solidFill>
                <a:schemeClr val="dk1"/>
              </a:solidFill>
              <a:highlight>
                <a:schemeClr val="lt1"/>
              </a:highlight>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sz="1600">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238" name="Google Shape;238;g321a274a146_0_181"/>
          <p:cNvSpPr txBox="1"/>
          <p:nvPr/>
        </p:nvSpPr>
        <p:spPr>
          <a:xfrm>
            <a:off x="172449" y="1053975"/>
            <a:ext cx="4876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USING BUFFER READER CLASSES</a:t>
            </a:r>
            <a:endParaRPr b="0" i="0" sz="1400" u="none" cap="none" strike="noStrike">
              <a:solidFill>
                <a:srgbClr val="000000"/>
              </a:solidFill>
              <a:latin typeface="Arial"/>
              <a:ea typeface="Arial"/>
              <a:cs typeface="Arial"/>
              <a:sym typeface="Arial"/>
            </a:endParaRPr>
          </a:p>
        </p:txBody>
      </p:sp>
      <p:graphicFrame>
        <p:nvGraphicFramePr>
          <p:cNvPr id="239" name="Google Shape;239;g321a274a146_0_181"/>
          <p:cNvGraphicFramePr/>
          <p:nvPr/>
        </p:nvGraphicFramePr>
        <p:xfrm>
          <a:off x="1000725" y="2895600"/>
          <a:ext cx="3000000" cy="3000000"/>
        </p:xfrm>
        <a:graphic>
          <a:graphicData uri="http://schemas.openxmlformats.org/drawingml/2006/table">
            <a:tbl>
              <a:tblPr>
                <a:noFill/>
                <a:tableStyleId>{1921DF1F-D312-4963-84A1-6E1B234B04DC}</a:tableStyleId>
              </a:tblPr>
              <a:tblGrid>
                <a:gridCol w="7062200"/>
              </a:tblGrid>
              <a:tr h="1576075">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321a274a146_0_190"/>
          <p:cNvSpPr txBox="1"/>
          <p:nvPr/>
        </p:nvSpPr>
        <p:spPr>
          <a:xfrm>
            <a:off x="654550" y="45325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245" name="Google Shape;245;g321a274a146_0_190"/>
          <p:cNvSpPr txBox="1"/>
          <p:nvPr/>
        </p:nvSpPr>
        <p:spPr>
          <a:xfrm>
            <a:off x="390825" y="1471675"/>
            <a:ext cx="7978500" cy="300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800"/>
              <a:buFont typeface="Arial"/>
              <a:buNone/>
            </a:pPr>
            <a:r>
              <a:rPr b="1" lang="en-GB" sz="1600">
                <a:solidFill>
                  <a:schemeClr val="dk1"/>
                </a:solidFill>
                <a:highlight>
                  <a:schemeClr val="lt1"/>
                </a:highlight>
                <a:latin typeface="Roboto"/>
                <a:ea typeface="Roboto"/>
                <a:cs typeface="Roboto"/>
                <a:sym typeface="Roboto"/>
              </a:rPr>
              <a:t>boolean markSupported() : </a:t>
            </a:r>
            <a:endParaRPr b="1" sz="1600">
              <a:solidFill>
                <a:schemeClr val="dk1"/>
              </a:solidFill>
              <a:highlight>
                <a:schemeClr val="lt1"/>
              </a:highlight>
              <a:latin typeface="Roboto"/>
              <a:ea typeface="Roboto"/>
              <a:cs typeface="Roboto"/>
              <a:sym typeface="Roboto"/>
            </a:endParaRPr>
          </a:p>
          <a:p>
            <a:pPr indent="0" lvl="0" marL="457200" rtl="0" algn="l">
              <a:lnSpc>
                <a:spcPct val="150000"/>
              </a:lnSpc>
              <a:spcBef>
                <a:spcPts val="0"/>
              </a:spcBef>
              <a:spcAft>
                <a:spcPts val="0"/>
              </a:spcAft>
              <a:buClr>
                <a:schemeClr val="dk1"/>
              </a:buClr>
              <a:buSzPts val="1800"/>
              <a:buFont typeface="Arial"/>
              <a:buNone/>
            </a:pPr>
            <a:r>
              <a:rPr lang="en-GB" sz="1600">
                <a:solidFill>
                  <a:schemeClr val="dk1"/>
                </a:solidFill>
                <a:highlight>
                  <a:schemeClr val="lt1"/>
                </a:highlight>
                <a:latin typeface="Roboto"/>
                <a:ea typeface="Roboto"/>
                <a:cs typeface="Roboto"/>
                <a:sym typeface="Roboto"/>
              </a:rPr>
              <a:t>Tells whether this stream supports the mark() operation, which it does.</a:t>
            </a:r>
            <a:endParaRPr sz="1600">
              <a:solidFill>
                <a:schemeClr val="dk1"/>
              </a:solidFill>
              <a:latin typeface="Roboto"/>
              <a:ea typeface="Roboto"/>
              <a:cs typeface="Roboto"/>
              <a:sym typeface="Roboto"/>
            </a:endParaRPr>
          </a:p>
          <a:p>
            <a:pPr indent="0" lvl="0" marL="0" marR="101600" rtl="0" algn="l">
              <a:lnSpc>
                <a:spcPct val="150000"/>
              </a:lnSpc>
              <a:spcBef>
                <a:spcPts val="0"/>
              </a:spcBef>
              <a:spcAft>
                <a:spcPts val="0"/>
              </a:spcAft>
              <a:buNone/>
            </a:pPr>
            <a:r>
              <a:t/>
            </a:r>
            <a:endParaRPr b="1"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public boolean markSupported()</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Returns:</a:t>
            </a:r>
            <a:endParaRPr sz="1600">
              <a:solidFill>
                <a:schemeClr val="dk1"/>
              </a:solidFill>
              <a:highlight>
                <a:schemeClr val="lt1"/>
              </a:highlight>
              <a:latin typeface="Roboto"/>
              <a:ea typeface="Roboto"/>
              <a:cs typeface="Roboto"/>
              <a:sym typeface="Roboto"/>
            </a:endParaRPr>
          </a:p>
          <a:p>
            <a:pPr indent="0" lvl="0" marL="0" rtl="0" algn="ctr">
              <a:lnSpc>
                <a:spcPct val="150000"/>
              </a:lnSpc>
              <a:spcBef>
                <a:spcPts val="3600"/>
              </a:spcBef>
              <a:spcAft>
                <a:spcPts val="0"/>
              </a:spcAft>
              <a:buClr>
                <a:schemeClr val="dk1"/>
              </a:buClr>
              <a:buSzPts val="1800"/>
              <a:buFont typeface="Arial"/>
              <a:buNone/>
            </a:pPr>
            <a:r>
              <a:t/>
            </a:r>
            <a:endParaRPr sz="1600">
              <a:solidFill>
                <a:schemeClr val="dk1"/>
              </a:solidFill>
              <a:highlight>
                <a:schemeClr val="lt1"/>
              </a:highlight>
              <a:latin typeface="Roboto"/>
              <a:ea typeface="Roboto"/>
              <a:cs typeface="Roboto"/>
              <a:sym typeface="Roboto"/>
            </a:endParaRPr>
          </a:p>
          <a:p>
            <a:pPr indent="0" lvl="0" marL="0" rtl="0" algn="just">
              <a:lnSpc>
                <a:spcPct val="150000"/>
              </a:lnSpc>
              <a:spcBef>
                <a:spcPts val="0"/>
              </a:spcBef>
              <a:spcAft>
                <a:spcPts val="0"/>
              </a:spcAft>
              <a:buClr>
                <a:schemeClr val="dk1"/>
              </a:buClr>
              <a:buSzPts val="1100"/>
              <a:buFont typeface="Arial"/>
              <a:buNone/>
            </a:pPr>
            <a:r>
              <a:t/>
            </a:r>
            <a:endParaRPr sz="1600">
              <a:solidFill>
                <a:schemeClr val="dk1"/>
              </a:solidFill>
              <a:highlight>
                <a:schemeClr val="lt1"/>
              </a:highlight>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sz="1600">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246" name="Google Shape;246;g321a274a146_0_190"/>
          <p:cNvSpPr txBox="1"/>
          <p:nvPr/>
        </p:nvSpPr>
        <p:spPr>
          <a:xfrm>
            <a:off x="172449" y="1053975"/>
            <a:ext cx="4876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USING BUFFER READER CLASSES</a:t>
            </a:r>
            <a:endParaRPr b="0" i="0" sz="1400" u="none" cap="none" strike="noStrike">
              <a:solidFill>
                <a:srgbClr val="000000"/>
              </a:solidFill>
              <a:latin typeface="Arial"/>
              <a:ea typeface="Arial"/>
              <a:cs typeface="Arial"/>
              <a:sym typeface="Arial"/>
            </a:endParaRPr>
          </a:p>
        </p:txBody>
      </p:sp>
      <p:graphicFrame>
        <p:nvGraphicFramePr>
          <p:cNvPr id="247" name="Google Shape;247;g321a274a146_0_190"/>
          <p:cNvGraphicFramePr/>
          <p:nvPr/>
        </p:nvGraphicFramePr>
        <p:xfrm>
          <a:off x="872125" y="2381250"/>
          <a:ext cx="3000000" cy="3000000"/>
        </p:xfrm>
        <a:graphic>
          <a:graphicData uri="http://schemas.openxmlformats.org/drawingml/2006/table">
            <a:tbl>
              <a:tblPr>
                <a:noFill/>
                <a:tableStyleId>{1921DF1F-D312-4963-84A1-6E1B234B04DC}</a:tableStyleId>
              </a:tblPr>
              <a:tblGrid>
                <a:gridCol w="7319375"/>
              </a:tblGrid>
              <a:tr h="1248975">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21a274a146_0_198"/>
          <p:cNvSpPr txBox="1"/>
          <p:nvPr/>
        </p:nvSpPr>
        <p:spPr>
          <a:xfrm>
            <a:off x="654550" y="45325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253" name="Google Shape;253;g321a274a146_0_198"/>
          <p:cNvSpPr txBox="1"/>
          <p:nvPr/>
        </p:nvSpPr>
        <p:spPr>
          <a:xfrm>
            <a:off x="390825" y="1471675"/>
            <a:ext cx="7978500" cy="3000000"/>
          </a:xfrm>
          <a:prstGeom prst="rect">
            <a:avLst/>
          </a:prstGeom>
          <a:noFill/>
          <a:ln>
            <a:noFill/>
          </a:ln>
        </p:spPr>
        <p:txBody>
          <a:bodyPr anchorCtr="0" anchor="t" bIns="45700" lIns="91425" spcFirstLastPara="1" rIns="91425" wrap="square" tIns="45700">
            <a:noAutofit/>
          </a:bodyPr>
          <a:lstStyle/>
          <a:p>
            <a:pPr indent="457200" lvl="0" marL="0" rtl="0" algn="l">
              <a:lnSpc>
                <a:spcPct val="150000"/>
              </a:lnSpc>
              <a:spcBef>
                <a:spcPts val="0"/>
              </a:spcBef>
              <a:spcAft>
                <a:spcPts val="0"/>
              </a:spcAft>
              <a:buClr>
                <a:schemeClr val="dk1"/>
              </a:buClr>
              <a:buSzPts val="1800"/>
              <a:buFont typeface="Arial"/>
              <a:buNone/>
            </a:pPr>
            <a:r>
              <a:rPr b="1" lang="en-GB" sz="1600">
                <a:solidFill>
                  <a:schemeClr val="dk1"/>
                </a:solidFill>
                <a:highlight>
                  <a:schemeClr val="lt1"/>
                </a:highlight>
                <a:latin typeface="Roboto"/>
                <a:ea typeface="Roboto"/>
                <a:cs typeface="Roboto"/>
                <a:sym typeface="Roboto"/>
              </a:rPr>
              <a:t>int read() :</a:t>
            </a:r>
            <a:endParaRPr b="1" sz="1600">
              <a:solidFill>
                <a:schemeClr val="dk1"/>
              </a:solidFill>
              <a:highlight>
                <a:schemeClr val="lt1"/>
              </a:highlight>
              <a:latin typeface="Roboto"/>
              <a:ea typeface="Roboto"/>
              <a:cs typeface="Roboto"/>
              <a:sym typeface="Roboto"/>
            </a:endParaRPr>
          </a:p>
          <a:p>
            <a:pPr indent="457200" lvl="0" marL="457200" rtl="0" algn="l">
              <a:lnSpc>
                <a:spcPct val="150000"/>
              </a:lnSpc>
              <a:spcBef>
                <a:spcPts val="0"/>
              </a:spcBef>
              <a:spcAft>
                <a:spcPts val="0"/>
              </a:spcAft>
              <a:buClr>
                <a:schemeClr val="dk1"/>
              </a:buClr>
              <a:buSzPts val="1800"/>
              <a:buFont typeface="Arial"/>
              <a:buNone/>
            </a:pPr>
            <a:r>
              <a:rPr b="1" lang="en-GB" sz="1600">
                <a:solidFill>
                  <a:schemeClr val="dk1"/>
                </a:solidFill>
                <a:highlight>
                  <a:schemeClr val="lt1"/>
                </a:highlight>
                <a:latin typeface="Roboto"/>
                <a:ea typeface="Roboto"/>
                <a:cs typeface="Roboto"/>
                <a:sym typeface="Roboto"/>
              </a:rPr>
              <a:t> </a:t>
            </a:r>
            <a:r>
              <a:rPr lang="en-GB" sz="1600">
                <a:solidFill>
                  <a:schemeClr val="dk1"/>
                </a:solidFill>
                <a:highlight>
                  <a:schemeClr val="lt1"/>
                </a:highlight>
                <a:latin typeface="Roboto"/>
                <a:ea typeface="Roboto"/>
                <a:cs typeface="Roboto"/>
                <a:sym typeface="Roboto"/>
              </a:rPr>
              <a:t>Reads a single character.</a:t>
            </a:r>
            <a:endParaRPr sz="16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t/>
            </a:r>
            <a:endParaRPr b="1" sz="1600">
              <a:solidFill>
                <a:schemeClr val="dk1"/>
              </a:solidFill>
              <a:highlight>
                <a:schemeClr val="lt1"/>
              </a:highlight>
              <a:latin typeface="Roboto"/>
              <a:ea typeface="Roboto"/>
              <a:cs typeface="Roboto"/>
              <a:sym typeface="Roboto"/>
            </a:endParaRPr>
          </a:p>
          <a:p>
            <a:pPr indent="0" lvl="0" marL="101600" marR="101600" rtl="0" algn="ctr">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public int read() throws IOException</a:t>
            </a:r>
            <a:endParaRPr sz="1600">
              <a:solidFill>
                <a:schemeClr val="dk1"/>
              </a:solidFill>
              <a:highlight>
                <a:schemeClr val="lt1"/>
              </a:highlight>
              <a:latin typeface="Roboto"/>
              <a:ea typeface="Roboto"/>
              <a:cs typeface="Roboto"/>
              <a:sym typeface="Roboto"/>
            </a:endParaRPr>
          </a:p>
          <a:p>
            <a:pPr indent="0" lvl="0" marL="101600" marR="101600" rtl="0" algn="ctr">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Returns:</a:t>
            </a:r>
            <a:endParaRPr sz="1600">
              <a:solidFill>
                <a:schemeClr val="dk1"/>
              </a:solidFill>
              <a:highlight>
                <a:schemeClr val="lt1"/>
              </a:highlight>
              <a:latin typeface="Roboto"/>
              <a:ea typeface="Roboto"/>
              <a:cs typeface="Roboto"/>
              <a:sym typeface="Roboto"/>
            </a:endParaRPr>
          </a:p>
          <a:p>
            <a:pPr indent="0" lvl="0" marL="101600" marR="101600" rtl="0" algn="ctr">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Throws:</a:t>
            </a:r>
            <a:endParaRPr sz="1600">
              <a:solidFill>
                <a:schemeClr val="dk1"/>
              </a:solidFill>
              <a:highlight>
                <a:schemeClr val="lt1"/>
              </a:highlight>
              <a:latin typeface="Roboto"/>
              <a:ea typeface="Roboto"/>
              <a:cs typeface="Roboto"/>
              <a:sym typeface="Roboto"/>
            </a:endParaRPr>
          </a:p>
          <a:p>
            <a:pPr indent="0" lvl="0" marL="101600" marR="101600" rtl="0" algn="ctr">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IOException</a:t>
            </a:r>
            <a:endParaRPr sz="1600">
              <a:solidFill>
                <a:schemeClr val="dk1"/>
              </a:solidFill>
              <a:highlight>
                <a:schemeClr val="lt1"/>
              </a:highlight>
              <a:latin typeface="Roboto"/>
              <a:ea typeface="Roboto"/>
              <a:cs typeface="Roboto"/>
              <a:sym typeface="Roboto"/>
            </a:endParaRPr>
          </a:p>
          <a:p>
            <a:pPr indent="0" lvl="0" marL="0" marR="101600" rtl="0" algn="l">
              <a:lnSpc>
                <a:spcPct val="150000"/>
              </a:lnSpc>
              <a:spcBef>
                <a:spcPts val="0"/>
              </a:spcBef>
              <a:spcAft>
                <a:spcPts val="0"/>
              </a:spcAft>
              <a:buNone/>
            </a:pPr>
            <a:r>
              <a:t/>
            </a:r>
            <a:endParaRPr b="1" sz="1600">
              <a:solidFill>
                <a:schemeClr val="dk1"/>
              </a:solidFill>
              <a:highlight>
                <a:schemeClr val="lt1"/>
              </a:highlight>
              <a:latin typeface="Roboto"/>
              <a:ea typeface="Roboto"/>
              <a:cs typeface="Roboto"/>
              <a:sym typeface="Roboto"/>
            </a:endParaRPr>
          </a:p>
          <a:p>
            <a:pPr indent="0" lvl="0" marL="0" rtl="0" algn="ctr">
              <a:lnSpc>
                <a:spcPct val="150000"/>
              </a:lnSpc>
              <a:spcBef>
                <a:spcPts val="3600"/>
              </a:spcBef>
              <a:spcAft>
                <a:spcPts val="0"/>
              </a:spcAft>
              <a:buClr>
                <a:schemeClr val="dk1"/>
              </a:buClr>
              <a:buSzPts val="1800"/>
              <a:buFont typeface="Arial"/>
              <a:buNone/>
            </a:pPr>
            <a:r>
              <a:t/>
            </a:r>
            <a:endParaRPr sz="1600">
              <a:solidFill>
                <a:schemeClr val="dk1"/>
              </a:solidFill>
              <a:highlight>
                <a:schemeClr val="lt1"/>
              </a:highlight>
              <a:latin typeface="Roboto"/>
              <a:ea typeface="Roboto"/>
              <a:cs typeface="Roboto"/>
              <a:sym typeface="Roboto"/>
            </a:endParaRPr>
          </a:p>
          <a:p>
            <a:pPr indent="0" lvl="0" marL="0" rtl="0" algn="just">
              <a:lnSpc>
                <a:spcPct val="150000"/>
              </a:lnSpc>
              <a:spcBef>
                <a:spcPts val="0"/>
              </a:spcBef>
              <a:spcAft>
                <a:spcPts val="0"/>
              </a:spcAft>
              <a:buClr>
                <a:schemeClr val="dk1"/>
              </a:buClr>
              <a:buSzPts val="1100"/>
              <a:buFont typeface="Arial"/>
              <a:buNone/>
            </a:pPr>
            <a:r>
              <a:t/>
            </a:r>
            <a:endParaRPr sz="1600">
              <a:solidFill>
                <a:schemeClr val="dk1"/>
              </a:solidFill>
              <a:highlight>
                <a:schemeClr val="lt1"/>
              </a:highlight>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sz="1600">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254" name="Google Shape;254;g321a274a146_0_198"/>
          <p:cNvSpPr txBox="1"/>
          <p:nvPr/>
        </p:nvSpPr>
        <p:spPr>
          <a:xfrm>
            <a:off x="172449" y="1053975"/>
            <a:ext cx="4876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USING BUFFER READER CLASSES</a:t>
            </a:r>
            <a:endParaRPr b="0" i="0" sz="1400" u="none" cap="none" strike="noStrike">
              <a:solidFill>
                <a:srgbClr val="000000"/>
              </a:solidFill>
              <a:latin typeface="Arial"/>
              <a:ea typeface="Arial"/>
              <a:cs typeface="Arial"/>
              <a:sym typeface="Arial"/>
            </a:endParaRPr>
          </a:p>
        </p:txBody>
      </p:sp>
      <p:graphicFrame>
        <p:nvGraphicFramePr>
          <p:cNvPr id="255" name="Google Shape;255;g321a274a146_0_198"/>
          <p:cNvGraphicFramePr/>
          <p:nvPr/>
        </p:nvGraphicFramePr>
        <p:xfrm>
          <a:off x="1016800" y="2381250"/>
          <a:ext cx="3000000" cy="3000000"/>
        </p:xfrm>
        <a:graphic>
          <a:graphicData uri="http://schemas.openxmlformats.org/drawingml/2006/table">
            <a:tbl>
              <a:tblPr>
                <a:noFill/>
                <a:tableStyleId>{1921DF1F-D312-4963-84A1-6E1B234B04DC}</a:tableStyleId>
              </a:tblPr>
              <a:tblGrid>
                <a:gridCol w="7174700"/>
              </a:tblGrid>
              <a:tr h="1992325">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321a274a146_0_206"/>
          <p:cNvSpPr txBox="1"/>
          <p:nvPr/>
        </p:nvSpPr>
        <p:spPr>
          <a:xfrm>
            <a:off x="654550" y="45325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261" name="Google Shape;261;g321a274a146_0_206"/>
          <p:cNvSpPr txBox="1"/>
          <p:nvPr/>
        </p:nvSpPr>
        <p:spPr>
          <a:xfrm>
            <a:off x="390825" y="1471675"/>
            <a:ext cx="7978500" cy="300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800"/>
              <a:buFont typeface="Arial"/>
              <a:buNone/>
            </a:pPr>
            <a:r>
              <a:rPr b="1" lang="en-GB" sz="1600">
                <a:solidFill>
                  <a:schemeClr val="dk1"/>
                </a:solidFill>
                <a:highlight>
                  <a:schemeClr val="lt1"/>
                </a:highlight>
                <a:latin typeface="Roboto"/>
                <a:ea typeface="Roboto"/>
                <a:cs typeface="Roboto"/>
                <a:sym typeface="Roboto"/>
              </a:rPr>
              <a:t>int read(char[] cbuf, int off, int len) :</a:t>
            </a:r>
            <a:endParaRPr b="1" sz="1600">
              <a:solidFill>
                <a:schemeClr val="dk1"/>
              </a:solidFill>
              <a:highlight>
                <a:schemeClr val="lt1"/>
              </a:highlight>
              <a:latin typeface="Roboto"/>
              <a:ea typeface="Roboto"/>
              <a:cs typeface="Roboto"/>
              <a:sym typeface="Roboto"/>
            </a:endParaRPr>
          </a:p>
          <a:p>
            <a:pPr indent="457200" lvl="0" marL="457200" rtl="0" algn="l">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 Reads characters into a portion of an array.</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public int read()</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throws IOException</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Returns:</a:t>
            </a:r>
            <a:endParaRPr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Throws:</a:t>
            </a:r>
            <a:endParaRPr sz="1600">
              <a:solidFill>
                <a:schemeClr val="dk1"/>
              </a:solidFill>
              <a:highlight>
                <a:schemeClr val="lt1"/>
              </a:highlight>
              <a:latin typeface="Roboto"/>
              <a:ea typeface="Roboto"/>
              <a:cs typeface="Roboto"/>
              <a:sym typeface="Roboto"/>
            </a:endParaRPr>
          </a:p>
          <a:p>
            <a:pPr indent="0" lvl="0" marL="0" rtl="0" algn="ctr">
              <a:lnSpc>
                <a:spcPct val="150000"/>
              </a:lnSpc>
              <a:spcBef>
                <a:spcPts val="0"/>
              </a:spcBef>
              <a:spcAft>
                <a:spcPts val="0"/>
              </a:spcAft>
              <a:buNone/>
            </a:pPr>
            <a:r>
              <a:t/>
            </a:r>
            <a:endParaRPr sz="1800">
              <a:solidFill>
                <a:schemeClr val="dk1"/>
              </a:solidFill>
              <a:highlight>
                <a:schemeClr val="lt1"/>
              </a:highlight>
              <a:latin typeface="Roboto"/>
              <a:ea typeface="Roboto"/>
              <a:cs typeface="Roboto"/>
              <a:sym typeface="Roboto"/>
            </a:endParaRPr>
          </a:p>
          <a:p>
            <a:pPr indent="0" lvl="0" marL="457200" rtl="0" algn="l">
              <a:lnSpc>
                <a:spcPct val="150000"/>
              </a:lnSpc>
              <a:spcBef>
                <a:spcPts val="0"/>
              </a:spcBef>
              <a:spcAft>
                <a:spcPts val="0"/>
              </a:spcAft>
              <a:buNone/>
            </a:pPr>
            <a:r>
              <a:t/>
            </a:r>
            <a:endParaRPr b="1" sz="1600">
              <a:solidFill>
                <a:schemeClr val="dk1"/>
              </a:solidFill>
              <a:highlight>
                <a:schemeClr val="lt1"/>
              </a:highlight>
              <a:latin typeface="Roboto"/>
              <a:ea typeface="Roboto"/>
              <a:cs typeface="Roboto"/>
              <a:sym typeface="Roboto"/>
            </a:endParaRPr>
          </a:p>
          <a:p>
            <a:pPr indent="0" lvl="0" marL="0" rtl="0" algn="ctr">
              <a:lnSpc>
                <a:spcPct val="150000"/>
              </a:lnSpc>
              <a:spcBef>
                <a:spcPts val="3600"/>
              </a:spcBef>
              <a:spcAft>
                <a:spcPts val="0"/>
              </a:spcAft>
              <a:buClr>
                <a:schemeClr val="dk1"/>
              </a:buClr>
              <a:buSzPts val="1800"/>
              <a:buFont typeface="Arial"/>
              <a:buNone/>
            </a:pPr>
            <a:r>
              <a:t/>
            </a:r>
            <a:endParaRPr sz="1600">
              <a:solidFill>
                <a:schemeClr val="dk1"/>
              </a:solidFill>
              <a:highlight>
                <a:schemeClr val="lt1"/>
              </a:highlight>
              <a:latin typeface="Roboto"/>
              <a:ea typeface="Roboto"/>
              <a:cs typeface="Roboto"/>
              <a:sym typeface="Roboto"/>
            </a:endParaRPr>
          </a:p>
          <a:p>
            <a:pPr indent="0" lvl="0" marL="0" rtl="0" algn="just">
              <a:lnSpc>
                <a:spcPct val="150000"/>
              </a:lnSpc>
              <a:spcBef>
                <a:spcPts val="0"/>
              </a:spcBef>
              <a:spcAft>
                <a:spcPts val="0"/>
              </a:spcAft>
              <a:buClr>
                <a:schemeClr val="dk1"/>
              </a:buClr>
              <a:buSzPts val="1100"/>
              <a:buFont typeface="Arial"/>
              <a:buNone/>
            </a:pPr>
            <a:r>
              <a:t/>
            </a:r>
            <a:endParaRPr sz="1600">
              <a:solidFill>
                <a:schemeClr val="dk1"/>
              </a:solidFill>
              <a:highlight>
                <a:schemeClr val="lt1"/>
              </a:highlight>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sz="1600">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262" name="Google Shape;262;g321a274a146_0_206"/>
          <p:cNvSpPr txBox="1"/>
          <p:nvPr/>
        </p:nvSpPr>
        <p:spPr>
          <a:xfrm>
            <a:off x="172449" y="1053975"/>
            <a:ext cx="4876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USING BUFFER READER CLASSES</a:t>
            </a:r>
            <a:endParaRPr b="0" i="0" sz="1400" u="none" cap="none" strike="noStrike">
              <a:solidFill>
                <a:srgbClr val="000000"/>
              </a:solidFill>
              <a:latin typeface="Arial"/>
              <a:ea typeface="Arial"/>
              <a:cs typeface="Arial"/>
              <a:sym typeface="Arial"/>
            </a:endParaRPr>
          </a:p>
        </p:txBody>
      </p:sp>
      <p:graphicFrame>
        <p:nvGraphicFramePr>
          <p:cNvPr id="263" name="Google Shape;263;g321a274a146_0_206"/>
          <p:cNvGraphicFramePr/>
          <p:nvPr/>
        </p:nvGraphicFramePr>
        <p:xfrm>
          <a:off x="823900" y="2381250"/>
          <a:ext cx="3000000" cy="3000000"/>
        </p:xfrm>
        <a:graphic>
          <a:graphicData uri="http://schemas.openxmlformats.org/drawingml/2006/table">
            <a:tbl>
              <a:tblPr>
                <a:noFill/>
                <a:tableStyleId>{1921DF1F-D312-4963-84A1-6E1B234B04DC}</a:tableStyleId>
              </a:tblPr>
              <a:tblGrid>
                <a:gridCol w="7367600"/>
              </a:tblGrid>
              <a:tr h="1855500">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21a274a146_0_214"/>
          <p:cNvSpPr txBox="1"/>
          <p:nvPr/>
        </p:nvSpPr>
        <p:spPr>
          <a:xfrm>
            <a:off x="654550" y="45325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269" name="Google Shape;269;g321a274a146_0_214"/>
          <p:cNvSpPr txBox="1"/>
          <p:nvPr/>
        </p:nvSpPr>
        <p:spPr>
          <a:xfrm>
            <a:off x="390825" y="1471675"/>
            <a:ext cx="7978500" cy="30000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None/>
            </a:pPr>
            <a:r>
              <a:rPr b="1" lang="en-GB" sz="1600">
                <a:solidFill>
                  <a:schemeClr val="dk1"/>
                </a:solidFill>
                <a:highlight>
                  <a:schemeClr val="lt1"/>
                </a:highlight>
                <a:latin typeface="Roboto"/>
                <a:ea typeface="Roboto"/>
                <a:cs typeface="Roboto"/>
                <a:sym typeface="Roboto"/>
              </a:rPr>
              <a:t>String readLine() :</a:t>
            </a:r>
            <a:r>
              <a:rPr lang="en-GB" sz="1600">
                <a:solidFill>
                  <a:schemeClr val="dk1"/>
                </a:solidFill>
                <a:highlight>
                  <a:schemeClr val="lt1"/>
                </a:highlight>
                <a:latin typeface="Roboto"/>
                <a:ea typeface="Roboto"/>
                <a:cs typeface="Roboto"/>
                <a:sym typeface="Roboto"/>
              </a:rPr>
              <a:t> </a:t>
            </a:r>
            <a:endParaRPr sz="1600">
              <a:solidFill>
                <a:schemeClr val="dk1"/>
              </a:solidFill>
              <a:highlight>
                <a:schemeClr val="lt1"/>
              </a:highlight>
              <a:latin typeface="Roboto"/>
              <a:ea typeface="Roboto"/>
              <a:cs typeface="Roboto"/>
              <a:sym typeface="Roboto"/>
            </a:endParaRPr>
          </a:p>
          <a:p>
            <a:pPr indent="457200" lvl="0" marL="457200" rtl="0" algn="just">
              <a:lnSpc>
                <a:spcPct val="150000"/>
              </a:lnSpc>
              <a:spcBef>
                <a:spcPts val="0"/>
              </a:spcBef>
              <a:spcAft>
                <a:spcPts val="0"/>
              </a:spcAft>
              <a:buClr>
                <a:schemeClr val="dk1"/>
              </a:buClr>
              <a:buSzPts val="1800"/>
              <a:buFont typeface="Arial"/>
              <a:buNone/>
            </a:pPr>
            <a:r>
              <a:rPr lang="en-GB" sz="1600">
                <a:solidFill>
                  <a:schemeClr val="dk1"/>
                </a:solidFill>
                <a:highlight>
                  <a:schemeClr val="lt1"/>
                </a:highlight>
                <a:latin typeface="Roboto"/>
                <a:ea typeface="Roboto"/>
                <a:cs typeface="Roboto"/>
                <a:sym typeface="Roboto"/>
              </a:rPr>
              <a:t>Reads a line of text.A line is considered to be terminated by any one of a line feed (‘\n’), a carriage return (‘\r’), or a carriage return followed immediately by a linefeed</a:t>
            </a:r>
            <a:endParaRPr sz="16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t/>
            </a:r>
            <a:endParaRPr b="1" sz="1600">
              <a:solidFill>
                <a:schemeClr val="dk1"/>
              </a:solidFill>
              <a:highlight>
                <a:schemeClr val="lt1"/>
              </a:highlight>
              <a:latin typeface="Roboto"/>
              <a:ea typeface="Roboto"/>
              <a:cs typeface="Roboto"/>
              <a:sym typeface="Roboto"/>
            </a:endParaRPr>
          </a:p>
          <a:p>
            <a:pPr indent="0" lvl="0" marL="0" marR="101600" rtl="0" algn="ctr">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0" rtl="0" algn="just">
              <a:lnSpc>
                <a:spcPct val="150000"/>
              </a:lnSpc>
              <a:spcBef>
                <a:spcPts val="0"/>
              </a:spcBef>
              <a:spcAft>
                <a:spcPts val="0"/>
              </a:spcAft>
              <a:buClr>
                <a:schemeClr val="dk1"/>
              </a:buClr>
              <a:buSzPts val="1100"/>
              <a:buFont typeface="Arial"/>
              <a:buNone/>
            </a:pPr>
            <a:r>
              <a:t/>
            </a:r>
            <a:endParaRPr sz="1600">
              <a:solidFill>
                <a:schemeClr val="dk1"/>
              </a:solidFill>
              <a:highlight>
                <a:schemeClr val="lt1"/>
              </a:highlight>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sz="1600">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270" name="Google Shape;270;g321a274a146_0_214"/>
          <p:cNvSpPr txBox="1"/>
          <p:nvPr/>
        </p:nvSpPr>
        <p:spPr>
          <a:xfrm>
            <a:off x="172449" y="1053975"/>
            <a:ext cx="4876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USING BUFFER READER CLASSES</a:t>
            </a:r>
            <a:endParaRPr b="0" i="0" sz="1400" u="none" cap="none" strike="noStrike">
              <a:solidFill>
                <a:srgbClr val="000000"/>
              </a:solidFill>
              <a:latin typeface="Arial"/>
              <a:ea typeface="Arial"/>
              <a:cs typeface="Arial"/>
              <a:sym typeface="Arial"/>
            </a:endParaRPr>
          </a:p>
        </p:txBody>
      </p:sp>
      <p:sp>
        <p:nvSpPr>
          <p:cNvPr id="271" name="Google Shape;271;g321a274a146_0_214"/>
          <p:cNvSpPr txBox="1"/>
          <p:nvPr/>
        </p:nvSpPr>
        <p:spPr>
          <a:xfrm>
            <a:off x="2632900" y="3086100"/>
            <a:ext cx="3000000" cy="1539300"/>
          </a:xfrm>
          <a:prstGeom prst="rect">
            <a:avLst/>
          </a:prstGeom>
          <a:noFill/>
          <a:ln>
            <a:noFill/>
          </a:ln>
        </p:spPr>
        <p:txBody>
          <a:bodyPr anchorCtr="0" anchor="t" bIns="91425" lIns="91425" spcFirstLastPara="1" rIns="91425" wrap="square" tIns="91425">
            <a:spAutoFit/>
          </a:bodyPr>
          <a:lstStyle/>
          <a:p>
            <a:pPr indent="0" lvl="0" marL="0" marR="101600" rtl="0" algn="l">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public String readLine()</a:t>
            </a:r>
            <a:endParaRPr sz="1600">
              <a:solidFill>
                <a:schemeClr val="dk1"/>
              </a:solidFill>
              <a:highlight>
                <a:schemeClr val="lt1"/>
              </a:highlight>
              <a:latin typeface="Roboto"/>
              <a:ea typeface="Roboto"/>
              <a:cs typeface="Roboto"/>
              <a:sym typeface="Roboto"/>
            </a:endParaRPr>
          </a:p>
          <a:p>
            <a:pPr indent="0" lvl="0" marL="0" marR="101600" rtl="0" algn="l">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throws IOException</a:t>
            </a:r>
            <a:endParaRPr sz="1600">
              <a:solidFill>
                <a:schemeClr val="dk1"/>
              </a:solidFill>
              <a:highlight>
                <a:schemeClr val="lt1"/>
              </a:highlight>
              <a:latin typeface="Roboto"/>
              <a:ea typeface="Roboto"/>
              <a:cs typeface="Roboto"/>
              <a:sym typeface="Roboto"/>
            </a:endParaRPr>
          </a:p>
          <a:p>
            <a:pPr indent="0" lvl="0" marL="0" marR="101600" rtl="0" algn="l">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Returns:</a:t>
            </a:r>
            <a:endParaRPr sz="1600">
              <a:solidFill>
                <a:schemeClr val="dk1"/>
              </a:solidFill>
              <a:highlight>
                <a:schemeClr val="lt1"/>
              </a:highlight>
              <a:latin typeface="Roboto"/>
              <a:ea typeface="Roboto"/>
              <a:cs typeface="Roboto"/>
              <a:sym typeface="Roboto"/>
            </a:endParaRPr>
          </a:p>
          <a:p>
            <a:pPr indent="0" lvl="0" marL="0" marR="101600" rtl="0" algn="l">
              <a:lnSpc>
                <a:spcPct val="150000"/>
              </a:lnSpc>
              <a:spcBef>
                <a:spcPts val="0"/>
              </a:spcBef>
              <a:spcAft>
                <a:spcPts val="0"/>
              </a:spcAft>
              <a:buNone/>
            </a:pPr>
            <a:r>
              <a:rPr lang="en-GB" sz="1600">
                <a:solidFill>
                  <a:schemeClr val="dk1"/>
                </a:solidFill>
                <a:highlight>
                  <a:schemeClr val="lt1"/>
                </a:highlight>
                <a:latin typeface="Roboto"/>
                <a:ea typeface="Roboto"/>
                <a:cs typeface="Roboto"/>
                <a:sym typeface="Roboto"/>
              </a:rPr>
              <a:t>Throws:</a:t>
            </a:r>
            <a:endParaRPr sz="1600">
              <a:solidFill>
                <a:schemeClr val="dk1"/>
              </a:solidFill>
              <a:highlight>
                <a:schemeClr val="lt1"/>
              </a:highlight>
              <a:latin typeface="Roboto"/>
              <a:ea typeface="Roboto"/>
              <a:cs typeface="Roboto"/>
              <a:sym typeface="Roboto"/>
            </a:endParaRPr>
          </a:p>
        </p:txBody>
      </p:sp>
      <p:graphicFrame>
        <p:nvGraphicFramePr>
          <p:cNvPr id="272" name="Google Shape;272;g321a274a146_0_214"/>
          <p:cNvGraphicFramePr/>
          <p:nvPr/>
        </p:nvGraphicFramePr>
        <p:xfrm>
          <a:off x="1499000" y="2975975"/>
          <a:ext cx="3000000" cy="3000000"/>
        </p:xfrm>
        <a:graphic>
          <a:graphicData uri="http://schemas.openxmlformats.org/drawingml/2006/table">
            <a:tbl>
              <a:tblPr>
                <a:noFill/>
                <a:tableStyleId>{1921DF1F-D312-4963-84A1-6E1B234B04DC}</a:tableStyleId>
              </a:tblPr>
              <a:tblGrid>
                <a:gridCol w="5953125"/>
              </a:tblGrid>
              <a:tr h="1731175">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321a274a146_0_224"/>
          <p:cNvSpPr txBox="1"/>
          <p:nvPr/>
        </p:nvSpPr>
        <p:spPr>
          <a:xfrm>
            <a:off x="654550" y="45325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278" name="Google Shape;278;g321a274a146_0_224"/>
          <p:cNvSpPr txBox="1"/>
          <p:nvPr/>
        </p:nvSpPr>
        <p:spPr>
          <a:xfrm>
            <a:off x="390825" y="1471675"/>
            <a:ext cx="79785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279" name="Google Shape;279;g321a274a146_0_224"/>
          <p:cNvSpPr txBox="1"/>
          <p:nvPr/>
        </p:nvSpPr>
        <p:spPr>
          <a:xfrm>
            <a:off x="172449" y="1053975"/>
            <a:ext cx="4876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USING BUFFER READER CLASSES</a:t>
            </a:r>
            <a:endParaRPr b="0" i="0" sz="1400" u="none" cap="none" strike="noStrike">
              <a:solidFill>
                <a:srgbClr val="000000"/>
              </a:solidFill>
              <a:latin typeface="Arial"/>
              <a:ea typeface="Arial"/>
              <a:cs typeface="Arial"/>
              <a:sym typeface="Arial"/>
            </a:endParaRPr>
          </a:p>
        </p:txBody>
      </p:sp>
      <p:sp>
        <p:nvSpPr>
          <p:cNvPr id="280" name="Google Shape;280;g321a274a146_0_224"/>
          <p:cNvSpPr txBox="1"/>
          <p:nvPr/>
        </p:nvSpPr>
        <p:spPr>
          <a:xfrm>
            <a:off x="910150" y="1471675"/>
            <a:ext cx="6445500" cy="338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import java.io.BufferedReader;</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import java.io.IOException;</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import java.io.InputStreamReader;</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public class Test </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  public static void main(String[] args) throws IOException </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  BufferedReader reader = </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  new BufferedReader(new InputStreamReader(System.in));</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  String name = reader.readLine();</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  System.out.println(name);       </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a:t>
            </a:r>
            <a:endParaRPr sz="1600">
              <a:solidFill>
                <a:schemeClr val="dk1"/>
              </a:solidFill>
              <a:highlight>
                <a:schemeClr val="lt1"/>
              </a:highlight>
              <a:latin typeface="Roboto"/>
              <a:ea typeface="Roboto"/>
              <a:cs typeface="Roboto"/>
              <a:sym typeface="Roboto"/>
            </a:endParaRPr>
          </a:p>
          <a:p>
            <a:pPr indent="0" lvl="0" marL="0" marR="101600" rtl="0" algn="l">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p:txBody>
      </p:sp>
      <p:graphicFrame>
        <p:nvGraphicFramePr>
          <p:cNvPr id="281" name="Google Shape;281;g321a274a146_0_224"/>
          <p:cNvGraphicFramePr/>
          <p:nvPr/>
        </p:nvGraphicFramePr>
        <p:xfrm>
          <a:off x="558100" y="1471675"/>
          <a:ext cx="3000000" cy="3000000"/>
        </p:xfrm>
        <a:graphic>
          <a:graphicData uri="http://schemas.openxmlformats.org/drawingml/2006/table">
            <a:tbl>
              <a:tblPr>
                <a:noFill/>
                <a:tableStyleId>{1921DF1F-D312-4963-84A1-6E1B234B04DC}</a:tableStyleId>
              </a:tblPr>
              <a:tblGrid>
                <a:gridCol w="7633400"/>
              </a:tblGrid>
              <a:tr h="3139025">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21a274a146_0_233"/>
          <p:cNvSpPr txBox="1"/>
          <p:nvPr/>
        </p:nvSpPr>
        <p:spPr>
          <a:xfrm>
            <a:off x="654550" y="45325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287" name="Google Shape;287;g321a274a146_0_233"/>
          <p:cNvSpPr txBox="1"/>
          <p:nvPr/>
        </p:nvSpPr>
        <p:spPr>
          <a:xfrm>
            <a:off x="390825" y="1471675"/>
            <a:ext cx="79785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288" name="Google Shape;288;g321a274a146_0_233"/>
          <p:cNvSpPr txBox="1"/>
          <p:nvPr/>
        </p:nvSpPr>
        <p:spPr>
          <a:xfrm>
            <a:off x="172449" y="1053975"/>
            <a:ext cx="4876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USING BUFFER READER CLASSES</a:t>
            </a:r>
            <a:endParaRPr b="0" i="0" sz="1400" u="none" cap="none" strike="noStrike">
              <a:solidFill>
                <a:srgbClr val="000000"/>
              </a:solidFill>
              <a:latin typeface="Arial"/>
              <a:ea typeface="Arial"/>
              <a:cs typeface="Arial"/>
              <a:sym typeface="Arial"/>
            </a:endParaRPr>
          </a:p>
        </p:txBody>
      </p:sp>
      <p:sp>
        <p:nvSpPr>
          <p:cNvPr id="289" name="Google Shape;289;g321a274a146_0_233"/>
          <p:cNvSpPr txBox="1"/>
          <p:nvPr/>
        </p:nvSpPr>
        <p:spPr>
          <a:xfrm>
            <a:off x="829800" y="1439875"/>
            <a:ext cx="64455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highlight>
                  <a:schemeClr val="lt1"/>
                </a:highlight>
                <a:latin typeface="Roboto"/>
                <a:ea typeface="Roboto"/>
                <a:cs typeface="Roboto"/>
                <a:sym typeface="Roboto"/>
              </a:rPr>
              <a:t>class BufferedReaderExample {  </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  public static void main(String args[])throws Exception{    </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    FileReader fr=new FileReader("D:\\testout.txt");    </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    BufferedReader br=new BufferedReader(fr);    </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    int i;    </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    while((i=br.read())!=-1){  </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      System.out.print((char)i);  </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    }  </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    br.close();    </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    fr.close();    </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  }    </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None/>
            </a:pPr>
            <a:r>
              <a:rPr lang="en-GB" sz="1600">
                <a:solidFill>
                  <a:schemeClr val="dk1"/>
                </a:solidFill>
                <a:highlight>
                  <a:schemeClr val="lt1"/>
                </a:highlight>
                <a:latin typeface="Roboto"/>
                <a:ea typeface="Roboto"/>
                <a:cs typeface="Roboto"/>
                <a:sym typeface="Roboto"/>
              </a:rPr>
              <a:t>}</a:t>
            </a:r>
            <a:endParaRPr sz="1600">
              <a:solidFill>
                <a:schemeClr val="dk1"/>
              </a:solidFill>
              <a:highlight>
                <a:schemeClr val="lt1"/>
              </a:highlight>
              <a:latin typeface="Roboto"/>
              <a:ea typeface="Roboto"/>
              <a:cs typeface="Roboto"/>
              <a:sym typeface="Roboto"/>
            </a:endParaRPr>
          </a:p>
          <a:p>
            <a:pPr indent="0" lvl="0" marL="0" rtl="0" algn="l">
              <a:spcBef>
                <a:spcPts val="0"/>
              </a:spcBef>
              <a:spcAft>
                <a:spcPts val="0"/>
              </a:spcAft>
              <a:buNone/>
            </a:pPr>
            <a:r>
              <a:t/>
            </a:r>
            <a:endParaRPr sz="1600">
              <a:solidFill>
                <a:schemeClr val="dk1"/>
              </a:solidFill>
              <a:highlight>
                <a:schemeClr val="lt1"/>
              </a:highlight>
              <a:latin typeface="Roboto"/>
              <a:ea typeface="Roboto"/>
              <a:cs typeface="Roboto"/>
              <a:sym typeface="Roboto"/>
            </a:endParaRPr>
          </a:p>
        </p:txBody>
      </p:sp>
      <p:graphicFrame>
        <p:nvGraphicFramePr>
          <p:cNvPr id="290" name="Google Shape;290;g321a274a146_0_233"/>
          <p:cNvGraphicFramePr/>
          <p:nvPr/>
        </p:nvGraphicFramePr>
        <p:xfrm>
          <a:off x="654550" y="1439875"/>
          <a:ext cx="3000000" cy="3000000"/>
        </p:xfrm>
        <a:graphic>
          <a:graphicData uri="http://schemas.openxmlformats.org/drawingml/2006/table">
            <a:tbl>
              <a:tblPr>
                <a:noFill/>
                <a:tableStyleId>{1921DF1F-D312-4963-84A1-6E1B234B04DC}</a:tableStyleId>
              </a:tblPr>
              <a:tblGrid>
                <a:gridCol w="7536950"/>
              </a:tblGrid>
              <a:tr h="3299425">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g3208ef83a81_0_0"/>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296" name="Google Shape;296;g3208ef83a81_0_0"/>
          <p:cNvSpPr txBox="1"/>
          <p:nvPr/>
        </p:nvSpPr>
        <p:spPr>
          <a:xfrm>
            <a:off x="392700" y="1053975"/>
            <a:ext cx="8358600" cy="13305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chemeClr val="dk1"/>
              </a:buClr>
              <a:buSzPts val="1800"/>
              <a:buFont typeface="Arial"/>
              <a:buNone/>
            </a:pPr>
            <a:r>
              <a:rPr lang="en-GB" sz="1600">
                <a:solidFill>
                  <a:schemeClr val="dk1"/>
                </a:solidFill>
                <a:highlight>
                  <a:schemeClr val="lt1"/>
                </a:highlight>
                <a:latin typeface="Roboto"/>
                <a:ea typeface="Roboto"/>
                <a:cs typeface="Roboto"/>
                <a:sym typeface="Roboto"/>
              </a:rPr>
              <a:t>This is probably the most preferred method to take input. The main purpose of the Scanner class is to parse primitive types and strings using regular expressions, however it is also can be used to read input from the user in the command line.</a:t>
            </a:r>
            <a:endParaRPr sz="1600">
              <a:solidFill>
                <a:schemeClr val="dk1"/>
              </a:solidFill>
              <a:highlight>
                <a:schemeClr val="lt1"/>
              </a:highlight>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b="1" lang="en-GB" sz="1600">
                <a:solidFill>
                  <a:schemeClr val="dk1"/>
                </a:solidFill>
                <a:highlight>
                  <a:schemeClr val="lt1"/>
                </a:highlight>
                <a:latin typeface="Roboto"/>
                <a:ea typeface="Roboto"/>
                <a:cs typeface="Roboto"/>
                <a:sym typeface="Roboto"/>
              </a:rPr>
              <a:t>Advantage</a:t>
            </a:r>
            <a:endParaRPr b="1" sz="1600">
              <a:solidFill>
                <a:schemeClr val="dk1"/>
              </a:solidFill>
              <a:highlight>
                <a:schemeClr val="lt1"/>
              </a:highlight>
              <a:latin typeface="Roboto"/>
              <a:ea typeface="Roboto"/>
              <a:cs typeface="Roboto"/>
              <a:sym typeface="Roboto"/>
            </a:endParaRPr>
          </a:p>
          <a:p>
            <a:pPr indent="-330200" lvl="0" marL="457200" rtl="0" algn="just">
              <a:lnSpc>
                <a:spcPct val="150000"/>
              </a:lnSpc>
              <a:spcBef>
                <a:spcPts val="0"/>
              </a:spcBef>
              <a:spcAft>
                <a:spcPts val="0"/>
              </a:spcAft>
              <a:buClr>
                <a:schemeClr val="dk1"/>
              </a:buClr>
              <a:buSzPts val="1600"/>
              <a:buFont typeface="Roboto"/>
              <a:buChar char="●"/>
            </a:pPr>
            <a:r>
              <a:rPr lang="en-GB" sz="1600">
                <a:solidFill>
                  <a:schemeClr val="dk1"/>
                </a:solidFill>
                <a:highlight>
                  <a:schemeClr val="lt1"/>
                </a:highlight>
                <a:latin typeface="Roboto"/>
                <a:ea typeface="Roboto"/>
                <a:cs typeface="Roboto"/>
                <a:sym typeface="Roboto"/>
              </a:rPr>
              <a:t>Convenient methods for parsing primitives (nextInt(), nextFloat(), …) from the tokenized input.</a:t>
            </a:r>
            <a:endParaRPr sz="1600">
              <a:solidFill>
                <a:schemeClr val="dk1"/>
              </a:solidFill>
              <a:highlight>
                <a:schemeClr val="lt1"/>
              </a:highlight>
              <a:latin typeface="Roboto"/>
              <a:ea typeface="Roboto"/>
              <a:cs typeface="Roboto"/>
              <a:sym typeface="Roboto"/>
            </a:endParaRPr>
          </a:p>
          <a:p>
            <a:pPr indent="-330200" lvl="0" marL="457200" rtl="0" algn="just">
              <a:lnSpc>
                <a:spcPct val="150000"/>
              </a:lnSpc>
              <a:spcBef>
                <a:spcPts val="0"/>
              </a:spcBef>
              <a:spcAft>
                <a:spcPts val="0"/>
              </a:spcAft>
              <a:buClr>
                <a:schemeClr val="dk1"/>
              </a:buClr>
              <a:buSzPts val="1600"/>
              <a:buFont typeface="Roboto"/>
              <a:buChar char="●"/>
            </a:pPr>
            <a:r>
              <a:rPr lang="en-GB" sz="1600">
                <a:solidFill>
                  <a:schemeClr val="dk1"/>
                </a:solidFill>
                <a:highlight>
                  <a:schemeClr val="lt1"/>
                </a:highlight>
                <a:latin typeface="Roboto"/>
                <a:ea typeface="Roboto"/>
                <a:cs typeface="Roboto"/>
                <a:sym typeface="Roboto"/>
              </a:rPr>
              <a:t>Regular expressions can be used to find tokens</a:t>
            </a:r>
            <a:endParaRPr sz="1600">
              <a:solidFill>
                <a:schemeClr val="dk1"/>
              </a:solidFill>
              <a:highlight>
                <a:schemeClr val="lt1"/>
              </a:highlight>
              <a:latin typeface="Roboto"/>
              <a:ea typeface="Roboto"/>
              <a:cs typeface="Roboto"/>
              <a:sym typeface="Roboto"/>
            </a:endParaRPr>
          </a:p>
          <a:p>
            <a:pPr indent="0" lvl="0" marL="0" rtl="0" algn="just">
              <a:lnSpc>
                <a:spcPct val="150000"/>
              </a:lnSpc>
              <a:spcBef>
                <a:spcPts val="0"/>
              </a:spcBef>
              <a:spcAft>
                <a:spcPts val="0"/>
              </a:spcAft>
              <a:buClr>
                <a:schemeClr val="dk1"/>
              </a:buClr>
              <a:buSzPts val="1800"/>
              <a:buFont typeface="Arial"/>
              <a:buNone/>
            </a:pPr>
            <a:r>
              <a:rPr lang="en-GB" sz="1600">
                <a:solidFill>
                  <a:schemeClr val="dk1"/>
                </a:solidFill>
                <a:highlight>
                  <a:schemeClr val="lt1"/>
                </a:highlight>
                <a:latin typeface="Roboto"/>
                <a:ea typeface="Roboto"/>
                <a:cs typeface="Roboto"/>
                <a:sym typeface="Roboto"/>
              </a:rPr>
              <a:t>  </a:t>
            </a:r>
            <a:r>
              <a:rPr b="1" lang="en-GB" sz="1600">
                <a:solidFill>
                  <a:schemeClr val="dk1"/>
                </a:solidFill>
                <a:highlight>
                  <a:schemeClr val="lt1"/>
                </a:highlight>
                <a:latin typeface="Roboto"/>
                <a:ea typeface="Roboto"/>
                <a:cs typeface="Roboto"/>
                <a:sym typeface="Roboto"/>
              </a:rPr>
              <a:t>Drawback</a:t>
            </a:r>
            <a:endParaRPr b="1" sz="1600">
              <a:solidFill>
                <a:schemeClr val="dk1"/>
              </a:solidFill>
              <a:highlight>
                <a:schemeClr val="lt1"/>
              </a:highlight>
              <a:latin typeface="Roboto"/>
              <a:ea typeface="Roboto"/>
              <a:cs typeface="Roboto"/>
              <a:sym typeface="Roboto"/>
            </a:endParaRPr>
          </a:p>
          <a:p>
            <a:pPr indent="-330200" lvl="0" marL="457200" rtl="0" algn="just">
              <a:lnSpc>
                <a:spcPct val="150000"/>
              </a:lnSpc>
              <a:spcBef>
                <a:spcPts val="0"/>
              </a:spcBef>
              <a:spcAft>
                <a:spcPts val="0"/>
              </a:spcAft>
              <a:buClr>
                <a:schemeClr val="dk1"/>
              </a:buClr>
              <a:buSzPts val="1600"/>
              <a:buFont typeface="Roboto"/>
              <a:buChar char="●"/>
            </a:pPr>
            <a:r>
              <a:rPr b="1" lang="en-GB" sz="1600">
                <a:solidFill>
                  <a:schemeClr val="dk1"/>
                </a:solidFill>
                <a:highlight>
                  <a:schemeClr val="lt1"/>
                </a:highlight>
                <a:latin typeface="Roboto"/>
                <a:ea typeface="Roboto"/>
                <a:cs typeface="Roboto"/>
                <a:sym typeface="Roboto"/>
              </a:rPr>
              <a:t> </a:t>
            </a:r>
            <a:r>
              <a:rPr lang="en-GB" sz="1600">
                <a:solidFill>
                  <a:schemeClr val="dk1"/>
                </a:solidFill>
                <a:highlight>
                  <a:schemeClr val="lt1"/>
                </a:highlight>
                <a:latin typeface="Roboto"/>
                <a:ea typeface="Roboto"/>
                <a:cs typeface="Roboto"/>
                <a:sym typeface="Roboto"/>
              </a:rPr>
              <a:t>The The reading methods are not synchronized</a:t>
            </a:r>
            <a:endParaRPr sz="1600">
              <a:solidFill>
                <a:schemeClr val="dk1"/>
              </a:solidFill>
              <a:highlight>
                <a:schemeClr val="lt1"/>
              </a:highlight>
              <a:latin typeface="Roboto"/>
              <a:ea typeface="Roboto"/>
              <a:cs typeface="Roboto"/>
              <a:sym typeface="Roboto"/>
            </a:endParaRPr>
          </a:p>
          <a:p>
            <a:pPr indent="0" lvl="0" marL="457200" rtl="0" algn="just">
              <a:lnSpc>
                <a:spcPct val="150000"/>
              </a:lnSpc>
              <a:spcBef>
                <a:spcPts val="0"/>
              </a:spcBef>
              <a:spcAft>
                <a:spcPts val="0"/>
              </a:spcAft>
              <a:buClr>
                <a:schemeClr val="dk1"/>
              </a:buClr>
              <a:buSzPts val="1800"/>
              <a:buFont typeface="Arial"/>
              <a:buNone/>
            </a:pPr>
            <a:r>
              <a:t/>
            </a:r>
            <a:endParaRPr sz="1600">
              <a:solidFill>
                <a:schemeClr val="dk1"/>
              </a:solidFill>
              <a:highlight>
                <a:schemeClr val="lt1"/>
              </a:highlight>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sz="1600">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297" name="Google Shape;297;g3208ef83a81_0_0"/>
          <p:cNvSpPr txBox="1"/>
          <p:nvPr/>
        </p:nvSpPr>
        <p:spPr>
          <a:xfrm>
            <a:off x="172451" y="1053966"/>
            <a:ext cx="2827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321a274a146_0_242"/>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303" name="Google Shape;303;g321a274a146_0_242"/>
          <p:cNvSpPr txBox="1"/>
          <p:nvPr/>
        </p:nvSpPr>
        <p:spPr>
          <a:xfrm>
            <a:off x="392700" y="1053975"/>
            <a:ext cx="8358600" cy="1330500"/>
          </a:xfrm>
          <a:prstGeom prst="rect">
            <a:avLst/>
          </a:prstGeom>
          <a:noFill/>
          <a:ln>
            <a:noFill/>
          </a:ln>
        </p:spPr>
        <p:txBody>
          <a:bodyPr anchorCtr="0" anchor="t" bIns="45700" lIns="91425" spcFirstLastPara="1" rIns="91425" wrap="square" tIns="45700">
            <a:noAutofit/>
          </a:bodyPr>
          <a:lstStyle/>
          <a:p>
            <a:pPr indent="-330200" lvl="0" marL="457200" rtl="0" algn="just">
              <a:lnSpc>
                <a:spcPct val="150000"/>
              </a:lnSpc>
              <a:spcBef>
                <a:spcPts val="0"/>
              </a:spcBef>
              <a:spcAft>
                <a:spcPts val="0"/>
              </a:spcAft>
              <a:buClr>
                <a:schemeClr val="dk1"/>
              </a:buClr>
              <a:buSzPts val="1600"/>
              <a:buFont typeface="Roboto"/>
              <a:buChar char="●"/>
            </a:pPr>
            <a:r>
              <a:rPr lang="en-GB" sz="1600">
                <a:solidFill>
                  <a:schemeClr val="dk1"/>
                </a:solidFill>
                <a:highlight>
                  <a:schemeClr val="lt1"/>
                </a:highlight>
                <a:latin typeface="Roboto"/>
                <a:ea typeface="Roboto"/>
                <a:cs typeface="Roboto"/>
                <a:sym typeface="Roboto"/>
              </a:rPr>
              <a:t>To create an object of Scanner class, we usually pass the predefined object System.in, which represents the standard input stream. We may pass an object of class File if we want to read input from a file.</a:t>
            </a:r>
            <a:endParaRPr sz="1600">
              <a:solidFill>
                <a:schemeClr val="dk1"/>
              </a:solidFill>
              <a:highlight>
                <a:schemeClr val="lt1"/>
              </a:highlight>
              <a:latin typeface="Roboto"/>
              <a:ea typeface="Roboto"/>
              <a:cs typeface="Roboto"/>
              <a:sym typeface="Roboto"/>
            </a:endParaRPr>
          </a:p>
          <a:p>
            <a:pPr indent="-330200" lvl="0" marL="457200" rtl="0" algn="just">
              <a:lnSpc>
                <a:spcPct val="150000"/>
              </a:lnSpc>
              <a:spcBef>
                <a:spcPts val="0"/>
              </a:spcBef>
              <a:spcAft>
                <a:spcPts val="0"/>
              </a:spcAft>
              <a:buClr>
                <a:schemeClr val="dk1"/>
              </a:buClr>
              <a:buSzPts val="1600"/>
              <a:buFont typeface="Roboto"/>
              <a:buChar char="●"/>
            </a:pPr>
            <a:r>
              <a:rPr lang="en-GB" sz="1600">
                <a:solidFill>
                  <a:schemeClr val="dk1"/>
                </a:solidFill>
                <a:highlight>
                  <a:schemeClr val="lt1"/>
                </a:highlight>
                <a:latin typeface="Roboto"/>
                <a:ea typeface="Roboto"/>
                <a:cs typeface="Roboto"/>
                <a:sym typeface="Roboto"/>
              </a:rPr>
              <a:t>To read numerical values of a certain data type XYZ, the function to use is nextXYZ(). For example, to read a value of type short, we can use nextShort()</a:t>
            </a:r>
            <a:endParaRPr sz="1600">
              <a:solidFill>
                <a:schemeClr val="dk1"/>
              </a:solidFill>
              <a:highlight>
                <a:schemeClr val="lt1"/>
              </a:highlight>
              <a:latin typeface="Roboto"/>
              <a:ea typeface="Roboto"/>
              <a:cs typeface="Roboto"/>
              <a:sym typeface="Roboto"/>
            </a:endParaRPr>
          </a:p>
          <a:p>
            <a:pPr indent="0" lvl="0" marL="457200" rtl="0" algn="just">
              <a:lnSpc>
                <a:spcPct val="158000"/>
              </a:lnSpc>
              <a:spcBef>
                <a:spcPts val="3600"/>
              </a:spcBef>
              <a:spcAft>
                <a:spcPts val="0"/>
              </a:spcAft>
              <a:buNone/>
            </a:pPr>
            <a:r>
              <a:t/>
            </a:r>
            <a:endParaRPr sz="1800">
              <a:solidFill>
                <a:schemeClr val="dk1"/>
              </a:solidFill>
              <a:highlight>
                <a:schemeClr val="lt1"/>
              </a:highlight>
              <a:latin typeface="Roboto"/>
              <a:ea typeface="Roboto"/>
              <a:cs typeface="Roboto"/>
              <a:sym typeface="Roboto"/>
            </a:endParaRPr>
          </a:p>
          <a:p>
            <a:pPr indent="0" lvl="0" marL="457200" rtl="0" algn="just">
              <a:lnSpc>
                <a:spcPct val="150000"/>
              </a:lnSpc>
              <a:spcBef>
                <a:spcPts val="360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457200" rtl="0" algn="just">
              <a:lnSpc>
                <a:spcPct val="150000"/>
              </a:lnSpc>
              <a:spcBef>
                <a:spcPts val="0"/>
              </a:spcBef>
              <a:spcAft>
                <a:spcPts val="0"/>
              </a:spcAft>
              <a:buClr>
                <a:schemeClr val="dk1"/>
              </a:buClr>
              <a:buSzPts val="1800"/>
              <a:buFont typeface="Arial"/>
              <a:buNone/>
            </a:pPr>
            <a:r>
              <a:t/>
            </a:r>
            <a:endParaRPr sz="1600">
              <a:solidFill>
                <a:schemeClr val="dk1"/>
              </a:solidFill>
              <a:highlight>
                <a:schemeClr val="lt1"/>
              </a:highlight>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sz="1600">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304" name="Google Shape;304;g321a274a146_0_242"/>
          <p:cNvSpPr txBox="1"/>
          <p:nvPr/>
        </p:nvSpPr>
        <p:spPr>
          <a:xfrm>
            <a:off x="236751" y="1016091"/>
            <a:ext cx="2827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g321a274a146_0_248"/>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310" name="Google Shape;310;g321a274a146_0_248"/>
          <p:cNvSpPr txBox="1"/>
          <p:nvPr/>
        </p:nvSpPr>
        <p:spPr>
          <a:xfrm>
            <a:off x="392700" y="1053975"/>
            <a:ext cx="8358600" cy="1330500"/>
          </a:xfrm>
          <a:prstGeom prst="rect">
            <a:avLst/>
          </a:prstGeom>
          <a:noFill/>
          <a:ln>
            <a:noFill/>
          </a:ln>
        </p:spPr>
        <p:txBody>
          <a:bodyPr anchorCtr="0" anchor="t" bIns="45700" lIns="91425" spcFirstLastPara="1" rIns="91425" wrap="square" tIns="45700">
            <a:noAutofit/>
          </a:bodyPr>
          <a:lstStyle/>
          <a:p>
            <a:pPr indent="-330200" lvl="0" marL="457200" rtl="0" algn="just">
              <a:lnSpc>
                <a:spcPct val="150000"/>
              </a:lnSpc>
              <a:spcBef>
                <a:spcPts val="0"/>
              </a:spcBef>
              <a:spcAft>
                <a:spcPts val="0"/>
              </a:spcAft>
              <a:buClr>
                <a:schemeClr val="dk1"/>
              </a:buClr>
              <a:buSzPts val="1600"/>
              <a:buFont typeface="Roboto"/>
              <a:buChar char="●"/>
            </a:pPr>
            <a:r>
              <a:rPr lang="en-GB" sz="1600">
                <a:solidFill>
                  <a:schemeClr val="dk1"/>
                </a:solidFill>
                <a:highlight>
                  <a:schemeClr val="lt1"/>
                </a:highlight>
                <a:latin typeface="Roboto"/>
                <a:ea typeface="Roboto"/>
                <a:cs typeface="Roboto"/>
                <a:sym typeface="Roboto"/>
              </a:rPr>
              <a:t>To read strings, we use nextLine().</a:t>
            </a:r>
            <a:endParaRPr sz="1600">
              <a:solidFill>
                <a:schemeClr val="dk1"/>
              </a:solidFill>
              <a:highlight>
                <a:schemeClr val="lt1"/>
              </a:highlight>
              <a:latin typeface="Roboto"/>
              <a:ea typeface="Roboto"/>
              <a:cs typeface="Roboto"/>
              <a:sym typeface="Roboto"/>
            </a:endParaRPr>
          </a:p>
          <a:p>
            <a:pPr indent="-330200" lvl="0" marL="457200" rtl="0" algn="just">
              <a:lnSpc>
                <a:spcPct val="150000"/>
              </a:lnSpc>
              <a:spcBef>
                <a:spcPts val="0"/>
              </a:spcBef>
              <a:spcAft>
                <a:spcPts val="0"/>
              </a:spcAft>
              <a:buClr>
                <a:schemeClr val="dk1"/>
              </a:buClr>
              <a:buSzPts val="1600"/>
              <a:buFont typeface="Roboto"/>
              <a:buChar char="●"/>
            </a:pPr>
            <a:r>
              <a:rPr lang="en-GB" sz="1600">
                <a:solidFill>
                  <a:schemeClr val="dk1"/>
                </a:solidFill>
                <a:highlight>
                  <a:schemeClr val="lt1"/>
                </a:highlight>
                <a:latin typeface="Roboto"/>
                <a:ea typeface="Roboto"/>
                <a:cs typeface="Roboto"/>
                <a:sym typeface="Roboto"/>
              </a:rPr>
              <a:t>To read a single character, we use next().charAt(0). next() function returns the next token/word in the input as a string and charAt(0) function returns the first character in that string.</a:t>
            </a:r>
            <a:endParaRPr sz="1600">
              <a:solidFill>
                <a:schemeClr val="dk1"/>
              </a:solidFill>
              <a:highlight>
                <a:schemeClr val="lt1"/>
              </a:highlight>
              <a:latin typeface="Roboto"/>
              <a:ea typeface="Roboto"/>
              <a:cs typeface="Roboto"/>
              <a:sym typeface="Roboto"/>
            </a:endParaRPr>
          </a:p>
          <a:p>
            <a:pPr indent="0" lvl="0" marL="457200" rtl="0" algn="just">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457200" rtl="0" algn="just">
              <a:lnSpc>
                <a:spcPct val="158000"/>
              </a:lnSpc>
              <a:spcBef>
                <a:spcPts val="3600"/>
              </a:spcBef>
              <a:spcAft>
                <a:spcPts val="0"/>
              </a:spcAft>
              <a:buNone/>
            </a:pPr>
            <a:r>
              <a:t/>
            </a:r>
            <a:endParaRPr sz="1800">
              <a:solidFill>
                <a:schemeClr val="dk1"/>
              </a:solidFill>
              <a:highlight>
                <a:schemeClr val="lt1"/>
              </a:highlight>
              <a:latin typeface="Roboto"/>
              <a:ea typeface="Roboto"/>
              <a:cs typeface="Roboto"/>
              <a:sym typeface="Roboto"/>
            </a:endParaRPr>
          </a:p>
          <a:p>
            <a:pPr indent="0" lvl="0" marL="457200" rtl="0" algn="just">
              <a:lnSpc>
                <a:spcPct val="150000"/>
              </a:lnSpc>
              <a:spcBef>
                <a:spcPts val="360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457200" rtl="0" algn="just">
              <a:lnSpc>
                <a:spcPct val="150000"/>
              </a:lnSpc>
              <a:spcBef>
                <a:spcPts val="0"/>
              </a:spcBef>
              <a:spcAft>
                <a:spcPts val="0"/>
              </a:spcAft>
              <a:buClr>
                <a:schemeClr val="dk1"/>
              </a:buClr>
              <a:buSzPts val="1800"/>
              <a:buFont typeface="Arial"/>
              <a:buNone/>
            </a:pPr>
            <a:r>
              <a:t/>
            </a:r>
            <a:endParaRPr sz="1600">
              <a:solidFill>
                <a:schemeClr val="dk1"/>
              </a:solidFill>
              <a:highlight>
                <a:schemeClr val="lt1"/>
              </a:highlight>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sz="1600">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311" name="Google Shape;311;g321a274a146_0_248"/>
          <p:cNvSpPr txBox="1"/>
          <p:nvPr/>
        </p:nvSpPr>
        <p:spPr>
          <a:xfrm>
            <a:off x="236751" y="1016091"/>
            <a:ext cx="2827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21a274a146_0_254"/>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3500"/>
              <a:buFont typeface="Arial"/>
              <a:buNone/>
            </a:pPr>
            <a:r>
              <a:rPr lang="en-GB" sz="1700">
                <a:solidFill>
                  <a:srgbClr val="8182EF"/>
                </a:solidFill>
                <a:latin typeface="Roboto Black"/>
                <a:ea typeface="Roboto Black"/>
                <a:cs typeface="Roboto Black"/>
                <a:sym typeface="Roboto Black"/>
              </a:rPr>
              <a:t>BASIC I/O OPERATIONS</a:t>
            </a:r>
            <a:endParaRPr b="0" i="0" sz="1700" u="none" cap="none" strike="noStrike">
              <a:solidFill>
                <a:srgbClr val="6D9EEB"/>
              </a:solidFill>
              <a:latin typeface="Roboto Black"/>
              <a:ea typeface="Roboto Black"/>
              <a:cs typeface="Roboto Black"/>
              <a:sym typeface="Roboto Black"/>
            </a:endParaRPr>
          </a:p>
        </p:txBody>
      </p:sp>
      <p:sp>
        <p:nvSpPr>
          <p:cNvPr id="317" name="Google Shape;317;g321a274a146_0_254"/>
          <p:cNvSpPr txBox="1"/>
          <p:nvPr/>
        </p:nvSpPr>
        <p:spPr>
          <a:xfrm>
            <a:off x="601650" y="1148575"/>
            <a:ext cx="8358600" cy="3225000"/>
          </a:xfrm>
          <a:prstGeom prst="rect">
            <a:avLst/>
          </a:prstGeom>
          <a:noFill/>
          <a:ln>
            <a:noFill/>
          </a:ln>
        </p:spPr>
        <p:txBody>
          <a:bodyPr anchorCtr="0" anchor="t" bIns="45700" lIns="91425" spcFirstLastPara="1" rIns="91425" wrap="square" tIns="45700">
            <a:noAutofit/>
          </a:bodyPr>
          <a:lstStyle/>
          <a:p>
            <a:pPr indent="0" lvl="0" marL="45720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import java.util.Scanner;  </a:t>
            </a:r>
            <a:endParaRPr sz="1600">
              <a:solidFill>
                <a:schemeClr val="dk1"/>
              </a:solidFill>
              <a:highlight>
                <a:schemeClr val="lt1"/>
              </a:highlight>
              <a:latin typeface="Roboto"/>
              <a:ea typeface="Roboto"/>
              <a:cs typeface="Roboto"/>
              <a:sym typeface="Roboto"/>
            </a:endParaRPr>
          </a:p>
          <a:p>
            <a:pPr indent="0" lvl="0" marL="45720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class GetInputFromUser</a:t>
            </a:r>
            <a:endParaRPr sz="1600">
              <a:solidFill>
                <a:schemeClr val="dk1"/>
              </a:solidFill>
              <a:highlight>
                <a:schemeClr val="lt1"/>
              </a:highlight>
              <a:latin typeface="Roboto"/>
              <a:ea typeface="Roboto"/>
              <a:cs typeface="Roboto"/>
              <a:sym typeface="Roboto"/>
            </a:endParaRPr>
          </a:p>
          <a:p>
            <a:pPr indent="0" lvl="0" marL="45720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a:t>
            </a:r>
            <a:endParaRPr sz="1600">
              <a:solidFill>
                <a:schemeClr val="dk1"/>
              </a:solidFill>
              <a:highlight>
                <a:schemeClr val="lt1"/>
              </a:highlight>
              <a:latin typeface="Roboto"/>
              <a:ea typeface="Roboto"/>
              <a:cs typeface="Roboto"/>
              <a:sym typeface="Roboto"/>
            </a:endParaRPr>
          </a:p>
          <a:p>
            <a:pPr indent="0" lvl="0" marL="45720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  public static void main(String args[])</a:t>
            </a:r>
            <a:endParaRPr sz="1600">
              <a:solidFill>
                <a:schemeClr val="dk1"/>
              </a:solidFill>
              <a:highlight>
                <a:schemeClr val="lt1"/>
              </a:highlight>
              <a:latin typeface="Roboto"/>
              <a:ea typeface="Roboto"/>
              <a:cs typeface="Roboto"/>
              <a:sym typeface="Roboto"/>
            </a:endParaRPr>
          </a:p>
          <a:p>
            <a:pPr indent="0" lvl="0" marL="45720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  {</a:t>
            </a:r>
            <a:endParaRPr sz="1600">
              <a:solidFill>
                <a:schemeClr val="dk1"/>
              </a:solidFill>
              <a:highlight>
                <a:schemeClr val="lt1"/>
              </a:highlight>
              <a:latin typeface="Roboto"/>
              <a:ea typeface="Roboto"/>
              <a:cs typeface="Roboto"/>
              <a:sym typeface="Roboto"/>
            </a:endParaRPr>
          </a:p>
          <a:p>
            <a:pPr indent="0" lvl="0" marL="45720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    Scanner in = new Scanner(System.in);</a:t>
            </a:r>
            <a:endParaRPr sz="1600">
              <a:solidFill>
                <a:schemeClr val="dk1"/>
              </a:solidFill>
              <a:highlight>
                <a:schemeClr val="lt1"/>
              </a:highlight>
              <a:latin typeface="Roboto"/>
              <a:ea typeface="Roboto"/>
              <a:cs typeface="Roboto"/>
              <a:sym typeface="Roboto"/>
            </a:endParaRPr>
          </a:p>
          <a:p>
            <a:pPr indent="0" lvl="0" marL="45720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    String s = in.nextLine();</a:t>
            </a:r>
            <a:endParaRPr sz="1600">
              <a:solidFill>
                <a:schemeClr val="dk1"/>
              </a:solidFill>
              <a:highlight>
                <a:schemeClr val="lt1"/>
              </a:highlight>
              <a:latin typeface="Roboto"/>
              <a:ea typeface="Roboto"/>
              <a:cs typeface="Roboto"/>
              <a:sym typeface="Roboto"/>
            </a:endParaRPr>
          </a:p>
          <a:p>
            <a:pPr indent="0" lvl="0" marL="45720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    System.out.println("You entered string "+s);</a:t>
            </a:r>
            <a:endParaRPr sz="1600">
              <a:solidFill>
                <a:schemeClr val="dk1"/>
              </a:solidFill>
              <a:highlight>
                <a:schemeClr val="lt1"/>
              </a:highlight>
              <a:latin typeface="Roboto"/>
              <a:ea typeface="Roboto"/>
              <a:cs typeface="Roboto"/>
              <a:sym typeface="Roboto"/>
            </a:endParaRPr>
          </a:p>
          <a:p>
            <a:pPr indent="0" lvl="0" marL="45720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    int a = in.nextInt();</a:t>
            </a:r>
            <a:endParaRPr sz="1600">
              <a:solidFill>
                <a:schemeClr val="dk1"/>
              </a:solidFill>
              <a:highlight>
                <a:schemeClr val="lt1"/>
              </a:highlight>
              <a:latin typeface="Roboto"/>
              <a:ea typeface="Roboto"/>
              <a:cs typeface="Roboto"/>
              <a:sym typeface="Roboto"/>
            </a:endParaRPr>
          </a:p>
          <a:p>
            <a:pPr indent="0" lvl="0" marL="45720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    System.out.println("You entered integer "+a);</a:t>
            </a:r>
            <a:endParaRPr sz="1600">
              <a:solidFill>
                <a:schemeClr val="dk1"/>
              </a:solidFill>
              <a:highlight>
                <a:schemeClr val="lt1"/>
              </a:highlight>
              <a:latin typeface="Roboto"/>
              <a:ea typeface="Roboto"/>
              <a:cs typeface="Roboto"/>
              <a:sym typeface="Roboto"/>
            </a:endParaRPr>
          </a:p>
          <a:p>
            <a:pPr indent="0" lvl="0" marL="45720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    float b = in.nextFloat();</a:t>
            </a:r>
            <a:endParaRPr sz="1600">
              <a:solidFill>
                <a:schemeClr val="dk1"/>
              </a:solidFill>
              <a:highlight>
                <a:schemeClr val="lt1"/>
              </a:highlight>
              <a:latin typeface="Roboto"/>
              <a:ea typeface="Roboto"/>
              <a:cs typeface="Roboto"/>
              <a:sym typeface="Roboto"/>
            </a:endParaRPr>
          </a:p>
          <a:p>
            <a:pPr indent="0" lvl="0" marL="45720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    System.out.println("You entered float "+b);</a:t>
            </a:r>
            <a:endParaRPr sz="1600">
              <a:solidFill>
                <a:schemeClr val="dk1"/>
              </a:solidFill>
              <a:highlight>
                <a:schemeClr val="lt1"/>
              </a:highlight>
              <a:latin typeface="Roboto"/>
              <a:ea typeface="Roboto"/>
              <a:cs typeface="Roboto"/>
              <a:sym typeface="Roboto"/>
            </a:endParaRPr>
          </a:p>
          <a:p>
            <a:pPr indent="0" lvl="0" marL="45720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  }</a:t>
            </a:r>
            <a:endParaRPr sz="1600">
              <a:solidFill>
                <a:schemeClr val="dk1"/>
              </a:solidFill>
              <a:highlight>
                <a:schemeClr val="lt1"/>
              </a:highlight>
              <a:latin typeface="Roboto"/>
              <a:ea typeface="Roboto"/>
              <a:cs typeface="Roboto"/>
              <a:sym typeface="Roboto"/>
            </a:endParaRPr>
          </a:p>
          <a:p>
            <a:pPr indent="0" lvl="0" marL="457200" rtl="0" algn="l">
              <a:spcBef>
                <a:spcPts val="0"/>
              </a:spcBef>
              <a:spcAft>
                <a:spcPts val="0"/>
              </a:spcAft>
              <a:buClr>
                <a:schemeClr val="dk1"/>
              </a:buClr>
              <a:buSzPts val="1400"/>
              <a:buFont typeface="Arial"/>
              <a:buNone/>
            </a:pPr>
            <a:r>
              <a:rPr lang="en-GB" sz="1600">
                <a:solidFill>
                  <a:schemeClr val="dk1"/>
                </a:solidFill>
                <a:highlight>
                  <a:schemeClr val="lt1"/>
                </a:highlight>
                <a:latin typeface="Roboto"/>
                <a:ea typeface="Roboto"/>
                <a:cs typeface="Roboto"/>
                <a:sym typeface="Roboto"/>
              </a:rPr>
              <a:t>}</a:t>
            </a:r>
            <a:endParaRPr sz="1600">
              <a:solidFill>
                <a:schemeClr val="dk1"/>
              </a:solidFill>
              <a:highlight>
                <a:schemeClr val="lt1"/>
              </a:highlight>
              <a:latin typeface="Roboto"/>
              <a:ea typeface="Roboto"/>
              <a:cs typeface="Roboto"/>
              <a:sym typeface="Roboto"/>
            </a:endParaRPr>
          </a:p>
          <a:p>
            <a:pPr indent="0" lvl="0" marL="0" rtl="0" algn="just">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457200" rtl="0" algn="just">
              <a:lnSpc>
                <a:spcPct val="150000"/>
              </a:lnSpc>
              <a:spcBef>
                <a:spcPts val="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457200" rtl="0" algn="just">
              <a:lnSpc>
                <a:spcPct val="158000"/>
              </a:lnSpc>
              <a:spcBef>
                <a:spcPts val="3600"/>
              </a:spcBef>
              <a:spcAft>
                <a:spcPts val="0"/>
              </a:spcAft>
              <a:buNone/>
            </a:pPr>
            <a:r>
              <a:t/>
            </a:r>
            <a:endParaRPr sz="1800">
              <a:solidFill>
                <a:schemeClr val="dk1"/>
              </a:solidFill>
              <a:highlight>
                <a:schemeClr val="lt1"/>
              </a:highlight>
              <a:latin typeface="Roboto"/>
              <a:ea typeface="Roboto"/>
              <a:cs typeface="Roboto"/>
              <a:sym typeface="Roboto"/>
            </a:endParaRPr>
          </a:p>
          <a:p>
            <a:pPr indent="0" lvl="0" marL="457200" rtl="0" algn="just">
              <a:lnSpc>
                <a:spcPct val="150000"/>
              </a:lnSpc>
              <a:spcBef>
                <a:spcPts val="3600"/>
              </a:spcBef>
              <a:spcAft>
                <a:spcPts val="0"/>
              </a:spcAft>
              <a:buNone/>
            </a:pPr>
            <a:r>
              <a:t/>
            </a:r>
            <a:endParaRPr sz="1600">
              <a:solidFill>
                <a:schemeClr val="dk1"/>
              </a:solidFill>
              <a:highlight>
                <a:schemeClr val="lt1"/>
              </a:highlight>
              <a:latin typeface="Roboto"/>
              <a:ea typeface="Roboto"/>
              <a:cs typeface="Roboto"/>
              <a:sym typeface="Roboto"/>
            </a:endParaRPr>
          </a:p>
          <a:p>
            <a:pPr indent="0" lvl="0" marL="457200" rtl="0" algn="just">
              <a:lnSpc>
                <a:spcPct val="150000"/>
              </a:lnSpc>
              <a:spcBef>
                <a:spcPts val="0"/>
              </a:spcBef>
              <a:spcAft>
                <a:spcPts val="0"/>
              </a:spcAft>
              <a:buClr>
                <a:schemeClr val="dk1"/>
              </a:buClr>
              <a:buSzPts val="1800"/>
              <a:buFont typeface="Arial"/>
              <a:buNone/>
            </a:pPr>
            <a:r>
              <a:t/>
            </a:r>
            <a:endParaRPr sz="1600">
              <a:solidFill>
                <a:schemeClr val="dk1"/>
              </a:solidFill>
              <a:highlight>
                <a:schemeClr val="lt1"/>
              </a:highlight>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sz="1600">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318" name="Google Shape;318;g321a274a146_0_254"/>
          <p:cNvSpPr txBox="1"/>
          <p:nvPr/>
        </p:nvSpPr>
        <p:spPr>
          <a:xfrm>
            <a:off x="236751" y="1016091"/>
            <a:ext cx="2827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319" name="Google Shape;319;g321a274a146_0_254"/>
          <p:cNvGraphicFramePr/>
          <p:nvPr/>
        </p:nvGraphicFramePr>
        <p:xfrm>
          <a:off x="720725" y="1148575"/>
          <a:ext cx="3000000" cy="3000000"/>
        </p:xfrm>
        <a:graphic>
          <a:graphicData uri="http://schemas.openxmlformats.org/drawingml/2006/table">
            <a:tbl>
              <a:tblPr>
                <a:noFill/>
                <a:tableStyleId>{1921DF1F-D312-4963-84A1-6E1B234B04DC}</a:tableStyleId>
              </a:tblPr>
              <a:tblGrid>
                <a:gridCol w="7438625"/>
              </a:tblGrid>
              <a:tr h="3542500">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
          <p:cNvSpPr/>
          <p:nvPr/>
        </p:nvSpPr>
        <p:spPr>
          <a:xfrm>
            <a:off x="532420" y="143999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325" name="Google Shape;325;p4"/>
          <p:cNvPicPr preferRelativeResize="0"/>
          <p:nvPr/>
        </p:nvPicPr>
        <p:blipFill rotWithShape="1">
          <a:blip r:embed="rId3">
            <a:alphaModFix/>
          </a:blip>
          <a:srcRect b="0" l="0" r="0" t="0"/>
          <a:stretch/>
        </p:blipFill>
        <p:spPr>
          <a:xfrm>
            <a:off x="2739687" y="1038566"/>
            <a:ext cx="2855119" cy="2888456"/>
          </a:xfrm>
          <a:prstGeom prst="rect">
            <a:avLst/>
          </a:prstGeom>
          <a:noFill/>
          <a:ln>
            <a:noFill/>
          </a:ln>
        </p:spPr>
      </p:pic>
      <p:sp>
        <p:nvSpPr>
          <p:cNvPr id="326" name="Google Shape;326;p4"/>
          <p:cNvSpPr/>
          <p:nvPr/>
        </p:nvSpPr>
        <p:spPr>
          <a:xfrm>
            <a:off x="1634729" y="4055269"/>
            <a:ext cx="5184000" cy="2847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332" name="Google Shape;332;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333" name="Google Shape;333;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34" name="Google Shape;334;p5"/>
          <p:cNvSpPr txBox="1"/>
          <p:nvPr/>
        </p:nvSpPr>
        <p:spPr>
          <a:xfrm>
            <a:off x="3141000" y="2194650"/>
            <a:ext cx="2862000" cy="75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335" name="Google Shape;335;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36" name="Google Shape;336;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37" name="Google Shape;337;p5"/>
          <p:cNvSpPr txBox="1"/>
          <p:nvPr/>
        </p:nvSpPr>
        <p:spPr>
          <a:xfrm>
            <a:off x="1980750" y="4590801"/>
            <a:ext cx="11871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338" name="Google Shape;338;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39" name="Google Shape;339;p5"/>
          <p:cNvSpPr txBox="1"/>
          <p:nvPr/>
        </p:nvSpPr>
        <p:spPr>
          <a:xfrm>
            <a:off x="3519050"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340" name="Google Shape;340;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41" name="Google Shape;341;p5"/>
          <p:cNvSpPr txBox="1"/>
          <p:nvPr/>
        </p:nvSpPr>
        <p:spPr>
          <a:xfrm>
            <a:off x="5457275"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342" name="Google Shape;342;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