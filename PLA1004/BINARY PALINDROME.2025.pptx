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Black"/>
      <p:bold r:id="rId33"/>
      <p:boldItalic r:id="rId34"/>
    </p:embeddedFont>
    <p:embeddedFont>
      <p:font typeface="Roboto"/>
      <p:regular r:id="rId35"/>
      <p:bold r:id="rId36"/>
      <p:italic r:id="rId37"/>
      <p:boldItalic r:id="rId38"/>
    </p:embeddedFont>
    <p:embeddedFont>
      <p:font typeface="Roboto Medium"/>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3" roundtripDataSignature="AMtx7mhi2SuJ/wqNrGGHJ64gTmhIT5Jh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bold.fntdata"/><Relationship Id="rId20" Type="http://schemas.openxmlformats.org/officeDocument/2006/relationships/slide" Target="slides/slide15.xml"/><Relationship Id="rId42" Type="http://schemas.openxmlformats.org/officeDocument/2006/relationships/font" Target="fonts/RobotoMedium-boldItalic.fntdata"/><Relationship Id="rId41" Type="http://schemas.openxmlformats.org/officeDocument/2006/relationships/font" Target="fonts/RobotoMedium-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Black-bold.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font" Target="fonts/RobotoBlack-boldItalic.fntdata"/><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RobotoMedium-regular.fnt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2418e903bc_0_0: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 name="Google Shape;80;g22418e903bc_0_0: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61072e4af1_0_3: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g261072e4af1_0_3: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2418e903bc_0_16: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g22418e903bc_0_16: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2418e903bc_0_24: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g22418e903bc_0_24: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6: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812212bb4f_0_16:notes"/>
          <p:cNvSpPr/>
          <p:nvPr>
            <p:ph idx="2" type="sldImg"/>
          </p:nvPr>
        </p:nvSpPr>
        <p:spPr>
          <a:xfrm>
            <a:off x="-2305050" y="2032000"/>
            <a:ext cx="9752100"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g2812212bb4f_0_16: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812212bb4f_0_0:notes"/>
          <p:cNvSpPr/>
          <p:nvPr>
            <p:ph idx="2" type="sldImg"/>
          </p:nvPr>
        </p:nvSpPr>
        <p:spPr>
          <a:xfrm>
            <a:off x="-2305050" y="2032000"/>
            <a:ext cx="9752100"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g2812212bb4f_0_0: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812212bb4f_0_24:notes"/>
          <p:cNvSpPr/>
          <p:nvPr>
            <p:ph idx="2" type="sldImg"/>
          </p:nvPr>
        </p:nvSpPr>
        <p:spPr>
          <a:xfrm>
            <a:off x="-2305050" y="2032000"/>
            <a:ext cx="9752100"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g2812212bb4f_0_24: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7: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09260b532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09260b532f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8: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9: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10: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1: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12: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72cbe684b9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272cbe684b9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13: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4: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5: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6: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7: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21: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2:notes"/>
          <p:cNvSpPr/>
          <p:nvPr>
            <p:ph idx="2" type="sldImg"/>
          </p:nvPr>
        </p:nvSpPr>
        <p:spPr>
          <a:xfrm>
            <a:off x="-2305050" y="2032000"/>
            <a:ext cx="9752013" cy="548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22:notes"/>
          <p:cNvSpPr txBox="1"/>
          <p:nvPr>
            <p:ph idx="1" type="body"/>
          </p:nvPr>
        </p:nvSpPr>
        <p:spPr>
          <a:xfrm>
            <a:off x="514350" y="7823360"/>
            <a:ext cx="4114500" cy="6400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72cbe684b9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272cbe684b9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17" name="Google Shape;1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0" name="Google Shape;40;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6" name="Google Shape;4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0.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jp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jp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6" name="Google Shape;56;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57" name="Google Shape;57;p3"/>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58" name="Google Shape;58;p3"/>
          <p:cNvPicPr preferRelativeResize="0"/>
          <p:nvPr/>
        </p:nvPicPr>
        <p:blipFill rotWithShape="1">
          <a:blip r:embed="rId4">
            <a:alphaModFix/>
          </a:blip>
          <a:srcRect b="0" l="0" r="0" t="0"/>
          <a:stretch/>
        </p:blipFill>
        <p:spPr>
          <a:xfrm>
            <a:off x="2504600" y="600288"/>
            <a:ext cx="4134799" cy="2923400"/>
          </a:xfrm>
          <a:prstGeom prst="rect">
            <a:avLst/>
          </a:prstGeom>
          <a:noFill/>
          <a:ln>
            <a:noFill/>
          </a:ln>
        </p:spPr>
      </p:pic>
      <p:pic>
        <p:nvPicPr>
          <p:cNvPr id="59" name="Google Shape;59;p3"/>
          <p:cNvPicPr preferRelativeResize="0"/>
          <p:nvPr/>
        </p:nvPicPr>
        <p:blipFill rotWithShape="1">
          <a:blip r:embed="rId5">
            <a:alphaModFix/>
          </a:blip>
          <a:srcRect b="0" l="0" r="0" t="0"/>
          <a:stretch/>
        </p:blipFill>
        <p:spPr>
          <a:xfrm>
            <a:off x="2200050" y="3386138"/>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5" name="Google Shape;65;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6" name="Google Shape;66;p4"/>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67" name="Google Shape;67;p4"/>
          <p:cNvSpPr txBox="1"/>
          <p:nvPr/>
        </p:nvSpPr>
        <p:spPr>
          <a:xfrm>
            <a:off x="163252" y="1913123"/>
            <a:ext cx="4690948" cy="1317253"/>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US" sz="3200" u="none" cap="none" strike="noStrike">
                <a:solidFill>
                  <a:schemeClr val="lt1"/>
                </a:solidFill>
                <a:latin typeface="Roboto"/>
                <a:ea typeface="Roboto"/>
                <a:cs typeface="Roboto"/>
                <a:sym typeface="Roboto"/>
              </a:rPr>
              <a:t>BINARY PALINDROME</a:t>
            </a:r>
            <a:endParaRPr b="1" i="0" sz="1050" u="none" cap="none" strike="noStrike">
              <a:solidFill>
                <a:srgbClr val="000000"/>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3200"/>
              <a:buFont typeface="Arial"/>
              <a:buNone/>
            </a:pPr>
            <a:r>
              <a:t/>
            </a:r>
            <a:endParaRPr b="1" i="0" sz="3200" u="none" cap="none" strike="noStrike">
              <a:solidFill>
                <a:schemeClr val="lt1"/>
              </a:solidFill>
              <a:latin typeface="Roboto Black"/>
              <a:ea typeface="Roboto Black"/>
              <a:cs typeface="Roboto Black"/>
              <a:sym typeface="Roboto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3" name="Google Shape;7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4" name="Google Shape;74;p5"/>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75" name="Google Shape;75;p5"/>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76" name="Google Shape;76;p5"/>
          <p:cNvSpPr txBox="1"/>
          <p:nvPr/>
        </p:nvSpPr>
        <p:spPr>
          <a:xfrm>
            <a:off x="311700" y="778809"/>
            <a:ext cx="3093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rgbClr val="8181EF"/>
                </a:solidFill>
                <a:highlight>
                  <a:schemeClr val="lt1"/>
                </a:highlight>
                <a:latin typeface="Roboto Black"/>
                <a:ea typeface="Roboto Black"/>
                <a:cs typeface="Roboto Black"/>
                <a:sym typeface="Roboto Black"/>
              </a:rPr>
              <a:t>TOPICS</a:t>
            </a:r>
            <a:endParaRPr b="0" i="0" sz="1400" u="none" cap="none" strike="noStrike">
              <a:solidFill>
                <a:srgbClr val="8181EF"/>
              </a:solidFill>
              <a:highlight>
                <a:schemeClr val="lt1"/>
              </a:highlight>
              <a:latin typeface="Roboto Black"/>
              <a:ea typeface="Roboto Black"/>
              <a:cs typeface="Roboto Black"/>
              <a:sym typeface="Roboto Black"/>
            </a:endParaRPr>
          </a:p>
        </p:txBody>
      </p:sp>
      <p:sp>
        <p:nvSpPr>
          <p:cNvPr id="77" name="Google Shape;77;p5"/>
          <p:cNvSpPr txBox="1"/>
          <p:nvPr/>
        </p:nvSpPr>
        <p:spPr>
          <a:xfrm>
            <a:off x="1040780" y="1358649"/>
            <a:ext cx="3204117" cy="2103140"/>
          </a:xfrm>
          <a:prstGeom prst="rect">
            <a:avLst/>
          </a:prstGeom>
          <a:noFill/>
          <a:ln>
            <a:noFill/>
          </a:ln>
        </p:spPr>
        <p:txBody>
          <a:bodyPr anchorCtr="0" anchor="t" bIns="45700" lIns="91425" spcFirstLastPara="1" rIns="91425" wrap="square" tIns="45700">
            <a:spAutoFit/>
          </a:bodyPr>
          <a:lstStyle/>
          <a:p>
            <a:pPr indent="-214313" lvl="0" marL="214313" marR="0" rtl="0" algn="l">
              <a:lnSpc>
                <a:spcPct val="200000"/>
              </a:lnSpc>
              <a:spcBef>
                <a:spcPts val="0"/>
              </a:spcBef>
              <a:spcAft>
                <a:spcPts val="0"/>
              </a:spcAft>
              <a:buClr>
                <a:srgbClr val="000000"/>
              </a:buClr>
              <a:buSzPts val="1600"/>
              <a:buFont typeface="Noto Sans Symbols"/>
              <a:buChar char="⮚"/>
            </a:pPr>
            <a:r>
              <a:rPr b="0" i="0" lang="en-US" sz="1400" u="none" cap="none" strike="noStrike">
                <a:solidFill>
                  <a:srgbClr val="0C0C0C"/>
                </a:solidFill>
                <a:latin typeface="Roboto"/>
                <a:ea typeface="Roboto"/>
                <a:cs typeface="Roboto"/>
                <a:sym typeface="Roboto"/>
              </a:rPr>
              <a:t>Introduction</a:t>
            </a:r>
            <a:endParaRPr b="0" i="0" sz="1400" u="none" cap="none" strike="noStrike">
              <a:solidFill>
                <a:srgbClr val="000000"/>
              </a:solidFill>
              <a:latin typeface="Arial"/>
              <a:ea typeface="Arial"/>
              <a:cs typeface="Arial"/>
              <a:sym typeface="Arial"/>
            </a:endParaRPr>
          </a:p>
          <a:p>
            <a:pPr indent="-214313" lvl="0" marL="214313" marR="0" rtl="0" algn="l">
              <a:lnSpc>
                <a:spcPct val="200000"/>
              </a:lnSpc>
              <a:spcBef>
                <a:spcPts val="0"/>
              </a:spcBef>
              <a:spcAft>
                <a:spcPts val="0"/>
              </a:spcAft>
              <a:buClr>
                <a:srgbClr val="000000"/>
              </a:buClr>
              <a:buSzPts val="1600"/>
              <a:buFont typeface="Noto Sans Symbols"/>
              <a:buChar char="⮚"/>
            </a:pPr>
            <a:r>
              <a:rPr b="0" i="0" lang="en-US" sz="1400" u="none" cap="none" strike="noStrike">
                <a:solidFill>
                  <a:srgbClr val="0C0C0C"/>
                </a:solidFill>
                <a:latin typeface="Roboto"/>
                <a:ea typeface="Roboto"/>
                <a:cs typeface="Roboto"/>
                <a:sym typeface="Roboto"/>
              </a:rPr>
              <a:t>Explanation</a:t>
            </a:r>
            <a:endParaRPr b="0" i="0" sz="1400" u="none" cap="none" strike="noStrike">
              <a:solidFill>
                <a:srgbClr val="000000"/>
              </a:solidFill>
              <a:latin typeface="Arial"/>
              <a:ea typeface="Arial"/>
              <a:cs typeface="Arial"/>
              <a:sym typeface="Arial"/>
            </a:endParaRPr>
          </a:p>
          <a:p>
            <a:pPr indent="-214313" lvl="0" marL="214313" marR="0" rtl="0" algn="l">
              <a:lnSpc>
                <a:spcPct val="200000"/>
              </a:lnSpc>
              <a:spcBef>
                <a:spcPts val="0"/>
              </a:spcBef>
              <a:spcAft>
                <a:spcPts val="0"/>
              </a:spcAft>
              <a:buClr>
                <a:srgbClr val="000000"/>
              </a:buClr>
              <a:buSzPts val="1600"/>
              <a:buFont typeface="Noto Sans Symbols"/>
              <a:buChar char="⮚"/>
            </a:pPr>
            <a:r>
              <a:rPr b="0" i="0" lang="en-US" sz="1400" u="none" cap="none" strike="noStrike">
                <a:solidFill>
                  <a:srgbClr val="0C0C0C"/>
                </a:solidFill>
                <a:latin typeface="Roboto"/>
                <a:ea typeface="Roboto"/>
                <a:cs typeface="Roboto"/>
                <a:sym typeface="Roboto"/>
              </a:rPr>
              <a:t>Coding</a:t>
            </a:r>
            <a:endParaRPr b="0" i="0" sz="1400" u="none" cap="none" strike="noStrike">
              <a:solidFill>
                <a:srgbClr val="000000"/>
              </a:solidFill>
              <a:latin typeface="Arial"/>
              <a:ea typeface="Arial"/>
              <a:cs typeface="Arial"/>
              <a:sym typeface="Arial"/>
            </a:endParaRPr>
          </a:p>
          <a:p>
            <a:pPr indent="-214313" lvl="0" marL="214313" marR="0" rtl="0" algn="l">
              <a:lnSpc>
                <a:spcPct val="200000"/>
              </a:lnSpc>
              <a:spcBef>
                <a:spcPts val="0"/>
              </a:spcBef>
              <a:spcAft>
                <a:spcPts val="0"/>
              </a:spcAft>
              <a:buClr>
                <a:srgbClr val="000000"/>
              </a:buClr>
              <a:buSzPts val="1600"/>
              <a:buFont typeface="Noto Sans Symbols"/>
              <a:buChar char="⮚"/>
            </a:pPr>
            <a:r>
              <a:rPr b="0" i="0" lang="en-US" sz="1400" u="none" cap="none" strike="noStrike">
                <a:solidFill>
                  <a:srgbClr val="0C0C0C"/>
                </a:solidFill>
                <a:latin typeface="Roboto"/>
                <a:ea typeface="Roboto"/>
                <a:cs typeface="Roboto"/>
                <a:sym typeface="Roboto"/>
              </a:rPr>
              <a:t>Interview Questions</a:t>
            </a:r>
            <a:endParaRPr b="0" i="0" sz="1400" u="none" cap="none" strike="noStrike">
              <a:solidFill>
                <a:srgbClr val="000000"/>
              </a:solidFill>
              <a:latin typeface="Arial"/>
              <a:ea typeface="Arial"/>
              <a:cs typeface="Arial"/>
              <a:sym typeface="Arial"/>
            </a:endParaRPr>
          </a:p>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22418e903bc_0_0"/>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83" name="Google Shape;83;g22418e903bc_0_0"/>
          <p:cNvSpPr/>
          <p:nvPr/>
        </p:nvSpPr>
        <p:spPr>
          <a:xfrm>
            <a:off x="916075" y="1476597"/>
            <a:ext cx="7545000" cy="301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400" u="none" cap="none" strike="noStrike">
                <a:solidFill>
                  <a:srgbClr val="8181EF"/>
                </a:solidFill>
                <a:latin typeface="Roboto"/>
                <a:ea typeface="Roboto"/>
                <a:cs typeface="Roboto"/>
                <a:sym typeface="Roboto"/>
              </a:rPr>
              <a:t>INTRODUCTION</a:t>
            </a:r>
            <a:endParaRPr b="0" i="0" sz="1400" u="none" cap="none" strike="noStrike">
              <a:solidFill>
                <a:srgbClr val="8181E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You are given an integer ‘X’, you need to convert the integer to binary format and check if the binary format is palindrome or not</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600" u="none" cap="none" strike="noStrike">
                <a:solidFill>
                  <a:srgbClr val="000000"/>
                </a:solidFill>
                <a:latin typeface="Roboto"/>
                <a:ea typeface="Roboto"/>
                <a:cs typeface="Roboto"/>
                <a:sym typeface="Roboto"/>
              </a:rPr>
              <a:t>For Example, 5 i.e. 101, 27 i.e. 11011 are numbers whose binary representations are palindromes. Whereas 10 i.e. 1011 and 20 i.e. 10100 are not palindromes</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261072e4af1_0_3"/>
          <p:cNvSpPr/>
          <p:nvPr/>
        </p:nvSpPr>
        <p:spPr>
          <a:xfrm>
            <a:off x="916075" y="1476597"/>
            <a:ext cx="7545000" cy="301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8181EF"/>
                </a:solidFill>
                <a:latin typeface="Roboto"/>
                <a:ea typeface="Roboto"/>
                <a:cs typeface="Roboto"/>
                <a:sym typeface="Roboto"/>
              </a:rPr>
              <a:t>INTRODUCTION</a:t>
            </a:r>
            <a:endParaRPr b="0" i="0" sz="1600" u="none" cap="none" strike="noStrike">
              <a:solidFill>
                <a:srgbClr val="8181E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US" sz="1600" u="none" cap="none" strike="noStrike">
                <a:solidFill>
                  <a:schemeClr val="dk1"/>
                </a:solidFill>
                <a:latin typeface="Roboto"/>
                <a:ea typeface="Roboto"/>
                <a:cs typeface="Roboto"/>
                <a:sym typeface="Roboto"/>
              </a:rPr>
              <a:t>The problem is very similar to checking whether a string is palindrome or not. Hence the binary representation must be strings.</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US" sz="1600" u="none" cap="none" strike="noStrike">
                <a:solidFill>
                  <a:schemeClr val="dk1"/>
                </a:solidFill>
                <a:latin typeface="Roboto"/>
                <a:ea typeface="Roboto"/>
                <a:cs typeface="Roboto"/>
                <a:sym typeface="Roboto"/>
              </a:rPr>
              <a:t>We start from leftmost and rightmost bits and compare bits one by one. If we find a mismatch, then return false.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US" sz="1600" u="none" cap="none" strike="noStrike">
                <a:solidFill>
                  <a:schemeClr val="dk1"/>
                </a:solidFill>
                <a:latin typeface="Roboto"/>
                <a:ea typeface="Roboto"/>
                <a:cs typeface="Roboto"/>
                <a:sym typeface="Roboto"/>
              </a:rPr>
              <a:t>We can use the regular palindrome program. Converting integer ‘val’ to binary is as easy as Integer.toBinaryString(val)</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22418e903bc_0_16"/>
          <p:cNvSpPr/>
          <p:nvPr/>
        </p:nvSpPr>
        <p:spPr>
          <a:xfrm>
            <a:off x="3467120" y="1508390"/>
            <a:ext cx="7545000" cy="2953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94" name="Google Shape;94;g22418e903bc_0_16"/>
          <p:cNvSpPr/>
          <p:nvPr/>
        </p:nvSpPr>
        <p:spPr>
          <a:xfrm>
            <a:off x="3558525" y="2126697"/>
            <a:ext cx="7545000" cy="301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1" i="0" sz="1400" u="none" cap="none" strike="noStrike">
              <a:solidFill>
                <a:srgbClr val="8181EF"/>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95" name="Google Shape;95;g22418e903bc_0_16"/>
          <p:cNvSpPr/>
          <p:nvPr/>
        </p:nvSpPr>
        <p:spPr>
          <a:xfrm>
            <a:off x="916075" y="1476597"/>
            <a:ext cx="7545000" cy="3016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i="0" lang="en-US" sz="1600" u="none" cap="none" strike="noStrike">
                <a:solidFill>
                  <a:srgbClr val="8181EF"/>
                </a:solidFill>
                <a:latin typeface="Roboto"/>
                <a:ea typeface="Roboto"/>
                <a:cs typeface="Roboto"/>
                <a:sym typeface="Roboto"/>
              </a:rPr>
              <a:t>EXAMPLE</a:t>
            </a:r>
            <a:endParaRPr b="0" i="0" sz="1600" u="none" cap="none" strike="noStrike">
              <a:solidFill>
                <a:srgbClr val="8181EF"/>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800"/>
              <a:buFont typeface="Arial"/>
              <a:buNone/>
            </a:pPr>
            <a:r>
              <a:rPr b="0" i="0" lang="en-US" sz="1600" u="none" cap="none" strike="noStrike">
                <a:solidFill>
                  <a:schemeClr val="dk1"/>
                </a:solidFill>
                <a:latin typeface="Roboto"/>
                <a:ea typeface="Roboto"/>
                <a:cs typeface="Roboto"/>
                <a:sym typeface="Roboto"/>
              </a:rPr>
              <a:t>Find the nth number whose binary representation is a palindrome</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US" sz="1600" u="none" cap="none" strike="noStrike">
                <a:solidFill>
                  <a:schemeClr val="dk1"/>
                </a:solidFill>
                <a:latin typeface="Roboto"/>
                <a:ea typeface="Roboto"/>
                <a:cs typeface="Roboto"/>
                <a:sym typeface="Roboto"/>
              </a:rPr>
              <a:t>A special caution that you should not consider the leading zeros, while considering the binary representation.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US" sz="1600" u="none" cap="none" strike="noStrike">
                <a:solidFill>
                  <a:schemeClr val="dk1"/>
                </a:solidFill>
                <a:latin typeface="Roboto"/>
                <a:ea typeface="Roboto"/>
                <a:cs typeface="Roboto"/>
                <a:sym typeface="Roboto"/>
              </a:rPr>
              <a:t>Approach: Traverse through all the integers from 1 to 2^31 – 1 and increment palindrome count, if the number is a palindrome. When the palindrome count reaches the required n, break the loop and return the current integer. </a:t>
            </a:r>
            <a:endParaRPr b="1" i="0" sz="1600" u="none" cap="none" strike="noStrike">
              <a:solidFill>
                <a:srgbClr val="8181EF"/>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2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22418e903bc_0_24"/>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01" name="Google Shape;101;g22418e903bc_0_24"/>
          <p:cNvSpPr/>
          <p:nvPr/>
        </p:nvSpPr>
        <p:spPr>
          <a:xfrm>
            <a:off x="829680" y="915840"/>
            <a:ext cx="7694700" cy="341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1" i="0" lang="en-US" sz="1600" u="none" cap="none" strike="noStrike">
                <a:solidFill>
                  <a:srgbClr val="8181EF"/>
                </a:solidFill>
                <a:latin typeface="Roboto"/>
                <a:ea typeface="Roboto"/>
                <a:cs typeface="Roboto"/>
                <a:sym typeface="Roboto"/>
              </a:rPr>
              <a:t>PROGRAMS</a:t>
            </a:r>
            <a:endParaRPr b="0" i="0" sz="1600" u="none" cap="none" strike="noStrike">
              <a:solidFill>
                <a:srgbClr val="8181E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sng" cap="none" strike="noStrike">
                <a:solidFill>
                  <a:srgbClr val="000000"/>
                </a:solidFill>
                <a:latin typeface="Roboto"/>
                <a:ea typeface="Roboto"/>
                <a:cs typeface="Roboto"/>
                <a:sym typeface="Roboto"/>
              </a:rPr>
              <a:t>Sample IO</a:t>
            </a:r>
            <a:endParaRPr b="0" i="0" sz="140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Input : 6</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Output : false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6 is represented as 110</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Input : 9</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Output : true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9 is represented as 1001</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6"/>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07" name="Google Shape;107;p6"/>
          <p:cNvSpPr/>
          <p:nvPr/>
        </p:nvSpPr>
        <p:spPr>
          <a:xfrm>
            <a:off x="894180" y="548378"/>
            <a:ext cx="7694700" cy="341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import java.io.*;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class Main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public static boolean Palindrome(int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String s = Integer.toBinaryString(N);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int i = 0, j = s.length()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while (i &lt; j)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if (s.charAt(i) != s.charAt(j))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return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	return 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public static void main(String[] args)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	Scanner s1=new Scanner(System.in);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	System.out.println("enter the number-");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	int x=s1.nextInt();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	System.out.println(Palindrome(x));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Roboto"/>
                <a:ea typeface="Roboto"/>
                <a:cs typeface="Roboto"/>
                <a:sym typeface="Roboto"/>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108" name="Google Shape;108;p6"/>
          <p:cNvSpPr txBox="1"/>
          <p:nvPr/>
        </p:nvSpPr>
        <p:spPr>
          <a:xfrm>
            <a:off x="250722" y="394489"/>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 1</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2812212bb4f_0_16"/>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14" name="Google Shape;114;g2812212bb4f_0_16"/>
          <p:cNvSpPr/>
          <p:nvPr/>
        </p:nvSpPr>
        <p:spPr>
          <a:xfrm>
            <a:off x="829680" y="915840"/>
            <a:ext cx="7694700" cy="341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100"/>
              <a:buFont typeface="Arial"/>
              <a:buNone/>
            </a:pPr>
            <a:r>
              <a:rPr b="1" i="0" lang="en-US" sz="1600" u="none" cap="none" strike="noStrike">
                <a:solidFill>
                  <a:srgbClr val="8181EF"/>
                </a:solidFill>
                <a:latin typeface="Roboto"/>
                <a:ea typeface="Roboto"/>
                <a:cs typeface="Roboto"/>
                <a:sym typeface="Roboto"/>
              </a:rPr>
              <a:t>PROGRAMS</a:t>
            </a:r>
            <a:endParaRPr b="0" i="0" sz="1600" u="none" cap="none" strike="noStrike">
              <a:solidFill>
                <a:srgbClr val="8181E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sng" cap="none" strike="noStrike">
                <a:solidFill>
                  <a:srgbClr val="000000"/>
                </a:solidFill>
                <a:latin typeface="Roboto"/>
                <a:ea typeface="Roboto"/>
                <a:cs typeface="Roboto"/>
                <a:sym typeface="Roboto"/>
              </a:rPr>
              <a:t>Sample IO</a:t>
            </a:r>
            <a:endParaRPr b="0" i="0" sz="1400" u="sng"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Input : 1</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Output : 1</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1st Number whose binary representation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is palindrome is 1 (1)</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Input : 9</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Output : 27</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9th Number whose binary representation</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n-US" sz="1400" u="none" cap="none" strike="noStrike">
                <a:solidFill>
                  <a:srgbClr val="000000"/>
                </a:solidFill>
                <a:latin typeface="Roboto"/>
                <a:ea typeface="Roboto"/>
                <a:cs typeface="Roboto"/>
                <a:sym typeface="Roboto"/>
              </a:rPr>
              <a:t>is palindrome is 27 (11011)</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2812212bb4f_0_0"/>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20" name="Google Shape;120;g2812212bb4f_0_0"/>
          <p:cNvSpPr/>
          <p:nvPr/>
        </p:nvSpPr>
        <p:spPr>
          <a:xfrm>
            <a:off x="631128" y="915850"/>
            <a:ext cx="3811200" cy="3414900"/>
          </a:xfrm>
          <a:prstGeom prst="rect">
            <a:avLst/>
          </a:prstGeom>
          <a:noFill/>
          <a:ln>
            <a:noFill/>
          </a:ln>
        </p:spPr>
        <p:txBody>
          <a:bodyPr anchorCtr="0" anchor="t" bIns="45700" lIns="91425" spcFirstLastPara="1" rIns="91425" wrap="square" tIns="45700">
            <a:noAutofit/>
          </a:bodyPr>
          <a:lstStyle/>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import java.util.*;</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class Main</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static boolean binaryPalindrome(int n)</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String bin = Integer.toBinaryString(n);</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String rev = new StringBuilder(bin).reverse().toString();</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return bin.equals(rev);</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a:t>
            </a:r>
            <a:endParaRPr b="0" i="0" sz="1200" u="none" cap="none" strike="noStrike">
              <a:solidFill>
                <a:schemeClr val="dk1"/>
              </a:solidFill>
              <a:latin typeface="Consolas"/>
              <a:ea typeface="Consolas"/>
              <a:cs typeface="Consolas"/>
              <a:sym typeface="Consolas"/>
            </a:endParaRPr>
          </a:p>
        </p:txBody>
      </p:sp>
      <p:sp>
        <p:nvSpPr>
          <p:cNvPr id="121" name="Google Shape;121;g2812212bb4f_0_0"/>
          <p:cNvSpPr txBox="1"/>
          <p:nvPr/>
        </p:nvSpPr>
        <p:spPr>
          <a:xfrm>
            <a:off x="250722" y="394489"/>
            <a:ext cx="4572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 2</a:t>
            </a:r>
            <a:endParaRPr b="0" i="0" sz="1400" u="none" cap="none" strike="noStrike">
              <a:solidFill>
                <a:srgbClr val="8181EF"/>
              </a:solidFill>
              <a:latin typeface="Arial"/>
              <a:ea typeface="Arial"/>
              <a:cs typeface="Arial"/>
              <a:sym typeface="Arial"/>
            </a:endParaRPr>
          </a:p>
        </p:txBody>
      </p:sp>
      <p:sp>
        <p:nvSpPr>
          <p:cNvPr id="122" name="Google Shape;122;g2812212bb4f_0_0"/>
          <p:cNvSpPr txBox="1"/>
          <p:nvPr/>
        </p:nvSpPr>
        <p:spPr>
          <a:xfrm>
            <a:off x="4770250" y="915850"/>
            <a:ext cx="3534600" cy="3356400"/>
          </a:xfrm>
          <a:prstGeom prst="rect">
            <a:avLst/>
          </a:prstGeom>
          <a:noFill/>
          <a:ln>
            <a:noFill/>
          </a:ln>
        </p:spPr>
        <p:txBody>
          <a:bodyPr anchorCtr="0" anchor="t" bIns="91425" lIns="91425" spcFirstLastPara="1" rIns="91425" wrap="square" tIns="91425">
            <a:spAutoFit/>
          </a:bodyPr>
          <a:lstStyle/>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static int solve(int n)</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int x = 0;</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int counter = 0;</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while(counter != n)</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x++;</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if(binaryPalindrome(x))</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counter++;</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return x;</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rgbClr val="000000"/>
              </a:buClr>
              <a:buSzPts val="1300"/>
              <a:buFont typeface="Arial"/>
              <a:buNone/>
            </a:pPr>
            <a:r>
              <a:rPr b="0" i="0" lang="en-US" sz="1300" u="none" cap="none" strike="noStrike">
                <a:solidFill>
                  <a:schemeClr val="dk1"/>
                </a:solidFill>
                <a:highlight>
                  <a:srgbClr val="FFFFFF"/>
                </a:highlight>
                <a:latin typeface="Consolas"/>
                <a:ea typeface="Consolas"/>
                <a:cs typeface="Consolas"/>
                <a:sym typeface="Consolas"/>
              </a:rPr>
              <a:t>  }</a:t>
            </a:r>
            <a:endParaRPr b="0" i="0" sz="1300" u="none" cap="none" strike="noStrike">
              <a:solidFill>
                <a:schemeClr val="dk1"/>
              </a:solidFill>
              <a:highlight>
                <a:srgbClr val="FFFFFF"/>
              </a:highlight>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2812212bb4f_0_24"/>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28" name="Google Shape;128;g2812212bb4f_0_24"/>
          <p:cNvSpPr/>
          <p:nvPr/>
        </p:nvSpPr>
        <p:spPr>
          <a:xfrm>
            <a:off x="904605" y="864303"/>
            <a:ext cx="7694700" cy="3414900"/>
          </a:xfrm>
          <a:prstGeom prst="rect">
            <a:avLst/>
          </a:prstGeom>
          <a:noFill/>
          <a:ln>
            <a:noFill/>
          </a:ln>
        </p:spPr>
        <p:txBody>
          <a:bodyPr anchorCtr="0" anchor="t" bIns="45700" lIns="91425" spcFirstLastPara="1" rIns="91425" wrap="square" tIns="45700">
            <a:noAutofit/>
          </a:bodyPr>
          <a:lstStyle/>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public static void main(String args[])</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Scanner sc = new Scanner(System.in);</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int num = sc.nextInt();</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System.out.print(solve(num));</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  }</a:t>
            </a:r>
            <a:endParaRPr b="0" i="0" sz="1300" u="none" cap="none" strike="noStrike">
              <a:solidFill>
                <a:schemeClr val="dk1"/>
              </a:solidFill>
              <a:highlight>
                <a:srgbClr val="FFFFFF"/>
              </a:highlight>
              <a:latin typeface="Consolas"/>
              <a:ea typeface="Consolas"/>
              <a:cs typeface="Consolas"/>
              <a:sym typeface="Consolas"/>
            </a:endParaRPr>
          </a:p>
          <a:p>
            <a:pPr indent="0" lvl="0" marL="0" marR="0" rtl="0" algn="l">
              <a:lnSpc>
                <a:spcPct val="135000"/>
              </a:lnSpc>
              <a:spcBef>
                <a:spcPts val="0"/>
              </a:spcBef>
              <a:spcAft>
                <a:spcPts val="0"/>
              </a:spcAft>
              <a:buClr>
                <a:schemeClr val="dk1"/>
              </a:buClr>
              <a:buSzPts val="1100"/>
              <a:buFont typeface="Arial"/>
              <a:buNone/>
            </a:pPr>
            <a:r>
              <a:rPr b="0" i="0" lang="en-US" sz="1300" u="none" cap="none" strike="noStrike">
                <a:solidFill>
                  <a:schemeClr val="dk1"/>
                </a:solidFill>
                <a:highlight>
                  <a:srgbClr val="FFFFFF"/>
                </a:highlight>
                <a:latin typeface="Consolas"/>
                <a:ea typeface="Consolas"/>
                <a:cs typeface="Consolas"/>
                <a:sym typeface="Consolas"/>
              </a:rPr>
              <a:t>}</a:t>
            </a:r>
            <a:endParaRPr b="0" i="0" sz="1400" u="none" cap="none" strike="noStrike">
              <a:solidFill>
                <a:srgbClr val="000000"/>
              </a:solidFill>
              <a:latin typeface="Roboto"/>
              <a:ea typeface="Roboto"/>
              <a:cs typeface="Roboto"/>
              <a:sym typeface="Roboto"/>
            </a:endParaRPr>
          </a:p>
        </p:txBody>
      </p:sp>
      <p:sp>
        <p:nvSpPr>
          <p:cNvPr id="129" name="Google Shape;129;g2812212bb4f_0_24"/>
          <p:cNvSpPr txBox="1"/>
          <p:nvPr/>
        </p:nvSpPr>
        <p:spPr>
          <a:xfrm>
            <a:off x="250722" y="394489"/>
            <a:ext cx="4572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 2</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35" name="Google Shape;135;p7"/>
          <p:cNvSpPr/>
          <p:nvPr/>
        </p:nvSpPr>
        <p:spPr>
          <a:xfrm>
            <a:off x="352143" y="924895"/>
            <a:ext cx="8589000" cy="3248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1. The `Palindrome` method takes an integer `N` as input.</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2. It converts the integer `N` to its binary representation using `Integer.toBinaryString(N)` and stores it in the string `s`.</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3. It initializes two pointers `i` and `j` to the start and end of the string `s`, respectively.</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4. It enters a loop that continues as long as `i` is less than `j`.</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rPr b="0" i="0" lang="en-US" sz="1600" u="none" cap="none" strike="noStrike">
                <a:solidFill>
                  <a:srgbClr val="000000"/>
                </a:solidFill>
                <a:latin typeface="Roboto"/>
                <a:ea typeface="Roboto"/>
                <a:cs typeface="Roboto"/>
                <a:sym typeface="Roboto"/>
              </a:rPr>
              <a:t>5. Inside the loop, it compares the characters at indices `i` and `j` in the string `s`.</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350" u="none" cap="none" strike="noStrike">
              <a:solidFill>
                <a:srgbClr val="00000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09260b532f_0_3"/>
          <p:cNvSpPr txBox="1"/>
          <p:nvPr/>
        </p:nvSpPr>
        <p:spPr>
          <a:xfrm>
            <a:off x="1478875" y="2620675"/>
            <a:ext cx="7733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g309260b532f_0_3"/>
          <p:cNvSpPr/>
          <p:nvPr/>
        </p:nvSpPr>
        <p:spPr>
          <a:xfrm>
            <a:off x="352143" y="924895"/>
            <a:ext cx="8589000" cy="3248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6. If any pair of characters does not match, it returns `false`, indicating that the binary representation is not a palindrome.</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7. If all characters match, it increments `i` and decrements `j` to move the pointers towards the middle of the string.</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8. If the loop completes without returning `false`, it means the binary representation is a palindrome, and the method returns `true`.</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9. In the `main` method, it prompts the user to enter a number using `Scanner`.</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100"/>
              <a:buFont typeface="Arial"/>
              <a:buNone/>
            </a:pPr>
            <a:r>
              <a:rPr b="0" i="0" lang="en-US" sz="1600" u="none" cap="none" strike="noStrike">
                <a:solidFill>
                  <a:schemeClr val="dk1"/>
                </a:solidFill>
                <a:latin typeface="Roboto"/>
                <a:ea typeface="Roboto"/>
                <a:cs typeface="Roboto"/>
                <a:sym typeface="Roboto"/>
              </a:rPr>
              <a:t>10. It calls the `Palindrome` method with the user-entered number `x` and prints the result (either `true` or `false`) to indicate whether the binary representation of `x` is a palindrome or not.</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350" u="none" cap="none" strike="noStrike">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47" name="Google Shape;147;p8"/>
          <p:cNvSpPr/>
          <p:nvPr/>
        </p:nvSpPr>
        <p:spPr>
          <a:xfrm>
            <a:off x="894180" y="812760"/>
            <a:ext cx="7694700" cy="341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import java.io.*;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class Binary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public static void main(String[] args)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int x=9;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String s = Integer.toBinaryString(x);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boolean ans = 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String s1="";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for (int i = s.length() - 1; i &gt;= 0; 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s1 = s1 + s.charAt(i);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if (s.equals(s1))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System.out.println("True");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System.out.println("False");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202124"/>
                </a:solidFill>
                <a:latin typeface="Roboto"/>
                <a:ea typeface="Roboto"/>
                <a:cs typeface="Roboto"/>
                <a:sym typeface="Roboto"/>
              </a:rPr>
              <a: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148" name="Google Shape;148;p8"/>
          <p:cNvSpPr txBox="1"/>
          <p:nvPr/>
        </p:nvSpPr>
        <p:spPr>
          <a:xfrm>
            <a:off x="280220" y="453443"/>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 2</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54" name="Google Shape;154;p9"/>
          <p:cNvSpPr/>
          <p:nvPr/>
        </p:nvSpPr>
        <p:spPr>
          <a:xfrm>
            <a:off x="3895455" y="1165206"/>
            <a:ext cx="7694700" cy="3414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155" name="Google Shape;155;p9"/>
          <p:cNvSpPr/>
          <p:nvPr/>
        </p:nvSpPr>
        <p:spPr>
          <a:xfrm>
            <a:off x="352143" y="924895"/>
            <a:ext cx="8589000" cy="3248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200"/>
              <a:buFont typeface="Arial"/>
              <a:buNone/>
            </a:pPr>
            <a:r>
              <a:rPr b="0" i="0" lang="en-US" sz="1600" u="none" cap="none" strike="noStrike">
                <a:solidFill>
                  <a:schemeClr val="dk1"/>
                </a:solidFill>
                <a:latin typeface="Roboto"/>
                <a:ea typeface="Roboto"/>
                <a:cs typeface="Roboto"/>
                <a:sym typeface="Roboto"/>
              </a:rPr>
              <a:t>1. Binary Representation: The program converts the decimal number `9` to its binary representation using `Integer.toBinaryString(x)` and stores it in the string `s`.</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200"/>
              <a:buFont typeface="Arial"/>
              <a:buNone/>
            </a:pPr>
            <a:r>
              <a:rPr b="0" i="0" lang="en-US" sz="1600" u="none" cap="none" strike="noStrike">
                <a:solidFill>
                  <a:schemeClr val="dk1"/>
                </a:solidFill>
                <a:latin typeface="Roboto"/>
                <a:ea typeface="Roboto"/>
                <a:cs typeface="Roboto"/>
                <a:sym typeface="Roboto"/>
              </a:rPr>
              <a:t>2. Reversing a String: The program then reverses the binary string `s` by iterating through it in reverse order and appending each character to a new string `s1`.</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200"/>
              <a:buFont typeface="Arial"/>
              <a:buNone/>
            </a:pPr>
            <a:r>
              <a:rPr b="0" i="0" lang="en-US" sz="1600" u="none" cap="none" strike="noStrike">
                <a:solidFill>
                  <a:schemeClr val="dk1"/>
                </a:solidFill>
                <a:latin typeface="Roboto"/>
                <a:ea typeface="Roboto"/>
                <a:cs typeface="Roboto"/>
                <a:sym typeface="Roboto"/>
              </a:rPr>
              <a:t>3. Palindrome Check: The program checks if the original binary string `s` is equal to the reversed string `s1` using the `equals` method. If they are equal, it means the binary representation is a palindrome, and the program prints `"True"`. Otherwise, it prints `"False"`.</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200"/>
              <a:buFont typeface="Arial"/>
              <a:buNone/>
            </a:pPr>
            <a:r>
              <a:t/>
            </a:r>
            <a:endParaRPr b="0" i="0" sz="1350" u="none" cap="none" strike="noStrike">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1" name="Google Shape;161;p10"/>
          <p:cNvSpPr/>
          <p:nvPr/>
        </p:nvSpPr>
        <p:spPr>
          <a:xfrm>
            <a:off x="894180" y="915840"/>
            <a:ext cx="7694700" cy="341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class BinaryPalindromeChecker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static String bin(int 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String ans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while (n &gt; 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ans = (Integer.toString(n &amp; 1)) + ans;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n &gt;&gt;=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return ans;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static int checkPalindrome(int 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String s1 = bin(n);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StringBuilder s2 = new StringBuilder(s1);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s2 = s2.reverse();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return s1.equals(s2.toString()) ? 1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public static void main(String[] args)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x = 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System.out.println(checkPalindrome(x));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p:txBody>
      </p:sp>
      <p:sp>
        <p:nvSpPr>
          <p:cNvPr id="162" name="Google Shape;162;p10"/>
          <p:cNvSpPr txBox="1"/>
          <p:nvPr/>
        </p:nvSpPr>
        <p:spPr>
          <a:xfrm>
            <a:off x="265470" y="504983"/>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8181EF"/>
                </a:solidFill>
                <a:latin typeface="Roboto"/>
                <a:ea typeface="Roboto"/>
                <a:cs typeface="Roboto"/>
                <a:sym typeface="Roboto"/>
              </a:rPr>
              <a:t>Program 3</a:t>
            </a:r>
            <a:endParaRPr b="0" i="0" sz="1400" u="none" cap="none" strike="noStrike">
              <a:solidFill>
                <a:srgbClr val="8181E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8" name="Google Shape;168;p11"/>
          <p:cNvSpPr/>
          <p:nvPr/>
        </p:nvSpPr>
        <p:spPr>
          <a:xfrm>
            <a:off x="894180" y="438719"/>
            <a:ext cx="7694700" cy="341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x =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System.out.println(checkPalindrome(x));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class PalindromeChecker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public static boolean isBinaryPalindrome(int num)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revBinary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copyNum = num;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while (copyNum != 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revBinary = (revBinary &lt;&lt; 1) | (copyNum &amp;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copyNum &gt;&gt;=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return revBinary == num;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public static void main(String[] args)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int num = 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System.out.println(isBinaryPalindrome(num));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num =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System.out.println(isBinaryPalindrome(num));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2"/>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74" name="Google Shape;174;p12"/>
          <p:cNvSpPr/>
          <p:nvPr/>
        </p:nvSpPr>
        <p:spPr>
          <a:xfrm>
            <a:off x="658206" y="755809"/>
            <a:ext cx="8087588" cy="341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chemeClr val="dk1"/>
                </a:solidFill>
                <a:latin typeface="Roboto"/>
                <a:ea typeface="Roboto"/>
                <a:cs typeface="Roboto"/>
                <a:sym typeface="Roboto"/>
              </a:rPr>
              <a:t>1. Binary Conversion: The "bin" method in "BinaryPalindromeChecker" converts a decimal number to its binary representation by repeatedly dividing the number by 2 and storing the remainders in reverse order.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chemeClr val="dk1"/>
                </a:solidFill>
                <a:latin typeface="Roboto"/>
                <a:ea typeface="Roboto"/>
                <a:cs typeface="Roboto"/>
                <a:sym typeface="Roboto"/>
              </a:rPr>
              <a:t>2. Palindrome Check: The "checkPalindrome" method in "BinaryPalindromeChecker" checks if the binary representation of a number is a palindrome by comparing the original binary string with its reversed version using a "StringBuilder".</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chemeClr val="dk1"/>
                </a:solidFill>
                <a:latin typeface="Roboto"/>
                <a:ea typeface="Roboto"/>
                <a:cs typeface="Roboto"/>
                <a:sym typeface="Roboto"/>
              </a:rPr>
              <a:t>3. Bit Manipulation: The "isBinaryPalindrome" method in "PalindromeChecker" reverses the binary representation of a number using bitwise operations to check if it remains the same as the original number, indicating a binary palindrome.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chemeClr val="dk1"/>
                </a:solidFill>
                <a:latin typeface="Roboto"/>
                <a:ea typeface="Roboto"/>
                <a:cs typeface="Roboto"/>
                <a:sym typeface="Roboto"/>
              </a:rPr>
              <a:t>4. Shifting and Masking: In "isBinaryPalindrome", the algorithm shifts the reversed binary number left by 1 bit and then uses bitwise OR with the least significant bit of the original number to reverse it.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chemeClr val="dk1"/>
                </a:solidFill>
                <a:latin typeface="Roboto"/>
                <a:ea typeface="Roboto"/>
                <a:cs typeface="Roboto"/>
                <a:sym typeface="Roboto"/>
              </a:rPr>
              <a:t>5. Comparison and Return: The methods return "true" if the binary representation is a palindrome and "false" otherwise, providing a clear indication of whether the input number's binary form is a palindrome or not.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272cbe684b9_0_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80" name="Google Shape;180;g272cbe684b9_0_7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81" name="Google Shape;181;g272cbe684b9_0_72"/>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182" name="Google Shape;182;g272cbe684b9_0_72"/>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183" name="Google Shape;183;g272cbe684b9_0_72"/>
          <p:cNvSpPr txBox="1"/>
          <p:nvPr/>
        </p:nvSpPr>
        <p:spPr>
          <a:xfrm>
            <a:off x="126112" y="2109730"/>
            <a:ext cx="5033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
        <p:nvSpPr>
          <p:cNvPr id="184" name="Google Shape;184;g272cbe684b9_0_72"/>
          <p:cNvSpPr txBox="1"/>
          <p:nvPr/>
        </p:nvSpPr>
        <p:spPr>
          <a:xfrm>
            <a:off x="1040780" y="1358649"/>
            <a:ext cx="3204000" cy="307800"/>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90" name="Google Shape;190;p13"/>
          <p:cNvSpPr/>
          <p:nvPr/>
        </p:nvSpPr>
        <p:spPr>
          <a:xfrm>
            <a:off x="643458" y="1264628"/>
            <a:ext cx="8087588" cy="3414900"/>
          </a:xfrm>
          <a:prstGeom prst="rect">
            <a:avLst/>
          </a:prstGeom>
          <a:noFill/>
          <a:ln>
            <a:noFill/>
          </a:ln>
        </p:spPr>
        <p:txBody>
          <a:bodyPr anchorCtr="0" anchor="t" bIns="45700" lIns="91425" spcFirstLastPara="1" rIns="91425" wrap="square" tIns="45700">
            <a:noAutofit/>
          </a:bodyPr>
          <a:lstStyle/>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1. What is a binary palindrome?</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A binary palindrome is a number whose binary representation reads the same forwards and backwards. For example, the binary representation of the number 9 is `1001`, which is the same forwards and backwards, making it a binary palindrome.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191" name="Google Shape;191;p13"/>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97" name="Google Shape;197;p14"/>
          <p:cNvSpPr/>
          <p:nvPr/>
        </p:nvSpPr>
        <p:spPr>
          <a:xfrm>
            <a:off x="643458" y="1264628"/>
            <a:ext cx="8087588" cy="3414900"/>
          </a:xfrm>
          <a:prstGeom prst="rect">
            <a:avLst/>
          </a:prstGeom>
          <a:noFill/>
          <a:ln>
            <a:noFill/>
          </a:ln>
        </p:spPr>
        <p:txBody>
          <a:bodyPr anchorCtr="0" anchor="t" bIns="45700" lIns="91425" spcFirstLastPara="1" rIns="91425" wrap="square" tIns="45700">
            <a:noAutofit/>
          </a:bodyPr>
          <a:lstStyle/>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2. How can you determine if a given integer is a binary palindrome?</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To determine if a given integer is a binary palindrome, you can convert the integer to its binary representation, then check if this binary string reads the same forwards and backwards. This can be done by comparing the string with its reverse.</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198" name="Google Shape;198;p14"/>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199" name="Google Shape;199;p14"/>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05" name="Google Shape;205;p15"/>
          <p:cNvSpPr/>
          <p:nvPr/>
        </p:nvSpPr>
        <p:spPr>
          <a:xfrm>
            <a:off x="643458" y="1264628"/>
            <a:ext cx="8087588" cy="3414900"/>
          </a:xfrm>
          <a:prstGeom prst="rect">
            <a:avLst/>
          </a:prstGeom>
          <a:noFill/>
          <a:ln>
            <a:noFill/>
          </a:ln>
        </p:spPr>
        <p:txBody>
          <a:bodyPr anchorCtr="0" anchor="t" bIns="45700" lIns="91425" spcFirstLastPara="1" rIns="91425" wrap="square" tIns="45700">
            <a:noAutofit/>
          </a:bodyPr>
          <a:lstStyle/>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3. Why might binary palindromes be important in computer science or specific applications?</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Binary palindromes might be important in certain applications where symmetry and error-checking are critical. For example, in data transmission and storage, palindromic patterns can be used to detect and correct errors. Additionally, they have theoretical importance in the study of algorithms and computational theory.</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25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206" name="Google Shape;206;p15"/>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207" name="Google Shape;207;p15"/>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13" name="Google Shape;213;p16"/>
          <p:cNvSpPr/>
          <p:nvPr/>
        </p:nvSpPr>
        <p:spPr>
          <a:xfrm>
            <a:off x="643458" y="1264628"/>
            <a:ext cx="8087588" cy="3414900"/>
          </a:xfrm>
          <a:prstGeom prst="rect">
            <a:avLst/>
          </a:prstGeom>
          <a:noFill/>
          <a:ln>
            <a:noFill/>
          </a:ln>
        </p:spPr>
        <p:txBody>
          <a:bodyPr anchorCtr="0" anchor="t" bIns="45700" lIns="91425" spcFirstLastPara="1" rIns="91425" wrap="square" tIns="45700">
            <a:noAutofit/>
          </a:bodyPr>
          <a:lstStyle/>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4. What is the time complexity of checking if a number is a binary palindrome?</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The time complexity of checking if a number is a binary palindrome is O(log n), where n is the given number. This is because converting a number to its binary representation involves examining each bit, and the number of bits required to represent a number n is log₂(n).</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214" name="Google Shape;214;p16"/>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215" name="Google Shape;215;p16"/>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7"/>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21" name="Google Shape;221;p17"/>
          <p:cNvSpPr/>
          <p:nvPr/>
        </p:nvSpPr>
        <p:spPr>
          <a:xfrm>
            <a:off x="643458" y="1264628"/>
            <a:ext cx="8087588" cy="3414900"/>
          </a:xfrm>
          <a:prstGeom prst="rect">
            <a:avLst/>
          </a:prstGeom>
          <a:noFill/>
          <a:ln>
            <a:noFill/>
          </a:ln>
        </p:spPr>
        <p:txBody>
          <a:bodyPr anchorCtr="0" anchor="t" bIns="45700" lIns="91425" spcFirstLastPara="1" rIns="91425" wrap="square" tIns="45700">
            <a:noAutofit/>
          </a:bodyPr>
          <a:lstStyle/>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4. How can bitwise operations be used to check for binary palindromes?</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Bitwise operations can be used to check for binary palindromes by extracting bits from both ends of the binary representation and comparing them. This process involves using bit shifts and bit masks to isolate and compare the relevant bits.</a:t>
            </a:r>
            <a:endParaRPr b="0" i="0" sz="1400" u="none" cap="none" strike="noStrike">
              <a:solidFill>
                <a:srgbClr val="000000"/>
              </a:solidFill>
              <a:latin typeface="Arial"/>
              <a:ea typeface="Arial"/>
              <a:cs typeface="Arial"/>
              <a:sym typeface="Arial"/>
            </a:endParaRPr>
          </a:p>
        </p:txBody>
      </p:sp>
      <p:sp>
        <p:nvSpPr>
          <p:cNvPr id="222" name="Google Shape;222;p17"/>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00B0F0"/>
                </a:solidFill>
                <a:latin typeface="Roboto Black"/>
                <a:ea typeface="Roboto Black"/>
                <a:cs typeface="Roboto Black"/>
                <a:sym typeface="Roboto Black"/>
              </a:rPr>
              <a:t>Interview questions</a:t>
            </a:r>
            <a:endParaRPr b="0" i="0" sz="1400" u="none" cap="none" strike="noStrike">
              <a:solidFill>
                <a:srgbClr val="000000"/>
              </a:solidFill>
              <a:latin typeface="Arial"/>
              <a:ea typeface="Arial"/>
              <a:cs typeface="Arial"/>
              <a:sym typeface="Arial"/>
            </a:endParaRPr>
          </a:p>
        </p:txBody>
      </p:sp>
      <p:sp>
        <p:nvSpPr>
          <p:cNvPr id="223" name="Google Shape;223;p17"/>
          <p:cNvSpPr txBox="1"/>
          <p:nvPr/>
        </p:nvSpPr>
        <p:spPr>
          <a:xfrm>
            <a:off x="122130" y="445025"/>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Interview questions</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1"/>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29" name="Google Shape;229;p21"/>
          <p:cNvSpPr/>
          <p:nvPr/>
        </p:nvSpPr>
        <p:spPr>
          <a:xfrm>
            <a:off x="628710" y="1728600"/>
            <a:ext cx="8087588" cy="2297710"/>
          </a:xfrm>
          <a:prstGeom prst="rect">
            <a:avLst/>
          </a:prstGeom>
          <a:noFill/>
          <a:ln>
            <a:noFill/>
          </a:ln>
        </p:spPr>
        <p:txBody>
          <a:bodyPr anchorCtr="0" anchor="t" bIns="45700" lIns="91425" spcFirstLastPara="1" rIns="91425" wrap="square" tIns="45700">
            <a:noAutofit/>
          </a:bodyPr>
          <a:lstStyle/>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1. Write a function that checks if the binary representation of a given integer is a palindrome.</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Input: 9 (binary 1001), Output: true</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Input: 10 (binary 1010), Output: false</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230" name="Google Shape;230;p21"/>
          <p:cNvSpPr txBox="1"/>
          <p:nvPr/>
        </p:nvSpPr>
        <p:spPr>
          <a:xfrm>
            <a:off x="96135" y="919882"/>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Practice questions</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236" name="Google Shape;236;p22"/>
          <p:cNvSpPr/>
          <p:nvPr/>
        </p:nvSpPr>
        <p:spPr>
          <a:xfrm>
            <a:off x="628710" y="1728600"/>
            <a:ext cx="8087588" cy="2297710"/>
          </a:xfrm>
          <a:prstGeom prst="rect">
            <a:avLst/>
          </a:prstGeom>
          <a:noFill/>
          <a:ln>
            <a:noFill/>
          </a:ln>
        </p:spPr>
        <p:txBody>
          <a:bodyPr anchorCtr="0" anchor="t" bIns="45700" lIns="91425" spcFirstLastPara="1" rIns="91425" wrap="square" tIns="45700">
            <a:noAutofit/>
          </a:bodyPr>
          <a:lstStyle/>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2. Write a function that finds the next integer greater than a given number whose binary representation is a palindrome.</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Input: 9 (binary 1001), Output: 15 (binary 1111)</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rPr b="0" i="0" lang="en-US" sz="1400" u="none" cap="none" strike="noStrike">
                <a:solidFill>
                  <a:srgbClr val="000000"/>
                </a:solidFill>
                <a:latin typeface="Roboto"/>
                <a:ea typeface="Roboto"/>
                <a:cs typeface="Roboto"/>
                <a:sym typeface="Roboto"/>
              </a:rPr>
              <a:t>   Input: 10 (binary 1010), Output: 15 (binary 1111)</a:t>
            </a:r>
            <a:endParaRPr b="0" i="0" sz="1400" u="none" cap="none" strike="noStrike">
              <a:solidFill>
                <a:srgbClr val="000000"/>
              </a:solidFill>
              <a:latin typeface="Arial"/>
              <a:ea typeface="Arial"/>
              <a:cs typeface="Arial"/>
              <a:sym typeface="Arial"/>
            </a:endParaRPr>
          </a:p>
          <a:p>
            <a:pPr indent="0" lvl="0" marL="0" marR="0" rtl="0" algn="l">
              <a:lnSpc>
                <a:spcPct val="25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237" name="Google Shape;237;p22"/>
          <p:cNvSpPr txBox="1"/>
          <p:nvPr/>
        </p:nvSpPr>
        <p:spPr>
          <a:xfrm>
            <a:off x="96135" y="919882"/>
            <a:ext cx="634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600"/>
              <a:buFont typeface="Arial"/>
              <a:buNone/>
            </a:pPr>
            <a:r>
              <a:rPr b="0" i="0" lang="en-US" sz="3600" u="none" cap="none" strike="noStrike">
                <a:solidFill>
                  <a:srgbClr val="8181EF"/>
                </a:solidFill>
                <a:latin typeface="Roboto Black"/>
                <a:ea typeface="Roboto Black"/>
                <a:cs typeface="Roboto Black"/>
                <a:sym typeface="Roboto Black"/>
              </a:rPr>
              <a:t>Practice questions</a:t>
            </a:r>
            <a:endParaRPr b="0" i="0" sz="1400" u="none" cap="none" strike="noStrike">
              <a:solidFill>
                <a:srgbClr val="8181EF"/>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72cbe684b9_0_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43" name="Google Shape;243;g272cbe684b9_0_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244" name="Google Shape;244;g272cbe684b9_0_9"/>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245" name="Google Shape;245;g272cbe684b9_0_9"/>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246" name="Google Shape;246;g272cbe684b9_0_9"/>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47" name="Google Shape;247;g272cbe684b9_0_9"/>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48" name="Google Shape;248;g272cbe684b9_0_9"/>
          <p:cNvSpPr txBox="1"/>
          <p:nvPr/>
        </p:nvSpPr>
        <p:spPr>
          <a:xfrm>
            <a:off x="1980750" y="4590800"/>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249" name="Google Shape;249;g272cbe684b9_0_9"/>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50" name="Google Shape;250;g272cbe684b9_0_9"/>
          <p:cNvSpPr txBox="1"/>
          <p:nvPr/>
        </p:nvSpPr>
        <p:spPr>
          <a:xfrm>
            <a:off x="3519050"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251" name="Google Shape;251;g272cbe684b9_0_9"/>
          <p:cNvPicPr preferRelativeResize="0"/>
          <p:nvPr/>
        </p:nvPicPr>
        <p:blipFill rotWithShape="1">
          <a:blip r:embed="rId6">
            <a:alphaModFix/>
          </a:blip>
          <a:srcRect b="0" l="0" r="0" t="0"/>
          <a:stretch/>
        </p:blipFill>
        <p:spPr>
          <a:xfrm>
            <a:off x="5223770" y="4591063"/>
            <a:ext cx="338156" cy="338150"/>
          </a:xfrm>
          <a:prstGeom prst="rect">
            <a:avLst/>
          </a:prstGeom>
          <a:noFill/>
          <a:ln>
            <a:noFill/>
          </a:ln>
        </p:spPr>
      </p:pic>
      <p:sp>
        <p:nvSpPr>
          <p:cNvPr id="252" name="Google Shape;252;g272cbe684b9_0_9"/>
          <p:cNvSpPr txBox="1"/>
          <p:nvPr/>
        </p:nvSpPr>
        <p:spPr>
          <a:xfrm>
            <a:off x="5457275"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253" name="Google Shape;253;g272cbe684b9_0_9"/>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