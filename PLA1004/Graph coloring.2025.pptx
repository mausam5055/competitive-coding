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 Black"/>
      <p:bold r:id="rId24"/>
      <p:boldItalic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30" roundtripDataSignature="AMtx7miFzTwKnG6ict9HY3FKSoOuylUM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A22194-FF16-4623-95AC-1E119AB58511}">
  <a:tblStyle styleId="{3EA22194-FF16-4623-95AC-1E119AB585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Black-bold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font" Target="fonts/RobotoBlack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fef00ad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31fef00ada2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08ef83a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208ef83a8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08ef83a8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3208ef83a81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08ef83a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208ef83a8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08ef83a8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g3208ef83a81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fe56d80b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31fe56d80bc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4a63bcca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2a4a63bcca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fdec52c7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g31fdec52c72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08ef83a8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3208ef83a81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08ef83a8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208ef83a81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08ef83a8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208ef83a81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fef00ada2_0_1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g31fef00ada2_0_1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g31fef00ada2_0_1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1fef00ada2_0_1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1fef00ada2_0_1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6" name="Google Shape;8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hyperlink" Target="https://learn.codemithra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40951" y="2260382"/>
            <a:ext cx="469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COLORING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337fc5d25_0_216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" name="Google Shape;115;g14337fc5d25_0_21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Graph Coloring is an assignment of labels traditionally called "colors" to elements of a graph subject to certain constraints.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way of coloring the vertices of a graph such that no two adjacent vertices are of the same color -- a common graph coloring problem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 kinds of Graph coloring are Edge Coloring and Face coloring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Graph coloring enjoys many practical applications as well as theoretical challenges.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g14337fc5d25_0_216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fef00ada2_0_6"/>
          <p:cNvSpPr txBox="1"/>
          <p:nvPr/>
        </p:nvSpPr>
        <p:spPr>
          <a:xfrm>
            <a:off x="654550" y="45325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2" name="Google Shape;122;g31fef00ada2_0_6"/>
          <p:cNvSpPr txBox="1"/>
          <p:nvPr/>
        </p:nvSpPr>
        <p:spPr>
          <a:xfrm>
            <a:off x="390825" y="1471675"/>
            <a:ext cx="4207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coloring of the “Petersen graph” with 3 colors, the minimum number possible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Chromatic Number: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smallest number of colors needed to color a graph G is called its chromatic number. For example, the graph on the right can be colored minimum 3 colors.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g31fef00ada2_0_6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1fef00ada2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3450" y="1170000"/>
            <a:ext cx="3355170" cy="32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08ef83a81_0_0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0" name="Google Shape;130;g3208ef83a81_0_0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 Making Schedule or Time Table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2) Mobile Radio Frequency Assignment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3) Sudoku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4) Register Allocation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5) Bipartite Graphs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6) Map Coloring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g3208ef83a81_0_0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08ef83a81_0_6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7" name="Google Shape;137;g3208ef83a81_0_6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is no efficient algorithm available for coloring a graph with minimum number of colors as the problem is a known </a:t>
            </a:r>
            <a:r>
              <a:rPr i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NP-Complete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problem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doesn’t guarantee to use minimum colors, but it guarantees an upper bound on the number of colors.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basic algorithm never uses more than d+1 colors where d is the maximum degree of a vertex in the given graph.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g3208ef83a81_0_6"/>
          <p:cNvSpPr txBox="1"/>
          <p:nvPr/>
        </p:nvSpPr>
        <p:spPr>
          <a:xfrm>
            <a:off x="172449" y="1053975"/>
            <a:ext cx="49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APPROACHES-GREEDY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08ef83a81_0_12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4" name="Google Shape;144;g3208ef83a81_0_12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Color first vertex with first color.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Do following for remaining V-1 vertices.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Consider the currently picked vertex and color it with the lowest numbered color that has not been used on any previously colored vertices adjacent to it.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all previously used colors appear on vertices adjacent to v, assign a new color to it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g3208ef83a81_0_12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08ef83a81_0_18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1" name="Google Shape;151;g3208ef83a81_0_18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Graphcoloring1.java                                          </a:t>
            </a:r>
            <a:r>
              <a:rPr lang="en-GB" sz="16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</a:t>
            </a:r>
            <a:endParaRPr sz="16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O(V^2 + E)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sz="15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Coloring of graph 1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0 ---&gt;  Color 0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1 ---&gt;  Color 1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2 ---&gt;  Color 2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3 ---&gt;  Color 0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4 ---&gt;  Color 1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Coloring of graph 2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0 ---&gt;  Color 0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1 ---&gt;  Color 1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2 ---&gt;  Color 2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3 ---&gt;  Color 0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Vertex 4 ---&gt;  Color 3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g3208ef83a81_0_18"/>
          <p:cNvSpPr txBox="1"/>
          <p:nvPr/>
        </p:nvSpPr>
        <p:spPr>
          <a:xfrm>
            <a:off x="124226" y="950979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g31fe56d80bc_0_106"/>
          <p:cNvGraphicFramePr/>
          <p:nvPr/>
        </p:nvGraphicFramePr>
        <p:xfrm>
          <a:off x="202600" y="72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{3EA22194-FF16-4623-95AC-1E119AB58511}</a:tableStyleId>
              </a:tblPr>
              <a:tblGrid>
                <a:gridCol w="4481650"/>
                <a:gridCol w="4257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 java.io.*;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 java.util.*;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 java.util.LinkedList;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 Graph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{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private int V; // No. of vertices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private LinkedList&lt;Integer&gt; adj[]; 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Graph(int v)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{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V = v;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adj = new LinkedList[v];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for (int i=0; i&lt;v; ++i)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adj[i] = new LinkedList();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}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void addEdge(int v,int w)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{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adj[v].add(w);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adj[w].add(v); //Graph is undirected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}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void greedyColoring()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{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int result[] = new int[V];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Arrays.fill(result, -1);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result[0] = 0;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boolean available[] = new boolean[V];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Arrays.fill(available, true);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for (int u = 1; u &lt; V; u++)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{			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Iterator&lt;Integer&gt; it = adj[u].iterator() 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while (it.hasNext())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{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int i = it.next();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if (result[i] != -1)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available[result[i]] = false;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}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g31fe56d80bc_0_106"/>
          <p:cNvSpPr txBox="1"/>
          <p:nvPr/>
        </p:nvSpPr>
        <p:spPr>
          <a:xfrm>
            <a:off x="720725" y="27625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g2a4a63bcca6_0_1"/>
          <p:cNvGraphicFramePr/>
          <p:nvPr/>
        </p:nvGraphicFramePr>
        <p:xfrm>
          <a:off x="202600" y="72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{3EA22194-FF16-4623-95AC-1E119AB58511}</a:tableStyleId>
              </a:tblPr>
              <a:tblGrid>
                <a:gridCol w="4481650"/>
                <a:gridCol w="4257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cr;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for (cr = 0; cr &lt; V; cr++){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if (available[cr])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	break;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}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result[u] = cr; 			             Arrays.fill(available, true);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}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for (int u = 0; u &lt; V; u++)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System.out.println("Vertex " + u + " ---&gt; Color "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		+result[u]);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}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 static void main(String args[])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{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Graph g1 = new Graph(5);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g1.addEdge(0, 1);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g1.addEdge(0, 2);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g1.addEdge(1, 2);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g1.addEdge(1, 3);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g1.addEdge(2, 3);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g1.addEdge(3, 4);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System.out.println("Coloring of graph 1");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g1.greedyColoring();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System.out.println();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Graph g2 = new Graph(5);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g2.addEdge(0, 1);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g2.addEdge(0, 2);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g2.addEdge(1, 2);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g2.addEdge(1, 4);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g2.addEdge(2, 4);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g2.addEdge(4, 3);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System.out.println("Coloring of graph 2 ");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g2.greedyColoring();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}}</a:t>
                      </a:r>
                      <a:endParaRPr sz="11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g2a4a63bcca6_0_1"/>
          <p:cNvSpPr txBox="1"/>
          <p:nvPr/>
        </p:nvSpPr>
        <p:spPr>
          <a:xfrm>
            <a:off x="720725" y="27625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fdec52c72_0_308"/>
          <p:cNvSpPr txBox="1"/>
          <p:nvPr/>
        </p:nvSpPr>
        <p:spPr>
          <a:xfrm>
            <a:off x="3315000" y="445600"/>
            <a:ext cx="325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0" name="Google Shape;170;g31fdec52c72_0_308"/>
          <p:cNvSpPr txBox="1"/>
          <p:nvPr/>
        </p:nvSpPr>
        <p:spPr>
          <a:xfrm>
            <a:off x="1" y="909770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/>
          </a:p>
        </p:txBody>
      </p:sp>
      <p:sp>
        <p:nvSpPr>
          <p:cNvPr id="171" name="Google Shape;171;g31fdec52c72_0_308"/>
          <p:cNvSpPr txBox="1"/>
          <p:nvPr/>
        </p:nvSpPr>
        <p:spPr>
          <a:xfrm>
            <a:off x="419798" y="1519675"/>
            <a:ext cx="7492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graphcoloring1.java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doesn’t always use minimum number of colors.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colors used sometime depend on the order in which vertices are processed.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in which the vertices are picked is important. There are different ways to do so .The most common is Welsh–Powell Algorithm which considers vertices in descending order of degrees.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08ef83a81_0_48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7" name="Google Shape;177;g3208ef83a81_0_48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degree of each vertex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the vertices in order of descending degrees.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Colour the first vertex with color 1.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down the list and color all the vertices not connected to the coloured vertex, with the same color.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Repeat step 4 on all uncolored vertices with a new color, in descending order of degrees until all the vertices are coloured.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g3208ef83a81_0_48"/>
          <p:cNvSpPr txBox="1"/>
          <p:nvPr/>
        </p:nvSpPr>
        <p:spPr>
          <a:xfrm>
            <a:off x="172449" y="1053973"/>
            <a:ext cx="61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WELSH POWELL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08ef83a81_0_84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4" name="Google Shape;184;g3208ef83a81_0_84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" name="Google Shape;185;g3208ef83a81_0_84"/>
          <p:cNvSpPr txBox="1"/>
          <p:nvPr/>
        </p:nvSpPr>
        <p:spPr>
          <a:xfrm>
            <a:off x="172449" y="1053973"/>
            <a:ext cx="61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WELSH POWELL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208ef83a81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637" y="1542825"/>
            <a:ext cx="4826874" cy="31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08ef83a81_0_90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GB" sz="17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GRAPH COLORING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2" name="Google Shape;192;g3208ef83a81_0_90"/>
          <p:cNvSpPr txBox="1"/>
          <p:nvPr/>
        </p:nvSpPr>
        <p:spPr>
          <a:xfrm>
            <a:off x="390825" y="1471675"/>
            <a:ext cx="8358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g3208ef83a81_0_90"/>
          <p:cNvSpPr txBox="1"/>
          <p:nvPr/>
        </p:nvSpPr>
        <p:spPr>
          <a:xfrm>
            <a:off x="172449" y="1053973"/>
            <a:ext cx="61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WELSH POWELL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208ef83a81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200" y="1423275"/>
            <a:ext cx="3229674" cy="36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208ef83a81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2874" y="1471675"/>
            <a:ext cx="3443400" cy="167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09" name="Google Shape;2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1" name="Google Shape;2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