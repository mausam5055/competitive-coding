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Proxima Nov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hdQpu9yXxgxPkSn/8HQUFXSG2O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ProximaNova-bold.fntdata"/><Relationship Id="rId14" Type="http://schemas.openxmlformats.org/officeDocument/2006/relationships/slide" Target="slides/slide9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2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1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755719" y="5078556"/>
            <a:ext cx="60480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17488" y="812800"/>
            <a:ext cx="71247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29" y="4343327"/>
            <a:ext cx="5486100" cy="4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/>
          <p:nvPr/>
        </p:nvSpPr>
        <p:spPr>
          <a:xfrm>
            <a:off x="3884734" y="8685423"/>
            <a:ext cx="2971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0050" lIns="80100" spcFirstLastPara="1" rIns="80100" wrap="square" tIns="400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ff1c1f48c_0_0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25ff1c1f48c_0_0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ff1c1f48c_0_10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25ff1c1f48c_0_10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5ff1c1f48c_0_20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25ff1c1f48c_0_20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5ff1c1f48c_0_29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g25ff1c1f48c_0_29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ff1c1f48c_0_39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25ff1c1f48c_0_39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ff1c1f48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5ff1c1f48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" name="Google Shape;18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" name="Google Shape;22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forms.gle/eeUKnoLr6kuVMPPQ9" TargetMode="External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11" Type="http://schemas.openxmlformats.org/officeDocument/2006/relationships/image" Target="../media/image5.png"/><Relationship Id="rId10" Type="http://schemas.openxmlformats.org/officeDocument/2006/relationships/image" Target="../media/image10.png"/><Relationship Id="rId12" Type="http://schemas.openxmlformats.org/officeDocument/2006/relationships/image" Target="../media/image18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99" y="962974"/>
            <a:ext cx="2649990" cy="32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1297" y="2070612"/>
            <a:ext cx="3595704" cy="350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2147550" y="380300"/>
            <a:ext cx="5242200" cy="5463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</a:rPr>
              <a:t>DECISION</a:t>
            </a:r>
            <a:r>
              <a:rPr b="1" lang="en-US" sz="1800">
                <a:solidFill>
                  <a:srgbClr val="FFFFFF"/>
                </a:solidFill>
              </a:rPr>
              <a:t> MAKING AND CONTROL STRUCTURE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655363" y="1248306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500">
                <a:solidFill>
                  <a:schemeClr val="dk1"/>
                </a:solidFill>
                <a:highlight>
                  <a:srgbClr val="FFFFFF"/>
                </a:highlight>
              </a:rPr>
              <a:t>URL</a:t>
            </a:r>
            <a:r>
              <a:rPr b="1" lang="en-US" sz="2500">
                <a:solidFill>
                  <a:srgbClr val="373737"/>
                </a:solidFill>
                <a:highlight>
                  <a:srgbClr val="FFFFFF"/>
                </a:highlight>
              </a:rPr>
              <a:t>:</a:t>
            </a:r>
            <a:r>
              <a:rPr b="1" lang="en-US" sz="250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https://forms.gle/eeUKnoLr6kuVMPPQ9</a:t>
            </a:r>
            <a:endParaRPr b="1" sz="2500">
              <a:solidFill>
                <a:srgbClr val="373737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</a:rPr>
              <a:t>QR CODE</a:t>
            </a:r>
            <a:r>
              <a:rPr b="1" lang="en-US" sz="2400">
                <a:solidFill>
                  <a:srgbClr val="373737"/>
                </a:solidFill>
                <a:highlight>
                  <a:srgbClr val="FFFFFF"/>
                </a:highlight>
              </a:rPr>
              <a:t>:</a:t>
            </a:r>
            <a:endParaRPr b="1" sz="2400">
              <a:solidFill>
                <a:srgbClr val="373737"/>
              </a:solidFill>
              <a:highlight>
                <a:srgbClr val="FFFFFF"/>
              </a:highlight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1783" y="2267975"/>
            <a:ext cx="2720433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15B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1212976" y="1481231"/>
            <a:ext cx="6964200" cy="18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1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ALGORITHMS</a:t>
            </a:r>
            <a:endParaRPr b="1" i="1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7168" y="152168"/>
            <a:ext cx="813084" cy="993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6359" y="510382"/>
            <a:ext cx="2340965" cy="225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555125" y="915846"/>
            <a:ext cx="754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1" y="626"/>
            <a:ext cx="3564399" cy="9261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2922897" y="523238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2619397" y="1146996"/>
            <a:ext cx="4520100" cy="33008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What is an algorithm?</a:t>
            </a:r>
            <a:endParaRPr b="0" i="1" sz="2000" u="none" cap="none" strike="noStrike">
              <a:solidFill>
                <a:srgbClr val="38562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Why do we need algorithm?</a:t>
            </a:r>
            <a:endParaRPr b="0" i="1" sz="2000" u="none" cap="none" strike="noStrike">
              <a:solidFill>
                <a:srgbClr val="38562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Characteristics of algorithm</a:t>
            </a:r>
            <a:endParaRPr b="0" i="1" sz="2000" u="none" cap="none" strike="noStrike">
              <a:solidFill>
                <a:srgbClr val="38562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Characteristics of algorithm in java</a:t>
            </a:r>
            <a:endParaRPr b="0" i="1" sz="2000" u="none" cap="none" strike="noStrike">
              <a:solidFill>
                <a:srgbClr val="385623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How to design an algorithm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How to analyze an algorithm</a:t>
            </a:r>
            <a:endParaRPr/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Types of algorithm</a:t>
            </a:r>
            <a:endParaRPr b="0" i="1" sz="2000" u="none" cap="none" strike="noStrike">
              <a:solidFill>
                <a:srgbClr val="385623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81" name="Google Shape;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>
            <p:ph idx="1" type="body"/>
          </p:nvPr>
        </p:nvSpPr>
        <p:spPr>
          <a:xfrm>
            <a:off x="1096502" y="2138387"/>
            <a:ext cx="6950989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algorithm is a step-by-step procedure or a set of instructions designed to solve a specific problem or perform a particular task. In computer science, algorithms are essential for developing efficient and effective software solutions.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55120" y="1404107"/>
            <a:ext cx="7759721" cy="513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What is an Algorithm?</a:t>
            </a:r>
            <a:r>
              <a:rPr b="0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922897" y="523238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 txBox="1"/>
          <p:nvPr>
            <p:ph idx="1" type="body"/>
          </p:nvPr>
        </p:nvSpPr>
        <p:spPr>
          <a:xfrm>
            <a:off x="331625" y="1506691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1.Problem Solving: Algorithms provide a systematic approach to solving problems. They break down complex tasks into smaller, manageable steps, making problem-solving more organized and easier.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Efficiency: Well-designed algorithms can significantly improve the efficiency   of a program. They help in optimizing resource usage and reducing execution time, which is crucial for large-scale applications and computationally intensive tasks.</a:t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239658" y="857421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Why Do We Need Algorithms?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922897" y="523238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01" name="Google Shape;10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7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 txBox="1"/>
          <p:nvPr>
            <p:ph idx="1" type="body"/>
          </p:nvPr>
        </p:nvSpPr>
        <p:spPr>
          <a:xfrm>
            <a:off x="331625" y="1506691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Reusability: Algorithms can be applied to various scenarios and data, allowing code reusability and reducing the need to write similar logic multiple times.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Standardization: Algorithms provide a standard way to solve specific problems, promoting consistency and ensuring that different programmers can approach the same problem with similar techniques.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239658" y="857421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Why Do We Need Algorithms?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2922897" y="523238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11" name="Google Shape;1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 txBox="1"/>
          <p:nvPr>
            <p:ph idx="1" type="body"/>
          </p:nvPr>
        </p:nvSpPr>
        <p:spPr>
          <a:xfrm>
            <a:off x="239658" y="1018038"/>
            <a:ext cx="8792830" cy="1956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Input: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algorithm should have zero or more inputs. These inputs are the data on which the algorithm operates.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Output: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algorithm should produce at least one output. The output is the result of the algorithm's processing on the given inputs.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Definiteness: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Each step in the algorithm should be precisely defined and unambiguous, leaving no room for interpretation. This ensures that the algorithm's behavior is well-defined.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239658" y="665327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Characteristics of an Algorithm:</a:t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2922897" y="523238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21" name="Google Shape;1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9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331625" y="1506691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Finiteness: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algorithm must eventually terminate after a finite number of steps. It should not run indefinitely or go into an infinite loop.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Effectiveness: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steps in the algorithm should be basic and simple enough that they can be executed using basic operations or actions.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239658" y="857421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Characteristics of an Algorithm:</a:t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2922897" y="523238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31" name="Google Shape;13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0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6. Correctness: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algorithm should produce the correct output for all valid inputs and should solve the problem it was designed to address.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7. Determinism: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algorithm's steps should be deterministic, meaning that given the same input and conditions, it will always produce the same output.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8. Feasibility: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algorithm should be practical and feasible to implement, considering the available resources and computational power.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Characteristics of an Algorithm:</a:t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41" name="Google Shape;1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82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Syntax: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algorithm should be expressed using the syntax and constructs of the Java programming language.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Data Structures: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Java provides various data structures like arrays, lists, maps, etc., that can be used to represent data and support algorithmic operations.</a:t>
            </a:r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Characteristics of an Algorithm In Java:</a:t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51" name="Google Shape;1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2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Object-Oriented: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Java is an object-oriented language, and algorithms can be designed using object-oriented principles like encapsulation, inheritance, and polymorphism.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Standard Library: Java's standard library offers a wide range of utility classes and functions, which can be leveraged to simplify algorithm implementation and improve code readability.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Characteristics of an Algorithm In Java:</a:t>
            </a:r>
            <a:endParaRPr/>
          </a:p>
        </p:txBody>
      </p:sp>
      <p:sp>
        <p:nvSpPr>
          <p:cNvPr id="160" name="Google Shape;160;p12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3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Understand the Problem: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Begin by thoroughly understanding the problem you need to solve. Identify the inputs, desired outputs, and any constraints or special conditions.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Break Down the Problem: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Divide the problem into smaller sub-problems or steps. This process is called decomposition and helps make the problem more manageable.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How to design an Algorithm :</a:t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Choose a Suitable Data Structure: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Select the appropriate data structure to store and manipulate the data efficiently. Common data structures in Java include arrays, lists, sets, maps, and trees.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Design the Algorithm: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Start designing the step-by-step procedure to solve the problem. Use pseudocode or flowcharts to outline the logic without worrying about the specific syntax of the programming language.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How to design an Algorithm :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81" name="Google Shape;1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Implement the Algorithm: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Translate the algorithm into Java code using the correct syntax, data structures, and control structures like loops and conditionals.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6. Test and Debug: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Test the algorithm with various inputs, including edge cases, to ensure it produces the correct output. Debug and refine the code as needed.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How to design an Algorithm :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191" name="Google Shape;1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6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 analysis involves evaluating the efficiency and performance of an algorithm. The primary aspects of algorithm analysis include: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1.Time Complexity: Measure how the algorithm's running time increases with the size of the input data. Common notations used are Big O notation (e.g., O(n), O(n^2)).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2.Space Complexity: Evaluate the amount of memory space required by the algorithm as a function of the input size.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How to analyze Algorithm :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01" name="Google Shape;2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17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3.Best, Average, and Worst Cases: Analyze the algorithm's performance in different scenarios, such as best-case (minimum time required), average-case (expected time), and worst-case (maximum time required).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4.Asymptotic Analysis: Focus on the growth rate of the algorithm's time and space requirements as the input size becomes very large. This helps identify the most significant factors affecting the algorithm's performance.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How to analyze Algorithm :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11" name="Google Shape;2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82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Sorting Algorithms: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Algorithms to arrange elements in a specific order, like Bubble Sort, Selection Sort, Insertion Sort, Merge Sort, Quick Sort, etc.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Searching Algorithms: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Algorithms to find a particular element in a data structure, like Linear Search, Binary Search, etc.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Graph Algorithms: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Algorithms to solve problems related to graphs, like Depth-First Search (DFS), Breadth-First Search (BFS), Dijkstra's Algorithm, etc.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Types of Algorithms :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21" name="Google Shape;2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9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Dynamic Programming Algorithms: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Techniques to solve complex problems by breaking them down into overlapping sub-problems, like Fibonacci sequence, Knapsack problem, etc.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Greedy Algorithms: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Algorithms that make locally optimal choices at each step, aiming to find a global optimum, like Huffman Coding, Kruskal's algorithm, etc.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Types of Algorithms :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20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47946" y="1164094"/>
            <a:ext cx="8448101" cy="192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6. Backtracking Algorithms: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Algorithms that explore all possible solutions through a recursive trial-and-error approach, like N-Queens problem, Sudoku solver, etc.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7. Divide and Conquer Algorithms: 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Techniques that break a problem into smaller sub-problems, solve them independently, and combine their results to get the final solution, like Merge Sort, Quick Sort, etc.</a:t>
            </a:r>
            <a:endParaRPr/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239658" y="782749"/>
            <a:ext cx="7759721" cy="51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Types of Algorithms :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41" name="Google Shape;2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ff1c1f48c_0_0"/>
          <p:cNvSpPr/>
          <p:nvPr/>
        </p:nvSpPr>
        <p:spPr>
          <a:xfrm>
            <a:off x="555125" y="1736582"/>
            <a:ext cx="75450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25ff1c1f48c_0_0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25ff1c1f48c_0_0"/>
          <p:cNvSpPr txBox="1"/>
          <p:nvPr>
            <p:ph idx="1" type="body"/>
          </p:nvPr>
        </p:nvSpPr>
        <p:spPr>
          <a:xfrm>
            <a:off x="1255100" y="2255125"/>
            <a:ext cx="7079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Algorithms provide structured approaches to solving problems efficiently and consistently, ensuring reliable results.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" name="Google Shape;249;g25ff1c1f48c_0_0"/>
          <p:cNvSpPr txBox="1"/>
          <p:nvPr/>
        </p:nvSpPr>
        <p:spPr>
          <a:xfrm>
            <a:off x="374708" y="1562049"/>
            <a:ext cx="775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What is the significance of algorithms in problem-solving?</a:t>
            </a:r>
            <a:endParaRPr b="1" sz="16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0" name="Google Shape;250;g25ff1c1f48c_0_0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51" name="Google Shape;251;g25ff1c1f48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ff1c1f48c_0_10"/>
          <p:cNvSpPr/>
          <p:nvPr/>
        </p:nvSpPr>
        <p:spPr>
          <a:xfrm>
            <a:off x="555125" y="1736582"/>
            <a:ext cx="75450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g25ff1c1f48c_0_10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5ff1c1f48c_0_10"/>
          <p:cNvSpPr txBox="1"/>
          <p:nvPr>
            <p:ph idx="1" type="body"/>
          </p:nvPr>
        </p:nvSpPr>
        <p:spPr>
          <a:xfrm>
            <a:off x="1255100" y="2255125"/>
            <a:ext cx="7079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algorithm must have finiteness, definiteness, input, output, effectiveness, and generality.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g25ff1c1f48c_0_10"/>
          <p:cNvSpPr txBox="1"/>
          <p:nvPr/>
        </p:nvSpPr>
        <p:spPr>
          <a:xfrm>
            <a:off x="497758" y="1644099"/>
            <a:ext cx="775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How would you define the characteristics of an algorithm?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g25ff1c1f48c_0_10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61" name="Google Shape;261;g25ff1c1f48c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5ff1c1f48c_0_20"/>
          <p:cNvSpPr/>
          <p:nvPr/>
        </p:nvSpPr>
        <p:spPr>
          <a:xfrm>
            <a:off x="555125" y="1736582"/>
            <a:ext cx="75450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25ff1c1f48c_0_20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25ff1c1f48c_0_20"/>
          <p:cNvSpPr txBox="1"/>
          <p:nvPr>
            <p:ph idx="1" type="body"/>
          </p:nvPr>
        </p:nvSpPr>
        <p:spPr>
          <a:xfrm>
            <a:off x="1255100" y="2255125"/>
            <a:ext cx="7079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 design includes understanding the problem, planning, specifying, verifying, and implementing the solution.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g25ff1c1f48c_0_20"/>
          <p:cNvSpPr txBox="1"/>
          <p:nvPr/>
        </p:nvSpPr>
        <p:spPr>
          <a:xfrm>
            <a:off x="340333" y="1693299"/>
            <a:ext cx="775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Can you explain the steps involved in designing an algorithm?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g25ff1c1f48c_0_20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71" name="Google Shape;271;g25ff1c1f48c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ff1c1f48c_0_29"/>
          <p:cNvSpPr/>
          <p:nvPr/>
        </p:nvSpPr>
        <p:spPr>
          <a:xfrm>
            <a:off x="555125" y="1736582"/>
            <a:ext cx="75450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g25ff1c1f48c_0_29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25ff1c1f48c_0_29"/>
          <p:cNvSpPr txBox="1"/>
          <p:nvPr>
            <p:ph idx="1" type="body"/>
          </p:nvPr>
        </p:nvSpPr>
        <p:spPr>
          <a:xfrm>
            <a:off x="1255100" y="2255125"/>
            <a:ext cx="7079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 analysis helps determine the efficiency of an algorithm in terms of time and space complexity.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g25ff1c1f48c_0_29"/>
          <p:cNvSpPr txBox="1"/>
          <p:nvPr/>
        </p:nvSpPr>
        <p:spPr>
          <a:xfrm>
            <a:off x="692108" y="1668699"/>
            <a:ext cx="775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Why is algorithm analysis important?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g25ff1c1f48c_0_29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81" name="Google Shape;281;g25ff1c1f48c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5ff1c1f48c_0_39"/>
          <p:cNvSpPr/>
          <p:nvPr/>
        </p:nvSpPr>
        <p:spPr>
          <a:xfrm>
            <a:off x="555125" y="1736582"/>
            <a:ext cx="75450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g25ff1c1f48c_0_39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25ff1c1f48c_0_39"/>
          <p:cNvSpPr txBox="1"/>
          <p:nvPr>
            <p:ph idx="1" type="body"/>
          </p:nvPr>
        </p:nvSpPr>
        <p:spPr>
          <a:xfrm>
            <a:off x="992600" y="2255125"/>
            <a:ext cx="73419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 measures how an algorithm's execution time increases with input size, while space complexity measures its memory requirements.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g25ff1c1f48c_0_39"/>
          <p:cNvSpPr txBox="1"/>
          <p:nvPr/>
        </p:nvSpPr>
        <p:spPr>
          <a:xfrm>
            <a:off x="447733" y="1676924"/>
            <a:ext cx="775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Differentiate between time complexity and space complexity.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g25ff1c1f48c_0_39"/>
          <p:cNvSpPr/>
          <p:nvPr/>
        </p:nvSpPr>
        <p:spPr>
          <a:xfrm>
            <a:off x="3257433" y="277376"/>
            <a:ext cx="3298200" cy="3951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 cap="flat" cmpd="sng" w="9525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 TO ALGORITHMS</a:t>
            </a:r>
            <a:endParaRPr/>
          </a:p>
        </p:txBody>
      </p:sp>
      <p:pic>
        <p:nvPicPr>
          <p:cNvPr id="291" name="Google Shape;291;g25ff1c1f48c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858" y="335900"/>
            <a:ext cx="627264" cy="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5ff1c1f48c_0_57"/>
          <p:cNvSpPr/>
          <p:nvPr/>
        </p:nvSpPr>
        <p:spPr>
          <a:xfrm>
            <a:off x="-25350" y="-7950"/>
            <a:ext cx="9169200" cy="108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25ff1c1f48c_0_57"/>
          <p:cNvSpPr txBox="1"/>
          <p:nvPr/>
        </p:nvSpPr>
        <p:spPr>
          <a:xfrm>
            <a:off x="438250" y="1166625"/>
            <a:ext cx="33999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8" name="Google Shape;298;g25ff1c1f48c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2038" y="1362462"/>
            <a:ext cx="1980001" cy="240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25ff1c1f48c_0_57"/>
          <p:cNvSpPr txBox="1"/>
          <p:nvPr/>
        </p:nvSpPr>
        <p:spPr>
          <a:xfrm>
            <a:off x="1022925" y="362900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/ethnuscodemithra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0" name="Google Shape;300;g25ff1c1f48c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225" y="213026"/>
            <a:ext cx="713224" cy="64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25ff1c1f48c_0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8851" y="225776"/>
            <a:ext cx="645070" cy="6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25ff1c1f48c_0_57"/>
          <p:cNvSpPr txBox="1"/>
          <p:nvPr/>
        </p:nvSpPr>
        <p:spPr>
          <a:xfrm>
            <a:off x="6025875" y="362900"/>
            <a:ext cx="898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/ethnus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3" name="Google Shape;303;g25ff1c1f48c_0_57"/>
          <p:cNvSpPr txBox="1"/>
          <p:nvPr/>
        </p:nvSpPr>
        <p:spPr>
          <a:xfrm>
            <a:off x="3575139" y="373902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Ethnus Codemithra</a:t>
            </a:r>
            <a:endParaRPr b="0" i="0" sz="14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4" name="Google Shape;304;g25ff1c1f48c_0_57"/>
          <p:cNvPicPr preferRelativeResize="0"/>
          <p:nvPr/>
        </p:nvPicPr>
        <p:blipFill rotWithShape="1">
          <a:blip r:embed="rId6">
            <a:alphaModFix/>
          </a:blip>
          <a:srcRect b="0" l="2901" r="2901" t="0"/>
          <a:stretch/>
        </p:blipFill>
        <p:spPr>
          <a:xfrm>
            <a:off x="7065601" y="214801"/>
            <a:ext cx="608215" cy="64507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25ff1c1f48c_0_57"/>
          <p:cNvSpPr txBox="1"/>
          <p:nvPr/>
        </p:nvSpPr>
        <p:spPr>
          <a:xfrm>
            <a:off x="7689950" y="373900"/>
            <a:ext cx="1320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/code_mithra</a:t>
            </a:r>
            <a:endParaRPr b="0" i="0" sz="14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6" name="Google Shape;306;g25ff1c1f48c_0_57"/>
          <p:cNvSpPr txBox="1"/>
          <p:nvPr/>
        </p:nvSpPr>
        <p:spPr>
          <a:xfrm>
            <a:off x="454025" y="1791970"/>
            <a:ext cx="48819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rgbClr val="1C315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7" name="Google Shape;307;g25ff1c1f48c_0_57"/>
          <p:cNvSpPr/>
          <p:nvPr/>
        </p:nvSpPr>
        <p:spPr>
          <a:xfrm>
            <a:off x="-25350" y="4051530"/>
            <a:ext cx="9169200" cy="108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25ff1c1f48c_0_57"/>
          <p:cNvSpPr txBox="1"/>
          <p:nvPr/>
        </p:nvSpPr>
        <p:spPr>
          <a:xfrm>
            <a:off x="1563475" y="4422380"/>
            <a:ext cx="2184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codemithra@ethnus.com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9" name="Google Shape;309;g25ff1c1f48c_0_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98788" y="4274268"/>
            <a:ext cx="713232" cy="71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25ff1c1f48c_0_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826" y="4272513"/>
            <a:ext cx="716750" cy="7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25ff1c1f48c_0_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12438" y="4285267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25ff1c1f48c_0_57"/>
          <p:cNvSpPr txBox="1"/>
          <p:nvPr/>
        </p:nvSpPr>
        <p:spPr>
          <a:xfrm>
            <a:off x="4425675" y="4422380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+91 7815 095 095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3" name="Google Shape;313;g25ff1c1f48c_0_57"/>
          <p:cNvSpPr txBox="1"/>
          <p:nvPr/>
        </p:nvSpPr>
        <p:spPr>
          <a:xfrm>
            <a:off x="6660975" y="4433380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+91 9019 921 340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4" name="Google Shape;314;g25ff1c1f48c_0_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23887" y="268626"/>
            <a:ext cx="788464" cy="5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25ff1c1f48c_0_5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8250" y="2292450"/>
            <a:ext cx="2463576" cy="2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25ff1c1f48c_0_57"/>
          <p:cNvSpPr txBox="1"/>
          <p:nvPr/>
        </p:nvSpPr>
        <p:spPr>
          <a:xfrm>
            <a:off x="2292300" y="3338026"/>
            <a:ext cx="285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25ff1c1f48c_0_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07230" y="1469198"/>
            <a:ext cx="1904053" cy="190405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25ff1c1f48c_0_57"/>
          <p:cNvSpPr/>
          <p:nvPr/>
        </p:nvSpPr>
        <p:spPr>
          <a:xfrm>
            <a:off x="3456191" y="3570348"/>
            <a:ext cx="23574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https://learn.codemithra.com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