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Black"/>
      <p:bold r:id="rId30"/>
      <p:boldItalic r:id="rId31"/>
    </p:embeddedFont>
    <p:embeddedFont>
      <p:font typeface="Roboto"/>
      <p:regular r:id="rId32"/>
      <p:bold r:id="rId33"/>
      <p:italic r:id="rId34"/>
      <p:boldItalic r:id="rId35"/>
    </p:embeddedFont>
    <p:embeddedFont>
      <p:font typeface="Roboto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0" roundtripDataSignature="AMtx7mij9AlqOJT6kbj8Gtw+kgWD0+/4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lack-boldItalic.fntdata"/><Relationship Id="rId30" Type="http://schemas.openxmlformats.org/officeDocument/2006/relationships/font" Target="fonts/RobotoBlack-bold.fntdata"/><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RobotoMedium-bold.fntdata"/><Relationship Id="rId14" Type="http://schemas.openxmlformats.org/officeDocument/2006/relationships/slide" Target="slides/slide9.xml"/><Relationship Id="rId36" Type="http://schemas.openxmlformats.org/officeDocument/2006/relationships/font" Target="fonts/RobotoMedium-regular.fntdata"/><Relationship Id="rId17" Type="http://schemas.openxmlformats.org/officeDocument/2006/relationships/slide" Target="slides/slide12.xml"/><Relationship Id="rId39" Type="http://schemas.openxmlformats.org/officeDocument/2006/relationships/font" Target="fonts/RobotoMedium-boldItalic.fntdata"/><Relationship Id="rId16" Type="http://schemas.openxmlformats.org/officeDocument/2006/relationships/slide" Target="slides/slide11.xml"/><Relationship Id="rId38" Type="http://schemas.openxmlformats.org/officeDocument/2006/relationships/font" Target="fonts/Roboto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1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72ce6a6ab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72ce6a6ab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22b961a22c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222b961a22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22b961a22c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22b961a22c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22b961a22c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22b961a22c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726041b94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2726041b9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 name="Google Shape;17;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 name="Google Shape;1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8" name="Google Shape;38;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4" name="Google Shape;4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hghiSo2Yd4KmiExg6"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jp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jp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10"/>
          <p:cNvPicPr preferRelativeResize="0"/>
          <p:nvPr/>
        </p:nvPicPr>
        <p:blipFill rotWithShape="1">
          <a:blip r:embed="rId3">
            <a:alphaModFix/>
          </a:blip>
          <a:srcRect b="0" l="0" r="0" t="0"/>
          <a:stretch/>
        </p:blipFill>
        <p:spPr>
          <a:xfrm>
            <a:off x="2" y="39342"/>
            <a:ext cx="9144003" cy="5143501"/>
          </a:xfrm>
          <a:prstGeom prst="rect">
            <a:avLst/>
          </a:prstGeom>
          <a:noFill/>
          <a:ln>
            <a:noFill/>
          </a:ln>
        </p:spPr>
      </p:pic>
      <p:pic>
        <p:nvPicPr>
          <p:cNvPr id="56" name="Google Shape;56;p10"/>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10"/>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nvSpPr>
        <p:spPr>
          <a:xfrm>
            <a:off x="870155" y="1149784"/>
            <a:ext cx="7993626" cy="134459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highlight>
                  <a:srgbClr val="FFFFFF"/>
                </a:highlight>
                <a:latin typeface="Roboto"/>
                <a:ea typeface="Roboto"/>
                <a:cs typeface="Roboto"/>
                <a:sym typeface="Roboto"/>
              </a:rPr>
              <a:t>URL</a:t>
            </a:r>
            <a:r>
              <a:rPr b="1" i="0" lang="en-US" sz="1800" u="none" cap="none" strike="noStrike">
                <a:solidFill>
                  <a:srgbClr val="373737"/>
                </a:solidFill>
                <a:highlight>
                  <a:srgbClr val="FFFFFF"/>
                </a:highlight>
                <a:latin typeface="Roboto"/>
                <a:ea typeface="Roboto"/>
                <a:cs typeface="Roboto"/>
                <a:sym typeface="Roboto"/>
              </a:rPr>
              <a:t>:</a:t>
            </a:r>
            <a:r>
              <a:rPr b="1" i="0" lang="en-US" sz="1800" u="sng" cap="none" strike="noStrike">
                <a:solidFill>
                  <a:schemeClr val="hlink"/>
                </a:solidFill>
                <a:highlight>
                  <a:srgbClr val="FFFFFF"/>
                </a:highlight>
                <a:latin typeface="Arial"/>
                <a:ea typeface="Arial"/>
                <a:cs typeface="Arial"/>
                <a:sym typeface="Arial"/>
                <a:hlinkClick r:id="rId3"/>
              </a:rPr>
              <a:t> https://forms.gle/hghiSo2Yd4KmiExg6</a:t>
            </a:r>
            <a:endParaRPr b="1" i="0" sz="1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highlight>
                  <a:srgbClr val="FFFFFF"/>
                </a:highlight>
                <a:latin typeface="Roboto"/>
                <a:ea typeface="Roboto"/>
                <a:cs typeface="Roboto"/>
                <a:sym typeface="Roboto"/>
              </a:rPr>
              <a:t>QR CODE</a:t>
            </a:r>
            <a:r>
              <a:rPr b="1" i="0" lang="en-US" sz="1800" u="none" cap="none" strike="noStrike">
                <a:solidFill>
                  <a:srgbClr val="373737"/>
                </a:solidFill>
                <a:highlight>
                  <a:srgbClr val="FFFFFF"/>
                </a:highlight>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B0F0"/>
              </a:solidFill>
              <a:latin typeface="Roboto"/>
              <a:ea typeface="Roboto"/>
              <a:cs typeface="Roboto"/>
              <a:sym typeface="Roboto"/>
            </a:endParaRPr>
          </a:p>
        </p:txBody>
      </p:sp>
      <p:sp>
        <p:nvSpPr>
          <p:cNvPr id="63" name="Google Shape;63;p13"/>
          <p:cNvSpPr txBox="1"/>
          <p:nvPr/>
        </p:nvSpPr>
        <p:spPr>
          <a:xfrm>
            <a:off x="1708486" y="575461"/>
            <a:ext cx="652525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Roboto"/>
                <a:ea typeface="Roboto"/>
                <a:cs typeface="Roboto"/>
                <a:sym typeface="Roboto"/>
              </a:rPr>
              <a:t>TEST TIME ON EULER’S PHI ALGORITHM</a:t>
            </a:r>
            <a:endParaRPr b="1" i="0" sz="1600" u="none" cap="none" strike="noStrike">
              <a:solidFill>
                <a:schemeClr val="dk1"/>
              </a:solidFill>
              <a:latin typeface="Roboto"/>
              <a:ea typeface="Roboto"/>
              <a:cs typeface="Roboto"/>
              <a:sym typeface="Roboto"/>
            </a:endParaRPr>
          </a:p>
        </p:txBody>
      </p:sp>
      <p:pic>
        <p:nvPicPr>
          <p:cNvPr id="64" name="Google Shape;64;p13"/>
          <p:cNvPicPr preferRelativeResize="0"/>
          <p:nvPr/>
        </p:nvPicPr>
        <p:blipFill rotWithShape="1">
          <a:blip r:embed="rId4">
            <a:alphaModFix/>
          </a:blip>
          <a:srcRect b="0" l="0" r="0" t="0"/>
          <a:stretch/>
        </p:blipFill>
        <p:spPr>
          <a:xfrm>
            <a:off x="3170719" y="2074719"/>
            <a:ext cx="3195862" cy="27351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0" name="Google Shape;7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1" name="Google Shape;71;p1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72" name="Google Shape;72;p15"/>
          <p:cNvSpPr txBox="1"/>
          <p:nvPr/>
        </p:nvSpPr>
        <p:spPr>
          <a:xfrm>
            <a:off x="-4" y="1826038"/>
            <a:ext cx="4765292" cy="184662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Roboto"/>
                <a:ea typeface="Roboto"/>
                <a:cs typeface="Roboto"/>
                <a:sym typeface="Roboto"/>
              </a:rPr>
              <a:t>STROBOGRAMMATIC  NUMBER</a:t>
            </a:r>
            <a:endParaRPr b="0" i="0" sz="36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8" name="Google Shape;7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9" name="Google Shape;79;p16"/>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80" name="Google Shape;80;p16"/>
          <p:cNvPicPr preferRelativeResize="0"/>
          <p:nvPr/>
        </p:nvPicPr>
        <p:blipFill rotWithShape="1">
          <a:blip r:embed="rId4">
            <a:alphaModFix/>
          </a:blip>
          <a:srcRect b="0" l="0" r="0" t="0"/>
          <a:stretch/>
        </p:blipFill>
        <p:spPr>
          <a:xfrm>
            <a:off x="2" y="4"/>
            <a:ext cx="9144003" cy="5143501"/>
          </a:xfrm>
          <a:prstGeom prst="rect">
            <a:avLst/>
          </a:prstGeom>
          <a:noFill/>
          <a:ln>
            <a:noFill/>
          </a:ln>
        </p:spPr>
      </p:pic>
      <p:sp>
        <p:nvSpPr>
          <p:cNvPr id="81" name="Google Shape;81;p16"/>
          <p:cNvSpPr txBox="1"/>
          <p:nvPr/>
        </p:nvSpPr>
        <p:spPr>
          <a:xfrm>
            <a:off x="311700" y="778811"/>
            <a:ext cx="3093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8181EF"/>
                </a:solidFill>
                <a:latin typeface="Roboto Black"/>
                <a:ea typeface="Roboto Black"/>
                <a:cs typeface="Roboto Black"/>
                <a:sym typeface="Roboto Black"/>
              </a:rPr>
              <a:t>TOPICS</a:t>
            </a:r>
            <a:endParaRPr b="0" i="0" sz="1800" u="none" cap="none" strike="noStrike">
              <a:solidFill>
                <a:srgbClr val="8181EF"/>
              </a:solidFill>
              <a:latin typeface="Roboto Black"/>
              <a:ea typeface="Roboto Black"/>
              <a:cs typeface="Roboto Black"/>
              <a:sym typeface="Roboto Black"/>
            </a:endParaRPr>
          </a:p>
        </p:txBody>
      </p:sp>
      <p:sp>
        <p:nvSpPr>
          <p:cNvPr id="82" name="Google Shape;82;p16"/>
          <p:cNvSpPr txBox="1"/>
          <p:nvPr/>
        </p:nvSpPr>
        <p:spPr>
          <a:xfrm>
            <a:off x="1179871" y="1311213"/>
            <a:ext cx="4630994" cy="2614818"/>
          </a:xfrm>
          <a:prstGeom prst="rect">
            <a:avLst/>
          </a:prstGeom>
          <a:noFill/>
          <a:ln>
            <a:noFill/>
          </a:ln>
        </p:spPr>
        <p:txBody>
          <a:bodyPr anchorCtr="0" anchor="t" bIns="45700" lIns="91425" spcFirstLastPara="1" rIns="91425" wrap="square" tIns="45700">
            <a:spAutoFit/>
          </a:bodyPr>
          <a:lstStyle/>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Introduction</a:t>
            </a:r>
            <a:endParaRPr b="0" i="0" sz="1400" u="none" cap="none" strike="noStrike">
              <a:solidFill>
                <a:srgbClr val="000000"/>
              </a:solidFill>
              <a:latin typeface="Arial"/>
              <a:ea typeface="Arial"/>
              <a:cs typeface="Arial"/>
              <a:sym typeface="Arial"/>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Explanation</a:t>
            </a:r>
            <a:endParaRPr b="0" i="0" sz="1400" u="none" cap="none" strike="noStrike">
              <a:solidFill>
                <a:srgbClr val="000000"/>
              </a:solidFill>
              <a:latin typeface="Arial"/>
              <a:ea typeface="Arial"/>
              <a:cs typeface="Arial"/>
              <a:sym typeface="Arial"/>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Coding</a:t>
            </a:r>
            <a:endParaRPr b="0" i="0" sz="1400" u="none" cap="none" strike="noStrike">
              <a:solidFill>
                <a:srgbClr val="000000"/>
              </a:solidFill>
              <a:latin typeface="Arial"/>
              <a:ea typeface="Arial"/>
              <a:cs typeface="Arial"/>
              <a:sym typeface="Arial"/>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chemeClr val="dk1"/>
                </a:solidFill>
                <a:latin typeface="Roboto"/>
                <a:ea typeface="Roboto"/>
                <a:cs typeface="Roboto"/>
                <a:sym typeface="Roboto"/>
              </a:rPr>
              <a:t>Complexity Analysis</a:t>
            </a:r>
            <a:endParaRPr b="0" i="0" sz="1400" u="none" cap="none" strike="noStrike">
              <a:solidFill>
                <a:srgbClr val="0C0C0C"/>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Interview Questions</a:t>
            </a:r>
            <a:endParaRPr b="0" i="0" sz="1400" u="none" cap="none" strike="noStrike">
              <a:solidFill>
                <a:srgbClr val="000000"/>
              </a:solidFill>
              <a:latin typeface="Arial"/>
              <a:ea typeface="Arial"/>
              <a:cs typeface="Arial"/>
              <a:sym typeface="Arial"/>
            </a:endParaRPr>
          </a:p>
          <a:p>
            <a:pPr indent="-112713" lvl="0" marL="214313" marR="0" rtl="0" algn="l">
              <a:lnSpc>
                <a:spcPct val="200000"/>
              </a:lnSpc>
              <a:spcBef>
                <a:spcPts val="0"/>
              </a:spcBef>
              <a:spcAft>
                <a:spcPts val="0"/>
              </a:spcAft>
              <a:buClr>
                <a:srgbClr val="000000"/>
              </a:buClr>
              <a:buSzPts val="16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nvSpPr>
        <p:spPr>
          <a:xfrm>
            <a:off x="377839" y="689069"/>
            <a:ext cx="8388300" cy="4263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1" i="0" lang="en-US" sz="1400" u="none" cap="none" strike="noStrike">
                <a:solidFill>
                  <a:srgbClr val="0C0C0C"/>
                </a:solidFill>
                <a:latin typeface="Roboto"/>
                <a:ea typeface="Roboto"/>
                <a:cs typeface="Roboto"/>
                <a:sym typeface="Roboto"/>
              </a:rPr>
              <a:t>INTRODUCTION</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A strobogrammatic number is a number that looks the same when rotated 180 degrees (upside down). In other words, a strobogrammatic number is a number that appears the same when viewed upside down on a seven-segment display, like the numbers 0, 1, 8, 6, and 9.</a:t>
            </a:r>
            <a:endParaRPr b="0" i="0" sz="1400" u="none" cap="none" strike="noStrike">
              <a:solidFill>
                <a:srgbClr val="000000"/>
              </a:solidFill>
              <a:latin typeface="Roboto"/>
              <a:ea typeface="Roboto"/>
              <a:cs typeface="Roboto"/>
              <a:sym typeface="Roboto"/>
            </a:endParaRPr>
          </a:p>
          <a:p>
            <a:pPr indent="0" lvl="3" marL="0" marR="0" rtl="0" algn="l">
              <a:lnSpc>
                <a:spcPct val="150000"/>
              </a:lnSpc>
              <a:spcBef>
                <a:spcPts val="80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Here are the strobogrammatic numbers:</a:t>
            </a:r>
            <a:endParaRPr b="0" i="0" sz="1400" u="none" cap="none" strike="noStrike">
              <a:solidFill>
                <a:srgbClr val="000000"/>
              </a:solidFill>
              <a:latin typeface="Roboto"/>
              <a:ea typeface="Roboto"/>
              <a:cs typeface="Roboto"/>
              <a:sym typeface="Roboto"/>
            </a:endParaRPr>
          </a:p>
          <a:p>
            <a:pPr indent="-342900" lvl="3" marL="342900" marR="0" rtl="0" algn="l">
              <a:lnSpc>
                <a:spcPct val="150000"/>
              </a:lnSpc>
              <a:spcBef>
                <a:spcPts val="800"/>
              </a:spcBef>
              <a:spcAft>
                <a:spcPts val="0"/>
              </a:spcAft>
              <a:buClr>
                <a:srgbClr val="000000"/>
              </a:buClr>
              <a:buSzPts val="1800"/>
              <a:buFont typeface="Times New Roman"/>
              <a:buChar char="•"/>
            </a:pPr>
            <a:r>
              <a:rPr b="0" i="0" lang="en-US" sz="1400" u="none" cap="none" strike="noStrike">
                <a:solidFill>
                  <a:srgbClr val="000000"/>
                </a:solidFill>
                <a:latin typeface="Roboto"/>
                <a:ea typeface="Roboto"/>
                <a:cs typeface="Roboto"/>
                <a:sym typeface="Roboto"/>
              </a:rPr>
              <a:t>0: looks the same upside down</a:t>
            </a:r>
            <a:endParaRPr b="0" i="0" sz="1400" u="none" cap="none" strike="noStrike">
              <a:solidFill>
                <a:srgbClr val="000000"/>
              </a:solidFill>
              <a:latin typeface="Roboto"/>
              <a:ea typeface="Roboto"/>
              <a:cs typeface="Roboto"/>
              <a:sym typeface="Roboto"/>
            </a:endParaRPr>
          </a:p>
          <a:p>
            <a:pPr indent="-342900" lvl="3" marL="342900" marR="0" rtl="0" algn="l">
              <a:lnSpc>
                <a:spcPct val="150000"/>
              </a:lnSpc>
              <a:spcBef>
                <a:spcPts val="800"/>
              </a:spcBef>
              <a:spcAft>
                <a:spcPts val="0"/>
              </a:spcAft>
              <a:buClr>
                <a:srgbClr val="000000"/>
              </a:buClr>
              <a:buSzPts val="1800"/>
              <a:buFont typeface="Times New Roman"/>
              <a:buChar char="•"/>
            </a:pPr>
            <a:r>
              <a:rPr b="0" i="0" lang="en-US" sz="1400" u="none" cap="none" strike="noStrike">
                <a:solidFill>
                  <a:srgbClr val="000000"/>
                </a:solidFill>
                <a:latin typeface="Roboto"/>
                <a:ea typeface="Roboto"/>
                <a:cs typeface="Roboto"/>
                <a:sym typeface="Roboto"/>
              </a:rPr>
              <a:t>1: looks the same upside down</a:t>
            </a:r>
            <a:endParaRPr b="0" i="0" sz="1400" u="none" cap="none" strike="noStrike">
              <a:solidFill>
                <a:srgbClr val="000000"/>
              </a:solidFill>
              <a:latin typeface="Roboto"/>
              <a:ea typeface="Roboto"/>
              <a:cs typeface="Roboto"/>
              <a:sym typeface="Roboto"/>
            </a:endParaRPr>
          </a:p>
          <a:p>
            <a:pPr indent="-342900" lvl="3" marL="342900" marR="0" rtl="0" algn="l">
              <a:lnSpc>
                <a:spcPct val="150000"/>
              </a:lnSpc>
              <a:spcBef>
                <a:spcPts val="800"/>
              </a:spcBef>
              <a:spcAft>
                <a:spcPts val="0"/>
              </a:spcAft>
              <a:buClr>
                <a:srgbClr val="000000"/>
              </a:buClr>
              <a:buSzPts val="1800"/>
              <a:buFont typeface="Times New Roman"/>
              <a:buChar char="•"/>
            </a:pPr>
            <a:r>
              <a:rPr b="0" i="0" lang="en-US" sz="1400" u="none" cap="none" strike="noStrike">
                <a:solidFill>
                  <a:srgbClr val="000000"/>
                </a:solidFill>
                <a:latin typeface="Roboto"/>
                <a:ea typeface="Roboto"/>
                <a:cs typeface="Roboto"/>
                <a:sym typeface="Roboto"/>
              </a:rPr>
              <a:t>8: looks the same upside down </a:t>
            </a:r>
            <a:endParaRPr b="0" i="0" sz="1400" u="none" cap="none" strike="noStrike">
              <a:solidFill>
                <a:srgbClr val="000000"/>
              </a:solidFill>
              <a:latin typeface="Roboto"/>
              <a:ea typeface="Roboto"/>
              <a:cs typeface="Roboto"/>
              <a:sym typeface="Roboto"/>
            </a:endParaRPr>
          </a:p>
          <a:p>
            <a:pPr indent="-342900" lvl="3" marL="342900" marR="0" rtl="0" algn="l">
              <a:lnSpc>
                <a:spcPct val="150000"/>
              </a:lnSpc>
              <a:spcBef>
                <a:spcPts val="800"/>
              </a:spcBef>
              <a:spcAft>
                <a:spcPts val="0"/>
              </a:spcAft>
              <a:buClr>
                <a:srgbClr val="000000"/>
              </a:buClr>
              <a:buSzPts val="1800"/>
              <a:buFont typeface="Times New Roman"/>
              <a:buChar char="•"/>
            </a:pPr>
            <a:r>
              <a:rPr b="0" i="0" lang="en-US" sz="1400" u="none" cap="none" strike="noStrike">
                <a:solidFill>
                  <a:srgbClr val="000000"/>
                </a:solidFill>
                <a:latin typeface="Roboto"/>
                <a:ea typeface="Roboto"/>
                <a:cs typeface="Roboto"/>
                <a:sym typeface="Roboto"/>
              </a:rPr>
              <a:t>6: looks like 9 upside down</a:t>
            </a:r>
            <a:endParaRPr b="0" i="0" sz="1400" u="none" cap="none" strike="noStrike">
              <a:solidFill>
                <a:srgbClr val="000000"/>
              </a:solidFill>
              <a:latin typeface="Roboto"/>
              <a:ea typeface="Roboto"/>
              <a:cs typeface="Roboto"/>
              <a:sym typeface="Roboto"/>
            </a:endParaRPr>
          </a:p>
          <a:p>
            <a:pPr indent="-342900" lvl="3" marL="342900" marR="0" rtl="0" algn="l">
              <a:lnSpc>
                <a:spcPct val="150000"/>
              </a:lnSpc>
              <a:spcBef>
                <a:spcPts val="800"/>
              </a:spcBef>
              <a:spcAft>
                <a:spcPts val="0"/>
              </a:spcAft>
              <a:buClr>
                <a:srgbClr val="000000"/>
              </a:buClr>
              <a:buSzPts val="1800"/>
              <a:buFont typeface="Times New Roman"/>
              <a:buChar char="•"/>
            </a:pPr>
            <a:r>
              <a:rPr b="0" i="0" lang="en-US" sz="1400" u="none" cap="none" strike="noStrike">
                <a:solidFill>
                  <a:srgbClr val="000000"/>
                </a:solidFill>
                <a:latin typeface="Roboto"/>
                <a:ea typeface="Roboto"/>
                <a:cs typeface="Roboto"/>
                <a:sym typeface="Roboto"/>
              </a:rPr>
              <a:t>9: looks like 6 upside down</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nvSpPr>
        <p:spPr>
          <a:xfrm>
            <a:off x="2413742" y="2165802"/>
            <a:ext cx="7731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80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p:txBody>
      </p:sp>
      <p:sp>
        <p:nvSpPr>
          <p:cNvPr id="93" name="Google Shape;93;p3"/>
          <p:cNvSpPr txBox="1"/>
          <p:nvPr/>
        </p:nvSpPr>
        <p:spPr>
          <a:xfrm>
            <a:off x="337100" y="648500"/>
            <a:ext cx="7374900" cy="37248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chemeClr val="dk1"/>
              </a:buClr>
              <a:buSzPts val="1600"/>
              <a:buFont typeface="Arial"/>
              <a:buNone/>
            </a:pPr>
            <a:r>
              <a:rPr b="1" i="0" lang="en-US" sz="1400" u="none" cap="none" strike="noStrike">
                <a:solidFill>
                  <a:srgbClr val="0C0C0C"/>
                </a:solidFill>
                <a:latin typeface="Roboto"/>
                <a:ea typeface="Roboto"/>
                <a:cs typeface="Roboto"/>
                <a:sym typeface="Roboto"/>
              </a:rPr>
              <a:t>INTRODUCTION</a:t>
            </a:r>
            <a:endParaRPr b="1" i="0" sz="1400" u="none" cap="none" strike="noStrike">
              <a:solidFill>
                <a:schemeClr val="dk1"/>
              </a:solidFill>
              <a:latin typeface="Roboto"/>
              <a:ea typeface="Roboto"/>
              <a:cs typeface="Roboto"/>
              <a:sym typeface="Roboto"/>
            </a:endParaRPr>
          </a:p>
          <a:p>
            <a:pPr indent="0" lvl="0" marL="0" marR="0" rtl="0" algn="l">
              <a:lnSpc>
                <a:spcPct val="200000"/>
              </a:lnSpc>
              <a:spcBef>
                <a:spcPts val="0"/>
              </a:spcBef>
              <a:spcAft>
                <a:spcPts val="0"/>
              </a:spcAft>
              <a:buClr>
                <a:schemeClr val="dk1"/>
              </a:buClr>
              <a:buSzPts val="1600"/>
              <a:buFont typeface="Arial"/>
              <a:buNone/>
            </a:pPr>
            <a:r>
              <a:rPr b="0" i="0" lang="en-US" sz="1400" u="none" cap="none" strike="noStrike">
                <a:solidFill>
                  <a:schemeClr val="dk1"/>
                </a:solidFill>
                <a:latin typeface="Roboto"/>
                <a:ea typeface="Roboto"/>
                <a:cs typeface="Roboto"/>
                <a:sym typeface="Roboto"/>
              </a:rPr>
              <a:t>Strobogrammatic numbers are interesting in math and computer science because they have some unique properties.</a:t>
            </a:r>
            <a:endParaRPr b="0" i="0" sz="1400" u="none" cap="none" strike="noStrike">
              <a:solidFill>
                <a:schemeClr val="dk1"/>
              </a:solidFill>
              <a:latin typeface="Roboto"/>
              <a:ea typeface="Roboto"/>
              <a:cs typeface="Roboto"/>
              <a:sym typeface="Roboto"/>
            </a:endParaRPr>
          </a:p>
          <a:p>
            <a:pPr indent="0" lvl="0" marL="0" marR="0" rtl="0" algn="l">
              <a:lnSpc>
                <a:spcPct val="200000"/>
              </a:lnSpc>
              <a:spcBef>
                <a:spcPts val="800"/>
              </a:spcBef>
              <a:spcAft>
                <a:spcPts val="0"/>
              </a:spcAft>
              <a:buClr>
                <a:schemeClr val="dk1"/>
              </a:buClr>
              <a:buSzPts val="1600"/>
              <a:buFont typeface="Arial"/>
              <a:buNone/>
            </a:pPr>
            <a:r>
              <a:rPr b="0" i="0" lang="en-US" sz="1400" u="none" cap="none" strike="noStrike">
                <a:solidFill>
                  <a:schemeClr val="dk1"/>
                </a:solidFill>
                <a:latin typeface="Roboto"/>
                <a:ea typeface="Roboto"/>
                <a:cs typeface="Roboto"/>
                <a:sym typeface="Roboto"/>
              </a:rPr>
              <a:t>For example, they are often used in programming for things like checking whether a number is a palindrome (a number that reads the same forwards and backward).</a:t>
            </a:r>
            <a:endParaRPr b="0" i="0" sz="1400" u="none" cap="none" strike="noStrike">
              <a:solidFill>
                <a:schemeClr val="dk1"/>
              </a:solidFill>
              <a:latin typeface="Roboto"/>
              <a:ea typeface="Roboto"/>
              <a:cs typeface="Roboto"/>
              <a:sym typeface="Roboto"/>
            </a:endParaRPr>
          </a:p>
          <a:p>
            <a:pPr indent="0" lvl="0" marL="0" marR="0" rtl="0" algn="l">
              <a:lnSpc>
                <a:spcPct val="200000"/>
              </a:lnSpc>
              <a:spcBef>
                <a:spcPts val="800"/>
              </a:spcBef>
              <a:spcAft>
                <a:spcPts val="0"/>
              </a:spcAft>
              <a:buClr>
                <a:schemeClr val="dk1"/>
              </a:buClr>
              <a:buSzPts val="1600"/>
              <a:buFont typeface="Arial"/>
              <a:buNone/>
            </a:pPr>
            <a:r>
              <a:rPr b="0" i="0" lang="en-US" sz="1400" u="none" cap="none" strike="noStrike">
                <a:solidFill>
                  <a:schemeClr val="dk1"/>
                </a:solidFill>
                <a:latin typeface="Roboto"/>
                <a:ea typeface="Roboto"/>
                <a:cs typeface="Roboto"/>
                <a:sym typeface="Roboto"/>
              </a:rPr>
              <a:t>Strobogrammatic numbers can also be used to create strobogrammatic palindromes, which are words or phrases that read the same when rotated 180 degrees. </a:t>
            </a:r>
            <a:endParaRPr b="0" i="0" sz="1400" u="none" cap="none" strike="noStrike">
              <a:solidFill>
                <a:schemeClr val="dk1"/>
              </a:solidFill>
              <a:latin typeface="Roboto"/>
              <a:ea typeface="Roboto"/>
              <a:cs typeface="Roboto"/>
              <a:sym typeface="Roboto"/>
            </a:endParaRPr>
          </a:p>
          <a:p>
            <a:pPr indent="0" lvl="0" marL="0" marR="0" rtl="0" algn="l">
              <a:lnSpc>
                <a:spcPct val="200000"/>
              </a:lnSpc>
              <a:spcBef>
                <a:spcPts val="800"/>
              </a:spcBef>
              <a:spcAft>
                <a:spcPts val="0"/>
              </a:spcAft>
              <a:buClr>
                <a:schemeClr val="dk1"/>
              </a:buClr>
              <a:buSzPts val="1600"/>
              <a:buFont typeface="Arial"/>
              <a:buNone/>
            </a:pPr>
            <a:r>
              <a:rPr b="0" i="0" lang="en-US" sz="1400" u="none" cap="none" strike="noStrike">
                <a:solidFill>
                  <a:schemeClr val="dk1"/>
                </a:solidFill>
                <a:latin typeface="Roboto"/>
                <a:ea typeface="Roboto"/>
                <a:cs typeface="Roboto"/>
                <a:sym typeface="Roboto"/>
              </a:rPr>
              <a:t>Examples of strobogrammatic palindromes include "NOON", "EYE", and "SOS".</a:t>
            </a:r>
            <a:endParaRPr b="1" i="0" sz="1400" u="none" cap="none" strike="noStrike">
              <a:solidFill>
                <a:srgbClr val="0C0C0C"/>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nvSpPr>
        <p:spPr>
          <a:xfrm>
            <a:off x="369392" y="690692"/>
            <a:ext cx="7731000" cy="213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EXPLANATION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first few strobogrammatic numbers are:</a:t>
            </a:r>
            <a:br>
              <a:rPr b="0" i="0" lang="en-US" sz="1600" u="none" cap="none" strike="noStrike">
                <a:solidFill>
                  <a:srgbClr val="000000"/>
                </a:solidFill>
                <a:latin typeface="Roboto"/>
                <a:ea typeface="Roboto"/>
                <a:cs typeface="Roboto"/>
                <a:sym typeface="Roboto"/>
              </a:rPr>
            </a:br>
            <a:r>
              <a:rPr b="0" i="0" lang="en-US" sz="1600" u="none" cap="none" strike="noStrike">
                <a:solidFill>
                  <a:srgbClr val="000000"/>
                </a:solidFill>
                <a:latin typeface="Roboto"/>
                <a:ea typeface="Roboto"/>
                <a:cs typeface="Roboto"/>
                <a:sym typeface="Roboto"/>
              </a:rPr>
              <a:t>0, 1, 8, 11, 69, 88, 96, 101, 111, 181, 609, 619, 689, 808, 818, 888, 906, 916, 986, 1001, 1111, 1691, 1881, 1961, 6009, 6119, 6699, 6889, 6969, 8008, 8118, 8698, 8888, 8968, 9006, 9116, 9696, 9886, 9966, ...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pic>
        <p:nvPicPr>
          <p:cNvPr id="99" name="Google Shape;99;p4"/>
          <p:cNvPicPr preferRelativeResize="0"/>
          <p:nvPr/>
        </p:nvPicPr>
        <p:blipFill rotWithShape="1">
          <a:blip r:embed="rId3">
            <a:alphaModFix/>
          </a:blip>
          <a:srcRect b="0" l="0" r="0" t="0"/>
          <a:stretch/>
        </p:blipFill>
        <p:spPr>
          <a:xfrm>
            <a:off x="2611745" y="2644622"/>
            <a:ext cx="3596952" cy="24005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txBox="1"/>
          <p:nvPr/>
        </p:nvSpPr>
        <p:spPr>
          <a:xfrm>
            <a:off x="214531" y="649411"/>
            <a:ext cx="8714937"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Program 1</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400" u="none" cap="none" strike="noStrike">
                <a:solidFill>
                  <a:schemeClr val="dk1"/>
                </a:solidFill>
                <a:latin typeface="Roboto"/>
                <a:ea typeface="Roboto"/>
                <a:cs typeface="Roboto"/>
                <a:sym typeface="Roboto"/>
              </a:rPr>
              <a:t>list of all the Strobogrammatic numbers that have a length of 3</a:t>
            </a:r>
            <a:endParaRPr b="0" i="0" sz="1400" u="none" cap="none" strike="noStrike">
              <a:solidFill>
                <a:schemeClr val="dk1"/>
              </a:solidFill>
              <a:latin typeface="Roboto"/>
              <a:ea typeface="Roboto"/>
              <a:cs typeface="Roboto"/>
              <a:sym typeface="Roboto"/>
            </a:endParaRPr>
          </a:p>
        </p:txBody>
      </p:sp>
      <p:sp>
        <p:nvSpPr>
          <p:cNvPr id="105" name="Google Shape;105;p5"/>
          <p:cNvSpPr txBox="1"/>
          <p:nvPr/>
        </p:nvSpPr>
        <p:spPr>
          <a:xfrm>
            <a:off x="1308409" y="1298110"/>
            <a:ext cx="6839413" cy="328808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import java.util.*;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public class EthCode{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public static ArrayList&lt;String&gt; StrobogrammaticNum(int 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ArrayList&lt;String&gt; result = numDef(n,n);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return result;}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public static ArrayList&lt;String&gt; numDef(int n, int length){</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if(n==0) return new ArrayList&lt;String&gt;(Arrays.asList(new String[]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if(n==1) return new ArrayList&lt;String&gt;(Arrays.asList(new String[] {"1", "0", "8"}));</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ArrayList&lt;String&gt; middles = numDef(n - 2, length);</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ArrayList&lt;String&gt; result = new ArrayList&lt;String&gt;();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nvSpPr>
        <p:spPr>
          <a:xfrm>
            <a:off x="0" y="328881"/>
            <a:ext cx="8714937"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Program 1</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400" u="none" cap="none" strike="noStrike">
                <a:solidFill>
                  <a:schemeClr val="dk1"/>
                </a:solidFill>
                <a:latin typeface="Roboto"/>
                <a:ea typeface="Roboto"/>
                <a:cs typeface="Roboto"/>
                <a:sym typeface="Roboto"/>
              </a:rPr>
              <a:t>list of all the Strobogrammatic numbers that have a length of 3</a:t>
            </a:r>
            <a:endParaRPr b="0" i="0" sz="1400" u="none" cap="none" strike="noStrike">
              <a:solidFill>
                <a:schemeClr val="dk1"/>
              </a:solidFill>
              <a:latin typeface="Roboto"/>
              <a:ea typeface="Roboto"/>
              <a:cs typeface="Roboto"/>
              <a:sym typeface="Roboto"/>
            </a:endParaRPr>
          </a:p>
        </p:txBody>
      </p:sp>
      <p:sp>
        <p:nvSpPr>
          <p:cNvPr id="111" name="Google Shape;111;p17"/>
          <p:cNvSpPr txBox="1"/>
          <p:nvPr/>
        </p:nvSpPr>
        <p:spPr>
          <a:xfrm>
            <a:off x="1248936" y="852061"/>
            <a:ext cx="6839413" cy="425757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for(String middle: middles){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if(n != length)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result.add("0" + middle + "0");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result.add("8" + middle + "8");</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result.add("1" + middle + "1");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result.add("9" + middle + "6");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result.add("6" + middle + "9");</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}return result;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public static void main(String args[]){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System.out.println(StrobogrammaticNum(3));</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nvSpPr>
        <p:spPr>
          <a:xfrm>
            <a:off x="739576" y="926123"/>
            <a:ext cx="8124000" cy="378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Program 2</a:t>
            </a:r>
            <a:endParaRPr b="1"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Given number n, check if it is a Strobogrammatic Number.</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sng" cap="none" strike="noStrike">
                <a:solidFill>
                  <a:srgbClr val="000000"/>
                </a:solidFill>
                <a:latin typeface="Roboto"/>
                <a:ea typeface="Roboto"/>
                <a:cs typeface="Roboto"/>
                <a:sym typeface="Roboto"/>
              </a:rPr>
              <a:t>Sample IO</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Input:  "69"</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Output: 69 </a:t>
            </a:r>
            <a:r>
              <a:rPr b="0" i="0" lang="en-US" sz="1600" u="none" cap="none" strike="noStrike">
                <a:solidFill>
                  <a:schemeClr val="dk1"/>
                </a:solidFill>
                <a:latin typeface="Roboto"/>
                <a:ea typeface="Roboto"/>
                <a:cs typeface="Roboto"/>
                <a:sym typeface="Roboto"/>
              </a:rPr>
              <a:t>is a strobogrammatic number</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Input:  "88"</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Output: 88 </a:t>
            </a:r>
            <a:r>
              <a:rPr b="0" i="0" lang="en-US" sz="1600" u="none" cap="none" strike="noStrike">
                <a:solidFill>
                  <a:schemeClr val="dk1"/>
                </a:solidFill>
                <a:latin typeface="Roboto"/>
                <a:ea typeface="Roboto"/>
                <a:cs typeface="Roboto"/>
                <a:sym typeface="Roboto"/>
              </a:rPr>
              <a:t>is a strobogrammatic number</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Input:  "962"</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Output: 962 </a:t>
            </a:r>
            <a:r>
              <a:rPr b="0" i="0" lang="en-US" sz="1600" u="none" cap="none" strike="noStrike">
                <a:solidFill>
                  <a:schemeClr val="dk1"/>
                </a:solidFill>
                <a:latin typeface="Roboto"/>
                <a:ea typeface="Roboto"/>
                <a:cs typeface="Roboto"/>
                <a:sym typeface="Roboto"/>
              </a:rPr>
              <a:t>is not a strobogrammatic number</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nvSpPr>
        <p:spPr>
          <a:xfrm>
            <a:off x="1245098" y="606455"/>
            <a:ext cx="8124000" cy="461660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import java.util.*;</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public class StrobogrammaticNumber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public static void main(String[] args)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Scanner sc = new Scanner(System.in);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System.out.println("Enter a number: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String num = sc.nextLine();       if(isStrobogrammatic(num))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System.out.println(num + " is a strobogrammatic number");</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else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System.out.println(num + " is not a strobogrammatic number");</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sc.close();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nvSpPr>
        <p:spPr>
          <a:xfrm>
            <a:off x="945658" y="586611"/>
            <a:ext cx="8124000" cy="39702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public static boolean  isStrobogrammatic(String num)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Map&lt;Character, Character&gt; strobogrammaticDictonary = new HashMap&lt;&gt;();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strobogrammaticDictonary.put('0', '0');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strobogrammaticDictonary.put('1', '1');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strobogrammaticDictonary.put('6', '9');</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strobogrammaticDictonary.put('8', '8');</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strobogrammaticDictonary.put('9', '6');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int n = num.length();</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for(int i = 0 , j = (n-1) ; i &lt;= j ; i++, j--){</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char digit_left = num.charAt(i);</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char digit_right = num.charAt(j);</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char mapping = strobogrammaticDictonary.getOrDefault(digit_left,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nvSpPr>
        <p:spPr>
          <a:xfrm>
            <a:off x="2662946" y="784874"/>
            <a:ext cx="3574200" cy="332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if(mapping ==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return false;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if(mapping != digit_right){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return false;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return true;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nvSpPr>
        <p:spPr>
          <a:xfrm>
            <a:off x="991771" y="1064736"/>
            <a:ext cx="7835705" cy="304694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1" i="0" lang="en-US" sz="1400" u="none" cap="none" strike="noStrike">
                <a:solidFill>
                  <a:schemeClr val="dk1"/>
                </a:solidFill>
                <a:latin typeface="Roboto"/>
                <a:ea typeface="Roboto"/>
                <a:cs typeface="Roboto"/>
                <a:sym typeface="Roboto"/>
              </a:rPr>
              <a:t>Complexity Analysis</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400" u="none" cap="none" strike="noStrike">
                <a:solidFill>
                  <a:schemeClr val="dk1"/>
                </a:solidFill>
                <a:latin typeface="Roboto"/>
                <a:ea typeface="Roboto"/>
                <a:cs typeface="Roboto"/>
                <a:sym typeface="Roboto"/>
              </a:rPr>
              <a:t>Let N be the length of the input string.</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1" i="0" lang="en-US" sz="1400" u="none" cap="none" strike="noStrike">
                <a:solidFill>
                  <a:schemeClr val="dk1"/>
                </a:solidFill>
                <a:latin typeface="Roboto"/>
                <a:ea typeface="Roboto"/>
                <a:cs typeface="Roboto"/>
                <a:sym typeface="Roboto"/>
              </a:rPr>
              <a:t>Time complexity: O(N)</a:t>
            </a:r>
            <a:endParaRPr b="0" i="0" sz="1400" u="none" cap="none" strike="noStrike">
              <a:solidFill>
                <a:schemeClr val="dk1"/>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400" u="none" cap="none" strike="noStrike">
                <a:solidFill>
                  <a:schemeClr val="dk1"/>
                </a:solidFill>
                <a:latin typeface="Roboto"/>
                <a:ea typeface="Roboto"/>
                <a:cs typeface="Roboto"/>
                <a:sym typeface="Roboto"/>
              </a:rPr>
              <a:t>Do a single lookup and comparison for each of the N digits in the string.</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1" i="0" lang="en-US" sz="1400" u="none" cap="none" strike="noStrike">
                <a:solidFill>
                  <a:schemeClr val="dk1"/>
                </a:solidFill>
                <a:latin typeface="Roboto"/>
                <a:ea typeface="Roboto"/>
                <a:cs typeface="Roboto"/>
                <a:sym typeface="Roboto"/>
              </a:rPr>
              <a:t>Space complexity: O(1)</a:t>
            </a:r>
            <a:endParaRPr b="0" i="0" sz="1400" u="none" cap="none" strike="noStrike">
              <a:solidFill>
                <a:schemeClr val="dk1"/>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400" u="none" cap="none" strike="noStrike">
                <a:solidFill>
                  <a:schemeClr val="dk1"/>
                </a:solidFill>
                <a:latin typeface="Roboto"/>
                <a:ea typeface="Roboto"/>
                <a:cs typeface="Roboto"/>
                <a:sym typeface="Roboto"/>
              </a:rPr>
              <a:t>only use constant extra space. This is an in-place algorithm.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72ce6a6abc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42" name="Google Shape;142;g272ce6a6abc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43" name="Google Shape;143;g272ce6a6abc_0_0"/>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44" name="Google Shape;144;g272ce6a6abc_0_0"/>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145" name="Google Shape;145;g272ce6a6abc_0_0"/>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146" name="Google Shape;146;g272ce6a6abc_0_0"/>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nvSpPr>
        <p:spPr>
          <a:xfrm>
            <a:off x="541605" y="1343160"/>
            <a:ext cx="7835705" cy="630902"/>
          </a:xfrm>
          <a:prstGeom prst="rect">
            <a:avLst/>
          </a:prstGeom>
          <a:noFill/>
          <a:ln>
            <a:noFill/>
          </a:ln>
        </p:spPr>
        <p:txBody>
          <a:bodyPr anchorCtr="0" anchor="t" bIns="45700" lIns="91425" spcFirstLastPara="1" rIns="91425" wrap="square" tIns="45700">
            <a:spAutoFit/>
          </a:bodyPr>
          <a:lstStyle/>
          <a:p>
            <a:pPr indent="0" lvl="0" marL="0" marR="0" rtl="0" algn="l">
              <a:lnSpc>
                <a:spcPct val="250000"/>
              </a:lnSpc>
              <a:spcBef>
                <a:spcPts val="0"/>
              </a:spcBef>
              <a:spcAft>
                <a:spcPts val="0"/>
              </a:spcAft>
              <a:buClr>
                <a:srgbClr val="000000"/>
              </a:buClr>
              <a:buSzPts val="2000"/>
              <a:buFont typeface="Arial"/>
              <a:buNone/>
            </a:pPr>
            <a:r>
              <a:rPr b="0" i="0" lang="en-US" sz="1400" u="none" cap="none" strike="noStrike">
                <a:solidFill>
                  <a:srgbClr val="000000"/>
                </a:solidFill>
                <a:latin typeface="Roboto"/>
                <a:ea typeface="Roboto"/>
                <a:cs typeface="Roboto"/>
                <a:sym typeface="Roboto"/>
              </a:rPr>
              <a:t>What is a strobogrammatic number?</a:t>
            </a:r>
            <a:endParaRPr b="0" i="0" sz="1400" u="none" cap="none" strike="noStrike">
              <a:solidFill>
                <a:srgbClr val="000000"/>
              </a:solidFill>
              <a:latin typeface="Calibri"/>
              <a:ea typeface="Calibri"/>
              <a:cs typeface="Calibri"/>
              <a:sym typeface="Calibri"/>
            </a:endParaRPr>
          </a:p>
        </p:txBody>
      </p:sp>
      <p:sp>
        <p:nvSpPr>
          <p:cNvPr id="152" name="Google Shape;152;p11"/>
          <p:cNvSpPr txBox="1"/>
          <p:nvPr/>
        </p:nvSpPr>
        <p:spPr>
          <a:xfrm>
            <a:off x="514643" y="2068907"/>
            <a:ext cx="7575600" cy="846600"/>
          </a:xfrm>
          <a:prstGeom prst="rect">
            <a:avLst/>
          </a:prstGeom>
          <a:noFill/>
          <a:ln>
            <a:noFill/>
          </a:ln>
        </p:spPr>
        <p:txBody>
          <a:bodyPr anchorCtr="0" anchor="t" bIns="45700" lIns="91425" spcFirstLastPara="1" rIns="91425" wrap="square" tIns="45700">
            <a:spAutoFit/>
          </a:bodyPr>
          <a:lstStyle/>
          <a:p>
            <a:pPr indent="0" lvl="0" marL="0" marR="0" rtl="0" algn="l">
              <a:lnSpc>
                <a:spcPct val="25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Answer: A strobogrammatic number is a number that appears the same when rotated 180 degrees. In other words, the digits look the same when the number is flipped upside down.</a:t>
            </a:r>
            <a:endParaRPr b="0" i="0" sz="1400" u="none" cap="none" strike="noStrike">
              <a:solidFill>
                <a:srgbClr val="000000"/>
              </a:solidFill>
              <a:latin typeface="Calibri"/>
              <a:ea typeface="Calibri"/>
              <a:cs typeface="Calibri"/>
              <a:sym typeface="Calibri"/>
            </a:endParaRPr>
          </a:p>
        </p:txBody>
      </p:sp>
      <p:sp>
        <p:nvSpPr>
          <p:cNvPr id="153" name="Google Shape;153;p11"/>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154" name="Google Shape;154;p11"/>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nvSpPr>
        <p:spPr>
          <a:xfrm>
            <a:off x="784685" y="1719277"/>
            <a:ext cx="783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t/>
            </a:r>
            <a:endParaRPr b="0" i="0" sz="1400" u="none" cap="none" strike="noStrike">
              <a:solidFill>
                <a:srgbClr val="000000"/>
              </a:solidFill>
              <a:latin typeface="Calibri"/>
              <a:ea typeface="Calibri"/>
              <a:cs typeface="Calibri"/>
              <a:sym typeface="Calibri"/>
            </a:endParaRPr>
          </a:p>
        </p:txBody>
      </p:sp>
      <p:sp>
        <p:nvSpPr>
          <p:cNvPr id="160" name="Google Shape;160;p12"/>
          <p:cNvSpPr txBox="1"/>
          <p:nvPr/>
        </p:nvSpPr>
        <p:spPr>
          <a:xfrm>
            <a:off x="511536" y="2030763"/>
            <a:ext cx="7575600" cy="21345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Answer: One approach is to convert the number to a string and check if the characters in the string form a strobogrammatic pattern.</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80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For example, you could iterate through the string and check if the first and last characters are mirror images of each other, and then move inward towards the center of the string. Alternatively, you could use a lookup table to check for strobogrammatic pairs of digits.</a:t>
            </a:r>
            <a:endParaRPr b="0" i="0" sz="1400" u="none" cap="none" strike="noStrike">
              <a:solidFill>
                <a:srgbClr val="000000"/>
              </a:solidFill>
              <a:latin typeface="Calibri"/>
              <a:ea typeface="Calibri"/>
              <a:cs typeface="Calibri"/>
              <a:sym typeface="Calibri"/>
            </a:endParaRPr>
          </a:p>
        </p:txBody>
      </p:sp>
      <p:sp>
        <p:nvSpPr>
          <p:cNvPr id="161" name="Google Shape;161;p12"/>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162" name="Google Shape;162;p12"/>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163" name="Google Shape;163;p12"/>
          <p:cNvSpPr txBox="1"/>
          <p:nvPr/>
        </p:nvSpPr>
        <p:spPr>
          <a:xfrm>
            <a:off x="541600" y="1343153"/>
            <a:ext cx="7835700" cy="738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How would you check if a given number is strobogrammatic in Java?</a:t>
            </a:r>
            <a:endParaRPr b="0" i="0" sz="1400" u="none" cap="none" strike="noStrike">
              <a:solidFill>
                <a:schemeClr val="dk1"/>
              </a:solidFill>
              <a:latin typeface="Calibri"/>
              <a:ea typeface="Calibri"/>
              <a:cs typeface="Calibri"/>
              <a:sym typeface="Calibri"/>
            </a:endParaRPr>
          </a:p>
          <a:p>
            <a:pPr indent="0" lvl="0" marL="0" marR="0" rtl="0" algn="l">
              <a:lnSpc>
                <a:spcPct val="250000"/>
              </a:lnSpc>
              <a:spcBef>
                <a:spcPts val="0"/>
              </a:spcBef>
              <a:spcAft>
                <a:spcPts val="0"/>
              </a:spcAft>
              <a:buClr>
                <a:srgbClr val="000000"/>
              </a:buClr>
              <a:buSzPts val="20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22b961a22c_0_6"/>
          <p:cNvSpPr txBox="1"/>
          <p:nvPr/>
        </p:nvSpPr>
        <p:spPr>
          <a:xfrm>
            <a:off x="594060" y="4078977"/>
            <a:ext cx="783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700"/>
              <a:buFont typeface="Arial"/>
              <a:buNone/>
            </a:pPr>
            <a:r>
              <a:t/>
            </a:r>
            <a:endParaRPr b="0" i="0" sz="1400" u="none" cap="none" strike="noStrike">
              <a:solidFill>
                <a:srgbClr val="000000"/>
              </a:solidFill>
              <a:latin typeface="Calibri"/>
              <a:ea typeface="Calibri"/>
              <a:cs typeface="Calibri"/>
              <a:sym typeface="Calibri"/>
            </a:endParaRPr>
          </a:p>
        </p:txBody>
      </p:sp>
      <p:sp>
        <p:nvSpPr>
          <p:cNvPr id="169" name="Google Shape;169;g222b961a22c_0_6"/>
          <p:cNvSpPr txBox="1"/>
          <p:nvPr/>
        </p:nvSpPr>
        <p:spPr>
          <a:xfrm>
            <a:off x="511536" y="2030763"/>
            <a:ext cx="75756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1200"/>
              </a:spcBef>
              <a:spcAft>
                <a:spcPts val="0"/>
              </a:spcAft>
              <a:buClr>
                <a:srgbClr val="000000"/>
              </a:buClr>
              <a:buSzPts val="1100"/>
              <a:buFont typeface="Arial"/>
              <a:buNone/>
            </a:pPr>
            <a:r>
              <a:rPr b="0" i="0" lang="en-US" sz="1400" u="none" cap="none" strike="noStrike">
                <a:solidFill>
                  <a:schemeClr val="dk1"/>
                </a:solidFill>
                <a:latin typeface="Roboto"/>
                <a:ea typeface="Roboto"/>
                <a:cs typeface="Roboto"/>
                <a:sym typeface="Roboto"/>
              </a:rPr>
              <a:t>Answer: Yes, a recursive approach could be used to generate strobogrammatic numbers of a given length. One approach is to define a base case for length 0 and length 1, and then recursively build up longer strobogrammatic numbers by adding digits to the beginning and end of shorter strobogrammatic numbers. In Java, an ArrayList could be used to store the generated strobogrammatic numbers.</a:t>
            </a:r>
            <a:endParaRPr b="0" i="0" sz="1400" u="none" cap="none" strike="noStrike">
              <a:solidFill>
                <a:srgbClr val="000000"/>
              </a:solidFill>
              <a:latin typeface="Roboto"/>
              <a:ea typeface="Roboto"/>
              <a:cs typeface="Roboto"/>
              <a:sym typeface="Roboto"/>
            </a:endParaRPr>
          </a:p>
        </p:txBody>
      </p:sp>
      <p:sp>
        <p:nvSpPr>
          <p:cNvPr id="170" name="Google Shape;170;g222b961a22c_0_6"/>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171" name="Google Shape;171;g222b961a22c_0_6"/>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172" name="Google Shape;172;g222b961a22c_0_6"/>
          <p:cNvSpPr txBox="1"/>
          <p:nvPr/>
        </p:nvSpPr>
        <p:spPr>
          <a:xfrm>
            <a:off x="541600" y="1343153"/>
            <a:ext cx="78357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1700"/>
              <a:buFont typeface="Arial"/>
              <a:buNone/>
            </a:pPr>
            <a:r>
              <a:rPr b="0" i="0" lang="en-US" sz="1400" u="none" cap="none" strike="noStrike">
                <a:solidFill>
                  <a:schemeClr val="dk1"/>
                </a:solidFill>
                <a:latin typeface="Roboto"/>
                <a:ea typeface="Roboto"/>
                <a:cs typeface="Roboto"/>
                <a:sym typeface="Roboto"/>
              </a:rPr>
              <a:t>Can you write a Java function to generate all strobogrammatic numbers of a given length?</a:t>
            </a:r>
            <a:endParaRPr b="0" i="0" sz="14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chemeClr val="dk1"/>
              </a:buClr>
              <a:buSzPts val="18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250000"/>
              </a:lnSpc>
              <a:spcBef>
                <a:spcPts val="0"/>
              </a:spcBef>
              <a:spcAft>
                <a:spcPts val="0"/>
              </a:spcAft>
              <a:buClr>
                <a:srgbClr val="000000"/>
              </a:buClr>
              <a:buSzPts val="20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22b961a22c_0_14"/>
          <p:cNvSpPr txBox="1"/>
          <p:nvPr/>
        </p:nvSpPr>
        <p:spPr>
          <a:xfrm>
            <a:off x="593835" y="3215602"/>
            <a:ext cx="783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1200"/>
              </a:spcBef>
              <a:spcAft>
                <a:spcPts val="0"/>
              </a:spcAft>
              <a:buClr>
                <a:schemeClr val="dk1"/>
              </a:buClr>
              <a:buSzPts val="1100"/>
              <a:buFont typeface="Arial"/>
              <a:buNone/>
            </a:pPr>
            <a:r>
              <a:t/>
            </a:r>
            <a:endParaRPr b="0" i="0" sz="1400" u="none" cap="none" strike="noStrike">
              <a:solidFill>
                <a:srgbClr val="000000"/>
              </a:solidFill>
              <a:latin typeface="Calibri"/>
              <a:ea typeface="Calibri"/>
              <a:cs typeface="Calibri"/>
              <a:sym typeface="Calibri"/>
            </a:endParaRPr>
          </a:p>
        </p:txBody>
      </p:sp>
      <p:sp>
        <p:nvSpPr>
          <p:cNvPr id="178" name="Google Shape;178;g222b961a22c_0_14"/>
          <p:cNvSpPr txBox="1"/>
          <p:nvPr/>
        </p:nvSpPr>
        <p:spPr>
          <a:xfrm>
            <a:off x="853936" y="2771863"/>
            <a:ext cx="7575600" cy="110795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12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Answer: Yes, the numbers 0, 1, and 8 are strobogrammatic and palindromic.</a:t>
            </a:r>
            <a:endParaRPr b="0" i="0" sz="1400" u="none" cap="none" strike="noStrike">
              <a:solidFill>
                <a:schemeClr val="dk1"/>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800"/>
              <a:buFont typeface="Arial"/>
              <a:buNone/>
            </a:pPr>
            <a:r>
              <a:t/>
            </a:r>
            <a:endParaRPr b="0" i="0" sz="1400" u="none" cap="none" strike="noStrike">
              <a:solidFill>
                <a:srgbClr val="000000"/>
              </a:solidFill>
              <a:latin typeface="Roboto"/>
              <a:ea typeface="Roboto"/>
              <a:cs typeface="Roboto"/>
              <a:sym typeface="Roboto"/>
            </a:endParaRPr>
          </a:p>
        </p:txBody>
      </p:sp>
      <p:sp>
        <p:nvSpPr>
          <p:cNvPr id="179" name="Google Shape;179;g222b961a22c_0_14"/>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180" name="Google Shape;180;g222b961a22c_0_14"/>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181" name="Google Shape;181;g222b961a22c_0_14"/>
          <p:cNvSpPr txBox="1"/>
          <p:nvPr/>
        </p:nvSpPr>
        <p:spPr>
          <a:xfrm>
            <a:off x="541600" y="1343153"/>
            <a:ext cx="78357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12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Are there any strobogrammatic numbers that are palindromic? In other words, do any strobogrammatic numbers read the same forwards and backwards?</a:t>
            </a:r>
            <a:endParaRPr b="0" i="0" sz="14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chemeClr val="dk1"/>
              </a:buClr>
              <a:buSzPts val="18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250000"/>
              </a:lnSpc>
              <a:spcBef>
                <a:spcPts val="0"/>
              </a:spcBef>
              <a:spcAft>
                <a:spcPts val="0"/>
              </a:spcAft>
              <a:buClr>
                <a:srgbClr val="000000"/>
              </a:buClr>
              <a:buSzPts val="20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22b961a22c_0_25"/>
          <p:cNvSpPr txBox="1"/>
          <p:nvPr/>
        </p:nvSpPr>
        <p:spPr>
          <a:xfrm>
            <a:off x="332860" y="3085102"/>
            <a:ext cx="783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Clr>
                <a:srgbClr val="000000"/>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87" name="Google Shape;187;g222b961a22c_0_25"/>
          <p:cNvSpPr txBox="1"/>
          <p:nvPr/>
        </p:nvSpPr>
        <p:spPr>
          <a:xfrm>
            <a:off x="1068176" y="2306275"/>
            <a:ext cx="6721200" cy="49394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Clr>
                <a:srgbClr val="000000"/>
              </a:buClr>
              <a:buSzPts val="1100"/>
              <a:buFont typeface="Arial"/>
              <a:buNone/>
            </a:pPr>
            <a:r>
              <a:rPr b="0" i="0" lang="en-US" sz="1400" u="none" cap="none" strike="noStrike">
                <a:solidFill>
                  <a:schemeClr val="dk1"/>
                </a:solidFill>
                <a:latin typeface="Roboto"/>
                <a:ea typeface="Roboto"/>
                <a:cs typeface="Roboto"/>
                <a:sym typeface="Roboto"/>
              </a:rPr>
              <a:t>Answer: No, strobogrammatic numbers are always non-negative integers.</a:t>
            </a:r>
            <a:endParaRPr b="0" i="0" sz="1400" u="none" cap="none" strike="noStrike">
              <a:solidFill>
                <a:schemeClr val="dk1"/>
              </a:solidFill>
              <a:latin typeface="Roboto"/>
              <a:ea typeface="Roboto"/>
              <a:cs typeface="Roboto"/>
              <a:sym typeface="Roboto"/>
            </a:endParaRPr>
          </a:p>
        </p:txBody>
      </p:sp>
      <p:sp>
        <p:nvSpPr>
          <p:cNvPr id="188" name="Google Shape;188;g222b961a22c_0_25"/>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189" name="Google Shape;189;g222b961a22c_0_25"/>
          <p:cNvSpPr txBox="1"/>
          <p:nvPr/>
        </p:nvSpPr>
        <p:spPr>
          <a:xfrm>
            <a:off x="541600" y="1343153"/>
            <a:ext cx="7835700" cy="986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Can strobogrammatic numbers be negative?</a:t>
            </a:r>
            <a:endParaRPr b="0" i="0" sz="14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chemeClr val="dk1"/>
              </a:buClr>
              <a:buSzPts val="18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250000"/>
              </a:lnSpc>
              <a:spcBef>
                <a:spcPts val="0"/>
              </a:spcBef>
              <a:spcAft>
                <a:spcPts val="0"/>
              </a:spcAft>
              <a:buClr>
                <a:srgbClr val="000000"/>
              </a:buClr>
              <a:buSzPts val="20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Practice questions</a:t>
            </a:r>
            <a:endParaRPr b="0" i="0" sz="1400" u="none" cap="none" strike="noStrike">
              <a:solidFill>
                <a:srgbClr val="000000"/>
              </a:solidFill>
              <a:latin typeface="Arial"/>
              <a:ea typeface="Arial"/>
              <a:cs typeface="Arial"/>
              <a:sym typeface="Arial"/>
            </a:endParaRPr>
          </a:p>
        </p:txBody>
      </p:sp>
      <p:sp>
        <p:nvSpPr>
          <p:cNvPr id="195" name="Google Shape;195;p25"/>
          <p:cNvSpPr txBox="1"/>
          <p:nvPr/>
        </p:nvSpPr>
        <p:spPr>
          <a:xfrm>
            <a:off x="695626" y="1096660"/>
            <a:ext cx="8326244" cy="366254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Question 1: Check if a number is strobogrammatic</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Problem Statement: Given a number as a string, determine if it is strobogrammatic. A number is strobogrammatic if it looks the same when rotated 180 degrees.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Input: A string representing the number.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Output: A boolean value indicating whether the number is strobogrammatic.</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Input: "69"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Output: true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Explanation: When "69" is rotated 180 degrees, it becomes "69".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Input: "962"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Output: false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Explanation: When "962" is rotated 180 degrees, it becomes "269", which is not the same as "962".</a:t>
            </a:r>
            <a:endParaRPr b="0" i="0" sz="1400" u="none" cap="none" strike="noStrike">
              <a:solidFill>
                <a:srgbClr val="000000"/>
              </a:solidFill>
              <a:latin typeface="Arial"/>
              <a:ea typeface="Arial"/>
              <a:cs typeface="Arial"/>
              <a:sym typeface="Arial"/>
            </a:endParaRPr>
          </a:p>
        </p:txBody>
      </p:sp>
      <p:sp>
        <p:nvSpPr>
          <p:cNvPr id="196" name="Google Shape;196;p25"/>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Practice questions</a:t>
            </a:r>
            <a:endParaRPr b="0" i="0" sz="1400" u="none" cap="none" strike="noStrike">
              <a:solidFill>
                <a:srgbClr val="000000"/>
              </a:solidFill>
              <a:latin typeface="Arial"/>
              <a:ea typeface="Arial"/>
              <a:cs typeface="Arial"/>
              <a:sym typeface="Arial"/>
            </a:endParaRPr>
          </a:p>
        </p:txBody>
      </p:sp>
      <p:sp>
        <p:nvSpPr>
          <p:cNvPr id="202" name="Google Shape;202;p35"/>
          <p:cNvSpPr txBox="1"/>
          <p:nvPr/>
        </p:nvSpPr>
        <p:spPr>
          <a:xfrm>
            <a:off x="569246" y="1557577"/>
            <a:ext cx="8326244" cy="255454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Question 2: Generate all strobogrammatic numbers of length 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Problem Statement: Given an integer n, generate all strobogrammatic numbers of length 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Input: An integer 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Output: A list of strings representing all strobogrammatic numbers of length 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Input: 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Output: ["11", "69", "88", "96"]</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Explanation: These are the 2-digit numbers that look the same when rotated 180 degrees.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03" name="Google Shape;203;p35"/>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
        <p:nvSpPr>
          <p:cNvPr id="209" name="Google Shape;209;p36"/>
          <p:cNvSpPr txBox="1"/>
          <p:nvPr/>
        </p:nvSpPr>
        <p:spPr>
          <a:xfrm>
            <a:off x="695626" y="1118962"/>
            <a:ext cx="8326244" cy="393954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Question 3: Find the smallest strobogrammatic number greater than a given number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Problem Statement: Given a number as a string, find the smallest strobogrammatic number that is greater than the given number.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Input: A string representing the number.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Output: A string representing the smallest strobogrammatic number greater than the given number.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Input: "50"</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Output: "69"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Explanation: The smallest strobogrammatic number greater than "50" is "69".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Input: "88"</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Sample Output: "96"</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Explanation: The smallest strobogrammatic number greater than "88" is "96".</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2726041b948_0_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15" name="Google Shape;215;g2726041b948_0_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16" name="Google Shape;216;g2726041b948_0_0"/>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17" name="Google Shape;217;g2726041b948_0_0"/>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218" name="Google Shape;218;g2726041b948_0_0"/>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19" name="Google Shape;219;g2726041b948_0_0"/>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20" name="Google Shape;220;g2726041b948_0_0"/>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221" name="Google Shape;221;g2726041b948_0_0"/>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22" name="Google Shape;222;g2726041b948_0_0"/>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223" name="Google Shape;223;g2726041b948_0_0"/>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24" name="Google Shape;224;g2726041b948_0_0"/>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225" name="Google Shape;225;g2726041b948_0_0"/>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