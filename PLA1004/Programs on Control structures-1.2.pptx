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4" r:id="rId3"/>
    <p:sldMasterId id="2147483677" r:id="rId4"/>
    <p:sldMasterId id="2147483691" r:id="rId5"/>
    <p:sldMasterId id="2147483700" r:id="rId6"/>
  </p:sldMasterIdLst>
  <p:notesMasterIdLst>
    <p:notesMasterId r:id="rId8"/>
  </p:notesMasterIdLst>
  <p:sldIdLst>
    <p:sldId id="256" r:id="rId7"/>
    <p:sldId id="257" r:id="rId9"/>
    <p:sldId id="258" r:id="rId10"/>
    <p:sldId id="280" r:id="rId11"/>
    <p:sldId id="281" r:id="rId12"/>
    <p:sldId id="282" r:id="rId13"/>
    <p:sldId id="283" r:id="rId14"/>
    <p:sldId id="314" r:id="rId15"/>
    <p:sldId id="315" r:id="rId16"/>
    <p:sldId id="267" r:id="rId17"/>
    <p:sldId id="268" r:id="rId18"/>
    <p:sldId id="273" r:id="rId19"/>
    <p:sldId id="274" r:id="rId20"/>
    <p:sldId id="277" r:id="rId21"/>
    <p:sldId id="307" r:id="rId22"/>
    <p:sldId id="279" r:id="rId23"/>
    <p:sldId id="284" r:id="rId24"/>
    <p:sldId id="286" r:id="rId25"/>
    <p:sldId id="285" r:id="rId26"/>
    <p:sldId id="275" r:id="rId27"/>
  </p:sldIdLst>
  <p:sldSz cx="9144000" cy="5143500" type="screen16x9"/>
  <p:notesSz cx="6858000" cy="9144000"/>
  <p:embeddedFontLst>
    <p:embeddedFont>
      <p:font typeface="Calibri" panose="020F0502020204030204"/>
      <p:regular r:id="rId31"/>
    </p:embeddedFont>
    <p:embeddedFont>
      <p:font typeface="Source Sans Pro" panose="020B0503030403020204"/>
      <p:regular r:id="rId32"/>
      <p:bold r:id="rId33"/>
      <p:italic r:id="rId34"/>
      <p:boldItalic r:id="rId35"/>
    </p:embeddedFont>
    <p:embeddedFont>
      <p:font typeface="Open Sans" panose="020B0606030504020204"/>
      <p:regular r:id="rId36"/>
      <p:bold r:id="rId37"/>
      <p:italic r:id="rId38"/>
      <p:boldItalic r:id="rId39"/>
    </p:embeddedFont>
    <p:embeddedFont>
      <p:font typeface="Roboto" panose="02000000000000000000"/>
      <p:regular r:id="rId40"/>
      <p:bold r:id="rId41"/>
      <p:italic r:id="rId42"/>
      <p:boldItalic r:id="rId43"/>
    </p:embeddedFont>
    <p:embeddedFont>
      <p:font typeface="Proxima Nova" panose="02000506030000020004"/>
      <p:regular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0E5BC8C-97B9-40B9-B279-415BD0EB9F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581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4" Type="http://schemas.openxmlformats.org/officeDocument/2006/relationships/font" Target="fonts/font14.fntdata"/><Relationship Id="rId43" Type="http://schemas.openxmlformats.org/officeDocument/2006/relationships/font" Target="fonts/font13.fntdata"/><Relationship Id="rId42" Type="http://schemas.openxmlformats.org/officeDocument/2006/relationships/font" Target="fonts/font12.fntdata"/><Relationship Id="rId41" Type="http://schemas.openxmlformats.org/officeDocument/2006/relationships/font" Target="fonts/font11.fntdata"/><Relationship Id="rId40" Type="http://schemas.openxmlformats.org/officeDocument/2006/relationships/font" Target="fonts/font10.fntdata"/><Relationship Id="rId4" Type="http://schemas.openxmlformats.org/officeDocument/2006/relationships/slideMaster" Target="slideMasters/slideMaster3.xml"/><Relationship Id="rId39" Type="http://schemas.openxmlformats.org/officeDocument/2006/relationships/font" Target="fonts/font9.fntdata"/><Relationship Id="rId38" Type="http://schemas.openxmlformats.org/officeDocument/2006/relationships/font" Target="fonts/font8.fntdata"/><Relationship Id="rId37" Type="http://schemas.openxmlformats.org/officeDocument/2006/relationships/font" Target="fonts/font7.fntdata"/><Relationship Id="rId36" Type="http://schemas.openxmlformats.org/officeDocument/2006/relationships/font" Target="fonts/font6.fntdata"/><Relationship Id="rId35" Type="http://schemas.openxmlformats.org/officeDocument/2006/relationships/font" Target="fonts/font5.fntdata"/><Relationship Id="rId34" Type="http://schemas.openxmlformats.org/officeDocument/2006/relationships/font" Target="fonts/font4.fntdata"/><Relationship Id="rId33" Type="http://schemas.openxmlformats.org/officeDocument/2006/relationships/font" Target="fonts/font3.fntdata"/><Relationship Id="rId32" Type="http://schemas.openxmlformats.org/officeDocument/2006/relationships/font" Target="fonts/font2.fntdata"/><Relationship Id="rId31" Type="http://schemas.openxmlformats.org/officeDocument/2006/relationships/font" Target="fonts/font1.fntdata"/><Relationship Id="rId30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0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1432b8366c7_0_169:notes"/>
          <p:cNvSpPr txBox="1">
            <a:spLocks noGrp="1"/>
          </p:cNvSpPr>
          <p:nvPr>
            <p:ph type="body" idx="1"/>
          </p:nvPr>
        </p:nvSpPr>
        <p:spPr>
          <a:xfrm>
            <a:off x="755719" y="5078556"/>
            <a:ext cx="60480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284" name="Google Shape;284;g1432b8366c7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432b8366c7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291" name="Google Shape;291;g1432b8366c7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1432b8366c7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2" name="Google Shape;302;g1432b8366c7_0_175:notes"/>
          <p:cNvSpPr txBox="1">
            <a:spLocks noGrp="1"/>
          </p:cNvSpPr>
          <p:nvPr>
            <p:ph type="body" idx="1"/>
          </p:nvPr>
        </p:nvSpPr>
        <p:spPr>
          <a:xfrm>
            <a:off x="685829" y="4343327"/>
            <a:ext cx="5486100" cy="41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800" b="0" strike="noStrike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03" name="Google Shape;303;g1432b8366c7_0_175:notes"/>
          <p:cNvSpPr/>
          <p:nvPr/>
        </p:nvSpPr>
        <p:spPr>
          <a:xfrm>
            <a:off x="3884734" y="8685423"/>
            <a:ext cx="2971200" cy="4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100" tIns="40050" rIns="80100" bIns="400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1432b8366c7_0_4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414" name="Google Shape;414;g1432b8366c7_0_4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1432b8366c7_0_4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24" name="Google Shape;424;g1432b8366c7_0_4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1432b8366c7_0_5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435" name="Google Shape;435;g1432b8366c7_0_5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432b8366c7_0_5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>
                <a:sym typeface="+mn-ea"/>
              </a:rPr>
              <a:t>Method 1: Using Range as [ 1, number ]</a:t>
            </a:r>
            <a:endParaRPr lang="en-US">
              <a:sym typeface="+mn-ea"/>
            </a:endParaRPr>
          </a:p>
          <a:p>
            <a:pPr algn="l"/>
            <a:r>
              <a:rPr lang="en-US">
                <a:sym typeface="+mn-ea"/>
              </a:rPr>
              <a:t>Take the input of num</a:t>
            </a:r>
            <a:endParaRPr lang="en-US">
              <a:sym typeface="+mn-ea"/>
            </a:endParaRPr>
          </a:p>
          <a:p>
            <a:pPr algn="l"/>
            <a:r>
              <a:rPr lang="en-US">
                <a:sym typeface="+mn-ea"/>
              </a:rPr>
              <a:t>Iterate from 1 to num using a for loop as i iterator</a:t>
            </a:r>
            <a:endParaRPr lang="en-US">
              <a:sym typeface="+mn-ea"/>
            </a:endParaRPr>
          </a:p>
          <a:p>
            <a:pPr algn="l"/>
            <a:r>
              <a:rPr lang="en-US">
                <a:sym typeface="+mn-ea"/>
              </a:rPr>
              <a:t>Check any given ‘i’ with if it perfectly divides num i.e. num % i == 0</a:t>
            </a:r>
            <a:endParaRPr lang="en-US">
              <a:sym typeface="+mn-ea"/>
            </a:endParaRPr>
          </a:p>
          <a:p>
            <a:pPr algn="l"/>
            <a:endParaRPr lang="en-US">
              <a:sym typeface="+mn-ea"/>
            </a:endParaRPr>
          </a:p>
          <a:p>
            <a:pPr algn="l"/>
            <a:r>
              <a:rPr lang="en-US">
                <a:sym typeface="+mn-ea"/>
              </a:rPr>
              <a:t>// Time Complexity : O(n) </a:t>
            </a:r>
            <a:endParaRPr lang="en-US"/>
          </a:p>
          <a:p>
            <a:pPr algn="l"/>
            <a:r>
              <a:rPr lang="en-US">
                <a:sym typeface="+mn-ea"/>
              </a:rPr>
              <a:t>// Auxiliary Space : O(1)</a:t>
            </a:r>
            <a:endParaRPr lang="en-US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45" name="Google Shape;445;g1432b8366c7_0_5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432b8366c7_0_5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>
                <a:sym typeface="+mn-ea"/>
              </a:rPr>
              <a:t>Method 2: Using Range as [ 1,  Sqrt( number )]</a:t>
            </a:r>
            <a:endParaRPr lang="en-US">
              <a:sym typeface="+mn-ea"/>
            </a:endParaRPr>
          </a:p>
          <a:p>
            <a:pPr algn="l"/>
            <a:r>
              <a:rPr lang="en-US">
                <a:sym typeface="+mn-ea"/>
              </a:rPr>
              <a:t>Check the output for finding the divisors of 100: 1, 2, 3, 4, 5, 10, 20, 25, 50</a:t>
            </a:r>
            <a:endParaRPr lang="en-US">
              <a:sym typeface="+mn-ea"/>
            </a:endParaRPr>
          </a:p>
          <a:p>
            <a:pPr algn="l"/>
            <a:endParaRPr lang="en-US">
              <a:sym typeface="+mn-ea"/>
            </a:endParaRPr>
          </a:p>
          <a:p>
            <a:pPr algn="l"/>
            <a:r>
              <a:rPr lang="en-US">
                <a:sym typeface="+mn-ea"/>
              </a:rPr>
              <a:t>All divisors come in pairs (1, 100), (2, 50), (4, 25), (5, 20), (10, 10)</a:t>
            </a:r>
            <a:endParaRPr lang="en-US">
              <a:sym typeface="+mn-ea"/>
            </a:endParaRPr>
          </a:p>
          <a:p>
            <a:pPr algn="l"/>
            <a:r>
              <a:rPr lang="en-US">
                <a:sym typeface="+mn-ea"/>
              </a:rPr>
              <a:t>If you multiple any pair the result will be 100 e.g. : 2 * 50 = 100 or 4 * 25 = 100</a:t>
            </a:r>
            <a:endParaRPr lang="en-US">
              <a:sym typeface="+mn-ea"/>
            </a:endParaRPr>
          </a:p>
          <a:p>
            <a:pPr algn="l"/>
            <a:r>
              <a:rPr lang="en-US">
                <a:sym typeface="+mn-ea"/>
              </a:rPr>
              <a:t>If the first pair is ‘i’ then we can find the other pair by doing num/i</a:t>
            </a:r>
            <a:endParaRPr lang="en-US">
              <a:sym typeface="+mn-ea"/>
            </a:endParaRPr>
          </a:p>
          <a:p>
            <a:pPr algn="l"/>
            <a:endParaRPr lang="en-US">
              <a:sym typeface="+mn-ea"/>
            </a:endParaRPr>
          </a:p>
          <a:p>
            <a:pPr algn="l"/>
            <a:r>
              <a:rPr lang="en-US">
                <a:sym typeface="+mn-ea"/>
              </a:rPr>
              <a:t>All Divisors come in pairs</a:t>
            </a:r>
            <a:endParaRPr lang="en-US">
              <a:sym typeface="+mn-ea"/>
            </a:endParaRPr>
          </a:p>
          <a:p>
            <a:pPr algn="l"/>
            <a:r>
              <a:rPr lang="en-US">
                <a:sym typeface="+mn-ea"/>
              </a:rPr>
              <a:t>We can find all smaller pairs by running loop only till √num</a:t>
            </a:r>
            <a:endParaRPr lang="en-US">
              <a:sym typeface="+mn-ea"/>
            </a:endParaRPr>
          </a:p>
          <a:p>
            <a:pPr algn="l"/>
            <a:endParaRPr lang="en-US">
              <a:sym typeface="+mn-ea"/>
            </a:endParaRPr>
          </a:p>
          <a:p>
            <a:pPr algn="l"/>
            <a:r>
              <a:rPr lang="en-US">
                <a:sym typeface="+mn-ea"/>
              </a:rPr>
              <a:t>Then the larger pair can be found by doing num/i</a:t>
            </a:r>
            <a:endParaRPr lang="en-US">
              <a:sym typeface="+mn-ea"/>
            </a:endParaRPr>
          </a:p>
          <a:p>
            <a:pPr algn="l"/>
            <a:endParaRPr lang="en-US">
              <a:sym typeface="+mn-ea"/>
            </a:endParaRPr>
          </a:p>
          <a:p>
            <a:pPr algn="l"/>
            <a:r>
              <a:rPr lang="en-US">
                <a:sym typeface="+mn-ea"/>
              </a:rPr>
              <a:t>Note</a:t>
            </a:r>
            <a:endParaRPr lang="en-US">
              <a:sym typeface="+mn-ea"/>
            </a:endParaRPr>
          </a:p>
          <a:p>
            <a:pPr algn="l"/>
            <a:r>
              <a:rPr lang="en-US">
                <a:sym typeface="+mn-ea"/>
              </a:rPr>
              <a:t>Just be careful that 10, pair for 10 is 10 again. But, we need to print 10 once</a:t>
            </a:r>
            <a:endParaRPr lang="en-US">
              <a:sym typeface="+mn-ea"/>
            </a:endParaRPr>
          </a:p>
          <a:p>
            <a:pPr algn="l"/>
            <a:endParaRPr lang="en-US">
              <a:sym typeface="+mn-ea"/>
            </a:endParaRPr>
          </a:p>
          <a:p>
            <a:pPr algn="l"/>
            <a:r>
              <a:rPr lang="en-US">
                <a:sym typeface="+mn-ea"/>
              </a:rPr>
              <a:t>This will happen for all divisors that are square root of number as √100 = 10</a:t>
            </a:r>
            <a:endParaRPr lang="en-US">
              <a:sym typeface="+mn-ea"/>
            </a:endParaRPr>
          </a:p>
          <a:p>
            <a:pPr algn="l"/>
            <a:endParaRPr lang="en-US">
              <a:sym typeface="+mn-ea"/>
            </a:endParaRPr>
          </a:p>
          <a:p>
            <a:pPr algn="l"/>
            <a:r>
              <a:rPr lang="en-US">
                <a:sym typeface="+mn-ea"/>
              </a:rPr>
              <a:t>Take the input of num</a:t>
            </a:r>
            <a:endParaRPr lang="en-US">
              <a:sym typeface="+mn-ea"/>
            </a:endParaRPr>
          </a:p>
          <a:p>
            <a:pPr algn="l"/>
            <a:r>
              <a:rPr lang="en-US">
                <a:sym typeface="+mn-ea"/>
              </a:rPr>
              <a:t>Iterate from 1 to √num using a for loop as i iterator</a:t>
            </a:r>
            <a:endParaRPr lang="en-US">
              <a:sym typeface="+mn-ea"/>
            </a:endParaRPr>
          </a:p>
          <a:p>
            <a:pPr algn="l"/>
            <a:r>
              <a:rPr lang="en-US">
                <a:sym typeface="+mn-ea"/>
              </a:rPr>
              <a:t>Check any given ‘i’ with if it perfectly divides num i.e. num % i == 0</a:t>
            </a:r>
            <a:endParaRPr lang="en-US">
              <a:sym typeface="+mn-ea"/>
            </a:endParaRPr>
          </a:p>
          <a:p>
            <a:pPr algn="l"/>
            <a:r>
              <a:rPr lang="en-US">
                <a:sym typeface="+mn-ea"/>
              </a:rPr>
              <a:t>          If i ==num/i then just print i</a:t>
            </a:r>
            <a:endParaRPr lang="en-US">
              <a:sym typeface="+mn-ea"/>
            </a:endParaRPr>
          </a:p>
          <a:p>
            <a:pPr algn="l"/>
            <a:r>
              <a:rPr lang="en-US">
                <a:sym typeface="+mn-ea"/>
              </a:rPr>
              <a:t>          else print both i and num/i</a:t>
            </a:r>
            <a:endParaRPr lang="en-US">
              <a:sym typeface="+mn-ea"/>
            </a:endParaRPr>
          </a:p>
          <a:p>
            <a:pPr algn="l"/>
            <a:endParaRPr lang="en-US">
              <a:sym typeface="+mn-ea"/>
            </a:endParaRPr>
          </a:p>
          <a:p>
            <a:pPr algn="l"/>
            <a:r>
              <a:rPr lang="en-US">
                <a:sym typeface="+mn-ea"/>
              </a:rPr>
              <a:t>// Time Complexity : O(sqrt(N))</a:t>
            </a:r>
            <a:endParaRPr lang="en-US">
              <a:sym typeface="+mn-ea"/>
            </a:endParaRPr>
          </a:p>
          <a:p>
            <a:pPr algn="l"/>
            <a:r>
              <a:rPr lang="en-US">
                <a:sym typeface="+mn-ea"/>
              </a:rPr>
              <a:t>// Space Complexity : O(1)</a:t>
            </a:r>
            <a:endParaRPr lang="en-US">
              <a:sym typeface="+mn-ea"/>
            </a:endParaRPr>
          </a:p>
        </p:txBody>
      </p:sp>
      <p:sp>
        <p:nvSpPr>
          <p:cNvPr id="445" name="Google Shape;445;g1432b8366c7_0_5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432b8366c7_0_5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lang="en-US">
              <a:sym typeface="+mn-ea"/>
            </a:endParaRPr>
          </a:p>
        </p:txBody>
      </p:sp>
      <p:sp>
        <p:nvSpPr>
          <p:cNvPr id="445" name="Google Shape;445;g1432b8366c7_0_5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1432b8366c7_0_4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394" name="Google Shape;394;g1432b8366c7_0_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1432b8366c7_0_4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04" name="Google Shape;404;g1432b8366c7_0_4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432b8366c7_0_5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55" name="Google Shape;455;g1432b8366c7_0_5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432b8366c7_0_5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65" name="Google Shape;465;g1432b8366c7_0_5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432b8366c7_0_5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55" name="Google Shape;455;g1432b8366c7_0_5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432b8366c7_0_5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55" name="Google Shape;455;g1432b8366c7_0_5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432b8366c7_0_5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65" name="Google Shape;465;g1432b8366c7_0_5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432b8366c7_0_5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55" name="Google Shape;455;g1432b8366c7_0_5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432b8366c7_0_5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55" name="Google Shape;455;g1432b8366c7_0_5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432b8366c7_0_5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65" name="Google Shape;465;g1432b8366c7_0_5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1432b8366c7_0_6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5" name="Google Shape;475;g1432b8366c7_0_6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 panose="020F0502020204030204"/>
              <a:buNone/>
            </a:pP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 panose="020F0502020204030204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 panose="020F05020202040302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4"/>
          <p:cNvSpPr txBox="1">
            <a:spLocks noGrp="1"/>
          </p:cNvSpPr>
          <p:nvPr>
            <p:ph type="title"/>
          </p:nvPr>
        </p:nvSpPr>
        <p:spPr>
          <a:xfrm>
            <a:off x="722313" y="3305175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4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2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4" name="Google Shape;44;p25"/>
          <p:cNvSpPr txBox="1">
            <a:spLocks noGrp="1"/>
          </p:cNvSpPr>
          <p:nvPr>
            <p:ph type="body" idx="2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5" name="Google Shape;45;p2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6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51" name="Google Shape;51;p26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2" name="Google Shape;52;p26"/>
          <p:cNvSpPr txBox="1">
            <a:spLocks noGrp="1"/>
          </p:cNvSpPr>
          <p:nvPr>
            <p:ph type="body" idx="3"/>
          </p:nvPr>
        </p:nvSpPr>
        <p:spPr>
          <a:xfrm>
            <a:off x="4645025" y="1151335"/>
            <a:ext cx="40419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53" name="Google Shape;53;p26"/>
          <p:cNvSpPr txBox="1">
            <a:spLocks noGrp="1"/>
          </p:cNvSpPr>
          <p:nvPr>
            <p:ph type="body" idx="4"/>
          </p:nvPr>
        </p:nvSpPr>
        <p:spPr>
          <a:xfrm>
            <a:off x="4645025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4" name="Google Shape;54;p2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9"/>
          <p:cNvSpPr txBox="1">
            <a:spLocks noGrp="1"/>
          </p:cNvSpPr>
          <p:nvPr>
            <p:ph type="title"/>
          </p:nvPr>
        </p:nvSpPr>
        <p:spPr>
          <a:xfrm>
            <a:off x="457200" y="204788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9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9" name="Google Shape;69;p29"/>
          <p:cNvSpPr txBox="1">
            <a:spLocks noGrp="1"/>
          </p:cNvSpPr>
          <p:nvPr>
            <p:ph type="body" idx="2"/>
          </p:nvPr>
        </p:nvSpPr>
        <p:spPr>
          <a:xfrm>
            <a:off x="457200" y="1076325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0" name="Google Shape;70;p2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0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0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30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7" name="Google Shape;77;p3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1"/>
          <p:cNvSpPr txBox="1">
            <a:spLocks noGrp="1"/>
          </p:cNvSpPr>
          <p:nvPr>
            <p:ph type="body" idx="1"/>
          </p:nvPr>
        </p:nvSpPr>
        <p:spPr>
          <a:xfrm rot="5400000">
            <a:off x="2874750" y="-1217400"/>
            <a:ext cx="33945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3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2"/>
          <p:cNvSpPr txBox="1">
            <a:spLocks noGrp="1"/>
          </p:cNvSpPr>
          <p:nvPr>
            <p:ph type="title"/>
          </p:nvPr>
        </p:nvSpPr>
        <p:spPr>
          <a:xfrm rot="5400000">
            <a:off x="5463750" y="1371628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2"/>
          <p:cNvSpPr txBox="1">
            <a:spLocks noGrp="1"/>
          </p:cNvSpPr>
          <p:nvPr>
            <p:ph type="body" idx="1"/>
          </p:nvPr>
        </p:nvSpPr>
        <p:spPr>
          <a:xfrm rot="5400000">
            <a:off x="1272750" y="-609572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3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1_1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432b8366c7_0_19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bg>
      <p:bgPr>
        <a:solidFill>
          <a:schemeClr val="lt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432b8366c7_0_19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9pPr>
          </a:lstStyle>
          <a:p/>
        </p:txBody>
      </p:sp>
      <p:sp>
        <p:nvSpPr>
          <p:cNvPr id="102" name="Google Shape;102;g1432b8366c7_0_19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103" name="Google Shape;103;g1432b8366c7_0_19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432b8366c7_0_20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06" name="Google Shape;106;g1432b8366c7_0_20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400"/>
            </a:lvl1pPr>
            <a:lvl2pPr marL="914400" lvl="1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○"/>
              <a:defRPr sz="1200"/>
            </a:lvl2pPr>
            <a:lvl3pPr marL="1371600" lvl="2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 sz="1200"/>
            </a:lvl3pPr>
            <a:lvl4pPr marL="1828800" lvl="3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●"/>
              <a:defRPr sz="1200"/>
            </a:lvl4pPr>
            <a:lvl5pPr marL="2286000" lvl="4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○"/>
              <a:defRPr sz="1200"/>
            </a:lvl5pPr>
            <a:lvl6pPr marL="2743200" lvl="5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 sz="1200"/>
            </a:lvl6pPr>
            <a:lvl7pPr marL="3200400" lvl="6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●"/>
              <a:defRPr sz="1200"/>
            </a:lvl7pPr>
            <a:lvl8pPr marL="3657600" lvl="7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○"/>
              <a:defRPr sz="1200"/>
            </a:lvl8pPr>
            <a:lvl9pPr marL="4114800" lvl="8" indent="-2857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900"/>
              <a:buChar char="■"/>
              <a:defRPr sz="1200"/>
            </a:lvl9pPr>
          </a:lstStyle>
          <a:p/>
        </p:txBody>
      </p:sp>
      <p:sp>
        <p:nvSpPr>
          <p:cNvPr id="107" name="Google Shape;107;g1432b8366c7_0_20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400"/>
            </a:lvl1pPr>
            <a:lvl2pPr marL="914400" lvl="1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○"/>
              <a:defRPr sz="1200"/>
            </a:lvl2pPr>
            <a:lvl3pPr marL="1371600" lvl="2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 sz="1200"/>
            </a:lvl3pPr>
            <a:lvl4pPr marL="1828800" lvl="3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●"/>
              <a:defRPr sz="1200"/>
            </a:lvl4pPr>
            <a:lvl5pPr marL="2286000" lvl="4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○"/>
              <a:defRPr sz="1200"/>
            </a:lvl5pPr>
            <a:lvl6pPr marL="2743200" lvl="5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 sz="1200"/>
            </a:lvl6pPr>
            <a:lvl7pPr marL="3200400" lvl="6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●"/>
              <a:defRPr sz="1200"/>
            </a:lvl7pPr>
            <a:lvl8pPr marL="3657600" lvl="7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○"/>
              <a:defRPr sz="1200"/>
            </a:lvl8pPr>
            <a:lvl9pPr marL="4114800" lvl="8" indent="-2857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900"/>
              <a:buChar char="■"/>
              <a:defRPr sz="1200"/>
            </a:lvl9pPr>
          </a:lstStyle>
          <a:p/>
        </p:txBody>
      </p:sp>
      <p:sp>
        <p:nvSpPr>
          <p:cNvPr id="108" name="Google Shape;108;g1432b8366c7_0_20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432b8366c7_0_20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11" name="Google Shape;111;g1432b8366c7_0_20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432b8366c7_0_21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/>
        </p:txBody>
      </p:sp>
      <p:sp>
        <p:nvSpPr>
          <p:cNvPr id="114" name="Google Shape;114;g1432b8366c7_0_21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200"/>
            </a:lvl1pPr>
            <a:lvl2pPr marL="914400" lvl="1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○"/>
              <a:defRPr sz="1200"/>
            </a:lvl2pPr>
            <a:lvl3pPr marL="1371600" lvl="2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 sz="1200"/>
            </a:lvl3pPr>
            <a:lvl4pPr marL="1828800" lvl="3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●"/>
              <a:defRPr sz="1200"/>
            </a:lvl4pPr>
            <a:lvl5pPr marL="2286000" lvl="4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○"/>
              <a:defRPr sz="1200"/>
            </a:lvl5pPr>
            <a:lvl6pPr marL="2743200" lvl="5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 sz="1200"/>
            </a:lvl6pPr>
            <a:lvl7pPr marL="3200400" lvl="6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●"/>
              <a:defRPr sz="1200"/>
            </a:lvl7pPr>
            <a:lvl8pPr marL="3657600" lvl="7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○"/>
              <a:defRPr sz="1200"/>
            </a:lvl8pPr>
            <a:lvl9pPr marL="4114800" lvl="8" indent="-2857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900"/>
              <a:buChar char="■"/>
              <a:defRPr sz="1200"/>
            </a:lvl9pPr>
          </a:lstStyle>
          <a:p/>
        </p:txBody>
      </p:sp>
      <p:sp>
        <p:nvSpPr>
          <p:cNvPr id="115" name="Google Shape;115;g1432b8366c7_0_2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432b8366c7_0_21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/>
        </p:txBody>
      </p:sp>
      <p:sp>
        <p:nvSpPr>
          <p:cNvPr id="118" name="Google Shape;118;g1432b8366c7_0_2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432b8366c7_0_2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1" name="Google Shape;121;g1432b8366c7_0_2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00"/>
            </a:lvl9pPr>
          </a:lstStyle>
          <a:p/>
        </p:txBody>
      </p:sp>
      <p:sp>
        <p:nvSpPr>
          <p:cNvPr id="122" name="Google Shape;122;g1432b8366c7_0_2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9pPr>
          </a:lstStyle>
          <a:p/>
        </p:txBody>
      </p:sp>
      <p:sp>
        <p:nvSpPr>
          <p:cNvPr id="123" name="Google Shape;123;g1432b8366c7_0_2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4" name="Google Shape;124;g1432b8366c7_0_2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432b8366c7_0_22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g1432b8366c7_0_2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432b8366c7_0_226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9pPr>
          </a:lstStyle>
          <a:p/>
        </p:txBody>
      </p:sp>
      <p:sp>
        <p:nvSpPr>
          <p:cNvPr id="130" name="Google Shape;130;g1432b8366c7_0_22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29845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1" name="Google Shape;131;g1432b8366c7_0_2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1_Section Header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3" name="Google Shape;133;g1432b8366c7_0_230"/>
          <p:cNvCxnSpPr/>
          <p:nvPr/>
        </p:nvCxnSpPr>
        <p:spPr>
          <a:xfrm>
            <a:off x="514350" y="2583676"/>
            <a:ext cx="8629500" cy="1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4" name="Google Shape;134;g1432b8366c7_0_230"/>
          <p:cNvSpPr txBox="1">
            <a:spLocks noGrp="1"/>
          </p:cNvSpPr>
          <p:nvPr>
            <p:ph type="body" idx="1"/>
          </p:nvPr>
        </p:nvSpPr>
        <p:spPr>
          <a:xfrm>
            <a:off x="381000" y="1257300"/>
            <a:ext cx="8458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r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None/>
              <a:defRPr sz="2000" b="0" i="0" u="none" strike="noStrike" cap="none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None/>
              <a:defRPr sz="1800" b="0" i="0" u="none" strike="noStrike" cap="none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None/>
              <a:defRPr sz="1600" b="0" i="0" u="none" strike="noStrike" cap="none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Noto Sans Symbols"/>
              <a:buNone/>
              <a:defRPr sz="1400" b="0" i="0" u="none" strike="noStrike" cap="none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Symbols"/>
              <a:buNone/>
              <a:defRPr sz="1400" b="0" i="0" u="none" strike="noStrike" cap="none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5pPr>
            <a:lvl6pPr marL="2743200" marR="0" lvl="5" indent="-2794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+"/>
              <a:defRPr sz="1800" b="0" i="0" u="none" strike="noStrike" cap="none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6pPr>
            <a:lvl7pPr marL="3200400" marR="0" lvl="6" indent="-2730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Noto Sans Symbols"/>
              <a:buChar char="✱"/>
              <a:defRPr sz="1600" b="0" i="0" u="none" strike="noStrike" cap="none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7pPr>
            <a:lvl8pPr marL="3657600" marR="0" lvl="7" indent="-2730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Noto Sans Symbols"/>
              <a:buChar char="◆"/>
              <a:defRPr sz="1600" b="0" i="0" u="none" strike="noStrike" cap="none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8pPr>
            <a:lvl9pPr marL="4114800" marR="0" lvl="8" indent="-2667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600"/>
              <a:buFont typeface="Noto Sans Symbols"/>
              <a:buChar char="◼"/>
              <a:defRPr sz="1400" b="0" i="0" u="none" strike="noStrike" cap="none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9pPr>
          </a:lstStyle>
          <a:p/>
        </p:txBody>
      </p:sp>
      <p:sp>
        <p:nvSpPr>
          <p:cNvPr id="135" name="Google Shape;135;g1432b8366c7_0_230"/>
          <p:cNvSpPr txBox="1">
            <a:spLocks noGrp="1"/>
          </p:cNvSpPr>
          <p:nvPr>
            <p:ph type="dt" idx="10"/>
          </p:nvPr>
        </p:nvSpPr>
        <p:spPr>
          <a:xfrm>
            <a:off x="6477000" y="57150"/>
            <a:ext cx="2514600" cy="2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200" b="0" i="0" u="none" strike="noStrike" cap="none">
                <a:solidFill>
                  <a:srgbClr val="D28E28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9pPr>
          </a:lstStyle>
          <a:p/>
        </p:txBody>
      </p:sp>
      <p:sp>
        <p:nvSpPr>
          <p:cNvPr id="136" name="Google Shape;136;g1432b8366c7_0_230"/>
          <p:cNvSpPr txBox="1">
            <a:spLocks noGrp="1"/>
          </p:cNvSpPr>
          <p:nvPr>
            <p:ph type="ftr" idx="11"/>
          </p:nvPr>
        </p:nvSpPr>
        <p:spPr>
          <a:xfrm>
            <a:off x="3124200" y="57150"/>
            <a:ext cx="3352800" cy="2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200" b="0" i="0" u="none" strike="noStrike" cap="none">
                <a:solidFill>
                  <a:srgbClr val="D28E28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9pPr>
          </a:lstStyle>
          <a:p/>
        </p:txBody>
      </p:sp>
      <p:sp>
        <p:nvSpPr>
          <p:cNvPr id="137" name="Google Shape;137;g1432b8366c7_0_230"/>
          <p:cNvSpPr txBox="1">
            <a:spLocks noGrp="1"/>
          </p:cNvSpPr>
          <p:nvPr>
            <p:ph type="sldNum" idx="12"/>
          </p:nvPr>
        </p:nvSpPr>
        <p:spPr>
          <a:xfrm>
            <a:off x="8229600" y="4857750"/>
            <a:ext cx="762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D28E28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D28E28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D28E28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D28E28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D28E28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D28E28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D28E28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D28E28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D28E28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38" name="Google Shape;138;g1432b8366c7_0_230"/>
          <p:cNvSpPr txBox="1">
            <a:spLocks noGrp="1"/>
          </p:cNvSpPr>
          <p:nvPr>
            <p:ph type="title"/>
          </p:nvPr>
        </p:nvSpPr>
        <p:spPr>
          <a:xfrm>
            <a:off x="180475" y="2210314"/>
            <a:ext cx="8686800" cy="8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Source Sans Pro" panose="020B0503030403020204"/>
              <a:buNone/>
              <a:defRPr sz="3600" b="0" i="0" u="none" strike="noStrike" cap="none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9pPr>
          </a:lstStyle>
          <a:p/>
        </p:txBody>
      </p:sp>
      <p:pic>
        <p:nvPicPr>
          <p:cNvPr id="139" name="Google Shape;139;g1432b8366c7_0_23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1" y="4693406"/>
            <a:ext cx="6858000" cy="478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g1432b8366c7_0_230" descr="Image result for ethnus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226851" y="1"/>
            <a:ext cx="687864" cy="6878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432b8366c7_0_239"/>
          <p:cNvSpPr txBox="1">
            <a:spLocks noGrp="1"/>
          </p:cNvSpPr>
          <p:nvPr>
            <p:ph type="title"/>
          </p:nvPr>
        </p:nvSpPr>
        <p:spPr>
          <a:xfrm>
            <a:off x="304800" y="342900"/>
            <a:ext cx="8686800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Source Sans Pro" panose="020B0503030403020204"/>
              <a:buNone/>
              <a:defRPr sz="3600" b="0" i="0" u="none" strike="noStrike" cap="none">
                <a:solidFill>
                  <a:schemeClr val="dk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9pPr>
          </a:lstStyle>
          <a:p/>
        </p:txBody>
      </p:sp>
      <p:sp>
        <p:nvSpPr>
          <p:cNvPr id="143" name="Google Shape;143;g1432b8366c7_0_239"/>
          <p:cNvSpPr txBox="1">
            <a:spLocks noGrp="1"/>
          </p:cNvSpPr>
          <p:nvPr>
            <p:ph type="body" idx="1"/>
          </p:nvPr>
        </p:nvSpPr>
        <p:spPr>
          <a:xfrm>
            <a:off x="304800" y="1165622"/>
            <a:ext cx="86868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365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oto Sans Symbols"/>
              <a:buChar char="✕"/>
              <a:defRPr sz="3200" b="0" i="0" u="none" strike="noStrike" cap="none">
                <a:solidFill>
                  <a:schemeClr val="dk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1pPr>
            <a:lvl2pPr marL="914400" marR="0" lvl="1" indent="-3238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+"/>
              <a:defRPr sz="2800" b="0" i="0" u="none" strike="noStrike" cap="none">
                <a:solidFill>
                  <a:schemeClr val="dk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2pPr>
            <a:lvl3pPr marL="1371600" marR="0" lvl="2" indent="-3111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Noto Sans Symbols"/>
              <a:buChar char="✕"/>
              <a:defRPr sz="2400" b="0" i="0" u="none" strike="noStrike" cap="none">
                <a:solidFill>
                  <a:schemeClr val="dk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✱"/>
              <a:defRPr sz="2000" b="0" i="0" u="none" strike="noStrike" cap="none">
                <a:solidFill>
                  <a:schemeClr val="dk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4pPr>
            <a:lvl5pPr marL="2286000" marR="0" lvl="4" indent="-2794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✕"/>
              <a:defRPr sz="1800" b="0" i="0" u="none" strike="noStrike" cap="none">
                <a:solidFill>
                  <a:schemeClr val="dk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5pPr>
            <a:lvl6pPr marL="2743200" marR="0" lvl="5" indent="-2794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+"/>
              <a:defRPr sz="1800" b="0" i="0" u="none" strike="noStrike" cap="none">
                <a:solidFill>
                  <a:schemeClr val="dk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6pPr>
            <a:lvl7pPr marL="3200400" marR="0" lvl="6" indent="-2730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✱"/>
              <a:defRPr sz="1600" b="0" i="0" u="none" strike="noStrike" cap="none">
                <a:solidFill>
                  <a:schemeClr val="dk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7pPr>
            <a:lvl8pPr marL="3657600" marR="0" lvl="7" indent="-2730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◆"/>
              <a:defRPr sz="1600" b="0" i="0" u="none" strike="noStrike" cap="none">
                <a:solidFill>
                  <a:schemeClr val="dk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8pPr>
            <a:lvl9pPr marL="4114800" marR="0" lvl="8" indent="-2667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6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9pPr>
          </a:lstStyle>
          <a:p/>
        </p:txBody>
      </p:sp>
      <p:sp>
        <p:nvSpPr>
          <p:cNvPr id="144" name="Google Shape;144;g1432b8366c7_0_239"/>
          <p:cNvSpPr txBox="1">
            <a:spLocks noGrp="1"/>
          </p:cNvSpPr>
          <p:nvPr>
            <p:ph type="dt" idx="10"/>
          </p:nvPr>
        </p:nvSpPr>
        <p:spPr>
          <a:xfrm>
            <a:off x="6477000" y="57150"/>
            <a:ext cx="2514600" cy="2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200" b="0" i="0" u="none" strike="noStrike" cap="none">
                <a:solidFill>
                  <a:srgbClr val="D28E28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9pPr>
          </a:lstStyle>
          <a:p/>
        </p:txBody>
      </p:sp>
      <p:sp>
        <p:nvSpPr>
          <p:cNvPr id="145" name="Google Shape;145;g1432b8366c7_0_239"/>
          <p:cNvSpPr txBox="1">
            <a:spLocks noGrp="1"/>
          </p:cNvSpPr>
          <p:nvPr>
            <p:ph type="ftr" idx="11"/>
          </p:nvPr>
        </p:nvSpPr>
        <p:spPr>
          <a:xfrm>
            <a:off x="3581400" y="57150"/>
            <a:ext cx="2895600" cy="2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200" b="0" i="0" u="none" strike="noStrike" cap="none">
                <a:solidFill>
                  <a:srgbClr val="D28E28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9pPr>
          </a:lstStyle>
          <a:p/>
        </p:txBody>
      </p:sp>
      <p:sp>
        <p:nvSpPr>
          <p:cNvPr id="146" name="Google Shape;146;g1432b8366c7_0_239"/>
          <p:cNvSpPr txBox="1">
            <a:spLocks noGrp="1"/>
          </p:cNvSpPr>
          <p:nvPr>
            <p:ph type="sldNum" idx="12"/>
          </p:nvPr>
        </p:nvSpPr>
        <p:spPr>
          <a:xfrm>
            <a:off x="8229600" y="4855464"/>
            <a:ext cx="759000" cy="1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D28E28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D28E28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D28E28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D28E28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D28E28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D28E28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D28E28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D28E28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D28E28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 Slide">
  <p:cSld name="BLANK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Slide">
  <p:cSld name="TITLE_AND_BODY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432b8366c7_0_252"/>
          <p:cNvSpPr txBox="1">
            <a:spLocks noGrp="1"/>
          </p:cNvSpPr>
          <p:nvPr>
            <p:ph type="title"/>
          </p:nvPr>
        </p:nvSpPr>
        <p:spPr>
          <a:xfrm>
            <a:off x="311530" y="444747"/>
            <a:ext cx="8519400" cy="5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56" name="Google Shape;156;g1432b8366c7_0_252"/>
          <p:cNvSpPr txBox="1">
            <a:spLocks noGrp="1"/>
          </p:cNvSpPr>
          <p:nvPr>
            <p:ph type="subTitle" idx="1"/>
          </p:nvPr>
        </p:nvSpPr>
        <p:spPr>
          <a:xfrm>
            <a:off x="311530" y="1152032"/>
            <a:ext cx="8519400" cy="34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, Content">
  <p:cSld name="OBJECT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432b8366c7_0_255"/>
          <p:cNvSpPr txBox="1">
            <a:spLocks noGrp="1"/>
          </p:cNvSpPr>
          <p:nvPr>
            <p:ph type="title"/>
          </p:nvPr>
        </p:nvSpPr>
        <p:spPr>
          <a:xfrm>
            <a:off x="311530" y="444747"/>
            <a:ext cx="8519400" cy="5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59" name="Google Shape;159;g1432b8366c7_0_255"/>
          <p:cNvSpPr txBox="1">
            <a:spLocks noGrp="1"/>
          </p:cNvSpPr>
          <p:nvPr>
            <p:ph type="body" idx="1"/>
          </p:nvPr>
        </p:nvSpPr>
        <p:spPr>
          <a:xfrm>
            <a:off x="311530" y="1152032"/>
            <a:ext cx="8519400" cy="34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itle, 2 Content">
  <p:cSld name="TWO_OBJECTS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432b8366c7_0_258"/>
          <p:cNvSpPr txBox="1">
            <a:spLocks noGrp="1"/>
          </p:cNvSpPr>
          <p:nvPr>
            <p:ph type="title"/>
          </p:nvPr>
        </p:nvSpPr>
        <p:spPr>
          <a:xfrm>
            <a:off x="311530" y="444747"/>
            <a:ext cx="8519400" cy="5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62" name="Google Shape;162;g1432b8366c7_0_258"/>
          <p:cNvSpPr txBox="1">
            <a:spLocks noGrp="1"/>
          </p:cNvSpPr>
          <p:nvPr>
            <p:ph type="body" idx="1"/>
          </p:nvPr>
        </p:nvSpPr>
        <p:spPr>
          <a:xfrm>
            <a:off x="311530" y="1152032"/>
            <a:ext cx="4157400" cy="34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63" name="Google Shape;163;g1432b8366c7_0_258"/>
          <p:cNvSpPr txBox="1">
            <a:spLocks noGrp="1"/>
          </p:cNvSpPr>
          <p:nvPr>
            <p:ph type="body" idx="2"/>
          </p:nvPr>
        </p:nvSpPr>
        <p:spPr>
          <a:xfrm>
            <a:off x="4677193" y="1152032"/>
            <a:ext cx="4157400" cy="34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432b8366c7_0_262"/>
          <p:cNvSpPr txBox="1">
            <a:spLocks noGrp="1"/>
          </p:cNvSpPr>
          <p:nvPr>
            <p:ph type="title"/>
          </p:nvPr>
        </p:nvSpPr>
        <p:spPr>
          <a:xfrm>
            <a:off x="311530" y="444747"/>
            <a:ext cx="8519400" cy="5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matchingName="Centered Text">
  <p:cSld name="OBJECT_ONLY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432b8366c7_0_264"/>
          <p:cNvSpPr txBox="1">
            <a:spLocks noGrp="1"/>
          </p:cNvSpPr>
          <p:nvPr>
            <p:ph type="subTitle" idx="1"/>
          </p:nvPr>
        </p:nvSpPr>
        <p:spPr>
          <a:xfrm>
            <a:off x="311530" y="444747"/>
            <a:ext cx="8519400" cy="26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matchingName="Title, 2 Content and Content">
  <p:cSld name="TWO_OBJECTS_AND_OBJECT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432b8366c7_0_266"/>
          <p:cNvSpPr txBox="1">
            <a:spLocks noGrp="1"/>
          </p:cNvSpPr>
          <p:nvPr>
            <p:ph type="title"/>
          </p:nvPr>
        </p:nvSpPr>
        <p:spPr>
          <a:xfrm>
            <a:off x="311530" y="444747"/>
            <a:ext cx="8519400" cy="5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70" name="Google Shape;170;g1432b8366c7_0_266"/>
          <p:cNvSpPr txBox="1">
            <a:spLocks noGrp="1"/>
          </p:cNvSpPr>
          <p:nvPr>
            <p:ph type="body" idx="1"/>
          </p:nvPr>
        </p:nvSpPr>
        <p:spPr>
          <a:xfrm>
            <a:off x="311530" y="1152032"/>
            <a:ext cx="4157400" cy="16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71" name="Google Shape;171;g1432b8366c7_0_266"/>
          <p:cNvSpPr txBox="1">
            <a:spLocks noGrp="1"/>
          </p:cNvSpPr>
          <p:nvPr>
            <p:ph type="body" idx="2"/>
          </p:nvPr>
        </p:nvSpPr>
        <p:spPr>
          <a:xfrm>
            <a:off x="4677193" y="1152032"/>
            <a:ext cx="4157400" cy="34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72" name="Google Shape;172;g1432b8366c7_0_266"/>
          <p:cNvSpPr txBox="1">
            <a:spLocks noGrp="1"/>
          </p:cNvSpPr>
          <p:nvPr>
            <p:ph type="body" idx="3"/>
          </p:nvPr>
        </p:nvSpPr>
        <p:spPr>
          <a:xfrm>
            <a:off x="311530" y="2935919"/>
            <a:ext cx="4157400" cy="16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matchingName="Title Content and 2 Content">
  <p:cSld name="OBJECT_AND_TWO_OBJECTS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432b8366c7_0_271"/>
          <p:cNvSpPr txBox="1">
            <a:spLocks noGrp="1"/>
          </p:cNvSpPr>
          <p:nvPr>
            <p:ph type="title"/>
          </p:nvPr>
        </p:nvSpPr>
        <p:spPr>
          <a:xfrm>
            <a:off x="311530" y="444747"/>
            <a:ext cx="8519400" cy="5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75" name="Google Shape;175;g1432b8366c7_0_271"/>
          <p:cNvSpPr txBox="1">
            <a:spLocks noGrp="1"/>
          </p:cNvSpPr>
          <p:nvPr>
            <p:ph type="body" idx="1"/>
          </p:nvPr>
        </p:nvSpPr>
        <p:spPr>
          <a:xfrm>
            <a:off x="311530" y="1152032"/>
            <a:ext cx="4157400" cy="34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76" name="Google Shape;176;g1432b8366c7_0_271"/>
          <p:cNvSpPr txBox="1">
            <a:spLocks noGrp="1"/>
          </p:cNvSpPr>
          <p:nvPr>
            <p:ph type="body" idx="2"/>
          </p:nvPr>
        </p:nvSpPr>
        <p:spPr>
          <a:xfrm>
            <a:off x="4677193" y="1152032"/>
            <a:ext cx="4157400" cy="16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77" name="Google Shape;177;g1432b8366c7_0_271"/>
          <p:cNvSpPr txBox="1">
            <a:spLocks noGrp="1"/>
          </p:cNvSpPr>
          <p:nvPr>
            <p:ph type="body" idx="3"/>
          </p:nvPr>
        </p:nvSpPr>
        <p:spPr>
          <a:xfrm>
            <a:off x="4677193" y="2935919"/>
            <a:ext cx="4157400" cy="16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matchingName="Title, 2 Content over Content">
  <p:cSld name="TWO_OBJECTS_OVER_TEXT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432b8366c7_0_276"/>
          <p:cNvSpPr txBox="1">
            <a:spLocks noGrp="1"/>
          </p:cNvSpPr>
          <p:nvPr>
            <p:ph type="title"/>
          </p:nvPr>
        </p:nvSpPr>
        <p:spPr>
          <a:xfrm>
            <a:off x="311530" y="444747"/>
            <a:ext cx="8519400" cy="5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80" name="Google Shape;180;g1432b8366c7_0_276"/>
          <p:cNvSpPr txBox="1">
            <a:spLocks noGrp="1"/>
          </p:cNvSpPr>
          <p:nvPr>
            <p:ph type="body" idx="1"/>
          </p:nvPr>
        </p:nvSpPr>
        <p:spPr>
          <a:xfrm>
            <a:off x="311530" y="1152032"/>
            <a:ext cx="4157400" cy="16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81" name="Google Shape;181;g1432b8366c7_0_276"/>
          <p:cNvSpPr txBox="1">
            <a:spLocks noGrp="1"/>
          </p:cNvSpPr>
          <p:nvPr>
            <p:ph type="body" idx="2"/>
          </p:nvPr>
        </p:nvSpPr>
        <p:spPr>
          <a:xfrm>
            <a:off x="4677193" y="1152032"/>
            <a:ext cx="4157400" cy="16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82" name="Google Shape;182;g1432b8366c7_0_276"/>
          <p:cNvSpPr txBox="1">
            <a:spLocks noGrp="1"/>
          </p:cNvSpPr>
          <p:nvPr>
            <p:ph type="body" idx="3"/>
          </p:nvPr>
        </p:nvSpPr>
        <p:spPr>
          <a:xfrm>
            <a:off x="311530" y="2935919"/>
            <a:ext cx="8519400" cy="16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matchingName="Title, Content over Content">
  <p:cSld name="OBJECT_OVER_TEXT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432b8366c7_0_281"/>
          <p:cNvSpPr txBox="1">
            <a:spLocks noGrp="1"/>
          </p:cNvSpPr>
          <p:nvPr>
            <p:ph type="title"/>
          </p:nvPr>
        </p:nvSpPr>
        <p:spPr>
          <a:xfrm>
            <a:off x="311530" y="444747"/>
            <a:ext cx="8519400" cy="5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85" name="Google Shape;185;g1432b8366c7_0_281"/>
          <p:cNvSpPr txBox="1">
            <a:spLocks noGrp="1"/>
          </p:cNvSpPr>
          <p:nvPr>
            <p:ph type="body" idx="1"/>
          </p:nvPr>
        </p:nvSpPr>
        <p:spPr>
          <a:xfrm>
            <a:off x="311530" y="1152032"/>
            <a:ext cx="8519400" cy="16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86" name="Google Shape;186;g1432b8366c7_0_281"/>
          <p:cNvSpPr txBox="1">
            <a:spLocks noGrp="1"/>
          </p:cNvSpPr>
          <p:nvPr>
            <p:ph type="body" idx="2"/>
          </p:nvPr>
        </p:nvSpPr>
        <p:spPr>
          <a:xfrm>
            <a:off x="311530" y="2935919"/>
            <a:ext cx="8519400" cy="16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matchingName="Title, 4 Content">
  <p:cSld name="FOUR_OBJECTS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432b8366c7_0_285"/>
          <p:cNvSpPr txBox="1">
            <a:spLocks noGrp="1"/>
          </p:cNvSpPr>
          <p:nvPr>
            <p:ph type="title"/>
          </p:nvPr>
        </p:nvSpPr>
        <p:spPr>
          <a:xfrm>
            <a:off x="311530" y="444747"/>
            <a:ext cx="8519400" cy="5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89" name="Google Shape;189;g1432b8366c7_0_285"/>
          <p:cNvSpPr txBox="1">
            <a:spLocks noGrp="1"/>
          </p:cNvSpPr>
          <p:nvPr>
            <p:ph type="body" idx="1"/>
          </p:nvPr>
        </p:nvSpPr>
        <p:spPr>
          <a:xfrm>
            <a:off x="311530" y="1152032"/>
            <a:ext cx="4157400" cy="16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90" name="Google Shape;190;g1432b8366c7_0_285"/>
          <p:cNvSpPr txBox="1">
            <a:spLocks noGrp="1"/>
          </p:cNvSpPr>
          <p:nvPr>
            <p:ph type="body" idx="2"/>
          </p:nvPr>
        </p:nvSpPr>
        <p:spPr>
          <a:xfrm>
            <a:off x="4677193" y="1152032"/>
            <a:ext cx="4157400" cy="16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91" name="Google Shape;191;g1432b8366c7_0_285"/>
          <p:cNvSpPr txBox="1">
            <a:spLocks noGrp="1"/>
          </p:cNvSpPr>
          <p:nvPr>
            <p:ph type="body" idx="3"/>
          </p:nvPr>
        </p:nvSpPr>
        <p:spPr>
          <a:xfrm>
            <a:off x="311530" y="2935919"/>
            <a:ext cx="4157400" cy="16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92" name="Google Shape;192;g1432b8366c7_0_285"/>
          <p:cNvSpPr txBox="1">
            <a:spLocks noGrp="1"/>
          </p:cNvSpPr>
          <p:nvPr>
            <p:ph type="body" idx="4"/>
          </p:nvPr>
        </p:nvSpPr>
        <p:spPr>
          <a:xfrm>
            <a:off x="4677193" y="2935919"/>
            <a:ext cx="4157400" cy="16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432b8366c7_0_291"/>
          <p:cNvSpPr txBox="1">
            <a:spLocks noGrp="1"/>
          </p:cNvSpPr>
          <p:nvPr>
            <p:ph type="title"/>
          </p:nvPr>
        </p:nvSpPr>
        <p:spPr>
          <a:xfrm>
            <a:off x="311530" y="444747"/>
            <a:ext cx="8519400" cy="5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95" name="Google Shape;195;g1432b8366c7_0_291"/>
          <p:cNvSpPr txBox="1">
            <a:spLocks noGrp="1"/>
          </p:cNvSpPr>
          <p:nvPr>
            <p:ph type="body" idx="1"/>
          </p:nvPr>
        </p:nvSpPr>
        <p:spPr>
          <a:xfrm>
            <a:off x="311530" y="1152032"/>
            <a:ext cx="2742900" cy="16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96" name="Google Shape;196;g1432b8366c7_0_291"/>
          <p:cNvSpPr txBox="1">
            <a:spLocks noGrp="1"/>
          </p:cNvSpPr>
          <p:nvPr>
            <p:ph type="body" idx="2"/>
          </p:nvPr>
        </p:nvSpPr>
        <p:spPr>
          <a:xfrm>
            <a:off x="3192038" y="1152032"/>
            <a:ext cx="2742900" cy="16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97" name="Google Shape;197;g1432b8366c7_0_291"/>
          <p:cNvSpPr txBox="1">
            <a:spLocks noGrp="1"/>
          </p:cNvSpPr>
          <p:nvPr>
            <p:ph type="body" idx="3"/>
          </p:nvPr>
        </p:nvSpPr>
        <p:spPr>
          <a:xfrm>
            <a:off x="6072546" y="1152032"/>
            <a:ext cx="2742900" cy="16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98" name="Google Shape;198;g1432b8366c7_0_291"/>
          <p:cNvSpPr txBox="1">
            <a:spLocks noGrp="1"/>
          </p:cNvSpPr>
          <p:nvPr>
            <p:ph type="body" idx="4"/>
          </p:nvPr>
        </p:nvSpPr>
        <p:spPr>
          <a:xfrm>
            <a:off x="311530" y="2935919"/>
            <a:ext cx="2742900" cy="16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99" name="Google Shape;199;g1432b8366c7_0_291"/>
          <p:cNvSpPr txBox="1">
            <a:spLocks noGrp="1"/>
          </p:cNvSpPr>
          <p:nvPr>
            <p:ph type="body" idx="5"/>
          </p:nvPr>
        </p:nvSpPr>
        <p:spPr>
          <a:xfrm>
            <a:off x="3192038" y="2935919"/>
            <a:ext cx="2742900" cy="16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00" name="Google Shape;200;g1432b8366c7_0_291"/>
          <p:cNvSpPr txBox="1">
            <a:spLocks noGrp="1"/>
          </p:cNvSpPr>
          <p:nvPr>
            <p:ph type="body" idx="6"/>
          </p:nvPr>
        </p:nvSpPr>
        <p:spPr>
          <a:xfrm>
            <a:off x="6072546" y="2935919"/>
            <a:ext cx="2742900" cy="16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1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432b8366c7_0_29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" name="Google Shape;203;g1432b8366c7_0_29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4" name="Google Shape;204;g1432b8366c7_0_29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432b8366c7_0_30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1" name="Google Shape;211;g1432b8366c7_0_30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2" name="Google Shape;212;g1432b8366c7_0_30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432b8366c7_0_3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6" name="Google Shape;216;g1432b8366c7_0_3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432b8366c7_0_31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9" name="Google Shape;219;g1432b8366c7_0_3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432b8366c7_0_3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22" name="Google Shape;222;g1432b8366c7_0_31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23" name="Google Shape;223;g1432b8366c7_0_31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24" name="Google Shape;224;g1432b8366c7_0_31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5" name="Google Shape;225;g1432b8366c7_0_3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432b8366c7_0_32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228" name="Google Shape;228;g1432b8366c7_0_3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432b8366c7_0_327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31" name="Google Shape;231;g1432b8366c7_0_327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2" name="Google Shape;232;g1432b8366c7_0_3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">
  <p:cSld name="4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g1432b8366c7_0_331" descr="A close up of a logo&#10;&#10;Description generated with high confidence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876800" y="183600"/>
            <a:ext cx="766801" cy="766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g1432b8366c7_0_331" descr="A picture containing colorful, colored&#10;&#10;Description generated with very high confidence"/>
          <p:cNvPicPr preferRelativeResize="0"/>
          <p:nvPr/>
        </p:nvPicPr>
        <p:blipFill rotWithShape="1">
          <a:blip r:embed="rId3"/>
          <a:srcRect t="55602" b="37530"/>
          <a:stretch>
            <a:fillRect/>
          </a:stretch>
        </p:blipFill>
        <p:spPr>
          <a:xfrm>
            <a:off x="0" y="4849200"/>
            <a:ext cx="9144000" cy="2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1432b8366c7_0_331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endParaRPr sz="105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7" name="Google Shape;237;g1432b8366c7_0_331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endParaRPr sz="105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8" name="Google Shape;238;g1432b8366c7_0_331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endParaRPr sz="105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9" name="Google Shape;239;g1432b8366c7_0_331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 panose="020B0604020202020204"/>
              <a:buNone/>
            </a:pPr>
            <a:endParaRPr sz="105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432b8366c7_0_6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7" name="Google Shape;247;g1432b8366c7_0_6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8" name="Google Shape;248;g1432b8366c7_0_6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432b8366c7_0_64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1" name="Google Shape;251;g1432b8366c7_0_6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432b8366c7_0_6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4" name="Google Shape;254;g1432b8366c7_0_6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5" name="Google Shape;255;g1432b8366c7_0_64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6" name="Google Shape;256;g1432b8366c7_0_6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432b8366c7_0_6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9" name="Google Shape;259;g1432b8366c7_0_6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432b8366c7_0_65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2" name="Google Shape;262;g1432b8366c7_0_65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3" name="Google Shape;263;g1432b8366c7_0_6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432b8366c7_0_65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66" name="Google Shape;266;g1432b8366c7_0_6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432b8366c7_0_66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9" name="Google Shape;269;g1432b8366c7_0_66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0" name="Google Shape;270;g1432b8366c7_0_66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1" name="Google Shape;271;g1432b8366c7_0_66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2" name="Google Shape;272;g1432b8366c7_0_6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432b8366c7_0_66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275" name="Google Shape;275;g1432b8366c7_0_66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432b8366c7_0_67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78" name="Google Shape;278;g1432b8366c7_0_67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9" name="Google Shape;279;g1432b8366c7_0_67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432b8366c7_0_67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9.xml"/><Relationship Id="rId14" Type="http://schemas.openxmlformats.org/officeDocument/2006/relationships/theme" Target="../theme/theme3.xml"/><Relationship Id="rId13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7.xml"/><Relationship Id="rId1" Type="http://schemas.openxmlformats.org/officeDocument/2006/relationships/slideLayout" Target="../slideLayouts/slideLayout28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theme" Target="../theme/theme4.xml"/><Relationship Id="rId8" Type="http://schemas.openxmlformats.org/officeDocument/2006/relationships/slideLayout" Target="../slideLayouts/slideLayout48.xml"/><Relationship Id="rId7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0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8.xml"/><Relationship Id="rId1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1" name="Google Shape;11;p1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1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1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1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432b8366c7_0_19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None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None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None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None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None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None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None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None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None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5" name="Google Shape;95;g1432b8366c7_0_19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6" name="Google Shape;96;g1432b8366c7_0_19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432b8366c7_0_245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49" name="Google Shape;149;g1432b8366c7_0_245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82287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50" name="Google Shape;150;g1432b8366c7_0_245"/>
          <p:cNvSpPr txBox="1">
            <a:spLocks noGrp="1"/>
          </p:cNvSpPr>
          <p:nvPr>
            <p:ph type="dt" idx="10"/>
          </p:nvPr>
        </p:nvSpPr>
        <p:spPr>
          <a:xfrm>
            <a:off x="457172" y="4685192"/>
            <a:ext cx="21300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51" name="Google Shape;151;g1432b8366c7_0_245"/>
          <p:cNvSpPr txBox="1">
            <a:spLocks noGrp="1"/>
          </p:cNvSpPr>
          <p:nvPr>
            <p:ph type="ftr" idx="11"/>
          </p:nvPr>
        </p:nvSpPr>
        <p:spPr>
          <a:xfrm>
            <a:off x="3127054" y="4685192"/>
            <a:ext cx="28980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52" name="Google Shape;152;g1432b8366c7_0_245"/>
          <p:cNvSpPr txBox="1">
            <a:spLocks noGrp="1"/>
          </p:cNvSpPr>
          <p:nvPr>
            <p:ph type="sldNum" idx="12"/>
          </p:nvPr>
        </p:nvSpPr>
        <p:spPr>
          <a:xfrm>
            <a:off x="6555842" y="4685192"/>
            <a:ext cx="21300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432b8366c7_0_30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207" name="Google Shape;207;g1432b8366c7_0_30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208" name="Google Shape;208;g1432b8366c7_0_30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432b8366c7_0_6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242" name="Google Shape;242;g1432b8366c7_0_6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243" name="Google Shape;243;g1432b8366c7_0_6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41.xml"/><Relationship Id="rId5" Type="http://schemas.openxmlformats.org/officeDocument/2006/relationships/image" Target="../media/image9.png"/><Relationship Id="rId4" Type="http://schemas.openxmlformats.org/officeDocument/2006/relationships/image" Target="../media/image6.png"/><Relationship Id="rId3" Type="http://schemas.openxmlformats.org/officeDocument/2006/relationships/hyperlink" Target="https://docs.google.com/forms/d/10hY3aSTNRHqoUFYTsfq_XTDR2vj4_7SwuJEC2NhEBDw/edit" TargetMode="Externa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8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40.xml"/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40.xml"/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40.xml"/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40.xml"/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40.xml"/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40.xml"/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41.xml"/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41.xml"/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41.xml"/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41.xml"/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41.xml"/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41.xml"/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41.xml"/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41.xml"/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41.xml"/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41.xml"/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png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hyperlink" Target="https://learn.codemithra.com/" TargetMode="Externa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2" Type="http://schemas.openxmlformats.org/officeDocument/2006/relationships/notesSlide" Target="../notesSlides/notesSlide20.xml"/><Relationship Id="rId11" Type="http://schemas.openxmlformats.org/officeDocument/2006/relationships/slideLayout" Target="../slideLayouts/slideLayout50.xml"/><Relationship Id="rId10" Type="http://schemas.openxmlformats.org/officeDocument/2006/relationships/image" Target="../media/image19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g1432b8366c7_0_16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41338" y="989719"/>
            <a:ext cx="2896560" cy="3516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g1432b8366c7_0_16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407735" y="2200420"/>
            <a:ext cx="3930264" cy="38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g1432b8366c7_0_169"/>
          <p:cNvSpPr/>
          <p:nvPr/>
        </p:nvSpPr>
        <p:spPr>
          <a:xfrm>
            <a:off x="7793325" y="0"/>
            <a:ext cx="1350600" cy="857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g1432b8366c7_0_182"/>
          <p:cNvPicPr preferRelativeResize="0"/>
          <p:nvPr/>
        </p:nvPicPr>
        <p:blipFill rotWithShape="1">
          <a:blip r:embed="rId1"/>
          <a:srcRect l="41241" t="9529" r="-23988" b="51127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g1432b8366c7_0_182"/>
          <p:cNvPicPr preferRelativeResize="0"/>
          <p:nvPr/>
        </p:nvPicPr>
        <p:blipFill rotWithShape="1">
          <a:blip r:embed="rId2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g1432b8366c7_0_182"/>
          <p:cNvPicPr preferRelativeResize="0"/>
          <p:nvPr/>
        </p:nvPicPr>
        <p:blipFill rotWithShape="1">
          <a:blip r:embed="rId1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g1432b8366c7_0_182"/>
          <p:cNvSpPr/>
          <p:nvPr/>
        </p:nvSpPr>
        <p:spPr>
          <a:xfrm>
            <a:off x="2147550" y="514550"/>
            <a:ext cx="4848900" cy="4122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</a:pPr>
            <a:r>
              <a:rPr lang="en-US" sz="1700" b="1">
                <a:solidFill>
                  <a:schemeClr val="dk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  </a:t>
            </a:r>
            <a:r>
              <a:rPr lang="en-US" sz="1700" b="1">
                <a:solidFill>
                  <a:schemeClr val="lt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TEST TIME ON CONDITIONAL STATEMENTS</a:t>
            </a:r>
            <a:endParaRPr sz="1700" b="1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97" name="Google Shape;297;g1432b8366c7_0_182"/>
          <p:cNvSpPr txBox="1">
            <a:spLocks noGrp="1"/>
          </p:cNvSpPr>
          <p:nvPr>
            <p:ph type="body" idx="1"/>
          </p:nvPr>
        </p:nvSpPr>
        <p:spPr>
          <a:xfrm>
            <a:off x="333625" y="1226900"/>
            <a:ext cx="6507600" cy="25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+mn-lt"/>
                <a:ea typeface="Open Sans" panose="020B0606030504020204"/>
                <a:cs typeface="Open Sans" panose="020B0606030504020204"/>
                <a:sym typeface="Open Sans" panose="020B0606030504020204"/>
              </a:rPr>
              <a:t>URL-</a:t>
            </a:r>
            <a:r>
              <a:rPr lang="en-US" sz="2000" u="sng" dirty="0">
                <a:solidFill>
                  <a:srgbClr val="FF0000"/>
                </a:solidFill>
                <a:latin typeface="+mn-lt"/>
                <a:hlinkClick r:id="rId3"/>
              </a:rPr>
              <a:t>https://docs.google.com/forms/d/10hY3aSTNRHqoUFYTsfq_XTDR2vj4_7SwuJEC2NhEBDw/edit</a:t>
            </a:r>
            <a:endParaRPr sz="2000" dirty="0">
              <a:solidFill>
                <a:srgbClr val="FF0000"/>
              </a:solidFill>
              <a:latin typeface="+mn-lt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+mn-lt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+mn-lt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+mn-lt"/>
                <a:ea typeface="Open Sans" panose="020B0606030504020204"/>
                <a:cs typeface="Open Sans" panose="020B0606030504020204"/>
                <a:sym typeface="Open Sans" panose="020B0606030504020204"/>
              </a:rPr>
              <a:t>QR code-  </a:t>
            </a:r>
            <a:endParaRPr sz="2000" dirty="0">
              <a:solidFill>
                <a:schemeClr val="dk1"/>
              </a:solidFill>
              <a:latin typeface="+mn-lt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+mn-lt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+mn-lt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4572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dk1"/>
              </a:solidFill>
              <a:latin typeface="+mn-lt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98" name="Google Shape;298;g1432b8366c7_0_182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686959" y="4853782"/>
            <a:ext cx="2340965" cy="225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g1432b8366c7_0_182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3031500" y="2571750"/>
            <a:ext cx="3333350" cy="1699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15B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432b8366c7_0_175"/>
          <p:cNvSpPr/>
          <p:nvPr/>
        </p:nvSpPr>
        <p:spPr>
          <a:xfrm>
            <a:off x="1518136" y="1597432"/>
            <a:ext cx="6105900" cy="19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82925" rIns="81625" bIns="82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3200" dirty="0">
              <a:solidFill>
                <a:srgbClr val="FFFFFF"/>
              </a:solidFill>
              <a:latin typeface="Arial" panose="020B0604020202020204" pitchFamily="34" charset="0"/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3200" dirty="0">
                <a:solidFill>
                  <a:srgbClr val="FFFFFF"/>
                </a:solidFill>
                <a:latin typeface="Arial" panose="020B0604020202020204" pitchFamily="34" charset="0"/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PROGRAMS ON </a:t>
            </a:r>
            <a:r>
              <a:rPr lang="en-US" sz="3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</a:t>
            </a:r>
            <a:r>
              <a:rPr lang="en-IN" altLang="en-US" sz="3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ONTROL STRUCTURES</a:t>
            </a:r>
            <a:endParaRPr sz="3200" dirty="0">
              <a:solidFill>
                <a:srgbClr val="FFFFFF"/>
              </a:solidFill>
              <a:latin typeface="Arial" panose="020B0604020202020204" pitchFamily="34" charset="0"/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3200" dirty="0">
              <a:solidFill>
                <a:srgbClr val="FFFFFF"/>
              </a:solidFill>
              <a:latin typeface="Arial" panose="020B0604020202020204" pitchFamily="34" charset="0"/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 panose="020B0604020202020204"/>
              <a:buNone/>
            </a:pPr>
            <a:endParaRPr sz="3200" dirty="0">
              <a:solidFill>
                <a:srgbClr val="FFFFFF"/>
              </a:solidFill>
              <a:latin typeface="Arial" panose="020B0604020202020204" pitchFamily="34" charset="0"/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</p:txBody>
      </p:sp>
      <p:pic>
        <p:nvPicPr>
          <p:cNvPr id="306" name="Google Shape;306;g1432b8366c7_0_17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177168" y="152168"/>
            <a:ext cx="813084" cy="993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g1432b8366c7_0_17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21134" y="536345"/>
            <a:ext cx="2340965" cy="225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g1432b8366c7_0_477"/>
          <p:cNvPicPr preferRelativeResize="0"/>
          <p:nvPr/>
        </p:nvPicPr>
        <p:blipFill rotWithShape="1">
          <a:blip r:embed="rId1"/>
          <a:srcRect l="41241" t="9529" r="-23988" b="51127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g1432b8366c7_0_477"/>
          <p:cNvPicPr preferRelativeResize="0"/>
          <p:nvPr/>
        </p:nvPicPr>
        <p:blipFill rotWithShape="1">
          <a:blip r:embed="rId2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58495" y="1660843"/>
            <a:ext cx="8196580" cy="19697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22" tIns="0" rIns="9522" bIns="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1600">
                <a:solidFill>
                  <a:srgbClr val="000000"/>
                </a:solidFill>
                <a:cs typeface="Arial" panose="020B0604020202020204" pitchFamily="34" charset="0"/>
                <a:sym typeface="+mn-ea"/>
              </a:rPr>
              <a:t>HCF of two numbers in Java</a:t>
            </a:r>
            <a:endParaRPr lang="en-US" sz="1600">
              <a:solidFill>
                <a:srgbClr val="000000"/>
              </a:solidFill>
              <a:cs typeface="Arial" panose="020B0604020202020204" pitchFamily="34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1600">
                <a:solidFill>
                  <a:srgbClr val="000000"/>
                </a:solidFill>
                <a:cs typeface="Arial" panose="020B0604020202020204" pitchFamily="34" charset="0"/>
                <a:sym typeface="+mn-ea"/>
              </a:rPr>
              <a:t> </a:t>
            </a:r>
            <a:endParaRPr lang="en-US" sz="1600">
              <a:solidFill>
                <a:srgbClr val="000000"/>
              </a:solidFill>
              <a:cs typeface="Arial" panose="020B0604020202020204" pitchFamily="34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1600">
                <a:solidFill>
                  <a:srgbClr val="000000"/>
                </a:solidFill>
                <a:cs typeface="Arial" panose="020B0604020202020204" pitchFamily="34" charset="0"/>
                <a:sym typeface="+mn-ea"/>
              </a:rPr>
              <a:t>Here, in this section we will discuss HCF of two numbers in java.</a:t>
            </a:r>
            <a:endParaRPr lang="en-US" sz="1600">
              <a:solidFill>
                <a:srgbClr val="000000"/>
              </a:solidFill>
              <a:cs typeface="Arial" panose="020B0604020202020204" pitchFamily="34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sz="1600">
              <a:solidFill>
                <a:srgbClr val="000000"/>
              </a:solidFill>
              <a:cs typeface="Arial" panose="020B0604020202020204" pitchFamily="34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1600">
                <a:solidFill>
                  <a:srgbClr val="000000"/>
                </a:solidFill>
                <a:cs typeface="Arial" panose="020B0604020202020204" pitchFamily="34" charset="0"/>
                <a:sym typeface="+mn-ea"/>
              </a:rPr>
              <a:t>GCD(Greatest Common Divisor) or HCF(Highest Common Factor) of two numbers is the number which is the largest common factor of both numbers. </a:t>
            </a:r>
            <a:endParaRPr lang="en-US" sz="1600">
              <a:solidFill>
                <a:srgbClr val="000000"/>
              </a:solidFill>
              <a:cs typeface="Arial" panose="020B0604020202020204" pitchFamily="34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1600">
                <a:solidFill>
                  <a:srgbClr val="000000"/>
                </a:solidFill>
                <a:cs typeface="Arial" panose="020B0604020202020204" pitchFamily="34" charset="0"/>
                <a:sym typeface="+mn-ea"/>
              </a:rPr>
              <a:t>It is also referred as Greatest Common Factor(GCF), Greatest Common Measure(GCM), Highest Common Divisor(HCD).</a:t>
            </a:r>
            <a:endParaRPr lang="en-US" sz="1600">
              <a:solidFill>
                <a:srgbClr val="000000"/>
              </a:solidFill>
              <a:cs typeface="Arial" panose="020B0604020202020204" pitchFamily="34" charset="0"/>
              <a:sym typeface="+mn-ea"/>
            </a:endParaRPr>
          </a:p>
        </p:txBody>
      </p:sp>
      <p:pic>
        <p:nvPicPr>
          <p:cNvPr id="427" name="Google Shape;427;g1432b8366c7_0_489"/>
          <p:cNvPicPr preferRelativeResize="0"/>
          <p:nvPr/>
        </p:nvPicPr>
        <p:blipFill rotWithShape="1">
          <a:blip r:embed="rId1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419;g1432b8366c7_0_477"/>
          <p:cNvSpPr/>
          <p:nvPr/>
        </p:nvSpPr>
        <p:spPr>
          <a:xfrm>
            <a:off x="2147550" y="345640"/>
            <a:ext cx="4848900" cy="4122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r>
              <a:rPr lang="en-US" sz="1600" b="1" dirty="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01</a:t>
            </a:r>
            <a:endParaRPr sz="1600" b="1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5" name="Google Shape;420;g1432b8366c7_0_47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686959" y="4853782"/>
            <a:ext cx="2340965" cy="225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Google Shape;426;g1432b8366c7_0_489"/>
          <p:cNvPicPr preferRelativeResize="0"/>
          <p:nvPr/>
        </p:nvPicPr>
        <p:blipFill rotWithShape="1">
          <a:blip r:embed="rId1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g1432b8366c7_0_489"/>
          <p:cNvPicPr preferRelativeResize="0"/>
          <p:nvPr/>
        </p:nvPicPr>
        <p:blipFill rotWithShape="1">
          <a:blip r:embed="rId2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g1432b8366c7_0_489"/>
          <p:cNvSpPr/>
          <p:nvPr/>
        </p:nvSpPr>
        <p:spPr>
          <a:xfrm>
            <a:off x="2147550" y="514550"/>
            <a:ext cx="4848900" cy="4122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r>
              <a:rPr lang="en-US" sz="1600" b="1" dirty="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01</a:t>
            </a:r>
            <a:endParaRPr sz="1600" b="1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429" name="Google Shape;429;g1432b8366c7_0_489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686959" y="4853782"/>
            <a:ext cx="2340965" cy="2256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954405" y="1449070"/>
            <a:ext cx="3467735" cy="22453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/>
              <a:t>class Main  {</a:t>
            </a:r>
            <a:endParaRPr lang="en-US"/>
          </a:p>
          <a:p>
            <a:pPr algn="l"/>
            <a:r>
              <a:rPr lang="en-US"/>
              <a:t>public static void main (String[]args)  {</a:t>
            </a:r>
            <a:endParaRPr lang="en-US"/>
          </a:p>
          <a:p>
            <a:pPr algn="l"/>
            <a:r>
              <a:rPr lang="en-US"/>
              <a:t>int num1 = 36, num2 = 60, hcf=0;</a:t>
            </a:r>
            <a:endParaRPr lang="en-US"/>
          </a:p>
          <a:p>
            <a:pPr algn="l"/>
            <a:r>
              <a:rPr lang="en-US"/>
              <a:t>for (int i = 1; i &lt;= num1 || i &lt;= num2; i++) {</a:t>
            </a:r>
            <a:endParaRPr lang="en-US"/>
          </a:p>
          <a:p>
            <a:pPr algn="l"/>
            <a:r>
              <a:rPr lang="en-US"/>
              <a:t>if (num1 % i == 0 &amp;&amp; num2 % i == 0)</a:t>
            </a:r>
            <a:endParaRPr lang="en-US"/>
          </a:p>
          <a:p>
            <a:pPr algn="l"/>
            <a:r>
              <a:rPr lang="en-US"/>
              <a:t>hcf = i;</a:t>
            </a:r>
            <a:endParaRPr lang="en-US"/>
          </a:p>
          <a:p>
            <a:pPr algn="l"/>
            <a:r>
              <a:rPr lang="en-US"/>
              <a:t>}</a:t>
            </a:r>
            <a:endParaRPr lang="en-US"/>
          </a:p>
          <a:p>
            <a:pPr algn="l"/>
            <a:r>
              <a:rPr lang="en-US"/>
              <a:t>System.out.println("The HCF: "+ hcf);</a:t>
            </a:r>
            <a:endParaRPr lang="en-US"/>
          </a:p>
          <a:p>
            <a:pPr algn="l"/>
            <a:r>
              <a:rPr lang="en-US"/>
              <a:t>}</a:t>
            </a:r>
            <a:endParaRPr lang="en-US"/>
          </a:p>
          <a:p>
            <a:pPr algn="l"/>
            <a:r>
              <a:rPr lang="en-US"/>
              <a:t>}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Google Shape;437;g1432b8366c7_0_502"/>
          <p:cNvPicPr preferRelativeResize="0"/>
          <p:nvPr/>
        </p:nvPicPr>
        <p:blipFill rotWithShape="1">
          <a:blip r:embed="rId1"/>
          <a:srcRect l="41241" t="9529" r="-23988" b="51127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g1432b8366c7_0_502"/>
          <p:cNvPicPr preferRelativeResize="0"/>
          <p:nvPr/>
        </p:nvPicPr>
        <p:blipFill rotWithShape="1">
          <a:blip r:embed="rId2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g1432b8366c7_0_502"/>
          <p:cNvPicPr preferRelativeResize="0"/>
          <p:nvPr/>
        </p:nvPicPr>
        <p:blipFill rotWithShape="1">
          <a:blip r:embed="rId1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g1432b8366c7_0_502"/>
          <p:cNvSpPr/>
          <p:nvPr/>
        </p:nvSpPr>
        <p:spPr>
          <a:xfrm>
            <a:off x="2147550" y="514550"/>
            <a:ext cx="4848900" cy="4122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r>
              <a:rPr lang="en-US" sz="1600" b="1" dirty="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02</a:t>
            </a:r>
            <a:endParaRPr sz="1600" b="1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441" name="Google Shape;441;g1432b8366c7_0_50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686959" y="4853782"/>
            <a:ext cx="2340965" cy="225639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g1432b8366c7_0_502"/>
          <p:cNvSpPr txBox="1"/>
          <p:nvPr/>
        </p:nvSpPr>
        <p:spPr>
          <a:xfrm>
            <a:off x="589950" y="1357590"/>
            <a:ext cx="7964100" cy="313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lvl="0">
              <a:lnSpc>
                <a:spcPct val="100000"/>
              </a:lnSpc>
              <a:buClr>
                <a:schemeClr val="dk1"/>
              </a:buClr>
              <a:buSzPts val="1800"/>
            </a:pPr>
            <a:r>
              <a:rPr lang="en-US" sz="1600" dirty="0">
                <a:latin typeface="+mn-lt"/>
              </a:rPr>
              <a:t>Given an integer input, the objective is to find all the factors of a given integer input but the number itself.</a:t>
            </a:r>
            <a:endParaRPr lang="en-US" sz="1600" dirty="0">
              <a:latin typeface="+mn-lt"/>
            </a:endParaRPr>
          </a:p>
          <a:p>
            <a:pPr marL="114300" lvl="0">
              <a:lnSpc>
                <a:spcPct val="100000"/>
              </a:lnSpc>
              <a:buClr>
                <a:schemeClr val="dk1"/>
              </a:buClr>
              <a:buSzPts val="1800"/>
            </a:pPr>
            <a:endParaRPr lang="en-US" sz="1600" dirty="0">
              <a:latin typeface="+mn-lt"/>
            </a:endParaRPr>
          </a:p>
          <a:p>
            <a:pPr marL="114300" lvl="0">
              <a:lnSpc>
                <a:spcPct val="100000"/>
              </a:lnSpc>
              <a:buClr>
                <a:schemeClr val="dk1"/>
              </a:buClr>
              <a:buSzPts val="1800"/>
            </a:pPr>
            <a:r>
              <a:rPr lang="en-US" sz="1600" dirty="0">
                <a:latin typeface="+mn-lt"/>
              </a:rPr>
              <a:t>To do so we’ll use loops to iterate through the range from 2 to the number itself and check whether there are any factors within the range. To do so, we’ll use loops to iterate through the range and check if each number is a factor of the number or not.</a:t>
            </a:r>
            <a:endParaRPr lang="en-US" sz="1600" dirty="0">
              <a:latin typeface="+mn-lt"/>
            </a:endParaRPr>
          </a:p>
          <a:p>
            <a:pPr marL="114300" lvl="0">
              <a:lnSpc>
                <a:spcPct val="100000"/>
              </a:lnSpc>
              <a:buClr>
                <a:schemeClr val="dk1"/>
              </a:buClr>
              <a:buSzPts val="1800"/>
            </a:pPr>
            <a:endParaRPr lang="en-US" sz="1600" dirty="0">
              <a:latin typeface="+mn-lt"/>
            </a:endParaRPr>
          </a:p>
          <a:p>
            <a:pPr marL="114300" lvl="0">
              <a:lnSpc>
                <a:spcPct val="100000"/>
              </a:lnSpc>
              <a:buClr>
                <a:schemeClr val="dk1"/>
              </a:buClr>
              <a:buSzPts val="1800"/>
            </a:pPr>
            <a:r>
              <a:rPr lang="en-US" sz="1600" dirty="0">
                <a:latin typeface="+mn-lt"/>
              </a:rPr>
              <a:t>Once we find that the number is divisible by any number we’ll append it to the factors list or simply print the factors along the way. Here are a few methods to Find the Factors of a Number in Java Language,</a:t>
            </a:r>
            <a:endParaRPr lang="en-US" sz="1600" dirty="0">
              <a:latin typeface="+mn-lt"/>
            </a:endParaRPr>
          </a:p>
          <a:p>
            <a:pPr marL="114300" lvl="0">
              <a:lnSpc>
                <a:spcPct val="100000"/>
              </a:lnSpc>
              <a:buClr>
                <a:schemeClr val="dk1"/>
              </a:buClr>
              <a:buSzPts val="1800"/>
            </a:pPr>
            <a:r>
              <a:rPr lang="en-US" sz="1600" dirty="0">
                <a:latin typeface="+mn-lt"/>
              </a:rPr>
              <a:t>Method 1: Using Range as [ 2, number ]</a:t>
            </a:r>
            <a:endParaRPr lang="en-US" sz="1600" dirty="0">
              <a:latin typeface="+mn-lt"/>
            </a:endParaRPr>
          </a:p>
          <a:p>
            <a:pPr marL="114300" lvl="0">
              <a:lnSpc>
                <a:spcPct val="100000"/>
              </a:lnSpc>
              <a:buClr>
                <a:schemeClr val="dk1"/>
              </a:buClr>
              <a:buSzPts val="1800"/>
            </a:pPr>
            <a:r>
              <a:rPr lang="en-US" sz="1600" dirty="0">
                <a:latin typeface="+mn-lt"/>
              </a:rPr>
              <a:t>Method 2: Using Range as [2, Sqrt( number )]</a:t>
            </a:r>
            <a:endParaRPr lang="en-US" sz="1600" dirty="0">
              <a:latin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g1432b8366c7_0_511"/>
          <p:cNvPicPr preferRelativeResize="0"/>
          <p:nvPr/>
        </p:nvPicPr>
        <p:blipFill rotWithShape="1">
          <a:blip r:embed="rId1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g1432b8366c7_0_511"/>
          <p:cNvPicPr preferRelativeResize="0"/>
          <p:nvPr/>
        </p:nvPicPr>
        <p:blipFill rotWithShape="1">
          <a:blip r:embed="rId2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g1432b8366c7_0_511"/>
          <p:cNvSpPr/>
          <p:nvPr/>
        </p:nvSpPr>
        <p:spPr>
          <a:xfrm>
            <a:off x="2147550" y="514550"/>
            <a:ext cx="4848900" cy="4122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r>
              <a:rPr lang="en-US" sz="1600" b="1" dirty="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02</a:t>
            </a:r>
            <a:endParaRPr sz="1600" b="1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450" name="Google Shape;450;g1432b8366c7_0_51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686959" y="4853782"/>
            <a:ext cx="2340965" cy="2256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923290" y="1346835"/>
            <a:ext cx="4074795" cy="28917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b="1"/>
              <a:t>Method 1 :</a:t>
            </a:r>
            <a:endParaRPr lang="en-US"/>
          </a:p>
          <a:p>
            <a:pPr algn="l"/>
            <a:endParaRPr lang="en-US"/>
          </a:p>
          <a:p>
            <a:pPr algn="l"/>
            <a:r>
              <a:rPr lang="en-US"/>
              <a:t>public class Main {</a:t>
            </a:r>
            <a:endParaRPr lang="en-US"/>
          </a:p>
          <a:p>
            <a:pPr algn="l"/>
            <a:r>
              <a:rPr lang="en-US"/>
              <a:t>public static void main(String[] args) {</a:t>
            </a:r>
            <a:endParaRPr lang="en-US"/>
          </a:p>
          <a:p>
            <a:pPr algn="l"/>
            <a:r>
              <a:rPr lang="en-US"/>
              <a:t>int num = 10;</a:t>
            </a:r>
            <a:endParaRPr lang="en-US"/>
          </a:p>
          <a:p>
            <a:pPr algn="l"/>
            <a:r>
              <a:rPr lang="en-US"/>
              <a:t>System.out.println( "Factors of " + num + " are " );</a:t>
            </a:r>
            <a:endParaRPr lang="en-US"/>
          </a:p>
          <a:p>
            <a:pPr algn="l"/>
            <a:r>
              <a:rPr lang="en-US"/>
              <a:t>// finding and printing factors b/w 1 to num</a:t>
            </a:r>
            <a:endParaRPr lang="en-US"/>
          </a:p>
          <a:p>
            <a:pPr algn="l"/>
            <a:r>
              <a:rPr lang="en-US"/>
              <a:t>for(int i = 1; i &lt;= num; i++)  {</a:t>
            </a:r>
            <a:endParaRPr lang="en-US"/>
          </a:p>
          <a:p>
            <a:pPr algn="l"/>
            <a:r>
              <a:rPr lang="en-US"/>
              <a:t>if(num % i == 0)</a:t>
            </a:r>
            <a:endParaRPr lang="en-US"/>
          </a:p>
          <a:p>
            <a:pPr algn="l"/>
            <a:r>
              <a:rPr lang="en-US"/>
              <a:t>System.out.println(i + " "); </a:t>
            </a:r>
            <a:endParaRPr lang="en-US"/>
          </a:p>
          <a:p>
            <a:pPr algn="l"/>
            <a:r>
              <a:rPr lang="en-US"/>
              <a:t>}</a:t>
            </a:r>
            <a:endParaRPr lang="en-US"/>
          </a:p>
          <a:p>
            <a:pPr algn="l"/>
            <a:r>
              <a:rPr lang="en-US"/>
              <a:t>}</a:t>
            </a:r>
            <a:endParaRPr lang="en-US"/>
          </a:p>
          <a:p>
            <a:pPr algn="l"/>
            <a:r>
              <a:rPr lang="en-US"/>
              <a:t>}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g1432b8366c7_0_511"/>
          <p:cNvPicPr preferRelativeResize="0"/>
          <p:nvPr/>
        </p:nvPicPr>
        <p:blipFill rotWithShape="1">
          <a:blip r:embed="rId1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g1432b8366c7_0_511"/>
          <p:cNvPicPr preferRelativeResize="0"/>
          <p:nvPr/>
        </p:nvPicPr>
        <p:blipFill rotWithShape="1">
          <a:blip r:embed="rId2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g1432b8366c7_0_511"/>
          <p:cNvSpPr/>
          <p:nvPr/>
        </p:nvSpPr>
        <p:spPr>
          <a:xfrm>
            <a:off x="2147550" y="514550"/>
            <a:ext cx="4848900" cy="4122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r>
              <a:rPr lang="en-US" sz="1600" b="1" dirty="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02</a:t>
            </a:r>
            <a:endParaRPr sz="1600" b="1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450" name="Google Shape;450;g1432b8366c7_0_51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686959" y="4853782"/>
            <a:ext cx="2340965" cy="22563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/>
          <p:cNvGraphicFramePr/>
          <p:nvPr/>
        </p:nvGraphicFramePr>
        <p:xfrm>
          <a:off x="1372235" y="1102995"/>
          <a:ext cx="6399530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9765"/>
                <a:gridCol w="3199765"/>
              </a:tblGrid>
              <a:tr h="3505200">
                <a:tc>
                  <a:txBody>
                    <a:bodyPr/>
                    <a:p>
                      <a:pPr algn="l"/>
                      <a:r>
                        <a:rPr lang="en-US" sz="1400" b="1">
                          <a:solidFill>
                            <a:schemeClr val="tx1"/>
                          </a:solidFill>
                          <a:sym typeface="+mn-ea"/>
                        </a:rPr>
                        <a:t>Method 2 :(A)</a:t>
                      </a:r>
                      <a:endParaRPr lang="en-US" sz="1400" b="1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endParaRPr lang="en-US" sz="1400" b="1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class Main  {</a:t>
                      </a:r>
                      <a:endParaRPr lang="en-US" sz="1400" b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public static void main(String[] args)  {</a:t>
                      </a:r>
                      <a:endParaRPr lang="en-US" sz="1400" b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int num = 100;</a:t>
                      </a:r>
                      <a:endParaRPr lang="en-US" sz="1400" b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getFactors (num);</a:t>
                      </a:r>
                      <a:endParaRPr lang="en-US" sz="1400" b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}</a:t>
                      </a:r>
                      <a:endParaRPr lang="en-US" sz="1400" b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static void getFactors (int n) {</a:t>
                      </a:r>
                      <a:endParaRPr lang="en-US" sz="1400" b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for(int i = 1; i &lt;= Math.sqrt(n); ++i)  {</a:t>
                      </a:r>
                      <a:endParaRPr lang="en-US" sz="1400" b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if (n % i == 0){</a:t>
                      </a:r>
                      <a:endParaRPr lang="en-US" sz="1400" b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// If both pair of factors are equal then we just print</a:t>
                      </a:r>
                      <a:endParaRPr lang="en-US" sz="1400" b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// once, example for 100 : (a, b) : (10, 10)</a:t>
                      </a:r>
                      <a:endParaRPr 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/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// 10 should be printed just once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if(i == n / i)</a:t>
                      </a:r>
                      <a:endParaRPr lang="en-US" sz="1400" b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System.out.print(i + ", ");</a:t>
                      </a:r>
                      <a:endParaRPr lang="en-US" sz="1400" b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// else print both the pairs</a:t>
                      </a:r>
                      <a:endParaRPr lang="en-US" sz="1400" b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else</a:t>
                      </a:r>
                      <a:endParaRPr lang="en-US" sz="1400" b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System.out.print(i + ", " + n/i + ", ");</a:t>
                      </a:r>
                      <a:endParaRPr lang="en-US" sz="1400" b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}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}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}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}</a:t>
                      </a:r>
                      <a:endParaRPr lang="en-US" sz="1400" b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g1432b8366c7_0_511"/>
          <p:cNvPicPr preferRelativeResize="0"/>
          <p:nvPr/>
        </p:nvPicPr>
        <p:blipFill rotWithShape="1">
          <a:blip r:embed="rId1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g1432b8366c7_0_511"/>
          <p:cNvPicPr preferRelativeResize="0"/>
          <p:nvPr/>
        </p:nvPicPr>
        <p:blipFill rotWithShape="1">
          <a:blip r:embed="rId2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g1432b8366c7_0_511"/>
          <p:cNvSpPr/>
          <p:nvPr/>
        </p:nvSpPr>
        <p:spPr>
          <a:xfrm>
            <a:off x="2147550" y="345640"/>
            <a:ext cx="4848900" cy="4122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r>
              <a:rPr lang="en-US" sz="1600" b="1" dirty="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02</a:t>
            </a:r>
            <a:endParaRPr sz="1600" b="1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915670" y="1997075"/>
            <a:ext cx="3098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endParaRPr lang="en-US"/>
          </a:p>
        </p:txBody>
      </p:sp>
      <p:graphicFrame>
        <p:nvGraphicFramePr>
          <p:cNvPr id="4" name="Table 3"/>
          <p:cNvGraphicFramePr/>
          <p:nvPr/>
        </p:nvGraphicFramePr>
        <p:xfrm>
          <a:off x="1372235" y="796925"/>
          <a:ext cx="64001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9765"/>
                <a:gridCol w="3199765"/>
              </a:tblGrid>
              <a:tr h="381000">
                <a:tc>
                  <a:txBody>
                    <a:bodyPr/>
                    <a:p>
                      <a:pPr algn="l"/>
                      <a:r>
                        <a:rPr lang="en-US" sz="1400" b="1">
                          <a:solidFill>
                            <a:schemeClr val="tx1"/>
                          </a:solidFill>
                          <a:sym typeface="+mn-ea"/>
                        </a:rPr>
                        <a:t>Method 2 :(B)</a:t>
                      </a:r>
                      <a:endParaRPr lang="en-US" sz="1400" b="1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endParaRPr lang="en-US" sz="1400" b="1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300" b="0">
                          <a:solidFill>
                            <a:schemeClr val="tx1"/>
                          </a:solidFill>
                          <a:sym typeface="+mn-ea"/>
                        </a:rPr>
                        <a:t>class Main {</a:t>
                      </a:r>
                      <a:endParaRPr lang="en-US" sz="13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300" b="0">
                          <a:solidFill>
                            <a:schemeClr val="tx1"/>
                          </a:solidFill>
                          <a:sym typeface="+mn-ea"/>
                        </a:rPr>
                        <a:t>public static void main (String[]args) {</a:t>
                      </a:r>
                      <a:endParaRPr lang="en-US" sz="13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300" b="0">
                          <a:solidFill>
                            <a:schemeClr val="tx1"/>
                          </a:solidFill>
                          <a:sym typeface="+mn-ea"/>
                        </a:rPr>
                        <a:t>int num = 100;</a:t>
                      </a:r>
                      <a:endParaRPr lang="en-US" sz="1300" b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sz="1300" b="0">
                          <a:solidFill>
                            <a:schemeClr val="tx1"/>
                          </a:solidFill>
                          <a:sym typeface="+mn-ea"/>
                        </a:rPr>
                        <a:t>getFactors (num);</a:t>
                      </a:r>
                      <a:endParaRPr lang="en-US" sz="13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300" b="0">
                          <a:solidFill>
                            <a:schemeClr val="tx1"/>
                          </a:solidFill>
                          <a:sym typeface="+mn-ea"/>
                        </a:rPr>
                        <a:t>}</a:t>
                      </a:r>
                      <a:endParaRPr lang="en-US" sz="1300" b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sz="1300" b="0">
                          <a:solidFill>
                            <a:schemeClr val="tx1"/>
                          </a:solidFill>
                          <a:sym typeface="+mn-ea"/>
                        </a:rPr>
                        <a:t>static void getFactors (int num) {     </a:t>
                      </a:r>
                      <a:endParaRPr lang="en-US" sz="1300" b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sz="1300" b="0">
                          <a:solidFill>
                            <a:schemeClr val="tx1"/>
                          </a:solidFill>
                          <a:sym typeface="+mn-ea"/>
                        </a:rPr>
                        <a:t>// Same i used in other for loop</a:t>
                      </a:r>
                      <a:endParaRPr lang="en-US" sz="1300" b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sz="1300" b="0">
                          <a:solidFill>
                            <a:schemeClr val="tx1"/>
                          </a:solidFill>
                          <a:sym typeface="+mn-ea"/>
                        </a:rPr>
                        <a:t>int i;</a:t>
                      </a:r>
                      <a:endParaRPr lang="en-US" sz="1300" b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sz="1300" b="0">
                          <a:solidFill>
                            <a:schemeClr val="tx1"/>
                          </a:solidFill>
                          <a:sym typeface="+mn-ea"/>
                        </a:rPr>
                        <a:t>// to avoid double printing</a:t>
                      </a:r>
                      <a:endParaRPr lang="en-US" sz="1300" b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sz="1300" b="0">
                          <a:solidFill>
                            <a:schemeClr val="tx1"/>
                          </a:solidFill>
                          <a:sym typeface="+mn-ea"/>
                        </a:rPr>
                        <a:t>boolean flag = false;</a:t>
                      </a:r>
                      <a:endParaRPr lang="en-US" sz="1300" b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sz="1300" b="0">
                          <a:solidFill>
                            <a:schemeClr val="tx1"/>
                          </a:solidFill>
                          <a:sym typeface="+mn-ea"/>
                        </a:rPr>
                        <a:t>for(i = 1; i &lt;= Math.sqrt(num); i++)  {</a:t>
                      </a:r>
                      <a:endParaRPr lang="en-US" sz="1300" b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sz="1300" b="0">
                          <a:solidFill>
                            <a:schemeClr val="tx1"/>
                          </a:solidFill>
                          <a:sym typeface="+mn-ea"/>
                        </a:rPr>
                        <a:t>if (num % i == 0)</a:t>
                      </a:r>
                      <a:endParaRPr lang="en-US" sz="1300" b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sz="1300" b="0">
                          <a:solidFill>
                            <a:schemeClr val="tx1"/>
                          </a:solidFill>
                          <a:sym typeface="+mn-ea"/>
                        </a:rPr>
                        <a:t>System.out.print(i + " ");</a:t>
                      </a:r>
                      <a:endParaRPr lang="en-US" sz="1300" b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sz="1300" b="0">
                          <a:solidFill>
                            <a:schemeClr val="tx1"/>
                          </a:solidFill>
                          <a:sym typeface="+mn-ea"/>
                        </a:rPr>
                        <a:t>// To avoid double printing of equal pairs </a:t>
                      </a:r>
                      <a:endParaRPr lang="en-US" sz="13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300" b="0">
                          <a:solidFill>
                            <a:schemeClr val="tx1"/>
                          </a:solidFill>
                          <a:sym typeface="+mn-ea"/>
                        </a:rPr>
                        <a:t>// Example (10,10) we only want to print once </a:t>
                      </a:r>
                      <a:endParaRPr lang="en-US" sz="1300" b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sz="1300" b="0">
                          <a:solidFill>
                            <a:schemeClr val="tx1"/>
                          </a:solidFill>
                          <a:sym typeface="+mn-ea"/>
                        </a:rPr>
                        <a:t>if(i == num/i) </a:t>
                      </a:r>
                      <a:endParaRPr lang="en-US" sz="1300" b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sz="1300" b="0">
                          <a:solidFill>
                            <a:schemeClr val="tx1"/>
                          </a:solidFill>
                          <a:sym typeface="+mn-ea"/>
                        </a:rPr>
                        <a:t>flag = true; </a:t>
                      </a:r>
                      <a:endParaRPr lang="en-US" sz="1300" b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sz="1300" b="0">
                          <a:solidFill>
                            <a:schemeClr val="tx1"/>
                          </a:solidFill>
                          <a:sym typeface="+mn-ea"/>
                        </a:rPr>
                        <a:t>}</a:t>
                      </a:r>
                      <a:endParaRPr lang="en-US" sz="13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/>
                      <a:endParaRPr lang="en-US" sz="13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endParaRPr lang="en-US" sz="13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300" b="0">
                          <a:solidFill>
                            <a:schemeClr val="tx1"/>
                          </a:solidFill>
                          <a:sym typeface="+mn-ea"/>
                        </a:rPr>
                        <a:t>// if flag is true then we had double pairs like (10,10) </a:t>
                      </a:r>
                      <a:endParaRPr lang="en-US" sz="1300" b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sz="1300" b="0">
                          <a:solidFill>
                            <a:schemeClr val="tx1"/>
                          </a:solidFill>
                          <a:sym typeface="+mn-ea"/>
                        </a:rPr>
                        <a:t>// we should do i-- so as not to do double printing of pair divisor </a:t>
                      </a:r>
                      <a:endParaRPr lang="en-US" sz="1300" b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sz="1300" b="0">
                          <a:solidFill>
                            <a:schemeClr val="tx1"/>
                          </a:solidFill>
                          <a:sym typeface="+mn-ea"/>
                        </a:rPr>
                        <a:t>// doing i -=2 rather than i-- as in previous for loop we exited </a:t>
                      </a:r>
                      <a:endParaRPr lang="en-US" sz="1300" b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sz="1300" b="0">
                          <a:solidFill>
                            <a:schemeClr val="tx1"/>
                          </a:solidFill>
                          <a:sym typeface="+mn-ea"/>
                        </a:rPr>
                        <a:t>// with i++, example, i = 10 became 11 and we need to start with 9 </a:t>
                      </a:r>
                      <a:endParaRPr lang="en-US" sz="1300" b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sz="1300" b="0">
                          <a:solidFill>
                            <a:schemeClr val="tx1"/>
                          </a:solidFill>
                          <a:sym typeface="+mn-ea"/>
                        </a:rPr>
                        <a:t>// so as to ignore 10 as its a double pair </a:t>
                      </a:r>
                      <a:endParaRPr lang="en-US" sz="1300" b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sz="1300" b="0">
                          <a:solidFill>
                            <a:schemeClr val="tx1"/>
                          </a:solidFill>
                          <a:sym typeface="+mn-ea"/>
                        </a:rPr>
                        <a:t>if(flag)</a:t>
                      </a:r>
                      <a:endParaRPr lang="en-US" sz="1300" b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sz="1300" b="0">
                          <a:solidFill>
                            <a:schemeClr val="tx1"/>
                          </a:solidFill>
                          <a:sym typeface="+mn-ea"/>
                        </a:rPr>
                        <a:t>i -= 2; </a:t>
                      </a:r>
                      <a:endParaRPr lang="en-US" sz="1300" b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sz="1300" b="0">
                          <a:solidFill>
                            <a:schemeClr val="tx1"/>
                          </a:solidFill>
                          <a:sym typeface="+mn-ea"/>
                        </a:rPr>
                        <a:t>// printing pairs </a:t>
                      </a:r>
                      <a:endParaRPr lang="en-US" sz="1300" b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sz="1300" b="0">
                          <a:solidFill>
                            <a:schemeClr val="tx1"/>
                          </a:solidFill>
                          <a:sym typeface="+mn-ea"/>
                        </a:rPr>
                        <a:t>for(; i &gt;= 1; i--)  {</a:t>
                      </a:r>
                      <a:endParaRPr lang="en-US" sz="1300" b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sz="1300" b="0">
                          <a:solidFill>
                            <a:schemeClr val="tx1"/>
                          </a:solidFill>
                          <a:sym typeface="+mn-ea"/>
                        </a:rPr>
                        <a:t>if (num % i == 0)</a:t>
                      </a:r>
                      <a:endParaRPr lang="en-US" sz="1300" b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sz="1300" b="0">
                          <a:solidFill>
                            <a:schemeClr val="tx1"/>
                          </a:solidFill>
                          <a:sym typeface="+mn-ea"/>
                        </a:rPr>
                        <a:t>System.out.print(num/i + " ");</a:t>
                      </a:r>
                      <a:endParaRPr lang="en-US" sz="1300" b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sz="1300" b="0">
                          <a:solidFill>
                            <a:schemeClr val="tx1"/>
                          </a:solidFill>
                          <a:sym typeface="+mn-ea"/>
                        </a:rPr>
                        <a:t>} } }</a:t>
                      </a:r>
                      <a:endParaRPr lang="en-US" sz="13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" name="Google Shape;450;g1432b8366c7_0_51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686959" y="4853782"/>
            <a:ext cx="2340965" cy="225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g1432b8366c7_0_452"/>
          <p:cNvPicPr preferRelativeResize="0"/>
          <p:nvPr/>
        </p:nvPicPr>
        <p:blipFill rotWithShape="1">
          <a:blip r:embed="rId1"/>
          <a:srcRect l="41241" t="9529" r="-23988" b="51127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g1432b8366c7_0_452"/>
          <p:cNvPicPr preferRelativeResize="0"/>
          <p:nvPr/>
        </p:nvPicPr>
        <p:blipFill rotWithShape="1">
          <a:blip r:embed="rId2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g1432b8366c7_0_452"/>
          <p:cNvPicPr preferRelativeResize="0"/>
          <p:nvPr/>
        </p:nvPicPr>
        <p:blipFill rotWithShape="1">
          <a:blip r:embed="rId1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g1432b8366c7_0_452"/>
          <p:cNvSpPr/>
          <p:nvPr/>
        </p:nvSpPr>
        <p:spPr>
          <a:xfrm>
            <a:off x="2147550" y="514550"/>
            <a:ext cx="4848900" cy="4122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r>
              <a:rPr lang="en-US" sz="1600" b="1" dirty="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03</a:t>
            </a:r>
            <a:endParaRPr sz="1600" b="1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400" name="Google Shape;400;g1432b8366c7_0_45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686959" y="4853782"/>
            <a:ext cx="2340965" cy="22563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g1432b8366c7_0_452"/>
          <p:cNvSpPr txBox="1"/>
          <p:nvPr/>
        </p:nvSpPr>
        <p:spPr>
          <a:xfrm>
            <a:off x="514150" y="1359880"/>
            <a:ext cx="8116200" cy="313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600" dirty="0">
                <a:latin typeface="+mn-lt"/>
              </a:rPr>
              <a:t>Write a program to generate the following series --- 1,4,9,16,25, ....</a:t>
            </a:r>
            <a:endParaRPr lang="en-US" sz="1600" dirty="0">
              <a:latin typeface="+mn-lt"/>
            </a:endParaRPr>
          </a:p>
          <a:p>
            <a:endParaRPr lang="en-US" sz="1600" dirty="0">
              <a:latin typeface="+mn-lt"/>
            </a:endParaRPr>
          </a:p>
          <a:p>
            <a:r>
              <a:rPr lang="en-US" sz="1600" dirty="0">
                <a:latin typeface="+mn-lt"/>
              </a:rPr>
              <a:t>Input format:</a:t>
            </a:r>
            <a:endParaRPr lang="en-US" sz="1600" dirty="0">
              <a:latin typeface="+mn-lt"/>
            </a:endParaRPr>
          </a:p>
          <a:p>
            <a:r>
              <a:rPr lang="en-US" sz="1600" dirty="0">
                <a:latin typeface="+mn-lt"/>
              </a:rPr>
              <a:t>The input containing an integer which denotes 'n'</a:t>
            </a:r>
            <a:endParaRPr lang="en-US" sz="1600" dirty="0">
              <a:latin typeface="+mn-lt"/>
            </a:endParaRPr>
          </a:p>
          <a:p>
            <a:r>
              <a:rPr lang="en-US" sz="1600" dirty="0">
                <a:latin typeface="+mn-lt"/>
              </a:rPr>
              <a:t>Output format:</a:t>
            </a:r>
            <a:endParaRPr lang="en-US" sz="1600" dirty="0">
              <a:latin typeface="+mn-lt"/>
            </a:endParaRPr>
          </a:p>
          <a:p>
            <a:r>
              <a:rPr lang="en-US" sz="1600" dirty="0">
                <a:latin typeface="+mn-lt"/>
              </a:rPr>
              <a:t>Print the series and refer the sample output for formatting</a:t>
            </a:r>
            <a:endParaRPr lang="en-US" sz="1600" dirty="0">
              <a:latin typeface="+mn-lt"/>
            </a:endParaRPr>
          </a:p>
          <a:p>
            <a:endParaRPr lang="en-US" sz="1600" dirty="0">
              <a:latin typeface="+mn-lt"/>
            </a:endParaRPr>
          </a:p>
          <a:p>
            <a:r>
              <a:rPr lang="en-US" sz="1600" dirty="0">
                <a:latin typeface="+mn-lt"/>
              </a:rPr>
              <a:t>Sample Input:</a:t>
            </a:r>
            <a:endParaRPr lang="en-US" sz="1600" dirty="0">
              <a:latin typeface="+mn-lt"/>
            </a:endParaRPr>
          </a:p>
          <a:p>
            <a:r>
              <a:rPr lang="en-US" sz="1600" dirty="0">
                <a:latin typeface="+mn-lt"/>
              </a:rPr>
              <a:t>7</a:t>
            </a:r>
            <a:endParaRPr lang="en-US" sz="1600" dirty="0">
              <a:latin typeface="+mn-lt"/>
            </a:endParaRPr>
          </a:p>
          <a:p>
            <a:r>
              <a:rPr lang="en-US" sz="1600" dirty="0">
                <a:latin typeface="+mn-lt"/>
              </a:rPr>
              <a:t>Sample Output:</a:t>
            </a:r>
            <a:endParaRPr lang="en-US" sz="1600" dirty="0">
              <a:latin typeface="+mn-lt"/>
            </a:endParaRPr>
          </a:p>
          <a:p>
            <a:r>
              <a:rPr lang="en-US" sz="1600" dirty="0">
                <a:latin typeface="+mn-lt"/>
              </a:rPr>
              <a:t>1 4 9 16 25 36 49 </a:t>
            </a:r>
            <a:endParaRPr lang="en-US" sz="1600" dirty="0">
              <a:latin typeface="+mn-lt"/>
            </a:endParaRPr>
          </a:p>
          <a:p>
            <a:endParaRPr lang="en-US" sz="1600" dirty="0">
              <a:latin typeface="+mn-lt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565400" y="3123565"/>
            <a:ext cx="153924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600" dirty="0">
                <a:latin typeface="+mn-lt"/>
                <a:sym typeface="+mn-ea"/>
              </a:rPr>
              <a:t>Input (stdin)</a:t>
            </a:r>
            <a:endParaRPr lang="en-US" sz="1600" dirty="0">
              <a:latin typeface="+mn-lt"/>
            </a:endParaRPr>
          </a:p>
          <a:p>
            <a:pPr algn="l"/>
            <a:r>
              <a:rPr lang="en-US" sz="1600" dirty="0">
                <a:latin typeface="+mn-lt"/>
                <a:sym typeface="+mn-ea"/>
              </a:rPr>
              <a:t>2</a:t>
            </a:r>
            <a:endParaRPr lang="en-US" sz="1600" dirty="0">
              <a:latin typeface="+mn-lt"/>
              <a:sym typeface="+mn-ea"/>
            </a:endParaRPr>
          </a:p>
          <a:p>
            <a:pPr algn="l"/>
            <a:r>
              <a:rPr lang="en-US" sz="1600" dirty="0">
                <a:latin typeface="+mn-lt"/>
                <a:sym typeface="+mn-ea"/>
              </a:rPr>
              <a:t>Output (stdout)</a:t>
            </a:r>
            <a:endParaRPr lang="en-US" sz="1600" dirty="0">
              <a:latin typeface="+mn-lt"/>
            </a:endParaRPr>
          </a:p>
          <a:p>
            <a:pPr algn="l"/>
            <a:r>
              <a:rPr lang="en-US" sz="1600" dirty="0">
                <a:latin typeface="+mn-lt"/>
                <a:sym typeface="+mn-ea"/>
              </a:rPr>
              <a:t>1 4</a:t>
            </a:r>
            <a:endParaRPr lang="en-US" sz="1600" dirty="0">
              <a:latin typeface="+mn-lt"/>
            </a:endParaRPr>
          </a:p>
          <a:p>
            <a:endParaRPr lang="en-US" sz="1600"/>
          </a:p>
        </p:txBody>
      </p:sp>
      <p:sp>
        <p:nvSpPr>
          <p:cNvPr id="3" name="Text Box 2"/>
          <p:cNvSpPr txBox="1"/>
          <p:nvPr/>
        </p:nvSpPr>
        <p:spPr>
          <a:xfrm>
            <a:off x="4323715" y="3123565"/>
            <a:ext cx="4704080" cy="107632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600" dirty="0">
                <a:latin typeface="+mn-lt"/>
                <a:sym typeface="+mn-ea"/>
              </a:rPr>
              <a:t>Input (stdin)</a:t>
            </a:r>
            <a:endParaRPr lang="en-US" sz="1600" dirty="0">
              <a:latin typeface="+mn-lt"/>
            </a:endParaRPr>
          </a:p>
          <a:p>
            <a:pPr algn="l"/>
            <a:r>
              <a:rPr lang="en-US" sz="1600" dirty="0">
                <a:latin typeface="+mn-lt"/>
                <a:sym typeface="+mn-ea"/>
              </a:rPr>
              <a:t>15</a:t>
            </a:r>
            <a:endParaRPr lang="en-US" sz="1600" dirty="0">
              <a:latin typeface="+mn-lt"/>
            </a:endParaRPr>
          </a:p>
          <a:p>
            <a:pPr algn="l"/>
            <a:r>
              <a:rPr lang="en-US" sz="1600" dirty="0">
                <a:latin typeface="+mn-lt"/>
                <a:sym typeface="+mn-ea"/>
              </a:rPr>
              <a:t>Output (stdout)</a:t>
            </a:r>
            <a:endParaRPr lang="en-US" sz="1600" dirty="0">
              <a:latin typeface="+mn-lt"/>
            </a:endParaRPr>
          </a:p>
          <a:p>
            <a:pPr algn="l"/>
            <a:r>
              <a:rPr lang="en-US" sz="1600" dirty="0">
                <a:latin typeface="+mn-lt"/>
                <a:sym typeface="+mn-ea"/>
              </a:rPr>
              <a:t>1 4 9 16 25 36 49 64 81 100 121 144 169 196 225</a:t>
            </a:r>
            <a:endParaRPr lang="en-US"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g1432b8366c7_0_466"/>
          <p:cNvPicPr preferRelativeResize="0"/>
          <p:nvPr/>
        </p:nvPicPr>
        <p:blipFill rotWithShape="1">
          <a:blip r:embed="rId1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g1432b8366c7_0_466"/>
          <p:cNvPicPr preferRelativeResize="0"/>
          <p:nvPr/>
        </p:nvPicPr>
        <p:blipFill rotWithShape="1">
          <a:blip r:embed="rId2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g1432b8366c7_0_466"/>
          <p:cNvSpPr/>
          <p:nvPr/>
        </p:nvSpPr>
        <p:spPr>
          <a:xfrm>
            <a:off x="2147550" y="514550"/>
            <a:ext cx="4848900" cy="4122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r>
              <a:rPr lang="en-US" sz="1600" b="1" dirty="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03</a:t>
            </a:r>
            <a:endParaRPr sz="1600" b="1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409" name="Google Shape;409;g1432b8366c7_0_46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686959" y="4853782"/>
            <a:ext cx="2340965" cy="22563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/>
          <p:cNvGraphicFramePr/>
          <p:nvPr/>
        </p:nvGraphicFramePr>
        <p:xfrm>
          <a:off x="1372235" y="1245870"/>
          <a:ext cx="64001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165"/>
              </a:tblGrid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+mn-lt"/>
                          <a:sym typeface="+mn-ea"/>
                        </a:rPr>
                        <a:t>import java.util.Scanner;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  <a:sym typeface="+mn-ea"/>
                      </a:endParaRPr>
                    </a:p>
                    <a:p>
                      <a:pPr algn="l">
                        <a:buNone/>
                      </a:pP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+mn-lt"/>
                          <a:sym typeface="+mn-ea"/>
                        </a:rPr>
                        <a:t>class Main  {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+mn-lt"/>
                          <a:sym typeface="+mn-ea"/>
                        </a:rPr>
                        <a:t>public static void main(String args[])  {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+mn-lt"/>
                          <a:sym typeface="+mn-ea"/>
                        </a:rPr>
                        <a:t>Scanner s=new Scanner(System.in);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+mn-lt"/>
                          <a:sym typeface="+mn-ea"/>
                        </a:rPr>
                        <a:t>int n=s.nextInt();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+mn-lt"/>
                          <a:sym typeface="+mn-ea"/>
                        </a:rPr>
                        <a:t>int i,nn=0;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+mn-lt"/>
                          <a:sym typeface="+mn-ea"/>
                        </a:rPr>
                        <a:t>for(i=1;i&lt;=n;i++) {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+mn-lt"/>
                          <a:sym typeface="+mn-ea"/>
                        </a:rPr>
                        <a:t>nn=i*i;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+mn-lt"/>
                          <a:sym typeface="+mn-ea"/>
                        </a:rPr>
                        <a:t>System.out.printf("%d ",nn );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+mn-lt"/>
                          <a:sym typeface="+mn-ea"/>
                        </a:rPr>
                        <a:t>}   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+mn-lt"/>
                          <a:sym typeface="+mn-ea"/>
                        </a:rPr>
                        <a:t>}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+mn-lt"/>
                          <a:sym typeface="+mn-ea"/>
                        </a:rPr>
                        <a:t>}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  <a:sym typeface="+mn-ea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g1432b8366c7_0_523"/>
          <p:cNvPicPr preferRelativeResize="0"/>
          <p:nvPr/>
        </p:nvPicPr>
        <p:blipFill rotWithShape="1">
          <a:blip r:embed="rId1"/>
          <a:srcRect l="41241" t="9529" r="-23988" b="51127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g1432b8366c7_0_523"/>
          <p:cNvPicPr preferRelativeResize="0"/>
          <p:nvPr/>
        </p:nvPicPr>
        <p:blipFill rotWithShape="1">
          <a:blip r:embed="rId2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g1432b8366c7_0_523"/>
          <p:cNvPicPr preferRelativeResize="0"/>
          <p:nvPr/>
        </p:nvPicPr>
        <p:blipFill rotWithShape="1">
          <a:blip r:embed="rId1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g1432b8366c7_0_523"/>
          <p:cNvSpPr/>
          <p:nvPr/>
        </p:nvSpPr>
        <p:spPr>
          <a:xfrm>
            <a:off x="2147550" y="514550"/>
            <a:ext cx="4848900" cy="4122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r>
              <a:rPr lang="en-US" sz="1600" b="1" dirty="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04</a:t>
            </a:r>
            <a:endParaRPr sz="1600" b="1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461" name="Google Shape;461;g1432b8366c7_0_52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686959" y="4853782"/>
            <a:ext cx="2340965" cy="2256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821410" y="1417667"/>
            <a:ext cx="7501180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212529"/>
                </a:solidFill>
                <a:latin typeface="+mn-lt"/>
                <a:sym typeface="+mn-ea"/>
              </a:rPr>
              <a:t>Write a program to generate the following series 2, 5, 11, 23, 47, 95, 191........... Input format: The input containing an integer which denotes 'n' Output format: Print the series and refer the sample output for formatting</a:t>
            </a:r>
            <a:endParaRPr lang="en-US" sz="1600" dirty="0">
              <a:solidFill>
                <a:srgbClr val="212529"/>
              </a:solidFill>
              <a:latin typeface="+mn-lt"/>
              <a:sym typeface="+mn-ea"/>
            </a:endParaRPr>
          </a:p>
          <a:p>
            <a:endParaRPr lang="en-US" sz="1600" dirty="0">
              <a:solidFill>
                <a:srgbClr val="212529"/>
              </a:solidFill>
              <a:latin typeface="+mn-lt"/>
              <a:sym typeface="+mn-ea"/>
            </a:endParaRPr>
          </a:p>
          <a:p>
            <a:r>
              <a:rPr lang="en-US" sz="1600" dirty="0">
                <a:solidFill>
                  <a:srgbClr val="212529"/>
                </a:solidFill>
                <a:latin typeface="+mn-lt"/>
                <a:sym typeface="+mn-ea"/>
              </a:rPr>
              <a:t>Input (stdin)</a:t>
            </a:r>
            <a:endParaRPr lang="en-US" sz="1600" dirty="0">
              <a:solidFill>
                <a:srgbClr val="212529"/>
              </a:solidFill>
              <a:latin typeface="+mn-lt"/>
              <a:sym typeface="+mn-ea"/>
            </a:endParaRPr>
          </a:p>
          <a:p>
            <a:r>
              <a:rPr lang="en-US" sz="1600" dirty="0">
                <a:solidFill>
                  <a:srgbClr val="212529"/>
                </a:solidFill>
                <a:latin typeface="+mn-lt"/>
                <a:sym typeface="+mn-ea"/>
              </a:rPr>
              <a:t>5</a:t>
            </a:r>
            <a:endParaRPr lang="en-US" sz="1600" dirty="0">
              <a:solidFill>
                <a:srgbClr val="212529"/>
              </a:solidFill>
              <a:latin typeface="+mn-lt"/>
              <a:sym typeface="+mn-ea"/>
            </a:endParaRPr>
          </a:p>
          <a:p>
            <a:endParaRPr lang="en-US" sz="1600" dirty="0">
              <a:solidFill>
                <a:srgbClr val="212529"/>
              </a:solidFill>
              <a:latin typeface="+mn-lt"/>
              <a:sym typeface="+mn-ea"/>
            </a:endParaRPr>
          </a:p>
          <a:p>
            <a:r>
              <a:rPr lang="en-US" sz="1600" dirty="0">
                <a:solidFill>
                  <a:srgbClr val="212529"/>
                </a:solidFill>
                <a:latin typeface="+mn-lt"/>
                <a:sym typeface="+mn-ea"/>
              </a:rPr>
              <a:t>Output (stdout)</a:t>
            </a:r>
            <a:endParaRPr lang="en-US" sz="1600" dirty="0">
              <a:solidFill>
                <a:srgbClr val="212529"/>
              </a:solidFill>
              <a:latin typeface="+mn-lt"/>
              <a:sym typeface="+mn-ea"/>
            </a:endParaRPr>
          </a:p>
          <a:p>
            <a:r>
              <a:rPr lang="en-US" sz="1600" dirty="0">
                <a:solidFill>
                  <a:srgbClr val="212529"/>
                </a:solidFill>
                <a:latin typeface="+mn-lt"/>
                <a:sym typeface="+mn-ea"/>
              </a:rPr>
              <a:t>2 5 11 23 47</a:t>
            </a:r>
            <a:endParaRPr lang="en-US" sz="1600" dirty="0">
              <a:solidFill>
                <a:srgbClr val="212529"/>
              </a:solidFill>
              <a:latin typeface="+mn-lt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g1432b8366c7_0_532"/>
          <p:cNvPicPr preferRelativeResize="0"/>
          <p:nvPr/>
        </p:nvPicPr>
        <p:blipFill rotWithShape="1">
          <a:blip r:embed="rId1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g1432b8366c7_0_532"/>
          <p:cNvPicPr preferRelativeResize="0"/>
          <p:nvPr/>
        </p:nvPicPr>
        <p:blipFill rotWithShape="1">
          <a:blip r:embed="rId2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g1432b8366c7_0_532"/>
          <p:cNvSpPr/>
          <p:nvPr/>
        </p:nvSpPr>
        <p:spPr>
          <a:xfrm>
            <a:off x="2147550" y="514550"/>
            <a:ext cx="4848900" cy="4122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r>
              <a:rPr lang="en-US" sz="1600" b="1" dirty="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04</a:t>
            </a:r>
            <a:endParaRPr sz="1600" b="1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470" name="Google Shape;470;g1432b8366c7_0_53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686959" y="4853782"/>
            <a:ext cx="2340965" cy="22563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71" name="Google Shape;471;g1432b8366c7_0_532"/>
          <p:cNvGraphicFramePr/>
          <p:nvPr/>
        </p:nvGraphicFramePr>
        <p:xfrm>
          <a:off x="1560830" y="1184910"/>
          <a:ext cx="6123940" cy="3505200"/>
        </p:xfrm>
        <a:graphic>
          <a:graphicData uri="http://schemas.openxmlformats.org/drawingml/2006/table">
            <a:tbl>
              <a:tblPr firstRow="1" bandRow="1">
                <a:noFill/>
                <a:tableStyleId>{E0E5BC8C-97B9-40B9-B279-415BD0EB9F8D}</a:tableStyleId>
              </a:tblPr>
              <a:tblGrid>
                <a:gridCol w="3055620"/>
                <a:gridCol w="3068320"/>
              </a:tblGrid>
              <a:tr h="318432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IN" sz="14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import java.util.Scanner;</a:t>
                      </a:r>
                      <a:endParaRPr lang="en-IN" sz="1400" b="0" i="0" u="none" strike="noStrike" cap="none">
                        <a:solidFill>
                          <a:srgbClr val="000000"/>
                        </a:solidFill>
                        <a:latin typeface="+mn-lt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endParaRPr lang="en-IN" sz="1400" b="0" i="0" u="none" strike="noStrike" cap="none">
                        <a:solidFill>
                          <a:srgbClr val="000000"/>
                        </a:solidFill>
                        <a:latin typeface="+mn-lt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IN" sz="14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class A</a:t>
                      </a:r>
                      <a:r>
                        <a:rPr lang="en-US" altLang="en-IN" sz="14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  </a:t>
                      </a:r>
                      <a:r>
                        <a:rPr lang="en-IN" sz="14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{</a:t>
                      </a:r>
                      <a:endParaRPr lang="en-IN" sz="1400" b="0" i="0" u="none" strike="noStrike" cap="none">
                        <a:solidFill>
                          <a:srgbClr val="000000"/>
                        </a:solidFill>
                        <a:latin typeface="+mn-lt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IN" sz="14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void fun()</a:t>
                      </a:r>
                      <a:r>
                        <a:rPr lang="en-US" altLang="en-IN" sz="14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  </a:t>
                      </a:r>
                      <a:r>
                        <a:rPr lang="en-IN" sz="14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{</a:t>
                      </a:r>
                      <a:endParaRPr lang="en-IN" sz="1400" b="0" i="0" u="none" strike="noStrike" cap="none">
                        <a:solidFill>
                          <a:srgbClr val="000000"/>
                        </a:solidFill>
                        <a:latin typeface="+mn-lt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IN" sz="14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Scanner s=new Scanner(System.in);</a:t>
                      </a:r>
                      <a:endParaRPr lang="en-IN" sz="1400" b="0" i="0" u="none" strike="noStrike" cap="none">
                        <a:solidFill>
                          <a:srgbClr val="000000"/>
                        </a:solidFill>
                        <a:latin typeface="+mn-lt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IN" sz="14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int n=s.nextInt();</a:t>
                      </a:r>
                      <a:endParaRPr lang="en-IN" sz="1400" b="0" i="0" u="none" strike="noStrike" cap="none">
                        <a:solidFill>
                          <a:srgbClr val="000000"/>
                        </a:solidFill>
                        <a:latin typeface="+mn-lt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IN" sz="14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int i;</a:t>
                      </a:r>
                      <a:endParaRPr lang="en-IN" sz="1400" b="0" i="0" u="none" strike="noStrike" cap="none">
                        <a:solidFill>
                          <a:srgbClr val="000000"/>
                        </a:solidFill>
                        <a:latin typeface="+mn-lt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IN" sz="14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int sum=5,t,f=2;</a:t>
                      </a:r>
                      <a:endParaRPr lang="en-IN" sz="1400" b="0" i="0" u="none" strike="noStrike" cap="none">
                        <a:solidFill>
                          <a:srgbClr val="000000"/>
                        </a:solidFill>
                        <a:latin typeface="+mn-lt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IN" sz="14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for(i=1;i&lt;=n;i++)</a:t>
                      </a:r>
                      <a:r>
                        <a:rPr lang="en-US" altLang="en-IN" sz="14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  </a:t>
                      </a:r>
                      <a:r>
                        <a:rPr lang="en-IN" sz="14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{</a:t>
                      </a:r>
                      <a:endParaRPr lang="en-IN" sz="1400" b="0" i="0" u="none" strike="noStrike" cap="none">
                        <a:solidFill>
                          <a:srgbClr val="000000"/>
                        </a:solidFill>
                        <a:latin typeface="+mn-lt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IN" sz="14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if(i==1)</a:t>
                      </a:r>
                      <a:r>
                        <a:rPr lang="en-US" altLang="en-IN" sz="14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  </a:t>
                      </a:r>
                      <a:r>
                        <a:rPr lang="en-IN" sz="14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{</a:t>
                      </a:r>
                      <a:endParaRPr lang="en-IN" sz="1400" b="0" i="0" u="none" strike="noStrike" cap="none">
                        <a:solidFill>
                          <a:srgbClr val="000000"/>
                        </a:solidFill>
                        <a:latin typeface="+mn-lt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IN" sz="14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System.out.print("2 ");</a:t>
                      </a:r>
                      <a:endParaRPr lang="en-IN" sz="1400" b="0" i="0" u="none" strike="noStrike" cap="none">
                        <a:solidFill>
                          <a:srgbClr val="000000"/>
                        </a:solidFill>
                        <a:latin typeface="+mn-lt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IN" sz="14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}</a:t>
                      </a:r>
                      <a:endParaRPr lang="en-IN" sz="1400" b="0" i="0" u="none" strike="noStrike" cap="none">
                        <a:solidFill>
                          <a:srgbClr val="000000"/>
                        </a:solidFill>
                        <a:latin typeface="+mn-lt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IN" sz="14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else</a:t>
                      </a:r>
                      <a:r>
                        <a:rPr lang="en-US" altLang="en-IN" sz="14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  </a:t>
                      </a:r>
                      <a:r>
                        <a:rPr lang="en-IN" sz="14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{</a:t>
                      </a:r>
                      <a:endParaRPr lang="en-IN" sz="1400" b="0" i="0" u="none" strike="noStrike" cap="none">
                        <a:solidFill>
                          <a:srgbClr val="000000"/>
                        </a:solidFill>
                        <a:latin typeface="+mn-lt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IN" sz="14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System.out.print(sum+" "); </a:t>
                      </a:r>
                      <a:endParaRPr lang="en-IN" sz="1400" b="0" i="0" u="none" strike="noStrike" cap="none">
                        <a:solidFill>
                          <a:srgbClr val="000000"/>
                        </a:solidFill>
                        <a:latin typeface="+mn-lt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IN" sz="1400">
                          <a:latin typeface="+mn-lt"/>
                          <a:sym typeface="Arial" panose="020B0604020202020204"/>
                        </a:rPr>
                        <a:t>t=(f*sum)+1;           </a:t>
                      </a:r>
                      <a:endParaRPr lang="en-IN" sz="1400">
                        <a:latin typeface="+mn-lt"/>
                        <a:sym typeface="Arial" panose="020B06040202020202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IN" sz="1400">
                          <a:latin typeface="+mn-lt"/>
                          <a:sym typeface="Arial" panose="020B0604020202020204"/>
                        </a:rPr>
                        <a:t>sum=t;</a:t>
                      </a:r>
                      <a:endParaRPr lang="en-IN" sz="1400" b="0" i="0" u="none" strike="noStrike" cap="none">
                        <a:solidFill>
                          <a:srgbClr val="000000"/>
                        </a:solidFill>
                        <a:latin typeface="+mn-lt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IN" sz="1400">
                          <a:latin typeface="+mn-lt"/>
                          <a:sym typeface="Arial" panose="020B0604020202020204"/>
                        </a:rPr>
                        <a:t>}</a:t>
                      </a:r>
                      <a:endParaRPr lang="en-IN" sz="1400" b="0" i="0" u="none" strike="noStrike" cap="none">
                        <a:solidFill>
                          <a:srgbClr val="000000"/>
                        </a:solidFill>
                        <a:latin typeface="+mn-lt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IN" sz="1400">
                          <a:latin typeface="+mn-lt"/>
                          <a:sym typeface="Arial" panose="020B0604020202020204"/>
                        </a:rPr>
                        <a:t>}</a:t>
                      </a:r>
                      <a:endParaRPr lang="en-IN" sz="1400" b="0" i="0" u="none" strike="noStrike" cap="none">
                        <a:solidFill>
                          <a:srgbClr val="000000"/>
                        </a:solidFill>
                        <a:latin typeface="+mn-lt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IN" sz="1400">
                          <a:latin typeface="+mn-lt"/>
                          <a:sym typeface="Arial" panose="020B0604020202020204"/>
                        </a:rPr>
                        <a:t>}</a:t>
                      </a:r>
                      <a:endParaRPr lang="en-IN" sz="1400" b="0" i="0" u="none" strike="noStrike" cap="none">
                        <a:solidFill>
                          <a:srgbClr val="000000"/>
                        </a:solidFill>
                        <a:latin typeface="+mn-lt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IN" sz="1400">
                          <a:latin typeface="+mn-lt"/>
                          <a:sym typeface="Arial" panose="020B0604020202020204"/>
                        </a:rPr>
                        <a:t>}</a:t>
                      </a:r>
                      <a:endParaRPr lang="en-IN" sz="1400" b="0" i="0" u="none" strike="noStrike" cap="none">
                        <a:solidFill>
                          <a:srgbClr val="000000"/>
                        </a:solidFill>
                        <a:latin typeface="+mn-lt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IN" sz="1400">
                          <a:latin typeface="+mn-lt"/>
                          <a:sym typeface="Arial" panose="020B0604020202020204"/>
                        </a:rPr>
                        <a:t>class Main</a:t>
                      </a:r>
                      <a:r>
                        <a:rPr lang="en-US" altLang="en-IN" sz="1400">
                          <a:latin typeface="+mn-lt"/>
                          <a:sym typeface="Arial" panose="020B0604020202020204"/>
                        </a:rPr>
                        <a:t>  </a:t>
                      </a:r>
                      <a:r>
                        <a:rPr lang="en-IN" sz="1400">
                          <a:latin typeface="+mn-lt"/>
                          <a:sym typeface="Arial" panose="020B0604020202020204"/>
                        </a:rPr>
                        <a:t>{</a:t>
                      </a:r>
                      <a:endParaRPr lang="en-IN" sz="1400" b="0" i="0" u="none" strike="noStrike" cap="none">
                        <a:solidFill>
                          <a:srgbClr val="000000"/>
                        </a:solidFill>
                        <a:latin typeface="+mn-lt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IN" sz="1400">
                          <a:latin typeface="+mn-lt"/>
                          <a:sym typeface="Arial" panose="020B0604020202020204"/>
                        </a:rPr>
                        <a:t>public static void main(String args[])</a:t>
                      </a:r>
                      <a:r>
                        <a:rPr lang="en-US" altLang="en-IN" sz="1400">
                          <a:latin typeface="+mn-lt"/>
                          <a:sym typeface="Arial" panose="020B0604020202020204"/>
                        </a:rPr>
                        <a:t>  </a:t>
                      </a:r>
                      <a:r>
                        <a:rPr lang="en-IN" sz="1400">
                          <a:latin typeface="+mn-lt"/>
                          <a:sym typeface="Arial" panose="020B0604020202020204"/>
                        </a:rPr>
                        <a:t>{</a:t>
                      </a:r>
                      <a:endParaRPr lang="en-IN" sz="1400" b="0" i="0" u="none" strike="noStrike" cap="none">
                        <a:solidFill>
                          <a:srgbClr val="000000"/>
                        </a:solidFill>
                        <a:latin typeface="+mn-lt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IN" sz="1400">
                          <a:latin typeface="+mn-lt"/>
                          <a:sym typeface="Arial" panose="020B0604020202020204"/>
                        </a:rPr>
                        <a:t>A g=new A();</a:t>
                      </a:r>
                      <a:endParaRPr lang="en-IN" sz="1400" b="0" i="0" u="none" strike="noStrike" cap="none">
                        <a:solidFill>
                          <a:srgbClr val="000000"/>
                        </a:solidFill>
                        <a:latin typeface="+mn-lt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IN" sz="1400">
                          <a:latin typeface="+mn-lt"/>
                          <a:sym typeface="Arial" panose="020B0604020202020204"/>
                        </a:rPr>
                        <a:t>g.fun();</a:t>
                      </a:r>
                      <a:endParaRPr lang="en-IN" sz="1400" b="0" i="0" u="none" strike="noStrike" cap="none">
                        <a:solidFill>
                          <a:srgbClr val="000000"/>
                        </a:solidFill>
                        <a:latin typeface="+mn-lt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IN" sz="1400">
                          <a:latin typeface="+mn-lt"/>
                          <a:sym typeface="Arial" panose="020B0604020202020204"/>
                        </a:rPr>
                        <a:t>}</a:t>
                      </a:r>
                      <a:endParaRPr lang="en-IN" sz="1400" b="0" i="0" u="none" strike="noStrike" cap="none">
                        <a:solidFill>
                          <a:srgbClr val="000000"/>
                        </a:solidFill>
                        <a:latin typeface="+mn-lt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IN" sz="1400">
                          <a:latin typeface="+mn-lt"/>
                          <a:sym typeface="Arial" panose="020B0604020202020204"/>
                        </a:rPr>
                        <a:t>}</a:t>
                      </a:r>
                      <a:endParaRPr lang="en-IN" sz="1400" b="0" i="0" u="none" strike="noStrike" cap="none">
                        <a:solidFill>
                          <a:srgbClr val="000000"/>
                        </a:solidFill>
                        <a:latin typeface="+mn-lt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endParaRPr lang="en-IN" sz="1400" b="0" i="0" u="none" strike="noStrike" cap="none">
                        <a:solidFill>
                          <a:srgbClr val="000000"/>
                        </a:solidFill>
                        <a:latin typeface="+mn-lt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endParaRPr lang="en-IN" sz="1400" b="0" i="0" u="none" strike="noStrike" cap="none">
                        <a:solidFill>
                          <a:srgbClr val="000000"/>
                        </a:solidFill>
                        <a:latin typeface="+mn-lt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endParaRPr sz="1400" u="none" strike="noStrike" cap="none" dirty="0">
                        <a:latin typeface="+mn-lt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g1432b8366c7_0_523"/>
          <p:cNvPicPr preferRelativeResize="0"/>
          <p:nvPr/>
        </p:nvPicPr>
        <p:blipFill rotWithShape="1">
          <a:blip r:embed="rId1"/>
          <a:srcRect l="41241" t="9529" r="-23988" b="51127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g1432b8366c7_0_523"/>
          <p:cNvPicPr preferRelativeResize="0"/>
          <p:nvPr/>
        </p:nvPicPr>
        <p:blipFill rotWithShape="1">
          <a:blip r:embed="rId2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g1432b8366c7_0_523"/>
          <p:cNvPicPr preferRelativeResize="0"/>
          <p:nvPr/>
        </p:nvPicPr>
        <p:blipFill rotWithShape="1">
          <a:blip r:embed="rId1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g1432b8366c7_0_523"/>
          <p:cNvSpPr/>
          <p:nvPr/>
        </p:nvSpPr>
        <p:spPr>
          <a:xfrm>
            <a:off x="2147550" y="514550"/>
            <a:ext cx="4848900" cy="4122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r>
              <a:rPr lang="en-US" sz="1600" b="1" dirty="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05</a:t>
            </a:r>
            <a:endParaRPr sz="1600" b="1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461" name="Google Shape;461;g1432b8366c7_0_52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686959" y="4853782"/>
            <a:ext cx="2340965" cy="2256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698220" y="1362611"/>
            <a:ext cx="7501180" cy="27997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+mn-lt"/>
              </a:rPr>
              <a:t>Write a program to print the given pattern</a:t>
            </a:r>
            <a:endParaRPr lang="en-US" sz="1600" dirty="0">
              <a:latin typeface="+mn-lt"/>
            </a:endParaRPr>
          </a:p>
          <a:p>
            <a:endParaRPr lang="en-US" sz="1600" dirty="0">
              <a:latin typeface="+mn-lt"/>
            </a:endParaRPr>
          </a:p>
          <a:p>
            <a:endParaRPr lang="en-US" sz="1600" dirty="0">
              <a:latin typeface="+mn-lt"/>
            </a:endParaRPr>
          </a:p>
          <a:p>
            <a:r>
              <a:rPr lang="en-US" sz="1600" dirty="0">
                <a:latin typeface="+mn-lt"/>
              </a:rPr>
              <a:t>Input format:</a:t>
            </a:r>
            <a:endParaRPr lang="en-US" sz="1600" dirty="0">
              <a:latin typeface="+mn-lt"/>
            </a:endParaRPr>
          </a:p>
          <a:p>
            <a:endParaRPr lang="en-US" sz="1600" dirty="0">
              <a:latin typeface="+mn-lt"/>
            </a:endParaRPr>
          </a:p>
          <a:p>
            <a:r>
              <a:rPr lang="en-US" sz="1600" dirty="0">
                <a:latin typeface="+mn-lt"/>
              </a:rPr>
              <a:t>The input containing an integer which denotes the 'n'</a:t>
            </a:r>
            <a:endParaRPr lang="en-US" sz="1600" dirty="0">
              <a:latin typeface="+mn-lt"/>
            </a:endParaRPr>
          </a:p>
          <a:p>
            <a:endParaRPr lang="en-US" sz="1600" dirty="0">
              <a:latin typeface="+mn-lt"/>
            </a:endParaRPr>
          </a:p>
          <a:p>
            <a:r>
              <a:rPr lang="en-US" sz="1600" dirty="0">
                <a:latin typeface="+mn-lt"/>
              </a:rPr>
              <a:t>Output format:</a:t>
            </a:r>
            <a:endParaRPr lang="en-US" sz="1600" dirty="0">
              <a:latin typeface="+mn-lt"/>
            </a:endParaRPr>
          </a:p>
          <a:p>
            <a:endParaRPr lang="en-US" sz="1600" dirty="0">
              <a:latin typeface="+mn-lt"/>
            </a:endParaRPr>
          </a:p>
          <a:p>
            <a:r>
              <a:rPr lang="en-US" sz="1600" dirty="0">
                <a:latin typeface="+mn-lt"/>
              </a:rPr>
              <a:t>Refer the sample output for formatting. There is a trailing space at the end of each line</a:t>
            </a:r>
            <a:endParaRPr lang="en-US" sz="1600" dirty="0">
              <a:latin typeface="+mn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g1432b8366c7_0_523"/>
          <p:cNvPicPr preferRelativeResize="0"/>
          <p:nvPr/>
        </p:nvPicPr>
        <p:blipFill rotWithShape="1">
          <a:blip r:embed="rId1"/>
          <a:srcRect l="41241" t="9529" r="-23988" b="51127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g1432b8366c7_0_523"/>
          <p:cNvPicPr preferRelativeResize="0"/>
          <p:nvPr/>
        </p:nvPicPr>
        <p:blipFill rotWithShape="1">
          <a:blip r:embed="rId2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g1432b8366c7_0_523"/>
          <p:cNvPicPr preferRelativeResize="0"/>
          <p:nvPr/>
        </p:nvPicPr>
        <p:blipFill rotWithShape="1">
          <a:blip r:embed="rId1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g1432b8366c7_0_523"/>
          <p:cNvSpPr/>
          <p:nvPr/>
        </p:nvSpPr>
        <p:spPr>
          <a:xfrm>
            <a:off x="2147550" y="514550"/>
            <a:ext cx="4848900" cy="4122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r>
              <a:rPr lang="en-US" sz="1600" b="1" dirty="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05</a:t>
            </a:r>
            <a:endParaRPr sz="1600" b="1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461" name="Google Shape;461;g1432b8366c7_0_52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686959" y="4853782"/>
            <a:ext cx="2340965" cy="2256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707110" y="1490246"/>
            <a:ext cx="7501180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+mn-lt"/>
                <a:sym typeface="+mn-ea"/>
              </a:rPr>
              <a:t>Sample Input:</a:t>
            </a:r>
            <a:endParaRPr lang="en-US" sz="1600" dirty="0">
              <a:latin typeface="+mn-lt"/>
            </a:endParaRPr>
          </a:p>
          <a:p>
            <a:r>
              <a:rPr lang="en-US" sz="1600" dirty="0">
                <a:latin typeface="+mn-lt"/>
                <a:sym typeface="+mn-ea"/>
              </a:rPr>
              <a:t>5</a:t>
            </a:r>
            <a:endParaRPr lang="en-US" sz="1600" dirty="0">
              <a:latin typeface="+mn-lt"/>
            </a:endParaRPr>
          </a:p>
          <a:p>
            <a:endParaRPr lang="en-US" sz="1600" dirty="0">
              <a:latin typeface="+mn-lt"/>
            </a:endParaRPr>
          </a:p>
          <a:p>
            <a:r>
              <a:rPr lang="en-US" sz="1600" dirty="0">
                <a:latin typeface="+mn-lt"/>
                <a:sym typeface="+mn-ea"/>
              </a:rPr>
              <a:t>Sample Output:</a:t>
            </a:r>
            <a:endParaRPr lang="en-US" sz="1600" dirty="0">
              <a:latin typeface="+mn-lt"/>
            </a:endParaRPr>
          </a:p>
          <a:p>
            <a:r>
              <a:rPr lang="en-US" sz="1600" dirty="0">
                <a:latin typeface="+mn-lt"/>
                <a:sym typeface="+mn-ea"/>
              </a:rPr>
              <a:t>5 5 5 5 5</a:t>
            </a:r>
            <a:endParaRPr lang="en-US" sz="1600" dirty="0">
              <a:latin typeface="+mn-lt"/>
            </a:endParaRPr>
          </a:p>
          <a:p>
            <a:r>
              <a:rPr lang="en-US" sz="1600" dirty="0">
                <a:latin typeface="+mn-lt"/>
                <a:sym typeface="+mn-ea"/>
              </a:rPr>
              <a:t>4 5 5 5 5</a:t>
            </a:r>
            <a:endParaRPr lang="en-US" sz="1600" dirty="0">
              <a:latin typeface="+mn-lt"/>
            </a:endParaRPr>
          </a:p>
          <a:p>
            <a:r>
              <a:rPr lang="en-US" sz="1600" dirty="0">
                <a:latin typeface="+mn-lt"/>
                <a:sym typeface="+mn-ea"/>
              </a:rPr>
              <a:t>3 4 5 5 5</a:t>
            </a:r>
            <a:endParaRPr lang="en-US" sz="1600" dirty="0">
              <a:latin typeface="+mn-lt"/>
            </a:endParaRPr>
          </a:p>
          <a:p>
            <a:r>
              <a:rPr lang="en-US" sz="1600" dirty="0">
                <a:latin typeface="+mn-lt"/>
                <a:sym typeface="+mn-ea"/>
              </a:rPr>
              <a:t>2 3 4 5 5</a:t>
            </a:r>
            <a:endParaRPr lang="en-US" sz="1600" dirty="0">
              <a:latin typeface="+mn-lt"/>
            </a:endParaRPr>
          </a:p>
          <a:p>
            <a:r>
              <a:rPr lang="en-US" sz="1600" dirty="0">
                <a:latin typeface="+mn-lt"/>
                <a:sym typeface="+mn-ea"/>
              </a:rPr>
              <a:t>1 2 3 4 5</a:t>
            </a:r>
            <a:endParaRPr lang="en-US" sz="1600" dirty="0">
              <a:latin typeface="+mn-lt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627755" y="1490345"/>
            <a:ext cx="1539240" cy="279971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600" dirty="0">
                <a:latin typeface="+mn-lt"/>
                <a:sym typeface="+mn-ea"/>
              </a:rPr>
              <a:t>Input (stdin)</a:t>
            </a:r>
            <a:endParaRPr lang="en-US" sz="1600" dirty="0">
              <a:latin typeface="+mn-lt"/>
            </a:endParaRPr>
          </a:p>
          <a:p>
            <a:pPr algn="l"/>
            <a:r>
              <a:rPr lang="en-US" sz="1600" dirty="0">
                <a:latin typeface="+mn-lt"/>
                <a:sym typeface="+mn-ea"/>
              </a:rPr>
              <a:t>6</a:t>
            </a:r>
            <a:endParaRPr lang="en-US" sz="1600" dirty="0">
              <a:latin typeface="+mn-lt"/>
            </a:endParaRPr>
          </a:p>
          <a:p>
            <a:pPr algn="l"/>
            <a:endParaRPr lang="en-US" sz="1600" dirty="0">
              <a:latin typeface="+mn-lt"/>
            </a:endParaRPr>
          </a:p>
          <a:p>
            <a:pPr algn="l"/>
            <a:r>
              <a:rPr lang="en-US" sz="1600" dirty="0">
                <a:latin typeface="+mn-lt"/>
                <a:sym typeface="+mn-ea"/>
              </a:rPr>
              <a:t>Output (stdout)</a:t>
            </a:r>
            <a:endParaRPr lang="en-US" sz="1600" dirty="0">
              <a:latin typeface="+mn-lt"/>
            </a:endParaRPr>
          </a:p>
          <a:p>
            <a:pPr algn="l"/>
            <a:r>
              <a:rPr lang="en-US" sz="1600" dirty="0">
                <a:latin typeface="+mn-lt"/>
                <a:sym typeface="+mn-ea"/>
              </a:rPr>
              <a:t>666666</a:t>
            </a:r>
            <a:endParaRPr lang="en-US" sz="1600" dirty="0">
              <a:latin typeface="+mn-lt"/>
            </a:endParaRPr>
          </a:p>
          <a:p>
            <a:pPr algn="l"/>
            <a:r>
              <a:rPr lang="en-US" sz="1600" dirty="0">
                <a:latin typeface="+mn-lt"/>
                <a:sym typeface="+mn-ea"/>
              </a:rPr>
              <a:t>566666</a:t>
            </a:r>
            <a:endParaRPr lang="en-US" sz="1600" dirty="0">
              <a:latin typeface="+mn-lt"/>
            </a:endParaRPr>
          </a:p>
          <a:p>
            <a:pPr algn="l"/>
            <a:r>
              <a:rPr lang="en-US" sz="1600" dirty="0">
                <a:latin typeface="+mn-lt"/>
                <a:sym typeface="+mn-ea"/>
              </a:rPr>
              <a:t>456666</a:t>
            </a:r>
            <a:endParaRPr lang="en-US" sz="1600" dirty="0">
              <a:latin typeface="+mn-lt"/>
            </a:endParaRPr>
          </a:p>
          <a:p>
            <a:pPr algn="l"/>
            <a:r>
              <a:rPr lang="en-US" sz="1600" dirty="0">
                <a:latin typeface="+mn-lt"/>
                <a:sym typeface="+mn-ea"/>
              </a:rPr>
              <a:t>345666</a:t>
            </a:r>
            <a:endParaRPr lang="en-US" sz="1600" dirty="0">
              <a:latin typeface="+mn-lt"/>
            </a:endParaRPr>
          </a:p>
          <a:p>
            <a:pPr algn="l"/>
            <a:r>
              <a:rPr lang="en-US" sz="1600" dirty="0">
                <a:latin typeface="+mn-lt"/>
                <a:sym typeface="+mn-ea"/>
              </a:rPr>
              <a:t>234566</a:t>
            </a:r>
            <a:endParaRPr lang="en-US" sz="1600" dirty="0">
              <a:latin typeface="+mn-lt"/>
            </a:endParaRPr>
          </a:p>
          <a:p>
            <a:pPr algn="l"/>
            <a:r>
              <a:rPr lang="en-US" sz="1600" dirty="0">
                <a:latin typeface="+mn-lt"/>
                <a:sym typeface="+mn-ea"/>
              </a:rPr>
              <a:t>123456</a:t>
            </a:r>
            <a:endParaRPr lang="en-US" sz="1600" dirty="0">
              <a:latin typeface="+mn-lt"/>
            </a:endParaRPr>
          </a:p>
          <a:p>
            <a:endParaRPr lang="en-US"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g1432b8366c7_0_532"/>
          <p:cNvPicPr preferRelativeResize="0"/>
          <p:nvPr/>
        </p:nvPicPr>
        <p:blipFill rotWithShape="1">
          <a:blip r:embed="rId1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g1432b8366c7_0_532"/>
          <p:cNvPicPr preferRelativeResize="0"/>
          <p:nvPr/>
        </p:nvPicPr>
        <p:blipFill rotWithShape="1">
          <a:blip r:embed="rId2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g1432b8366c7_0_532"/>
          <p:cNvSpPr/>
          <p:nvPr/>
        </p:nvSpPr>
        <p:spPr>
          <a:xfrm>
            <a:off x="2147550" y="514550"/>
            <a:ext cx="4848900" cy="4122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r>
              <a:rPr lang="en-US" sz="1600" b="1" dirty="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05</a:t>
            </a:r>
            <a:endParaRPr sz="1600" b="1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470" name="Google Shape;470;g1432b8366c7_0_53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686959" y="4853782"/>
            <a:ext cx="2340965" cy="22563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Table 4"/>
          <p:cNvGraphicFramePr/>
          <p:nvPr/>
        </p:nvGraphicFramePr>
        <p:xfrm>
          <a:off x="1372235" y="1244600"/>
          <a:ext cx="64001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9765"/>
                <a:gridCol w="3199765"/>
              </a:tblGrid>
              <a:tr h="381000">
                <a:tc>
                  <a:txBody>
                    <a:bodyPr/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import java.util.Scanner;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class A  {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void d()  {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Scanner s=new Scanner(System.in);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int a=s.nextInt();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int i,j,k;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for(i=a;i&gt;=1;i--)  {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for(j=i;j&lt;=a;j++)  {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System.out.print(j+"");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}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for(k=1;k&lt;=i-1;k++)  { 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System.out.print(a+"");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}  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System.out.println("");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}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}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}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class Main  {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public static void main(String args[])  {   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A c=new A();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c.d();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}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}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g1432b8366c7_0_523"/>
          <p:cNvPicPr preferRelativeResize="0"/>
          <p:nvPr/>
        </p:nvPicPr>
        <p:blipFill rotWithShape="1">
          <a:blip r:embed="rId1"/>
          <a:srcRect l="41241" t="9529" r="-23988" b="51127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g1432b8366c7_0_523"/>
          <p:cNvPicPr preferRelativeResize="0"/>
          <p:nvPr/>
        </p:nvPicPr>
        <p:blipFill rotWithShape="1">
          <a:blip r:embed="rId2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g1432b8366c7_0_523"/>
          <p:cNvPicPr preferRelativeResize="0"/>
          <p:nvPr/>
        </p:nvPicPr>
        <p:blipFill rotWithShape="1">
          <a:blip r:embed="rId1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g1432b8366c7_0_523"/>
          <p:cNvSpPr/>
          <p:nvPr/>
        </p:nvSpPr>
        <p:spPr>
          <a:xfrm>
            <a:off x="2147550" y="514550"/>
            <a:ext cx="4848900" cy="4122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r>
              <a:rPr lang="en-US" sz="1600" b="1" dirty="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06</a:t>
            </a:r>
            <a:endParaRPr sz="1600" b="1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461" name="Google Shape;461;g1432b8366c7_0_52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686959" y="4853782"/>
            <a:ext cx="2340965" cy="2256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821946" y="1418320"/>
            <a:ext cx="7501180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212529"/>
                </a:solidFill>
                <a:latin typeface="+mn-lt"/>
              </a:rPr>
              <a:t>Write a program to print the given below pattern.</a:t>
            </a:r>
            <a:endParaRPr lang="en-US" sz="1600" dirty="0">
              <a:solidFill>
                <a:srgbClr val="212529"/>
              </a:solidFill>
              <a:latin typeface="+mn-lt"/>
            </a:endParaRPr>
          </a:p>
          <a:p>
            <a:endParaRPr lang="en-US" sz="1600" dirty="0">
              <a:solidFill>
                <a:srgbClr val="212529"/>
              </a:solidFill>
              <a:latin typeface="+mn-lt"/>
            </a:endParaRPr>
          </a:p>
          <a:p>
            <a:endParaRPr lang="en-US" sz="1600" dirty="0">
              <a:solidFill>
                <a:srgbClr val="212529"/>
              </a:solidFill>
              <a:latin typeface="+mn-lt"/>
            </a:endParaRPr>
          </a:p>
          <a:p>
            <a:r>
              <a:rPr lang="en-US" sz="1600" dirty="0">
                <a:solidFill>
                  <a:srgbClr val="212529"/>
                </a:solidFill>
                <a:latin typeface="+mn-lt"/>
              </a:rPr>
              <a:t>Input format:</a:t>
            </a:r>
            <a:endParaRPr lang="en-US" sz="1600" dirty="0">
              <a:solidFill>
                <a:srgbClr val="212529"/>
              </a:solidFill>
              <a:latin typeface="+mn-lt"/>
            </a:endParaRPr>
          </a:p>
          <a:p>
            <a:r>
              <a:rPr lang="en-US" sz="1600" dirty="0">
                <a:solidFill>
                  <a:srgbClr val="212529"/>
                </a:solidFill>
                <a:latin typeface="+mn-lt"/>
              </a:rPr>
              <a:t>The input containing an integer which denotes the value of 'n'</a:t>
            </a:r>
            <a:endParaRPr lang="en-US" sz="1600" dirty="0">
              <a:solidFill>
                <a:srgbClr val="212529"/>
              </a:solidFill>
              <a:latin typeface="+mn-lt"/>
            </a:endParaRPr>
          </a:p>
          <a:p>
            <a:endParaRPr lang="en-US" sz="1600" dirty="0">
              <a:solidFill>
                <a:srgbClr val="212529"/>
              </a:solidFill>
              <a:latin typeface="+mn-lt"/>
            </a:endParaRPr>
          </a:p>
          <a:p>
            <a:r>
              <a:rPr lang="en-US" sz="1600" dirty="0">
                <a:solidFill>
                  <a:srgbClr val="212529"/>
                </a:solidFill>
                <a:latin typeface="+mn-lt"/>
              </a:rPr>
              <a:t>Output format:</a:t>
            </a:r>
            <a:endParaRPr lang="en-US" sz="1600" dirty="0">
              <a:solidFill>
                <a:srgbClr val="212529"/>
              </a:solidFill>
              <a:latin typeface="+mn-lt"/>
            </a:endParaRPr>
          </a:p>
          <a:p>
            <a:r>
              <a:rPr lang="en-US" sz="1600" dirty="0">
                <a:solidFill>
                  <a:srgbClr val="212529"/>
                </a:solidFill>
                <a:latin typeface="+mn-lt"/>
              </a:rPr>
              <a:t>Refer the sample output for formatting. There is a trailing space at the end of each line.</a:t>
            </a:r>
            <a:endParaRPr lang="en-US" sz="1600" dirty="0">
              <a:solidFill>
                <a:srgbClr val="212529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g1432b8366c7_0_523"/>
          <p:cNvPicPr preferRelativeResize="0"/>
          <p:nvPr/>
        </p:nvPicPr>
        <p:blipFill rotWithShape="1">
          <a:blip r:embed="rId1"/>
          <a:srcRect l="41241" t="9529" r="-23988" b="51127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g1432b8366c7_0_523"/>
          <p:cNvPicPr preferRelativeResize="0"/>
          <p:nvPr/>
        </p:nvPicPr>
        <p:blipFill rotWithShape="1">
          <a:blip r:embed="rId2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g1432b8366c7_0_523"/>
          <p:cNvPicPr preferRelativeResize="0"/>
          <p:nvPr/>
        </p:nvPicPr>
        <p:blipFill rotWithShape="1">
          <a:blip r:embed="rId1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g1432b8366c7_0_523"/>
          <p:cNvSpPr/>
          <p:nvPr/>
        </p:nvSpPr>
        <p:spPr>
          <a:xfrm>
            <a:off x="2147550" y="514550"/>
            <a:ext cx="4848900" cy="4122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r>
              <a:rPr lang="en-US" sz="1600" b="1" dirty="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06</a:t>
            </a:r>
            <a:endParaRPr sz="1600" b="1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461" name="Google Shape;461;g1432b8366c7_0_52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686959" y="4853782"/>
            <a:ext cx="2340965" cy="2256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821946" y="1491345"/>
            <a:ext cx="7501180" cy="2553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00" dirty="0">
              <a:solidFill>
                <a:srgbClr val="212529"/>
              </a:solidFill>
              <a:latin typeface="+mn-lt"/>
            </a:endParaRPr>
          </a:p>
          <a:p>
            <a:r>
              <a:rPr lang="en-US" sz="1600" dirty="0">
                <a:solidFill>
                  <a:srgbClr val="212529"/>
                </a:solidFill>
                <a:latin typeface="+mn-lt"/>
                <a:sym typeface="+mn-ea"/>
              </a:rPr>
              <a:t>Sample Input:</a:t>
            </a:r>
            <a:endParaRPr lang="en-US" sz="1600" dirty="0">
              <a:solidFill>
                <a:srgbClr val="212529"/>
              </a:solidFill>
              <a:latin typeface="+mn-lt"/>
            </a:endParaRPr>
          </a:p>
          <a:p>
            <a:r>
              <a:rPr lang="en-US" sz="1600" dirty="0">
                <a:solidFill>
                  <a:srgbClr val="212529"/>
                </a:solidFill>
                <a:latin typeface="+mn-lt"/>
                <a:sym typeface="+mn-ea"/>
              </a:rPr>
              <a:t>4</a:t>
            </a:r>
            <a:endParaRPr lang="en-US" sz="1600" dirty="0">
              <a:solidFill>
                <a:srgbClr val="212529"/>
              </a:solidFill>
              <a:latin typeface="+mn-lt"/>
              <a:sym typeface="+mn-ea"/>
            </a:endParaRPr>
          </a:p>
          <a:p>
            <a:endParaRPr lang="en-US" sz="1600" dirty="0">
              <a:solidFill>
                <a:srgbClr val="212529"/>
              </a:solidFill>
              <a:latin typeface="+mn-lt"/>
              <a:sym typeface="+mn-ea"/>
            </a:endParaRPr>
          </a:p>
          <a:p>
            <a:r>
              <a:rPr lang="en-US" sz="1600" dirty="0">
                <a:solidFill>
                  <a:srgbClr val="212529"/>
                </a:solidFill>
                <a:latin typeface="+mn-lt"/>
                <a:sym typeface="+mn-ea"/>
              </a:rPr>
              <a:t>Sample Output:</a:t>
            </a:r>
            <a:endParaRPr lang="en-US" sz="1600" dirty="0">
              <a:solidFill>
                <a:srgbClr val="212529"/>
              </a:solidFill>
              <a:latin typeface="+mn-lt"/>
            </a:endParaRPr>
          </a:p>
          <a:p>
            <a:r>
              <a:rPr lang="en-US" sz="1600" dirty="0">
                <a:solidFill>
                  <a:srgbClr val="212529"/>
                </a:solidFill>
                <a:latin typeface="+mn-lt"/>
                <a:sym typeface="+mn-ea"/>
              </a:rPr>
              <a:t>1112</a:t>
            </a:r>
            <a:endParaRPr lang="en-US" sz="1600" dirty="0">
              <a:solidFill>
                <a:srgbClr val="212529"/>
              </a:solidFill>
              <a:latin typeface="+mn-lt"/>
            </a:endParaRPr>
          </a:p>
          <a:p>
            <a:r>
              <a:rPr lang="en-US" sz="1600" dirty="0">
                <a:solidFill>
                  <a:srgbClr val="212529"/>
                </a:solidFill>
                <a:latin typeface="+mn-lt"/>
                <a:sym typeface="+mn-ea"/>
              </a:rPr>
              <a:t>3222</a:t>
            </a:r>
            <a:endParaRPr lang="en-US" sz="1600" dirty="0">
              <a:solidFill>
                <a:srgbClr val="212529"/>
              </a:solidFill>
              <a:latin typeface="+mn-lt"/>
            </a:endParaRPr>
          </a:p>
          <a:p>
            <a:r>
              <a:rPr lang="en-US" sz="1600" dirty="0">
                <a:solidFill>
                  <a:srgbClr val="212529"/>
                </a:solidFill>
                <a:latin typeface="+mn-lt"/>
                <a:sym typeface="+mn-ea"/>
              </a:rPr>
              <a:t>3334</a:t>
            </a:r>
            <a:endParaRPr lang="en-US" sz="1600" dirty="0">
              <a:solidFill>
                <a:srgbClr val="212529"/>
              </a:solidFill>
              <a:latin typeface="+mn-lt"/>
            </a:endParaRPr>
          </a:p>
          <a:p>
            <a:r>
              <a:rPr lang="en-US" sz="1600" dirty="0">
                <a:solidFill>
                  <a:srgbClr val="212529"/>
                </a:solidFill>
                <a:latin typeface="+mn-lt"/>
                <a:sym typeface="+mn-ea"/>
              </a:rPr>
              <a:t>5444</a:t>
            </a:r>
            <a:endParaRPr lang="en-US" sz="1600" dirty="0">
              <a:solidFill>
                <a:srgbClr val="212529"/>
              </a:solidFill>
              <a:latin typeface="+mn-lt"/>
              <a:sym typeface="+mn-ea"/>
            </a:endParaRPr>
          </a:p>
          <a:p>
            <a:endParaRPr lang="en-US" sz="1600" dirty="0">
              <a:solidFill>
                <a:srgbClr val="212529"/>
              </a:solidFill>
              <a:latin typeface="+mn-lt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865880" y="1758950"/>
            <a:ext cx="1539240" cy="25533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1600" dirty="0">
                <a:solidFill>
                  <a:srgbClr val="212529"/>
                </a:solidFill>
                <a:latin typeface="+mn-lt"/>
                <a:sym typeface="+mn-ea"/>
              </a:rPr>
              <a:t>Input (stdin)</a:t>
            </a:r>
            <a:endParaRPr lang="en-US" sz="1600" dirty="0">
              <a:solidFill>
                <a:srgbClr val="212529"/>
              </a:solidFill>
              <a:latin typeface="+mn-lt"/>
            </a:endParaRPr>
          </a:p>
          <a:p>
            <a:pPr algn="l"/>
            <a:r>
              <a:rPr lang="en-US" sz="1600" dirty="0">
                <a:solidFill>
                  <a:srgbClr val="212529"/>
                </a:solidFill>
                <a:latin typeface="+mn-lt"/>
                <a:sym typeface="+mn-ea"/>
              </a:rPr>
              <a:t>5</a:t>
            </a:r>
            <a:endParaRPr lang="en-US" sz="1600" dirty="0">
              <a:solidFill>
                <a:srgbClr val="212529"/>
              </a:solidFill>
              <a:latin typeface="+mn-lt"/>
            </a:endParaRPr>
          </a:p>
          <a:p>
            <a:pPr algn="l"/>
            <a:endParaRPr lang="en-US" sz="1600" dirty="0">
              <a:solidFill>
                <a:srgbClr val="212529"/>
              </a:solidFill>
              <a:latin typeface="+mn-lt"/>
            </a:endParaRPr>
          </a:p>
          <a:p>
            <a:pPr algn="l"/>
            <a:r>
              <a:rPr lang="en-US" sz="1600" dirty="0">
                <a:solidFill>
                  <a:srgbClr val="212529"/>
                </a:solidFill>
                <a:latin typeface="+mn-lt"/>
                <a:sym typeface="+mn-ea"/>
              </a:rPr>
              <a:t>Output (stdout)</a:t>
            </a:r>
            <a:endParaRPr lang="en-US" sz="1600" dirty="0">
              <a:solidFill>
                <a:srgbClr val="212529"/>
              </a:solidFill>
              <a:latin typeface="+mn-lt"/>
            </a:endParaRPr>
          </a:p>
          <a:p>
            <a:pPr algn="l"/>
            <a:r>
              <a:rPr lang="en-US" sz="1600" dirty="0">
                <a:solidFill>
                  <a:srgbClr val="212529"/>
                </a:solidFill>
                <a:latin typeface="+mn-lt"/>
                <a:sym typeface="+mn-ea"/>
              </a:rPr>
              <a:t>11112</a:t>
            </a:r>
            <a:endParaRPr lang="en-US" sz="1600" dirty="0">
              <a:solidFill>
                <a:srgbClr val="212529"/>
              </a:solidFill>
              <a:latin typeface="+mn-lt"/>
            </a:endParaRPr>
          </a:p>
          <a:p>
            <a:pPr algn="l"/>
            <a:r>
              <a:rPr lang="en-US" sz="1600" dirty="0">
                <a:solidFill>
                  <a:srgbClr val="212529"/>
                </a:solidFill>
                <a:latin typeface="+mn-lt"/>
                <a:sym typeface="+mn-ea"/>
              </a:rPr>
              <a:t>32222</a:t>
            </a:r>
            <a:endParaRPr lang="en-US" sz="1600" dirty="0">
              <a:solidFill>
                <a:srgbClr val="212529"/>
              </a:solidFill>
              <a:latin typeface="+mn-lt"/>
            </a:endParaRPr>
          </a:p>
          <a:p>
            <a:pPr algn="l"/>
            <a:r>
              <a:rPr lang="en-US" sz="1600" dirty="0">
                <a:solidFill>
                  <a:srgbClr val="212529"/>
                </a:solidFill>
                <a:latin typeface="+mn-lt"/>
                <a:sym typeface="+mn-ea"/>
              </a:rPr>
              <a:t>33334</a:t>
            </a:r>
            <a:endParaRPr lang="en-US" sz="1600" dirty="0">
              <a:solidFill>
                <a:srgbClr val="212529"/>
              </a:solidFill>
              <a:latin typeface="+mn-lt"/>
            </a:endParaRPr>
          </a:p>
          <a:p>
            <a:pPr algn="l"/>
            <a:r>
              <a:rPr lang="en-US" sz="1600" dirty="0">
                <a:solidFill>
                  <a:srgbClr val="212529"/>
                </a:solidFill>
                <a:latin typeface="+mn-lt"/>
                <a:sym typeface="+mn-ea"/>
              </a:rPr>
              <a:t>54444</a:t>
            </a:r>
            <a:endParaRPr lang="en-US" sz="1600" dirty="0">
              <a:solidFill>
                <a:srgbClr val="212529"/>
              </a:solidFill>
              <a:latin typeface="+mn-lt"/>
            </a:endParaRPr>
          </a:p>
          <a:p>
            <a:pPr algn="l"/>
            <a:r>
              <a:rPr lang="en-US" sz="1600" dirty="0">
                <a:solidFill>
                  <a:srgbClr val="212529"/>
                </a:solidFill>
                <a:latin typeface="+mn-lt"/>
                <a:sym typeface="+mn-ea"/>
              </a:rPr>
              <a:t>55556</a:t>
            </a:r>
            <a:endParaRPr lang="en-US" sz="1600" dirty="0">
              <a:solidFill>
                <a:srgbClr val="212529"/>
              </a:solidFill>
              <a:latin typeface="+mn-lt"/>
            </a:endParaRPr>
          </a:p>
          <a:p>
            <a:endParaRPr lang="en-US" sz="1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g1432b8366c7_0_532"/>
          <p:cNvPicPr preferRelativeResize="0"/>
          <p:nvPr/>
        </p:nvPicPr>
        <p:blipFill rotWithShape="1">
          <a:blip r:embed="rId1"/>
          <a:srcRect r="53855"/>
          <a:stretch>
            <a:fillRect/>
          </a:stretch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g1432b8366c7_0_532"/>
          <p:cNvPicPr preferRelativeResize="0"/>
          <p:nvPr/>
        </p:nvPicPr>
        <p:blipFill rotWithShape="1">
          <a:blip r:embed="rId2"/>
          <a:srcRect l="8630" r="8622" b="57237"/>
          <a:stretch>
            <a:fillRect/>
          </a:stretch>
        </p:blipFill>
        <p:spPr>
          <a:xfrm rot="10800000" flipH="1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g1432b8366c7_0_532"/>
          <p:cNvSpPr/>
          <p:nvPr/>
        </p:nvSpPr>
        <p:spPr>
          <a:xfrm>
            <a:off x="2147550" y="514551"/>
            <a:ext cx="4848900" cy="4122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r>
              <a:rPr lang="en-US" sz="1600" b="1" dirty="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06</a:t>
            </a:r>
            <a:endParaRPr sz="1600" b="1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470" name="Google Shape;470;g1432b8366c7_0_53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686959" y="4853782"/>
            <a:ext cx="2340965" cy="22563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Table 3"/>
          <p:cNvGraphicFramePr/>
          <p:nvPr/>
        </p:nvGraphicFramePr>
        <p:xfrm>
          <a:off x="1372235" y="1243965"/>
          <a:ext cx="64001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9765"/>
                <a:gridCol w="3199765"/>
              </a:tblGrid>
              <a:tr h="381000">
                <a:tc>
                  <a:txBody>
                    <a:bodyPr/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import java.util.Scanner;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class A  {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void fun(int a)  {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for(int i=1;i&lt;=a;i++)  {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for(int j=1;j&lt;=a;j++)  {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if(i%2!=0 &amp;&amp; j==a || i%2==0 &amp;&amp; j==1) {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System.out.print((i+1));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}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else  {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System.out.print(i); 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}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}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System.out.printf("\n");</a:t>
                      </a:r>
                      <a:endParaRPr lang="en-US" sz="1400" b="1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} 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}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}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class Main  {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public static void main(String args[])  {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Scanner sc=new Scanner(System.in)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sym typeface="+mn-ea"/>
                        </a:rPr>
                        <a:t>;</a:t>
                      </a:r>
                      <a:endParaRPr lang="en-US" sz="1400" b="1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int a=sc.nextInt();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A obj=new A();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obj.fun(a);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}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sym typeface="+mn-ea"/>
                        </a:rPr>
                        <a:t>}</a:t>
                      </a:r>
                      <a:endParaRPr lang="en-US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l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1432b8366c7_0_611"/>
          <p:cNvSpPr/>
          <p:nvPr/>
        </p:nvSpPr>
        <p:spPr>
          <a:xfrm>
            <a:off x="-25350" y="-37049"/>
            <a:ext cx="9169200" cy="1088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8" name="Google Shape;478;g1432b8366c7_0_611"/>
          <p:cNvSpPr txBox="1"/>
          <p:nvPr/>
        </p:nvSpPr>
        <p:spPr>
          <a:xfrm>
            <a:off x="2419350" y="2058175"/>
            <a:ext cx="4248600" cy="7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/>
              <a:buNone/>
            </a:pPr>
            <a:r>
              <a:rPr lang="en-US" sz="54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THANK YOU</a:t>
            </a:r>
            <a:endParaRPr sz="54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479" name="Google Shape;479;g1432b8366c7_0_61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74312" y="1390515"/>
            <a:ext cx="1979523" cy="2407088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g1432b8366c7_0_611"/>
          <p:cNvSpPr txBox="1"/>
          <p:nvPr/>
        </p:nvSpPr>
        <p:spPr>
          <a:xfrm>
            <a:off x="1022925" y="363447"/>
            <a:ext cx="1673400" cy="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/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ethnuscodemithra</a:t>
            </a:r>
            <a:endParaRPr sz="12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481" name="Google Shape;481;g1432b8366c7_0_61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00225" y="213608"/>
            <a:ext cx="713224" cy="644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g1432b8366c7_0_61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388850" y="226355"/>
            <a:ext cx="644913" cy="644943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g1432b8366c7_0_611"/>
          <p:cNvSpPr txBox="1"/>
          <p:nvPr/>
        </p:nvSpPr>
        <p:spPr>
          <a:xfrm>
            <a:off x="6025875" y="363447"/>
            <a:ext cx="898200" cy="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200" b="1" i="0" u="none" strike="noStrike" cap="none">
                <a:solidFill>
                  <a:srgbClr val="4A86E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/ethnus</a:t>
            </a:r>
            <a:endParaRPr sz="1200" b="1" i="0" u="none" strike="noStrike" cap="none">
              <a:solidFill>
                <a:srgbClr val="4A86E8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484" name="Google Shape;484;g1432b8366c7_0_611"/>
          <p:cNvSpPr txBox="1"/>
          <p:nvPr/>
        </p:nvSpPr>
        <p:spPr>
          <a:xfrm>
            <a:off x="3575139" y="374446"/>
            <a:ext cx="1673400" cy="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r>
              <a:rPr lang="en-US" sz="1200" b="0" i="0" u="none" strike="noStrike" cap="none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Ethnus Codemithra</a:t>
            </a:r>
            <a:endParaRPr sz="1200" b="0" i="0" u="none" strike="noStrike" cap="none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485" name="Google Shape;485;g1432b8366c7_0_611"/>
          <p:cNvPicPr preferRelativeResize="0"/>
          <p:nvPr/>
        </p:nvPicPr>
        <p:blipFill rotWithShape="1">
          <a:blip r:embed="rId4"/>
          <a:srcRect l="2901" r="2901"/>
          <a:stretch>
            <a:fillRect/>
          </a:stretch>
        </p:blipFill>
        <p:spPr>
          <a:xfrm>
            <a:off x="7065600" y="215383"/>
            <a:ext cx="608215" cy="644918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g1432b8366c7_0_611"/>
          <p:cNvSpPr txBox="1"/>
          <p:nvPr/>
        </p:nvSpPr>
        <p:spPr>
          <a:xfrm>
            <a:off x="7689950" y="374444"/>
            <a:ext cx="1320600" cy="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 panose="020F0502020204030204"/>
              <a:buNone/>
            </a:pPr>
            <a:r>
              <a:rPr lang="en-US" sz="1200" b="0" i="0" u="none" strike="noStrike" cap="none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/code_mithra</a:t>
            </a:r>
            <a:endParaRPr sz="1200" b="0" i="0" u="none" strike="noStrike" cap="none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7" name="Google Shape;487;g1432b8366c7_0_611"/>
          <p:cNvSpPr txBox="1"/>
          <p:nvPr/>
        </p:nvSpPr>
        <p:spPr>
          <a:xfrm>
            <a:off x="6033775" y="3411675"/>
            <a:ext cx="3071700" cy="5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Calibri" panose="020F0502020204030204"/>
              <a:buNone/>
            </a:pPr>
            <a:r>
              <a:rPr lang="en-US" sz="1800" b="0" i="0" u="sng" strike="noStrike" cap="none" dirty="0">
                <a:solidFill>
                  <a:schemeClr val="hlink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  <a:hlinkClick r:id="rId5"/>
              </a:rPr>
              <a:t>https://learn.codemithra.com/</a:t>
            </a:r>
            <a:endParaRPr sz="1800" b="0" i="0" u="sng" strike="noStrike" cap="none" dirty="0">
              <a:solidFill>
                <a:schemeClr val="hlink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  <a:hlinkClick r:id="rId5"/>
            </a:endParaRPr>
          </a:p>
        </p:txBody>
      </p:sp>
      <p:sp>
        <p:nvSpPr>
          <p:cNvPr id="488" name="Google Shape;488;g1432b8366c7_0_611"/>
          <p:cNvSpPr/>
          <p:nvPr/>
        </p:nvSpPr>
        <p:spPr>
          <a:xfrm>
            <a:off x="-25350" y="4051180"/>
            <a:ext cx="9169200" cy="1088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9" name="Google Shape;489;g1432b8366c7_0_611"/>
          <p:cNvSpPr txBox="1"/>
          <p:nvPr/>
        </p:nvSpPr>
        <p:spPr>
          <a:xfrm>
            <a:off x="1563475" y="4421940"/>
            <a:ext cx="2184600" cy="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roxima Nova" panose="02000506030000020004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codemithra@ethnus.com</a:t>
            </a:r>
            <a:endParaRPr sz="1200" b="0" i="0" u="none" strike="noStrike" cap="none" dirty="0">
              <a:solidFill>
                <a:schemeClr val="dk1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pic>
        <p:nvPicPr>
          <p:cNvPr id="490" name="Google Shape;490;g1432b8366c7_0_611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5998788" y="4273864"/>
            <a:ext cx="713058" cy="713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g1432b8366c7_0_611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909825" y="4272109"/>
            <a:ext cx="716576" cy="716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g1432b8366c7_0_611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3712438" y="4284861"/>
            <a:ext cx="713058" cy="713058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g1432b8366c7_0_611"/>
          <p:cNvSpPr txBox="1"/>
          <p:nvPr/>
        </p:nvSpPr>
        <p:spPr>
          <a:xfrm>
            <a:off x="4425675" y="4421940"/>
            <a:ext cx="1573200" cy="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roxima Nova" panose="02000506030000020004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+91 7815 095 095</a:t>
            </a:r>
            <a:endParaRPr sz="1200" b="0" i="0" u="none" strike="noStrike" cap="none" dirty="0">
              <a:solidFill>
                <a:schemeClr val="dk1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494" name="Google Shape;494;g1432b8366c7_0_611"/>
          <p:cNvSpPr txBox="1"/>
          <p:nvPr/>
        </p:nvSpPr>
        <p:spPr>
          <a:xfrm>
            <a:off x="6660975" y="4432938"/>
            <a:ext cx="1573200" cy="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roxima Nova" panose="02000506030000020004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+91 9019 921 340</a:t>
            </a:r>
            <a:endParaRPr sz="1200" b="0" i="0" u="none" strike="noStrike" cap="none" dirty="0">
              <a:solidFill>
                <a:schemeClr val="dk1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pic>
        <p:nvPicPr>
          <p:cNvPr id="495" name="Google Shape;495;g1432b8366c7_0_611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2823886" y="269196"/>
            <a:ext cx="788272" cy="554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g1432b8366c7_0_611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6668004" y="1521447"/>
            <a:ext cx="1904053" cy="190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5737</Words>
  <Application>WPS Presentation</Application>
  <PresentationFormat>On-screen Show (16:9)</PresentationFormat>
  <Paragraphs>363</Paragraphs>
  <Slides>20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20</vt:i4>
      </vt:variant>
    </vt:vector>
  </HeadingPairs>
  <TitlesOfParts>
    <vt:vector size="39" baseType="lpstr">
      <vt:lpstr>Arial</vt:lpstr>
      <vt:lpstr>SimSun</vt:lpstr>
      <vt:lpstr>Wingdings</vt:lpstr>
      <vt:lpstr>Arial</vt:lpstr>
      <vt:lpstr>Calibri</vt:lpstr>
      <vt:lpstr>Noto Sans Symbols</vt:lpstr>
      <vt:lpstr>Segoe Print</vt:lpstr>
      <vt:lpstr>Source Sans Pro</vt:lpstr>
      <vt:lpstr>Times New Roman</vt:lpstr>
      <vt:lpstr>Open Sans</vt:lpstr>
      <vt:lpstr>Roboto</vt:lpstr>
      <vt:lpstr>Microsoft YaHei</vt:lpstr>
      <vt:lpstr>Arial Unicode MS</vt:lpstr>
      <vt:lpstr>Proxima Nova</vt:lpstr>
      <vt:lpstr>Office Theme</vt:lpstr>
      <vt:lpstr>Theme1</vt:lpstr>
      <vt:lpstr>Office Theme</vt:lpstr>
      <vt:lpstr>Simple Light</vt:lpstr>
      <vt:lpstr>Simple Light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sarik</cp:lastModifiedBy>
  <cp:revision>32</cp:revision>
  <dcterms:created xsi:type="dcterms:W3CDTF">2019-07-09T05:06:00Z</dcterms:created>
  <dcterms:modified xsi:type="dcterms:W3CDTF">2022-09-14T05:46:51Z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BC4615F5D3AA47A99DBCE52B75627C67</vt:lpwstr>
  </property>
  <property fmtid="{D5CDD505-2E9C-101B-9397-08002B2CF9AE}" pid="3" name="KSOProductBuildVer">
    <vt:lpwstr>1033-11.2.0.11306</vt:lpwstr>
  </property>
</Properties>
</file>