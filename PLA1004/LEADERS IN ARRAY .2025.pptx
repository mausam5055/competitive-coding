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embeddedFontLst>
    <p:embeddedFont>
      <p:font typeface="Roboto Black"/>
      <p:bold r:id="rId31"/>
      <p:boldItalic r:id="rId32"/>
    </p:embeddedFont>
    <p:embeddedFont>
      <p:font typeface="Roboto"/>
      <p:regular r:id="rId33"/>
      <p:bold r:id="rId34"/>
      <p:italic r:id="rId35"/>
      <p:boldItalic r:id="rId36"/>
    </p:embeddedFont>
    <p:embeddedFont>
      <p:font typeface="Roboto Medium"/>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1" roundtripDataSignature="AMtx7mjaa1M0Jl/w+mKnGaUiWL4Akep2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20AD5DF-B57C-4033-8DEF-2B9529F2A670}">
  <a:tblStyle styleId="{520AD5DF-B57C-4033-8DEF-2B9529F2A670}"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DFD"/>
          </a:solidFill>
        </a:fill>
      </a:tcStyle>
    </a:wholeTbl>
    <a:band1H>
      <a:tcTxStyle b="off" i="off"/>
      <a:tcStyle>
        <a:fill>
          <a:solidFill>
            <a:srgbClr val="CDD8FB"/>
          </a:solidFill>
        </a:fill>
      </a:tcStyle>
    </a:band1H>
    <a:band2H>
      <a:tcTxStyle b="off" i="off"/>
    </a:band2H>
    <a:band1V>
      <a:tcTxStyle b="off" i="off"/>
      <a:tcStyle>
        <a:fill>
          <a:solidFill>
            <a:srgbClr val="CDD8FB"/>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edium-boldItalic.fntdata"/><Relationship Id="rId20" Type="http://schemas.openxmlformats.org/officeDocument/2006/relationships/slide" Target="slides/slide14.xml"/><Relationship Id="rId41"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lack-bold.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regular.fntdata"/><Relationship Id="rId10" Type="http://schemas.openxmlformats.org/officeDocument/2006/relationships/slide" Target="slides/slide4.xml"/><Relationship Id="rId32" Type="http://schemas.openxmlformats.org/officeDocument/2006/relationships/font" Target="fonts/RobotoBlack-boldItalic.fntdata"/><Relationship Id="rId13" Type="http://schemas.openxmlformats.org/officeDocument/2006/relationships/slide" Target="slides/slide7.xml"/><Relationship Id="rId35" Type="http://schemas.openxmlformats.org/officeDocument/2006/relationships/font" Target="fonts/Roboto-italic.fntdata"/><Relationship Id="rId12" Type="http://schemas.openxmlformats.org/officeDocument/2006/relationships/slide" Target="slides/slide6.xml"/><Relationship Id="rId34" Type="http://schemas.openxmlformats.org/officeDocument/2006/relationships/font" Target="fonts/Roboto-bold.fntdata"/><Relationship Id="rId15" Type="http://schemas.openxmlformats.org/officeDocument/2006/relationships/slide" Target="slides/slide9.xml"/><Relationship Id="rId37" Type="http://schemas.openxmlformats.org/officeDocument/2006/relationships/font" Target="fonts/RobotoMedium-regular.fntdata"/><Relationship Id="rId14" Type="http://schemas.openxmlformats.org/officeDocument/2006/relationships/slide" Target="slides/slide8.xml"/><Relationship Id="rId36" Type="http://schemas.openxmlformats.org/officeDocument/2006/relationships/font" Target="fonts/Roboto-boldItalic.fntdata"/><Relationship Id="rId17" Type="http://schemas.openxmlformats.org/officeDocument/2006/relationships/slide" Target="slides/slide11.xml"/><Relationship Id="rId39" Type="http://schemas.openxmlformats.org/officeDocument/2006/relationships/font" Target="fonts/RobotoMedium-italic.fntdata"/><Relationship Id="rId16" Type="http://schemas.openxmlformats.org/officeDocument/2006/relationships/slide" Target="slides/slide10.xml"/><Relationship Id="rId38" Type="http://schemas.openxmlformats.org/officeDocument/2006/relationships/font" Target="fonts/RobotoMedium-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 name="Google Shape;5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 name="Google Shape;6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f45c21eb8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 name="Google Shape;70;g2f45c21eb8f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3: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p13: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5: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p15: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6: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p16: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7: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17: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21: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21: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22: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p22: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2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25: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25: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35: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35: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b="0" lang="en-US" sz="1200" strike="noStrike">
                <a:latin typeface="Roboto"/>
                <a:ea typeface="Roboto"/>
                <a:cs typeface="Roboto"/>
                <a:sym typeface="Roboto"/>
              </a:rPr>
              <a:t>6 3 2</a:t>
            </a:r>
            <a:endParaRPr b="0" sz="1200" strike="noStrike">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36: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p36: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37: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37: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38: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38: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39: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39: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fa01703581_0_0: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g2fa01703581_0_0: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40: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2" name="Google Shape;222;p40: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41: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p41: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3f307fc558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23f307fc558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3f307fc558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g23f307fc558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3f307fc558_0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g23f307fc558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3: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3: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2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800"/>
              <a:buFont typeface="Calibri"/>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Clr>
                <a:schemeClr val="dk1"/>
              </a:buClr>
              <a:buSzPts val="1800"/>
              <a:buChar char="●"/>
              <a:defRPr>
                <a:latin typeface="Roboto"/>
                <a:ea typeface="Roboto"/>
                <a:cs typeface="Roboto"/>
                <a:sym typeface="Roboto"/>
              </a:defRPr>
            </a:lvl1pPr>
            <a:lvl2pPr indent="-317500" lvl="1" marL="914400" algn="l">
              <a:lnSpc>
                <a:spcPct val="115000"/>
              </a:lnSpc>
              <a:spcBef>
                <a:spcPts val="1200"/>
              </a:spcBef>
              <a:spcAft>
                <a:spcPts val="0"/>
              </a:spcAft>
              <a:buClr>
                <a:schemeClr val="dk1"/>
              </a:buClr>
              <a:buSzPts val="1400"/>
              <a:buChar char="○"/>
              <a:defRPr/>
            </a:lvl2pPr>
            <a:lvl3pPr indent="-317500" lvl="2" marL="1371600" algn="l">
              <a:lnSpc>
                <a:spcPct val="115000"/>
              </a:lnSpc>
              <a:spcBef>
                <a:spcPts val="1200"/>
              </a:spcBef>
              <a:spcAft>
                <a:spcPts val="0"/>
              </a:spcAft>
              <a:buClr>
                <a:schemeClr val="dk1"/>
              </a:buClr>
              <a:buSzPts val="1400"/>
              <a:buChar char="■"/>
              <a:defRPr/>
            </a:lvl3pPr>
            <a:lvl4pPr indent="-317500" lvl="3" marL="1828800" algn="l">
              <a:lnSpc>
                <a:spcPct val="115000"/>
              </a:lnSpc>
              <a:spcBef>
                <a:spcPts val="1200"/>
              </a:spcBef>
              <a:spcAft>
                <a:spcPts val="0"/>
              </a:spcAft>
              <a:buClr>
                <a:schemeClr val="dk1"/>
              </a:buClr>
              <a:buSzPts val="1400"/>
              <a:buChar char="●"/>
              <a:defRPr/>
            </a:lvl4pPr>
            <a:lvl5pPr indent="-317500" lvl="4" marL="2286000" algn="l">
              <a:lnSpc>
                <a:spcPct val="115000"/>
              </a:lnSpc>
              <a:spcBef>
                <a:spcPts val="1200"/>
              </a:spcBef>
              <a:spcAft>
                <a:spcPts val="0"/>
              </a:spcAft>
              <a:buClr>
                <a:schemeClr val="dk1"/>
              </a:buClr>
              <a:buSzPts val="1400"/>
              <a:buChar char="○"/>
              <a:defRPr/>
            </a:lvl5pPr>
            <a:lvl6pPr indent="-317500" lvl="5" marL="2743200" algn="l">
              <a:lnSpc>
                <a:spcPct val="115000"/>
              </a:lnSpc>
              <a:spcBef>
                <a:spcPts val="1200"/>
              </a:spcBef>
              <a:spcAft>
                <a:spcPts val="0"/>
              </a:spcAft>
              <a:buClr>
                <a:schemeClr val="dk1"/>
              </a:buClr>
              <a:buSzPts val="1400"/>
              <a:buChar char="■"/>
              <a:defRPr/>
            </a:lvl6pPr>
            <a:lvl7pPr indent="-317500" lvl="6" marL="3200400" algn="l">
              <a:lnSpc>
                <a:spcPct val="115000"/>
              </a:lnSpc>
              <a:spcBef>
                <a:spcPts val="1200"/>
              </a:spcBef>
              <a:spcAft>
                <a:spcPts val="0"/>
              </a:spcAft>
              <a:buClr>
                <a:schemeClr val="dk1"/>
              </a:buClr>
              <a:buSzPts val="1400"/>
              <a:buChar char="●"/>
              <a:defRPr/>
            </a:lvl7pPr>
            <a:lvl8pPr indent="-317500" lvl="7" marL="3657600" algn="l">
              <a:lnSpc>
                <a:spcPct val="115000"/>
              </a:lnSpc>
              <a:spcBef>
                <a:spcPts val="1200"/>
              </a:spcBef>
              <a:spcAft>
                <a:spcPts val="0"/>
              </a:spcAft>
              <a:buClr>
                <a:schemeClr val="dk1"/>
              </a:buClr>
              <a:buSzPts val="1400"/>
              <a:buChar char="○"/>
              <a:defRPr/>
            </a:lvl8pPr>
            <a:lvl9pPr indent="-317500" lvl="8" marL="4114800" algn="l">
              <a:lnSpc>
                <a:spcPct val="115000"/>
              </a:lnSpc>
              <a:spcBef>
                <a:spcPts val="1200"/>
              </a:spcBef>
              <a:spcAft>
                <a:spcPts val="1200"/>
              </a:spcAft>
              <a:buClr>
                <a:schemeClr val="dk1"/>
              </a:buClr>
              <a:buSzPts val="1400"/>
              <a:buChar char="■"/>
              <a:defRPr/>
            </a:lvl9pPr>
          </a:lstStyle>
          <a:p/>
        </p:txBody>
      </p:sp>
      <p:sp>
        <p:nvSpPr>
          <p:cNvPr id="17" name="Google Shape;1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2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7" name="Google Shape;2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3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3" name="Google Shape;33;p3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3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7" name="Google Shape;37;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3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0" name="Google Shape;40;p3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1" name="Google Shape;41;p3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3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3" name="Google Shape;43;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3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46" name="Google Shape;46;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3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9" name="Google Shape;49;p3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0" name="Google Shape;50;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9" name="Google Shape;9;p19"/>
          <p:cNvPicPr preferRelativeResize="0"/>
          <p:nvPr/>
        </p:nvPicPr>
        <p:blipFill rotWithShape="1">
          <a:blip r:embed="rId1">
            <a:alphaModFix/>
          </a:blip>
          <a:srcRect b="0" l="0" r="0" t="0"/>
          <a:stretch/>
        </p:blipFill>
        <p:spPr>
          <a:xfrm>
            <a:off x="0" y="7219"/>
            <a:ext cx="9144000"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4.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forms.gle/n73PA2jM3vLYM9bK7" TargetMode="Externa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7.png"/><Relationship Id="rId4" Type="http://schemas.openxmlformats.org/officeDocument/2006/relationships/hyperlink" Target="https://learn.codemithra.co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jp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
          <p:cNvSpPr txBox="1"/>
          <p:nvPr>
            <p:ph type="ctrTitle"/>
          </p:nvPr>
        </p:nvSpPr>
        <p:spPr>
          <a:xfrm>
            <a:off x="311944" y="744141"/>
            <a:ext cx="8520113" cy="2052638"/>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56" name="Google Shape;56;p1"/>
          <p:cNvSpPr txBox="1"/>
          <p:nvPr>
            <p:ph idx="1" type="subTitle"/>
          </p:nvPr>
        </p:nvSpPr>
        <p:spPr>
          <a:xfrm>
            <a:off x="311944" y="2833688"/>
            <a:ext cx="8520113" cy="792956"/>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57" name="Google Shape;57;p1"/>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58" name="Google Shape;58;p1"/>
          <p:cNvPicPr preferRelativeResize="0"/>
          <p:nvPr/>
        </p:nvPicPr>
        <p:blipFill rotWithShape="1">
          <a:blip r:embed="rId4">
            <a:alphaModFix/>
          </a:blip>
          <a:srcRect b="0" l="0" r="0" t="0"/>
          <a:stretch/>
        </p:blipFill>
        <p:spPr>
          <a:xfrm>
            <a:off x="2505075" y="600075"/>
            <a:ext cx="4133850" cy="2924175"/>
          </a:xfrm>
          <a:prstGeom prst="rect">
            <a:avLst/>
          </a:prstGeom>
          <a:noFill/>
          <a:ln>
            <a:noFill/>
          </a:ln>
        </p:spPr>
      </p:pic>
      <p:pic>
        <p:nvPicPr>
          <p:cNvPr id="59" name="Google Shape;59;p1"/>
          <p:cNvPicPr preferRelativeResize="0"/>
          <p:nvPr/>
        </p:nvPicPr>
        <p:blipFill rotWithShape="1">
          <a:blip r:embed="rId5">
            <a:alphaModFix/>
          </a:blip>
          <a:srcRect b="0" l="0" r="0" t="0"/>
          <a:stretch/>
        </p:blipFill>
        <p:spPr>
          <a:xfrm>
            <a:off x="2200275" y="3386137"/>
            <a:ext cx="4743450" cy="115728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2"/>
          <p:cNvSpPr txBox="1"/>
          <p:nvPr>
            <p:ph type="title"/>
          </p:nvPr>
        </p:nvSpPr>
        <p:spPr>
          <a:xfrm>
            <a:off x="311944" y="445294"/>
            <a:ext cx="8520113" cy="572691"/>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t/>
            </a:r>
            <a:endParaRPr/>
          </a:p>
        </p:txBody>
      </p:sp>
      <p:sp>
        <p:nvSpPr>
          <p:cNvPr id="65" name="Google Shape;65;p2"/>
          <p:cNvSpPr txBox="1"/>
          <p:nvPr>
            <p:ph idx="1" type="body"/>
          </p:nvPr>
        </p:nvSpPr>
        <p:spPr>
          <a:xfrm>
            <a:off x="311944" y="1152525"/>
            <a:ext cx="8520113" cy="3415904"/>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800"/>
              <a:buNone/>
            </a:pPr>
            <a:r>
              <a:t/>
            </a:r>
            <a:endParaRPr/>
          </a:p>
        </p:txBody>
      </p:sp>
      <p:pic>
        <p:nvPicPr>
          <p:cNvPr id="66" name="Google Shape;66;p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67" name="Google Shape;67;p2"/>
          <p:cNvSpPr txBox="1"/>
          <p:nvPr/>
        </p:nvSpPr>
        <p:spPr>
          <a:xfrm>
            <a:off x="190214" y="2109532"/>
            <a:ext cx="4691063" cy="750945"/>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None/>
            </a:pPr>
            <a:r>
              <a:rPr b="1" i="0" lang="en-US" sz="3200" u="none" cap="none" strike="noStrike">
                <a:solidFill>
                  <a:schemeClr val="lt1"/>
                </a:solidFill>
                <a:latin typeface="Roboto Black"/>
                <a:ea typeface="Roboto Black"/>
                <a:cs typeface="Roboto Black"/>
                <a:sym typeface="Roboto Black"/>
              </a:rPr>
              <a:t>LEADERS IN ARRAY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g2f45c21eb8f_0_0"/>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US" sz="1600">
                <a:solidFill>
                  <a:schemeClr val="dk1"/>
                </a:solidFill>
                <a:highlight>
                  <a:srgbClr val="FFFFFF"/>
                </a:highlight>
                <a:latin typeface="Roboto"/>
                <a:ea typeface="Roboto"/>
                <a:cs typeface="Roboto"/>
                <a:sym typeface="Roboto"/>
              </a:rPr>
              <a:t>URL</a:t>
            </a:r>
            <a:r>
              <a:rPr b="1" lang="en-US" sz="1600">
                <a:solidFill>
                  <a:srgbClr val="373737"/>
                </a:solidFill>
                <a:highlight>
                  <a:srgbClr val="FFFFFF"/>
                </a:highlight>
                <a:latin typeface="Roboto"/>
                <a:ea typeface="Roboto"/>
                <a:cs typeface="Roboto"/>
                <a:sym typeface="Roboto"/>
              </a:rPr>
              <a:t>: </a:t>
            </a:r>
            <a:r>
              <a:rPr b="1" lang="en-US" sz="1600" u="sng">
                <a:solidFill>
                  <a:schemeClr val="hlink"/>
                </a:solidFill>
                <a:latin typeface="Roboto"/>
                <a:ea typeface="Roboto"/>
                <a:cs typeface="Roboto"/>
                <a:sym typeface="Roboto"/>
                <a:hlinkClick r:id="rId3"/>
              </a:rPr>
              <a:t>https://forms.gle/n73PA2jM3vLYM9bK7</a:t>
            </a:r>
            <a:endParaRPr b="1" sz="1600">
              <a:solidFill>
                <a:srgbClr val="373737"/>
              </a:solidFill>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latin typeface="Roboto"/>
              <a:ea typeface="Roboto"/>
              <a:cs typeface="Roboto"/>
              <a:sym typeface="Roboto"/>
            </a:endParaRPr>
          </a:p>
          <a:p>
            <a:pPr indent="0" lvl="0" marL="0" rtl="0" algn="l">
              <a:lnSpc>
                <a:spcPct val="115000"/>
              </a:lnSpc>
              <a:spcBef>
                <a:spcPts val="0"/>
              </a:spcBef>
              <a:spcAft>
                <a:spcPts val="0"/>
              </a:spcAft>
              <a:buSzPts val="1800"/>
              <a:buNone/>
            </a:pPr>
            <a:r>
              <a:rPr b="1" lang="en-US" sz="1600">
                <a:solidFill>
                  <a:schemeClr val="dk1"/>
                </a:solidFill>
                <a:highlight>
                  <a:srgbClr val="FFFFFF"/>
                </a:highlight>
                <a:latin typeface="Roboto"/>
                <a:ea typeface="Roboto"/>
                <a:cs typeface="Roboto"/>
                <a:sym typeface="Roboto"/>
              </a:rPr>
              <a:t>QR CODE</a:t>
            </a:r>
            <a:r>
              <a:rPr b="1" lang="en-US"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US"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p:txBody>
      </p:sp>
      <p:sp>
        <p:nvSpPr>
          <p:cNvPr id="73" name="Google Shape;73;g2f45c21eb8f_0_0"/>
          <p:cNvSpPr txBox="1"/>
          <p:nvPr/>
        </p:nvSpPr>
        <p:spPr>
          <a:xfrm>
            <a:off x="577325" y="622125"/>
            <a:ext cx="7786200" cy="877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Roboto"/>
                <a:ea typeface="Roboto"/>
                <a:cs typeface="Roboto"/>
                <a:sym typeface="Roboto"/>
              </a:rPr>
              <a:t>                    TEST TIME ON MAX EQUILIBRIUM SUM</a:t>
            </a:r>
            <a:endParaRPr b="1" i="0" sz="15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500"/>
              <a:buFont typeface="Arial"/>
              <a:buNone/>
            </a:pPr>
            <a:r>
              <a:t/>
            </a:r>
            <a:endParaRPr b="1" i="0" sz="1500" u="none" cap="none" strike="noStrike">
              <a:solidFill>
                <a:srgbClr val="202124"/>
              </a:solidFill>
              <a:highlight>
                <a:srgbClr val="FFFFFF"/>
              </a:highlight>
              <a:latin typeface="Arial"/>
              <a:ea typeface="Arial"/>
              <a:cs typeface="Arial"/>
              <a:sym typeface="Arial"/>
            </a:endParaRPr>
          </a:p>
        </p:txBody>
      </p:sp>
      <p:sp>
        <p:nvSpPr>
          <p:cNvPr id="74" name="Google Shape;74;g2f45c21eb8f_0_0"/>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75" name="Google Shape;75;g2f45c21eb8f_0_0"/>
          <p:cNvPicPr preferRelativeResize="0"/>
          <p:nvPr/>
        </p:nvPicPr>
        <p:blipFill rotWithShape="1">
          <a:blip r:embed="rId4">
            <a:alphaModFix/>
          </a:blip>
          <a:srcRect b="0" l="0" r="0" t="0"/>
          <a:stretch/>
        </p:blipFill>
        <p:spPr>
          <a:xfrm>
            <a:off x="3442400" y="2275025"/>
            <a:ext cx="2780424" cy="22986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81" name="Google Shape;81;p13"/>
          <p:cNvSpPr/>
          <p:nvPr/>
        </p:nvSpPr>
        <p:spPr>
          <a:xfrm>
            <a:off x="742520" y="917158"/>
            <a:ext cx="7846360" cy="64629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800"/>
              <a:buFont typeface="Arial"/>
              <a:buNone/>
            </a:pPr>
            <a:r>
              <a:rPr b="1" i="0" lang="en-US" sz="1800" u="none" cap="none" strike="noStrike">
                <a:solidFill>
                  <a:schemeClr val="dk1"/>
                </a:solidFill>
                <a:latin typeface="Roboto"/>
                <a:ea typeface="Roboto"/>
                <a:cs typeface="Roboto"/>
                <a:sym typeface="Roboto"/>
              </a:rPr>
              <a:t>Introduction :</a:t>
            </a:r>
            <a:endParaRPr b="1" i="0" sz="1400" u="none" cap="none" strike="noStrike">
              <a:solidFill>
                <a:srgbClr val="000000"/>
              </a:solidFill>
              <a:latin typeface="Roboto"/>
              <a:ea typeface="Roboto"/>
              <a:cs typeface="Roboto"/>
              <a:sym typeface="Roboto"/>
            </a:endParaRPr>
          </a:p>
        </p:txBody>
      </p:sp>
      <p:sp>
        <p:nvSpPr>
          <p:cNvPr id="82" name="Google Shape;82;p13"/>
          <p:cNvSpPr/>
          <p:nvPr/>
        </p:nvSpPr>
        <p:spPr>
          <a:xfrm>
            <a:off x="1045150" y="1619558"/>
            <a:ext cx="7544880" cy="1200288"/>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800"/>
              <a:buFont typeface="Arial"/>
              <a:buNone/>
            </a:pPr>
            <a:r>
              <a:rPr b="0" i="0" lang="en-US" sz="1800" u="none" cap="none" strike="noStrike">
                <a:solidFill>
                  <a:schemeClr val="dk1"/>
                </a:solidFill>
                <a:latin typeface="Roboto"/>
                <a:ea typeface="Roboto"/>
                <a:cs typeface="Roboto"/>
                <a:sym typeface="Roboto"/>
              </a:rPr>
              <a:t>If a member in the array is larger than every member on its right side, it is considered an </a:t>
            </a:r>
            <a:r>
              <a:rPr b="0" i="1" lang="en-US" sz="1800" u="none" cap="none" strike="noStrike">
                <a:solidFill>
                  <a:schemeClr val="dk1"/>
                </a:solidFill>
                <a:latin typeface="Roboto"/>
                <a:ea typeface="Roboto"/>
                <a:cs typeface="Roboto"/>
                <a:sym typeface="Roboto"/>
              </a:rPr>
              <a:t>Leader Element</a:t>
            </a:r>
            <a:r>
              <a:rPr b="0" i="0" lang="en-US" sz="1800" u="none" cap="none" strike="noStrike">
                <a:solidFill>
                  <a:schemeClr val="dk1"/>
                </a:solidFill>
                <a:latin typeface="Roboto"/>
                <a:ea typeface="Roboto"/>
                <a:cs typeface="Roboto"/>
                <a:sym typeface="Roboto"/>
              </a:rPr>
              <a:t> of the array.</a:t>
            </a:r>
            <a:endParaRPr b="0" i="0" sz="1400" u="none" cap="none" strike="noStrike">
              <a:solidFill>
                <a:srgbClr val="000000"/>
              </a:solidFill>
              <a:latin typeface="Roboto"/>
              <a:ea typeface="Roboto"/>
              <a:cs typeface="Roboto"/>
              <a:sym typeface="Roboto"/>
            </a:endParaRPr>
          </a:p>
        </p:txBody>
      </p:sp>
      <p:sp>
        <p:nvSpPr>
          <p:cNvPr id="83" name="Google Shape;83;p13"/>
          <p:cNvSpPr/>
          <p:nvPr/>
        </p:nvSpPr>
        <p:spPr>
          <a:xfrm>
            <a:off x="1045150" y="2926968"/>
            <a:ext cx="7544880" cy="64629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800"/>
              <a:buFont typeface="Arial"/>
              <a:buNone/>
            </a:pPr>
            <a:r>
              <a:rPr b="0" i="0" lang="en-US" sz="1800" u="none" cap="none" strike="noStrike">
                <a:solidFill>
                  <a:schemeClr val="dk1"/>
                </a:solidFill>
                <a:latin typeface="Roboto"/>
                <a:ea typeface="Roboto"/>
                <a:cs typeface="Roboto"/>
                <a:sym typeface="Roboto"/>
              </a:rPr>
              <a:t>An array's rightmost element is always the Leader.</a:t>
            </a:r>
            <a:endParaRPr b="0" i="0" sz="14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gtEl>
                                        <p:attrNameLst>
                                          <p:attrName>style.visibility</p:attrName>
                                        </p:attrNameLst>
                                      </p:cBhvr>
                                      <p:to>
                                        <p:strVal val="visible"/>
                                      </p:to>
                                    </p:set>
                                    <p:animEffect filter="fade" transition="in">
                                      <p:cBhvr>
                                        <p:cTn dur="500"/>
                                        <p:tgtEl>
                                          <p:spTgt spid="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gtEl>
                                        <p:attrNameLst>
                                          <p:attrName>style.visibility</p:attrName>
                                        </p:attrNameLst>
                                      </p:cBhvr>
                                      <p:to>
                                        <p:strVal val="visible"/>
                                      </p:to>
                                    </p:set>
                                    <p:animEffect filter="fade" transition="in">
                                      <p:cBhvr>
                                        <p:cTn dur="500"/>
                                        <p:tgtEl>
                                          <p:spTgt spid="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500"/>
                                        <p:tgtEl>
                                          <p:spTgt spid="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5"/>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89" name="Google Shape;89;p15"/>
          <p:cNvSpPr/>
          <p:nvPr/>
        </p:nvSpPr>
        <p:spPr>
          <a:xfrm>
            <a:off x="1044000" y="972158"/>
            <a:ext cx="7544880"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50E17"/>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p:txBody>
      </p:sp>
      <p:graphicFrame>
        <p:nvGraphicFramePr>
          <p:cNvPr id="90" name="Google Shape;90;p15"/>
          <p:cNvGraphicFramePr/>
          <p:nvPr/>
        </p:nvGraphicFramePr>
        <p:xfrm>
          <a:off x="3146156" y="2243642"/>
          <a:ext cx="3000000" cy="3000000"/>
        </p:xfrm>
        <a:graphic>
          <a:graphicData uri="http://schemas.openxmlformats.org/drawingml/2006/table">
            <a:tbl>
              <a:tblPr bandRow="1" firstRow="1">
                <a:noFill/>
                <a:tableStyleId>{520AD5DF-B57C-4033-8DEF-2B9529F2A670}</a:tableStyleId>
              </a:tblPr>
              <a:tblGrid>
                <a:gridCol w="456125"/>
                <a:gridCol w="456125"/>
                <a:gridCol w="456125"/>
                <a:gridCol w="456125"/>
                <a:gridCol w="456125"/>
              </a:tblGrid>
              <a:tr h="3215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2</a:t>
                      </a:r>
                      <a:endParaRPr sz="1400" u="none" cap="none" strike="noStrike"/>
                    </a:p>
                  </a:txBody>
                  <a:tcPr marT="45725" marB="45725" marR="91450" marL="91450">
                    <a:solidFill>
                      <a:srgbClr val="FFCC8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4</a:t>
                      </a:r>
                      <a:endParaRPr sz="1400" u="none" cap="none" strike="noStrike"/>
                    </a:p>
                  </a:txBody>
                  <a:tcPr marT="45725" marB="45725" marR="91450" marL="91450">
                    <a:solidFill>
                      <a:srgbClr val="FFCC8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6</a:t>
                      </a:r>
                      <a:endParaRPr sz="1400" u="none" cap="none" strike="noStrike"/>
                    </a:p>
                  </a:txBody>
                  <a:tcPr marT="45725" marB="45725" marR="91450" marL="91450">
                    <a:solidFill>
                      <a:srgbClr val="FFCC8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3</a:t>
                      </a:r>
                      <a:endParaRPr sz="1400" u="none" cap="none" strike="noStrike"/>
                    </a:p>
                  </a:txBody>
                  <a:tcPr marT="45725" marB="45725" marR="91450" marL="91450">
                    <a:solidFill>
                      <a:srgbClr val="FFCC8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1</a:t>
                      </a:r>
                      <a:endParaRPr sz="1400" u="none" cap="none" strike="noStrike"/>
                    </a:p>
                  </a:txBody>
                  <a:tcPr marT="45725" marB="45725" marR="91450" marL="91450">
                    <a:solidFill>
                      <a:srgbClr val="FFCC8B"/>
                    </a:solidFill>
                  </a:tcPr>
                </a:tc>
              </a:tr>
            </a:tbl>
          </a:graphicData>
        </a:graphic>
      </p:graphicFrame>
      <p:graphicFrame>
        <p:nvGraphicFramePr>
          <p:cNvPr id="91" name="Google Shape;91;p15"/>
          <p:cNvGraphicFramePr/>
          <p:nvPr/>
        </p:nvGraphicFramePr>
        <p:xfrm>
          <a:off x="3146156" y="3408524"/>
          <a:ext cx="3000000" cy="3000000"/>
        </p:xfrm>
        <a:graphic>
          <a:graphicData uri="http://schemas.openxmlformats.org/drawingml/2006/table">
            <a:tbl>
              <a:tblPr bandRow="1" firstRow="1">
                <a:noFill/>
                <a:tableStyleId>{520AD5DF-B57C-4033-8DEF-2B9529F2A670}</a:tableStyleId>
              </a:tblPr>
              <a:tblGrid>
                <a:gridCol w="456125"/>
                <a:gridCol w="456125"/>
                <a:gridCol w="456125"/>
                <a:gridCol w="456125"/>
                <a:gridCol w="456125"/>
                <a:gridCol w="456125"/>
              </a:tblGrid>
              <a:tr h="3215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2</a:t>
                      </a:r>
                      <a:endParaRPr sz="1400" u="none" cap="none" strike="noStrike"/>
                    </a:p>
                  </a:txBody>
                  <a:tcPr marT="45725" marB="45725" marR="91450" marL="91450">
                    <a:solidFill>
                      <a:srgbClr val="FFCC8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4</a:t>
                      </a:r>
                      <a:endParaRPr sz="1400" u="none" cap="none" strike="noStrike"/>
                    </a:p>
                  </a:txBody>
                  <a:tcPr marT="45725" marB="45725" marR="91450" marL="91450">
                    <a:solidFill>
                      <a:srgbClr val="FFCC8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6</a:t>
                      </a:r>
                      <a:endParaRPr sz="1400" u="none" cap="none" strike="noStrike"/>
                    </a:p>
                  </a:txBody>
                  <a:tcPr marT="45725" marB="45725" marR="91450" marL="91450">
                    <a:solidFill>
                      <a:srgbClr val="FFCC8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i="1" lang="en-US" sz="1400" u="none" cap="none" strike="noStrike">
                          <a:solidFill>
                            <a:srgbClr val="002060"/>
                          </a:solidFill>
                          <a:latin typeface="Roboto"/>
                          <a:ea typeface="Roboto"/>
                          <a:cs typeface="Roboto"/>
                          <a:sym typeface="Roboto"/>
                        </a:rPr>
                        <a:t>3</a:t>
                      </a:r>
                      <a:endParaRPr sz="1400" u="none" cap="none" strike="noStrike">
                        <a:solidFill>
                          <a:srgbClr val="002060"/>
                        </a:solidFill>
                      </a:endParaRPr>
                    </a:p>
                  </a:txBody>
                  <a:tcPr marT="45725" marB="45725" marR="91450" marL="91450">
                    <a:solidFill>
                      <a:srgbClr val="FFCC8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1</a:t>
                      </a:r>
                      <a:endParaRPr sz="1400" u="none" cap="none" strike="noStrike"/>
                    </a:p>
                  </a:txBody>
                  <a:tcPr marT="45725" marB="45725" marR="91450" marL="91450">
                    <a:solidFill>
                      <a:srgbClr val="FFCC8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0000"/>
                          </a:solidFill>
                          <a:latin typeface="Roboto"/>
                          <a:ea typeface="Roboto"/>
                          <a:cs typeface="Roboto"/>
                          <a:sym typeface="Roboto"/>
                        </a:rPr>
                        <a:t>2</a:t>
                      </a:r>
                      <a:endParaRPr i="0" sz="1400" u="none" cap="none" strike="noStrike">
                        <a:solidFill>
                          <a:srgbClr val="FF0000"/>
                        </a:solidFill>
                      </a:endParaRPr>
                    </a:p>
                  </a:txBody>
                  <a:tcPr marT="45725" marB="45725" marR="91450" marL="91450">
                    <a:solidFill>
                      <a:srgbClr val="FFCC8B"/>
                    </a:solidFill>
                  </a:tcPr>
                </a:tc>
              </a:tr>
            </a:tbl>
          </a:graphicData>
        </a:graphic>
      </p:graphicFrame>
      <p:sp>
        <p:nvSpPr>
          <p:cNvPr id="92" name="Google Shape;92;p15"/>
          <p:cNvSpPr/>
          <p:nvPr/>
        </p:nvSpPr>
        <p:spPr>
          <a:xfrm>
            <a:off x="1045149" y="1372058"/>
            <a:ext cx="3244967"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50E17"/>
                </a:solidFill>
                <a:latin typeface="Roboto"/>
                <a:ea typeface="Roboto"/>
                <a:cs typeface="Roboto"/>
                <a:sym typeface="Roboto"/>
              </a:rPr>
              <a:t>Input: [2, 4, 6, 3,1 ,2]</a:t>
            </a:r>
            <a:endParaRPr b="0" i="0" sz="1400" u="none" cap="none" strike="noStrike">
              <a:solidFill>
                <a:srgbClr val="000000"/>
              </a:solidFill>
              <a:latin typeface="Roboto"/>
              <a:ea typeface="Roboto"/>
              <a:cs typeface="Roboto"/>
              <a:sym typeface="Roboto"/>
            </a:endParaRPr>
          </a:p>
        </p:txBody>
      </p:sp>
      <p:sp>
        <p:nvSpPr>
          <p:cNvPr id="93" name="Google Shape;93;p15"/>
          <p:cNvSpPr/>
          <p:nvPr/>
        </p:nvSpPr>
        <p:spPr>
          <a:xfrm>
            <a:off x="4215675" y="1373208"/>
            <a:ext cx="2846206"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50E17"/>
                </a:solidFill>
                <a:latin typeface="Roboto"/>
                <a:ea typeface="Roboto"/>
                <a:cs typeface="Roboto"/>
                <a:sym typeface="Roboto"/>
              </a:rPr>
              <a:t> /  Output: 6,3,2</a:t>
            </a:r>
            <a:endParaRPr b="0" i="0" sz="1400" u="none" cap="none" strike="noStrike">
              <a:solidFill>
                <a:srgbClr val="000000"/>
              </a:solidFill>
              <a:latin typeface="Roboto"/>
              <a:ea typeface="Roboto"/>
              <a:cs typeface="Roboto"/>
              <a:sym typeface="Roboto"/>
            </a:endParaRPr>
          </a:p>
        </p:txBody>
      </p:sp>
      <p:sp>
        <p:nvSpPr>
          <p:cNvPr id="94" name="Google Shape;94;p15"/>
          <p:cNvSpPr/>
          <p:nvPr/>
        </p:nvSpPr>
        <p:spPr>
          <a:xfrm>
            <a:off x="1045150" y="1873933"/>
            <a:ext cx="7544880"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Roboto"/>
                <a:ea typeface="Roboto"/>
                <a:cs typeface="Roboto"/>
                <a:sym typeface="Roboto"/>
              </a:rPr>
              <a:t>Explanation</a:t>
            </a:r>
            <a:endParaRPr b="0" i="0" sz="1400" u="none" cap="none" strike="noStrike">
              <a:solidFill>
                <a:schemeClr val="dk1"/>
              </a:solidFill>
              <a:latin typeface="Roboto"/>
              <a:ea typeface="Roboto"/>
              <a:cs typeface="Roboto"/>
              <a:sym typeface="Roboto"/>
            </a:endParaRPr>
          </a:p>
        </p:txBody>
      </p:sp>
      <p:graphicFrame>
        <p:nvGraphicFramePr>
          <p:cNvPr id="95" name="Google Shape;95;p15"/>
          <p:cNvGraphicFramePr/>
          <p:nvPr/>
        </p:nvGraphicFramePr>
        <p:xfrm>
          <a:off x="5429806" y="2244792"/>
          <a:ext cx="3000000" cy="3000000"/>
        </p:xfrm>
        <a:graphic>
          <a:graphicData uri="http://schemas.openxmlformats.org/drawingml/2006/table">
            <a:tbl>
              <a:tblPr bandRow="1" firstRow="1">
                <a:noFill/>
                <a:tableStyleId>{520AD5DF-B57C-4033-8DEF-2B9529F2A670}</a:tableStyleId>
              </a:tblPr>
              <a:tblGrid>
                <a:gridCol w="456125"/>
              </a:tblGrid>
              <a:tr h="3215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2</a:t>
                      </a:r>
                      <a:endParaRPr sz="1400" u="none" cap="none" strike="noStrike"/>
                    </a:p>
                  </a:txBody>
                  <a:tcPr marT="45725" marB="45725" marR="91450" marL="91450">
                    <a:solidFill>
                      <a:srgbClr val="FFCC8B"/>
                    </a:solidFill>
                  </a:tcPr>
                </a:tc>
              </a:tr>
            </a:tbl>
          </a:graphicData>
        </a:graphic>
      </p:graphicFrame>
      <p:graphicFrame>
        <p:nvGraphicFramePr>
          <p:cNvPr id="96" name="Google Shape;96;p15"/>
          <p:cNvGraphicFramePr/>
          <p:nvPr/>
        </p:nvGraphicFramePr>
        <p:xfrm>
          <a:off x="5424081" y="2245942"/>
          <a:ext cx="3000000" cy="3000000"/>
        </p:xfrm>
        <a:graphic>
          <a:graphicData uri="http://schemas.openxmlformats.org/drawingml/2006/table">
            <a:tbl>
              <a:tblPr bandRow="1" firstRow="1">
                <a:noFill/>
                <a:tableStyleId>{520AD5DF-B57C-4033-8DEF-2B9529F2A670}</a:tableStyleId>
              </a:tblPr>
              <a:tblGrid>
                <a:gridCol w="456125"/>
              </a:tblGrid>
              <a:tr h="3215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0000"/>
                          </a:solidFill>
                          <a:latin typeface="Roboto"/>
                          <a:ea typeface="Roboto"/>
                          <a:cs typeface="Roboto"/>
                          <a:sym typeface="Roboto"/>
                        </a:rPr>
                        <a:t>2</a:t>
                      </a:r>
                      <a:endParaRPr sz="1400" u="none" cap="none" strike="noStrike">
                        <a:solidFill>
                          <a:srgbClr val="FF0000"/>
                        </a:solidFill>
                      </a:endParaRPr>
                    </a:p>
                  </a:txBody>
                  <a:tcPr marT="45725" marB="45725" marR="91450" marL="91450">
                    <a:solidFill>
                      <a:srgbClr val="FFCC8B"/>
                    </a:solidFill>
                  </a:tcPr>
                </a:tc>
              </a:tr>
            </a:tbl>
          </a:graphicData>
        </a:graphic>
      </p:graphicFrame>
      <p:sp>
        <p:nvSpPr>
          <p:cNvPr id="97" name="Google Shape;97;p15"/>
          <p:cNvSpPr/>
          <p:nvPr/>
        </p:nvSpPr>
        <p:spPr>
          <a:xfrm>
            <a:off x="1045150" y="2657683"/>
            <a:ext cx="7544880" cy="36929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50E17"/>
                </a:solidFill>
                <a:latin typeface="Roboto"/>
                <a:ea typeface="Roboto"/>
                <a:cs typeface="Roboto"/>
                <a:sym typeface="Roboto"/>
              </a:rPr>
              <a:t>2 is the rightmost element, so it is a leader.</a:t>
            </a:r>
            <a:endParaRPr b="0" i="0" sz="1400" u="none" cap="none" strike="noStrike">
              <a:solidFill>
                <a:srgbClr val="000000"/>
              </a:solidFill>
              <a:latin typeface="Roboto"/>
              <a:ea typeface="Roboto"/>
              <a:cs typeface="Roboto"/>
              <a:sym typeface="Roboto"/>
            </a:endParaRPr>
          </a:p>
        </p:txBody>
      </p:sp>
      <p:graphicFrame>
        <p:nvGraphicFramePr>
          <p:cNvPr id="98" name="Google Shape;98;p15"/>
          <p:cNvGraphicFramePr/>
          <p:nvPr/>
        </p:nvGraphicFramePr>
        <p:xfrm>
          <a:off x="4971465" y="3408986"/>
          <a:ext cx="3000000" cy="3000000"/>
        </p:xfrm>
        <a:graphic>
          <a:graphicData uri="http://schemas.openxmlformats.org/drawingml/2006/table">
            <a:tbl>
              <a:tblPr bandRow="1" firstRow="1">
                <a:noFill/>
                <a:tableStyleId>{520AD5DF-B57C-4033-8DEF-2B9529F2A670}</a:tableStyleId>
              </a:tblPr>
              <a:tblGrid>
                <a:gridCol w="456125"/>
              </a:tblGrid>
              <a:tr h="3215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1</a:t>
                      </a:r>
                      <a:endParaRPr sz="1400" u="none" cap="none" strike="noStrike">
                        <a:solidFill>
                          <a:srgbClr val="002060"/>
                        </a:solidFill>
                      </a:endParaRPr>
                    </a:p>
                  </a:txBody>
                  <a:tcPr marT="45725" marB="45725" marR="91450" marL="91450">
                    <a:solidFill>
                      <a:srgbClr val="FFCC8B"/>
                    </a:solidFill>
                  </a:tcPr>
                </a:tc>
              </a:tr>
            </a:tbl>
          </a:graphicData>
        </a:graphic>
      </p:graphicFrame>
      <p:sp>
        <p:nvSpPr>
          <p:cNvPr id="99" name="Google Shape;99;p15"/>
          <p:cNvSpPr/>
          <p:nvPr/>
        </p:nvSpPr>
        <p:spPr>
          <a:xfrm>
            <a:off x="1039425" y="3793208"/>
            <a:ext cx="7544880" cy="64629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50E17"/>
                </a:solidFill>
                <a:latin typeface="Roboto"/>
                <a:ea typeface="Roboto"/>
                <a:cs typeface="Roboto"/>
                <a:sym typeface="Roboto"/>
              </a:rPr>
              <a:t>3 is greater than all the elements on its right side i.e. 3 is greater than 1 and 2, so it is a leader.</a:t>
            </a:r>
            <a:endParaRPr b="0" i="0" sz="1400" u="none" cap="none" strike="noStrike">
              <a:solidFill>
                <a:srgbClr val="000000"/>
              </a:solidFill>
              <a:latin typeface="Roboto"/>
              <a:ea typeface="Roboto"/>
              <a:cs typeface="Roboto"/>
              <a:sym typeface="Roboto"/>
            </a:endParaRPr>
          </a:p>
        </p:txBody>
      </p:sp>
      <p:graphicFrame>
        <p:nvGraphicFramePr>
          <p:cNvPr id="100" name="Google Shape;100;p15"/>
          <p:cNvGraphicFramePr/>
          <p:nvPr/>
        </p:nvGraphicFramePr>
        <p:xfrm>
          <a:off x="4517702" y="3402120"/>
          <a:ext cx="3000000" cy="3000000"/>
        </p:xfrm>
        <a:graphic>
          <a:graphicData uri="http://schemas.openxmlformats.org/drawingml/2006/table">
            <a:tbl>
              <a:tblPr bandRow="1" firstRow="1">
                <a:noFill/>
                <a:tableStyleId>{520AD5DF-B57C-4033-8DEF-2B9529F2A670}</a:tableStyleId>
              </a:tblPr>
              <a:tblGrid>
                <a:gridCol w="456125"/>
              </a:tblGrid>
              <a:tr h="3215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0000"/>
                          </a:solidFill>
                          <a:latin typeface="Roboto"/>
                          <a:ea typeface="Roboto"/>
                          <a:cs typeface="Roboto"/>
                          <a:sym typeface="Roboto"/>
                        </a:rPr>
                        <a:t>3</a:t>
                      </a:r>
                      <a:endParaRPr sz="1400" u="none" cap="none" strike="noStrike">
                        <a:solidFill>
                          <a:srgbClr val="FF0000"/>
                        </a:solidFill>
                      </a:endParaRPr>
                    </a:p>
                  </a:txBody>
                  <a:tcPr marT="45725" marB="45725" marR="91450" marL="91450">
                    <a:solidFill>
                      <a:srgbClr val="FFCC8B"/>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500"/>
                                        <p:tgtEl>
                                          <p:spTgt spid="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gtEl>
                                        <p:attrNameLst>
                                          <p:attrName>style.visibility</p:attrName>
                                        </p:attrNameLst>
                                      </p:cBhvr>
                                      <p:to>
                                        <p:strVal val="visible"/>
                                      </p:to>
                                    </p:set>
                                    <p:animEffect filter="fade" transition="in">
                                      <p:cBhvr>
                                        <p:cTn dur="500"/>
                                        <p:tgtEl>
                                          <p:spTgt spid="9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3"/>
                                        </p:tgtEl>
                                        <p:attrNameLst>
                                          <p:attrName>style.visibility</p:attrName>
                                        </p:attrNameLst>
                                      </p:cBhvr>
                                      <p:to>
                                        <p:strVal val="visible"/>
                                      </p:to>
                                    </p:set>
                                    <p:animEffect filter="fade" transition="in">
                                      <p:cBhvr>
                                        <p:cTn dur="500"/>
                                        <p:tgtEl>
                                          <p:spTgt spid="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gtEl>
                                        <p:attrNameLst>
                                          <p:attrName>style.visibility</p:attrName>
                                        </p:attrNameLst>
                                      </p:cBhvr>
                                      <p:to>
                                        <p:strVal val="visible"/>
                                      </p:to>
                                    </p:set>
                                    <p:animEffect filter="fade" transition="in">
                                      <p:cBhvr>
                                        <p:cTn dur="500"/>
                                        <p:tgtEl>
                                          <p:spTgt spid="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500"/>
                                        <p:tgtEl>
                                          <p:spTgt spid="9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500"/>
                                        <p:tgtEl>
                                          <p:spTgt spid="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gtEl>
                                        <p:attrNameLst>
                                          <p:attrName>style.visibility</p:attrName>
                                        </p:attrNameLst>
                                      </p:cBhvr>
                                      <p:to>
                                        <p:strVal val="visible"/>
                                      </p:to>
                                    </p:set>
                                    <p:animEffect filter="fade" transition="in">
                                      <p:cBhvr>
                                        <p:cTn dur="500"/>
                                        <p:tgtEl>
                                          <p:spTgt spid="97"/>
                                        </p:tgtEl>
                                      </p:cBhvr>
                                    </p:animEffect>
                                  </p:childTnLst>
                                </p:cTn>
                              </p:par>
                              <p:par>
                                <p:cTn fill="hold" nodeType="with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1000"/>
                                        <p:tgtEl>
                                          <p:spTgt spid="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500"/>
                                        <p:tgtEl>
                                          <p:spTgt spid="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8"/>
                                        </p:tgtEl>
                                        <p:attrNameLst>
                                          <p:attrName>style.visibility</p:attrName>
                                        </p:attrNameLst>
                                      </p:cBhvr>
                                      <p:to>
                                        <p:strVal val="visible"/>
                                      </p:to>
                                    </p:set>
                                    <p:anim calcmode="lin" valueType="num">
                                      <p:cBhvr additive="base">
                                        <p:cTn dur="500"/>
                                        <p:tgtEl>
                                          <p:spTgt spid="98"/>
                                        </p:tgtEl>
                                        <p:attrNameLst>
                                          <p:attrName>ppt_w</p:attrName>
                                        </p:attrNameLst>
                                      </p:cBhvr>
                                      <p:tavLst>
                                        <p:tav fmla="" tm="0">
                                          <p:val>
                                            <p:strVal val="0"/>
                                          </p:val>
                                        </p:tav>
                                        <p:tav fmla="" tm="100000">
                                          <p:val>
                                            <p:strVal val="#ppt_w"/>
                                          </p:val>
                                        </p:tav>
                                      </p:tavLst>
                                    </p:anim>
                                    <p:anim calcmode="lin" valueType="num">
                                      <p:cBhvr additive="base">
                                        <p:cTn dur="500"/>
                                        <p:tgtEl>
                                          <p:spTgt spid="9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500"/>
                                        <p:tgtEl>
                                          <p:spTgt spid="99"/>
                                        </p:tgtEl>
                                      </p:cBhvr>
                                    </p:animEffect>
                                  </p:childTnLst>
                                </p:cTn>
                              </p:par>
                              <p:par>
                                <p:cTn fill="hold" nodeType="with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1000"/>
                                        <p:tgtEl>
                                          <p:spTgt spid="1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06" name="Google Shape;106;p16"/>
          <p:cNvSpPr/>
          <p:nvPr/>
        </p:nvSpPr>
        <p:spPr>
          <a:xfrm>
            <a:off x="1044000" y="1810908"/>
            <a:ext cx="7544880" cy="646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50E17"/>
                </a:solidFill>
                <a:latin typeface="Roboto"/>
                <a:ea typeface="Roboto"/>
                <a:cs typeface="Roboto"/>
                <a:sym typeface="Roboto"/>
              </a:rPr>
              <a:t>6 is greater than all the elements on its right side i.e. 6 is greater than 3, 1, and 2, so it is a leader.</a:t>
            </a:r>
            <a:endParaRPr b="0" i="0" sz="1600" u="none" cap="none" strike="noStrike">
              <a:solidFill>
                <a:schemeClr val="dk1"/>
              </a:solidFill>
              <a:latin typeface="Roboto"/>
              <a:ea typeface="Roboto"/>
              <a:cs typeface="Roboto"/>
              <a:sym typeface="Roboto"/>
            </a:endParaRPr>
          </a:p>
        </p:txBody>
      </p:sp>
      <p:graphicFrame>
        <p:nvGraphicFramePr>
          <p:cNvPr id="107" name="Google Shape;107;p16"/>
          <p:cNvGraphicFramePr/>
          <p:nvPr/>
        </p:nvGraphicFramePr>
        <p:xfrm>
          <a:off x="3133886" y="1344783"/>
          <a:ext cx="3000000" cy="3000000"/>
        </p:xfrm>
        <a:graphic>
          <a:graphicData uri="http://schemas.openxmlformats.org/drawingml/2006/table">
            <a:tbl>
              <a:tblPr bandRow="1" firstRow="1">
                <a:noFill/>
                <a:tableStyleId>{520AD5DF-B57C-4033-8DEF-2B9529F2A670}</a:tableStyleId>
              </a:tblPr>
              <a:tblGrid>
                <a:gridCol w="456125"/>
                <a:gridCol w="456125"/>
                <a:gridCol w="456125"/>
                <a:gridCol w="456125"/>
                <a:gridCol w="456125"/>
                <a:gridCol w="456125"/>
              </a:tblGrid>
              <a:tr h="3215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2</a:t>
                      </a:r>
                      <a:endParaRPr sz="1400" u="none" cap="none" strike="noStrike"/>
                    </a:p>
                  </a:txBody>
                  <a:tcPr marT="45725" marB="45725" marR="91450" marL="91450">
                    <a:solidFill>
                      <a:srgbClr val="FFCC8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4</a:t>
                      </a:r>
                      <a:endParaRPr sz="1400" u="none" cap="none" strike="noStrike"/>
                    </a:p>
                  </a:txBody>
                  <a:tcPr marT="45725" marB="45725" marR="91450" marL="91450">
                    <a:solidFill>
                      <a:srgbClr val="FFCC8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i="1" lang="en-US" sz="1400" u="none" cap="none" strike="noStrike">
                          <a:solidFill>
                            <a:srgbClr val="002060"/>
                          </a:solidFill>
                          <a:latin typeface="Roboto"/>
                          <a:ea typeface="Roboto"/>
                          <a:cs typeface="Roboto"/>
                          <a:sym typeface="Roboto"/>
                        </a:rPr>
                        <a:t>6</a:t>
                      </a:r>
                      <a:endParaRPr sz="1400" u="none" cap="none" strike="noStrike">
                        <a:solidFill>
                          <a:srgbClr val="002060"/>
                        </a:solidFill>
                      </a:endParaRPr>
                    </a:p>
                  </a:txBody>
                  <a:tcPr marT="45725" marB="45725" marR="91450" marL="91450">
                    <a:solidFill>
                      <a:srgbClr val="FFCC8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0000"/>
                          </a:solidFill>
                          <a:latin typeface="Roboto"/>
                          <a:ea typeface="Roboto"/>
                          <a:cs typeface="Roboto"/>
                          <a:sym typeface="Roboto"/>
                        </a:rPr>
                        <a:t>3</a:t>
                      </a:r>
                      <a:endParaRPr sz="1400" u="none" cap="none" strike="noStrike">
                        <a:solidFill>
                          <a:srgbClr val="FF0000"/>
                        </a:solidFill>
                      </a:endParaRPr>
                    </a:p>
                  </a:txBody>
                  <a:tcPr marT="45725" marB="45725" marR="91450" marL="91450">
                    <a:solidFill>
                      <a:srgbClr val="FFCC8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1</a:t>
                      </a:r>
                      <a:endParaRPr sz="1400" u="none" cap="none" strike="noStrike"/>
                    </a:p>
                  </a:txBody>
                  <a:tcPr marT="45725" marB="45725" marR="91450" marL="91450">
                    <a:solidFill>
                      <a:srgbClr val="FFCC8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0000"/>
                          </a:solidFill>
                          <a:latin typeface="Roboto"/>
                          <a:ea typeface="Roboto"/>
                          <a:cs typeface="Roboto"/>
                          <a:sym typeface="Roboto"/>
                        </a:rPr>
                        <a:t>2</a:t>
                      </a:r>
                      <a:endParaRPr sz="1400" u="none" cap="none" strike="noStrike">
                        <a:solidFill>
                          <a:srgbClr val="FF0000"/>
                        </a:solidFill>
                      </a:endParaRPr>
                    </a:p>
                  </a:txBody>
                  <a:tcPr marT="45725" marB="45725" marR="91450" marL="91450">
                    <a:solidFill>
                      <a:srgbClr val="FFCC8B"/>
                    </a:solidFill>
                  </a:tcPr>
                </a:tc>
              </a:tr>
            </a:tbl>
          </a:graphicData>
        </a:graphic>
      </p:graphicFrame>
      <p:graphicFrame>
        <p:nvGraphicFramePr>
          <p:cNvPr id="108" name="Google Shape;108;p16"/>
          <p:cNvGraphicFramePr/>
          <p:nvPr/>
        </p:nvGraphicFramePr>
        <p:xfrm>
          <a:off x="3153031" y="2865399"/>
          <a:ext cx="3000000" cy="3000000"/>
        </p:xfrm>
        <a:graphic>
          <a:graphicData uri="http://schemas.openxmlformats.org/drawingml/2006/table">
            <a:tbl>
              <a:tblPr bandRow="1" firstRow="1">
                <a:noFill/>
                <a:tableStyleId>{520AD5DF-B57C-4033-8DEF-2B9529F2A670}</a:tableStyleId>
              </a:tblPr>
              <a:tblGrid>
                <a:gridCol w="456125"/>
                <a:gridCol w="456125"/>
                <a:gridCol w="456125"/>
                <a:gridCol w="456125"/>
                <a:gridCol w="456125"/>
                <a:gridCol w="456125"/>
              </a:tblGrid>
              <a:tr h="321550">
                <a:tc>
                  <a:txBody>
                    <a:bodyPr/>
                    <a:lstStyle/>
                    <a:p>
                      <a:pPr indent="0" lvl="0" marL="0" marR="0" rtl="0" algn="ctr">
                        <a:lnSpc>
                          <a:spcPct val="100000"/>
                        </a:lnSpc>
                        <a:spcBef>
                          <a:spcPts val="0"/>
                        </a:spcBef>
                        <a:spcAft>
                          <a:spcPts val="0"/>
                        </a:spcAft>
                        <a:buClr>
                          <a:srgbClr val="000000"/>
                        </a:buClr>
                        <a:buSzPts val="1400"/>
                        <a:buFont typeface="Arial"/>
                        <a:buNone/>
                      </a:pPr>
                      <a:r>
                        <a:rPr i="1" lang="en-US" sz="1400" u="none" cap="none" strike="noStrike">
                          <a:solidFill>
                            <a:srgbClr val="002060"/>
                          </a:solidFill>
                          <a:latin typeface="Roboto"/>
                          <a:ea typeface="Roboto"/>
                          <a:cs typeface="Roboto"/>
                          <a:sym typeface="Roboto"/>
                        </a:rPr>
                        <a:t>2</a:t>
                      </a:r>
                      <a:endParaRPr sz="1400" u="none" cap="none" strike="noStrike">
                        <a:solidFill>
                          <a:srgbClr val="002060"/>
                        </a:solidFill>
                      </a:endParaRPr>
                    </a:p>
                  </a:txBody>
                  <a:tcPr marT="45725" marB="45725" marR="91450" marL="91450">
                    <a:solidFill>
                      <a:srgbClr val="FFCC8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i="1" lang="en-US" sz="1400" u="none" cap="none" strike="noStrike">
                          <a:solidFill>
                            <a:srgbClr val="002060"/>
                          </a:solidFill>
                          <a:latin typeface="Roboto"/>
                          <a:ea typeface="Roboto"/>
                          <a:cs typeface="Roboto"/>
                          <a:sym typeface="Roboto"/>
                        </a:rPr>
                        <a:t>4</a:t>
                      </a:r>
                      <a:endParaRPr sz="1400" u="none" cap="none" strike="noStrike">
                        <a:solidFill>
                          <a:srgbClr val="002060"/>
                        </a:solidFill>
                      </a:endParaRPr>
                    </a:p>
                  </a:txBody>
                  <a:tcPr marT="45725" marB="45725" marR="91450" marL="91450">
                    <a:solidFill>
                      <a:srgbClr val="FFCC8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0000"/>
                          </a:solidFill>
                          <a:latin typeface="Roboto"/>
                          <a:ea typeface="Roboto"/>
                          <a:cs typeface="Roboto"/>
                          <a:sym typeface="Roboto"/>
                        </a:rPr>
                        <a:t>6</a:t>
                      </a:r>
                      <a:endParaRPr sz="1400" u="none" cap="none" strike="noStrike">
                        <a:solidFill>
                          <a:srgbClr val="FF0000"/>
                        </a:solidFill>
                      </a:endParaRPr>
                    </a:p>
                  </a:txBody>
                  <a:tcPr marT="45725" marB="45725" marR="91450" marL="91450">
                    <a:solidFill>
                      <a:srgbClr val="FFCC8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0000"/>
                          </a:solidFill>
                          <a:latin typeface="Roboto"/>
                          <a:ea typeface="Roboto"/>
                          <a:cs typeface="Roboto"/>
                          <a:sym typeface="Roboto"/>
                        </a:rPr>
                        <a:t>3</a:t>
                      </a:r>
                      <a:endParaRPr i="0" sz="1400" u="none" cap="none" strike="noStrike">
                        <a:solidFill>
                          <a:srgbClr val="FF0000"/>
                        </a:solidFill>
                      </a:endParaRPr>
                    </a:p>
                  </a:txBody>
                  <a:tcPr marT="45725" marB="45725" marR="91450" marL="91450">
                    <a:solidFill>
                      <a:srgbClr val="FFCC8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1</a:t>
                      </a:r>
                      <a:endParaRPr sz="1400" u="none" cap="none" strike="noStrike"/>
                    </a:p>
                  </a:txBody>
                  <a:tcPr marT="45725" marB="45725" marR="91450" marL="91450">
                    <a:solidFill>
                      <a:srgbClr val="FFCC8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0000"/>
                          </a:solidFill>
                          <a:latin typeface="Roboto"/>
                          <a:ea typeface="Roboto"/>
                          <a:cs typeface="Roboto"/>
                          <a:sym typeface="Roboto"/>
                        </a:rPr>
                        <a:t>2</a:t>
                      </a:r>
                      <a:endParaRPr i="0" sz="1400" u="none" cap="none" strike="noStrike">
                        <a:solidFill>
                          <a:srgbClr val="FF0000"/>
                        </a:solidFill>
                      </a:endParaRPr>
                    </a:p>
                  </a:txBody>
                  <a:tcPr marT="45725" marB="45725" marR="91450" marL="91450">
                    <a:solidFill>
                      <a:srgbClr val="FFCC8B"/>
                    </a:solidFill>
                  </a:tcPr>
                </a:tc>
              </a:tr>
            </a:tbl>
          </a:graphicData>
        </a:graphic>
      </p:graphicFrame>
      <p:sp>
        <p:nvSpPr>
          <p:cNvPr id="109" name="Google Shape;109;p16"/>
          <p:cNvSpPr txBox="1"/>
          <p:nvPr/>
        </p:nvSpPr>
        <p:spPr>
          <a:xfrm>
            <a:off x="1100380" y="3336776"/>
            <a:ext cx="7206711"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50E17"/>
                </a:solidFill>
                <a:latin typeface="Roboto"/>
                <a:ea typeface="Roboto"/>
                <a:cs typeface="Roboto"/>
                <a:sym typeface="Roboto"/>
              </a:rPr>
              <a:t>2,4 is not greater than all the elements on its right side i.e. so it is not a leader.</a:t>
            </a:r>
            <a:endParaRPr b="0" i="0" sz="1400" u="none" cap="none" strike="noStrike">
              <a:solidFill>
                <a:srgbClr val="000000"/>
              </a:solidFill>
              <a:latin typeface="Roboto"/>
              <a:ea typeface="Roboto"/>
              <a:cs typeface="Roboto"/>
              <a:sym typeface="Roboto"/>
            </a:endParaRPr>
          </a:p>
        </p:txBody>
      </p:sp>
      <p:graphicFrame>
        <p:nvGraphicFramePr>
          <p:cNvPr id="110" name="Google Shape;110;p16"/>
          <p:cNvGraphicFramePr/>
          <p:nvPr/>
        </p:nvGraphicFramePr>
        <p:xfrm>
          <a:off x="4043314" y="1339565"/>
          <a:ext cx="3000000" cy="3000000"/>
        </p:xfrm>
        <a:graphic>
          <a:graphicData uri="http://schemas.openxmlformats.org/drawingml/2006/table">
            <a:tbl>
              <a:tblPr bandRow="1" firstRow="1">
                <a:noFill/>
                <a:tableStyleId>{520AD5DF-B57C-4033-8DEF-2B9529F2A670}</a:tableStyleId>
              </a:tblPr>
              <a:tblGrid>
                <a:gridCol w="456125"/>
              </a:tblGrid>
              <a:tr h="3215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0000"/>
                          </a:solidFill>
                          <a:latin typeface="Roboto"/>
                          <a:ea typeface="Roboto"/>
                          <a:cs typeface="Roboto"/>
                          <a:sym typeface="Roboto"/>
                        </a:rPr>
                        <a:t>6</a:t>
                      </a:r>
                      <a:endParaRPr sz="1400" u="none" cap="none" strike="noStrike">
                        <a:solidFill>
                          <a:srgbClr val="FF0000"/>
                        </a:solidFill>
                      </a:endParaRPr>
                    </a:p>
                  </a:txBody>
                  <a:tcPr marT="45725" marB="45725" marR="91450" marL="91450">
                    <a:solidFill>
                      <a:srgbClr val="FFCC8B"/>
                    </a:solidFill>
                  </a:tcPr>
                </a:tc>
              </a:tr>
            </a:tbl>
          </a:graphicData>
        </a:graphic>
      </p:graphicFrame>
      <p:sp>
        <p:nvSpPr>
          <p:cNvPr id="111" name="Google Shape;111;p16"/>
          <p:cNvSpPr txBox="1"/>
          <p:nvPr/>
        </p:nvSpPr>
        <p:spPr>
          <a:xfrm>
            <a:off x="1094655" y="4004801"/>
            <a:ext cx="7206711" cy="3385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0000"/>
                </a:solidFill>
                <a:latin typeface="Roboto"/>
                <a:ea typeface="Roboto"/>
                <a:cs typeface="Roboto"/>
                <a:sym typeface="Roboto"/>
              </a:rPr>
              <a:t>So, leaders are 6, 3, 2</a:t>
            </a:r>
            <a:endParaRPr b="1" i="0" sz="1400" u="none" cap="none" strike="noStrike">
              <a:solidFill>
                <a:srgbClr val="FF0000"/>
              </a:solidFill>
              <a:latin typeface="Roboto"/>
              <a:ea typeface="Roboto"/>
              <a:cs typeface="Roboto"/>
              <a:sym typeface="Roboto"/>
            </a:endParaRPr>
          </a:p>
        </p:txBody>
      </p:sp>
      <p:graphicFrame>
        <p:nvGraphicFramePr>
          <p:cNvPr id="112" name="Google Shape;112;p16"/>
          <p:cNvGraphicFramePr/>
          <p:nvPr/>
        </p:nvGraphicFramePr>
        <p:xfrm>
          <a:off x="3603303" y="2858971"/>
          <a:ext cx="3000000" cy="3000000"/>
        </p:xfrm>
        <a:graphic>
          <a:graphicData uri="http://schemas.openxmlformats.org/drawingml/2006/table">
            <a:tbl>
              <a:tblPr bandRow="1" firstRow="1">
                <a:noFill/>
                <a:tableStyleId>{520AD5DF-B57C-4033-8DEF-2B9529F2A670}</a:tableStyleId>
              </a:tblPr>
              <a:tblGrid>
                <a:gridCol w="456125"/>
              </a:tblGrid>
              <a:tr h="3215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4</a:t>
                      </a:r>
                      <a:endParaRPr sz="1400" u="none" cap="none" strike="noStrike">
                        <a:solidFill>
                          <a:srgbClr val="002060"/>
                        </a:solidFill>
                      </a:endParaRPr>
                    </a:p>
                  </a:txBody>
                  <a:tcPr marT="45725" marB="45725" marR="91450" marL="91450">
                    <a:solidFill>
                      <a:srgbClr val="FFCC8B"/>
                    </a:solidFill>
                  </a:tcPr>
                </a:tc>
              </a:tr>
            </a:tbl>
          </a:graphicData>
        </a:graphic>
      </p:graphicFrame>
      <p:graphicFrame>
        <p:nvGraphicFramePr>
          <p:cNvPr id="113" name="Google Shape;113;p16"/>
          <p:cNvGraphicFramePr/>
          <p:nvPr/>
        </p:nvGraphicFramePr>
        <p:xfrm>
          <a:off x="3143811" y="2860116"/>
          <a:ext cx="3000000" cy="3000000"/>
        </p:xfrm>
        <a:graphic>
          <a:graphicData uri="http://schemas.openxmlformats.org/drawingml/2006/table">
            <a:tbl>
              <a:tblPr bandRow="1" firstRow="1">
                <a:noFill/>
                <a:tableStyleId>{520AD5DF-B57C-4033-8DEF-2B9529F2A670}</a:tableStyleId>
              </a:tblPr>
              <a:tblGrid>
                <a:gridCol w="456125"/>
              </a:tblGrid>
              <a:tr h="3215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2</a:t>
                      </a:r>
                      <a:endParaRPr sz="1400" u="none" cap="none" strike="noStrike">
                        <a:solidFill>
                          <a:srgbClr val="002060"/>
                        </a:solidFill>
                      </a:endParaRPr>
                    </a:p>
                  </a:txBody>
                  <a:tcPr marT="45725" marB="45725" marR="91450" marL="91450">
                    <a:solidFill>
                      <a:srgbClr val="FFCC8B"/>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500"/>
                                        <p:tgtEl>
                                          <p:spTgt spid="1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1000"/>
                                        <p:tgtEl>
                                          <p:spTgt spid="106"/>
                                        </p:tgtEl>
                                      </p:cBhvr>
                                    </p:animEffect>
                                  </p:childTnLst>
                                </p:cTn>
                              </p:par>
                              <p:par>
                                <p:cTn fill="hold" nodeType="with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1000"/>
                                        <p:tgtEl>
                                          <p:spTgt spid="1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500"/>
                                        <p:tgtEl>
                                          <p:spTgt spid="1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500"/>
                                        <p:tgtEl>
                                          <p:spTgt spid="109"/>
                                        </p:tgtEl>
                                      </p:cBhvr>
                                    </p:animEffect>
                                  </p:childTnLst>
                                </p:cTn>
                              </p:par>
                              <p:par>
                                <p:cTn fill="hold" nodeType="withEffect" presetClass="entr" presetID="23" presetSubtype="16">
                                  <p:stCondLst>
                                    <p:cond delay="0"/>
                                  </p:stCondLst>
                                  <p:childTnLst>
                                    <p:set>
                                      <p:cBhvr>
                                        <p:cTn dur="1" fill="hold">
                                          <p:stCondLst>
                                            <p:cond delay="0"/>
                                          </p:stCondLst>
                                        </p:cTn>
                                        <p:tgtEl>
                                          <p:spTgt spid="112"/>
                                        </p:tgtEl>
                                        <p:attrNameLst>
                                          <p:attrName>style.visibility</p:attrName>
                                        </p:attrNameLst>
                                      </p:cBhvr>
                                      <p:to>
                                        <p:strVal val="visible"/>
                                      </p:to>
                                    </p:set>
                                    <p:anim calcmode="lin" valueType="num">
                                      <p:cBhvr additive="base">
                                        <p:cTn dur="500"/>
                                        <p:tgtEl>
                                          <p:spTgt spid="112"/>
                                        </p:tgtEl>
                                        <p:attrNameLst>
                                          <p:attrName>ppt_w</p:attrName>
                                        </p:attrNameLst>
                                      </p:cBhvr>
                                      <p:tavLst>
                                        <p:tav fmla="" tm="0">
                                          <p:val>
                                            <p:strVal val="0"/>
                                          </p:val>
                                        </p:tav>
                                        <p:tav fmla="" tm="100000">
                                          <p:val>
                                            <p:strVal val="#ppt_w"/>
                                          </p:val>
                                        </p:tav>
                                      </p:tavLst>
                                    </p:anim>
                                    <p:anim calcmode="lin" valueType="num">
                                      <p:cBhvr additive="base">
                                        <p:cTn dur="500"/>
                                        <p:tgtEl>
                                          <p:spTgt spid="11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13"/>
                                        </p:tgtEl>
                                        <p:attrNameLst>
                                          <p:attrName>style.visibility</p:attrName>
                                        </p:attrNameLst>
                                      </p:cBhvr>
                                      <p:to>
                                        <p:strVal val="visible"/>
                                      </p:to>
                                    </p:set>
                                    <p:anim calcmode="lin" valueType="num">
                                      <p:cBhvr additive="base">
                                        <p:cTn dur="500"/>
                                        <p:tgtEl>
                                          <p:spTgt spid="113"/>
                                        </p:tgtEl>
                                        <p:attrNameLst>
                                          <p:attrName>ppt_w</p:attrName>
                                        </p:attrNameLst>
                                      </p:cBhvr>
                                      <p:tavLst>
                                        <p:tav fmla="" tm="0">
                                          <p:val>
                                            <p:strVal val="0"/>
                                          </p:val>
                                        </p:tav>
                                        <p:tav fmla="" tm="100000">
                                          <p:val>
                                            <p:strVal val="#ppt_w"/>
                                          </p:val>
                                        </p:tav>
                                      </p:tavLst>
                                    </p:anim>
                                    <p:anim calcmode="lin" valueType="num">
                                      <p:cBhvr additive="base">
                                        <p:cTn dur="500"/>
                                        <p:tgtEl>
                                          <p:spTgt spid="11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1000"/>
                                        <p:tgtEl>
                                          <p:spTgt spid="1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7"/>
          <p:cNvSpPr txBox="1"/>
          <p:nvPr>
            <p:ph idx="1" type="body"/>
          </p:nvPr>
        </p:nvSpPr>
        <p:spPr>
          <a:xfrm>
            <a:off x="229404" y="354865"/>
            <a:ext cx="8520600" cy="455163"/>
          </a:xfrm>
          <a:prstGeom prst="rect">
            <a:avLst/>
          </a:prstGeom>
          <a:noFill/>
          <a:ln>
            <a:noFill/>
          </a:ln>
        </p:spPr>
        <p:txBody>
          <a:bodyPr anchorCtr="0" anchor="t" bIns="91425" lIns="91425" spcFirstLastPara="1" rIns="91425" wrap="square" tIns="91425">
            <a:noAutofit/>
          </a:bodyPr>
          <a:lstStyle/>
          <a:p>
            <a:pPr indent="0" lvl="0" marL="114300" rtl="0" algn="ctr">
              <a:lnSpc>
                <a:spcPct val="115000"/>
              </a:lnSpc>
              <a:spcBef>
                <a:spcPts val="0"/>
              </a:spcBef>
              <a:spcAft>
                <a:spcPts val="0"/>
              </a:spcAft>
              <a:buSzPts val="1800"/>
              <a:buNone/>
            </a:pPr>
            <a:r>
              <a:rPr lang="en-US">
                <a:solidFill>
                  <a:schemeClr val="dk1"/>
                </a:solidFill>
              </a:rPr>
              <a:t>Approaches</a:t>
            </a:r>
            <a:endParaRPr/>
          </a:p>
        </p:txBody>
      </p:sp>
      <p:graphicFrame>
        <p:nvGraphicFramePr>
          <p:cNvPr id="119" name="Google Shape;119;p17"/>
          <p:cNvGraphicFramePr/>
          <p:nvPr/>
        </p:nvGraphicFramePr>
        <p:xfrm>
          <a:off x="6911238" y="1911023"/>
          <a:ext cx="3000000" cy="3000000"/>
        </p:xfrm>
        <a:graphic>
          <a:graphicData uri="http://schemas.openxmlformats.org/drawingml/2006/table">
            <a:tbl>
              <a:tblPr bandRow="1" firstRow="1">
                <a:noFill/>
                <a:tableStyleId>{520AD5DF-B57C-4033-8DEF-2B9529F2A670}</a:tableStyleId>
              </a:tblPr>
              <a:tblGrid>
                <a:gridCol w="540875"/>
                <a:gridCol w="540875"/>
                <a:gridCol w="540875"/>
                <a:gridCol w="540875"/>
              </a:tblGrid>
              <a:tr h="30862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0000"/>
                          </a:solidFill>
                          <a:latin typeface="Roboto"/>
                          <a:ea typeface="Roboto"/>
                          <a:cs typeface="Roboto"/>
                          <a:sym typeface="Roboto"/>
                        </a:rPr>
                        <a:t>1</a:t>
                      </a:r>
                      <a:endParaRPr sz="1400" u="none" cap="none" strike="noStrike"/>
                    </a:p>
                  </a:txBody>
                  <a:tcPr marT="45725" marB="45725" marR="91450" marL="91450">
                    <a:solidFill>
                      <a:srgbClr val="92D05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0000"/>
                          </a:solidFill>
                          <a:latin typeface="Roboto"/>
                          <a:ea typeface="Roboto"/>
                          <a:cs typeface="Roboto"/>
                          <a:sym typeface="Roboto"/>
                        </a:rPr>
                        <a:t>2</a:t>
                      </a:r>
                      <a:endParaRPr sz="1400" u="none" cap="none" strike="noStrike"/>
                    </a:p>
                  </a:txBody>
                  <a:tcPr marT="45725" marB="45725" marR="91450" marL="91450">
                    <a:solidFill>
                      <a:srgbClr val="92D05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0000"/>
                          </a:solidFill>
                          <a:latin typeface="Roboto"/>
                          <a:ea typeface="Roboto"/>
                          <a:cs typeface="Roboto"/>
                          <a:sym typeface="Roboto"/>
                        </a:rPr>
                        <a:t>3</a:t>
                      </a:r>
                      <a:endParaRPr sz="1400" u="none" cap="none" strike="noStrike"/>
                    </a:p>
                  </a:txBody>
                  <a:tcPr marT="45725" marB="45725" marR="91450" marL="91450">
                    <a:solidFill>
                      <a:srgbClr val="92D05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0000"/>
                          </a:solidFill>
                          <a:latin typeface="Roboto"/>
                          <a:ea typeface="Roboto"/>
                          <a:cs typeface="Roboto"/>
                          <a:sym typeface="Roboto"/>
                        </a:rPr>
                        <a:t>4</a:t>
                      </a:r>
                      <a:endParaRPr sz="1400" u="none" cap="none" strike="noStrike"/>
                    </a:p>
                  </a:txBody>
                  <a:tcPr marT="45725" marB="45725" marR="91450" marL="91450">
                    <a:solidFill>
                      <a:srgbClr val="92D050"/>
                    </a:solidFill>
                  </a:tcPr>
                </a:tc>
              </a:tr>
            </a:tbl>
          </a:graphicData>
        </a:graphic>
      </p:graphicFrame>
      <p:cxnSp>
        <p:nvCxnSpPr>
          <p:cNvPr id="120" name="Google Shape;120;p17"/>
          <p:cNvCxnSpPr/>
          <p:nvPr/>
        </p:nvCxnSpPr>
        <p:spPr>
          <a:xfrm>
            <a:off x="7074976" y="1796739"/>
            <a:ext cx="1836000" cy="0"/>
          </a:xfrm>
          <a:prstGeom prst="straightConnector1">
            <a:avLst/>
          </a:prstGeom>
          <a:noFill/>
          <a:ln cap="flat" cmpd="sng" w="25400">
            <a:solidFill>
              <a:schemeClr val="accent2"/>
            </a:solidFill>
            <a:prstDash val="solid"/>
            <a:round/>
            <a:headEnd len="sm" w="sm" type="none"/>
            <a:tailEnd len="med" w="med" type="triangle"/>
          </a:ln>
          <a:effectLst>
            <a:outerShdw blurRad="40000" rotWithShape="0" dir="5400000" dist="20000">
              <a:srgbClr val="000000">
                <a:alpha val="36862"/>
              </a:srgbClr>
            </a:outerShdw>
          </a:effectLst>
        </p:spPr>
      </p:cxnSp>
      <p:graphicFrame>
        <p:nvGraphicFramePr>
          <p:cNvPr id="121" name="Google Shape;121;p17"/>
          <p:cNvGraphicFramePr/>
          <p:nvPr/>
        </p:nvGraphicFramePr>
        <p:xfrm>
          <a:off x="6911236" y="3662761"/>
          <a:ext cx="3000000" cy="3000000"/>
        </p:xfrm>
        <a:graphic>
          <a:graphicData uri="http://schemas.openxmlformats.org/drawingml/2006/table">
            <a:tbl>
              <a:tblPr bandRow="1" firstRow="1">
                <a:noFill/>
                <a:tableStyleId>{520AD5DF-B57C-4033-8DEF-2B9529F2A670}</a:tableStyleId>
              </a:tblPr>
              <a:tblGrid>
                <a:gridCol w="540875"/>
                <a:gridCol w="540875"/>
                <a:gridCol w="540875"/>
                <a:gridCol w="540875"/>
              </a:tblGrid>
              <a:tr h="30862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262626"/>
                          </a:solidFill>
                          <a:latin typeface="Roboto"/>
                          <a:ea typeface="Roboto"/>
                          <a:cs typeface="Roboto"/>
                          <a:sym typeface="Roboto"/>
                        </a:rPr>
                        <a:t>1</a:t>
                      </a:r>
                      <a:endParaRPr sz="1400" u="none" cap="none" strike="noStrike"/>
                    </a:p>
                  </a:txBody>
                  <a:tcPr marT="45725" marB="45725" marR="91450" marL="91450">
                    <a:solidFill>
                      <a:srgbClr val="FFCC8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262626"/>
                          </a:solidFill>
                          <a:latin typeface="Roboto"/>
                          <a:ea typeface="Roboto"/>
                          <a:cs typeface="Roboto"/>
                          <a:sym typeface="Roboto"/>
                        </a:rPr>
                        <a:t>2</a:t>
                      </a:r>
                      <a:endParaRPr sz="1400" u="none" cap="none" strike="noStrike"/>
                    </a:p>
                  </a:txBody>
                  <a:tcPr marT="45725" marB="45725" marR="91450" marL="91450">
                    <a:solidFill>
                      <a:srgbClr val="FFCC8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262626"/>
                          </a:solidFill>
                          <a:latin typeface="Roboto"/>
                          <a:ea typeface="Roboto"/>
                          <a:cs typeface="Roboto"/>
                          <a:sym typeface="Roboto"/>
                        </a:rPr>
                        <a:t>3</a:t>
                      </a:r>
                      <a:endParaRPr sz="1400" u="none" cap="none" strike="noStrike"/>
                    </a:p>
                  </a:txBody>
                  <a:tcPr marT="45725" marB="45725" marR="91450" marL="91450">
                    <a:solidFill>
                      <a:srgbClr val="FFCC8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262626"/>
                          </a:solidFill>
                          <a:latin typeface="Roboto"/>
                          <a:ea typeface="Roboto"/>
                          <a:cs typeface="Roboto"/>
                          <a:sym typeface="Roboto"/>
                        </a:rPr>
                        <a:t>4</a:t>
                      </a:r>
                      <a:endParaRPr sz="1400" u="none" cap="none" strike="noStrike"/>
                    </a:p>
                  </a:txBody>
                  <a:tcPr marT="45725" marB="45725" marR="91450" marL="91450">
                    <a:solidFill>
                      <a:srgbClr val="FFCC8B"/>
                    </a:solidFill>
                  </a:tcPr>
                </a:tc>
              </a:tr>
            </a:tbl>
          </a:graphicData>
        </a:graphic>
      </p:graphicFrame>
      <p:cxnSp>
        <p:nvCxnSpPr>
          <p:cNvPr id="122" name="Google Shape;122;p17"/>
          <p:cNvCxnSpPr/>
          <p:nvPr/>
        </p:nvCxnSpPr>
        <p:spPr>
          <a:xfrm rot="10800000">
            <a:off x="7029331" y="3561925"/>
            <a:ext cx="1802969" cy="0"/>
          </a:xfrm>
          <a:prstGeom prst="straightConnector1">
            <a:avLst/>
          </a:prstGeom>
          <a:noFill/>
          <a:ln cap="flat" cmpd="sng" w="25400">
            <a:solidFill>
              <a:schemeClr val="accent2"/>
            </a:solidFill>
            <a:prstDash val="solid"/>
            <a:round/>
            <a:headEnd len="sm" w="sm" type="none"/>
            <a:tailEnd len="med" w="med" type="triangle"/>
          </a:ln>
          <a:effectLst>
            <a:outerShdw blurRad="40000" rotWithShape="0" dir="5400000" dist="20000">
              <a:srgbClr val="000000">
                <a:alpha val="36862"/>
              </a:srgbClr>
            </a:outerShdw>
          </a:effectLst>
        </p:spPr>
      </p:cxnSp>
      <p:sp>
        <p:nvSpPr>
          <p:cNvPr id="123" name="Google Shape;123;p17"/>
          <p:cNvSpPr txBox="1"/>
          <p:nvPr/>
        </p:nvSpPr>
        <p:spPr>
          <a:xfrm>
            <a:off x="312850" y="982900"/>
            <a:ext cx="6479836" cy="455163"/>
          </a:xfrm>
          <a:prstGeom prst="rect">
            <a:avLst/>
          </a:prstGeom>
          <a:noFill/>
          <a:ln>
            <a:noFill/>
          </a:ln>
        </p:spPr>
        <p:txBody>
          <a:bodyPr anchorCtr="0" anchor="t" bIns="91425" lIns="91425" spcFirstLastPara="1" rIns="91425" wrap="square" tIns="91425">
            <a:noAutofit/>
          </a:bodyPr>
          <a:lstStyle/>
          <a:p>
            <a:pPr indent="0" lvl="0" marL="114300" marR="0" rtl="0" algn="l">
              <a:lnSpc>
                <a:spcPct val="115000"/>
              </a:lnSpc>
              <a:spcBef>
                <a:spcPts val="0"/>
              </a:spcBef>
              <a:spcAft>
                <a:spcPts val="0"/>
              </a:spcAft>
              <a:buClr>
                <a:srgbClr val="000000"/>
              </a:buClr>
              <a:buSzPts val="1800"/>
              <a:buFont typeface="Arial"/>
              <a:buNone/>
            </a:pPr>
            <a:r>
              <a:rPr b="0" i="0" lang="en-US" sz="1800" u="none" cap="none" strike="noStrike">
                <a:solidFill>
                  <a:schemeClr val="dk1"/>
                </a:solidFill>
                <a:latin typeface="Roboto"/>
                <a:ea typeface="Roboto"/>
                <a:cs typeface="Roboto"/>
                <a:sym typeface="Roboto"/>
              </a:rPr>
              <a:t>1. Brute Force Approach :</a:t>
            </a:r>
            <a:endParaRPr b="0" i="0" sz="1800" u="none" cap="none" strike="noStrike">
              <a:solidFill>
                <a:schemeClr val="dk2"/>
              </a:solidFill>
              <a:latin typeface="Roboto"/>
              <a:ea typeface="Roboto"/>
              <a:cs typeface="Roboto"/>
              <a:sym typeface="Roboto"/>
            </a:endParaRPr>
          </a:p>
        </p:txBody>
      </p:sp>
      <p:sp>
        <p:nvSpPr>
          <p:cNvPr id="124" name="Google Shape;124;p17"/>
          <p:cNvSpPr txBox="1"/>
          <p:nvPr/>
        </p:nvSpPr>
        <p:spPr>
          <a:xfrm>
            <a:off x="314000" y="1389675"/>
            <a:ext cx="6479836" cy="1401657"/>
          </a:xfrm>
          <a:prstGeom prst="rect">
            <a:avLst/>
          </a:prstGeom>
          <a:noFill/>
          <a:ln>
            <a:noFill/>
          </a:ln>
        </p:spPr>
        <p:txBody>
          <a:bodyPr anchorCtr="0" anchor="t" bIns="91425" lIns="91425" spcFirstLastPara="1" rIns="91425" wrap="square" tIns="91425">
            <a:noAutofit/>
          </a:bodyPr>
          <a:lstStyle/>
          <a:p>
            <a:pPr indent="0" lvl="0" marL="114300" marR="0" rtl="0" algn="just">
              <a:lnSpc>
                <a:spcPct val="115000"/>
              </a:lnSpc>
              <a:spcBef>
                <a:spcPts val="0"/>
              </a:spcBef>
              <a:spcAft>
                <a:spcPts val="0"/>
              </a:spcAft>
              <a:buClr>
                <a:srgbClr val="000000"/>
              </a:buClr>
              <a:buSzPts val="1800"/>
              <a:buFont typeface="Arial"/>
              <a:buNone/>
            </a:pPr>
            <a:r>
              <a:rPr b="0" i="0" lang="en-US" sz="1800" u="none" cap="none" strike="noStrike">
                <a:solidFill>
                  <a:schemeClr val="dk1"/>
                </a:solidFill>
                <a:latin typeface="Roboto"/>
                <a:ea typeface="Roboto"/>
                <a:cs typeface="Roboto"/>
                <a:sym typeface="Roboto"/>
              </a:rPr>
              <a:t>	To determine whether an element is greater than all the items to its right, we begin by comparing all the elements in the array from the beginning to the end.</a:t>
            </a:r>
            <a:endParaRPr b="0" i="0" sz="1800" u="none" cap="none" strike="noStrike">
              <a:solidFill>
                <a:schemeClr val="dk2"/>
              </a:solidFill>
              <a:latin typeface="Roboto"/>
              <a:ea typeface="Roboto"/>
              <a:cs typeface="Roboto"/>
              <a:sym typeface="Roboto"/>
            </a:endParaRPr>
          </a:p>
        </p:txBody>
      </p:sp>
      <p:sp>
        <p:nvSpPr>
          <p:cNvPr id="125" name="Google Shape;125;p17"/>
          <p:cNvSpPr txBox="1"/>
          <p:nvPr/>
        </p:nvSpPr>
        <p:spPr>
          <a:xfrm>
            <a:off x="314000" y="2778425"/>
            <a:ext cx="6479836" cy="455163"/>
          </a:xfrm>
          <a:prstGeom prst="rect">
            <a:avLst/>
          </a:prstGeom>
          <a:noFill/>
          <a:ln>
            <a:noFill/>
          </a:ln>
        </p:spPr>
        <p:txBody>
          <a:bodyPr anchorCtr="0" anchor="t" bIns="91425" lIns="91425" spcFirstLastPara="1" rIns="91425" wrap="square" tIns="91425">
            <a:noAutofit/>
          </a:bodyPr>
          <a:lstStyle/>
          <a:p>
            <a:pPr indent="0" lvl="0" marL="114300" marR="0" rtl="0" algn="l">
              <a:lnSpc>
                <a:spcPct val="115000"/>
              </a:lnSpc>
              <a:spcBef>
                <a:spcPts val="0"/>
              </a:spcBef>
              <a:spcAft>
                <a:spcPts val="0"/>
              </a:spcAft>
              <a:buClr>
                <a:srgbClr val="000000"/>
              </a:buClr>
              <a:buSzPts val="1800"/>
              <a:buFont typeface="Arial"/>
              <a:buNone/>
            </a:pPr>
            <a:r>
              <a:rPr b="0" i="0" lang="en-US" sz="1800" u="none" cap="none" strike="noStrike">
                <a:solidFill>
                  <a:schemeClr val="dk1"/>
                </a:solidFill>
                <a:latin typeface="Roboto"/>
                <a:ea typeface="Roboto"/>
                <a:cs typeface="Roboto"/>
                <a:sym typeface="Roboto"/>
              </a:rPr>
              <a:t>2. Efficient Approach - Traversal Method :</a:t>
            </a:r>
            <a:endParaRPr b="0" i="0" sz="1800" u="none" cap="none" strike="noStrike">
              <a:solidFill>
                <a:schemeClr val="dk2"/>
              </a:solidFill>
              <a:latin typeface="Roboto"/>
              <a:ea typeface="Roboto"/>
              <a:cs typeface="Roboto"/>
              <a:sym typeface="Roboto"/>
            </a:endParaRPr>
          </a:p>
        </p:txBody>
      </p:sp>
      <p:sp>
        <p:nvSpPr>
          <p:cNvPr id="126" name="Google Shape;126;p17"/>
          <p:cNvSpPr txBox="1"/>
          <p:nvPr/>
        </p:nvSpPr>
        <p:spPr>
          <a:xfrm>
            <a:off x="315150" y="3137075"/>
            <a:ext cx="6479836" cy="1689310"/>
          </a:xfrm>
          <a:prstGeom prst="rect">
            <a:avLst/>
          </a:prstGeom>
          <a:noFill/>
          <a:ln>
            <a:noFill/>
          </a:ln>
        </p:spPr>
        <p:txBody>
          <a:bodyPr anchorCtr="0" anchor="t" bIns="91425" lIns="91425" spcFirstLastPara="1" rIns="91425" wrap="square" tIns="91425">
            <a:noAutofit/>
          </a:bodyPr>
          <a:lstStyle/>
          <a:p>
            <a:pPr indent="0" lvl="0" marL="114300" marR="0" rtl="0" algn="just">
              <a:lnSpc>
                <a:spcPct val="115000"/>
              </a:lnSpc>
              <a:spcBef>
                <a:spcPts val="0"/>
              </a:spcBef>
              <a:spcAft>
                <a:spcPts val="0"/>
              </a:spcAft>
              <a:buClr>
                <a:srgbClr val="000000"/>
              </a:buClr>
              <a:buSzPts val="1800"/>
              <a:buFont typeface="Arial"/>
              <a:buNone/>
            </a:pPr>
            <a:r>
              <a:rPr b="0" i="0" lang="en-US" sz="1800" u="none" cap="none" strike="noStrike">
                <a:solidFill>
                  <a:schemeClr val="dk1"/>
                </a:solidFill>
                <a:latin typeface="Roboto"/>
                <a:ea typeface="Roboto"/>
                <a:cs typeface="Roboto"/>
                <a:sym typeface="Roboto"/>
              </a:rPr>
              <a:t>	For each candidate, conduct a new traversal. If we give it some consideration, all of the elements on the right side are what we want to compare. The comparison starts from right to left.</a:t>
            </a:r>
            <a:endParaRPr b="0" i="0" sz="1800" u="none" cap="none" strike="noStrike">
              <a:solidFill>
                <a:schemeClr val="dk2"/>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0" st="0"/>
                                            </p:txEl>
                                          </p:spTgt>
                                        </p:tgtEl>
                                        <p:attrNameLst>
                                          <p:attrName>style.visibility</p:attrName>
                                        </p:attrNameLst>
                                      </p:cBhvr>
                                      <p:to>
                                        <p:strVal val="visible"/>
                                      </p:to>
                                    </p:set>
                                    <p:animEffect filter="fade" transition="in">
                                      <p:cBhvr>
                                        <p:cTn dur="1000"/>
                                        <p:tgtEl>
                                          <p:spTgt spid="1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0" st="0"/>
                                            </p:txEl>
                                          </p:spTgt>
                                        </p:tgtEl>
                                        <p:attrNameLst>
                                          <p:attrName>style.visibility</p:attrName>
                                        </p:attrNameLst>
                                      </p:cBhvr>
                                      <p:to>
                                        <p:strVal val="visible"/>
                                      </p:to>
                                    </p:set>
                                    <p:animEffect filter="fade" transition="in">
                                      <p:cBhvr>
                                        <p:cTn dur="500"/>
                                        <p:tgtEl>
                                          <p:spTgt spid="1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500"/>
                                        <p:tgtEl>
                                          <p:spTgt spid="1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500"/>
                                        <p:tgtEl>
                                          <p:spTgt spid="1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xEl>
                                              <p:pRg end="0" st="0"/>
                                            </p:txEl>
                                          </p:spTgt>
                                        </p:tgtEl>
                                        <p:attrNameLst>
                                          <p:attrName>style.visibility</p:attrName>
                                        </p:attrNameLst>
                                      </p:cBhvr>
                                      <p:to>
                                        <p:strVal val="visible"/>
                                      </p:to>
                                    </p:set>
                                    <p:animEffect filter="fade" transition="in">
                                      <p:cBhvr>
                                        <p:cTn dur="500"/>
                                        <p:tgtEl>
                                          <p:spTgt spid="1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500"/>
                                        <p:tgtEl>
                                          <p:spTgt spid="1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1"/>
                                        </p:tgtEl>
                                        <p:attrNameLst>
                                          <p:attrName>style.visibility</p:attrName>
                                        </p:attrNameLst>
                                      </p:cBhvr>
                                      <p:to>
                                        <p:strVal val="visible"/>
                                      </p:to>
                                    </p:set>
                                    <p:anim calcmode="lin" valueType="num">
                                      <p:cBhvr additive="base">
                                        <p:cTn dur="500"/>
                                        <p:tgtEl>
                                          <p:spTgt spid="12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500"/>
                                        <p:tgtEl>
                                          <p:spTgt spid="1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1"/>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32" name="Google Shape;132;p21"/>
          <p:cNvSpPr txBox="1"/>
          <p:nvPr>
            <p:ph idx="1" type="body"/>
          </p:nvPr>
        </p:nvSpPr>
        <p:spPr>
          <a:xfrm>
            <a:off x="311700" y="966850"/>
            <a:ext cx="8520600" cy="476939"/>
          </a:xfrm>
          <a:prstGeom prst="rect">
            <a:avLst/>
          </a:prstGeom>
          <a:noFill/>
          <a:ln>
            <a:noFill/>
          </a:ln>
        </p:spPr>
        <p:txBody>
          <a:bodyPr anchorCtr="0" anchor="t" bIns="0" lIns="0" spcFirstLastPara="1" rIns="0" wrap="square" tIns="0">
            <a:noAutofit/>
          </a:bodyPr>
          <a:lstStyle/>
          <a:p>
            <a:pPr indent="0" lvl="0" marL="114300" rtl="0" algn="l">
              <a:lnSpc>
                <a:spcPct val="150000"/>
              </a:lnSpc>
              <a:spcBef>
                <a:spcPts val="0"/>
              </a:spcBef>
              <a:spcAft>
                <a:spcPts val="0"/>
              </a:spcAft>
              <a:buSzPts val="1800"/>
              <a:buNone/>
            </a:pPr>
            <a:r>
              <a:rPr b="1" lang="en-US" sz="1600">
                <a:solidFill>
                  <a:srgbClr val="303030"/>
                </a:solidFill>
              </a:rPr>
              <a:t>1. Brute Force Approach</a:t>
            </a:r>
            <a:endParaRPr b="1"/>
          </a:p>
        </p:txBody>
      </p:sp>
      <p:graphicFrame>
        <p:nvGraphicFramePr>
          <p:cNvPr id="133" name="Google Shape;133;p21"/>
          <p:cNvGraphicFramePr/>
          <p:nvPr/>
        </p:nvGraphicFramePr>
        <p:xfrm>
          <a:off x="3171136" y="4379215"/>
          <a:ext cx="3000000" cy="3000000"/>
        </p:xfrm>
        <a:graphic>
          <a:graphicData uri="http://schemas.openxmlformats.org/drawingml/2006/table">
            <a:tbl>
              <a:tblPr bandRow="1" firstRow="1">
                <a:noFill/>
                <a:tableStyleId>{520AD5DF-B57C-4033-8DEF-2B9529F2A670}</a:tableStyleId>
              </a:tblPr>
              <a:tblGrid>
                <a:gridCol w="540875"/>
                <a:gridCol w="540875"/>
                <a:gridCol w="540875"/>
                <a:gridCol w="540875"/>
              </a:tblGrid>
              <a:tr h="30862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0000"/>
                          </a:solidFill>
                          <a:latin typeface="Roboto"/>
                          <a:ea typeface="Roboto"/>
                          <a:cs typeface="Roboto"/>
                          <a:sym typeface="Roboto"/>
                        </a:rPr>
                        <a:t>1</a:t>
                      </a:r>
                      <a:endParaRPr sz="1400" u="none" cap="none" strike="noStrike"/>
                    </a:p>
                  </a:txBody>
                  <a:tcPr marT="45725" marB="45725" marR="91450" marL="91450">
                    <a:solidFill>
                      <a:srgbClr val="92D05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0000"/>
                          </a:solidFill>
                          <a:latin typeface="Roboto"/>
                          <a:ea typeface="Roboto"/>
                          <a:cs typeface="Roboto"/>
                          <a:sym typeface="Roboto"/>
                        </a:rPr>
                        <a:t>2</a:t>
                      </a:r>
                      <a:endParaRPr sz="1400" u="none" cap="none" strike="noStrike"/>
                    </a:p>
                  </a:txBody>
                  <a:tcPr marT="45725" marB="45725" marR="91450" marL="91450">
                    <a:solidFill>
                      <a:srgbClr val="92D05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0000"/>
                          </a:solidFill>
                          <a:latin typeface="Roboto"/>
                          <a:ea typeface="Roboto"/>
                          <a:cs typeface="Roboto"/>
                          <a:sym typeface="Roboto"/>
                        </a:rPr>
                        <a:t>3</a:t>
                      </a:r>
                      <a:endParaRPr sz="1400" u="none" cap="none" strike="noStrike"/>
                    </a:p>
                  </a:txBody>
                  <a:tcPr marT="45725" marB="45725" marR="91450" marL="91450">
                    <a:solidFill>
                      <a:srgbClr val="92D05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0000"/>
                          </a:solidFill>
                          <a:latin typeface="Roboto"/>
                          <a:ea typeface="Roboto"/>
                          <a:cs typeface="Roboto"/>
                          <a:sym typeface="Roboto"/>
                        </a:rPr>
                        <a:t>4</a:t>
                      </a:r>
                      <a:endParaRPr sz="1400" u="none" cap="none" strike="noStrike"/>
                    </a:p>
                  </a:txBody>
                  <a:tcPr marT="45725" marB="45725" marR="91450" marL="91450">
                    <a:solidFill>
                      <a:srgbClr val="92D050"/>
                    </a:solidFill>
                  </a:tcPr>
                </a:tc>
              </a:tr>
            </a:tbl>
          </a:graphicData>
        </a:graphic>
      </p:graphicFrame>
      <p:cxnSp>
        <p:nvCxnSpPr>
          <p:cNvPr id="134" name="Google Shape;134;p21"/>
          <p:cNvCxnSpPr/>
          <p:nvPr/>
        </p:nvCxnSpPr>
        <p:spPr>
          <a:xfrm>
            <a:off x="3334874" y="4271806"/>
            <a:ext cx="1836000" cy="0"/>
          </a:xfrm>
          <a:prstGeom prst="straightConnector1">
            <a:avLst/>
          </a:prstGeom>
          <a:noFill/>
          <a:ln cap="flat" cmpd="sng" w="25400">
            <a:solidFill>
              <a:schemeClr val="accent2"/>
            </a:solidFill>
            <a:prstDash val="solid"/>
            <a:round/>
            <a:headEnd len="sm" w="sm" type="none"/>
            <a:tailEnd len="med" w="med" type="triangle"/>
          </a:ln>
          <a:effectLst>
            <a:outerShdw blurRad="40000" rotWithShape="0" dir="5400000" dist="20000">
              <a:srgbClr val="000000">
                <a:alpha val="36862"/>
              </a:srgbClr>
            </a:outerShdw>
          </a:effectLst>
        </p:spPr>
      </p:cxnSp>
      <p:sp>
        <p:nvSpPr>
          <p:cNvPr id="135" name="Google Shape;135;p21"/>
          <p:cNvSpPr txBox="1"/>
          <p:nvPr/>
        </p:nvSpPr>
        <p:spPr>
          <a:xfrm>
            <a:off x="305975" y="1421750"/>
            <a:ext cx="8520600" cy="833309"/>
          </a:xfrm>
          <a:prstGeom prst="rect">
            <a:avLst/>
          </a:prstGeom>
          <a:noFill/>
          <a:ln>
            <a:noFill/>
          </a:ln>
        </p:spPr>
        <p:txBody>
          <a:bodyPr anchorCtr="0" anchor="t" bIns="0" lIns="0" spcFirstLastPara="1" rIns="0" wrap="square" tIns="0">
            <a:noAutofit/>
          </a:bodyPr>
          <a:lstStyle/>
          <a:p>
            <a:pPr indent="0" lvl="0" marL="114300" marR="0" rtl="0" algn="l">
              <a:lnSpc>
                <a:spcPct val="150000"/>
              </a:lnSpc>
              <a:spcBef>
                <a:spcPts val="0"/>
              </a:spcBef>
              <a:spcAft>
                <a:spcPts val="0"/>
              </a:spcAft>
              <a:buClr>
                <a:srgbClr val="000000"/>
              </a:buClr>
              <a:buSzPts val="1600"/>
              <a:buFont typeface="Arial"/>
              <a:buNone/>
            </a:pPr>
            <a:r>
              <a:rPr b="0" i="0" lang="en-US" sz="1800" u="none" cap="none" strike="noStrike">
                <a:solidFill>
                  <a:srgbClr val="303030"/>
                </a:solidFill>
                <a:latin typeface="Roboto"/>
                <a:ea typeface="Roboto"/>
                <a:cs typeface="Roboto"/>
                <a:sym typeface="Roboto"/>
              </a:rPr>
              <a:t>There is no special intuition needed here. A common fact that we need to compare elements to find the greatest is more than enough.</a:t>
            </a:r>
            <a:endParaRPr b="0" i="0" sz="1800" u="none" cap="none" strike="noStrike">
              <a:solidFill>
                <a:schemeClr val="dk2"/>
              </a:solidFill>
              <a:latin typeface="Roboto"/>
              <a:ea typeface="Roboto"/>
              <a:cs typeface="Roboto"/>
              <a:sym typeface="Roboto"/>
            </a:endParaRPr>
          </a:p>
        </p:txBody>
      </p:sp>
      <p:sp>
        <p:nvSpPr>
          <p:cNvPr id="136" name="Google Shape;136;p21"/>
          <p:cNvSpPr txBox="1"/>
          <p:nvPr/>
        </p:nvSpPr>
        <p:spPr>
          <a:xfrm>
            <a:off x="312850" y="2453000"/>
            <a:ext cx="8520600" cy="476939"/>
          </a:xfrm>
          <a:prstGeom prst="rect">
            <a:avLst/>
          </a:prstGeom>
          <a:noFill/>
          <a:ln>
            <a:noFill/>
          </a:ln>
        </p:spPr>
        <p:txBody>
          <a:bodyPr anchorCtr="0" anchor="t" bIns="0" lIns="0" spcFirstLastPara="1" rIns="0" wrap="square" tIns="0">
            <a:noAutofit/>
          </a:bodyPr>
          <a:lstStyle/>
          <a:p>
            <a:pPr indent="0" lvl="0" marL="114300" marR="0" rtl="0" algn="l">
              <a:lnSpc>
                <a:spcPct val="150000"/>
              </a:lnSpc>
              <a:spcBef>
                <a:spcPts val="0"/>
              </a:spcBef>
              <a:spcAft>
                <a:spcPts val="0"/>
              </a:spcAft>
              <a:buClr>
                <a:srgbClr val="000000"/>
              </a:buClr>
              <a:buSzPts val="1600"/>
              <a:buFont typeface="Arial"/>
              <a:buNone/>
            </a:pPr>
            <a:r>
              <a:rPr b="0" i="1" lang="en-US" sz="1600" u="none" cap="none" strike="noStrike">
                <a:solidFill>
                  <a:srgbClr val="303030"/>
                </a:solidFill>
                <a:latin typeface="Roboto"/>
                <a:ea typeface="Roboto"/>
                <a:cs typeface="Roboto"/>
                <a:sym typeface="Roboto"/>
              </a:rPr>
              <a:t>Explanation:</a:t>
            </a:r>
            <a:endParaRPr b="0" i="0" sz="1800" u="none" cap="none" strike="noStrike">
              <a:solidFill>
                <a:schemeClr val="dk2"/>
              </a:solidFill>
              <a:latin typeface="Roboto"/>
              <a:ea typeface="Roboto"/>
              <a:cs typeface="Roboto"/>
              <a:sym typeface="Roboto"/>
            </a:endParaRPr>
          </a:p>
        </p:txBody>
      </p:sp>
      <p:sp>
        <p:nvSpPr>
          <p:cNvPr id="137" name="Google Shape;137;p21"/>
          <p:cNvSpPr txBox="1"/>
          <p:nvPr/>
        </p:nvSpPr>
        <p:spPr>
          <a:xfrm>
            <a:off x="307125" y="2818525"/>
            <a:ext cx="8520600" cy="1100332"/>
          </a:xfrm>
          <a:prstGeom prst="rect">
            <a:avLst/>
          </a:prstGeom>
          <a:noFill/>
          <a:ln>
            <a:noFill/>
          </a:ln>
        </p:spPr>
        <p:txBody>
          <a:bodyPr anchorCtr="0" anchor="t" bIns="0" lIns="0" spcFirstLastPara="1" rIns="0" wrap="square" tIns="0">
            <a:noAutofit/>
          </a:bodyPr>
          <a:lstStyle/>
          <a:p>
            <a:pPr indent="0" lvl="0" marL="114300" marR="0" rtl="0" algn="l">
              <a:lnSpc>
                <a:spcPct val="150000"/>
              </a:lnSpc>
              <a:spcBef>
                <a:spcPts val="0"/>
              </a:spcBef>
              <a:spcAft>
                <a:spcPts val="0"/>
              </a:spcAft>
              <a:buClr>
                <a:srgbClr val="000000"/>
              </a:buClr>
              <a:buSzPts val="1600"/>
              <a:buFont typeface="Arial"/>
              <a:buNone/>
            </a:pPr>
            <a:r>
              <a:rPr b="0" i="0" lang="en-US" sz="1800" u="none" cap="none" strike="noStrike">
                <a:solidFill>
                  <a:srgbClr val="303030"/>
                </a:solidFill>
                <a:latin typeface="Roboto"/>
                <a:ea typeface="Roboto"/>
                <a:cs typeface="Roboto"/>
                <a:sym typeface="Roboto"/>
              </a:rPr>
              <a:t>In this brute force approach, we start checking all the elements from the start of the array to the end to see if an element is greater than all the elements on its right (i.e, the leader).</a:t>
            </a:r>
            <a:endParaRPr b="0" i="0" sz="1800" u="none" cap="none" strike="noStrike">
              <a:solidFill>
                <a:schemeClr val="dk2"/>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xEl>
                                              <p:pRg end="0" st="0"/>
                                            </p:txEl>
                                          </p:spTgt>
                                        </p:tgtEl>
                                        <p:attrNameLst>
                                          <p:attrName>style.visibility</p:attrName>
                                        </p:attrNameLst>
                                      </p:cBhvr>
                                      <p:to>
                                        <p:strVal val="visible"/>
                                      </p:to>
                                    </p:set>
                                    <p:animEffect filter="fade" transition="in">
                                      <p:cBhvr>
                                        <p:cTn dur="500"/>
                                        <p:tgtEl>
                                          <p:spTgt spid="1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0" st="0"/>
                                            </p:txEl>
                                          </p:spTgt>
                                        </p:tgtEl>
                                        <p:attrNameLst>
                                          <p:attrName>style.visibility</p:attrName>
                                        </p:attrNameLst>
                                      </p:cBhvr>
                                      <p:to>
                                        <p:strVal val="visible"/>
                                      </p:to>
                                    </p:set>
                                    <p:animEffect filter="fade" transition="in">
                                      <p:cBhvr>
                                        <p:cTn dur="500"/>
                                        <p:tgtEl>
                                          <p:spTgt spid="1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animEffect filter="fade" transition="in">
                                      <p:cBhvr>
                                        <p:cTn dur="500"/>
                                        <p:tgtEl>
                                          <p:spTgt spid="1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xEl>
                                              <p:pRg end="0" st="0"/>
                                            </p:txEl>
                                          </p:spTgt>
                                        </p:tgtEl>
                                        <p:attrNameLst>
                                          <p:attrName>style.visibility</p:attrName>
                                        </p:attrNameLst>
                                      </p:cBhvr>
                                      <p:to>
                                        <p:strVal val="visible"/>
                                      </p:to>
                                    </p:set>
                                    <p:animEffect filter="fade" transition="in">
                                      <p:cBhvr>
                                        <p:cTn dur="500"/>
                                        <p:tgtEl>
                                          <p:spTgt spid="1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0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500"/>
                                        <p:tgtEl>
                                          <p:spTgt spid="1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43" name="Google Shape;143;p22"/>
          <p:cNvSpPr txBox="1"/>
          <p:nvPr/>
        </p:nvSpPr>
        <p:spPr>
          <a:xfrm>
            <a:off x="697423" y="973312"/>
            <a:ext cx="8097900" cy="923400"/>
          </a:xfrm>
          <a:prstGeom prst="rect">
            <a:avLst/>
          </a:prstGeom>
          <a:noFill/>
          <a:ln>
            <a:noFill/>
          </a:ln>
        </p:spPr>
        <p:txBody>
          <a:bodyPr anchorCtr="0" anchor="t" bIns="45700" lIns="91425" spcFirstLastPara="1" rIns="91425" wrap="square" tIns="45700">
            <a:spAutoFit/>
          </a:bodyPr>
          <a:lstStyle/>
          <a:p>
            <a:pPr indent="-298450" lvl="0" marL="285750" marR="0" rtl="0" algn="l">
              <a:lnSpc>
                <a:spcPct val="200000"/>
              </a:lnSpc>
              <a:spcBef>
                <a:spcPts val="0"/>
              </a:spcBef>
              <a:spcAft>
                <a:spcPts val="0"/>
              </a:spcAft>
              <a:buClr>
                <a:srgbClr val="000000"/>
              </a:buClr>
              <a:buSzPts val="1800"/>
              <a:buFont typeface="Arial"/>
              <a:buChar char="•"/>
            </a:pPr>
            <a:r>
              <a:rPr b="0" i="0" lang="en-US" sz="1800" u="none" cap="none" strike="noStrike">
                <a:solidFill>
                  <a:srgbClr val="303030"/>
                </a:solidFill>
                <a:latin typeface="Roboto"/>
                <a:ea typeface="Roboto"/>
                <a:cs typeface="Roboto"/>
                <a:sym typeface="Roboto"/>
              </a:rPr>
              <a:t>For this, we will use nested loops where the outer loop will check for each element in the array whether it is a leader or not.</a:t>
            </a:r>
            <a:endParaRPr b="0" i="0" sz="1800" u="none" cap="none" strike="noStrike">
              <a:solidFill>
                <a:srgbClr val="000000"/>
              </a:solidFill>
              <a:latin typeface="Roboto"/>
              <a:ea typeface="Roboto"/>
              <a:cs typeface="Roboto"/>
              <a:sym typeface="Roboto"/>
            </a:endParaRPr>
          </a:p>
        </p:txBody>
      </p:sp>
      <p:sp>
        <p:nvSpPr>
          <p:cNvPr id="144" name="Google Shape;144;p22"/>
          <p:cNvSpPr txBox="1"/>
          <p:nvPr/>
        </p:nvSpPr>
        <p:spPr>
          <a:xfrm>
            <a:off x="698573" y="2095087"/>
            <a:ext cx="8097900" cy="923400"/>
          </a:xfrm>
          <a:prstGeom prst="rect">
            <a:avLst/>
          </a:prstGeom>
          <a:noFill/>
          <a:ln>
            <a:noFill/>
          </a:ln>
        </p:spPr>
        <p:txBody>
          <a:bodyPr anchorCtr="0" anchor="t" bIns="45700" lIns="91425" spcFirstLastPara="1" rIns="91425" wrap="square" tIns="45700">
            <a:spAutoFit/>
          </a:bodyPr>
          <a:lstStyle/>
          <a:p>
            <a:pPr indent="-298450" lvl="0" marL="285750" marR="0" rtl="0" algn="l">
              <a:lnSpc>
                <a:spcPct val="200000"/>
              </a:lnSpc>
              <a:spcBef>
                <a:spcPts val="0"/>
              </a:spcBef>
              <a:spcAft>
                <a:spcPts val="0"/>
              </a:spcAft>
              <a:buClr>
                <a:srgbClr val="000000"/>
              </a:buClr>
              <a:buSzPts val="1800"/>
              <a:buFont typeface="Arial"/>
              <a:buChar char="•"/>
            </a:pPr>
            <a:r>
              <a:rPr b="0" i="0" lang="en-US" sz="1800" u="none" cap="none" strike="noStrike">
                <a:solidFill>
                  <a:srgbClr val="303030"/>
                </a:solidFill>
                <a:latin typeface="Roboto"/>
                <a:ea typeface="Roboto"/>
                <a:cs typeface="Roboto"/>
                <a:sym typeface="Roboto"/>
              </a:rPr>
              <a:t>The inner loop checks if there is any element to the right that is greater than the element currently traversed by the outer loop.</a:t>
            </a:r>
            <a:endParaRPr b="0" i="0" sz="1800" u="none" cap="none" strike="noStrike">
              <a:solidFill>
                <a:srgbClr val="000000"/>
              </a:solidFill>
              <a:latin typeface="Roboto"/>
              <a:ea typeface="Roboto"/>
              <a:cs typeface="Roboto"/>
              <a:sym typeface="Roboto"/>
            </a:endParaRPr>
          </a:p>
        </p:txBody>
      </p:sp>
      <p:sp>
        <p:nvSpPr>
          <p:cNvPr id="145" name="Google Shape;145;p22"/>
          <p:cNvSpPr txBox="1"/>
          <p:nvPr/>
        </p:nvSpPr>
        <p:spPr>
          <a:xfrm>
            <a:off x="699723" y="3209987"/>
            <a:ext cx="8097900" cy="923400"/>
          </a:xfrm>
          <a:prstGeom prst="rect">
            <a:avLst/>
          </a:prstGeom>
          <a:noFill/>
          <a:ln>
            <a:noFill/>
          </a:ln>
        </p:spPr>
        <p:txBody>
          <a:bodyPr anchorCtr="0" anchor="t" bIns="45700" lIns="91425" spcFirstLastPara="1" rIns="91425" wrap="square" tIns="45700">
            <a:spAutoFit/>
          </a:bodyPr>
          <a:lstStyle/>
          <a:p>
            <a:pPr indent="-298450" lvl="0" marL="285750" marR="0" rtl="0" algn="l">
              <a:lnSpc>
                <a:spcPct val="200000"/>
              </a:lnSpc>
              <a:spcBef>
                <a:spcPts val="0"/>
              </a:spcBef>
              <a:spcAft>
                <a:spcPts val="0"/>
              </a:spcAft>
              <a:buClr>
                <a:srgbClr val="000000"/>
              </a:buClr>
              <a:buSzPts val="1800"/>
              <a:buFont typeface="Arial"/>
              <a:buChar char="•"/>
            </a:pPr>
            <a:r>
              <a:rPr b="0" i="0" lang="en-US" sz="1800" u="none" cap="none" strike="noStrike">
                <a:solidFill>
                  <a:srgbClr val="303030"/>
                </a:solidFill>
                <a:latin typeface="Roboto"/>
                <a:ea typeface="Roboto"/>
                <a:cs typeface="Roboto"/>
                <a:sym typeface="Roboto"/>
              </a:rPr>
              <a:t>We start by initializing the outer loop pointer to the start element and setting it as the current leader.</a:t>
            </a:r>
            <a:endParaRPr b="0" i="0" sz="18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500"/>
                                        <p:tgtEl>
                                          <p:spTgt spid="1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500"/>
                                        <p:tgtEl>
                                          <p:spTgt spid="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500"/>
                                        <p:tgtEl>
                                          <p:spTgt spid="1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51" name="Google Shape;151;p24"/>
          <p:cNvSpPr txBox="1"/>
          <p:nvPr/>
        </p:nvSpPr>
        <p:spPr>
          <a:xfrm>
            <a:off x="689674" y="951989"/>
            <a:ext cx="8097900" cy="1477500"/>
          </a:xfrm>
          <a:prstGeom prst="rect">
            <a:avLst/>
          </a:prstGeom>
          <a:noFill/>
          <a:ln>
            <a:noFill/>
          </a:ln>
        </p:spPr>
        <p:txBody>
          <a:bodyPr anchorCtr="0" anchor="t" bIns="45700" lIns="91425" spcFirstLastPara="1" rIns="91425" wrap="square" tIns="45700">
            <a:spAutoFit/>
          </a:bodyPr>
          <a:lstStyle/>
          <a:p>
            <a:pPr indent="-298450" lvl="0" marL="285750" marR="0" rtl="0" algn="l">
              <a:lnSpc>
                <a:spcPct val="200000"/>
              </a:lnSpc>
              <a:spcBef>
                <a:spcPts val="0"/>
              </a:spcBef>
              <a:spcAft>
                <a:spcPts val="0"/>
              </a:spcAft>
              <a:buClr>
                <a:srgbClr val="000000"/>
              </a:buClr>
              <a:buSzPts val="1800"/>
              <a:buFont typeface="Arial"/>
              <a:buChar char="•"/>
            </a:pPr>
            <a:r>
              <a:rPr b="0" i="0" lang="en-US" sz="1800" u="none" cap="none" strike="noStrike">
                <a:solidFill>
                  <a:srgbClr val="303030"/>
                </a:solidFill>
                <a:latin typeface="Roboto"/>
                <a:ea typeface="Roboto"/>
                <a:cs typeface="Roboto"/>
                <a:sym typeface="Roboto"/>
              </a:rPr>
              <a:t>If any element traversed is found greater than the element currently set as a leader, it will not go to the ans array and we increment the outer loop pointer by 1 and set the next element as the current leader.</a:t>
            </a:r>
            <a:endParaRPr b="0" i="0" sz="1800" u="none" cap="none" strike="noStrike">
              <a:solidFill>
                <a:srgbClr val="000000"/>
              </a:solidFill>
              <a:latin typeface="Roboto"/>
              <a:ea typeface="Roboto"/>
              <a:cs typeface="Roboto"/>
              <a:sym typeface="Roboto"/>
            </a:endParaRPr>
          </a:p>
        </p:txBody>
      </p:sp>
      <p:sp>
        <p:nvSpPr>
          <p:cNvPr id="152" name="Google Shape;152;p24"/>
          <p:cNvSpPr txBox="1"/>
          <p:nvPr/>
        </p:nvSpPr>
        <p:spPr>
          <a:xfrm>
            <a:off x="690824" y="3036264"/>
            <a:ext cx="8097900" cy="1477500"/>
          </a:xfrm>
          <a:prstGeom prst="rect">
            <a:avLst/>
          </a:prstGeom>
          <a:noFill/>
          <a:ln>
            <a:noFill/>
          </a:ln>
        </p:spPr>
        <p:txBody>
          <a:bodyPr anchorCtr="0" anchor="t" bIns="45700" lIns="91425" spcFirstLastPara="1" rIns="91425" wrap="square" tIns="45700">
            <a:spAutoFit/>
          </a:bodyPr>
          <a:lstStyle/>
          <a:p>
            <a:pPr indent="-298450" lvl="0" marL="285750" marR="0" rtl="0" algn="l">
              <a:lnSpc>
                <a:spcPct val="200000"/>
              </a:lnSpc>
              <a:spcBef>
                <a:spcPts val="0"/>
              </a:spcBef>
              <a:spcAft>
                <a:spcPts val="0"/>
              </a:spcAft>
              <a:buClr>
                <a:srgbClr val="000000"/>
              </a:buClr>
              <a:buSzPts val="1800"/>
              <a:buFont typeface="Arial"/>
              <a:buChar char="•"/>
            </a:pPr>
            <a:r>
              <a:rPr b="0" i="0" lang="en-US" sz="1800" u="none" cap="none" strike="noStrike">
                <a:solidFill>
                  <a:srgbClr val="303030"/>
                </a:solidFill>
                <a:latin typeface="Roboto"/>
                <a:ea typeface="Roboto"/>
                <a:cs typeface="Roboto"/>
                <a:sym typeface="Roboto"/>
              </a:rPr>
              <a:t>If we don’t find any other element to the right greater than the current element, then we push the current element to the ans array stating that is it the leader element.</a:t>
            </a:r>
            <a:endParaRPr b="0" i="0" sz="18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5"/>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58" name="Google Shape;158;p25"/>
          <p:cNvSpPr txBox="1"/>
          <p:nvPr/>
        </p:nvSpPr>
        <p:spPr>
          <a:xfrm>
            <a:off x="785958" y="1841967"/>
            <a:ext cx="3339155" cy="25237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800" u="sng" cap="none" strike="noStrike">
                <a:solidFill>
                  <a:srgbClr val="000000"/>
                </a:solidFill>
                <a:latin typeface="Roboto"/>
                <a:ea typeface="Roboto"/>
                <a:cs typeface="Roboto"/>
                <a:sym typeface="Roboto"/>
              </a:rPr>
              <a:t>Test Case 1</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800" u="sng" cap="none" strike="noStrike">
                <a:solidFill>
                  <a:srgbClr val="000000"/>
                </a:solidFill>
                <a:latin typeface="Roboto"/>
                <a:ea typeface="Roboto"/>
                <a:cs typeface="Roboto"/>
                <a:sym typeface="Roboto"/>
              </a:rPr>
              <a:t>Input</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Roboto"/>
                <a:ea typeface="Roboto"/>
                <a:cs typeface="Roboto"/>
                <a:sym typeface="Roboto"/>
              </a:rPr>
              <a:t>n = 6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Roboto"/>
                <a:ea typeface="Roboto"/>
                <a:cs typeface="Roboto"/>
                <a:sym typeface="Roboto"/>
              </a:rPr>
              <a:t>A[] = {16,17,4,3,5,2}</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600"/>
              <a:buFont typeface="Arial"/>
              <a:buNone/>
            </a:pPr>
            <a:r>
              <a:t/>
            </a:r>
            <a:endParaRPr b="0"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800" u="sng" cap="none" strike="noStrike">
                <a:solidFill>
                  <a:srgbClr val="000000"/>
                </a:solidFill>
                <a:latin typeface="Roboto"/>
                <a:ea typeface="Roboto"/>
                <a:cs typeface="Roboto"/>
                <a:sym typeface="Roboto"/>
              </a:rPr>
              <a:t>Output</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Roboto"/>
                <a:ea typeface="Roboto"/>
                <a:cs typeface="Roboto"/>
                <a:sym typeface="Roboto"/>
              </a:rPr>
              <a:t>17 5 2</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600"/>
              <a:buFont typeface="Arial"/>
              <a:buNone/>
            </a:pPr>
            <a:r>
              <a:t/>
            </a:r>
            <a:endParaRPr b="0" i="0" sz="1600" u="none" cap="none" strike="noStrike">
              <a:solidFill>
                <a:srgbClr val="303030"/>
              </a:solidFill>
              <a:latin typeface="Roboto"/>
              <a:ea typeface="Roboto"/>
              <a:cs typeface="Roboto"/>
              <a:sym typeface="Roboto"/>
            </a:endParaRPr>
          </a:p>
        </p:txBody>
      </p:sp>
      <p:sp>
        <p:nvSpPr>
          <p:cNvPr id="159" name="Google Shape;159;p25"/>
          <p:cNvSpPr txBox="1"/>
          <p:nvPr/>
        </p:nvSpPr>
        <p:spPr>
          <a:xfrm>
            <a:off x="4834890" y="1870632"/>
            <a:ext cx="2540000" cy="20312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800" u="sng" cap="none" strike="noStrike">
                <a:solidFill>
                  <a:srgbClr val="000000"/>
                </a:solidFill>
                <a:latin typeface="Roboto"/>
                <a:ea typeface="Roboto"/>
                <a:cs typeface="Roboto"/>
                <a:sym typeface="Roboto"/>
              </a:rPr>
              <a:t>Test Case 2</a:t>
            </a:r>
            <a:endParaRPr b="0" i="0" sz="1800" u="sng"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800" u="sng" cap="none" strike="noStrike">
                <a:solidFill>
                  <a:srgbClr val="000000"/>
                </a:solidFill>
                <a:latin typeface="Roboto"/>
                <a:ea typeface="Roboto"/>
                <a:cs typeface="Roboto"/>
                <a:sym typeface="Roboto"/>
              </a:rPr>
              <a:t>Input</a:t>
            </a:r>
            <a:endParaRPr b="0" i="0" sz="1800" u="sng"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Roboto"/>
                <a:ea typeface="Roboto"/>
                <a:cs typeface="Roboto"/>
                <a:sym typeface="Roboto"/>
              </a:rPr>
              <a:t>n = 5</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Roboto"/>
                <a:ea typeface="Roboto"/>
                <a:cs typeface="Roboto"/>
                <a:sym typeface="Roboto"/>
              </a:rPr>
              <a:t>A[] = {1,2,3,4,0}</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dk1"/>
                </a:solidFill>
                <a:latin typeface="Roboto"/>
                <a:ea typeface="Roboto"/>
                <a:cs typeface="Roboto"/>
                <a:sym typeface="Roboto"/>
              </a:rPr>
              <a:t>Output</a:t>
            </a:r>
            <a:endParaRPr b="0" i="0" sz="1800" u="sng"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Roboto"/>
                <a:ea typeface="Roboto"/>
                <a:cs typeface="Roboto"/>
                <a:sym typeface="Roboto"/>
              </a:rPr>
              <a:t>4 0</a:t>
            </a:r>
            <a:endParaRPr b="0" i="0" sz="1800" u="none" cap="none" strike="noStrike">
              <a:solidFill>
                <a:schemeClr val="dk1"/>
              </a:solidFill>
              <a:latin typeface="Roboto"/>
              <a:ea typeface="Roboto"/>
              <a:cs typeface="Roboto"/>
              <a:sym typeface="Roboto"/>
            </a:endParaRPr>
          </a:p>
        </p:txBody>
      </p:sp>
      <p:sp>
        <p:nvSpPr>
          <p:cNvPr id="160" name="Google Shape;160;p25"/>
          <p:cNvSpPr txBox="1"/>
          <p:nvPr/>
        </p:nvSpPr>
        <p:spPr>
          <a:xfrm>
            <a:off x="1604075" y="1216617"/>
            <a:ext cx="1537886"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Roboto"/>
                <a:ea typeface="Roboto"/>
                <a:cs typeface="Roboto"/>
                <a:sym typeface="Roboto"/>
              </a:rPr>
              <a:t>Test Cases</a:t>
            </a:r>
            <a:endParaRPr b="0" i="0" sz="18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1000"/>
                                        <p:tgtEl>
                                          <p:spTgt spid="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8"/>
                                        </p:tgtEl>
                                        <p:attrNameLst>
                                          <p:attrName>style.visibility</p:attrName>
                                        </p:attrNameLst>
                                      </p:cBhvr>
                                      <p:to>
                                        <p:strVal val="visible"/>
                                      </p:to>
                                    </p:set>
                                    <p:anim calcmode="lin" valueType="num">
                                      <p:cBhvr additive="base">
                                        <p:cTn dur="500"/>
                                        <p:tgtEl>
                                          <p:spTgt spid="15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9"/>
                                        </p:tgtEl>
                                        <p:attrNameLst>
                                          <p:attrName>style.visibility</p:attrName>
                                        </p:attrNameLst>
                                      </p:cBhvr>
                                      <p:to>
                                        <p:strVal val="visible"/>
                                      </p:to>
                                    </p:set>
                                    <p:anim calcmode="lin" valueType="num">
                                      <p:cBhvr additive="base">
                                        <p:cTn dur="500"/>
                                        <p:tgtEl>
                                          <p:spTgt spid="15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5"/>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66" name="Google Shape;166;p35"/>
          <p:cNvSpPr txBox="1"/>
          <p:nvPr/>
        </p:nvSpPr>
        <p:spPr>
          <a:xfrm>
            <a:off x="674176" y="1330812"/>
            <a:ext cx="8276095" cy="461624"/>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rgbClr val="050E17"/>
              </a:solidFill>
              <a:latin typeface="Roboto"/>
              <a:ea typeface="Roboto"/>
              <a:cs typeface="Roboto"/>
              <a:sym typeface="Roboto"/>
            </a:endParaRPr>
          </a:p>
        </p:txBody>
      </p:sp>
      <p:graphicFrame>
        <p:nvGraphicFramePr>
          <p:cNvPr id="167" name="Google Shape;167;p35"/>
          <p:cNvGraphicFramePr/>
          <p:nvPr/>
        </p:nvGraphicFramePr>
        <p:xfrm>
          <a:off x="275100" y="453385"/>
          <a:ext cx="3000000" cy="3000000"/>
        </p:xfrm>
        <a:graphic>
          <a:graphicData uri="http://schemas.openxmlformats.org/drawingml/2006/table">
            <a:tbl>
              <a:tblPr bandRow="1" firstRow="1">
                <a:noFill/>
                <a:tableStyleId>{520AD5DF-B57C-4033-8DEF-2B9529F2A670}</a:tableStyleId>
              </a:tblPr>
              <a:tblGrid>
                <a:gridCol w="4517750"/>
                <a:gridCol w="4076050"/>
              </a:tblGrid>
              <a:tr h="3241825">
                <a:tc>
                  <a:txBody>
                    <a:bodyPr/>
                    <a:lstStyle/>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import java.util.*;</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class Main{</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public static ArrayList&lt;Integer&gt;                     printLeadersBruteForce(int[] arr, int n){  </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  ArrayList&lt;Integer&gt; ans= new ArrayList&lt;&gt;();</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    for (int i = 0; i &lt; n; i++) {</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    boolean leader = true;</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    for (int j = i + 1; j &lt; n; j++)</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      if (arr[j] &gt; arr[i]) {</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          leader = false;</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        break;</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      }</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       if (leader)</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    ans.add(arr[i]);</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  }</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  return ans;</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a:t>
                      </a:r>
                      <a:endParaRPr sz="1600" u="none" cap="none" strike="noStrike">
                        <a:latin typeface="Roboto"/>
                        <a:ea typeface="Roboto"/>
                        <a:cs typeface="Roboto"/>
                        <a:sym typeface="Roboto"/>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public static void main(String args[]) </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  // Array Initialization.</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  int n = 6;</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  int arr[]=  {2,4,6,3,1,2};</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 </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  ArrayList&lt;Integer&gt; ans= printLeadersBruteForce(arr,n);</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  </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  for (int i = 0; i &lt; ans.size(); i++) {</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    System.out.print(ans.get(i)+" ");</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  }</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600" u="none" cap="none" strike="noStrike">
                          <a:solidFill>
                            <a:schemeClr val="dk1"/>
                          </a:solidFill>
                          <a:latin typeface="Roboto"/>
                          <a:ea typeface="Roboto"/>
                          <a:cs typeface="Roboto"/>
                          <a:sym typeface="Roboto"/>
                        </a:rPr>
                        <a:t>}</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sz="1600" u="none" cap="none" strike="noStrike">
                        <a:solidFill>
                          <a:schemeClr val="dk1"/>
                        </a:solidFill>
                        <a:latin typeface="Roboto"/>
                        <a:ea typeface="Roboto"/>
                        <a:cs typeface="Roboto"/>
                        <a:sym typeface="Roboto"/>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6"/>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73" name="Google Shape;173;p36"/>
          <p:cNvSpPr txBox="1"/>
          <p:nvPr/>
        </p:nvSpPr>
        <p:spPr>
          <a:xfrm>
            <a:off x="674176" y="1330812"/>
            <a:ext cx="8276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50E17"/>
                </a:solidFill>
                <a:latin typeface="Roboto"/>
                <a:ea typeface="Roboto"/>
                <a:cs typeface="Roboto"/>
                <a:sym typeface="Roboto"/>
              </a:rPr>
              <a:t>Time and space complexity</a:t>
            </a:r>
            <a:endParaRPr b="0" i="0" sz="1800" u="none" cap="none" strike="noStrike">
              <a:solidFill>
                <a:srgbClr val="000000"/>
              </a:solidFill>
              <a:latin typeface="Roboto"/>
              <a:ea typeface="Roboto"/>
              <a:cs typeface="Roboto"/>
              <a:sym typeface="Roboto"/>
            </a:endParaRPr>
          </a:p>
        </p:txBody>
      </p:sp>
      <p:sp>
        <p:nvSpPr>
          <p:cNvPr id="174" name="Google Shape;174;p36"/>
          <p:cNvSpPr txBox="1"/>
          <p:nvPr/>
        </p:nvSpPr>
        <p:spPr>
          <a:xfrm>
            <a:off x="2041560" y="1841967"/>
            <a:ext cx="4572000" cy="9234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600"/>
              <a:buFont typeface="Arial"/>
              <a:buNone/>
            </a:pPr>
            <a:r>
              <a:rPr b="0" i="0" lang="en-US" sz="1800" u="none" cap="none" strike="noStrike">
                <a:solidFill>
                  <a:schemeClr val="dk1"/>
                </a:solidFill>
                <a:latin typeface="Roboto"/>
                <a:ea typeface="Roboto"/>
                <a:cs typeface="Roboto"/>
                <a:sym typeface="Roboto"/>
              </a:rPr>
              <a:t>Time Complexity: O(n</a:t>
            </a:r>
            <a:r>
              <a:rPr b="0" baseline="30000" i="0" lang="en-US" sz="1800" u="none" cap="none" strike="noStrike">
                <a:solidFill>
                  <a:schemeClr val="dk1"/>
                </a:solidFill>
                <a:latin typeface="Roboto"/>
                <a:ea typeface="Roboto"/>
                <a:cs typeface="Roboto"/>
                <a:sym typeface="Roboto"/>
              </a:rPr>
              <a:t>2</a:t>
            </a:r>
            <a:r>
              <a:rPr b="0" i="0" lang="en-US" sz="1800" u="none" cap="none" strike="noStrike">
                <a:solidFill>
                  <a:schemeClr val="dk1"/>
                </a:solidFill>
                <a:latin typeface="Roboto"/>
                <a:ea typeface="Roboto"/>
                <a:cs typeface="Roboto"/>
                <a:sym typeface="Roboto"/>
              </a:rPr>
              <a:t>) </a:t>
            </a:r>
            <a:br>
              <a:rPr b="0" i="0" lang="en-US" sz="1800" u="none" cap="none" strike="noStrike">
                <a:solidFill>
                  <a:schemeClr val="dk1"/>
                </a:solidFill>
                <a:latin typeface="Roboto"/>
                <a:ea typeface="Roboto"/>
                <a:cs typeface="Roboto"/>
                <a:sym typeface="Roboto"/>
              </a:rPr>
            </a:br>
            <a:r>
              <a:rPr b="0" i="0" lang="en-US" sz="1800" u="none" cap="none" strike="noStrike">
                <a:solidFill>
                  <a:schemeClr val="dk1"/>
                </a:solidFill>
                <a:latin typeface="Roboto"/>
                <a:ea typeface="Roboto"/>
                <a:cs typeface="Roboto"/>
                <a:sym typeface="Roboto"/>
              </a:rPr>
              <a:t>Space Complexity: O(n)</a:t>
            </a:r>
            <a:endParaRPr b="0" i="0" sz="1800" u="none" cap="none" strike="noStrike">
              <a:solidFill>
                <a:schemeClr val="dk1"/>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7"/>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80" name="Google Shape;180;p37"/>
          <p:cNvSpPr txBox="1"/>
          <p:nvPr/>
        </p:nvSpPr>
        <p:spPr>
          <a:xfrm>
            <a:off x="697423" y="801912"/>
            <a:ext cx="8276100" cy="369300"/>
          </a:xfrm>
          <a:prstGeom prst="rect">
            <a:avLst/>
          </a:prstGeom>
          <a:noFill/>
          <a:ln>
            <a:noFill/>
          </a:ln>
        </p:spPr>
        <p:txBody>
          <a:bodyPr anchorCtr="0" anchor="t" bIns="45700" lIns="91425" spcFirstLastPara="1" rIns="91425" wrap="square" tIns="45700">
            <a:spAutoFit/>
          </a:bodyPr>
          <a:lstStyle/>
          <a:p>
            <a:pPr indent="0" lvl="0" marL="114300" marR="0" rtl="0" algn="l">
              <a:lnSpc>
                <a:spcPct val="150000"/>
              </a:lnSpc>
              <a:spcBef>
                <a:spcPts val="0"/>
              </a:spcBef>
              <a:spcAft>
                <a:spcPts val="0"/>
              </a:spcAft>
              <a:buClr>
                <a:srgbClr val="000000"/>
              </a:buClr>
              <a:buSzPts val="1800"/>
              <a:buFont typeface="Arial"/>
              <a:buNone/>
            </a:pPr>
            <a:r>
              <a:rPr b="1" i="0" lang="en-US" sz="1800" u="sng" cap="none" strike="noStrike">
                <a:solidFill>
                  <a:srgbClr val="303030"/>
                </a:solidFill>
                <a:latin typeface="Roboto"/>
                <a:ea typeface="Roboto"/>
                <a:cs typeface="Roboto"/>
                <a:sym typeface="Roboto"/>
              </a:rPr>
              <a:t>2. Efficient Approach-traversal Method</a:t>
            </a:r>
            <a:endParaRPr b="1" i="0" sz="1800" u="none" cap="none" strike="noStrike">
              <a:solidFill>
                <a:srgbClr val="000000"/>
              </a:solidFill>
              <a:latin typeface="Roboto"/>
              <a:ea typeface="Roboto"/>
              <a:cs typeface="Roboto"/>
              <a:sym typeface="Roboto"/>
            </a:endParaRPr>
          </a:p>
        </p:txBody>
      </p:sp>
      <p:sp>
        <p:nvSpPr>
          <p:cNvPr id="181" name="Google Shape;181;p37"/>
          <p:cNvSpPr txBox="1"/>
          <p:nvPr/>
        </p:nvSpPr>
        <p:spPr>
          <a:xfrm>
            <a:off x="698573" y="1256812"/>
            <a:ext cx="8276095" cy="507791"/>
          </a:xfrm>
          <a:prstGeom prst="rect">
            <a:avLst/>
          </a:prstGeom>
          <a:noFill/>
          <a:ln>
            <a:noFill/>
          </a:ln>
        </p:spPr>
        <p:txBody>
          <a:bodyPr anchorCtr="0" anchor="t" bIns="45700" lIns="91425" spcFirstLastPara="1" rIns="91425" wrap="square" tIns="45700">
            <a:spAutoFit/>
          </a:bodyPr>
          <a:lstStyle/>
          <a:p>
            <a:pPr indent="0" lvl="0" marL="114300" marR="0" rtl="0" algn="l">
              <a:lnSpc>
                <a:spcPct val="150000"/>
              </a:lnSpc>
              <a:spcBef>
                <a:spcPts val="0"/>
              </a:spcBef>
              <a:spcAft>
                <a:spcPts val="0"/>
              </a:spcAft>
              <a:buClr>
                <a:srgbClr val="000000"/>
              </a:buClr>
              <a:buSzPts val="1800"/>
              <a:buFont typeface="Arial"/>
              <a:buNone/>
            </a:pPr>
            <a:r>
              <a:rPr b="0" i="0" lang="en-US" sz="1800" u="none" cap="none" strike="noStrike">
                <a:solidFill>
                  <a:srgbClr val="303030"/>
                </a:solidFill>
                <a:latin typeface="Roboto"/>
                <a:ea typeface="Roboto"/>
                <a:cs typeface="Roboto"/>
                <a:sym typeface="Roboto"/>
              </a:rPr>
              <a:t>The comparison starts from right to left</a:t>
            </a:r>
            <a:endParaRPr b="0" i="0" sz="1400" u="none" cap="none" strike="noStrike">
              <a:solidFill>
                <a:srgbClr val="000000"/>
              </a:solidFill>
              <a:latin typeface="Roboto"/>
              <a:ea typeface="Roboto"/>
              <a:cs typeface="Roboto"/>
              <a:sym typeface="Roboto"/>
            </a:endParaRPr>
          </a:p>
        </p:txBody>
      </p:sp>
      <p:graphicFrame>
        <p:nvGraphicFramePr>
          <p:cNvPr id="182" name="Google Shape;182;p37"/>
          <p:cNvGraphicFramePr/>
          <p:nvPr/>
        </p:nvGraphicFramePr>
        <p:xfrm>
          <a:off x="861066" y="2117277"/>
          <a:ext cx="3000000" cy="3000000"/>
        </p:xfrm>
        <a:graphic>
          <a:graphicData uri="http://schemas.openxmlformats.org/drawingml/2006/table">
            <a:tbl>
              <a:tblPr bandRow="1" firstRow="1">
                <a:noFill/>
                <a:tableStyleId>{520AD5DF-B57C-4033-8DEF-2B9529F2A670}</a:tableStyleId>
              </a:tblPr>
              <a:tblGrid>
                <a:gridCol w="540875"/>
                <a:gridCol w="540875"/>
                <a:gridCol w="540875"/>
                <a:gridCol w="540875"/>
              </a:tblGrid>
              <a:tr h="30862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4</a:t>
                      </a:r>
                      <a:endParaRPr sz="1400" u="none" cap="none" strike="noStrike">
                        <a:solidFill>
                          <a:srgbClr val="002060"/>
                        </a:solidFill>
                      </a:endParaRPr>
                    </a:p>
                  </a:txBody>
                  <a:tcPr marT="45725" marB="45725" marR="91450" marL="91450">
                    <a:solidFill>
                      <a:srgbClr val="92D05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7</a:t>
                      </a:r>
                      <a:endParaRPr sz="1400" u="none" cap="none" strike="noStrike">
                        <a:solidFill>
                          <a:srgbClr val="002060"/>
                        </a:solidFill>
                      </a:endParaRPr>
                    </a:p>
                  </a:txBody>
                  <a:tcPr marT="45725" marB="45725" marR="91450" marL="91450">
                    <a:solidFill>
                      <a:srgbClr val="92D05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1</a:t>
                      </a:r>
                      <a:endParaRPr sz="1400" u="none" cap="none" strike="noStrike">
                        <a:solidFill>
                          <a:srgbClr val="002060"/>
                        </a:solidFill>
                      </a:endParaRPr>
                    </a:p>
                  </a:txBody>
                  <a:tcPr marT="45725" marB="45725" marR="91450" marL="91450">
                    <a:solidFill>
                      <a:srgbClr val="92D05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0</a:t>
                      </a:r>
                      <a:endParaRPr sz="1400" u="none" cap="none" strike="noStrike">
                        <a:solidFill>
                          <a:srgbClr val="002060"/>
                        </a:solidFill>
                      </a:endParaRPr>
                    </a:p>
                  </a:txBody>
                  <a:tcPr marT="45725" marB="45725" marR="91450" marL="91450">
                    <a:solidFill>
                      <a:srgbClr val="92D050"/>
                    </a:solidFill>
                  </a:tcPr>
                </a:tc>
              </a:tr>
            </a:tbl>
          </a:graphicData>
        </a:graphic>
      </p:graphicFrame>
      <p:sp>
        <p:nvSpPr>
          <p:cNvPr id="183" name="Google Shape;183;p37"/>
          <p:cNvSpPr/>
          <p:nvPr/>
        </p:nvSpPr>
        <p:spPr>
          <a:xfrm>
            <a:off x="2614923" y="2122229"/>
            <a:ext cx="284052"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Roboto"/>
                <a:ea typeface="Roboto"/>
                <a:cs typeface="Roboto"/>
                <a:sym typeface="Roboto"/>
              </a:rPr>
              <a:t>0</a:t>
            </a:r>
            <a:endParaRPr b="1" i="0" sz="1400" u="none" cap="none" strike="noStrike">
              <a:solidFill>
                <a:srgbClr val="FF0000"/>
              </a:solidFill>
              <a:latin typeface="Roboto"/>
              <a:ea typeface="Roboto"/>
              <a:cs typeface="Roboto"/>
              <a:sym typeface="Roboto"/>
            </a:endParaRPr>
          </a:p>
        </p:txBody>
      </p:sp>
      <p:sp>
        <p:nvSpPr>
          <p:cNvPr id="184" name="Google Shape;184;p37"/>
          <p:cNvSpPr txBox="1"/>
          <p:nvPr/>
        </p:nvSpPr>
        <p:spPr>
          <a:xfrm>
            <a:off x="440025" y="2495700"/>
            <a:ext cx="37956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1200" u="none" cap="none" strike="noStrike">
                <a:solidFill>
                  <a:srgbClr val="000000"/>
                </a:solidFill>
                <a:latin typeface="Roboto"/>
                <a:ea typeface="Roboto"/>
                <a:cs typeface="Roboto"/>
                <a:sym typeface="Roboto"/>
              </a:rPr>
              <a:t>0 is Right most member, So it is one of the Leaders.</a:t>
            </a:r>
            <a:endParaRPr b="0" i="0" sz="1200" u="none" cap="none" strike="noStrike">
              <a:solidFill>
                <a:srgbClr val="000000"/>
              </a:solidFill>
              <a:latin typeface="Roboto"/>
              <a:ea typeface="Roboto"/>
              <a:cs typeface="Roboto"/>
              <a:sym typeface="Roboto"/>
            </a:endParaRPr>
          </a:p>
        </p:txBody>
      </p:sp>
      <p:graphicFrame>
        <p:nvGraphicFramePr>
          <p:cNvPr id="185" name="Google Shape;185;p37"/>
          <p:cNvGraphicFramePr/>
          <p:nvPr/>
        </p:nvGraphicFramePr>
        <p:xfrm>
          <a:off x="5867344" y="2097798"/>
          <a:ext cx="3000000" cy="3000000"/>
        </p:xfrm>
        <a:graphic>
          <a:graphicData uri="http://schemas.openxmlformats.org/drawingml/2006/table">
            <a:tbl>
              <a:tblPr bandRow="1" firstRow="1">
                <a:noFill/>
                <a:tableStyleId>{520AD5DF-B57C-4033-8DEF-2B9529F2A670}</a:tableStyleId>
              </a:tblPr>
              <a:tblGrid>
                <a:gridCol w="540875"/>
                <a:gridCol w="540875"/>
                <a:gridCol w="540875"/>
                <a:gridCol w="540875"/>
              </a:tblGrid>
              <a:tr h="30862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4</a:t>
                      </a:r>
                      <a:endParaRPr sz="1400" u="none" cap="none" strike="noStrike">
                        <a:solidFill>
                          <a:srgbClr val="002060"/>
                        </a:solidFill>
                      </a:endParaRPr>
                    </a:p>
                  </a:txBody>
                  <a:tcPr marT="45725" marB="45725" marR="91450" marL="91450">
                    <a:solidFill>
                      <a:srgbClr val="92D05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7</a:t>
                      </a:r>
                      <a:endParaRPr sz="1400" u="none" cap="none" strike="noStrike">
                        <a:solidFill>
                          <a:srgbClr val="002060"/>
                        </a:solidFill>
                      </a:endParaRPr>
                    </a:p>
                  </a:txBody>
                  <a:tcPr marT="45725" marB="45725" marR="91450" marL="91450">
                    <a:solidFill>
                      <a:srgbClr val="92D05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1</a:t>
                      </a:r>
                      <a:endParaRPr sz="1400" u="none" cap="none" strike="noStrike">
                        <a:solidFill>
                          <a:srgbClr val="002060"/>
                        </a:solidFill>
                      </a:endParaRPr>
                    </a:p>
                  </a:txBody>
                  <a:tcPr marT="45725" marB="45725" marR="91450" marL="91450">
                    <a:solidFill>
                      <a:srgbClr val="92D05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0000"/>
                          </a:solidFill>
                          <a:latin typeface="Roboto"/>
                          <a:ea typeface="Roboto"/>
                          <a:cs typeface="Roboto"/>
                          <a:sym typeface="Roboto"/>
                        </a:rPr>
                        <a:t>0</a:t>
                      </a:r>
                      <a:endParaRPr sz="1400" u="none" cap="none" strike="noStrike">
                        <a:solidFill>
                          <a:srgbClr val="FF0000"/>
                        </a:solidFill>
                      </a:endParaRPr>
                    </a:p>
                  </a:txBody>
                  <a:tcPr marT="45725" marB="45725" marR="91450" marL="91450">
                    <a:solidFill>
                      <a:srgbClr val="92D050"/>
                    </a:solidFill>
                  </a:tcPr>
                </a:tc>
              </a:tr>
            </a:tbl>
          </a:graphicData>
        </a:graphic>
      </p:graphicFrame>
      <p:sp>
        <p:nvSpPr>
          <p:cNvPr id="186" name="Google Shape;186;p37"/>
          <p:cNvSpPr/>
          <p:nvPr/>
        </p:nvSpPr>
        <p:spPr>
          <a:xfrm>
            <a:off x="7078076" y="2102750"/>
            <a:ext cx="284052"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Roboto"/>
                <a:ea typeface="Roboto"/>
                <a:cs typeface="Roboto"/>
                <a:sym typeface="Roboto"/>
              </a:rPr>
              <a:t>1</a:t>
            </a:r>
            <a:endParaRPr b="1" i="0" sz="1400" u="none" cap="none" strike="noStrike">
              <a:solidFill>
                <a:srgbClr val="FF0000"/>
              </a:solidFill>
              <a:latin typeface="Roboto"/>
              <a:ea typeface="Roboto"/>
              <a:cs typeface="Roboto"/>
              <a:sym typeface="Roboto"/>
            </a:endParaRPr>
          </a:p>
        </p:txBody>
      </p:sp>
      <p:sp>
        <p:nvSpPr>
          <p:cNvPr id="187" name="Google Shape;187;p37"/>
          <p:cNvSpPr txBox="1"/>
          <p:nvPr/>
        </p:nvSpPr>
        <p:spPr>
          <a:xfrm>
            <a:off x="4875150" y="2476225"/>
            <a:ext cx="49539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1200" u="none" cap="none" strike="noStrike">
                <a:solidFill>
                  <a:srgbClr val="000000"/>
                </a:solidFill>
                <a:latin typeface="Roboto"/>
                <a:ea typeface="Roboto"/>
                <a:cs typeface="Roboto"/>
                <a:sym typeface="Roboto"/>
              </a:rPr>
              <a:t>1 &gt; 0. Only one element to it’s right.</a:t>
            </a:r>
            <a:endParaRPr b="0" i="0" sz="12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800"/>
              <a:buFont typeface="Arial"/>
              <a:buNone/>
            </a:pPr>
            <a:r>
              <a:rPr b="0" i="0" lang="en-US" sz="1200" u="none" cap="none" strike="noStrike">
                <a:solidFill>
                  <a:srgbClr val="000000"/>
                </a:solidFill>
                <a:latin typeface="Roboto"/>
                <a:ea typeface="Roboto"/>
                <a:cs typeface="Roboto"/>
                <a:sym typeface="Roboto"/>
              </a:rPr>
              <a:t>So it is one of the Leaders.</a:t>
            </a:r>
            <a:endParaRPr b="0" i="0" sz="1200" u="none" cap="none" strike="noStrike">
              <a:solidFill>
                <a:srgbClr val="000000"/>
              </a:solidFill>
              <a:latin typeface="Roboto"/>
              <a:ea typeface="Roboto"/>
              <a:cs typeface="Roboto"/>
              <a:sym typeface="Roboto"/>
            </a:endParaRPr>
          </a:p>
        </p:txBody>
      </p:sp>
      <p:graphicFrame>
        <p:nvGraphicFramePr>
          <p:cNvPr id="188" name="Google Shape;188;p37"/>
          <p:cNvGraphicFramePr/>
          <p:nvPr/>
        </p:nvGraphicFramePr>
        <p:xfrm>
          <a:off x="855341" y="3335302"/>
          <a:ext cx="3000000" cy="3000000"/>
        </p:xfrm>
        <a:graphic>
          <a:graphicData uri="http://schemas.openxmlformats.org/drawingml/2006/table">
            <a:tbl>
              <a:tblPr bandRow="1" firstRow="1">
                <a:noFill/>
                <a:tableStyleId>{520AD5DF-B57C-4033-8DEF-2B9529F2A670}</a:tableStyleId>
              </a:tblPr>
              <a:tblGrid>
                <a:gridCol w="540875"/>
                <a:gridCol w="540875"/>
                <a:gridCol w="540875"/>
                <a:gridCol w="540875"/>
              </a:tblGrid>
              <a:tr h="30862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4</a:t>
                      </a:r>
                      <a:endParaRPr sz="1400" u="none" cap="none" strike="noStrike">
                        <a:solidFill>
                          <a:srgbClr val="002060"/>
                        </a:solidFill>
                      </a:endParaRPr>
                    </a:p>
                  </a:txBody>
                  <a:tcPr marT="45725" marB="45725" marR="91450" marL="91450">
                    <a:solidFill>
                      <a:srgbClr val="92D05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7</a:t>
                      </a:r>
                      <a:endParaRPr sz="1400" u="none" cap="none" strike="noStrike">
                        <a:solidFill>
                          <a:srgbClr val="002060"/>
                        </a:solidFill>
                      </a:endParaRPr>
                    </a:p>
                  </a:txBody>
                  <a:tcPr marT="45725" marB="45725" marR="91450" marL="91450">
                    <a:solidFill>
                      <a:srgbClr val="92D05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0000"/>
                          </a:solidFill>
                          <a:latin typeface="Roboto"/>
                          <a:ea typeface="Roboto"/>
                          <a:cs typeface="Roboto"/>
                          <a:sym typeface="Roboto"/>
                        </a:rPr>
                        <a:t>1</a:t>
                      </a:r>
                      <a:endParaRPr sz="1400" u="none" cap="none" strike="noStrike">
                        <a:solidFill>
                          <a:srgbClr val="FF0000"/>
                        </a:solidFill>
                      </a:endParaRPr>
                    </a:p>
                  </a:txBody>
                  <a:tcPr marT="45725" marB="45725" marR="91450" marL="91450">
                    <a:solidFill>
                      <a:srgbClr val="92D05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0000"/>
                          </a:solidFill>
                          <a:latin typeface="Roboto"/>
                          <a:ea typeface="Roboto"/>
                          <a:cs typeface="Roboto"/>
                          <a:sym typeface="Roboto"/>
                        </a:rPr>
                        <a:t>0</a:t>
                      </a:r>
                      <a:endParaRPr sz="1400" u="none" cap="none" strike="noStrike">
                        <a:solidFill>
                          <a:srgbClr val="FF0000"/>
                        </a:solidFill>
                      </a:endParaRPr>
                    </a:p>
                  </a:txBody>
                  <a:tcPr marT="45725" marB="45725" marR="91450" marL="91450">
                    <a:solidFill>
                      <a:srgbClr val="92D050"/>
                    </a:solidFill>
                  </a:tcPr>
                </a:tc>
              </a:tr>
            </a:tbl>
          </a:graphicData>
        </a:graphic>
      </p:graphicFrame>
      <p:sp>
        <p:nvSpPr>
          <p:cNvPr id="189" name="Google Shape;189;p37"/>
          <p:cNvSpPr/>
          <p:nvPr/>
        </p:nvSpPr>
        <p:spPr>
          <a:xfrm>
            <a:off x="1522948" y="3333379"/>
            <a:ext cx="284052"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Roboto"/>
                <a:ea typeface="Roboto"/>
                <a:cs typeface="Roboto"/>
                <a:sym typeface="Roboto"/>
              </a:rPr>
              <a:t>7</a:t>
            </a:r>
            <a:endParaRPr b="1" i="0" sz="1400" u="none" cap="none" strike="noStrike">
              <a:solidFill>
                <a:srgbClr val="FF0000"/>
              </a:solidFill>
              <a:latin typeface="Roboto"/>
              <a:ea typeface="Roboto"/>
              <a:cs typeface="Roboto"/>
              <a:sym typeface="Roboto"/>
            </a:endParaRPr>
          </a:p>
        </p:txBody>
      </p:sp>
      <p:sp>
        <p:nvSpPr>
          <p:cNvPr id="190" name="Google Shape;190;p37"/>
          <p:cNvSpPr txBox="1"/>
          <p:nvPr/>
        </p:nvSpPr>
        <p:spPr>
          <a:xfrm>
            <a:off x="434296" y="3713723"/>
            <a:ext cx="34032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1200" u="none" cap="none" strike="noStrike">
                <a:solidFill>
                  <a:srgbClr val="000000"/>
                </a:solidFill>
                <a:latin typeface="Roboto"/>
                <a:ea typeface="Roboto"/>
                <a:cs typeface="Roboto"/>
                <a:sym typeface="Roboto"/>
              </a:rPr>
              <a:t>7 is greater than all the members to it’s Right.</a:t>
            </a:r>
            <a:endParaRPr b="0" i="0" sz="12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800"/>
              <a:buFont typeface="Arial"/>
              <a:buNone/>
            </a:pPr>
            <a:r>
              <a:rPr b="0" i="0" lang="en-US" sz="1200" u="none" cap="none" strike="noStrike">
                <a:solidFill>
                  <a:srgbClr val="000000"/>
                </a:solidFill>
                <a:latin typeface="Roboto"/>
                <a:ea typeface="Roboto"/>
                <a:cs typeface="Roboto"/>
                <a:sym typeface="Roboto"/>
              </a:rPr>
              <a:t>So it is one of the Leaders.</a:t>
            </a:r>
            <a:endParaRPr b="0" i="0" sz="1200" u="none" cap="none" strike="noStrike">
              <a:solidFill>
                <a:srgbClr val="000000"/>
              </a:solidFill>
              <a:latin typeface="Roboto"/>
              <a:ea typeface="Roboto"/>
              <a:cs typeface="Roboto"/>
              <a:sym typeface="Roboto"/>
            </a:endParaRPr>
          </a:p>
        </p:txBody>
      </p:sp>
      <p:graphicFrame>
        <p:nvGraphicFramePr>
          <p:cNvPr id="191" name="Google Shape;191;p37"/>
          <p:cNvGraphicFramePr/>
          <p:nvPr/>
        </p:nvGraphicFramePr>
        <p:xfrm>
          <a:off x="5875369" y="3281448"/>
          <a:ext cx="3000000" cy="3000000"/>
        </p:xfrm>
        <a:graphic>
          <a:graphicData uri="http://schemas.openxmlformats.org/drawingml/2006/table">
            <a:tbl>
              <a:tblPr bandRow="1" firstRow="1">
                <a:noFill/>
                <a:tableStyleId>{520AD5DF-B57C-4033-8DEF-2B9529F2A670}</a:tableStyleId>
              </a:tblPr>
              <a:tblGrid>
                <a:gridCol w="540875"/>
                <a:gridCol w="540875"/>
                <a:gridCol w="540875"/>
                <a:gridCol w="540875"/>
              </a:tblGrid>
              <a:tr h="30862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002060"/>
                          </a:solidFill>
                          <a:latin typeface="Roboto"/>
                          <a:ea typeface="Roboto"/>
                          <a:cs typeface="Roboto"/>
                          <a:sym typeface="Roboto"/>
                        </a:rPr>
                        <a:t>4</a:t>
                      </a:r>
                      <a:endParaRPr sz="1400" u="none" cap="none" strike="noStrike">
                        <a:solidFill>
                          <a:srgbClr val="002060"/>
                        </a:solidFill>
                      </a:endParaRPr>
                    </a:p>
                  </a:txBody>
                  <a:tcPr marT="45725" marB="45725" marR="91450" marL="91450">
                    <a:solidFill>
                      <a:srgbClr val="92D05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0000"/>
                          </a:solidFill>
                          <a:latin typeface="Roboto"/>
                          <a:ea typeface="Roboto"/>
                          <a:cs typeface="Roboto"/>
                          <a:sym typeface="Roboto"/>
                        </a:rPr>
                        <a:t>7</a:t>
                      </a:r>
                      <a:endParaRPr sz="1400" u="none" cap="none" strike="noStrike">
                        <a:solidFill>
                          <a:srgbClr val="FF0000"/>
                        </a:solidFill>
                      </a:endParaRPr>
                    </a:p>
                  </a:txBody>
                  <a:tcPr marT="45725" marB="45725" marR="91450" marL="91450">
                    <a:solidFill>
                      <a:srgbClr val="92D05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0000"/>
                          </a:solidFill>
                          <a:latin typeface="Roboto"/>
                          <a:ea typeface="Roboto"/>
                          <a:cs typeface="Roboto"/>
                          <a:sym typeface="Roboto"/>
                        </a:rPr>
                        <a:t>1</a:t>
                      </a:r>
                      <a:endParaRPr sz="1400" u="none" cap="none" strike="noStrike">
                        <a:solidFill>
                          <a:srgbClr val="FF0000"/>
                        </a:solidFill>
                      </a:endParaRPr>
                    </a:p>
                  </a:txBody>
                  <a:tcPr marT="45725" marB="45725" marR="91450" marL="91450">
                    <a:solidFill>
                      <a:srgbClr val="92D05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0000"/>
                          </a:solidFill>
                          <a:latin typeface="Roboto"/>
                          <a:ea typeface="Roboto"/>
                          <a:cs typeface="Roboto"/>
                          <a:sym typeface="Roboto"/>
                        </a:rPr>
                        <a:t>0</a:t>
                      </a:r>
                      <a:endParaRPr sz="1400" u="none" cap="none" strike="noStrike">
                        <a:solidFill>
                          <a:srgbClr val="FF0000"/>
                        </a:solidFill>
                      </a:endParaRPr>
                    </a:p>
                  </a:txBody>
                  <a:tcPr marT="45725" marB="45725" marR="91450" marL="91450">
                    <a:solidFill>
                      <a:srgbClr val="92D050"/>
                    </a:solidFill>
                  </a:tcPr>
                </a:tc>
              </a:tr>
            </a:tbl>
          </a:graphicData>
        </a:graphic>
      </p:graphicFrame>
      <p:sp>
        <p:nvSpPr>
          <p:cNvPr id="192" name="Google Shape;192;p37"/>
          <p:cNvSpPr/>
          <p:nvPr/>
        </p:nvSpPr>
        <p:spPr>
          <a:xfrm>
            <a:off x="6006726" y="3279525"/>
            <a:ext cx="284052"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2060"/>
                </a:solidFill>
                <a:latin typeface="Roboto"/>
                <a:ea typeface="Roboto"/>
                <a:cs typeface="Roboto"/>
                <a:sym typeface="Roboto"/>
              </a:rPr>
              <a:t>4</a:t>
            </a:r>
            <a:endParaRPr b="1" i="0" sz="1400" u="none" cap="none" strike="noStrike">
              <a:solidFill>
                <a:srgbClr val="002060"/>
              </a:solidFill>
              <a:latin typeface="Roboto"/>
              <a:ea typeface="Roboto"/>
              <a:cs typeface="Roboto"/>
              <a:sym typeface="Roboto"/>
            </a:endParaRPr>
          </a:p>
        </p:txBody>
      </p:sp>
      <p:sp>
        <p:nvSpPr>
          <p:cNvPr id="193" name="Google Shape;193;p37"/>
          <p:cNvSpPr txBox="1"/>
          <p:nvPr/>
        </p:nvSpPr>
        <p:spPr>
          <a:xfrm>
            <a:off x="5275574" y="3659869"/>
            <a:ext cx="34032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1200" u="none" cap="none" strike="noStrike">
                <a:solidFill>
                  <a:srgbClr val="000000"/>
                </a:solidFill>
                <a:latin typeface="Roboto"/>
                <a:ea typeface="Roboto"/>
                <a:cs typeface="Roboto"/>
                <a:sym typeface="Roboto"/>
              </a:rPr>
              <a:t>4 &lt; 7 to it’s right.</a:t>
            </a:r>
            <a:endParaRPr b="0" i="0" sz="12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800"/>
              <a:buFont typeface="Arial"/>
              <a:buNone/>
            </a:pPr>
            <a:r>
              <a:rPr b="0" i="0" lang="en-US" sz="1200" u="none" cap="none" strike="noStrike">
                <a:solidFill>
                  <a:srgbClr val="000000"/>
                </a:solidFill>
                <a:latin typeface="Roboto"/>
                <a:ea typeface="Roboto"/>
                <a:cs typeface="Roboto"/>
                <a:sym typeface="Roboto"/>
              </a:rPr>
              <a:t>So it is not a Leader.</a:t>
            </a:r>
            <a:endParaRPr b="0" i="0" sz="1200" u="none" cap="none" strike="noStrike">
              <a:solidFill>
                <a:srgbClr val="000000"/>
              </a:solidFill>
              <a:latin typeface="Roboto"/>
              <a:ea typeface="Roboto"/>
              <a:cs typeface="Roboto"/>
              <a:sym typeface="Roboto"/>
            </a:endParaRPr>
          </a:p>
        </p:txBody>
      </p:sp>
      <p:sp>
        <p:nvSpPr>
          <p:cNvPr id="194" name="Google Shape;194;p37"/>
          <p:cNvSpPr txBox="1"/>
          <p:nvPr/>
        </p:nvSpPr>
        <p:spPr>
          <a:xfrm>
            <a:off x="339187" y="2711122"/>
            <a:ext cx="34032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1000" u="none" cap="none" strike="noStrike">
                <a:solidFill>
                  <a:srgbClr val="FF0000"/>
                </a:solidFill>
                <a:latin typeface="Roboto"/>
                <a:ea typeface="Roboto"/>
                <a:cs typeface="Roboto"/>
                <a:sym typeface="Roboto"/>
              </a:rPr>
              <a:t>Leaders: [0]</a:t>
            </a:r>
            <a:endParaRPr b="0" i="0" sz="1000" u="none" cap="none" strike="noStrike">
              <a:solidFill>
                <a:srgbClr val="FF0000"/>
              </a:solidFill>
              <a:latin typeface="Roboto"/>
              <a:ea typeface="Roboto"/>
              <a:cs typeface="Roboto"/>
              <a:sym typeface="Roboto"/>
            </a:endParaRPr>
          </a:p>
        </p:txBody>
      </p:sp>
      <p:sp>
        <p:nvSpPr>
          <p:cNvPr id="195" name="Google Shape;195;p37"/>
          <p:cNvSpPr txBox="1"/>
          <p:nvPr/>
        </p:nvSpPr>
        <p:spPr>
          <a:xfrm>
            <a:off x="5623910" y="2884720"/>
            <a:ext cx="2808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1000" u="none" cap="none" strike="noStrike">
                <a:solidFill>
                  <a:srgbClr val="FF0000"/>
                </a:solidFill>
                <a:latin typeface="Roboto"/>
                <a:ea typeface="Roboto"/>
                <a:cs typeface="Roboto"/>
                <a:sym typeface="Roboto"/>
              </a:rPr>
              <a:t>Leaders: [0, 1]</a:t>
            </a:r>
            <a:endParaRPr b="0" i="0" sz="1000" u="none" cap="none" strike="noStrike">
              <a:solidFill>
                <a:srgbClr val="FF0000"/>
              </a:solidFill>
              <a:latin typeface="Roboto"/>
              <a:ea typeface="Roboto"/>
              <a:cs typeface="Roboto"/>
              <a:sym typeface="Roboto"/>
            </a:endParaRPr>
          </a:p>
        </p:txBody>
      </p:sp>
      <p:sp>
        <p:nvSpPr>
          <p:cNvPr id="196" name="Google Shape;196;p37"/>
          <p:cNvSpPr txBox="1"/>
          <p:nvPr/>
        </p:nvSpPr>
        <p:spPr>
          <a:xfrm>
            <a:off x="454914" y="4109076"/>
            <a:ext cx="2808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1000" u="none" cap="none" strike="noStrike">
                <a:solidFill>
                  <a:srgbClr val="FF0000"/>
                </a:solidFill>
                <a:latin typeface="Roboto"/>
                <a:ea typeface="Roboto"/>
                <a:cs typeface="Roboto"/>
                <a:sym typeface="Roboto"/>
              </a:rPr>
              <a:t>Leaders: [0, 1, 7]</a:t>
            </a:r>
            <a:endParaRPr b="0" i="0" sz="1000" u="none" cap="none" strike="noStrike">
              <a:solidFill>
                <a:srgbClr val="FF0000"/>
              </a:solidFill>
              <a:latin typeface="Roboto"/>
              <a:ea typeface="Roboto"/>
              <a:cs typeface="Roboto"/>
              <a:sym typeface="Roboto"/>
            </a:endParaRPr>
          </a:p>
        </p:txBody>
      </p:sp>
      <p:sp>
        <p:nvSpPr>
          <p:cNvPr id="197" name="Google Shape;197;p37"/>
          <p:cNvSpPr txBox="1"/>
          <p:nvPr/>
        </p:nvSpPr>
        <p:spPr>
          <a:xfrm>
            <a:off x="5564325" y="4055220"/>
            <a:ext cx="2808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1000" u="none" cap="none" strike="noStrike">
                <a:solidFill>
                  <a:srgbClr val="FF0000"/>
                </a:solidFill>
                <a:latin typeface="Roboto"/>
                <a:ea typeface="Roboto"/>
                <a:cs typeface="Roboto"/>
                <a:sym typeface="Roboto"/>
              </a:rPr>
              <a:t>Leaders: [0, 1, 7]</a:t>
            </a:r>
            <a:endParaRPr b="0" i="0" sz="1000" u="none" cap="none" strike="noStrike">
              <a:solidFill>
                <a:srgbClr val="FF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500"/>
                                        <p:tgtEl>
                                          <p:spTgt spid="1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500"/>
                                        <p:tgtEl>
                                          <p:spTgt spid="1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1000"/>
                                        <p:tgtEl>
                                          <p:spTgt spid="1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1000"/>
                                        <p:tgtEl>
                                          <p:spTgt spid="184"/>
                                        </p:tgtEl>
                                      </p:cBhvr>
                                    </p:animEffect>
                                  </p:childTnLst>
                                </p:cTn>
                              </p:par>
                              <p:par>
                                <p:cTn fill="hold" nodeType="with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1000"/>
                                        <p:tgtEl>
                                          <p:spTgt spid="1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1000"/>
                                        <p:tgtEl>
                                          <p:spTgt spid="1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1000"/>
                                        <p:tgtEl>
                                          <p:spTgt spid="1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1000"/>
                                        <p:tgtEl>
                                          <p:spTgt spid="187"/>
                                        </p:tgtEl>
                                      </p:cBhvr>
                                    </p:animEffect>
                                  </p:childTnLst>
                                </p:cTn>
                              </p:par>
                              <p:par>
                                <p:cTn fill="hold" nodeType="with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1000"/>
                                        <p:tgtEl>
                                          <p:spTgt spid="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1000"/>
                                        <p:tgtEl>
                                          <p:spTgt spid="1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1000"/>
                                        <p:tgtEl>
                                          <p:spTgt spid="1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par>
                                <p:cTn fill="hold" nodeType="with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1000"/>
                                        <p:tgtEl>
                                          <p:spTgt spid="1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1000"/>
                                        <p:tgtEl>
                                          <p:spTgt spid="1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1000"/>
                                        <p:tgtEl>
                                          <p:spTgt spid="193"/>
                                        </p:tgtEl>
                                      </p:cBhvr>
                                    </p:animEffect>
                                  </p:childTnLst>
                                </p:cTn>
                              </p:par>
                              <p:par>
                                <p:cTn fill="hold" nodeType="with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1000"/>
                                        <p:tgtEl>
                                          <p:spTgt spid="1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1000"/>
                                        <p:tgtEl>
                                          <p:spTgt spid="1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8"/>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203" name="Google Shape;203;p38"/>
          <p:cNvSpPr txBox="1"/>
          <p:nvPr/>
        </p:nvSpPr>
        <p:spPr>
          <a:xfrm>
            <a:off x="555120" y="1045920"/>
            <a:ext cx="8276100" cy="7851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800"/>
              <a:buFont typeface="Arial"/>
              <a:buChar char="•"/>
            </a:pPr>
            <a:r>
              <a:rPr b="0" i="0" lang="en-US" sz="1800" u="none" cap="none" strike="noStrike">
                <a:solidFill>
                  <a:srgbClr val="303030"/>
                </a:solidFill>
                <a:latin typeface="Roboto"/>
                <a:ea typeface="Roboto"/>
                <a:cs typeface="Roboto"/>
                <a:sym typeface="Roboto"/>
              </a:rPr>
              <a:t>In the above approach, we do a fresh traversal for each candidate. we only want to compare the elements on the right side.</a:t>
            </a:r>
            <a:endParaRPr b="0" i="0" sz="1400" u="none" cap="none" strike="noStrike">
              <a:solidFill>
                <a:srgbClr val="000000"/>
              </a:solidFill>
              <a:latin typeface="Roboto"/>
              <a:ea typeface="Roboto"/>
              <a:cs typeface="Roboto"/>
              <a:sym typeface="Roboto"/>
            </a:endParaRPr>
          </a:p>
        </p:txBody>
      </p:sp>
      <p:sp>
        <p:nvSpPr>
          <p:cNvPr id="204" name="Google Shape;204;p38"/>
          <p:cNvSpPr txBox="1"/>
          <p:nvPr/>
        </p:nvSpPr>
        <p:spPr>
          <a:xfrm>
            <a:off x="556270" y="2041645"/>
            <a:ext cx="8276095" cy="92328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800"/>
              <a:buFont typeface="Arial"/>
              <a:buChar char="•"/>
            </a:pPr>
            <a:r>
              <a:rPr b="0" i="0" lang="en-US" sz="1800" u="none" cap="none" strike="noStrike">
                <a:solidFill>
                  <a:srgbClr val="303030"/>
                </a:solidFill>
                <a:latin typeface="Roboto"/>
                <a:ea typeface="Roboto"/>
                <a:cs typeface="Roboto"/>
                <a:sym typeface="Roboto"/>
              </a:rPr>
              <a:t>That is, we’ll try to remember the greatest element encountered so far and we’ll use that to decide whether a candidate is a leader or not.</a:t>
            </a:r>
            <a:endParaRPr b="0" i="0" sz="1400" u="none" cap="none" strike="noStrike">
              <a:solidFill>
                <a:srgbClr val="000000"/>
              </a:solidFill>
              <a:latin typeface="Roboto"/>
              <a:ea typeface="Roboto"/>
              <a:cs typeface="Roboto"/>
              <a:sym typeface="Roboto"/>
            </a:endParaRPr>
          </a:p>
        </p:txBody>
      </p:sp>
      <p:sp>
        <p:nvSpPr>
          <p:cNvPr id="205" name="Google Shape;205;p38"/>
          <p:cNvSpPr txBox="1"/>
          <p:nvPr/>
        </p:nvSpPr>
        <p:spPr>
          <a:xfrm>
            <a:off x="557420" y="3037370"/>
            <a:ext cx="8276100" cy="12006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800"/>
              <a:buFont typeface="Arial"/>
              <a:buChar char="•"/>
            </a:pPr>
            <a:r>
              <a:rPr b="0" i="0" lang="en-US" sz="1800" u="none" cap="none" strike="noStrike">
                <a:solidFill>
                  <a:srgbClr val="303030"/>
                </a:solidFill>
                <a:latin typeface="Roboto"/>
                <a:ea typeface="Roboto"/>
                <a:cs typeface="Roboto"/>
                <a:sym typeface="Roboto"/>
              </a:rPr>
              <a:t>First, we’ll start the traversal from the right. Then, we move toward the left. Whenever we encounter a new element, we check with the greatest element obtained so far.</a:t>
            </a:r>
            <a:endParaRPr b="0" i="0" sz="18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500"/>
                                        <p:tgtEl>
                                          <p:spTgt spid="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500"/>
                                        <p:tgtEl>
                                          <p:spTgt spid="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500"/>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9"/>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211" name="Google Shape;211;p39"/>
          <p:cNvSpPr txBox="1"/>
          <p:nvPr/>
        </p:nvSpPr>
        <p:spPr>
          <a:xfrm>
            <a:off x="555120" y="1403420"/>
            <a:ext cx="8276100" cy="7851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800"/>
              <a:buFont typeface="Arial"/>
              <a:buChar char="•"/>
            </a:pPr>
            <a:r>
              <a:rPr b="0" i="0" lang="en-US" sz="1800" u="none" cap="none" strike="noStrike">
                <a:solidFill>
                  <a:srgbClr val="303030"/>
                </a:solidFill>
                <a:latin typeface="Roboto"/>
                <a:ea typeface="Roboto"/>
                <a:cs typeface="Roboto"/>
                <a:sym typeface="Roboto"/>
              </a:rPr>
              <a:t>If the current element is greater than the greatest so far, then the current element is one of the leaders and we update the greatest element.</a:t>
            </a:r>
            <a:endParaRPr b="0" i="0" sz="1800" u="none" cap="none" strike="noStrike">
              <a:solidFill>
                <a:srgbClr val="000000"/>
              </a:solidFill>
              <a:latin typeface="Roboto"/>
              <a:ea typeface="Roboto"/>
              <a:cs typeface="Roboto"/>
              <a:sym typeface="Roboto"/>
            </a:endParaRPr>
          </a:p>
        </p:txBody>
      </p:sp>
      <p:sp>
        <p:nvSpPr>
          <p:cNvPr id="212" name="Google Shape;212;p39"/>
          <p:cNvSpPr txBox="1"/>
          <p:nvPr/>
        </p:nvSpPr>
        <p:spPr>
          <a:xfrm>
            <a:off x="556270" y="2612270"/>
            <a:ext cx="8276100" cy="12006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800"/>
              <a:buFont typeface="Arial"/>
              <a:buChar char="•"/>
            </a:pPr>
            <a:r>
              <a:rPr b="0" i="0" lang="en-US" sz="1800" u="none" cap="none" strike="noStrike">
                <a:solidFill>
                  <a:srgbClr val="303030"/>
                </a:solidFill>
                <a:latin typeface="Roboto"/>
                <a:ea typeface="Roboto"/>
                <a:cs typeface="Roboto"/>
                <a:sym typeface="Roboto"/>
              </a:rPr>
              <a:t>Else, we proceed with the further elements on the left. This method prints the leaders in the reverse direction of their occurrences. If we are concerned about the order, we can use an extra array or a string to order.</a:t>
            </a:r>
            <a:endParaRPr b="0" i="0" sz="18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500"/>
                                        <p:tgtEl>
                                          <p:spTgt spid="2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2fa01703581_0_0"/>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218" name="Google Shape;218;g2fa01703581_0_0"/>
          <p:cNvSpPr txBox="1"/>
          <p:nvPr/>
        </p:nvSpPr>
        <p:spPr>
          <a:xfrm>
            <a:off x="674176" y="1330812"/>
            <a:ext cx="82761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rgbClr val="050E17"/>
              </a:solidFill>
              <a:latin typeface="Roboto"/>
              <a:ea typeface="Roboto"/>
              <a:cs typeface="Roboto"/>
              <a:sym typeface="Roboto"/>
            </a:endParaRPr>
          </a:p>
        </p:txBody>
      </p:sp>
      <p:graphicFrame>
        <p:nvGraphicFramePr>
          <p:cNvPr id="219" name="Google Shape;219;g2fa01703581_0_0"/>
          <p:cNvGraphicFramePr/>
          <p:nvPr/>
        </p:nvGraphicFramePr>
        <p:xfrm>
          <a:off x="234414" y="578353"/>
          <a:ext cx="3000000" cy="3000000"/>
        </p:xfrm>
        <a:graphic>
          <a:graphicData uri="http://schemas.openxmlformats.org/drawingml/2006/table">
            <a:tbl>
              <a:tblPr bandRow="1" firstRow="1">
                <a:noFill/>
                <a:tableStyleId>{520AD5DF-B57C-4033-8DEF-2B9529F2A670}</a:tableStyleId>
              </a:tblPr>
              <a:tblGrid>
                <a:gridCol w="4228200"/>
                <a:gridCol w="3814800"/>
              </a:tblGrid>
              <a:tr h="3641450">
                <a:tc>
                  <a:txBody>
                    <a:bodyPr/>
                    <a:lstStyle/>
                    <a:p>
                      <a:pPr indent="0" lvl="0" marL="0" rtl="0" algn="l">
                        <a:spcBef>
                          <a:spcPts val="0"/>
                        </a:spcBef>
                        <a:spcAft>
                          <a:spcPts val="0"/>
                        </a:spcAft>
                        <a:buClr>
                          <a:schemeClr val="dk1"/>
                        </a:buClr>
                        <a:buSzPts val="1400"/>
                        <a:buFont typeface="Arial"/>
                        <a:buNone/>
                      </a:pPr>
                      <a:r>
                        <a:rPr b="0" lang="en-US" sz="1600">
                          <a:solidFill>
                            <a:schemeClr val="dk1"/>
                          </a:solidFill>
                          <a:highlight>
                            <a:schemeClr val="lt1"/>
                          </a:highlight>
                          <a:latin typeface="Roboto"/>
                          <a:ea typeface="Roboto"/>
                          <a:cs typeface="Roboto"/>
                          <a:sym typeface="Roboto"/>
                        </a:rPr>
                        <a:t>import java.util.*;</a:t>
                      </a:r>
                      <a:endParaRPr sz="1600">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0" lang="en-US" sz="1600">
                          <a:solidFill>
                            <a:schemeClr val="dk1"/>
                          </a:solidFill>
                          <a:highlight>
                            <a:schemeClr val="lt1"/>
                          </a:highlight>
                          <a:latin typeface="Roboto"/>
                          <a:ea typeface="Roboto"/>
                          <a:cs typeface="Roboto"/>
                          <a:sym typeface="Roboto"/>
                        </a:rPr>
                        <a:t>class Main{</a:t>
                      </a:r>
                      <a:endParaRPr sz="1600">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0" lang="en-US" sz="1600">
                          <a:solidFill>
                            <a:schemeClr val="dk1"/>
                          </a:solidFill>
                          <a:highlight>
                            <a:schemeClr val="lt1"/>
                          </a:highlight>
                          <a:latin typeface="Roboto"/>
                          <a:ea typeface="Roboto"/>
                          <a:cs typeface="Roboto"/>
                          <a:sym typeface="Roboto"/>
                        </a:rPr>
                        <a:t>public static ArrayList&lt;Integer&gt;                    printLeadersBruteForce(int[] arr, int n){ </a:t>
                      </a:r>
                      <a:endParaRPr sz="1600">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0" lang="en-US" sz="1600">
                          <a:solidFill>
                            <a:schemeClr val="dk1"/>
                          </a:solidFill>
                          <a:highlight>
                            <a:schemeClr val="lt1"/>
                          </a:highlight>
                          <a:latin typeface="Roboto"/>
                          <a:ea typeface="Roboto"/>
                          <a:cs typeface="Roboto"/>
                          <a:sym typeface="Roboto"/>
                        </a:rPr>
                        <a:t> ArrayList&lt;Integer&gt; ans= new ArrayList&lt;&gt;();</a:t>
                      </a:r>
                      <a:endParaRPr sz="1600">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0" lang="en-US" sz="1600">
                          <a:solidFill>
                            <a:schemeClr val="dk1"/>
                          </a:solidFill>
                          <a:highlight>
                            <a:schemeClr val="lt1"/>
                          </a:highlight>
                          <a:latin typeface="Roboto"/>
                          <a:ea typeface="Roboto"/>
                          <a:cs typeface="Roboto"/>
                          <a:sym typeface="Roboto"/>
                        </a:rPr>
                        <a:t>   int max = arr[n - 1];</a:t>
                      </a:r>
                      <a:endParaRPr sz="1600">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0" lang="en-US" sz="1600">
                          <a:solidFill>
                            <a:schemeClr val="dk1"/>
                          </a:solidFill>
                          <a:highlight>
                            <a:schemeClr val="lt1"/>
                          </a:highlight>
                          <a:latin typeface="Roboto"/>
                          <a:ea typeface="Roboto"/>
                          <a:cs typeface="Roboto"/>
                          <a:sym typeface="Roboto"/>
                        </a:rPr>
                        <a:t>    ans.add(arr[n-1]);</a:t>
                      </a:r>
                      <a:endParaRPr sz="1600">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0" lang="en-US" sz="1600">
                          <a:solidFill>
                            <a:schemeClr val="dk1"/>
                          </a:solidFill>
                          <a:highlight>
                            <a:schemeClr val="lt1"/>
                          </a:highlight>
                          <a:latin typeface="Roboto"/>
                          <a:ea typeface="Roboto"/>
                          <a:cs typeface="Roboto"/>
                          <a:sym typeface="Roboto"/>
                        </a:rPr>
                        <a:t>       for (int i = n - 2; i &gt;= 0; i--)</a:t>
                      </a:r>
                      <a:endParaRPr sz="1600">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0" lang="en-US" sz="1600">
                          <a:solidFill>
                            <a:schemeClr val="dk1"/>
                          </a:solidFill>
                          <a:highlight>
                            <a:schemeClr val="lt1"/>
                          </a:highlight>
                          <a:latin typeface="Roboto"/>
                          <a:ea typeface="Roboto"/>
                          <a:cs typeface="Roboto"/>
                          <a:sym typeface="Roboto"/>
                        </a:rPr>
                        <a:t>      if (arr[i] &gt; max) {</a:t>
                      </a:r>
                      <a:endParaRPr sz="1600">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0" lang="en-US" sz="1600">
                          <a:solidFill>
                            <a:schemeClr val="dk1"/>
                          </a:solidFill>
                          <a:highlight>
                            <a:schemeClr val="lt1"/>
                          </a:highlight>
                          <a:latin typeface="Roboto"/>
                          <a:ea typeface="Roboto"/>
                          <a:cs typeface="Roboto"/>
                          <a:sym typeface="Roboto"/>
                        </a:rPr>
                        <a:t>        ans.add(arr[i]);</a:t>
                      </a:r>
                      <a:endParaRPr sz="1600">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0" lang="en-US" sz="1600">
                          <a:solidFill>
                            <a:schemeClr val="dk1"/>
                          </a:solidFill>
                          <a:highlight>
                            <a:schemeClr val="lt1"/>
                          </a:highlight>
                          <a:latin typeface="Roboto"/>
                          <a:ea typeface="Roboto"/>
                          <a:cs typeface="Roboto"/>
                          <a:sym typeface="Roboto"/>
                        </a:rPr>
                        <a:t>        max = arr[i];</a:t>
                      </a:r>
                      <a:endParaRPr sz="1600">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0" lang="en-US" sz="1600">
                          <a:solidFill>
                            <a:schemeClr val="dk1"/>
                          </a:solidFill>
                          <a:highlight>
                            <a:schemeClr val="lt1"/>
                          </a:highlight>
                          <a:latin typeface="Roboto"/>
                          <a:ea typeface="Roboto"/>
                          <a:cs typeface="Roboto"/>
                          <a:sym typeface="Roboto"/>
                        </a:rPr>
                        <a:t>      }</a:t>
                      </a:r>
                      <a:endParaRPr sz="1600">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t/>
                      </a:r>
                      <a:endParaRPr b="0"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0" lang="en-US" sz="1600">
                          <a:solidFill>
                            <a:schemeClr val="dk1"/>
                          </a:solidFill>
                          <a:highlight>
                            <a:schemeClr val="lt1"/>
                          </a:highlight>
                          <a:latin typeface="Roboto"/>
                          <a:ea typeface="Roboto"/>
                          <a:cs typeface="Roboto"/>
                          <a:sym typeface="Roboto"/>
                        </a:rPr>
                        <a:t>  return ans;  </a:t>
                      </a:r>
                      <a:endParaRPr sz="1600">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0" lang="en-US" sz="1600">
                          <a:solidFill>
                            <a:schemeClr val="dk1"/>
                          </a:solidFill>
                          <a:highlight>
                            <a:schemeClr val="lt1"/>
                          </a:highlight>
                          <a:latin typeface="Roboto"/>
                          <a:ea typeface="Roboto"/>
                          <a:cs typeface="Roboto"/>
                          <a:sym typeface="Roboto"/>
                        </a:rPr>
                        <a:t>}</a:t>
                      </a:r>
                      <a:endParaRPr sz="1600">
                        <a:highlight>
                          <a:schemeClr val="lt1"/>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sz="1600">
                        <a:solidFill>
                          <a:schemeClr val="dk1"/>
                        </a:solidFill>
                        <a:latin typeface="Roboto"/>
                        <a:ea typeface="Roboto"/>
                        <a:cs typeface="Roboto"/>
                        <a:sym typeface="Roboto"/>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400"/>
                        <a:buFont typeface="Arial"/>
                        <a:buNone/>
                      </a:pPr>
                      <a:r>
                        <a:rPr b="0" lang="en-US" sz="1600">
                          <a:solidFill>
                            <a:schemeClr val="dk1"/>
                          </a:solidFill>
                          <a:latin typeface="Roboto"/>
                          <a:ea typeface="Roboto"/>
                          <a:cs typeface="Roboto"/>
                          <a:sym typeface="Roboto"/>
                        </a:rPr>
                        <a:t>public static void main(String args[]) </a:t>
                      </a:r>
                      <a:endParaRPr sz="1600">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0" lang="en-US" sz="1600">
                          <a:solidFill>
                            <a:schemeClr val="dk1"/>
                          </a:solidFill>
                          <a:latin typeface="Roboto"/>
                          <a:ea typeface="Roboto"/>
                          <a:cs typeface="Roboto"/>
                          <a:sym typeface="Roboto"/>
                        </a:rPr>
                        <a:t>{</a:t>
                      </a:r>
                      <a:endParaRPr sz="1600">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0" lang="en-US" sz="1600">
                          <a:solidFill>
                            <a:schemeClr val="dk1"/>
                          </a:solidFill>
                          <a:latin typeface="Roboto"/>
                          <a:ea typeface="Roboto"/>
                          <a:cs typeface="Roboto"/>
                          <a:sym typeface="Roboto"/>
                        </a:rPr>
                        <a:t>  int n = 6;</a:t>
                      </a:r>
                      <a:endParaRPr sz="1600">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0" lang="en-US" sz="1600">
                          <a:solidFill>
                            <a:schemeClr val="dk1"/>
                          </a:solidFill>
                          <a:latin typeface="Roboto"/>
                          <a:ea typeface="Roboto"/>
                          <a:cs typeface="Roboto"/>
                          <a:sym typeface="Roboto"/>
                        </a:rPr>
                        <a:t>  int arr[]=  {1, 2, 12, 13, 0, 6};</a:t>
                      </a:r>
                      <a:endParaRPr sz="1600">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0" lang="en-US" sz="1600">
                          <a:solidFill>
                            <a:schemeClr val="dk1"/>
                          </a:solidFill>
                          <a:latin typeface="Roboto"/>
                          <a:ea typeface="Roboto"/>
                          <a:cs typeface="Roboto"/>
                          <a:sym typeface="Roboto"/>
                        </a:rPr>
                        <a:t>  ArrayList&lt;Integer&gt; ans= printLeadersBruteForce(arr,n);</a:t>
                      </a:r>
                      <a:endParaRPr sz="1600">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0" lang="en-US" sz="1600">
                          <a:solidFill>
                            <a:schemeClr val="dk1"/>
                          </a:solidFill>
                          <a:latin typeface="Roboto"/>
                          <a:ea typeface="Roboto"/>
                          <a:cs typeface="Roboto"/>
                          <a:sym typeface="Roboto"/>
                        </a:rPr>
                        <a:t>  Collections.sort(ans, Collections.reverseOrder()); </a:t>
                      </a:r>
                      <a:endParaRPr sz="1600">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0" lang="en-US" sz="1600">
                          <a:solidFill>
                            <a:schemeClr val="dk1"/>
                          </a:solidFill>
                          <a:latin typeface="Roboto"/>
                          <a:ea typeface="Roboto"/>
                          <a:cs typeface="Roboto"/>
                          <a:sym typeface="Roboto"/>
                        </a:rPr>
                        <a:t>  for (int i = 0; i &lt; ans.size(); i++) {</a:t>
                      </a:r>
                      <a:endParaRPr sz="1600">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0" lang="en-US" sz="1600">
                          <a:solidFill>
                            <a:schemeClr val="dk1"/>
                          </a:solidFill>
                          <a:latin typeface="Roboto"/>
                          <a:ea typeface="Roboto"/>
                          <a:cs typeface="Roboto"/>
                          <a:sym typeface="Roboto"/>
                        </a:rPr>
                        <a:t>    System.out.print(ans.get(i)+" ");</a:t>
                      </a:r>
                      <a:endParaRPr sz="1600">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0" lang="en-US" sz="1600">
                          <a:solidFill>
                            <a:schemeClr val="dk1"/>
                          </a:solidFill>
                          <a:latin typeface="Roboto"/>
                          <a:ea typeface="Roboto"/>
                          <a:cs typeface="Roboto"/>
                          <a:sym typeface="Roboto"/>
                        </a:rPr>
                        <a:t>  }</a:t>
                      </a:r>
                      <a:endParaRPr sz="1600">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t/>
                      </a:r>
                      <a:endParaRPr b="0" sz="1600">
                        <a:solidFill>
                          <a:schemeClr val="dk1"/>
                        </a:solidFill>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0" lang="en-US" sz="1600">
                          <a:solidFill>
                            <a:schemeClr val="dk1"/>
                          </a:solidFill>
                          <a:latin typeface="Roboto"/>
                          <a:ea typeface="Roboto"/>
                          <a:cs typeface="Roboto"/>
                          <a:sym typeface="Roboto"/>
                        </a:rPr>
                        <a:t>}</a:t>
                      </a:r>
                      <a:endParaRPr sz="1600">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0" lang="en-US" sz="1600">
                          <a:solidFill>
                            <a:schemeClr val="dk1"/>
                          </a:solidFill>
                          <a:latin typeface="Roboto"/>
                          <a:ea typeface="Roboto"/>
                          <a:cs typeface="Roboto"/>
                          <a:sym typeface="Roboto"/>
                        </a:rPr>
                        <a:t>}</a:t>
                      </a:r>
                      <a:endParaRPr b="0" sz="16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50"/>
                        <a:buFont typeface="Arial"/>
                        <a:buNone/>
                      </a:pPr>
                      <a:r>
                        <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0" sz="1600" u="none" cap="none" strike="noStrike">
                        <a:solidFill>
                          <a:schemeClr val="dk1"/>
                        </a:solidFill>
                        <a:latin typeface="Roboto"/>
                        <a:ea typeface="Roboto"/>
                        <a:cs typeface="Roboto"/>
                        <a:sym typeface="Roboto"/>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0"/>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225" name="Google Shape;225;p40"/>
          <p:cNvSpPr txBox="1"/>
          <p:nvPr/>
        </p:nvSpPr>
        <p:spPr>
          <a:xfrm>
            <a:off x="674176" y="1330812"/>
            <a:ext cx="8276095" cy="461624"/>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rgbClr val="050E17"/>
              </a:solidFill>
              <a:latin typeface="Roboto"/>
              <a:ea typeface="Roboto"/>
              <a:cs typeface="Roboto"/>
              <a:sym typeface="Roboto"/>
            </a:endParaRPr>
          </a:p>
        </p:txBody>
      </p:sp>
      <p:graphicFrame>
        <p:nvGraphicFramePr>
          <p:cNvPr id="226" name="Google Shape;226;p40"/>
          <p:cNvGraphicFramePr/>
          <p:nvPr/>
        </p:nvGraphicFramePr>
        <p:xfrm>
          <a:off x="234414" y="578353"/>
          <a:ext cx="3000000" cy="3000000"/>
        </p:xfrm>
        <a:graphic>
          <a:graphicData uri="http://schemas.openxmlformats.org/drawingml/2006/table">
            <a:tbl>
              <a:tblPr bandRow="1" firstRow="1">
                <a:noFill/>
                <a:tableStyleId>{520AD5DF-B57C-4033-8DEF-2B9529F2A670}</a:tableStyleId>
              </a:tblPr>
              <a:tblGrid>
                <a:gridCol w="4560525"/>
                <a:gridCol w="4114650"/>
              </a:tblGrid>
              <a:tr h="3641450">
                <a:tc>
                  <a:txBody>
                    <a:bodyPr/>
                    <a:lstStyle/>
                    <a:p>
                      <a:pPr indent="0" lvl="0" marL="0" marR="0" rtl="0" algn="l">
                        <a:lnSpc>
                          <a:spcPct val="100000"/>
                        </a:lnSpc>
                        <a:spcBef>
                          <a:spcPts val="0"/>
                        </a:spcBef>
                        <a:spcAft>
                          <a:spcPts val="0"/>
                        </a:spcAft>
                        <a:buClr>
                          <a:srgbClr val="000000"/>
                        </a:buClr>
                        <a:buSzPts val="1100"/>
                        <a:buFont typeface="Arial"/>
                        <a:buNone/>
                      </a:pPr>
                      <a:r>
                        <a:rPr b="0" lang="en-US" sz="1600" u="none" cap="none" strike="noStrike">
                          <a:solidFill>
                            <a:schemeClr val="dk1"/>
                          </a:solidFill>
                          <a:latin typeface="Roboto"/>
                          <a:ea typeface="Roboto"/>
                          <a:cs typeface="Roboto"/>
                          <a:sym typeface="Roboto"/>
                        </a:rPr>
                        <a:t>import java.util.*;</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600" u="none" cap="none" strike="noStrike">
                          <a:solidFill>
                            <a:schemeClr val="dk1"/>
                          </a:solidFill>
                          <a:latin typeface="Roboto"/>
                          <a:ea typeface="Roboto"/>
                          <a:cs typeface="Roboto"/>
                          <a:sym typeface="Roboto"/>
                        </a:rPr>
                        <a:t>import java.lang.*;</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600" u="none" cap="none" strike="noStrike">
                          <a:solidFill>
                            <a:schemeClr val="dk1"/>
                          </a:solidFill>
                          <a:latin typeface="Roboto"/>
                          <a:ea typeface="Roboto"/>
                          <a:cs typeface="Roboto"/>
                          <a:sym typeface="Roboto"/>
                        </a:rPr>
                        <a:t>public class Main</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600" u="none" cap="none" strike="noStrike">
                          <a:solidFill>
                            <a:schemeClr val="dk1"/>
                          </a:solidFill>
                          <a:latin typeface="Roboto"/>
                          <a:ea typeface="Roboto"/>
                          <a:cs typeface="Roboto"/>
                          <a:sym typeface="Roboto"/>
                        </a:rPr>
                        <a:t>{</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600" u="none" cap="none" strike="noStrike">
                          <a:solidFill>
                            <a:schemeClr val="dk1"/>
                          </a:solidFill>
                          <a:latin typeface="Roboto"/>
                          <a:ea typeface="Roboto"/>
                          <a:cs typeface="Roboto"/>
                          <a:sym typeface="Roboto"/>
                        </a:rPr>
                        <a:t>public static void main(String[] args) {</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600" u="none" cap="none" strike="noStrike">
                          <a:solidFill>
                            <a:schemeClr val="dk1"/>
                          </a:solidFill>
                          <a:latin typeface="Roboto"/>
                          <a:ea typeface="Roboto"/>
                          <a:cs typeface="Roboto"/>
                          <a:sym typeface="Roboto"/>
                        </a:rPr>
                        <a:t>Scanner s = new Scanner(System.in);</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600" u="none" cap="none" strike="noStrike">
                          <a:solidFill>
                            <a:schemeClr val="dk1"/>
                          </a:solidFill>
                          <a:latin typeface="Roboto"/>
                          <a:ea typeface="Roboto"/>
                          <a:cs typeface="Roboto"/>
                          <a:sym typeface="Roboto"/>
                        </a:rPr>
                        <a:t>System.out.println("Enter size of the array");</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600" u="none" cap="none" strike="noStrike">
                          <a:solidFill>
                            <a:schemeClr val="dk1"/>
                          </a:solidFill>
                          <a:latin typeface="Roboto"/>
                          <a:ea typeface="Roboto"/>
                          <a:cs typeface="Roboto"/>
                          <a:sym typeface="Roboto"/>
                        </a:rPr>
                        <a:t>        int n = s.nextInt();</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600" u="none" cap="none" strike="noStrike">
                          <a:solidFill>
                            <a:schemeClr val="dk1"/>
                          </a:solidFill>
                          <a:latin typeface="Roboto"/>
                          <a:ea typeface="Roboto"/>
                          <a:cs typeface="Roboto"/>
                          <a:sym typeface="Roboto"/>
                        </a:rPr>
                        <a:t>        int[] arr = new int[n];</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600" u="none" cap="none" strike="noStrike">
                          <a:solidFill>
                            <a:schemeClr val="dk1"/>
                          </a:solidFill>
                          <a:latin typeface="Roboto"/>
                          <a:ea typeface="Roboto"/>
                          <a:cs typeface="Roboto"/>
                          <a:sym typeface="Roboto"/>
                        </a:rPr>
                        <a:t>System.out.println("Enter elements of the array");</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600" u="none" cap="none" strike="noStrike">
                          <a:solidFill>
                            <a:schemeClr val="dk1"/>
                          </a:solidFill>
                          <a:latin typeface="Roboto"/>
                          <a:ea typeface="Roboto"/>
                          <a:cs typeface="Roboto"/>
                          <a:sym typeface="Roboto"/>
                        </a:rPr>
                        <a:t>        for (int i = 0; i &lt; n; i++){ </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600" u="none" cap="none" strike="noStrike">
                          <a:solidFill>
                            <a:schemeClr val="dk1"/>
                          </a:solidFill>
                          <a:latin typeface="Roboto"/>
                          <a:ea typeface="Roboto"/>
                          <a:cs typeface="Roboto"/>
                          <a:sym typeface="Roboto"/>
                        </a:rPr>
                        <a:t>        arr[i] = s.nextInt();</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600" u="none" cap="none" strike="noStrike">
                          <a:solidFill>
                            <a:schemeClr val="dk1"/>
                          </a:solidFill>
                          <a:latin typeface="Roboto"/>
                          <a:ea typeface="Roboto"/>
                          <a:cs typeface="Roboto"/>
                          <a:sym typeface="Roboto"/>
                        </a:rPr>
                        <a:t>        }</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600" u="none" cap="none" strike="noStrike">
                          <a:solidFill>
                            <a:schemeClr val="dk1"/>
                          </a:solidFill>
                          <a:latin typeface="Roboto"/>
                          <a:ea typeface="Roboto"/>
                          <a:cs typeface="Roboto"/>
                          <a:sym typeface="Roboto"/>
                        </a:rPr>
                        <a:t>findLeaders(arr, n);}</a:t>
                      </a:r>
                      <a:endParaRPr b="0" sz="1600" u="none" cap="none" strike="noStrike">
                        <a:solidFill>
                          <a:schemeClr val="dk1"/>
                        </a:solidFill>
                        <a:latin typeface="Roboto"/>
                        <a:ea typeface="Roboto"/>
                        <a:cs typeface="Roboto"/>
                        <a:sym typeface="Roboto"/>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100"/>
                        <a:buFont typeface="Arial"/>
                        <a:buNone/>
                      </a:pPr>
                      <a:r>
                        <a:rPr b="0" lang="en-US" sz="1600" u="none" cap="none" strike="noStrike">
                          <a:solidFill>
                            <a:schemeClr val="dk1"/>
                          </a:solidFill>
                          <a:latin typeface="Roboto"/>
                          <a:ea typeface="Roboto"/>
                          <a:cs typeface="Roboto"/>
                          <a:sym typeface="Roboto"/>
                        </a:rPr>
                        <a:t>static void findLeaders(int arr[], int size){</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lang="en-US" sz="1600" u="none" cap="none" strike="noStrike">
                          <a:solidFill>
                            <a:schemeClr val="dk1"/>
                          </a:solidFill>
                          <a:latin typeface="Roboto"/>
                          <a:ea typeface="Roboto"/>
                          <a:cs typeface="Roboto"/>
                          <a:sym typeface="Roboto"/>
                        </a:rPr>
                        <a:t>   int rightMaximum=arr[arr.length-1];   </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lang="en-US" sz="1600" u="none" cap="none" strike="noStrike">
                          <a:solidFill>
                            <a:schemeClr val="dk1"/>
                          </a:solidFill>
                          <a:latin typeface="Roboto"/>
                          <a:ea typeface="Roboto"/>
                          <a:cs typeface="Roboto"/>
                          <a:sym typeface="Roboto"/>
                        </a:rPr>
                        <a:t>System.out.print(rightMaximum+" ");</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lang="en-US" sz="1600" u="none" cap="none" strike="noStrike">
                          <a:solidFill>
                            <a:schemeClr val="dk1"/>
                          </a:solidFill>
                          <a:latin typeface="Roboto"/>
                          <a:ea typeface="Roboto"/>
                          <a:cs typeface="Roboto"/>
                          <a:sym typeface="Roboto"/>
                        </a:rPr>
                        <a:t>      for (int i = size-2; i&gt;=0; i--) {</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lang="en-US" sz="1600" u="none" cap="none" strike="noStrike">
                          <a:solidFill>
                            <a:schemeClr val="dk1"/>
                          </a:solidFill>
                          <a:latin typeface="Roboto"/>
                          <a:ea typeface="Roboto"/>
                          <a:cs typeface="Roboto"/>
                          <a:sym typeface="Roboto"/>
                        </a:rPr>
                        <a:t>         if(arr[i] &gt; rightMaximum){</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lang="en-US" sz="1600" u="none" cap="none" strike="noStrike">
                          <a:solidFill>
                            <a:schemeClr val="dk1"/>
                          </a:solidFill>
                          <a:latin typeface="Roboto"/>
                          <a:ea typeface="Roboto"/>
                          <a:cs typeface="Roboto"/>
                          <a:sym typeface="Roboto"/>
                        </a:rPr>
                        <a:t>            rightMaximum=arr[i];</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lang="en-US" sz="1600" u="none" cap="none" strike="noStrike">
                          <a:solidFill>
                            <a:schemeClr val="dk1"/>
                          </a:solidFill>
                          <a:latin typeface="Roboto"/>
                          <a:ea typeface="Roboto"/>
                          <a:cs typeface="Roboto"/>
                          <a:sym typeface="Roboto"/>
                        </a:rPr>
                        <a:t>            System.out.print(rightMaximum+" ");</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lang="en-US" sz="1600" u="none" cap="none" strike="noStrike">
                          <a:solidFill>
                            <a:schemeClr val="dk1"/>
                          </a:solidFill>
                          <a:latin typeface="Roboto"/>
                          <a:ea typeface="Roboto"/>
                          <a:cs typeface="Roboto"/>
                          <a:sym typeface="Roboto"/>
                        </a:rPr>
                        <a:t>         }</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lang="en-US" sz="1600" u="none" cap="none" strike="noStrike">
                          <a:solidFill>
                            <a:schemeClr val="dk1"/>
                          </a:solidFill>
                          <a:latin typeface="Roboto"/>
                          <a:ea typeface="Roboto"/>
                          <a:cs typeface="Roboto"/>
                          <a:sym typeface="Roboto"/>
                        </a:rPr>
                        <a:t>      }</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lang="en-US" sz="1600" u="none" cap="none" strike="noStrike">
                          <a:solidFill>
                            <a:schemeClr val="dk1"/>
                          </a:solidFill>
                          <a:latin typeface="Roboto"/>
                          <a:ea typeface="Roboto"/>
                          <a:cs typeface="Roboto"/>
                          <a:sym typeface="Roboto"/>
                        </a:rPr>
                        <a:t>   }</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lang="en-US" sz="1600" u="none" cap="none" strike="noStrike">
                          <a:solidFill>
                            <a:schemeClr val="dk1"/>
                          </a:solidFill>
                          <a:latin typeface="Roboto"/>
                          <a:ea typeface="Roboto"/>
                          <a:cs typeface="Roboto"/>
                          <a:sym typeface="Roboto"/>
                        </a:rPr>
                        <a:t>}</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50"/>
                        <a:buFont typeface="Arial"/>
                        <a:buNone/>
                      </a:pPr>
                      <a:r>
                        <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0" sz="1600" u="none" cap="none" strike="noStrike">
                        <a:solidFill>
                          <a:schemeClr val="dk1"/>
                        </a:solidFill>
                        <a:latin typeface="Roboto"/>
                        <a:ea typeface="Roboto"/>
                        <a:cs typeface="Roboto"/>
                        <a:sym typeface="Roboto"/>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1"/>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232" name="Google Shape;232;p41"/>
          <p:cNvSpPr txBox="1"/>
          <p:nvPr/>
        </p:nvSpPr>
        <p:spPr>
          <a:xfrm>
            <a:off x="674176" y="1330812"/>
            <a:ext cx="8276095"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50E17"/>
                </a:solidFill>
                <a:latin typeface="Roboto"/>
                <a:ea typeface="Roboto"/>
                <a:cs typeface="Roboto"/>
                <a:sym typeface="Roboto"/>
              </a:rPr>
              <a:t>Time and space complexity</a:t>
            </a:r>
            <a:endParaRPr b="0" i="0" sz="1400" u="none" cap="none" strike="noStrike">
              <a:solidFill>
                <a:srgbClr val="000000"/>
              </a:solidFill>
              <a:latin typeface="Roboto"/>
              <a:ea typeface="Roboto"/>
              <a:cs typeface="Roboto"/>
              <a:sym typeface="Roboto"/>
            </a:endParaRPr>
          </a:p>
        </p:txBody>
      </p:sp>
      <p:sp>
        <p:nvSpPr>
          <p:cNvPr id="233" name="Google Shape;233;p41"/>
          <p:cNvSpPr txBox="1"/>
          <p:nvPr/>
        </p:nvSpPr>
        <p:spPr>
          <a:xfrm>
            <a:off x="2041560" y="1841967"/>
            <a:ext cx="4572000" cy="584735"/>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Time Complexity: O(n)</a:t>
            </a:r>
            <a:endParaRPr b="0" i="0" sz="1600" u="none" cap="none" strike="noStrike">
              <a:solidFill>
                <a:schemeClr val="dk1"/>
              </a:solidFill>
              <a:latin typeface="Roboto"/>
              <a:ea typeface="Roboto"/>
              <a:cs typeface="Roboto"/>
              <a:sym typeface="Roboto"/>
            </a:endParaRPr>
          </a:p>
        </p:txBody>
      </p:sp>
      <p:sp>
        <p:nvSpPr>
          <p:cNvPr id="234" name="Google Shape;234;p41"/>
          <p:cNvSpPr txBox="1"/>
          <p:nvPr/>
        </p:nvSpPr>
        <p:spPr>
          <a:xfrm>
            <a:off x="2042710" y="2324367"/>
            <a:ext cx="4572000" cy="584735"/>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Space Complexity: O(n)</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23f307fc558_0_8"/>
          <p:cNvSpPr/>
          <p:nvPr/>
        </p:nvSpPr>
        <p:spPr>
          <a:xfrm>
            <a:off x="1007602" y="823281"/>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40" name="Google Shape;240;g23f307fc558_0_8"/>
          <p:cNvSpPr txBox="1"/>
          <p:nvPr/>
        </p:nvSpPr>
        <p:spPr>
          <a:xfrm>
            <a:off x="684558" y="1289598"/>
            <a:ext cx="8117100"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Roboto"/>
                <a:ea typeface="Roboto"/>
                <a:cs typeface="Roboto"/>
                <a:sym typeface="Roboto"/>
              </a:rPr>
              <a:t>What are leaders in an array?</a:t>
            </a:r>
            <a:endParaRPr b="0" i="0" sz="1400" u="none" cap="none" strike="noStrike">
              <a:solidFill>
                <a:srgbClr val="000000"/>
              </a:solidFill>
              <a:latin typeface="Roboto"/>
              <a:ea typeface="Roboto"/>
              <a:cs typeface="Roboto"/>
              <a:sym typeface="Roboto"/>
            </a:endParaRPr>
          </a:p>
        </p:txBody>
      </p:sp>
      <p:sp>
        <p:nvSpPr>
          <p:cNvPr id="241" name="Google Shape;241;g23f307fc558_0_8"/>
          <p:cNvSpPr txBox="1"/>
          <p:nvPr/>
        </p:nvSpPr>
        <p:spPr>
          <a:xfrm>
            <a:off x="1007602" y="1934288"/>
            <a:ext cx="7200900" cy="1661963"/>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Leaders in an array are the elements that are greater than all the elements to their right. In other words, an element is a leader if it is the largest element among all the elements to its right. Leaders can occur at the end of the array, or they can occur at any position in the array.</a:t>
            </a:r>
            <a:endParaRPr b="0" i="0" sz="2000" u="none" cap="none" strike="noStrike">
              <a:solidFill>
                <a:schemeClr val="dk1"/>
              </a:solidFill>
              <a:latin typeface="Roboto"/>
              <a:ea typeface="Roboto"/>
              <a:cs typeface="Roboto"/>
              <a:sym typeface="Roboto"/>
            </a:endParaRPr>
          </a:p>
        </p:txBody>
      </p:sp>
      <p:sp>
        <p:nvSpPr>
          <p:cNvPr id="242" name="Google Shape;242;g23f307fc558_0_8"/>
          <p:cNvSpPr txBox="1"/>
          <p:nvPr/>
        </p:nvSpPr>
        <p:spPr>
          <a:xfrm>
            <a:off x="133736" y="290160"/>
            <a:ext cx="8455500" cy="708000"/>
          </a:xfrm>
          <a:prstGeom prst="rect">
            <a:avLst/>
          </a:prstGeom>
          <a:noFill/>
          <a:ln>
            <a:noFill/>
          </a:ln>
        </p:spPr>
        <p:txBody>
          <a:bodyPr anchorCtr="0" anchor="t" bIns="121900" lIns="121900" spcFirstLastPara="1" rIns="121900" wrap="square" tIns="121900">
            <a:spAutoFit/>
          </a:bodyPr>
          <a:lstStyle/>
          <a:p>
            <a:pPr indent="0" lvl="0" marL="0" marR="0" rtl="0" algn="l">
              <a:lnSpc>
                <a:spcPct val="115000"/>
              </a:lnSpc>
              <a:spcBef>
                <a:spcPts val="0"/>
              </a:spcBef>
              <a:spcAft>
                <a:spcPts val="0"/>
              </a:spcAft>
              <a:buNone/>
            </a:pPr>
            <a:r>
              <a:rPr i="0" lang="en-US" sz="3000" u="none" cap="none" strike="noStrike">
                <a:solidFill>
                  <a:srgbClr val="8181EF"/>
                </a:solidFill>
                <a:latin typeface="Roboto Black"/>
                <a:ea typeface="Roboto Black"/>
                <a:cs typeface="Roboto Black"/>
                <a:sym typeface="Roboto Black"/>
              </a:rPr>
              <a:t>Interview questions</a:t>
            </a:r>
            <a:endParaRPr sz="3000">
              <a:solidFill>
                <a:srgbClr val="8181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23f307fc558_0_18"/>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48" name="Google Shape;248;g23f307fc558_0_18"/>
          <p:cNvSpPr txBox="1"/>
          <p:nvPr/>
        </p:nvSpPr>
        <p:spPr>
          <a:xfrm>
            <a:off x="565070" y="1278615"/>
            <a:ext cx="8117100"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Roboto"/>
                <a:ea typeface="Roboto"/>
                <a:cs typeface="Roboto"/>
                <a:sym typeface="Roboto"/>
              </a:rPr>
              <a:t>What is the time complexity of your algorithm?</a:t>
            </a:r>
            <a:endParaRPr b="0" i="0" sz="1400" u="none" cap="none" strike="noStrike">
              <a:solidFill>
                <a:srgbClr val="000000"/>
              </a:solidFill>
              <a:latin typeface="Roboto"/>
              <a:ea typeface="Roboto"/>
              <a:cs typeface="Roboto"/>
              <a:sym typeface="Roboto"/>
            </a:endParaRPr>
          </a:p>
        </p:txBody>
      </p:sp>
      <p:sp>
        <p:nvSpPr>
          <p:cNvPr id="249" name="Google Shape;249;g23f307fc558_0_18"/>
          <p:cNvSpPr txBox="1"/>
          <p:nvPr/>
        </p:nvSpPr>
        <p:spPr>
          <a:xfrm>
            <a:off x="1026468" y="1823795"/>
            <a:ext cx="7659000" cy="1846629"/>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Roboto"/>
                <a:ea typeface="Roboto"/>
                <a:cs typeface="Roboto"/>
                <a:sym typeface="Roboto"/>
              </a:rPr>
              <a:t>The time complexity of the optimized algorithm for finding leaders in an array is O(n), where n is the length of the array. This algorithm only requires a single pass through the array, and at each step, it performs a constant amount of work</a:t>
            </a:r>
            <a:endParaRPr b="0" i="0" sz="2400" u="none" cap="none" strike="noStrike">
              <a:solidFill>
                <a:srgbClr val="000000"/>
              </a:solidFill>
              <a:latin typeface="Roboto"/>
              <a:ea typeface="Roboto"/>
              <a:cs typeface="Roboto"/>
              <a:sym typeface="Roboto"/>
            </a:endParaRPr>
          </a:p>
        </p:txBody>
      </p:sp>
      <p:sp>
        <p:nvSpPr>
          <p:cNvPr id="250" name="Google Shape;250;g23f307fc558_0_18"/>
          <p:cNvSpPr txBox="1"/>
          <p:nvPr/>
        </p:nvSpPr>
        <p:spPr>
          <a:xfrm>
            <a:off x="133736" y="290160"/>
            <a:ext cx="8455500" cy="708000"/>
          </a:xfrm>
          <a:prstGeom prst="rect">
            <a:avLst/>
          </a:prstGeom>
          <a:noFill/>
          <a:ln>
            <a:noFill/>
          </a:ln>
        </p:spPr>
        <p:txBody>
          <a:bodyPr anchorCtr="0" anchor="t" bIns="121900" lIns="121900" spcFirstLastPara="1" rIns="121900" wrap="square" tIns="121900">
            <a:spAutoFit/>
          </a:bodyPr>
          <a:lstStyle/>
          <a:p>
            <a:pPr indent="0" lvl="0" marL="0" marR="0" rtl="0" algn="l">
              <a:lnSpc>
                <a:spcPct val="115000"/>
              </a:lnSpc>
              <a:spcBef>
                <a:spcPts val="0"/>
              </a:spcBef>
              <a:spcAft>
                <a:spcPts val="0"/>
              </a:spcAft>
              <a:buNone/>
            </a:pPr>
            <a:r>
              <a:rPr i="0" lang="en-US" sz="3000" u="none" cap="none" strike="noStrike">
                <a:solidFill>
                  <a:srgbClr val="8181EF"/>
                </a:solidFill>
                <a:latin typeface="Roboto Black"/>
                <a:ea typeface="Roboto Black"/>
                <a:cs typeface="Roboto Black"/>
                <a:sym typeface="Roboto Black"/>
              </a:rPr>
              <a:t>Interview questions</a:t>
            </a:r>
            <a:endParaRPr sz="3000">
              <a:solidFill>
                <a:srgbClr val="8181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23f307fc558_0_30"/>
          <p:cNvSpPr/>
          <p:nvPr/>
        </p:nvSpPr>
        <p:spPr>
          <a:xfrm>
            <a:off x="1007602" y="790605"/>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56" name="Google Shape;256;g23f307fc558_0_30"/>
          <p:cNvSpPr txBox="1"/>
          <p:nvPr/>
        </p:nvSpPr>
        <p:spPr>
          <a:xfrm>
            <a:off x="472056" y="994595"/>
            <a:ext cx="81171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600" u="none" cap="none" strike="noStrike">
                <a:solidFill>
                  <a:srgbClr val="000000"/>
                </a:solidFill>
                <a:latin typeface="Roboto"/>
                <a:ea typeface="Roboto"/>
                <a:cs typeface="Roboto"/>
                <a:sym typeface="Roboto"/>
              </a:rPr>
              <a:t>What are some real-world applications of the algorithm for finding leaders in an array?</a:t>
            </a:r>
            <a:endParaRPr b="0" i="0" sz="1600" u="none" cap="none" strike="noStrike">
              <a:solidFill>
                <a:srgbClr val="000000"/>
              </a:solidFill>
              <a:latin typeface="Roboto"/>
              <a:ea typeface="Roboto"/>
              <a:cs typeface="Roboto"/>
              <a:sym typeface="Roboto"/>
            </a:endParaRPr>
          </a:p>
        </p:txBody>
      </p:sp>
      <p:sp>
        <p:nvSpPr>
          <p:cNvPr id="257" name="Google Shape;257;g23f307fc558_0_30"/>
          <p:cNvSpPr txBox="1"/>
          <p:nvPr/>
        </p:nvSpPr>
        <p:spPr>
          <a:xfrm>
            <a:off x="871917" y="1392926"/>
            <a:ext cx="8117100" cy="553968"/>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1. Financial analysis: Identifying the most profitable trades in a stock market analysis.</a:t>
            </a:r>
            <a:endParaRPr b="0" i="0" sz="1400" u="none" cap="none" strike="noStrike">
              <a:solidFill>
                <a:srgbClr val="000000"/>
              </a:solidFill>
              <a:latin typeface="Roboto"/>
              <a:ea typeface="Roboto"/>
              <a:cs typeface="Roboto"/>
              <a:sym typeface="Roboto"/>
            </a:endParaRPr>
          </a:p>
        </p:txBody>
      </p:sp>
      <p:sp>
        <p:nvSpPr>
          <p:cNvPr id="258" name="Google Shape;258;g23f307fc558_0_30"/>
          <p:cNvSpPr txBox="1"/>
          <p:nvPr/>
        </p:nvSpPr>
        <p:spPr>
          <a:xfrm>
            <a:off x="869569" y="1817314"/>
            <a:ext cx="81171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2. Sports analytics: Identifying players with the most points, rebounds, or other statistics in a sports game or season.</a:t>
            </a:r>
            <a:endParaRPr b="0" i="0" sz="1400" u="none" cap="none" strike="noStrike">
              <a:solidFill>
                <a:srgbClr val="000000"/>
              </a:solidFill>
              <a:latin typeface="Roboto"/>
              <a:ea typeface="Roboto"/>
              <a:cs typeface="Roboto"/>
              <a:sym typeface="Roboto"/>
            </a:endParaRPr>
          </a:p>
        </p:txBody>
      </p:sp>
      <p:sp>
        <p:nvSpPr>
          <p:cNvPr id="259" name="Google Shape;259;g23f307fc558_0_30"/>
          <p:cNvSpPr txBox="1"/>
          <p:nvPr/>
        </p:nvSpPr>
        <p:spPr>
          <a:xfrm>
            <a:off x="867221" y="2615668"/>
            <a:ext cx="81171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3. Web analytics: Identifying the most popular articles, videos, or other content on a website based on views or shares.</a:t>
            </a:r>
            <a:endParaRPr b="0" i="0" sz="1400" u="none" cap="none" strike="noStrike">
              <a:solidFill>
                <a:srgbClr val="000000"/>
              </a:solidFill>
              <a:latin typeface="Roboto"/>
              <a:ea typeface="Roboto"/>
              <a:cs typeface="Roboto"/>
              <a:sym typeface="Roboto"/>
            </a:endParaRPr>
          </a:p>
        </p:txBody>
      </p:sp>
      <p:sp>
        <p:nvSpPr>
          <p:cNvPr id="260" name="Google Shape;260;g23f307fc558_0_30"/>
          <p:cNvSpPr txBox="1"/>
          <p:nvPr/>
        </p:nvSpPr>
        <p:spPr>
          <a:xfrm>
            <a:off x="864873" y="3442158"/>
            <a:ext cx="81171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4. Machine learning: Identifying the most important variables in a dataset by selecting those with the highest impact on the output.</a:t>
            </a:r>
            <a:endParaRPr b="0" i="0" sz="1400" u="none" cap="none" strike="noStrike">
              <a:solidFill>
                <a:srgbClr val="000000"/>
              </a:solidFill>
              <a:latin typeface="Roboto"/>
              <a:ea typeface="Roboto"/>
              <a:cs typeface="Roboto"/>
              <a:sym typeface="Roboto"/>
            </a:endParaRPr>
          </a:p>
        </p:txBody>
      </p:sp>
      <p:sp>
        <p:nvSpPr>
          <p:cNvPr id="261" name="Google Shape;261;g23f307fc558_0_30"/>
          <p:cNvSpPr txBox="1"/>
          <p:nvPr/>
        </p:nvSpPr>
        <p:spPr>
          <a:xfrm>
            <a:off x="862525" y="4241686"/>
            <a:ext cx="81171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5. Computer vision: Identifying the most prominent objects in an image.</a:t>
            </a:r>
            <a:endParaRPr b="0" i="0" sz="1400" u="none" cap="none" strike="noStrike">
              <a:solidFill>
                <a:srgbClr val="000000"/>
              </a:solidFill>
              <a:latin typeface="Roboto"/>
              <a:ea typeface="Roboto"/>
              <a:cs typeface="Roboto"/>
              <a:sym typeface="Roboto"/>
            </a:endParaRPr>
          </a:p>
        </p:txBody>
      </p:sp>
      <p:sp>
        <p:nvSpPr>
          <p:cNvPr id="262" name="Google Shape;262;g23f307fc558_0_30"/>
          <p:cNvSpPr txBox="1"/>
          <p:nvPr/>
        </p:nvSpPr>
        <p:spPr>
          <a:xfrm>
            <a:off x="133736" y="290160"/>
            <a:ext cx="8455500" cy="708000"/>
          </a:xfrm>
          <a:prstGeom prst="rect">
            <a:avLst/>
          </a:prstGeom>
          <a:noFill/>
          <a:ln>
            <a:noFill/>
          </a:ln>
        </p:spPr>
        <p:txBody>
          <a:bodyPr anchorCtr="0" anchor="t" bIns="121900" lIns="121900" spcFirstLastPara="1" rIns="121900" wrap="square" tIns="121900">
            <a:spAutoFit/>
          </a:bodyPr>
          <a:lstStyle/>
          <a:p>
            <a:pPr indent="0" lvl="0" marL="0" marR="0" rtl="0" algn="l">
              <a:lnSpc>
                <a:spcPct val="115000"/>
              </a:lnSpc>
              <a:spcBef>
                <a:spcPts val="0"/>
              </a:spcBef>
              <a:spcAft>
                <a:spcPts val="0"/>
              </a:spcAft>
              <a:buNone/>
            </a:pPr>
            <a:r>
              <a:rPr i="0" lang="en-US" sz="3000" u="none" cap="none" strike="noStrike">
                <a:solidFill>
                  <a:srgbClr val="8181EF"/>
                </a:solidFill>
                <a:latin typeface="Roboto Black"/>
                <a:ea typeface="Roboto Black"/>
                <a:cs typeface="Roboto Black"/>
                <a:sym typeface="Roboto Black"/>
              </a:rPr>
              <a:t>Interview questions</a:t>
            </a:r>
            <a:endParaRPr sz="3000">
              <a:solidFill>
                <a:srgbClr val="8181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500"/>
                                        <p:tgtEl>
                                          <p:spTgt spid="2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500"/>
                                        <p:tgtEl>
                                          <p:spTgt spid="2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
          <p:cNvSpPr/>
          <p:nvPr/>
        </p:nvSpPr>
        <p:spPr>
          <a:xfrm>
            <a:off x="555120" y="915840"/>
            <a:ext cx="7544880"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Roboto"/>
              <a:ea typeface="Roboto"/>
              <a:cs typeface="Roboto"/>
              <a:sym typeface="Roboto"/>
            </a:endParaRPr>
          </a:p>
        </p:txBody>
      </p:sp>
      <p:pic>
        <p:nvPicPr>
          <p:cNvPr id="268" name="Google Shape;268;p3"/>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269" name="Google Shape;269;p3"/>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75" name="Google Shape;275;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276" name="Google Shape;276;p4"/>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277" name="Google Shape;277;p4"/>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US" sz="3700" u="none" cap="none" strike="noStrike">
                <a:solidFill>
                  <a:schemeClr val="lt1"/>
                </a:solidFill>
                <a:latin typeface="Roboto Medium"/>
                <a:ea typeface="Roboto Medium"/>
                <a:cs typeface="Roboto Medium"/>
                <a:sym typeface="Roboto Medium"/>
              </a:rPr>
              <a:t>THANK YOU</a:t>
            </a:r>
            <a:endParaRPr b="0" i="0" sz="3700" u="none" cap="none" strike="noStrike">
              <a:solidFill>
                <a:schemeClr val="lt1"/>
              </a:solidFill>
              <a:latin typeface="Roboto Medium"/>
              <a:ea typeface="Roboto Medium"/>
              <a:cs typeface="Roboto Medium"/>
              <a:sym typeface="Roboto Medium"/>
            </a:endParaRPr>
          </a:p>
        </p:txBody>
      </p:sp>
      <p:pic>
        <p:nvPicPr>
          <p:cNvPr id="278" name="Google Shape;278;p4"/>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279" name="Google Shape;279;p4"/>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280" name="Google Shape;280;p4"/>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US" sz="1000" u="none" cap="none" strike="noStrike">
                <a:solidFill>
                  <a:schemeClr val="lt1"/>
                </a:solidFill>
                <a:latin typeface="Roboto Medium"/>
                <a:ea typeface="Roboto Medium"/>
                <a:cs typeface="Roboto Medium"/>
                <a:sym typeface="Roboto Medium"/>
              </a:rPr>
              <a:t>+91 78150 95095</a:t>
            </a:r>
            <a:endParaRPr b="0" i="0" sz="1000" u="none" cap="none" strike="noStrike">
              <a:solidFill>
                <a:schemeClr val="lt1"/>
              </a:solidFill>
              <a:latin typeface="Roboto Medium"/>
              <a:ea typeface="Roboto Medium"/>
              <a:cs typeface="Roboto Medium"/>
              <a:sym typeface="Roboto Medium"/>
            </a:endParaRPr>
          </a:p>
        </p:txBody>
      </p:sp>
      <p:cxnSp>
        <p:nvCxnSpPr>
          <p:cNvPr id="281" name="Google Shape;281;p4"/>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282" name="Google Shape;282;p4"/>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US" sz="1000" u="none" cap="none" strike="noStrike">
                <a:solidFill>
                  <a:schemeClr val="lt1"/>
                </a:solidFill>
                <a:latin typeface="Roboto Medium"/>
                <a:ea typeface="Roboto Medium"/>
                <a:cs typeface="Roboto Medium"/>
                <a:sym typeface="Roboto Medium"/>
              </a:rPr>
              <a:t>codemithra@ethnus.com</a:t>
            </a:r>
            <a:endParaRPr b="0" i="0" sz="1000" u="none" cap="none" strike="noStrike">
              <a:solidFill>
                <a:schemeClr val="lt1"/>
              </a:solidFill>
              <a:latin typeface="Roboto Medium"/>
              <a:ea typeface="Roboto Medium"/>
              <a:cs typeface="Roboto Medium"/>
              <a:sym typeface="Roboto Medium"/>
            </a:endParaRPr>
          </a:p>
        </p:txBody>
      </p:sp>
      <p:pic>
        <p:nvPicPr>
          <p:cNvPr id="283" name="Google Shape;283;p4"/>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284" name="Google Shape;284;p4"/>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US" sz="1000" u="none" cap="none" strike="noStrike">
                <a:solidFill>
                  <a:schemeClr val="lt1"/>
                </a:solidFill>
                <a:latin typeface="Roboto Medium"/>
                <a:ea typeface="Roboto Medium"/>
                <a:cs typeface="Roboto Medium"/>
                <a:sym typeface="Roboto Medium"/>
              </a:rPr>
              <a:t>www.codemithra.com</a:t>
            </a:r>
            <a:endParaRPr b="0" i="0" sz="1000" u="none" cap="none" strike="noStrike">
              <a:solidFill>
                <a:schemeClr val="lt1"/>
              </a:solidFill>
              <a:latin typeface="Roboto Medium"/>
              <a:ea typeface="Roboto Medium"/>
              <a:cs typeface="Roboto Medium"/>
              <a:sym typeface="Roboto Medium"/>
            </a:endParaRPr>
          </a:p>
        </p:txBody>
      </p:sp>
      <p:cxnSp>
        <p:nvCxnSpPr>
          <p:cNvPr id="285" name="Google Shape;285;p4"/>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RAMASAMY</dc:creator>
</cp:coreProperties>
</file>